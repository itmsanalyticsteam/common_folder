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1.xml" ContentType="application/vnd.openxmlformats-officedocument.presentationml.tag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ags/tag15.xml" ContentType="application/vnd.openxmlformats-officedocument.presentationml.tags+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ags/tag16.xml" ContentType="application/vnd.openxmlformats-officedocument.presentationml.tags+xml"/>
  <Override PartName="/ppt/theme/themeOverride1.xml" ContentType="application/vnd.openxmlformats-officedocument.themeOverride+xml"/>
  <Override PartName="/ppt/theme/themeOverride2.xml" ContentType="application/vnd.openxmlformats-officedocument.themeOverride+xml"/>
  <Override PartName="/ppt/theme/theme5.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notesSlides/notesSlide3.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drawings/drawing1.xml" ContentType="application/vnd.openxmlformats-officedocument.drawingml.chartshapes+xml"/>
  <Override PartName="/ppt/charts/chart3.xml" ContentType="application/vnd.openxmlformats-officedocument.drawingml.chart+xml"/>
  <Override PartName="/ppt/theme/themeOverride3.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15.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notesSlides/notesSlide25.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notesSlides/notesSlide26.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80" r:id="rId5"/>
    <p:sldMasterId id="2147483689" r:id="rId6"/>
    <p:sldMasterId id="2147483922" r:id="rId7"/>
  </p:sldMasterIdLst>
  <p:notesMasterIdLst>
    <p:notesMasterId r:id="rId139"/>
  </p:notesMasterIdLst>
  <p:sldIdLst>
    <p:sldId id="697" r:id="rId8"/>
    <p:sldId id="2147476020" r:id="rId9"/>
    <p:sldId id="2141411280" r:id="rId10"/>
    <p:sldId id="468" r:id="rId11"/>
    <p:sldId id="901" r:id="rId12"/>
    <p:sldId id="2146847065" r:id="rId13"/>
    <p:sldId id="2146847066" r:id="rId14"/>
    <p:sldId id="2146847067" r:id="rId15"/>
    <p:sldId id="2146847068" r:id="rId16"/>
    <p:sldId id="2146847069" r:id="rId17"/>
    <p:sldId id="2147476008" r:id="rId18"/>
    <p:sldId id="2146846933" r:id="rId19"/>
    <p:sldId id="2146846934" r:id="rId20"/>
    <p:sldId id="2146846935" r:id="rId21"/>
    <p:sldId id="2146846936" r:id="rId22"/>
    <p:sldId id="2146846937" r:id="rId23"/>
    <p:sldId id="2146846938" r:id="rId24"/>
    <p:sldId id="2146846939" r:id="rId25"/>
    <p:sldId id="2147476011" r:id="rId26"/>
    <p:sldId id="2146847204" r:id="rId27"/>
    <p:sldId id="2147475998" r:id="rId28"/>
    <p:sldId id="2147476018" r:id="rId29"/>
    <p:sldId id="2147476019" r:id="rId30"/>
    <p:sldId id="2147476001" r:id="rId31"/>
    <p:sldId id="2146847202" r:id="rId32"/>
    <p:sldId id="2147476009" r:id="rId33"/>
    <p:sldId id="2147476010" r:id="rId34"/>
    <p:sldId id="2146847058" r:id="rId35"/>
    <p:sldId id="2147475999" r:id="rId36"/>
    <p:sldId id="2147476013" r:id="rId37"/>
    <p:sldId id="2147476002" r:id="rId38"/>
    <p:sldId id="2147476003" r:id="rId39"/>
    <p:sldId id="2147476005" r:id="rId40"/>
    <p:sldId id="2147476006" r:id="rId41"/>
    <p:sldId id="2147476012" r:id="rId42"/>
    <p:sldId id="2147476015" r:id="rId43"/>
    <p:sldId id="2146847059" r:id="rId44"/>
    <p:sldId id="2147476016" r:id="rId45"/>
    <p:sldId id="2146847243" r:id="rId46"/>
    <p:sldId id="2146847077" r:id="rId47"/>
    <p:sldId id="2146847209" r:id="rId48"/>
    <p:sldId id="2146847076" r:id="rId49"/>
    <p:sldId id="2146847137" r:id="rId50"/>
    <p:sldId id="2146847211" r:id="rId51"/>
    <p:sldId id="2146847212" r:id="rId52"/>
    <p:sldId id="2146847219" r:id="rId53"/>
    <p:sldId id="2146847242" r:id="rId54"/>
    <p:sldId id="2147476007" r:id="rId55"/>
    <p:sldId id="2146847061" r:id="rId56"/>
    <p:sldId id="2146847056" r:id="rId57"/>
    <p:sldId id="2146847213" r:id="rId58"/>
    <p:sldId id="2146847214" r:id="rId59"/>
    <p:sldId id="2146847215" r:id="rId60"/>
    <p:sldId id="2146847216" r:id="rId61"/>
    <p:sldId id="2146847217" r:id="rId62"/>
    <p:sldId id="2146847218" r:id="rId63"/>
    <p:sldId id="2146847141" r:id="rId64"/>
    <p:sldId id="2146847142" r:id="rId65"/>
    <p:sldId id="2146847143" r:id="rId66"/>
    <p:sldId id="2146847144" r:id="rId67"/>
    <p:sldId id="2146847145" r:id="rId68"/>
    <p:sldId id="2146847146" r:id="rId69"/>
    <p:sldId id="2146847147" r:id="rId70"/>
    <p:sldId id="2146847220" r:id="rId71"/>
    <p:sldId id="2146847221" r:id="rId72"/>
    <p:sldId id="2146847222" r:id="rId73"/>
    <p:sldId id="2146847223" r:id="rId74"/>
    <p:sldId id="2146847224" r:id="rId75"/>
    <p:sldId id="2146847225" r:id="rId76"/>
    <p:sldId id="2146847226" r:id="rId77"/>
    <p:sldId id="2146847227" r:id="rId78"/>
    <p:sldId id="2146847228" r:id="rId79"/>
    <p:sldId id="2146847229" r:id="rId80"/>
    <p:sldId id="2146847230" r:id="rId81"/>
    <p:sldId id="2146847231" r:id="rId82"/>
    <p:sldId id="2146847232" r:id="rId83"/>
    <p:sldId id="2146847233" r:id="rId84"/>
    <p:sldId id="2146847234" r:id="rId85"/>
    <p:sldId id="2146847235" r:id="rId86"/>
    <p:sldId id="2146847236" r:id="rId87"/>
    <p:sldId id="2146847237" r:id="rId88"/>
    <p:sldId id="2146847238" r:id="rId89"/>
    <p:sldId id="2146847239" r:id="rId90"/>
    <p:sldId id="2146847240" r:id="rId91"/>
    <p:sldId id="2146847148" r:id="rId92"/>
    <p:sldId id="2146847149" r:id="rId93"/>
    <p:sldId id="2146847150" r:id="rId94"/>
    <p:sldId id="2146847151" r:id="rId95"/>
    <p:sldId id="2146847152" r:id="rId96"/>
    <p:sldId id="2146847153" r:id="rId97"/>
    <p:sldId id="2146847154" r:id="rId98"/>
    <p:sldId id="2146847155" r:id="rId99"/>
    <p:sldId id="2146847156" r:id="rId100"/>
    <p:sldId id="2146847157" r:id="rId101"/>
    <p:sldId id="2146847158" r:id="rId102"/>
    <p:sldId id="2146847159" r:id="rId103"/>
    <p:sldId id="2146847160" r:id="rId104"/>
    <p:sldId id="2146847161" r:id="rId105"/>
    <p:sldId id="2146847162" r:id="rId106"/>
    <p:sldId id="2146847163" r:id="rId107"/>
    <p:sldId id="2146847164" r:id="rId108"/>
    <p:sldId id="2146847165" r:id="rId109"/>
    <p:sldId id="2146847166" r:id="rId110"/>
    <p:sldId id="2146847167" r:id="rId111"/>
    <p:sldId id="2146847168" r:id="rId112"/>
    <p:sldId id="2146847169" r:id="rId113"/>
    <p:sldId id="2146847185" r:id="rId114"/>
    <p:sldId id="2146847171" r:id="rId115"/>
    <p:sldId id="2146847172" r:id="rId116"/>
    <p:sldId id="2146847173" r:id="rId117"/>
    <p:sldId id="2146847174" r:id="rId118"/>
    <p:sldId id="2146847175" r:id="rId119"/>
    <p:sldId id="2146847176" r:id="rId120"/>
    <p:sldId id="2146847177" r:id="rId121"/>
    <p:sldId id="2146847178" r:id="rId122"/>
    <p:sldId id="2146847179" r:id="rId123"/>
    <p:sldId id="2146847180" r:id="rId124"/>
    <p:sldId id="2146847181" r:id="rId125"/>
    <p:sldId id="2146847182" r:id="rId126"/>
    <p:sldId id="2146847183" r:id="rId127"/>
    <p:sldId id="2146847184" r:id="rId128"/>
    <p:sldId id="2146847019" r:id="rId129"/>
    <p:sldId id="2146846991" r:id="rId130"/>
    <p:sldId id="2146847062" r:id="rId131"/>
    <p:sldId id="2146846993" r:id="rId132"/>
    <p:sldId id="2146847120" r:id="rId133"/>
    <p:sldId id="2146847186" r:id="rId134"/>
    <p:sldId id="2146847063" r:id="rId135"/>
    <p:sldId id="2146846994" r:id="rId136"/>
    <p:sldId id="2146847027" r:id="rId137"/>
    <p:sldId id="605" r:id="rId1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7D3F161-889F-411B-A243-CE6F11748F3A}">
          <p14:sldIdLst>
            <p14:sldId id="697"/>
            <p14:sldId id="2147476020"/>
            <p14:sldId id="2141411280"/>
            <p14:sldId id="468"/>
            <p14:sldId id="901"/>
            <p14:sldId id="2146847065"/>
            <p14:sldId id="2146847066"/>
            <p14:sldId id="2146847067"/>
            <p14:sldId id="2146847068"/>
            <p14:sldId id="2146847069"/>
            <p14:sldId id="2147476008"/>
            <p14:sldId id="2146846933"/>
            <p14:sldId id="2146846934"/>
            <p14:sldId id="2146846935"/>
            <p14:sldId id="2146846936"/>
            <p14:sldId id="2146846937"/>
            <p14:sldId id="2146846938"/>
            <p14:sldId id="2146846939"/>
            <p14:sldId id="2147476011"/>
            <p14:sldId id="2146847204"/>
            <p14:sldId id="2147475998"/>
            <p14:sldId id="2147476018"/>
            <p14:sldId id="2147476019"/>
            <p14:sldId id="2147476001"/>
            <p14:sldId id="2146847202"/>
            <p14:sldId id="2147476009"/>
            <p14:sldId id="2147476010"/>
            <p14:sldId id="2146847058"/>
            <p14:sldId id="2147475999"/>
            <p14:sldId id="2147476013"/>
            <p14:sldId id="2147476002"/>
            <p14:sldId id="2147476003"/>
            <p14:sldId id="2147476005"/>
            <p14:sldId id="2147476006"/>
            <p14:sldId id="2147476012"/>
            <p14:sldId id="2147476015"/>
            <p14:sldId id="2146847059"/>
            <p14:sldId id="2147476016"/>
            <p14:sldId id="2146847243"/>
            <p14:sldId id="2146847077"/>
            <p14:sldId id="2146847209"/>
            <p14:sldId id="2146847076"/>
            <p14:sldId id="2146847137"/>
            <p14:sldId id="2146847211"/>
            <p14:sldId id="2146847212"/>
            <p14:sldId id="2146847219"/>
            <p14:sldId id="2146847242"/>
            <p14:sldId id="2147476007"/>
            <p14:sldId id="2146847061"/>
            <p14:sldId id="2146847056"/>
            <p14:sldId id="2146847213"/>
            <p14:sldId id="2146847214"/>
            <p14:sldId id="2146847215"/>
            <p14:sldId id="2146847216"/>
            <p14:sldId id="2146847217"/>
            <p14:sldId id="2146847218"/>
          </p14:sldIdLst>
        </p14:section>
        <p14:section name="Detailed Credentials" id="{3D447539-06BF-45B1-8F2C-5B5B5D012CFC}">
          <p14:sldIdLst>
            <p14:sldId id="2146847141"/>
            <p14:sldId id="2146847142"/>
            <p14:sldId id="2146847143"/>
            <p14:sldId id="2146847144"/>
            <p14:sldId id="2146847145"/>
            <p14:sldId id="2146847146"/>
            <p14:sldId id="2146847147"/>
            <p14:sldId id="2146847220"/>
            <p14:sldId id="2146847221"/>
            <p14:sldId id="2146847222"/>
            <p14:sldId id="2146847223"/>
            <p14:sldId id="2146847224"/>
            <p14:sldId id="2146847225"/>
            <p14:sldId id="2146847226"/>
            <p14:sldId id="2146847227"/>
            <p14:sldId id="2146847228"/>
            <p14:sldId id="2146847229"/>
            <p14:sldId id="2146847230"/>
            <p14:sldId id="2146847231"/>
            <p14:sldId id="2146847232"/>
            <p14:sldId id="2146847233"/>
            <p14:sldId id="2146847234"/>
            <p14:sldId id="2146847235"/>
            <p14:sldId id="2146847236"/>
            <p14:sldId id="2146847237"/>
            <p14:sldId id="2146847238"/>
            <p14:sldId id="2146847239"/>
            <p14:sldId id="2146847240"/>
            <p14:sldId id="2146847148"/>
            <p14:sldId id="2146847149"/>
            <p14:sldId id="2146847150"/>
            <p14:sldId id="2146847151"/>
            <p14:sldId id="2146847152"/>
            <p14:sldId id="2146847153"/>
            <p14:sldId id="2146847154"/>
            <p14:sldId id="2146847155"/>
            <p14:sldId id="2146847156"/>
            <p14:sldId id="2146847157"/>
            <p14:sldId id="2146847158"/>
            <p14:sldId id="2146847159"/>
            <p14:sldId id="2146847160"/>
            <p14:sldId id="2146847161"/>
            <p14:sldId id="2146847162"/>
            <p14:sldId id="2146847163"/>
            <p14:sldId id="2146847164"/>
            <p14:sldId id="2146847165"/>
            <p14:sldId id="2146847166"/>
            <p14:sldId id="2146847167"/>
            <p14:sldId id="2146847168"/>
            <p14:sldId id="2146847169"/>
            <p14:sldId id="2146847185"/>
            <p14:sldId id="2146847171"/>
            <p14:sldId id="2146847172"/>
            <p14:sldId id="2146847173"/>
            <p14:sldId id="2146847174"/>
            <p14:sldId id="2146847175"/>
            <p14:sldId id="2146847176"/>
            <p14:sldId id="2146847177"/>
            <p14:sldId id="2146847178"/>
            <p14:sldId id="2146847179"/>
            <p14:sldId id="2146847180"/>
            <p14:sldId id="2146847181"/>
            <p14:sldId id="2146847182"/>
            <p14:sldId id="2146847183"/>
            <p14:sldId id="2146847184"/>
            <p14:sldId id="2146847019"/>
            <p14:sldId id="2146846991"/>
            <p14:sldId id="2146847062"/>
            <p14:sldId id="2146846993"/>
            <p14:sldId id="2146847120"/>
            <p14:sldId id="2146847186"/>
            <p14:sldId id="2146847063"/>
            <p14:sldId id="2146846994"/>
            <p14:sldId id="2146847027"/>
            <p14:sldId id="605"/>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Tiwari, Parul" initials="PT" lastIdx="1" clrIdx="6">
    <p:extLst>
      <p:ext uri="{19B8F6BF-5375-455C-9EA6-DF929625EA0E}">
        <p15:presenceInfo xmlns:p15="http://schemas.microsoft.com/office/powerpoint/2012/main" userId="S::patiwari@deloitte.com::dda5725d-7f56-427e-b2e0-356edf12872d" providerId="AD"/>
      </p:ext>
    </p:extLst>
  </p:cmAuthor>
  <p:cmAuthor id="1" name="Gupta, Souvik" initials="GS" lastIdx="1" clrIdx="0">
    <p:extLst>
      <p:ext uri="{19B8F6BF-5375-455C-9EA6-DF929625EA0E}">
        <p15:presenceInfo xmlns:p15="http://schemas.microsoft.com/office/powerpoint/2012/main" userId="S::souvgupta@deloitte.com::22227648-e9df-47d4-8e04-0899b8266d06" providerId="AD"/>
      </p:ext>
    </p:extLst>
  </p:cmAuthor>
  <p:cmAuthor id="2" name="Mittal, Vivek" initials="MV" lastIdx="60" clrIdx="1">
    <p:extLst>
      <p:ext uri="{19B8F6BF-5375-455C-9EA6-DF929625EA0E}">
        <p15:presenceInfo xmlns:p15="http://schemas.microsoft.com/office/powerpoint/2012/main" userId="S::vivmittal@deloitte.com::b2495a85-3fa0-4c09-9a62-949983d68328" providerId="AD"/>
      </p:ext>
    </p:extLst>
  </p:cmAuthor>
  <p:cmAuthor id="3" name="Tanaya, Sravani" initials="TS" lastIdx="44" clrIdx="2">
    <p:extLst>
      <p:ext uri="{19B8F6BF-5375-455C-9EA6-DF929625EA0E}">
        <p15:presenceInfo xmlns:p15="http://schemas.microsoft.com/office/powerpoint/2012/main" userId="S::stanaya@deloitte.com::59d2f257-4ea7-46c8-95ed-8f9c5540eb27" providerId="AD"/>
      </p:ext>
    </p:extLst>
  </p:cmAuthor>
  <p:cmAuthor id="4" name="Banerjee, Kaustav" initials="BK" lastIdx="1" clrIdx="3">
    <p:extLst>
      <p:ext uri="{19B8F6BF-5375-455C-9EA6-DF929625EA0E}">
        <p15:presenceInfo xmlns:p15="http://schemas.microsoft.com/office/powerpoint/2012/main" userId="S::kausbanerjee@deloitte.com::ae2aa33a-e193-41fe-9e27-0cbf6f1fcad2" providerId="AD"/>
      </p:ext>
    </p:extLst>
  </p:cmAuthor>
  <p:cmAuthor id="5" name="Khandelwal, Rishab" initials="KR" lastIdx="20" clrIdx="4">
    <p:extLst>
      <p:ext uri="{19B8F6BF-5375-455C-9EA6-DF929625EA0E}">
        <p15:presenceInfo xmlns:p15="http://schemas.microsoft.com/office/powerpoint/2012/main" userId="S::rishabk@deloitte.com::6808f646-aa51-4f30-bab4-12ee9796ad99" providerId="AD"/>
      </p:ext>
    </p:extLst>
  </p:cmAuthor>
  <p:cmAuthor id="6" name="Saini, Vaishnavi" initials="SV" lastIdx="5" clrIdx="5">
    <p:extLst>
      <p:ext uri="{19B8F6BF-5375-455C-9EA6-DF929625EA0E}">
        <p15:presenceInfo xmlns:p15="http://schemas.microsoft.com/office/powerpoint/2012/main" userId="S::vaisaini@deloitte.com::9a43a2b5-7d50-474d-aa30-1a206b30d3a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17F"/>
    <a:srgbClr val="FFFFFF"/>
    <a:srgbClr val="E2F0D9"/>
    <a:srgbClr val="548235"/>
    <a:srgbClr val="542C04"/>
    <a:srgbClr val="575757"/>
    <a:srgbClr val="0097A9"/>
    <a:srgbClr val="AADDE3"/>
    <a:srgbClr val="012169"/>
    <a:srgbClr val="BEE39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0.xml"/><Relationship Id="rId21" Type="http://schemas.openxmlformats.org/officeDocument/2006/relationships/slide" Target="slides/slide14.xml"/><Relationship Id="rId42" Type="http://schemas.openxmlformats.org/officeDocument/2006/relationships/slide" Target="slides/slide35.xml"/><Relationship Id="rId63" Type="http://schemas.openxmlformats.org/officeDocument/2006/relationships/slide" Target="slides/slide56.xml"/><Relationship Id="rId84" Type="http://schemas.openxmlformats.org/officeDocument/2006/relationships/slide" Target="slides/slide77.xml"/><Relationship Id="rId138" Type="http://schemas.openxmlformats.org/officeDocument/2006/relationships/slide" Target="slides/slide131.xml"/><Relationship Id="rId107" Type="http://schemas.openxmlformats.org/officeDocument/2006/relationships/slide" Target="slides/slide100.xml"/><Relationship Id="rId11" Type="http://schemas.openxmlformats.org/officeDocument/2006/relationships/slide" Target="slides/slide4.xml"/><Relationship Id="rId32" Type="http://schemas.openxmlformats.org/officeDocument/2006/relationships/slide" Target="slides/slide25.xml"/><Relationship Id="rId53" Type="http://schemas.openxmlformats.org/officeDocument/2006/relationships/slide" Target="slides/slide46.xml"/><Relationship Id="rId74" Type="http://schemas.openxmlformats.org/officeDocument/2006/relationships/slide" Target="slides/slide67.xml"/><Relationship Id="rId128" Type="http://schemas.openxmlformats.org/officeDocument/2006/relationships/slide" Target="slides/slide121.xml"/><Relationship Id="rId5" Type="http://schemas.openxmlformats.org/officeDocument/2006/relationships/slideMaster" Target="slideMasters/slideMaster2.xml"/><Relationship Id="rId90" Type="http://schemas.openxmlformats.org/officeDocument/2006/relationships/slide" Target="slides/slide83.xml"/><Relationship Id="rId95" Type="http://schemas.openxmlformats.org/officeDocument/2006/relationships/slide" Target="slides/slide88.xml"/><Relationship Id="rId22" Type="http://schemas.openxmlformats.org/officeDocument/2006/relationships/slide" Target="slides/slide15.xml"/><Relationship Id="rId27" Type="http://schemas.openxmlformats.org/officeDocument/2006/relationships/slide" Target="slides/slide20.xml"/><Relationship Id="rId43" Type="http://schemas.openxmlformats.org/officeDocument/2006/relationships/slide" Target="slides/slide36.xml"/><Relationship Id="rId48" Type="http://schemas.openxmlformats.org/officeDocument/2006/relationships/slide" Target="slides/slide41.xml"/><Relationship Id="rId64" Type="http://schemas.openxmlformats.org/officeDocument/2006/relationships/slide" Target="slides/slide57.xml"/><Relationship Id="rId69" Type="http://schemas.openxmlformats.org/officeDocument/2006/relationships/slide" Target="slides/slide62.xml"/><Relationship Id="rId113" Type="http://schemas.openxmlformats.org/officeDocument/2006/relationships/slide" Target="slides/slide106.xml"/><Relationship Id="rId118" Type="http://schemas.openxmlformats.org/officeDocument/2006/relationships/slide" Target="slides/slide111.xml"/><Relationship Id="rId134" Type="http://schemas.openxmlformats.org/officeDocument/2006/relationships/slide" Target="slides/slide127.xml"/><Relationship Id="rId139" Type="http://schemas.openxmlformats.org/officeDocument/2006/relationships/notesMaster" Target="notesMasters/notesMaster1.xml"/><Relationship Id="rId80" Type="http://schemas.openxmlformats.org/officeDocument/2006/relationships/slide" Target="slides/slide73.xml"/><Relationship Id="rId85" Type="http://schemas.openxmlformats.org/officeDocument/2006/relationships/slide" Target="slides/slide78.xml"/><Relationship Id="rId12" Type="http://schemas.openxmlformats.org/officeDocument/2006/relationships/slide" Target="slides/slide5.xml"/><Relationship Id="rId17" Type="http://schemas.openxmlformats.org/officeDocument/2006/relationships/slide" Target="slides/slide10.xml"/><Relationship Id="rId33" Type="http://schemas.openxmlformats.org/officeDocument/2006/relationships/slide" Target="slides/slide26.xml"/><Relationship Id="rId38" Type="http://schemas.openxmlformats.org/officeDocument/2006/relationships/slide" Target="slides/slide31.xml"/><Relationship Id="rId59" Type="http://schemas.openxmlformats.org/officeDocument/2006/relationships/slide" Target="slides/slide52.xml"/><Relationship Id="rId103" Type="http://schemas.openxmlformats.org/officeDocument/2006/relationships/slide" Target="slides/slide96.xml"/><Relationship Id="rId108" Type="http://schemas.openxmlformats.org/officeDocument/2006/relationships/slide" Target="slides/slide101.xml"/><Relationship Id="rId124" Type="http://schemas.openxmlformats.org/officeDocument/2006/relationships/slide" Target="slides/slide117.xml"/><Relationship Id="rId129" Type="http://schemas.openxmlformats.org/officeDocument/2006/relationships/slide" Target="slides/slide122.xml"/><Relationship Id="rId54" Type="http://schemas.openxmlformats.org/officeDocument/2006/relationships/slide" Target="slides/slide47.xml"/><Relationship Id="rId70" Type="http://schemas.openxmlformats.org/officeDocument/2006/relationships/slide" Target="slides/slide63.xml"/><Relationship Id="rId75" Type="http://schemas.openxmlformats.org/officeDocument/2006/relationships/slide" Target="slides/slide68.xml"/><Relationship Id="rId91" Type="http://schemas.openxmlformats.org/officeDocument/2006/relationships/slide" Target="slides/slide84.xml"/><Relationship Id="rId96" Type="http://schemas.openxmlformats.org/officeDocument/2006/relationships/slide" Target="slides/slide89.xml"/><Relationship Id="rId140" Type="http://schemas.openxmlformats.org/officeDocument/2006/relationships/commentAuthors" Target="commentAuthors.xml"/><Relationship Id="rId145"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23" Type="http://schemas.openxmlformats.org/officeDocument/2006/relationships/slide" Target="slides/slide16.xml"/><Relationship Id="rId28" Type="http://schemas.openxmlformats.org/officeDocument/2006/relationships/slide" Target="slides/slide21.xml"/><Relationship Id="rId49" Type="http://schemas.openxmlformats.org/officeDocument/2006/relationships/slide" Target="slides/slide42.xml"/><Relationship Id="rId114" Type="http://schemas.openxmlformats.org/officeDocument/2006/relationships/slide" Target="slides/slide107.xml"/><Relationship Id="rId119" Type="http://schemas.openxmlformats.org/officeDocument/2006/relationships/slide" Target="slides/slide112.xml"/><Relationship Id="rId44" Type="http://schemas.openxmlformats.org/officeDocument/2006/relationships/slide" Target="slides/slide37.xml"/><Relationship Id="rId60" Type="http://schemas.openxmlformats.org/officeDocument/2006/relationships/slide" Target="slides/slide53.xml"/><Relationship Id="rId65" Type="http://schemas.openxmlformats.org/officeDocument/2006/relationships/slide" Target="slides/slide58.xml"/><Relationship Id="rId81" Type="http://schemas.openxmlformats.org/officeDocument/2006/relationships/slide" Target="slides/slide74.xml"/><Relationship Id="rId86" Type="http://schemas.openxmlformats.org/officeDocument/2006/relationships/slide" Target="slides/slide79.xml"/><Relationship Id="rId130" Type="http://schemas.openxmlformats.org/officeDocument/2006/relationships/slide" Target="slides/slide123.xml"/><Relationship Id="rId135" Type="http://schemas.openxmlformats.org/officeDocument/2006/relationships/slide" Target="slides/slide128.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109" Type="http://schemas.openxmlformats.org/officeDocument/2006/relationships/slide" Target="slides/slide10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97" Type="http://schemas.openxmlformats.org/officeDocument/2006/relationships/slide" Target="slides/slide90.xml"/><Relationship Id="rId104" Type="http://schemas.openxmlformats.org/officeDocument/2006/relationships/slide" Target="slides/slide97.xml"/><Relationship Id="rId120" Type="http://schemas.openxmlformats.org/officeDocument/2006/relationships/slide" Target="slides/slide113.xml"/><Relationship Id="rId125" Type="http://schemas.openxmlformats.org/officeDocument/2006/relationships/slide" Target="slides/slide118.xml"/><Relationship Id="rId141" Type="http://schemas.openxmlformats.org/officeDocument/2006/relationships/presProps" Target="presProps.xml"/><Relationship Id="rId7" Type="http://schemas.openxmlformats.org/officeDocument/2006/relationships/slideMaster" Target="slideMasters/slideMaster4.xml"/><Relationship Id="rId71" Type="http://schemas.openxmlformats.org/officeDocument/2006/relationships/slide" Target="slides/slide64.xml"/><Relationship Id="rId92" Type="http://schemas.openxmlformats.org/officeDocument/2006/relationships/slide" Target="slides/slide85.xml"/><Relationship Id="rId2" Type="http://schemas.openxmlformats.org/officeDocument/2006/relationships/customXml" Target="../customXml/item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slide" Target="slides/slide80.xml"/><Relationship Id="rId110" Type="http://schemas.openxmlformats.org/officeDocument/2006/relationships/slide" Target="slides/slide103.xml"/><Relationship Id="rId115" Type="http://schemas.openxmlformats.org/officeDocument/2006/relationships/slide" Target="slides/slide108.xml"/><Relationship Id="rId131" Type="http://schemas.openxmlformats.org/officeDocument/2006/relationships/slide" Target="slides/slide124.xml"/><Relationship Id="rId136" Type="http://schemas.openxmlformats.org/officeDocument/2006/relationships/slide" Target="slides/slide129.xml"/><Relationship Id="rId61" Type="http://schemas.openxmlformats.org/officeDocument/2006/relationships/slide" Target="slides/slide54.xml"/><Relationship Id="rId82" Type="http://schemas.openxmlformats.org/officeDocument/2006/relationships/slide" Target="slides/slide75.xml"/><Relationship Id="rId19" Type="http://schemas.openxmlformats.org/officeDocument/2006/relationships/slide" Target="slides/slide12.xml"/><Relationship Id="rId14" Type="http://schemas.openxmlformats.org/officeDocument/2006/relationships/slide" Target="slides/slide7.xml"/><Relationship Id="rId30" Type="http://schemas.openxmlformats.org/officeDocument/2006/relationships/slide" Target="slides/slide23.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 Id="rId100" Type="http://schemas.openxmlformats.org/officeDocument/2006/relationships/slide" Target="slides/slide93.xml"/><Relationship Id="rId105" Type="http://schemas.openxmlformats.org/officeDocument/2006/relationships/slide" Target="slides/slide98.xml"/><Relationship Id="rId126" Type="http://schemas.openxmlformats.org/officeDocument/2006/relationships/slide" Target="slides/slide119.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93" Type="http://schemas.openxmlformats.org/officeDocument/2006/relationships/slide" Target="slides/slide86.xml"/><Relationship Id="rId98" Type="http://schemas.openxmlformats.org/officeDocument/2006/relationships/slide" Target="slides/slide91.xml"/><Relationship Id="rId121" Type="http://schemas.openxmlformats.org/officeDocument/2006/relationships/slide" Target="slides/slide114.xml"/><Relationship Id="rId142" Type="http://schemas.openxmlformats.org/officeDocument/2006/relationships/viewProps" Target="viewProps.xml"/><Relationship Id="rId3" Type="http://schemas.openxmlformats.org/officeDocument/2006/relationships/customXml" Target="../customXml/item3.xml"/><Relationship Id="rId25" Type="http://schemas.openxmlformats.org/officeDocument/2006/relationships/slide" Target="slides/slide18.xml"/><Relationship Id="rId46" Type="http://schemas.openxmlformats.org/officeDocument/2006/relationships/slide" Target="slides/slide39.xml"/><Relationship Id="rId67" Type="http://schemas.openxmlformats.org/officeDocument/2006/relationships/slide" Target="slides/slide60.xml"/><Relationship Id="rId116" Type="http://schemas.openxmlformats.org/officeDocument/2006/relationships/slide" Target="slides/slide109.xml"/><Relationship Id="rId137" Type="http://schemas.openxmlformats.org/officeDocument/2006/relationships/slide" Target="slides/slide130.xml"/><Relationship Id="rId20" Type="http://schemas.openxmlformats.org/officeDocument/2006/relationships/slide" Target="slides/slide13.xml"/><Relationship Id="rId41" Type="http://schemas.openxmlformats.org/officeDocument/2006/relationships/slide" Target="slides/slide34.xml"/><Relationship Id="rId62" Type="http://schemas.openxmlformats.org/officeDocument/2006/relationships/slide" Target="slides/slide55.xml"/><Relationship Id="rId83" Type="http://schemas.openxmlformats.org/officeDocument/2006/relationships/slide" Target="slides/slide76.xml"/><Relationship Id="rId88" Type="http://schemas.openxmlformats.org/officeDocument/2006/relationships/slide" Target="slides/slide81.xml"/><Relationship Id="rId111" Type="http://schemas.openxmlformats.org/officeDocument/2006/relationships/slide" Target="slides/slide104.xml"/><Relationship Id="rId132" Type="http://schemas.openxmlformats.org/officeDocument/2006/relationships/slide" Target="slides/slide125.xml"/><Relationship Id="rId15" Type="http://schemas.openxmlformats.org/officeDocument/2006/relationships/slide" Target="slides/slide8.xml"/><Relationship Id="rId36" Type="http://schemas.openxmlformats.org/officeDocument/2006/relationships/slide" Target="slides/slide29.xml"/><Relationship Id="rId57" Type="http://schemas.openxmlformats.org/officeDocument/2006/relationships/slide" Target="slides/slide50.xml"/><Relationship Id="rId106" Type="http://schemas.openxmlformats.org/officeDocument/2006/relationships/slide" Target="slides/slide99.xml"/><Relationship Id="rId127" Type="http://schemas.openxmlformats.org/officeDocument/2006/relationships/slide" Target="slides/slide120.xml"/><Relationship Id="rId10" Type="http://schemas.openxmlformats.org/officeDocument/2006/relationships/slide" Target="slides/slide3.xml"/><Relationship Id="rId31" Type="http://schemas.openxmlformats.org/officeDocument/2006/relationships/slide" Target="slides/slide24.xml"/><Relationship Id="rId52" Type="http://schemas.openxmlformats.org/officeDocument/2006/relationships/slide" Target="slides/slide45.xml"/><Relationship Id="rId73" Type="http://schemas.openxmlformats.org/officeDocument/2006/relationships/slide" Target="slides/slide66.xml"/><Relationship Id="rId78" Type="http://schemas.openxmlformats.org/officeDocument/2006/relationships/slide" Target="slides/slide71.xml"/><Relationship Id="rId94" Type="http://schemas.openxmlformats.org/officeDocument/2006/relationships/slide" Target="slides/slide87.xml"/><Relationship Id="rId99" Type="http://schemas.openxmlformats.org/officeDocument/2006/relationships/slide" Target="slides/slide92.xml"/><Relationship Id="rId101" Type="http://schemas.openxmlformats.org/officeDocument/2006/relationships/slide" Target="slides/slide94.xml"/><Relationship Id="rId122" Type="http://schemas.openxmlformats.org/officeDocument/2006/relationships/slide" Target="slides/slide115.xml"/><Relationship Id="rId143"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47" Type="http://schemas.openxmlformats.org/officeDocument/2006/relationships/slide" Target="slides/slide40.xml"/><Relationship Id="rId68" Type="http://schemas.openxmlformats.org/officeDocument/2006/relationships/slide" Target="slides/slide61.xml"/><Relationship Id="rId89" Type="http://schemas.openxmlformats.org/officeDocument/2006/relationships/slide" Target="slides/slide82.xml"/><Relationship Id="rId112" Type="http://schemas.openxmlformats.org/officeDocument/2006/relationships/slide" Target="slides/slide105.xml"/><Relationship Id="rId133" Type="http://schemas.openxmlformats.org/officeDocument/2006/relationships/slide" Target="slides/slide126.xml"/><Relationship Id="rId16" Type="http://schemas.openxmlformats.org/officeDocument/2006/relationships/slide" Target="slides/slide9.xml"/><Relationship Id="rId37" Type="http://schemas.openxmlformats.org/officeDocument/2006/relationships/slide" Target="slides/slide30.xml"/><Relationship Id="rId58" Type="http://schemas.openxmlformats.org/officeDocument/2006/relationships/slide" Target="slides/slide51.xml"/><Relationship Id="rId79" Type="http://schemas.openxmlformats.org/officeDocument/2006/relationships/slide" Target="slides/slide72.xml"/><Relationship Id="rId102" Type="http://schemas.openxmlformats.org/officeDocument/2006/relationships/slide" Target="slides/slide95.xml"/><Relationship Id="rId123" Type="http://schemas.openxmlformats.org/officeDocument/2006/relationships/slide" Target="slides/slide116.xml"/><Relationship Id="rId14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wari, Parul" userId="dda5725d-7f56-427e-b2e0-356edf12872d" providerId="ADAL" clId="{E71BC9AC-D79E-4350-878A-FC2AC41F62C9}"/>
    <pc:docChg chg="undo custSel addSld delSld modSld sldOrd modSection">
      <pc:chgData name="Tiwari, Parul" userId="dda5725d-7f56-427e-b2e0-356edf12872d" providerId="ADAL" clId="{E71BC9AC-D79E-4350-878A-FC2AC41F62C9}" dt="2026-09-09T03:56:20.355" v="33" actId="20577"/>
      <pc:docMkLst>
        <pc:docMk/>
      </pc:docMkLst>
      <pc:sldChg chg="modSp new mod ord">
        <pc:chgData name="Tiwari, Parul" userId="dda5725d-7f56-427e-b2e0-356edf12872d" providerId="ADAL" clId="{E71BC9AC-D79E-4350-878A-FC2AC41F62C9}" dt="2026-09-09T03:56:20.355" v="33" actId="20577"/>
        <pc:sldMkLst>
          <pc:docMk/>
          <pc:sldMk cId="556764458" sldId="2147476020"/>
        </pc:sldMkLst>
        <pc:spChg chg="mod">
          <ac:chgData name="Tiwari, Parul" userId="dda5725d-7f56-427e-b2e0-356edf12872d" providerId="ADAL" clId="{E71BC9AC-D79E-4350-878A-FC2AC41F62C9}" dt="2026-09-09T03:56:20.355" v="33" actId="20577"/>
          <ac:spMkLst>
            <pc:docMk/>
            <pc:sldMk cId="556764458" sldId="2147476020"/>
            <ac:spMk id="2" creationId="{38708CF6-A20B-018E-279F-8A7CC515A1F0}"/>
          </ac:spMkLst>
        </pc:spChg>
        <pc:spChg chg="mod">
          <ac:chgData name="Tiwari, Parul" userId="dda5725d-7f56-427e-b2e0-356edf12872d" providerId="ADAL" clId="{E71BC9AC-D79E-4350-878A-FC2AC41F62C9}" dt="2026-09-09T03:55:08.844" v="16" actId="20577"/>
          <ac:spMkLst>
            <pc:docMk/>
            <pc:sldMk cId="556764458" sldId="2147476020"/>
            <ac:spMk id="4" creationId="{C1C58670-4DF8-6DCF-11FD-14F93646A0EA}"/>
          </ac:spMkLst>
        </pc:spChg>
      </pc:sldChg>
      <pc:sldChg chg="new del">
        <pc:chgData name="Tiwari, Parul" userId="dda5725d-7f56-427e-b2e0-356edf12872d" providerId="ADAL" clId="{E71BC9AC-D79E-4350-878A-FC2AC41F62C9}" dt="2026-09-09T03:54:55.811" v="1" actId="680"/>
        <pc:sldMkLst>
          <pc:docMk/>
          <pc:sldMk cId="801666247" sldId="2147476020"/>
        </pc:sldMkLst>
      </pc:sldChg>
    </pc:docChg>
  </pc:docChgLst>
  <pc:docChgLst>
    <pc:chgData name="Agarwal, Kartik" userId="1b971730-a07c-4342-9ccd-daf1f0062f54" providerId="ADAL" clId="{1188E772-4F39-4EE1-8CAA-1B7A0CD44D77}"/>
    <pc:docChg chg="modSld delMainMaster modMainMaster">
      <pc:chgData name="Agarwal, Kartik" userId="1b971730-a07c-4342-9ccd-daf1f0062f54" providerId="ADAL" clId="{1188E772-4F39-4EE1-8CAA-1B7A0CD44D77}" dt="2026-08-25T15:04:58.988" v="2"/>
      <pc:docMkLst>
        <pc:docMk/>
      </pc:docMkLst>
      <pc:sldChg chg="modSp mod modClrScheme chgLayout">
        <pc:chgData name="Agarwal, Kartik" userId="1b971730-a07c-4342-9ccd-daf1f0062f54" providerId="ADAL" clId="{1188E772-4F39-4EE1-8CAA-1B7A0CD44D77}" dt="2026-08-25T15:04:58.988" v="2"/>
        <pc:sldMkLst>
          <pc:docMk/>
          <pc:sldMk cId="1941242389" sldId="605"/>
        </pc:sldMkLst>
        <pc:spChg chg="mod ord">
          <ac:chgData name="Agarwal, Kartik" userId="1b971730-a07c-4342-9ccd-daf1f0062f54" providerId="ADAL" clId="{1188E772-4F39-4EE1-8CAA-1B7A0CD44D77}" dt="2026-08-25T15:04:58.988" v="2"/>
          <ac:spMkLst>
            <pc:docMk/>
            <pc:sldMk cId="1941242389" sldId="605"/>
            <ac:spMk id="4" creationId="{00000000-0000-0000-0000-000000000000}"/>
          </ac:spMkLst>
        </pc:spChg>
      </pc:sldChg>
      <pc:sldChg chg="modSp mod modClrScheme chgLayout">
        <pc:chgData name="Agarwal, Kartik" userId="1b971730-a07c-4342-9ccd-daf1f0062f54" providerId="ADAL" clId="{1188E772-4F39-4EE1-8CAA-1B7A0CD44D77}" dt="2026-08-25T15:04:58.988" v="2"/>
        <pc:sldMkLst>
          <pc:docMk/>
          <pc:sldMk cId="496192393" sldId="697"/>
        </pc:sldMkLst>
        <pc:spChg chg="mod ord">
          <ac:chgData name="Agarwal, Kartik" userId="1b971730-a07c-4342-9ccd-daf1f0062f54" providerId="ADAL" clId="{1188E772-4F39-4EE1-8CAA-1B7A0CD44D77}" dt="2026-08-25T15:04:58.988" v="2"/>
          <ac:spMkLst>
            <pc:docMk/>
            <pc:sldMk cId="496192393" sldId="697"/>
            <ac:spMk id="4" creationId="{00000000-0000-0000-0000-000000000000}"/>
          </ac:spMkLst>
        </pc:spChg>
      </pc:sldChg>
      <pc:sldMasterChg chg="modSldLayout sldLayoutOrd">
        <pc:chgData name="Agarwal, Kartik" userId="1b971730-a07c-4342-9ccd-daf1f0062f54" providerId="ADAL" clId="{1188E772-4F39-4EE1-8CAA-1B7A0CD44D77}" dt="2026-08-25T15:04:58.586" v="0"/>
        <pc:sldMasterMkLst>
          <pc:docMk/>
          <pc:sldMasterMk cId="2100720400" sldId="2147483680"/>
        </pc:sldMasterMkLst>
        <pc:sldLayoutChg chg="modSp mod ord">
          <pc:chgData name="Agarwal, Kartik" userId="1b971730-a07c-4342-9ccd-daf1f0062f54" providerId="ADAL" clId="{1188E772-4F39-4EE1-8CAA-1B7A0CD44D77}" dt="2026-08-25T15:04:58.586" v="0"/>
          <pc:sldLayoutMkLst>
            <pc:docMk/>
            <pc:sldMasterMk cId="2100720400" sldId="2147483680"/>
            <pc:sldLayoutMk cId="3621765212" sldId="2147483914"/>
          </pc:sldLayoutMkLst>
          <pc:spChg chg="mod">
            <ac:chgData name="Agarwal, Kartik" userId="1b971730-a07c-4342-9ccd-daf1f0062f54" providerId="ADAL" clId="{1188E772-4F39-4EE1-8CAA-1B7A0CD44D77}" dt="2026-08-25T15:04:58.586" v="0"/>
            <ac:spMkLst>
              <pc:docMk/>
              <pc:sldMasterMk cId="2100720400" sldId="2147483680"/>
              <pc:sldLayoutMk cId="3621765212" sldId="2147483914"/>
              <ac:spMk id="2" creationId="{00000000-0000-0000-0000-000000000000}"/>
            </ac:spMkLst>
          </pc:spChg>
          <pc:spChg chg="mod">
            <ac:chgData name="Agarwal, Kartik" userId="1b971730-a07c-4342-9ccd-daf1f0062f54" providerId="ADAL" clId="{1188E772-4F39-4EE1-8CAA-1B7A0CD44D77}" dt="2026-08-25T15:04:58.586" v="0"/>
            <ac:spMkLst>
              <pc:docMk/>
              <pc:sldMasterMk cId="2100720400" sldId="2147483680"/>
              <pc:sldLayoutMk cId="3621765212" sldId="2147483914"/>
              <ac:spMk id="3" creationId="{00000000-0000-0000-0000-000000000000}"/>
            </ac:spMkLst>
          </pc:spChg>
          <pc:spChg chg="mod">
            <ac:chgData name="Agarwal, Kartik" userId="1b971730-a07c-4342-9ccd-daf1f0062f54" providerId="ADAL" clId="{1188E772-4F39-4EE1-8CAA-1B7A0CD44D77}" dt="2026-08-25T15:04:58.586" v="0"/>
            <ac:spMkLst>
              <pc:docMk/>
              <pc:sldMasterMk cId="2100720400" sldId="2147483680"/>
              <pc:sldLayoutMk cId="3621765212" sldId="2147483914"/>
              <ac:spMk id="5" creationId="{00000000-0000-0000-0000-000000000000}"/>
            </ac:spMkLst>
          </pc:spChg>
          <pc:spChg chg="mod">
            <ac:chgData name="Agarwal, Kartik" userId="1b971730-a07c-4342-9ccd-daf1f0062f54" providerId="ADAL" clId="{1188E772-4F39-4EE1-8CAA-1B7A0CD44D77}" dt="2026-08-25T15:04:58.586" v="0"/>
            <ac:spMkLst>
              <pc:docMk/>
              <pc:sldMasterMk cId="2100720400" sldId="2147483680"/>
              <pc:sldLayoutMk cId="3621765212" sldId="2147483914"/>
              <ac:spMk id="9" creationId="{00000000-0000-0000-0000-000000000000}"/>
            </ac:spMkLst>
          </pc:spChg>
        </pc:sldLayoutChg>
        <pc:sldLayoutChg chg="modSp mod ord">
          <pc:chgData name="Agarwal, Kartik" userId="1b971730-a07c-4342-9ccd-daf1f0062f54" providerId="ADAL" clId="{1188E772-4F39-4EE1-8CAA-1B7A0CD44D77}" dt="2026-08-25T15:04:58.586" v="0"/>
          <pc:sldLayoutMkLst>
            <pc:docMk/>
            <pc:sldMasterMk cId="2100720400" sldId="2147483680"/>
            <pc:sldLayoutMk cId="4040093505" sldId="2147483915"/>
          </pc:sldLayoutMkLst>
          <pc:spChg chg="mod">
            <ac:chgData name="Agarwal, Kartik" userId="1b971730-a07c-4342-9ccd-daf1f0062f54" providerId="ADAL" clId="{1188E772-4F39-4EE1-8CAA-1B7A0CD44D77}" dt="2026-08-25T15:04:58.586" v="0"/>
            <ac:spMkLst>
              <pc:docMk/>
              <pc:sldMasterMk cId="2100720400" sldId="2147483680"/>
              <pc:sldLayoutMk cId="4040093505" sldId="2147483915"/>
              <ac:spMk id="4" creationId="{00000000-0000-0000-0000-000000000000}"/>
            </ac:spMkLst>
          </pc:spChg>
        </pc:sldLayoutChg>
        <pc:sldLayoutChg chg="modSp mod ord">
          <pc:chgData name="Agarwal, Kartik" userId="1b971730-a07c-4342-9ccd-daf1f0062f54" providerId="ADAL" clId="{1188E772-4F39-4EE1-8CAA-1B7A0CD44D77}" dt="2026-08-25T15:04:58.586" v="0"/>
          <pc:sldLayoutMkLst>
            <pc:docMk/>
            <pc:sldMasterMk cId="2100720400" sldId="2147483680"/>
            <pc:sldLayoutMk cId="803272191" sldId="2147483916"/>
          </pc:sldLayoutMkLst>
          <pc:spChg chg="mod">
            <ac:chgData name="Agarwal, Kartik" userId="1b971730-a07c-4342-9ccd-daf1f0062f54" providerId="ADAL" clId="{1188E772-4F39-4EE1-8CAA-1B7A0CD44D77}" dt="2026-08-25T15:04:58.586" v="0"/>
            <ac:spMkLst>
              <pc:docMk/>
              <pc:sldMasterMk cId="2100720400" sldId="2147483680"/>
              <pc:sldLayoutMk cId="803272191" sldId="2147483916"/>
              <ac:spMk id="14" creationId="{00000000-0000-0000-0000-000000000000}"/>
            </ac:spMkLst>
          </pc:spChg>
          <pc:spChg chg="mod">
            <ac:chgData name="Agarwal, Kartik" userId="1b971730-a07c-4342-9ccd-daf1f0062f54" providerId="ADAL" clId="{1188E772-4F39-4EE1-8CAA-1B7A0CD44D77}" dt="2026-08-25T15:04:58.586" v="0"/>
            <ac:spMkLst>
              <pc:docMk/>
              <pc:sldMasterMk cId="2100720400" sldId="2147483680"/>
              <pc:sldLayoutMk cId="803272191" sldId="2147483916"/>
              <ac:spMk id="20" creationId="{00000000-0000-0000-0000-000000000000}"/>
            </ac:spMkLst>
          </pc:spChg>
        </pc:sldLayoutChg>
        <pc:sldLayoutChg chg="modSp mod ord">
          <pc:chgData name="Agarwal, Kartik" userId="1b971730-a07c-4342-9ccd-daf1f0062f54" providerId="ADAL" clId="{1188E772-4F39-4EE1-8CAA-1B7A0CD44D77}" dt="2026-08-25T15:04:58.586" v="0"/>
          <pc:sldLayoutMkLst>
            <pc:docMk/>
            <pc:sldMasterMk cId="2100720400" sldId="2147483680"/>
            <pc:sldLayoutMk cId="1080941223" sldId="2147483917"/>
          </pc:sldLayoutMkLst>
          <pc:spChg chg="mod">
            <ac:chgData name="Agarwal, Kartik" userId="1b971730-a07c-4342-9ccd-daf1f0062f54" providerId="ADAL" clId="{1188E772-4F39-4EE1-8CAA-1B7A0CD44D77}" dt="2026-08-25T15:04:58.586" v="0"/>
            <ac:spMkLst>
              <pc:docMk/>
              <pc:sldMasterMk cId="2100720400" sldId="2147483680"/>
              <pc:sldLayoutMk cId="1080941223" sldId="2147483917"/>
              <ac:spMk id="3" creationId="{00000000-0000-0000-0000-000000000000}"/>
            </ac:spMkLst>
          </pc:spChg>
          <pc:spChg chg="mod">
            <ac:chgData name="Agarwal, Kartik" userId="1b971730-a07c-4342-9ccd-daf1f0062f54" providerId="ADAL" clId="{1188E772-4F39-4EE1-8CAA-1B7A0CD44D77}" dt="2026-08-25T15:04:58.586" v="0"/>
            <ac:spMkLst>
              <pc:docMk/>
              <pc:sldMasterMk cId="2100720400" sldId="2147483680"/>
              <pc:sldLayoutMk cId="1080941223" sldId="2147483917"/>
              <ac:spMk id="6" creationId="{00000000-0000-0000-0000-000000000000}"/>
            </ac:spMkLst>
          </pc:spChg>
          <pc:spChg chg="mod">
            <ac:chgData name="Agarwal, Kartik" userId="1b971730-a07c-4342-9ccd-daf1f0062f54" providerId="ADAL" clId="{1188E772-4F39-4EE1-8CAA-1B7A0CD44D77}" dt="2026-08-25T15:04:58.586" v="0"/>
            <ac:spMkLst>
              <pc:docMk/>
              <pc:sldMasterMk cId="2100720400" sldId="2147483680"/>
              <pc:sldLayoutMk cId="1080941223" sldId="2147483917"/>
              <ac:spMk id="8" creationId="{00000000-0000-0000-0000-000000000000}"/>
            </ac:spMkLst>
          </pc:spChg>
        </pc:sldLayoutChg>
        <pc:sldLayoutChg chg="mod ord">
          <pc:chgData name="Agarwal, Kartik" userId="1b971730-a07c-4342-9ccd-daf1f0062f54" providerId="ADAL" clId="{1188E772-4F39-4EE1-8CAA-1B7A0CD44D77}" dt="2026-08-25T15:04:58.586" v="0"/>
          <pc:sldLayoutMkLst>
            <pc:docMk/>
            <pc:sldMasterMk cId="2100720400" sldId="2147483680"/>
            <pc:sldLayoutMk cId="232195542" sldId="2147483918"/>
          </pc:sldLayoutMkLst>
        </pc:sldLayoutChg>
        <pc:sldLayoutChg chg="modSp mod ord">
          <pc:chgData name="Agarwal, Kartik" userId="1b971730-a07c-4342-9ccd-daf1f0062f54" providerId="ADAL" clId="{1188E772-4F39-4EE1-8CAA-1B7A0CD44D77}" dt="2026-08-25T15:04:58.586" v="0"/>
          <pc:sldLayoutMkLst>
            <pc:docMk/>
            <pc:sldMasterMk cId="2100720400" sldId="2147483680"/>
            <pc:sldLayoutMk cId="2314964115" sldId="2147483919"/>
          </pc:sldLayoutMkLst>
          <pc:spChg chg="mod">
            <ac:chgData name="Agarwal, Kartik" userId="1b971730-a07c-4342-9ccd-daf1f0062f54" providerId="ADAL" clId="{1188E772-4F39-4EE1-8CAA-1B7A0CD44D77}" dt="2026-08-25T15:04:58.586" v="0"/>
            <ac:spMkLst>
              <pc:docMk/>
              <pc:sldMasterMk cId="2100720400" sldId="2147483680"/>
              <pc:sldLayoutMk cId="2314964115" sldId="2147483919"/>
              <ac:spMk id="4" creationId="{00000000-0000-0000-0000-000000000000}"/>
            </ac:spMkLst>
          </pc:spChg>
          <pc:spChg chg="mod">
            <ac:chgData name="Agarwal, Kartik" userId="1b971730-a07c-4342-9ccd-daf1f0062f54" providerId="ADAL" clId="{1188E772-4F39-4EE1-8CAA-1B7A0CD44D77}" dt="2026-08-25T15:04:58.586" v="0"/>
            <ac:spMkLst>
              <pc:docMk/>
              <pc:sldMasterMk cId="2100720400" sldId="2147483680"/>
              <pc:sldLayoutMk cId="2314964115" sldId="2147483919"/>
              <ac:spMk id="5" creationId="{00000000-0000-0000-0000-000000000000}"/>
            </ac:spMkLst>
          </pc:spChg>
        </pc:sldLayoutChg>
        <pc:sldLayoutChg chg="modSp mod ord">
          <pc:chgData name="Agarwal, Kartik" userId="1b971730-a07c-4342-9ccd-daf1f0062f54" providerId="ADAL" clId="{1188E772-4F39-4EE1-8CAA-1B7A0CD44D77}" dt="2026-08-25T15:04:58.586" v="0"/>
          <pc:sldLayoutMkLst>
            <pc:docMk/>
            <pc:sldMasterMk cId="2100720400" sldId="2147483680"/>
            <pc:sldLayoutMk cId="984144974" sldId="2147483920"/>
          </pc:sldLayoutMkLst>
          <pc:spChg chg="mod">
            <ac:chgData name="Agarwal, Kartik" userId="1b971730-a07c-4342-9ccd-daf1f0062f54" providerId="ADAL" clId="{1188E772-4F39-4EE1-8CAA-1B7A0CD44D77}" dt="2026-08-25T15:04:58.586" v="0"/>
            <ac:spMkLst>
              <pc:docMk/>
              <pc:sldMasterMk cId="2100720400" sldId="2147483680"/>
              <pc:sldLayoutMk cId="984144974" sldId="2147483920"/>
              <ac:spMk id="18" creationId="{00000000-0000-0000-0000-000000000000}"/>
            </ac:spMkLst>
          </pc:spChg>
          <pc:spChg chg="mod">
            <ac:chgData name="Agarwal, Kartik" userId="1b971730-a07c-4342-9ccd-daf1f0062f54" providerId="ADAL" clId="{1188E772-4F39-4EE1-8CAA-1B7A0CD44D77}" dt="2026-08-25T15:04:58.586" v="0"/>
            <ac:spMkLst>
              <pc:docMk/>
              <pc:sldMasterMk cId="2100720400" sldId="2147483680"/>
              <pc:sldLayoutMk cId="984144974" sldId="2147483920"/>
              <ac:spMk id="19" creationId="{00000000-0000-0000-0000-000000000000}"/>
            </ac:spMkLst>
          </pc:spChg>
        </pc:sldLayoutChg>
        <pc:sldLayoutChg chg="modSp mod ord">
          <pc:chgData name="Agarwal, Kartik" userId="1b971730-a07c-4342-9ccd-daf1f0062f54" providerId="ADAL" clId="{1188E772-4F39-4EE1-8CAA-1B7A0CD44D77}" dt="2026-08-25T15:04:58.586" v="0"/>
          <pc:sldLayoutMkLst>
            <pc:docMk/>
            <pc:sldMasterMk cId="2100720400" sldId="2147483680"/>
            <pc:sldLayoutMk cId="3260120309" sldId="2147483921"/>
          </pc:sldLayoutMkLst>
          <pc:spChg chg="mod">
            <ac:chgData name="Agarwal, Kartik" userId="1b971730-a07c-4342-9ccd-daf1f0062f54" providerId="ADAL" clId="{1188E772-4F39-4EE1-8CAA-1B7A0CD44D77}" dt="2026-08-25T15:04:58.586" v="0"/>
            <ac:spMkLst>
              <pc:docMk/>
              <pc:sldMasterMk cId="2100720400" sldId="2147483680"/>
              <pc:sldLayoutMk cId="3260120309" sldId="2147483921"/>
              <ac:spMk id="4" creationId="{00000000-0000-0000-0000-000000000000}"/>
            </ac:spMkLst>
          </pc:spChg>
          <pc:spChg chg="mod">
            <ac:chgData name="Agarwal, Kartik" userId="1b971730-a07c-4342-9ccd-daf1f0062f54" providerId="ADAL" clId="{1188E772-4F39-4EE1-8CAA-1B7A0CD44D77}" dt="2026-08-25T15:04:58.586" v="0"/>
            <ac:spMkLst>
              <pc:docMk/>
              <pc:sldMasterMk cId="2100720400" sldId="2147483680"/>
              <pc:sldLayoutMk cId="3260120309" sldId="2147483921"/>
              <ac:spMk id="37" creationId="{00000000-0000-0000-0000-000000000000}"/>
            </ac:spMkLst>
          </pc:spChg>
          <pc:spChg chg="mod">
            <ac:chgData name="Agarwal, Kartik" userId="1b971730-a07c-4342-9ccd-daf1f0062f54" providerId="ADAL" clId="{1188E772-4F39-4EE1-8CAA-1B7A0CD44D77}" dt="2026-08-25T15:04:58.586" v="0"/>
            <ac:spMkLst>
              <pc:docMk/>
              <pc:sldMasterMk cId="2100720400" sldId="2147483680"/>
              <pc:sldLayoutMk cId="3260120309" sldId="2147483921"/>
              <ac:spMk id="38" creationId="{00000000-0000-0000-0000-000000000000}"/>
            </ac:spMkLst>
          </pc:spChg>
          <pc:spChg chg="mod">
            <ac:chgData name="Agarwal, Kartik" userId="1b971730-a07c-4342-9ccd-daf1f0062f54" providerId="ADAL" clId="{1188E772-4F39-4EE1-8CAA-1B7A0CD44D77}" dt="2026-08-25T15:04:58.586" v="0"/>
            <ac:spMkLst>
              <pc:docMk/>
              <pc:sldMasterMk cId="2100720400" sldId="2147483680"/>
              <pc:sldLayoutMk cId="3260120309" sldId="2147483921"/>
              <ac:spMk id="39" creationId="{00000000-0000-0000-0000-000000000000}"/>
            </ac:spMkLst>
          </pc:spChg>
          <pc:spChg chg="mod">
            <ac:chgData name="Agarwal, Kartik" userId="1b971730-a07c-4342-9ccd-daf1f0062f54" providerId="ADAL" clId="{1188E772-4F39-4EE1-8CAA-1B7A0CD44D77}" dt="2026-08-25T15:04:58.586" v="0"/>
            <ac:spMkLst>
              <pc:docMk/>
              <pc:sldMasterMk cId="2100720400" sldId="2147483680"/>
              <pc:sldLayoutMk cId="3260120309" sldId="2147483921"/>
              <ac:spMk id="40" creationId="{00000000-0000-0000-0000-000000000000}"/>
            </ac:spMkLst>
          </pc:spChg>
          <pc:spChg chg="mod">
            <ac:chgData name="Agarwal, Kartik" userId="1b971730-a07c-4342-9ccd-daf1f0062f54" providerId="ADAL" clId="{1188E772-4F39-4EE1-8CAA-1B7A0CD44D77}" dt="2026-08-25T15:04:58.586" v="0"/>
            <ac:spMkLst>
              <pc:docMk/>
              <pc:sldMasterMk cId="2100720400" sldId="2147483680"/>
              <pc:sldLayoutMk cId="3260120309" sldId="2147483921"/>
              <ac:spMk id="46" creationId="{00000000-0000-0000-0000-000000000000}"/>
            </ac:spMkLst>
          </pc:spChg>
          <pc:spChg chg="mod">
            <ac:chgData name="Agarwal, Kartik" userId="1b971730-a07c-4342-9ccd-daf1f0062f54" providerId="ADAL" clId="{1188E772-4F39-4EE1-8CAA-1B7A0CD44D77}" dt="2026-08-25T15:04:58.586" v="0"/>
            <ac:spMkLst>
              <pc:docMk/>
              <pc:sldMasterMk cId="2100720400" sldId="2147483680"/>
              <pc:sldLayoutMk cId="3260120309" sldId="2147483921"/>
              <ac:spMk id="47" creationId="{00000000-0000-0000-0000-000000000000}"/>
            </ac:spMkLst>
          </pc:spChg>
          <pc:spChg chg="mod">
            <ac:chgData name="Agarwal, Kartik" userId="1b971730-a07c-4342-9ccd-daf1f0062f54" providerId="ADAL" clId="{1188E772-4F39-4EE1-8CAA-1B7A0CD44D77}" dt="2026-08-25T15:04:58.586" v="0"/>
            <ac:spMkLst>
              <pc:docMk/>
              <pc:sldMasterMk cId="2100720400" sldId="2147483680"/>
              <pc:sldLayoutMk cId="3260120309" sldId="2147483921"/>
              <ac:spMk id="48" creationId="{00000000-0000-0000-0000-000000000000}"/>
            </ac:spMkLst>
          </pc:spChg>
          <pc:spChg chg="mod">
            <ac:chgData name="Agarwal, Kartik" userId="1b971730-a07c-4342-9ccd-daf1f0062f54" providerId="ADAL" clId="{1188E772-4F39-4EE1-8CAA-1B7A0CD44D77}" dt="2026-08-25T15:04:58.586" v="0"/>
            <ac:spMkLst>
              <pc:docMk/>
              <pc:sldMasterMk cId="2100720400" sldId="2147483680"/>
              <pc:sldLayoutMk cId="3260120309" sldId="2147483921"/>
              <ac:spMk id="49" creationId="{00000000-0000-0000-0000-000000000000}"/>
            </ac:spMkLst>
          </pc:spChg>
        </pc:sldLayoutChg>
        <pc:sldLayoutChg chg="modSp mod ord">
          <pc:chgData name="Agarwal, Kartik" userId="1b971730-a07c-4342-9ccd-daf1f0062f54" providerId="ADAL" clId="{1188E772-4F39-4EE1-8CAA-1B7A0CD44D77}" dt="2026-08-25T15:04:58.586" v="0"/>
          <pc:sldLayoutMkLst>
            <pc:docMk/>
            <pc:sldMasterMk cId="2100720400" sldId="2147483680"/>
            <pc:sldLayoutMk cId="2714414657" sldId="2147483936"/>
          </pc:sldLayoutMkLst>
          <pc:spChg chg="mod">
            <ac:chgData name="Agarwal, Kartik" userId="1b971730-a07c-4342-9ccd-daf1f0062f54" providerId="ADAL" clId="{1188E772-4F39-4EE1-8CAA-1B7A0CD44D77}" dt="2026-08-25T15:04:58.586" v="0"/>
            <ac:spMkLst>
              <pc:docMk/>
              <pc:sldMasterMk cId="2100720400" sldId="2147483680"/>
              <pc:sldLayoutMk cId="2714414657" sldId="2147483936"/>
              <ac:spMk id="2" creationId="{00000000-0000-0000-0000-000000000000}"/>
            </ac:spMkLst>
          </pc:spChg>
          <pc:spChg chg="mod">
            <ac:chgData name="Agarwal, Kartik" userId="1b971730-a07c-4342-9ccd-daf1f0062f54" providerId="ADAL" clId="{1188E772-4F39-4EE1-8CAA-1B7A0CD44D77}" dt="2026-08-25T15:04:58.586" v="0"/>
            <ac:spMkLst>
              <pc:docMk/>
              <pc:sldMasterMk cId="2100720400" sldId="2147483680"/>
              <pc:sldLayoutMk cId="2714414657" sldId="2147483936"/>
              <ac:spMk id="3" creationId="{00000000-0000-0000-0000-000000000000}"/>
            </ac:spMkLst>
          </pc:spChg>
          <pc:spChg chg="mod">
            <ac:chgData name="Agarwal, Kartik" userId="1b971730-a07c-4342-9ccd-daf1f0062f54" providerId="ADAL" clId="{1188E772-4F39-4EE1-8CAA-1B7A0CD44D77}" dt="2026-08-25T15:04:58.586" v="0"/>
            <ac:spMkLst>
              <pc:docMk/>
              <pc:sldMasterMk cId="2100720400" sldId="2147483680"/>
              <pc:sldLayoutMk cId="2714414657" sldId="2147483936"/>
              <ac:spMk id="5" creationId="{00000000-0000-0000-0000-000000000000}"/>
            </ac:spMkLst>
          </pc:spChg>
          <pc:spChg chg="mod">
            <ac:chgData name="Agarwal, Kartik" userId="1b971730-a07c-4342-9ccd-daf1f0062f54" providerId="ADAL" clId="{1188E772-4F39-4EE1-8CAA-1B7A0CD44D77}" dt="2026-08-25T15:04:58.586" v="0"/>
            <ac:spMkLst>
              <pc:docMk/>
              <pc:sldMasterMk cId="2100720400" sldId="2147483680"/>
              <pc:sldLayoutMk cId="2714414657" sldId="2147483936"/>
              <ac:spMk id="9" creationId="{00000000-0000-0000-0000-000000000000}"/>
            </ac:spMkLst>
          </pc:spChg>
        </pc:sldLayoutChg>
        <pc:sldLayoutChg chg="modSp mod ord">
          <pc:chgData name="Agarwal, Kartik" userId="1b971730-a07c-4342-9ccd-daf1f0062f54" providerId="ADAL" clId="{1188E772-4F39-4EE1-8CAA-1B7A0CD44D77}" dt="2026-08-25T15:04:58.586" v="0"/>
          <pc:sldLayoutMkLst>
            <pc:docMk/>
            <pc:sldMasterMk cId="2100720400" sldId="2147483680"/>
            <pc:sldLayoutMk cId="229906676" sldId="2147483937"/>
          </pc:sldLayoutMkLst>
          <pc:spChg chg="mod">
            <ac:chgData name="Agarwal, Kartik" userId="1b971730-a07c-4342-9ccd-daf1f0062f54" providerId="ADAL" clId="{1188E772-4F39-4EE1-8CAA-1B7A0CD44D77}" dt="2026-08-25T15:04:58.586" v="0"/>
            <ac:spMkLst>
              <pc:docMk/>
              <pc:sldMasterMk cId="2100720400" sldId="2147483680"/>
              <pc:sldLayoutMk cId="229906676" sldId="2147483937"/>
              <ac:spMk id="4" creationId="{00000000-0000-0000-0000-000000000000}"/>
            </ac:spMkLst>
          </pc:spChg>
        </pc:sldLayoutChg>
        <pc:sldLayoutChg chg="modSp mod ord">
          <pc:chgData name="Agarwal, Kartik" userId="1b971730-a07c-4342-9ccd-daf1f0062f54" providerId="ADAL" clId="{1188E772-4F39-4EE1-8CAA-1B7A0CD44D77}" dt="2026-08-25T15:04:58.586" v="0"/>
          <pc:sldLayoutMkLst>
            <pc:docMk/>
            <pc:sldMasterMk cId="2100720400" sldId="2147483680"/>
            <pc:sldLayoutMk cId="804573084" sldId="2147483938"/>
          </pc:sldLayoutMkLst>
          <pc:spChg chg="mod">
            <ac:chgData name="Agarwal, Kartik" userId="1b971730-a07c-4342-9ccd-daf1f0062f54" providerId="ADAL" clId="{1188E772-4F39-4EE1-8CAA-1B7A0CD44D77}" dt="2026-08-25T15:04:58.586" v="0"/>
            <ac:spMkLst>
              <pc:docMk/>
              <pc:sldMasterMk cId="2100720400" sldId="2147483680"/>
              <pc:sldLayoutMk cId="804573084" sldId="2147483938"/>
              <ac:spMk id="14" creationId="{00000000-0000-0000-0000-000000000000}"/>
            </ac:spMkLst>
          </pc:spChg>
          <pc:spChg chg="mod">
            <ac:chgData name="Agarwal, Kartik" userId="1b971730-a07c-4342-9ccd-daf1f0062f54" providerId="ADAL" clId="{1188E772-4F39-4EE1-8CAA-1B7A0CD44D77}" dt="2026-08-25T15:04:58.586" v="0"/>
            <ac:spMkLst>
              <pc:docMk/>
              <pc:sldMasterMk cId="2100720400" sldId="2147483680"/>
              <pc:sldLayoutMk cId="804573084" sldId="2147483938"/>
              <ac:spMk id="20" creationId="{00000000-0000-0000-0000-000000000000}"/>
            </ac:spMkLst>
          </pc:spChg>
        </pc:sldLayoutChg>
        <pc:sldLayoutChg chg="modSp mod ord">
          <pc:chgData name="Agarwal, Kartik" userId="1b971730-a07c-4342-9ccd-daf1f0062f54" providerId="ADAL" clId="{1188E772-4F39-4EE1-8CAA-1B7A0CD44D77}" dt="2026-08-25T15:04:58.586" v="0"/>
          <pc:sldLayoutMkLst>
            <pc:docMk/>
            <pc:sldMasterMk cId="2100720400" sldId="2147483680"/>
            <pc:sldLayoutMk cId="79427612" sldId="2147483939"/>
          </pc:sldLayoutMkLst>
          <pc:spChg chg="mod">
            <ac:chgData name="Agarwal, Kartik" userId="1b971730-a07c-4342-9ccd-daf1f0062f54" providerId="ADAL" clId="{1188E772-4F39-4EE1-8CAA-1B7A0CD44D77}" dt="2026-08-25T15:04:58.586" v="0"/>
            <ac:spMkLst>
              <pc:docMk/>
              <pc:sldMasterMk cId="2100720400" sldId="2147483680"/>
              <pc:sldLayoutMk cId="79427612" sldId="2147483939"/>
              <ac:spMk id="3" creationId="{00000000-0000-0000-0000-000000000000}"/>
            </ac:spMkLst>
          </pc:spChg>
          <pc:spChg chg="mod">
            <ac:chgData name="Agarwal, Kartik" userId="1b971730-a07c-4342-9ccd-daf1f0062f54" providerId="ADAL" clId="{1188E772-4F39-4EE1-8CAA-1B7A0CD44D77}" dt="2026-08-25T15:04:58.586" v="0"/>
            <ac:spMkLst>
              <pc:docMk/>
              <pc:sldMasterMk cId="2100720400" sldId="2147483680"/>
              <pc:sldLayoutMk cId="79427612" sldId="2147483939"/>
              <ac:spMk id="6" creationId="{00000000-0000-0000-0000-000000000000}"/>
            </ac:spMkLst>
          </pc:spChg>
          <pc:spChg chg="mod">
            <ac:chgData name="Agarwal, Kartik" userId="1b971730-a07c-4342-9ccd-daf1f0062f54" providerId="ADAL" clId="{1188E772-4F39-4EE1-8CAA-1B7A0CD44D77}" dt="2026-08-25T15:04:58.586" v="0"/>
            <ac:spMkLst>
              <pc:docMk/>
              <pc:sldMasterMk cId="2100720400" sldId="2147483680"/>
              <pc:sldLayoutMk cId="79427612" sldId="2147483939"/>
              <ac:spMk id="8" creationId="{00000000-0000-0000-0000-000000000000}"/>
            </ac:spMkLst>
          </pc:spChg>
        </pc:sldLayoutChg>
        <pc:sldLayoutChg chg="mod ord">
          <pc:chgData name="Agarwal, Kartik" userId="1b971730-a07c-4342-9ccd-daf1f0062f54" providerId="ADAL" clId="{1188E772-4F39-4EE1-8CAA-1B7A0CD44D77}" dt="2026-08-25T15:04:58.586" v="0"/>
          <pc:sldLayoutMkLst>
            <pc:docMk/>
            <pc:sldMasterMk cId="2100720400" sldId="2147483680"/>
            <pc:sldLayoutMk cId="3771251617" sldId="2147483940"/>
          </pc:sldLayoutMkLst>
        </pc:sldLayoutChg>
        <pc:sldLayoutChg chg="modSp mod ord">
          <pc:chgData name="Agarwal, Kartik" userId="1b971730-a07c-4342-9ccd-daf1f0062f54" providerId="ADAL" clId="{1188E772-4F39-4EE1-8CAA-1B7A0CD44D77}" dt="2026-08-25T15:04:58.586" v="0"/>
          <pc:sldLayoutMkLst>
            <pc:docMk/>
            <pc:sldMasterMk cId="2100720400" sldId="2147483680"/>
            <pc:sldLayoutMk cId="686403100" sldId="2147483941"/>
          </pc:sldLayoutMkLst>
          <pc:spChg chg="mod">
            <ac:chgData name="Agarwal, Kartik" userId="1b971730-a07c-4342-9ccd-daf1f0062f54" providerId="ADAL" clId="{1188E772-4F39-4EE1-8CAA-1B7A0CD44D77}" dt="2026-08-25T15:04:58.586" v="0"/>
            <ac:spMkLst>
              <pc:docMk/>
              <pc:sldMasterMk cId="2100720400" sldId="2147483680"/>
              <pc:sldLayoutMk cId="686403100" sldId="2147483941"/>
              <ac:spMk id="4" creationId="{00000000-0000-0000-0000-000000000000}"/>
            </ac:spMkLst>
          </pc:spChg>
          <pc:spChg chg="mod">
            <ac:chgData name="Agarwal, Kartik" userId="1b971730-a07c-4342-9ccd-daf1f0062f54" providerId="ADAL" clId="{1188E772-4F39-4EE1-8CAA-1B7A0CD44D77}" dt="2026-08-25T15:04:58.586" v="0"/>
            <ac:spMkLst>
              <pc:docMk/>
              <pc:sldMasterMk cId="2100720400" sldId="2147483680"/>
              <pc:sldLayoutMk cId="686403100" sldId="2147483941"/>
              <ac:spMk id="5" creationId="{00000000-0000-0000-0000-000000000000}"/>
            </ac:spMkLst>
          </pc:spChg>
        </pc:sldLayoutChg>
        <pc:sldLayoutChg chg="modSp mod ord">
          <pc:chgData name="Agarwal, Kartik" userId="1b971730-a07c-4342-9ccd-daf1f0062f54" providerId="ADAL" clId="{1188E772-4F39-4EE1-8CAA-1B7A0CD44D77}" dt="2026-08-25T15:04:58.586" v="0"/>
          <pc:sldLayoutMkLst>
            <pc:docMk/>
            <pc:sldMasterMk cId="2100720400" sldId="2147483680"/>
            <pc:sldLayoutMk cId="3602302671" sldId="2147483942"/>
          </pc:sldLayoutMkLst>
          <pc:spChg chg="mod">
            <ac:chgData name="Agarwal, Kartik" userId="1b971730-a07c-4342-9ccd-daf1f0062f54" providerId="ADAL" clId="{1188E772-4F39-4EE1-8CAA-1B7A0CD44D77}" dt="2026-08-25T15:04:58.586" v="0"/>
            <ac:spMkLst>
              <pc:docMk/>
              <pc:sldMasterMk cId="2100720400" sldId="2147483680"/>
              <pc:sldLayoutMk cId="3602302671" sldId="2147483942"/>
              <ac:spMk id="18" creationId="{00000000-0000-0000-0000-000000000000}"/>
            </ac:spMkLst>
          </pc:spChg>
          <pc:spChg chg="mod">
            <ac:chgData name="Agarwal, Kartik" userId="1b971730-a07c-4342-9ccd-daf1f0062f54" providerId="ADAL" clId="{1188E772-4F39-4EE1-8CAA-1B7A0CD44D77}" dt="2026-08-25T15:04:58.586" v="0"/>
            <ac:spMkLst>
              <pc:docMk/>
              <pc:sldMasterMk cId="2100720400" sldId="2147483680"/>
              <pc:sldLayoutMk cId="3602302671" sldId="2147483942"/>
              <ac:spMk id="19" creationId="{00000000-0000-0000-0000-000000000000}"/>
            </ac:spMkLst>
          </pc:spChg>
        </pc:sldLayoutChg>
        <pc:sldLayoutChg chg="modSp mod ord">
          <pc:chgData name="Agarwal, Kartik" userId="1b971730-a07c-4342-9ccd-daf1f0062f54" providerId="ADAL" clId="{1188E772-4F39-4EE1-8CAA-1B7A0CD44D77}" dt="2026-08-25T15:04:58.586" v="0"/>
          <pc:sldLayoutMkLst>
            <pc:docMk/>
            <pc:sldMasterMk cId="2100720400" sldId="2147483680"/>
            <pc:sldLayoutMk cId="1723630930" sldId="2147483943"/>
          </pc:sldLayoutMkLst>
          <pc:spChg chg="mod">
            <ac:chgData name="Agarwal, Kartik" userId="1b971730-a07c-4342-9ccd-daf1f0062f54" providerId="ADAL" clId="{1188E772-4F39-4EE1-8CAA-1B7A0CD44D77}" dt="2026-08-25T15:04:58.586" v="0"/>
            <ac:spMkLst>
              <pc:docMk/>
              <pc:sldMasterMk cId="2100720400" sldId="2147483680"/>
              <pc:sldLayoutMk cId="1723630930" sldId="2147483943"/>
              <ac:spMk id="4" creationId="{00000000-0000-0000-0000-000000000000}"/>
            </ac:spMkLst>
          </pc:spChg>
          <pc:spChg chg="mod">
            <ac:chgData name="Agarwal, Kartik" userId="1b971730-a07c-4342-9ccd-daf1f0062f54" providerId="ADAL" clId="{1188E772-4F39-4EE1-8CAA-1B7A0CD44D77}" dt="2026-08-25T15:04:58.586" v="0"/>
            <ac:spMkLst>
              <pc:docMk/>
              <pc:sldMasterMk cId="2100720400" sldId="2147483680"/>
              <pc:sldLayoutMk cId="1723630930" sldId="2147483943"/>
              <ac:spMk id="37" creationId="{00000000-0000-0000-0000-000000000000}"/>
            </ac:spMkLst>
          </pc:spChg>
          <pc:spChg chg="mod">
            <ac:chgData name="Agarwal, Kartik" userId="1b971730-a07c-4342-9ccd-daf1f0062f54" providerId="ADAL" clId="{1188E772-4F39-4EE1-8CAA-1B7A0CD44D77}" dt="2026-08-25T15:04:58.586" v="0"/>
            <ac:spMkLst>
              <pc:docMk/>
              <pc:sldMasterMk cId="2100720400" sldId="2147483680"/>
              <pc:sldLayoutMk cId="1723630930" sldId="2147483943"/>
              <ac:spMk id="38" creationId="{00000000-0000-0000-0000-000000000000}"/>
            </ac:spMkLst>
          </pc:spChg>
          <pc:spChg chg="mod">
            <ac:chgData name="Agarwal, Kartik" userId="1b971730-a07c-4342-9ccd-daf1f0062f54" providerId="ADAL" clId="{1188E772-4F39-4EE1-8CAA-1B7A0CD44D77}" dt="2026-08-25T15:04:58.586" v="0"/>
            <ac:spMkLst>
              <pc:docMk/>
              <pc:sldMasterMk cId="2100720400" sldId="2147483680"/>
              <pc:sldLayoutMk cId="1723630930" sldId="2147483943"/>
              <ac:spMk id="39" creationId="{00000000-0000-0000-0000-000000000000}"/>
            </ac:spMkLst>
          </pc:spChg>
          <pc:spChg chg="mod">
            <ac:chgData name="Agarwal, Kartik" userId="1b971730-a07c-4342-9ccd-daf1f0062f54" providerId="ADAL" clId="{1188E772-4F39-4EE1-8CAA-1B7A0CD44D77}" dt="2026-08-25T15:04:58.586" v="0"/>
            <ac:spMkLst>
              <pc:docMk/>
              <pc:sldMasterMk cId="2100720400" sldId="2147483680"/>
              <pc:sldLayoutMk cId="1723630930" sldId="2147483943"/>
              <ac:spMk id="40" creationId="{00000000-0000-0000-0000-000000000000}"/>
            </ac:spMkLst>
          </pc:spChg>
          <pc:spChg chg="mod">
            <ac:chgData name="Agarwal, Kartik" userId="1b971730-a07c-4342-9ccd-daf1f0062f54" providerId="ADAL" clId="{1188E772-4F39-4EE1-8CAA-1B7A0CD44D77}" dt="2026-08-25T15:04:58.586" v="0"/>
            <ac:spMkLst>
              <pc:docMk/>
              <pc:sldMasterMk cId="2100720400" sldId="2147483680"/>
              <pc:sldLayoutMk cId="1723630930" sldId="2147483943"/>
              <ac:spMk id="46" creationId="{00000000-0000-0000-0000-000000000000}"/>
            </ac:spMkLst>
          </pc:spChg>
          <pc:spChg chg="mod">
            <ac:chgData name="Agarwal, Kartik" userId="1b971730-a07c-4342-9ccd-daf1f0062f54" providerId="ADAL" clId="{1188E772-4F39-4EE1-8CAA-1B7A0CD44D77}" dt="2026-08-25T15:04:58.586" v="0"/>
            <ac:spMkLst>
              <pc:docMk/>
              <pc:sldMasterMk cId="2100720400" sldId="2147483680"/>
              <pc:sldLayoutMk cId="1723630930" sldId="2147483943"/>
              <ac:spMk id="47" creationId="{00000000-0000-0000-0000-000000000000}"/>
            </ac:spMkLst>
          </pc:spChg>
          <pc:spChg chg="mod">
            <ac:chgData name="Agarwal, Kartik" userId="1b971730-a07c-4342-9ccd-daf1f0062f54" providerId="ADAL" clId="{1188E772-4F39-4EE1-8CAA-1B7A0CD44D77}" dt="2026-08-25T15:04:58.586" v="0"/>
            <ac:spMkLst>
              <pc:docMk/>
              <pc:sldMasterMk cId="2100720400" sldId="2147483680"/>
              <pc:sldLayoutMk cId="1723630930" sldId="2147483943"/>
              <ac:spMk id="48" creationId="{00000000-0000-0000-0000-000000000000}"/>
            </ac:spMkLst>
          </pc:spChg>
          <pc:spChg chg="mod">
            <ac:chgData name="Agarwal, Kartik" userId="1b971730-a07c-4342-9ccd-daf1f0062f54" providerId="ADAL" clId="{1188E772-4F39-4EE1-8CAA-1B7A0CD44D77}" dt="2026-08-25T15:04:58.586" v="0"/>
            <ac:spMkLst>
              <pc:docMk/>
              <pc:sldMasterMk cId="2100720400" sldId="2147483680"/>
              <pc:sldLayoutMk cId="1723630930" sldId="2147483943"/>
              <ac:spMk id="49" creationId="{00000000-0000-0000-0000-000000000000}"/>
            </ac:spMkLst>
          </pc:spChg>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2" Type="http://schemas.openxmlformats.org/officeDocument/2006/relationships/package" Target="../embeddings/Microsoft_Excel_Worksheet2.xlsx"/><Relationship Id="rId1" Type="http://schemas.openxmlformats.org/officeDocument/2006/relationships/themeOverride" Target="../theme/themeOverrid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00" b="0" i="0" u="none" strike="noStrike">
                <a:solidFill>
                  <a:schemeClr val="tx1"/>
                </a:solidFill>
                <a:latin typeface="Verdana" panose="020B0604030504040204" pitchFamily="34" charset="0"/>
                <a:ea typeface="Verdana" panose="020B0604030504040204" pitchFamily="34" charset="0"/>
              </a:defRPr>
            </a:pPr>
            <a:r>
              <a:rPr lang="en-US" sz="1000" b="0" i="0" u="none" strike="noStrike" dirty="0">
                <a:solidFill>
                  <a:schemeClr val="tx1"/>
                </a:solidFill>
                <a:latin typeface="Verdana" panose="020B0604030504040204" pitchFamily="34" charset="0"/>
                <a:ea typeface="Verdana" panose="020B0604030504040204" pitchFamily="34" charset="0"/>
              </a:rPr>
              <a:t>Gross Fiscal Deficit of States as % of GDP</a:t>
            </a:r>
          </a:p>
        </c:rich>
      </c:tx>
      <c:layout>
        <c:manualLayout>
          <c:xMode val="edge"/>
          <c:yMode val="edge"/>
          <c:x val="0.10865973065555859"/>
          <c:y val="1.0822510822510822E-2"/>
        </c:manualLayout>
      </c:layout>
      <c:overlay val="0"/>
      <c:spPr>
        <a:solidFill>
          <a:schemeClr val="bg1"/>
        </a:solidFill>
      </c:spPr>
    </c:title>
    <c:autoTitleDeleted val="0"/>
    <c:plotArea>
      <c:layout/>
      <c:barChart>
        <c:barDir val="col"/>
        <c:grouping val="clustered"/>
        <c:varyColors val="0"/>
        <c:ser>
          <c:idx val="0"/>
          <c:order val="0"/>
          <c:tx>
            <c:strRef>
              <c:f>Sheet1!$B$1</c:f>
              <c:strCache>
                <c:ptCount val="1"/>
                <c:pt idx="0">
                  <c:v>GFD as % of GDP</c:v>
                </c:pt>
              </c:strCache>
            </c:strRef>
          </c:tx>
          <c:spPr>
            <a:solidFill>
              <a:schemeClr val="accent3">
                <a:lumMod val="50000"/>
              </a:schemeClr>
            </a:solidFill>
            <a:effectLst/>
            <a:scene3d>
              <a:camera prst="orthographicFront"/>
              <a:lightRig rig="threePt" dir="t"/>
            </a:scene3d>
            <a:sp3d>
              <a:bevelT w="190500" h="38100"/>
            </a:sp3d>
          </c:spPr>
          <c:invertIfNegative val="0"/>
          <c:dLbls>
            <c:numFmt formatCode="0.0" sourceLinked="0"/>
            <c:spPr>
              <a:solidFill>
                <a:srgbClr val="DDEFE8"/>
              </a:solidFill>
              <a:ln>
                <a:noFill/>
              </a:ln>
              <a:effectLst/>
            </c:spPr>
            <c:txPr>
              <a:bodyPr/>
              <a:lstStyle/>
              <a:p>
                <a:pPr>
                  <a:defRPr sz="900" b="1" i="0" u="none" strike="noStrike">
                    <a:solidFill>
                      <a:schemeClr val="tx1"/>
                    </a:solidFill>
                    <a:latin typeface="Verdana" panose="020B0604030504040204" pitchFamily="34" charset="0"/>
                    <a:ea typeface="Verdana" panose="020B060403050404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2005-10 avg</c:v>
                </c:pt>
                <c:pt idx="1">
                  <c:v>2010-15 avg</c:v>
                </c:pt>
                <c:pt idx="2">
                  <c:v>2015-20 avg</c:v>
                </c:pt>
                <c:pt idx="3">
                  <c:v>2020-21</c:v>
                </c:pt>
                <c:pt idx="4">
                  <c:v>2021-22</c:v>
                </c:pt>
                <c:pt idx="5">
                  <c:v>2022-23</c:v>
                </c:pt>
                <c:pt idx="6">
                  <c:v>2023-24</c:v>
                </c:pt>
                <c:pt idx="7">
                  <c:v>2024-25 PA</c:v>
                </c:pt>
                <c:pt idx="8">
                  <c:v>2025-26 BE</c:v>
                </c:pt>
              </c:strCache>
            </c:strRef>
          </c:cat>
          <c:val>
            <c:numRef>
              <c:f>Sheet1!$B$2:$B$10</c:f>
              <c:numCache>
                <c:formatCode>General</c:formatCode>
                <c:ptCount val="9"/>
                <c:pt idx="0">
                  <c:v>2.2999999999999998</c:v>
                </c:pt>
                <c:pt idx="1">
                  <c:v>2.2000000000000002</c:v>
                </c:pt>
                <c:pt idx="2">
                  <c:v>2.8</c:v>
                </c:pt>
                <c:pt idx="3">
                  <c:v>4.0999999999999996</c:v>
                </c:pt>
                <c:pt idx="4">
                  <c:v>2.8</c:v>
                </c:pt>
                <c:pt idx="5">
                  <c:v>2.7</c:v>
                </c:pt>
                <c:pt idx="6">
                  <c:v>2.9</c:v>
                </c:pt>
                <c:pt idx="7">
                  <c:v>3.3</c:v>
                </c:pt>
                <c:pt idx="8">
                  <c:v>3.3</c:v>
                </c:pt>
              </c:numCache>
            </c:numRef>
          </c:val>
          <c:extLst>
            <c:ext xmlns:c16="http://schemas.microsoft.com/office/drawing/2014/chart" uri="{C3380CC4-5D6E-409C-BE32-E72D297353CC}">
              <c16:uniqueId val="{00000000-5CAA-4B9B-8818-8945C202DB08}"/>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5400000" vert="horz"/>
          <a:lstStyle/>
          <a:p>
            <a:pPr>
              <a:defRPr sz="850" b="0" i="0" u="none" strike="noStrike">
                <a:solidFill>
                  <a:schemeClr val="tx1"/>
                </a:solidFill>
                <a:latin typeface="Verdana" panose="020B0604030504040204" pitchFamily="34" charset="0"/>
                <a:ea typeface="Verdana" panose="020B0604030504040204" pitchFamily="34" charset="0"/>
              </a:defRPr>
            </a:pPr>
            <a:endParaRPr lang="en-US"/>
          </a:p>
        </c:txPr>
        <c:crossAx val="2094734552"/>
        <c:crosses val="autoZero"/>
        <c:auto val="1"/>
        <c:lblAlgn val="ctr"/>
        <c:lblOffset val="100"/>
        <c:noMultiLvlLbl val="1"/>
      </c:catAx>
      <c:valAx>
        <c:axId val="2094734552"/>
        <c:scaling>
          <c:orientation val="minMax"/>
          <c:max val="5"/>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chemeClr val="tx1"/>
                </a:solidFill>
                <a:latin typeface="Verdana" panose="020B0604030504040204" pitchFamily="34" charset="0"/>
                <a:ea typeface="Verdana" panose="020B0604030504040204" pitchFamily="34" charset="0"/>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00" b="0" i="0" u="none" strike="noStrike">
                <a:solidFill>
                  <a:srgbClr val="0A4A4E"/>
                </a:solidFill>
                <a:latin typeface="Verdana" panose="020B0604030504040204" pitchFamily="34" charset="0"/>
                <a:ea typeface="Verdana" panose="020B0604030504040204" pitchFamily="34" charset="0"/>
              </a:defRPr>
            </a:pPr>
            <a:r>
              <a:rPr lang="en-US" sz="1000" b="0" i="0" u="none" strike="noStrike">
                <a:solidFill>
                  <a:srgbClr val="0A4A4E"/>
                </a:solidFill>
                <a:latin typeface="Verdana" panose="020B0604030504040204" pitchFamily="34" charset="0"/>
                <a:ea typeface="Verdana" panose="020B0604030504040204" pitchFamily="34" charset="0"/>
              </a:rPr>
              <a:t>Average capital expenditure to GSDP, 2018-19 to 2023-24</a:t>
            </a:r>
          </a:p>
        </c:rich>
      </c:tx>
      <c:layout>
        <c:manualLayout>
          <c:xMode val="edge"/>
          <c:yMode val="edge"/>
          <c:x val="0.14771165899344549"/>
          <c:y val="0"/>
        </c:manualLayout>
      </c:layout>
      <c:overlay val="0"/>
      <c:spPr>
        <a:solidFill>
          <a:schemeClr val="bg1"/>
        </a:solidFill>
      </c:spPr>
    </c:title>
    <c:autoTitleDeleted val="0"/>
    <c:plotArea>
      <c:layout/>
      <c:barChart>
        <c:barDir val="bar"/>
        <c:grouping val="clustered"/>
        <c:varyColors val="0"/>
        <c:ser>
          <c:idx val="0"/>
          <c:order val="0"/>
          <c:tx>
            <c:strRef>
              <c:f>Sheet1!$B$1</c:f>
              <c:strCache>
                <c:ptCount val="1"/>
                <c:pt idx="0">
                  <c:v>Capex as % of GSDP</c:v>
                </c:pt>
              </c:strCache>
            </c:strRef>
          </c:tx>
          <c:spPr>
            <a:solidFill>
              <a:schemeClr val="accent3">
                <a:lumMod val="75000"/>
              </a:schemeClr>
            </a:solidFill>
            <a:effectLst/>
            <a:scene3d>
              <a:camera prst="orthographicFront"/>
              <a:lightRig rig="threePt" dir="t"/>
            </a:scene3d>
            <a:sp3d>
              <a:bevelT w="190500" h="38100"/>
            </a:sp3d>
          </c:spPr>
          <c:invertIfNegative val="0"/>
          <c:dLbls>
            <c:numFmt formatCode="0.0" sourceLinked="0"/>
            <c:spPr>
              <a:solidFill>
                <a:srgbClr val="DDEFE8"/>
              </a:solidFill>
              <a:ln>
                <a:noFill/>
              </a:ln>
              <a:effectLst/>
            </c:spPr>
            <c:txPr>
              <a:bodyPr/>
              <a:lstStyle/>
              <a:p>
                <a:pPr>
                  <a:defRPr sz="900" b="1" i="0" u="none" strike="noStrike">
                    <a:solidFill>
                      <a:schemeClr val="tx1"/>
                    </a:solidFill>
                    <a:latin typeface="Verdana" panose="020B0604030504040204" pitchFamily="34" charset="0"/>
                    <a:ea typeface="Verdana" panose="020B060403050404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Punjab</c:v>
                </c:pt>
                <c:pt idx="1">
                  <c:v>Kerala</c:v>
                </c:pt>
                <c:pt idx="2">
                  <c:v>Maharashtra</c:v>
                </c:pt>
                <c:pt idx="3">
                  <c:v>West Bengal</c:v>
                </c:pt>
                <c:pt idx="4">
                  <c:v>Andhra Pradesh</c:v>
                </c:pt>
                <c:pt idx="5">
                  <c:v>Haryana</c:v>
                </c:pt>
                <c:pt idx="6">
                  <c:v>Tamil Nadu</c:v>
                </c:pt>
                <c:pt idx="7">
                  <c:v>Rajasthan</c:v>
                </c:pt>
                <c:pt idx="8">
                  <c:v>Uttar Pradesh</c:v>
                </c:pt>
                <c:pt idx="9">
                  <c:v>Odisha</c:v>
                </c:pt>
              </c:strCache>
            </c:strRef>
          </c:cat>
          <c:val>
            <c:numRef>
              <c:f>Sheet1!$B$2:$B$11</c:f>
              <c:numCache>
                <c:formatCode>General</c:formatCode>
                <c:ptCount val="10"/>
                <c:pt idx="0">
                  <c:v>1.2</c:v>
                </c:pt>
                <c:pt idx="1">
                  <c:v>1.3</c:v>
                </c:pt>
                <c:pt idx="2">
                  <c:v>1.5</c:v>
                </c:pt>
                <c:pt idx="3">
                  <c:v>1.5</c:v>
                </c:pt>
                <c:pt idx="4">
                  <c:v>1.5</c:v>
                </c:pt>
                <c:pt idx="5">
                  <c:v>1.6</c:v>
                </c:pt>
                <c:pt idx="6">
                  <c:v>1.6</c:v>
                </c:pt>
                <c:pt idx="7">
                  <c:v>1.7</c:v>
                </c:pt>
                <c:pt idx="8">
                  <c:v>3.8</c:v>
                </c:pt>
                <c:pt idx="9">
                  <c:v>4.0999999999999996</c:v>
                </c:pt>
              </c:numCache>
            </c:numRef>
          </c:val>
          <c:extLst>
            <c:ext xmlns:c16="http://schemas.microsoft.com/office/drawing/2014/chart" uri="{C3380CC4-5D6E-409C-BE32-E72D297353CC}">
              <c16:uniqueId val="{00000000-68B8-4942-9334-D762821F1B1C}"/>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chemeClr val="tx1"/>
                </a:solidFill>
                <a:latin typeface="Verdana" panose="020B0604030504040204" pitchFamily="34" charset="0"/>
                <a:ea typeface="Verdana" panose="020B0604030504040204" pitchFamily="34" charset="0"/>
              </a:defRPr>
            </a:pPr>
            <a:endParaRPr lang="en-US"/>
          </a:p>
        </c:txPr>
        <c:crossAx val="2094734552"/>
        <c:crosses val="autoZero"/>
        <c:auto val="1"/>
        <c:lblAlgn val="ctr"/>
        <c:lblOffset val="100"/>
        <c:noMultiLvlLbl val="1"/>
      </c:catAx>
      <c:valAx>
        <c:axId val="2094734552"/>
        <c:scaling>
          <c:orientation val="minMax"/>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3666A"/>
                </a:solidFill>
                <a:latin typeface="Verdana" panose="020B0604030504040204" pitchFamily="34" charset="0"/>
                <a:ea typeface="Verdana" panose="020B0604030504040204" pitchFamily="34" charset="0"/>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userShapes r:id="rId2"/>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1000" b="0" i="0" u="none" strike="noStrike">
                <a:solidFill>
                  <a:schemeClr val="tx1"/>
                </a:solidFill>
                <a:latin typeface="Verdana" panose="020B0604030504040204" pitchFamily="34" charset="0"/>
                <a:ea typeface="Verdana" panose="020B0604030504040204" pitchFamily="34" charset="0"/>
              </a:defRPr>
            </a:pPr>
            <a:r>
              <a:rPr lang="en-US" sz="1000" b="0" i="0" u="none" strike="noStrike">
                <a:solidFill>
                  <a:schemeClr val="tx1"/>
                </a:solidFill>
                <a:latin typeface="Verdana" panose="020B0604030504040204" pitchFamily="34" charset="0"/>
                <a:ea typeface="Verdana" panose="020B0604030504040204" pitchFamily="34" charset="0"/>
              </a:rPr>
              <a:t>Subsidies &amp; transfers as % of revenue expenditure, 2023-24</a:t>
            </a:r>
          </a:p>
        </c:rich>
      </c:tx>
      <c:layout>
        <c:manualLayout>
          <c:xMode val="edge"/>
          <c:yMode val="edge"/>
          <c:x val="0.18827519379844962"/>
          <c:y val="1.3717421124828532E-2"/>
        </c:manualLayout>
      </c:layout>
      <c:overlay val="0"/>
      <c:spPr>
        <a:solidFill>
          <a:sysClr val="window" lastClr="FFFFFF"/>
        </a:solidFill>
      </c:spPr>
    </c:title>
    <c:autoTitleDeleted val="0"/>
    <c:plotArea>
      <c:layout/>
      <c:barChart>
        <c:barDir val="bar"/>
        <c:grouping val="clustered"/>
        <c:varyColors val="0"/>
        <c:ser>
          <c:idx val="0"/>
          <c:order val="0"/>
          <c:tx>
            <c:strRef>
              <c:f>Sheet1!$B$1</c:f>
              <c:strCache>
                <c:ptCount val="1"/>
                <c:pt idx="0">
                  <c:v>% of revenue expenditure</c:v>
                </c:pt>
              </c:strCache>
            </c:strRef>
          </c:tx>
          <c:spPr>
            <a:solidFill>
              <a:srgbClr val="00A3E0">
                <a:lumMod val="50000"/>
              </a:srgbClr>
            </a:solidFill>
            <a:effectLst/>
            <a:scene3d>
              <a:camera prst="orthographicFront"/>
              <a:lightRig rig="threePt" dir="t"/>
            </a:scene3d>
            <a:sp3d>
              <a:bevelT w="190500" h="38100"/>
            </a:sp3d>
          </c:spPr>
          <c:invertIfNegative val="0"/>
          <c:dLbls>
            <c:numFmt formatCode="0.0&quot;%&quot;" sourceLinked="0"/>
            <c:spPr>
              <a:solidFill>
                <a:srgbClr val="DDEFE8"/>
              </a:solidFill>
              <a:ln>
                <a:noFill/>
              </a:ln>
              <a:effectLst/>
            </c:spPr>
            <c:txPr>
              <a:bodyPr/>
              <a:lstStyle/>
              <a:p>
                <a:pPr>
                  <a:defRPr sz="850" b="1" i="0" u="none" strike="noStrike">
                    <a:solidFill>
                      <a:srgbClr val="333333"/>
                    </a:solidFill>
                    <a:latin typeface="Verdana" panose="020B0604030504040204" pitchFamily="34" charset="0"/>
                    <a:ea typeface="Verdana" panose="020B060403050404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Telangana</c:v>
                </c:pt>
                <c:pt idx="1">
                  <c:v>Chhattisgarh</c:v>
                </c:pt>
                <c:pt idx="2">
                  <c:v>Andhra Pradesh</c:v>
                </c:pt>
                <c:pt idx="3">
                  <c:v>Karnataka</c:v>
                </c:pt>
                <c:pt idx="4">
                  <c:v>Madhya Pradesh</c:v>
                </c:pt>
                <c:pt idx="5">
                  <c:v>Tamil Nadu</c:v>
                </c:pt>
                <c:pt idx="6">
                  <c:v>Punjab</c:v>
                </c:pt>
                <c:pt idx="7">
                  <c:v>West Bengal</c:v>
                </c:pt>
                <c:pt idx="8">
                  <c:v>Rajasthan</c:v>
                </c:pt>
              </c:strCache>
            </c:strRef>
          </c:cat>
          <c:val>
            <c:numRef>
              <c:f>Sheet1!$B$2:$B$10</c:f>
              <c:numCache>
                <c:formatCode>General</c:formatCode>
                <c:ptCount val="9"/>
                <c:pt idx="0">
                  <c:v>37.299999999999997</c:v>
                </c:pt>
                <c:pt idx="1">
                  <c:v>36.299999999999997</c:v>
                </c:pt>
                <c:pt idx="2">
                  <c:v>30.1</c:v>
                </c:pt>
                <c:pt idx="3">
                  <c:v>28.9</c:v>
                </c:pt>
                <c:pt idx="4">
                  <c:v>26.7</c:v>
                </c:pt>
                <c:pt idx="5">
                  <c:v>25.3</c:v>
                </c:pt>
                <c:pt idx="6">
                  <c:v>22.1</c:v>
                </c:pt>
                <c:pt idx="7">
                  <c:v>21.8</c:v>
                </c:pt>
                <c:pt idx="8">
                  <c:v>20.7</c:v>
                </c:pt>
              </c:numCache>
            </c:numRef>
          </c:val>
          <c:extLst>
            <c:ext xmlns:c16="http://schemas.microsoft.com/office/drawing/2014/chart" uri="{C3380CC4-5D6E-409C-BE32-E72D297353CC}">
              <c16:uniqueId val="{00000000-4DA6-43D6-9251-380FEC9234BD}"/>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50" b="0" i="0" u="none" strike="noStrike">
                <a:solidFill>
                  <a:schemeClr val="tx1"/>
                </a:solidFill>
                <a:latin typeface="Verdana" panose="020B0604030504040204" pitchFamily="34" charset="0"/>
                <a:ea typeface="Verdana" panose="020B0604030504040204" pitchFamily="34" charset="0"/>
              </a:defRPr>
            </a:pPr>
            <a:endParaRPr lang="en-US"/>
          </a:p>
        </c:txPr>
        <c:crossAx val="2094734552"/>
        <c:crosses val="autoZero"/>
        <c:auto val="1"/>
        <c:lblAlgn val="ctr"/>
        <c:lblOffset val="100"/>
        <c:noMultiLvlLbl val="1"/>
      </c:catAx>
      <c:valAx>
        <c:axId val="2094734552"/>
        <c:scaling>
          <c:orientation val="minMax"/>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850" b="0" i="0" u="none" strike="noStrike">
                <a:solidFill>
                  <a:schemeClr val="tx1"/>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2">
    <c:autoUpdate val="0"/>
  </c:externalData>
</c:chartSpace>
</file>

<file path=ppt/drawings/drawing1.xml><?xml version="1.0" encoding="utf-8"?>
<c:userShapes xmlns:c="http://schemas.openxmlformats.org/drawingml/2006/chart">
  <cdr:relSizeAnchor xmlns:cdr="http://schemas.openxmlformats.org/drawingml/2006/chartDrawing">
    <cdr:from>
      <cdr:x>0.12839</cdr:x>
      <cdr:y>0</cdr:y>
    </cdr:from>
    <cdr:to>
      <cdr:x>0.98937</cdr:x>
      <cdr:y>0.95549</cdr:y>
    </cdr:to>
    <cdr:sp macro="" textlink="">
      <cdr:nvSpPr>
        <cdr:cNvPr id="2" name="TextBox 1">
          <a:extLst xmlns:a="http://schemas.openxmlformats.org/drawingml/2006/main">
            <a:ext uri="{FF2B5EF4-FFF2-40B4-BE49-F238E27FC236}">
              <a16:creationId xmlns:a16="http://schemas.microsoft.com/office/drawing/2014/main" id="{8D5B4F90-8354-ACE6-DF86-EB9722980E24}"/>
            </a:ext>
          </a:extLst>
        </cdr:cNvPr>
        <cdr:cNvSpPr txBox="1"/>
      </cdr:nvSpPr>
      <cdr:spPr>
        <a:xfrm xmlns:a="http://schemas.openxmlformats.org/drawingml/2006/main">
          <a:off x="489816" y="0"/>
          <a:ext cx="3284600" cy="3237016"/>
        </a:xfrm>
        <a:prstGeom xmlns:a="http://schemas.openxmlformats.org/drawingml/2006/main" prst="rect">
          <a:avLst/>
        </a:prstGeom>
        <a:noFill xmlns:a="http://schemas.openxmlformats.org/drawingml/2006/main"/>
      </cdr:spPr>
      <cdr:txBody>
        <a:bodyPr xmlns:a="http://schemas.openxmlformats.org/drawingml/2006/main" vertOverflow="clip" wrap="square" lIns="0" tIns="0" rIns="0" bIns="0" rtlCol="0">
          <a:spAutoFit/>
        </a:bodyPr>
        <a:lstStyle xmlns:a="http://schemas.openxmlformats.org/drawingml/2006/main"/>
        <a:p xmlns:a="http://schemas.openxmlformats.org/drawingml/2006/main">
          <a:pPr marL="203200" indent="-203200">
            <a:spcBef>
              <a:spcPts val="600"/>
            </a:spcBef>
            <a:buSzPct val="100000"/>
            <a:buFont typeface="Arial"/>
            <a:buChar char="•"/>
          </a:pPr>
          <a:endParaRPr lang="en-IN" sz="1100" kern="1200" dirty="0">
            <a:solidFill>
              <a:srgbClr val="313131"/>
            </a:solidFill>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F58623-3120-4EF4-8F55-20DE71517773}" type="datetimeFigureOut">
              <a:rPr lang="en-US" smtClean="0"/>
              <a:t>9/8/2026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9609FF-C9FA-4F30-8355-B5FFEF2F1003}" type="slidenum">
              <a:rPr lang="en-US" smtClean="0"/>
              <a:t>‹#›</a:t>
            </a:fld>
            <a:endParaRPr lang="en-US"/>
          </a:p>
        </p:txBody>
      </p:sp>
    </p:spTree>
    <p:extLst>
      <p:ext uri="{BB962C8B-B14F-4D97-AF65-F5344CB8AC3E}">
        <p14:creationId xmlns:p14="http://schemas.microsoft.com/office/powerpoint/2010/main" val="2284081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A34052-12FB-4B01-8A2E-D87AD7371E95}"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526804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49609FF-C9FA-4F30-8355-B5FFEF2F1003}" type="slidenum">
              <a:rPr lang="en-US" smtClean="0"/>
              <a:t>8</a:t>
            </a:fld>
            <a:endParaRPr lang="en-US"/>
          </a:p>
        </p:txBody>
      </p:sp>
    </p:spTree>
    <p:extLst>
      <p:ext uri="{BB962C8B-B14F-4D97-AF65-F5344CB8AC3E}">
        <p14:creationId xmlns:p14="http://schemas.microsoft.com/office/powerpoint/2010/main" val="12102758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A34052-12FB-4B01-8A2E-D87AD7371E95}"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843625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3ED16-26FD-E94F-0DE1-43D89B6DE7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84D896-E07F-7F73-434C-0CE8D73A17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BE697E-EA29-DB3C-8118-11BBFD7E5E0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520BDD9-BF9B-D677-0D93-A52C82AE35AD}"/>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A34052-12FB-4B01-8A2E-D87AD7371E95}"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0924006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49609FF-C9FA-4F30-8355-B5FFEF2F1003}" type="slidenum">
              <a:rPr lang="en-US" smtClean="0"/>
              <a:t>22</a:t>
            </a:fld>
            <a:endParaRPr lang="en-US"/>
          </a:p>
        </p:txBody>
      </p:sp>
    </p:spTree>
    <p:extLst>
      <p:ext uri="{BB962C8B-B14F-4D97-AF65-F5344CB8AC3E}">
        <p14:creationId xmlns:p14="http://schemas.microsoft.com/office/powerpoint/2010/main" val="3641723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19AD5-F710-6147-04A1-B0662DDC31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8D6530-FE2F-82A9-6F29-7DF2490EE0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6E863F-DD4A-0DF1-00E4-B8FA818D0B1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8CB8BFE7-AEAE-6DCF-818B-F007300F3506}"/>
              </a:ext>
            </a:extLst>
          </p:cNvPr>
          <p:cNvSpPr>
            <a:spLocks noGrp="1"/>
          </p:cNvSpPr>
          <p:nvPr>
            <p:ph type="sldNum" sz="quarter" idx="5"/>
          </p:nvPr>
        </p:nvSpPr>
        <p:spPr/>
        <p:txBody>
          <a:bodyPr/>
          <a:lstStyle/>
          <a:p>
            <a:fld id="{249609FF-C9FA-4F30-8355-B5FFEF2F1003}" type="slidenum">
              <a:rPr lang="en-US" smtClean="0"/>
              <a:t>26</a:t>
            </a:fld>
            <a:endParaRPr lang="en-US"/>
          </a:p>
        </p:txBody>
      </p:sp>
    </p:spTree>
    <p:extLst>
      <p:ext uri="{BB962C8B-B14F-4D97-AF65-F5344CB8AC3E}">
        <p14:creationId xmlns:p14="http://schemas.microsoft.com/office/powerpoint/2010/main" val="13492503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2C7DE-5555-6C55-16DA-718CBDA887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B2A504-F89D-FEE4-59D9-2B1CDC7EC5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F34F17-EABA-2232-573A-E98C5B618BF8}"/>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F33D4F0-23C4-22FC-8463-ADB8870F4689}"/>
              </a:ext>
            </a:extLst>
          </p:cNvPr>
          <p:cNvSpPr>
            <a:spLocks noGrp="1"/>
          </p:cNvSpPr>
          <p:nvPr>
            <p:ph type="sldNum" sz="quarter" idx="5"/>
          </p:nvPr>
        </p:nvSpPr>
        <p:spPr/>
        <p:txBody>
          <a:bodyPr/>
          <a:lstStyle/>
          <a:p>
            <a:fld id="{249609FF-C9FA-4F30-8355-B5FFEF2F1003}" type="slidenum">
              <a:rPr lang="en-US" smtClean="0"/>
              <a:t>27</a:t>
            </a:fld>
            <a:endParaRPr lang="en-US"/>
          </a:p>
        </p:txBody>
      </p:sp>
    </p:spTree>
    <p:extLst>
      <p:ext uri="{BB962C8B-B14F-4D97-AF65-F5344CB8AC3E}">
        <p14:creationId xmlns:p14="http://schemas.microsoft.com/office/powerpoint/2010/main" val="17913345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A34052-12FB-4B01-8A2E-D87AD7371E95}"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7603032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49609FF-C9FA-4F30-8355-B5FFEF2F1003}" type="slidenum">
              <a:rPr lang="en-US" smtClean="0"/>
              <a:t>36</a:t>
            </a:fld>
            <a:endParaRPr lang="en-US"/>
          </a:p>
        </p:txBody>
      </p:sp>
    </p:spTree>
    <p:extLst>
      <p:ext uri="{BB962C8B-B14F-4D97-AF65-F5344CB8AC3E}">
        <p14:creationId xmlns:p14="http://schemas.microsoft.com/office/powerpoint/2010/main" val="29060085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A34052-12FB-4B01-8A2E-D87AD7371E95}"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655657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49609FF-C9FA-4F30-8355-B5FFEF2F1003}" type="slidenum">
              <a:rPr lang="en-US" smtClean="0"/>
              <a:t>38</a:t>
            </a:fld>
            <a:endParaRPr lang="en-US"/>
          </a:p>
        </p:txBody>
      </p:sp>
    </p:spTree>
    <p:extLst>
      <p:ext uri="{BB962C8B-B14F-4D97-AF65-F5344CB8AC3E}">
        <p14:creationId xmlns:p14="http://schemas.microsoft.com/office/powerpoint/2010/main" val="19833456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49609FF-C9FA-4F30-8355-B5FFEF2F1003}" type="slidenum">
              <a:rPr lang="en-US" smtClean="0"/>
              <a:t>43</a:t>
            </a:fld>
            <a:endParaRPr lang="en-US"/>
          </a:p>
        </p:txBody>
      </p:sp>
    </p:spTree>
    <p:extLst>
      <p:ext uri="{BB962C8B-B14F-4D97-AF65-F5344CB8AC3E}">
        <p14:creationId xmlns:p14="http://schemas.microsoft.com/office/powerpoint/2010/main" val="11325988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C3C45-4E91-4ED2-4F97-106C83ADBE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3B9EA6-61ED-8468-E01F-7FDCBDBE98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6BDB9C-B7F0-910B-4BD7-E055FD5AC8F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59FB27E-863E-8F75-2D4F-540AA4F28DCE}"/>
              </a:ext>
            </a:extLst>
          </p:cNvPr>
          <p:cNvSpPr>
            <a:spLocks noGrp="1"/>
          </p:cNvSpPr>
          <p:nvPr>
            <p:ph type="sldNum" sz="quarter" idx="5"/>
          </p:nvPr>
        </p:nvSpPr>
        <p:spPr/>
        <p:txBody>
          <a:bodyPr/>
          <a:lstStyle/>
          <a:p>
            <a:fld id="{249609FF-C9FA-4F30-8355-B5FFEF2F1003}" type="slidenum">
              <a:rPr lang="en-US" smtClean="0"/>
              <a:t>44</a:t>
            </a:fld>
            <a:endParaRPr lang="en-US"/>
          </a:p>
        </p:txBody>
      </p:sp>
    </p:spTree>
    <p:extLst>
      <p:ext uri="{BB962C8B-B14F-4D97-AF65-F5344CB8AC3E}">
        <p14:creationId xmlns:p14="http://schemas.microsoft.com/office/powerpoint/2010/main" val="25506520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6D8EA-8137-F84F-97D8-E6B142B203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7CF90E-FBA7-F1E2-3CE6-33761646E8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3DB4FE-3AC5-37BF-9964-634E55D656A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0A911A1-976D-D97F-B23B-363FBD61A243}"/>
              </a:ext>
            </a:extLst>
          </p:cNvPr>
          <p:cNvSpPr>
            <a:spLocks noGrp="1"/>
          </p:cNvSpPr>
          <p:nvPr>
            <p:ph type="sldNum" sz="quarter" idx="5"/>
          </p:nvPr>
        </p:nvSpPr>
        <p:spPr/>
        <p:txBody>
          <a:bodyPr/>
          <a:lstStyle/>
          <a:p>
            <a:fld id="{249609FF-C9FA-4F30-8355-B5FFEF2F1003}" type="slidenum">
              <a:rPr lang="en-US" smtClean="0"/>
              <a:t>45</a:t>
            </a:fld>
            <a:endParaRPr lang="en-US"/>
          </a:p>
        </p:txBody>
      </p:sp>
    </p:spTree>
    <p:extLst>
      <p:ext uri="{BB962C8B-B14F-4D97-AF65-F5344CB8AC3E}">
        <p14:creationId xmlns:p14="http://schemas.microsoft.com/office/powerpoint/2010/main" val="3841386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F7447-2E22-C9A2-9D18-356F4AA588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924F2F-1147-3402-A6E7-C3B4F22294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B6E103-33C3-34E0-CFBF-61DC72B70F9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2BF7FE9-6343-96E6-2CAE-963B9F6436D7}"/>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A34052-12FB-4B01-8A2E-D87AD7371E95}"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3742090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A34052-12FB-4B01-8A2E-D87AD7371E95}"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620987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49609FF-C9FA-4F30-8355-B5FFEF2F1003}" type="slidenum">
              <a:rPr lang="en-US" smtClean="0"/>
              <a:t>50</a:t>
            </a:fld>
            <a:endParaRPr lang="en-US"/>
          </a:p>
        </p:txBody>
      </p:sp>
    </p:spTree>
    <p:extLst>
      <p:ext uri="{BB962C8B-B14F-4D97-AF65-F5344CB8AC3E}">
        <p14:creationId xmlns:p14="http://schemas.microsoft.com/office/powerpoint/2010/main" val="24133012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B3A29-06E8-3861-1340-32FDBEAD8D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D5314F-9B49-BCEC-6290-5464A91FDB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42DA57-6B88-FBE9-40E1-62B397E17F1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633438C-5D48-2C7C-1D0D-FF0B30BC99EB}"/>
              </a:ext>
            </a:extLst>
          </p:cNvPr>
          <p:cNvSpPr>
            <a:spLocks noGrp="1"/>
          </p:cNvSpPr>
          <p:nvPr>
            <p:ph type="sldNum" sz="quarter" idx="5"/>
          </p:nvPr>
        </p:nvSpPr>
        <p:spPr/>
        <p:txBody>
          <a:bodyPr/>
          <a:lstStyle/>
          <a:p>
            <a:fld id="{249609FF-C9FA-4F30-8355-B5FFEF2F1003}" type="slidenum">
              <a:rPr lang="en-US" smtClean="0"/>
              <a:t>51</a:t>
            </a:fld>
            <a:endParaRPr lang="en-US"/>
          </a:p>
        </p:txBody>
      </p:sp>
    </p:spTree>
    <p:extLst>
      <p:ext uri="{BB962C8B-B14F-4D97-AF65-F5344CB8AC3E}">
        <p14:creationId xmlns:p14="http://schemas.microsoft.com/office/powerpoint/2010/main" val="6508302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2CC07-54BD-6DBB-033A-BF8D17AE9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693501-F0EA-CDA0-3444-07F2796C7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E65988-7B78-EC4E-7CDE-FC812247F05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6C32962-23DD-7752-7EFE-B54C690A25F1}"/>
              </a:ext>
            </a:extLst>
          </p:cNvPr>
          <p:cNvSpPr>
            <a:spLocks noGrp="1"/>
          </p:cNvSpPr>
          <p:nvPr>
            <p:ph type="sldNum" sz="quarter" idx="5"/>
          </p:nvPr>
        </p:nvSpPr>
        <p:spPr/>
        <p:txBody>
          <a:bodyPr/>
          <a:lstStyle/>
          <a:p>
            <a:fld id="{249609FF-C9FA-4F30-8355-B5FFEF2F1003}" type="slidenum">
              <a:rPr lang="en-US" smtClean="0"/>
              <a:t>52</a:t>
            </a:fld>
            <a:endParaRPr lang="en-US"/>
          </a:p>
        </p:txBody>
      </p:sp>
    </p:spTree>
    <p:extLst>
      <p:ext uri="{BB962C8B-B14F-4D97-AF65-F5344CB8AC3E}">
        <p14:creationId xmlns:p14="http://schemas.microsoft.com/office/powerpoint/2010/main" val="20319391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BFFBE-8086-3F61-C134-D03F725FB5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209FBD-43E4-AE21-AF06-68A355A511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260FF1-5514-A51A-54AB-AAA085C20B9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A3ED089-62CF-5780-A982-03C408A2E935}"/>
              </a:ext>
            </a:extLst>
          </p:cNvPr>
          <p:cNvSpPr>
            <a:spLocks noGrp="1"/>
          </p:cNvSpPr>
          <p:nvPr>
            <p:ph type="sldNum" sz="quarter" idx="5"/>
          </p:nvPr>
        </p:nvSpPr>
        <p:spPr/>
        <p:txBody>
          <a:bodyPr/>
          <a:lstStyle/>
          <a:p>
            <a:fld id="{249609FF-C9FA-4F30-8355-B5FFEF2F1003}" type="slidenum">
              <a:rPr lang="en-US" smtClean="0"/>
              <a:t>53</a:t>
            </a:fld>
            <a:endParaRPr lang="en-US"/>
          </a:p>
        </p:txBody>
      </p:sp>
    </p:spTree>
    <p:extLst>
      <p:ext uri="{BB962C8B-B14F-4D97-AF65-F5344CB8AC3E}">
        <p14:creationId xmlns:p14="http://schemas.microsoft.com/office/powerpoint/2010/main" val="9630750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AADAC-9C8B-4875-A7C6-ABAAADF1CF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437E9D-4B05-5AD5-F3CA-67769241ED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9B624A-B49D-D1E5-848E-1915F439588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D23B626-DC51-7D97-5739-D7BB538E70D8}"/>
              </a:ext>
            </a:extLst>
          </p:cNvPr>
          <p:cNvSpPr>
            <a:spLocks noGrp="1"/>
          </p:cNvSpPr>
          <p:nvPr>
            <p:ph type="sldNum" sz="quarter" idx="5"/>
          </p:nvPr>
        </p:nvSpPr>
        <p:spPr/>
        <p:txBody>
          <a:bodyPr/>
          <a:lstStyle/>
          <a:p>
            <a:fld id="{249609FF-C9FA-4F30-8355-B5FFEF2F1003}" type="slidenum">
              <a:rPr lang="en-US" smtClean="0"/>
              <a:t>54</a:t>
            </a:fld>
            <a:endParaRPr lang="en-US"/>
          </a:p>
        </p:txBody>
      </p:sp>
    </p:spTree>
    <p:extLst>
      <p:ext uri="{BB962C8B-B14F-4D97-AF65-F5344CB8AC3E}">
        <p14:creationId xmlns:p14="http://schemas.microsoft.com/office/powerpoint/2010/main" val="1511440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996FC-7A9B-4E16-2321-32EAB2CE30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C7D32C-A6F6-57DE-3BDB-904D82C703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4DA5EB-A1F6-FE87-8259-47E10A02020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6049545-04DB-96FD-9408-33FE7CB37134}"/>
              </a:ext>
            </a:extLst>
          </p:cNvPr>
          <p:cNvSpPr>
            <a:spLocks noGrp="1"/>
          </p:cNvSpPr>
          <p:nvPr>
            <p:ph type="sldNum" sz="quarter" idx="5"/>
          </p:nvPr>
        </p:nvSpPr>
        <p:spPr/>
        <p:txBody>
          <a:bodyPr/>
          <a:lstStyle/>
          <a:p>
            <a:fld id="{249609FF-C9FA-4F30-8355-B5FFEF2F1003}" type="slidenum">
              <a:rPr lang="en-US" smtClean="0"/>
              <a:t>55</a:t>
            </a:fld>
            <a:endParaRPr lang="en-US"/>
          </a:p>
        </p:txBody>
      </p:sp>
    </p:spTree>
    <p:extLst>
      <p:ext uri="{BB962C8B-B14F-4D97-AF65-F5344CB8AC3E}">
        <p14:creationId xmlns:p14="http://schemas.microsoft.com/office/powerpoint/2010/main" val="1027231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7AA2F-8E1F-C39D-47D8-F62AE44F6A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8F291D-CF4D-FE19-4E5A-E885E99264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CF2B0B-E4C3-D14F-CC29-992A57101EA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A6CEEF2-838F-4D6C-0804-5595433A9DDF}"/>
              </a:ext>
            </a:extLst>
          </p:cNvPr>
          <p:cNvSpPr>
            <a:spLocks noGrp="1"/>
          </p:cNvSpPr>
          <p:nvPr>
            <p:ph type="sldNum" sz="quarter" idx="5"/>
          </p:nvPr>
        </p:nvSpPr>
        <p:spPr/>
        <p:txBody>
          <a:bodyPr/>
          <a:lstStyle/>
          <a:p>
            <a:fld id="{249609FF-C9FA-4F30-8355-B5FFEF2F1003}" type="slidenum">
              <a:rPr lang="en-US" smtClean="0"/>
              <a:t>56</a:t>
            </a:fld>
            <a:endParaRPr lang="en-US"/>
          </a:p>
        </p:txBody>
      </p:sp>
    </p:spTree>
    <p:extLst>
      <p:ext uri="{BB962C8B-B14F-4D97-AF65-F5344CB8AC3E}">
        <p14:creationId xmlns:p14="http://schemas.microsoft.com/office/powerpoint/2010/main" val="39566293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49609FF-C9FA-4F30-8355-B5FFEF2F1003}" type="slidenum">
              <a:rPr lang="en-US" smtClean="0"/>
              <a:t>60</a:t>
            </a:fld>
            <a:endParaRPr lang="en-US"/>
          </a:p>
        </p:txBody>
      </p:sp>
    </p:spTree>
    <p:extLst>
      <p:ext uri="{BB962C8B-B14F-4D97-AF65-F5344CB8AC3E}">
        <p14:creationId xmlns:p14="http://schemas.microsoft.com/office/powerpoint/2010/main" val="5232975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A34052-12FB-4B01-8A2E-D87AD7371E95}"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122</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0899923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A34052-12FB-4B01-8A2E-D87AD7371E95}"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124</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9434954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A34052-12FB-4B01-8A2E-D87AD7371E95}"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127</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2761450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18909250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xml"/></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2.emf"/><Relationship Id="rId4" Type="http://schemas.openxmlformats.org/officeDocument/2006/relationships/oleObject" Target="../embeddings/oleObject3.bin"/></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7.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8.xml"/></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2.emf"/><Relationship Id="rId4" Type="http://schemas.openxmlformats.org/officeDocument/2006/relationships/oleObject" Target="../embeddings/oleObject3.bin"/></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1.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2.xml"/></Relationships>
</file>

<file path=ppt/slideLayouts/_rels/slideLayout2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image" Target="../media/image2.emf"/><Relationship Id="rId4" Type="http://schemas.openxmlformats.org/officeDocument/2006/relationships/oleObject" Target="../embeddings/oleObject3.bin"/></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4.xml"/><Relationship Id="rId1" Type="http://schemas.openxmlformats.org/officeDocument/2006/relationships/themeOverride" Target="../theme/themeOverride1.xml"/><Relationship Id="rId4" Type="http://schemas.openxmlformats.org/officeDocument/2006/relationships/image" Target="../media/image5.emf"/></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OQ - Title &amp; subtitle">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411118" y="468167"/>
            <a:ext cx="11188700" cy="243920"/>
          </a:xfrm>
          <a:prstGeom prst="rect">
            <a:avLst/>
          </a:prstGeom>
        </p:spPr>
        <p:txBody>
          <a:bodyPr lIns="0" tIns="0" rIns="0" bIns="0">
            <a:noAutofit/>
          </a:bodyPr>
          <a:lstStyle>
            <a:lvl1pPr marL="0" indent="0">
              <a:buNone/>
              <a:defRPr sz="1600" b="0">
                <a:solidFill>
                  <a:srgbClr val="575757"/>
                </a:solidFill>
                <a:latin typeface="Calibri" panose="020F0502020204030204" pitchFamily="34" charset="0"/>
                <a:cs typeface="Calibri" panose="020F0502020204030204" pitchFamily="34" charset="0"/>
              </a:defRPr>
            </a:lvl1pPr>
          </a:lstStyle>
          <a:p>
            <a:pPr lvl="0"/>
            <a:r>
              <a:rPr lang="en-US"/>
              <a:t>Click to add subtitle</a:t>
            </a:r>
          </a:p>
        </p:txBody>
      </p:sp>
      <p:sp>
        <p:nvSpPr>
          <p:cNvPr id="6" name="Title 1"/>
          <p:cNvSpPr>
            <a:spLocks noGrp="1"/>
          </p:cNvSpPr>
          <p:nvPr>
            <p:ph type="title"/>
          </p:nvPr>
        </p:nvSpPr>
        <p:spPr>
          <a:xfrm>
            <a:off x="411118" y="108609"/>
            <a:ext cx="11369764" cy="243926"/>
          </a:xfrm>
        </p:spPr>
        <p:txBody>
          <a:bodyPr/>
          <a:lstStyle>
            <a:lvl1pPr>
              <a:defRPr>
                <a:latin typeface="Calibri" panose="020F0502020204030204" pitchFamily="34" charset="0"/>
                <a:cs typeface="Calibri" panose="020F0502020204030204" pitchFamily="34" charset="0"/>
              </a:defRPr>
            </a:lvl1pPr>
          </a:lstStyle>
          <a:p>
            <a:r>
              <a:rPr lang="en-US"/>
              <a:t>Click to edit Master title style</a:t>
            </a:r>
            <a:endParaRPr lang="nl-NL"/>
          </a:p>
        </p:txBody>
      </p:sp>
    </p:spTree>
    <p:extLst>
      <p:ext uri="{BB962C8B-B14F-4D97-AF65-F5344CB8AC3E}">
        <p14:creationId xmlns:p14="http://schemas.microsoft.com/office/powerpoint/2010/main" val="41145284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Divider - Deloitte green">
    <p:bg bwMode="gray">
      <p:bgPr>
        <a:solidFill>
          <a:srgbClr val="0097A9"/>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12" name="TextBox 11"/>
          <p:cNvSpPr txBox="1"/>
          <p:nvPr userDrawn="1"/>
        </p:nvSpPr>
        <p:spPr>
          <a:xfrm>
            <a:off x="5825067" y="6477000"/>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4" name="text" descr="{&quot;templafy&quot;:{&quot;id&quot;:&quot;b79eb271-6ad6-479a-b0ed-c0f3f7df00c0&quot;}}" title="UserProfile.Language.Copyright">
            <a:extLst>
              <a:ext uri="{FF2B5EF4-FFF2-40B4-BE49-F238E27FC236}">
                <a16:creationId xmlns:a16="http://schemas.microsoft.com/office/drawing/2014/main" id="{173A6B51-18C1-6A1D-088F-FAB095E57BF9}"/>
              </a:ext>
            </a:extLst>
          </p:cNvPr>
          <p:cNvSpPr txBox="1"/>
          <p:nvPr userDrawn="1"/>
        </p:nvSpPr>
        <p:spPr>
          <a:xfrm>
            <a:off x="418289" y="6642738"/>
            <a:ext cx="3147359" cy="156991"/>
          </a:xfrm>
          <a:prstGeom prst="rect">
            <a:avLst/>
          </a:prstGeom>
          <a:noFill/>
        </p:spPr>
        <p:txBody>
          <a:bodyPr wrap="square" lIns="0" tIns="0" rIns="0" bIns="0" rtlCol="0">
            <a:noAutofit/>
          </a:bodyPr>
          <a:lstStyle/>
          <a:p>
            <a:pPr marL="0" indent="0">
              <a:spcBef>
                <a:spcPts val="800"/>
              </a:spcBef>
              <a:buSzPct val="100000"/>
              <a:buFont typeface="Arial"/>
              <a:buNone/>
            </a:pPr>
            <a:r>
              <a:rPr lang="fr-FR" sz="800">
                <a:solidFill>
                  <a:schemeClr val="tx1"/>
                </a:solidFill>
              </a:rPr>
              <a:t>© </a:t>
            </a:r>
            <a:r>
              <a:rPr lang="en-US" sz="800" noProof="0">
                <a:solidFill>
                  <a:schemeClr val="tx1"/>
                </a:solidFill>
                <a:latin typeface="Verdana" panose="020B0604030504040204" pitchFamily="34" charset="0"/>
                <a:ea typeface="Verdana" panose="020B0604030504040204" pitchFamily="34" charset="0"/>
              </a:rPr>
              <a:t>2023 Deloitte Touche </a:t>
            </a:r>
            <a:r>
              <a:rPr lang="en-US" sz="800" kern="1200" noProof="0">
                <a:solidFill>
                  <a:schemeClr val="tx1"/>
                </a:solidFill>
                <a:latin typeface="Verdana" panose="020B0604030504040204" pitchFamily="34" charset="0"/>
                <a:ea typeface="Verdana" panose="020B0604030504040204" pitchFamily="34" charset="0"/>
                <a:cs typeface="+mn-cs"/>
              </a:rPr>
              <a:t>Tohmatsu</a:t>
            </a:r>
            <a:r>
              <a:rPr lang="en-US" sz="800" noProof="0">
                <a:solidFill>
                  <a:schemeClr val="tx1"/>
                </a:solidFill>
                <a:latin typeface="Verdana" panose="020B0604030504040204" pitchFamily="34" charset="0"/>
                <a:ea typeface="Verdana" panose="020B0604030504040204" pitchFamily="34" charset="0"/>
              </a:rPr>
              <a:t> India LLP</a:t>
            </a:r>
          </a:p>
        </p:txBody>
      </p:sp>
      <p:sp>
        <p:nvSpPr>
          <p:cNvPr id="5" name="TextBox 4">
            <a:extLst>
              <a:ext uri="{FF2B5EF4-FFF2-40B4-BE49-F238E27FC236}">
                <a16:creationId xmlns:a16="http://schemas.microsoft.com/office/drawing/2014/main" id="{CF158A30-338F-AC4A-5289-CDFE75C69624}"/>
              </a:ext>
            </a:extLst>
          </p:cNvPr>
          <p:cNvSpPr txBox="1"/>
          <p:nvPr userDrawn="1"/>
        </p:nvSpPr>
        <p:spPr>
          <a:xfrm>
            <a:off x="11423904" y="6635389"/>
            <a:ext cx="360109"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57158769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475325" y="4102100"/>
            <a:ext cx="8555263" cy="2197101"/>
          </a:xfrm>
        </p:spPr>
        <p:txBody>
          <a:bodyPr anchor="b" anchorCtr="0">
            <a:noAutofit/>
          </a:bodyPr>
          <a:lstStyle>
            <a:lvl1pPr>
              <a:lnSpc>
                <a:spcPct val="100000"/>
              </a:lnSpc>
              <a:spcAft>
                <a:spcPts val="800"/>
              </a:spcAft>
              <a:defRPr sz="900"/>
            </a:lvl1pPr>
          </a:lstStyle>
          <a:p>
            <a:pPr lvl="0"/>
            <a:r>
              <a:rPr lang="en-US" noProof="0"/>
              <a:t>Click to edit Master text styles</a:t>
            </a:r>
          </a:p>
        </p:txBody>
      </p:sp>
      <p:sp>
        <p:nvSpPr>
          <p:cNvPr id="3" name="Picture Placeholder 2"/>
          <p:cNvSpPr>
            <a:spLocks noGrp="1"/>
          </p:cNvSpPr>
          <p:nvPr>
            <p:ph type="pic" sz="quarter" idx="14" hasCustomPrompt="1"/>
          </p:nvPr>
        </p:nvSpPr>
        <p:spPr>
          <a:xfrm>
            <a:off x="9402597" y="4102100"/>
            <a:ext cx="2319503" cy="1725448"/>
          </a:xfrm>
        </p:spPr>
        <p:txBody>
          <a:bodyPr anchor="ctr" anchorCtr="0"/>
          <a:lstStyle>
            <a:lvl1pPr algn="ctr">
              <a:defRPr sz="1200"/>
            </a:lvl1pPr>
          </a:lstStyle>
          <a:p>
            <a:r>
              <a:rPr lang="en-US" sz="1200" noProof="0"/>
              <a:t>Insert sponsorship mark here</a:t>
            </a:r>
            <a:endParaRPr lang="en-US" noProof="0"/>
          </a:p>
        </p:txBody>
      </p:sp>
      <p:sp>
        <p:nvSpPr>
          <p:cNvPr id="8" name="Text Placeholder 7"/>
          <p:cNvSpPr>
            <a:spLocks noGrp="1"/>
          </p:cNvSpPr>
          <p:nvPr>
            <p:ph type="body" sz="quarter" idx="15"/>
          </p:nvPr>
        </p:nvSpPr>
        <p:spPr>
          <a:xfrm>
            <a:off x="9402598" y="5935479"/>
            <a:ext cx="2319501" cy="363723"/>
          </a:xfrm>
        </p:spPr>
        <p:txBody>
          <a:bodyPr anchor="b" anchorCtr="0"/>
          <a:lstStyle>
            <a:lvl1pPr>
              <a:lnSpc>
                <a:spcPct val="100000"/>
              </a:lnSpc>
              <a:defRPr sz="1267"/>
            </a:lvl1pPr>
          </a:lstStyle>
          <a:p>
            <a:pPr lvl="0"/>
            <a:r>
              <a:rPr lang="en-US" noProof="0"/>
              <a:t>Click to edit Master text styles</a:t>
            </a:r>
          </a:p>
        </p:txBody>
      </p:sp>
      <p:sp>
        <p:nvSpPr>
          <p:cNvPr id="17" name="Oval 5"/>
          <p:cNvSpPr>
            <a:spLocks noChangeArrowheads="1"/>
          </p:cNvSpPr>
          <p:nvPr userDrawn="1"/>
        </p:nvSpPr>
        <p:spPr bwMode="auto">
          <a:xfrm>
            <a:off x="2416963" y="613472"/>
            <a:ext cx="107209" cy="10614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18" name="Freeform 6"/>
          <p:cNvSpPr>
            <a:spLocks noEditPoints="1"/>
          </p:cNvSpPr>
          <p:nvPr userDrawn="1"/>
        </p:nvSpPr>
        <p:spPr bwMode="auto">
          <a:xfrm>
            <a:off x="526172" y="347147"/>
            <a:ext cx="304086" cy="366679"/>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19" name="Rectangle 7"/>
          <p:cNvSpPr>
            <a:spLocks noChangeArrowheads="1"/>
          </p:cNvSpPr>
          <p:nvPr userDrawn="1"/>
        </p:nvSpPr>
        <p:spPr bwMode="auto">
          <a:xfrm>
            <a:off x="1149938" y="345217"/>
            <a:ext cx="91615" cy="368610"/>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1" name="Freeform 8"/>
          <p:cNvSpPr>
            <a:spLocks noEditPoints="1"/>
          </p:cNvSpPr>
          <p:nvPr userDrawn="1"/>
        </p:nvSpPr>
        <p:spPr bwMode="auto">
          <a:xfrm>
            <a:off x="1278590" y="435922"/>
            <a:ext cx="265101" cy="281764"/>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2" name="Rectangle 9"/>
          <p:cNvSpPr>
            <a:spLocks noChangeArrowheads="1"/>
          </p:cNvSpPr>
          <p:nvPr userDrawn="1"/>
        </p:nvSpPr>
        <p:spPr bwMode="auto">
          <a:xfrm>
            <a:off x="1580726" y="439782"/>
            <a:ext cx="91615" cy="274044"/>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3" name="Rectangle 10"/>
          <p:cNvSpPr>
            <a:spLocks noChangeArrowheads="1"/>
          </p:cNvSpPr>
          <p:nvPr userDrawn="1"/>
        </p:nvSpPr>
        <p:spPr bwMode="auto">
          <a:xfrm>
            <a:off x="1580726" y="345217"/>
            <a:ext cx="91615" cy="61757"/>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4" name="Freeform 11"/>
          <p:cNvSpPr>
            <a:spLocks/>
          </p:cNvSpPr>
          <p:nvPr userDrawn="1"/>
        </p:nvSpPr>
        <p:spPr bwMode="auto">
          <a:xfrm>
            <a:off x="1709378" y="352937"/>
            <a:ext cx="194927" cy="364750"/>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5" name="Freeform 12"/>
          <p:cNvSpPr>
            <a:spLocks/>
          </p:cNvSpPr>
          <p:nvPr userDrawn="1"/>
        </p:nvSpPr>
        <p:spPr bwMode="auto">
          <a:xfrm>
            <a:off x="1921849" y="352937"/>
            <a:ext cx="194927" cy="364750"/>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6" name="Freeform 13"/>
          <p:cNvSpPr>
            <a:spLocks noEditPoints="1"/>
          </p:cNvSpPr>
          <p:nvPr userDrawn="1"/>
        </p:nvSpPr>
        <p:spPr bwMode="auto">
          <a:xfrm>
            <a:off x="2136268" y="435922"/>
            <a:ext cx="259252" cy="281764"/>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7" name="Freeform 14"/>
          <p:cNvSpPr>
            <a:spLocks noEditPoints="1"/>
          </p:cNvSpPr>
          <p:nvPr userDrawn="1"/>
        </p:nvSpPr>
        <p:spPr bwMode="auto">
          <a:xfrm>
            <a:off x="857548" y="435922"/>
            <a:ext cx="257303" cy="281764"/>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 name="TextBox 1">
            <a:extLst>
              <a:ext uri="{FF2B5EF4-FFF2-40B4-BE49-F238E27FC236}">
                <a16:creationId xmlns:a16="http://schemas.microsoft.com/office/drawing/2014/main" id="{80E7887D-BADF-77A7-E485-62B3AAC0CB32}"/>
              </a:ext>
            </a:extLst>
          </p:cNvPr>
          <p:cNvSpPr txBox="1"/>
          <p:nvPr userDrawn="1"/>
        </p:nvSpPr>
        <p:spPr>
          <a:xfrm>
            <a:off x="11423904" y="6635389"/>
            <a:ext cx="360109"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a:solidFill>
                <a:schemeClr val="tx1"/>
              </a:solidFill>
            </a:endParaRPr>
          </a:p>
        </p:txBody>
      </p:sp>
    </p:spTree>
    <p:extLst>
      <p:ext uri="{BB962C8B-B14F-4D97-AF65-F5344CB8AC3E}">
        <p14:creationId xmlns:p14="http://schemas.microsoft.com/office/powerpoint/2010/main" val="3257397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2" name="TextBox 1">
            <a:extLst>
              <a:ext uri="{FF2B5EF4-FFF2-40B4-BE49-F238E27FC236}">
                <a16:creationId xmlns:a16="http://schemas.microsoft.com/office/drawing/2014/main" id="{0A559B59-A00D-E327-CBC8-805A1F65732E}"/>
              </a:ext>
            </a:extLst>
          </p:cNvPr>
          <p:cNvSpPr txBox="1"/>
          <p:nvPr userDrawn="1"/>
        </p:nvSpPr>
        <p:spPr>
          <a:xfrm>
            <a:off x="11423904" y="6635389"/>
            <a:ext cx="360109"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3458513038"/>
      </p:ext>
    </p:extLst>
  </p:cSld>
  <p:clrMapOvr>
    <a:masterClrMapping/>
  </p:clrMapOvr>
  <p:transition>
    <p:fade/>
  </p:transition>
  <p:hf hd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1_Title Slide - White">
    <p:bg bwMode="gray">
      <p:bgPr>
        <a:solidFill>
          <a:schemeClr val="tx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3" y="727200"/>
            <a:ext cx="7200000" cy="5400000"/>
          </a:xfrm>
          <a:prstGeom prst="rect">
            <a:avLst/>
          </a:prstGeom>
        </p:spPr>
        <p:txBody>
          <a:bodyPr/>
          <a:lstStyle>
            <a:lvl1pPr>
              <a:defRPr>
                <a:solidFill>
                  <a:schemeClr val="bg1"/>
                </a:solidFill>
              </a:defRPr>
            </a:lvl1pPr>
          </a:lstStyle>
          <a:p>
            <a:r>
              <a:rPr lang="en-US"/>
              <a:t>Click icon to add picture</a:t>
            </a:r>
            <a:endParaRPr lang="en-GB"/>
          </a:p>
        </p:txBody>
      </p:sp>
      <p:sp>
        <p:nvSpPr>
          <p:cNvPr id="2" name="Title 1"/>
          <p:cNvSpPr>
            <a:spLocks noGrp="1"/>
          </p:cNvSpPr>
          <p:nvPr>
            <p:ph type="ctrTitle"/>
          </p:nvPr>
        </p:nvSpPr>
        <p:spPr bwMode="gray">
          <a:xfrm>
            <a:off x="501652" y="5549440"/>
            <a:ext cx="5594349" cy="324000"/>
          </a:xfrm>
          <a:prstGeom prst="rect">
            <a:avLst/>
          </a:prstGeom>
        </p:spPr>
        <p:txBody>
          <a:bodyPr lIns="0" tIns="0" rIns="0" bIns="0" anchor="t" anchorCtr="0">
            <a:noAutofit/>
          </a:bodyPr>
          <a:lstStyle>
            <a:lvl1pPr algn="l">
              <a:lnSpc>
                <a:spcPct val="100000"/>
              </a:lnSpc>
              <a:defRPr sz="18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34"/>
            <a:ext cx="5594348" cy="505645"/>
          </a:xfrm>
          <a:prstGeom prst="rect">
            <a:avLst/>
          </a:prstGeom>
        </p:spPr>
        <p:txBody>
          <a:bodyPr lIns="0" tIns="0" rIns="0" bIns="0">
            <a:noAutofit/>
          </a:bodyPr>
          <a:lstStyle>
            <a:lvl1pPr marL="0" indent="0" algn="l">
              <a:lnSpc>
                <a:spcPct val="100000"/>
              </a:lnSpc>
              <a:spcAft>
                <a:spcPts val="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35" name="Group 34"/>
          <p:cNvGrpSpPr>
            <a:grpSpLocks/>
          </p:cNvGrpSpPr>
          <p:nvPr userDrawn="1"/>
        </p:nvGrpSpPr>
        <p:grpSpPr>
          <a:xfrm>
            <a:off x="503988" y="378000"/>
            <a:ext cx="1620000" cy="307976"/>
            <a:chOff x="398463" y="404813"/>
            <a:chExt cx="1627187" cy="307976"/>
          </a:xfrm>
          <a:solidFill>
            <a:schemeClr val="bg1"/>
          </a:solidFill>
        </p:grpSpPr>
        <p:sp>
          <p:nvSpPr>
            <p:cNvPr id="39"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1"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3"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4"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Tree>
    <p:extLst>
      <p:ext uri="{BB962C8B-B14F-4D97-AF65-F5344CB8AC3E}">
        <p14:creationId xmlns:p14="http://schemas.microsoft.com/office/powerpoint/2010/main" val="1545070976"/>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9"/>
            <a:ext cx="9277349" cy="4752975"/>
          </a:xfrm>
          <a:prstGeom prst="rect">
            <a:avLst/>
          </a:prstGeom>
        </p:spPr>
        <p:txBody>
          <a:bodyPr>
            <a:noAutofit/>
          </a:bodyPr>
          <a:lstStyle>
            <a:lvl1pPr>
              <a:spcBef>
                <a:spcPts val="3600"/>
              </a:spcBef>
              <a:defRPr sz="2800">
                <a:solidFill>
                  <a:schemeClr val="bg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26" name="TextBox 25"/>
          <p:cNvSpPr txBox="1"/>
          <p:nvPr userDrawn="1"/>
        </p:nvSpPr>
        <p:spPr>
          <a:xfrm>
            <a:off x="5942017" y="6477004"/>
            <a:ext cx="307975" cy="100027"/>
          </a:xfrm>
          <a:prstGeom prst="rect">
            <a:avLst/>
          </a:prstGeom>
          <a:noFill/>
        </p:spPr>
        <p:txBody>
          <a:bodyPr wrap="square" lIns="0" tIns="0" rIns="0" bIns="0" rtlCol="0">
            <a:noAutofit/>
          </a:bodyPr>
          <a:lstStyle/>
          <a:p>
            <a:pPr marL="0" indent="0" algn="ctr">
              <a:spcBef>
                <a:spcPts val="600"/>
              </a:spcBef>
              <a:buSzPct val="100000"/>
              <a:buFont typeface="Arial"/>
              <a:buNone/>
            </a:pPr>
            <a:fld id="{C58DF478-B544-4ED8-9ED4-6A2648E2D233}" type="slidenum">
              <a:rPr lang="en-US" sz="650" noProof="0" smtClean="0">
                <a:solidFill>
                  <a:schemeClr val="bg1"/>
                </a:solidFill>
              </a:rPr>
              <a:pPr marL="0" indent="0" algn="ctr">
                <a:spcBef>
                  <a:spcPts val="6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45196645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mp; 1 column text">
    <p:bg>
      <p:bgPr>
        <a:solidFill>
          <a:schemeClr val="tx1"/>
        </a:solidFill>
        <a:effectLst/>
      </p:bgPr>
    </p:bg>
    <p:spTree>
      <p:nvGrpSpPr>
        <p:cNvPr id="1" name=""/>
        <p:cNvGrpSpPr/>
        <p:nvPr/>
      </p:nvGrpSpPr>
      <p:grpSpPr>
        <a:xfrm>
          <a:off x="0" y="0"/>
          <a:ext cx="0" cy="0"/>
          <a:chOff x="0" y="0"/>
          <a:chExt cx="0" cy="0"/>
        </a:xfrm>
      </p:grpSpPr>
      <p:sp>
        <p:nvSpPr>
          <p:cNvPr id="4" name="Do not remove" hidden="1"/>
          <p:cNvSpPr/>
          <p:nvPr userDrawn="1">
            <p:custDataLst>
              <p:tags r:id="rId1"/>
            </p:custDataLst>
          </p:nvPr>
        </p:nvSpPr>
        <p:spPr bwMode="gray">
          <a:xfrm>
            <a:off x="0" y="0"/>
            <a:ext cx="12700" cy="12700"/>
          </a:xfrm>
          <a:prstGeom prst="octagon">
            <a:avLst/>
          </a:prstGeom>
          <a:noFill/>
          <a:ln w="19050" algn="ctr">
            <a:noFill/>
            <a:miter lim="800000"/>
            <a:headEnd/>
            <a:tailEnd/>
          </a:ln>
          <a:extLst>
            <a:ext uri="{909E8E84-426E-40DD-AFC4-6F175D3DCCD1}">
              <a14:hiddenFill xmlns:a14="http://schemas.microsoft.com/office/drawing/2010/main">
                <a:solidFill>
                  <a:schemeClr val="accent3"/>
                </a:solidFill>
              </a14:hiddenFill>
            </a:ext>
          </a:extLst>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4" name="Text Placeholder 18"/>
          <p:cNvSpPr>
            <a:spLocks noGrp="1"/>
          </p:cNvSpPr>
          <p:nvPr>
            <p:ph idx="1"/>
          </p:nvPr>
        </p:nvSpPr>
        <p:spPr>
          <a:xfrm>
            <a:off x="501651" y="1015205"/>
            <a:ext cx="11188700" cy="4716463"/>
          </a:xfrm>
          <a:prstGeom prst="rect">
            <a:avLst/>
          </a:prstGeom>
        </p:spPr>
        <p:txBody>
          <a:bodyPr vert="horz" lIns="0" tIns="0" rIns="0" bIns="0" rtlCol="0">
            <a:normAutofit/>
          </a:bodyPr>
          <a:lstStyle>
            <a:lvl1pPr algn="just">
              <a:spcAft>
                <a:spcPts val="300"/>
              </a:spcAft>
              <a:defRPr sz="1000">
                <a:solidFill>
                  <a:schemeClr val="bg1"/>
                </a:solidFill>
              </a:defRPr>
            </a:lvl1pPr>
            <a:lvl2pPr algn="just">
              <a:spcAft>
                <a:spcPts val="300"/>
              </a:spcAft>
              <a:defRPr sz="1000">
                <a:solidFill>
                  <a:schemeClr val="bg1"/>
                </a:solidFill>
              </a:defRPr>
            </a:lvl2pPr>
            <a:lvl3pPr algn="just">
              <a:spcAft>
                <a:spcPts val="300"/>
              </a:spcAft>
              <a:defRPr sz="1000">
                <a:solidFill>
                  <a:schemeClr val="bg1"/>
                </a:solidFill>
              </a:defRPr>
            </a:lvl3pPr>
            <a:lvl4pPr algn="just">
              <a:spcAft>
                <a:spcPts val="300"/>
              </a:spcAft>
              <a:defRPr sz="1000">
                <a:solidFill>
                  <a:schemeClr val="bg1"/>
                </a:solidFill>
              </a:defRPr>
            </a:lvl4pPr>
            <a:lvl5pPr algn="just">
              <a:spcAft>
                <a:spcPts val="300"/>
              </a:spcAft>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itle Placeholder 1"/>
          <p:cNvSpPr>
            <a:spLocks noGrp="1"/>
          </p:cNvSpPr>
          <p:nvPr>
            <p:ph type="title" hasCustomPrompt="1"/>
          </p:nvPr>
        </p:nvSpPr>
        <p:spPr>
          <a:xfrm>
            <a:off x="501652" y="324005"/>
            <a:ext cx="11180232" cy="615553"/>
          </a:xfrm>
          <a:prstGeom prst="rect">
            <a:avLst/>
          </a:prstGeom>
        </p:spPr>
        <p:txBody>
          <a:bodyPr vert="horz" lIns="0" tIns="0" rIns="0" bIns="0" rtlCol="0" anchor="t" anchorCtr="0">
            <a:spAutoFit/>
          </a:bodyPr>
          <a:lstStyle>
            <a:lvl1pPr>
              <a:defRPr baseline="0">
                <a:solidFill>
                  <a:schemeClr val="bg1"/>
                </a:solidFill>
              </a:defRPr>
            </a:lvl1pPr>
          </a:lstStyle>
          <a:p>
            <a:r>
              <a:rPr lang="en-US"/>
              <a:t>Click to add title</a:t>
            </a:r>
            <a:br>
              <a:rPr lang="en-US"/>
            </a:br>
            <a:r>
              <a:rPr lang="en-US">
                <a:solidFill>
                  <a:schemeClr val="accent1"/>
                </a:solidFill>
              </a:rPr>
              <a:t>Subtitle</a:t>
            </a:r>
            <a:endParaRPr lang="en-US"/>
          </a:p>
        </p:txBody>
      </p:sp>
    </p:spTree>
    <p:extLst>
      <p:ext uri="{BB962C8B-B14F-4D97-AF65-F5344CB8AC3E}">
        <p14:creationId xmlns:p14="http://schemas.microsoft.com/office/powerpoint/2010/main" val="3307428096"/>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End slide">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bwMode="gray">
          <a:xfrm>
            <a:off x="0" y="0"/>
            <a:ext cx="12700" cy="12700"/>
          </a:xfrm>
          <a:prstGeom prst="octagon">
            <a:avLst/>
          </a:prstGeom>
          <a:noFill/>
          <a:ln w="19050" algn="ctr">
            <a:noFill/>
            <a:miter lim="800000"/>
            <a:headEnd/>
            <a:tailEnd/>
          </a:ln>
          <a:extLst>
            <a:ext uri="{909E8E84-426E-40DD-AFC4-6F175D3DCCD1}">
              <a14:hiddenFill xmlns:a14="http://schemas.microsoft.com/office/drawing/2010/main">
                <a:solidFill>
                  <a:schemeClr val="accent3"/>
                </a:solidFill>
              </a14:hiddenFill>
            </a:ext>
          </a:extLst>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6" name="Text Placeholder 5"/>
          <p:cNvSpPr>
            <a:spLocks noGrp="1"/>
          </p:cNvSpPr>
          <p:nvPr>
            <p:ph type="body" sz="quarter" idx="13"/>
          </p:nvPr>
        </p:nvSpPr>
        <p:spPr>
          <a:xfrm>
            <a:off x="501652" y="4211955"/>
            <a:ext cx="8528936" cy="2169796"/>
          </a:xfrm>
        </p:spPr>
        <p:txBody>
          <a:bodyPr anchor="b" anchorCtr="0"/>
          <a:lstStyle>
            <a:lvl1pPr algn="just">
              <a:lnSpc>
                <a:spcPct val="100000"/>
              </a:lnSpc>
              <a:spcAft>
                <a:spcPts val="600"/>
              </a:spcAft>
              <a:defRPr sz="900"/>
            </a:lvl1pPr>
          </a:lstStyle>
          <a:p>
            <a:pPr lvl="0"/>
            <a:r>
              <a:rPr lang="en-US"/>
              <a:t>Click to edit Master text styles</a:t>
            </a:r>
          </a:p>
        </p:txBody>
      </p:sp>
      <p:sp>
        <p:nvSpPr>
          <p:cNvPr id="3" name="Picture Placeholder 2"/>
          <p:cNvSpPr>
            <a:spLocks noGrp="1"/>
          </p:cNvSpPr>
          <p:nvPr>
            <p:ph type="pic" sz="quarter" idx="14" hasCustomPrompt="1"/>
          </p:nvPr>
        </p:nvSpPr>
        <p:spPr>
          <a:xfrm>
            <a:off x="9370850" y="4211955"/>
            <a:ext cx="2319503" cy="1725448"/>
          </a:xfrm>
        </p:spPr>
        <p:txBody>
          <a:bodyPr anchor="ctr" anchorCtr="0"/>
          <a:lstStyle>
            <a:lvl1pPr algn="ctr">
              <a:defRPr sz="900"/>
            </a:lvl1pPr>
          </a:lstStyle>
          <a:p>
            <a:r>
              <a:rPr lang="en-GB" sz="900"/>
              <a:t>Insert sponsorship mark here</a:t>
            </a:r>
            <a:endParaRPr lang="en-GB"/>
          </a:p>
        </p:txBody>
      </p:sp>
      <p:sp>
        <p:nvSpPr>
          <p:cNvPr id="8" name="Text Placeholder 7"/>
          <p:cNvSpPr>
            <a:spLocks noGrp="1"/>
          </p:cNvSpPr>
          <p:nvPr>
            <p:ph type="body" sz="quarter" idx="15"/>
          </p:nvPr>
        </p:nvSpPr>
        <p:spPr>
          <a:xfrm>
            <a:off x="9370852" y="6018028"/>
            <a:ext cx="2319501" cy="363722"/>
          </a:xfrm>
        </p:spPr>
        <p:txBody>
          <a:bodyPr anchor="b" anchorCtr="0"/>
          <a:lstStyle>
            <a:lvl1pPr>
              <a:lnSpc>
                <a:spcPct val="100000"/>
              </a:lnSpc>
              <a:defRPr sz="950"/>
            </a:lvl1pPr>
          </a:lstStyle>
          <a:p>
            <a:pPr lvl="0"/>
            <a:r>
              <a:rPr lang="en-US"/>
              <a:t>Click to edit Master text styles</a:t>
            </a:r>
          </a:p>
        </p:txBody>
      </p:sp>
    </p:spTree>
    <p:extLst>
      <p:ext uri="{BB962C8B-B14F-4D97-AF65-F5344CB8AC3E}">
        <p14:creationId xmlns:p14="http://schemas.microsoft.com/office/powerpoint/2010/main" val="1358305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1"/>
            </p:custDataLst>
            <p:extLst>
              <p:ext uri="{D42A27DB-BD31-4B8C-83A1-F6EECF244321}">
                <p14:modId xmlns:p14="http://schemas.microsoft.com/office/powerpoint/2010/main" val="38494195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7" name="Object 6"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1" name="Do not remove" hidden="1"/>
          <p:cNvSpPr/>
          <p:nvPr userDrawn="1">
            <p:custDataLst>
              <p:tags r:id="rId2"/>
            </p:custDataLst>
          </p:nvPr>
        </p:nvSpPr>
        <p:spPr bwMode="gray">
          <a:xfrm>
            <a:off x="0" y="0"/>
            <a:ext cx="12700" cy="12700"/>
          </a:xfrm>
          <a:prstGeom prst="octagon">
            <a:avLst/>
          </a:prstGeom>
          <a:noFill/>
          <a:ln w="19050" algn="ctr">
            <a:noFill/>
            <a:miter lim="800000"/>
            <a:headEnd/>
            <a:tailEnd/>
          </a:ln>
          <a:extLst>
            <a:ext uri="{909E8E84-426E-40DD-AFC4-6F175D3DCCD1}">
              <a14:hiddenFill xmlns:a14="http://schemas.microsoft.com/office/drawing/2010/main">
                <a:solidFill>
                  <a:schemeClr val="accent3"/>
                </a:solidFill>
              </a14:hiddenFill>
            </a:ext>
          </a:extLst>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23976667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05866"/>
            <a:ext cx="11252200" cy="757255"/>
          </a:xfrm>
          <a:prstGeom prst="rect">
            <a:avLst/>
          </a:prstGeom>
        </p:spPr>
        <p:txBody>
          <a:bodyPr lIns="0" tIns="0" rIns="0" bIns="0">
            <a:noAutofit/>
          </a:bodyPr>
          <a:lstStyle>
            <a:lvl1pPr marL="0" indent="0">
              <a:buNone/>
              <a:defRPr sz="2300"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836349545"/>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2" name="TextBox 1">
            <a:extLst>
              <a:ext uri="{FF2B5EF4-FFF2-40B4-BE49-F238E27FC236}">
                <a16:creationId xmlns:a16="http://schemas.microsoft.com/office/drawing/2014/main" id="{AE85EE97-64BF-0732-FB8F-C2EC3AFAD6B2}"/>
              </a:ext>
            </a:extLst>
          </p:cNvPr>
          <p:cNvSpPr txBox="1"/>
          <p:nvPr userDrawn="1"/>
        </p:nvSpPr>
        <p:spPr>
          <a:xfrm>
            <a:off x="11423904" y="6635389"/>
            <a:ext cx="360109"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751609367"/>
      </p:ext>
    </p:extLst>
  </p:cSld>
  <p:clrMapOvr>
    <a:masterClrMapping/>
  </p:clrMapOvr>
  <p:transition>
    <p:fade/>
  </p:transition>
  <p:hf hd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OQ - Title &amp; subtitle">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411118" y="468167"/>
            <a:ext cx="11188700" cy="243920"/>
          </a:xfrm>
          <a:prstGeom prst="rect">
            <a:avLst/>
          </a:prstGeom>
        </p:spPr>
        <p:txBody>
          <a:bodyPr lIns="0" tIns="0" rIns="0" bIns="0">
            <a:noAutofit/>
          </a:bodyPr>
          <a:lstStyle>
            <a:lvl1pPr marL="0" indent="0">
              <a:buNone/>
              <a:defRPr sz="1600" b="0">
                <a:solidFill>
                  <a:srgbClr val="575757"/>
                </a:solidFill>
                <a:latin typeface="Calibri" panose="020F0502020204030204" pitchFamily="34" charset="0"/>
                <a:cs typeface="Calibri" panose="020F0502020204030204" pitchFamily="34" charset="0"/>
              </a:defRPr>
            </a:lvl1pPr>
          </a:lstStyle>
          <a:p>
            <a:pPr lvl="0"/>
            <a:r>
              <a:rPr lang="en-US"/>
              <a:t>Click to add subtitle</a:t>
            </a:r>
          </a:p>
        </p:txBody>
      </p:sp>
      <p:sp>
        <p:nvSpPr>
          <p:cNvPr id="6" name="Title 1"/>
          <p:cNvSpPr>
            <a:spLocks noGrp="1"/>
          </p:cNvSpPr>
          <p:nvPr>
            <p:ph type="title"/>
          </p:nvPr>
        </p:nvSpPr>
        <p:spPr>
          <a:xfrm>
            <a:off x="411118" y="108609"/>
            <a:ext cx="11369764" cy="243926"/>
          </a:xfrm>
        </p:spPr>
        <p:txBody>
          <a:bodyPr/>
          <a:lstStyle>
            <a:lvl1pPr>
              <a:defRPr>
                <a:latin typeface="Calibri" panose="020F0502020204030204" pitchFamily="34" charset="0"/>
                <a:cs typeface="Calibri" panose="020F0502020204030204" pitchFamily="34" charset="0"/>
              </a:defRPr>
            </a:lvl1pPr>
          </a:lstStyle>
          <a:p>
            <a:r>
              <a:rPr lang="en-US"/>
              <a:t>Click to edit Master title style</a:t>
            </a:r>
            <a:endParaRPr lang="nl-NL"/>
          </a:p>
        </p:txBody>
      </p:sp>
    </p:spTree>
    <p:extLst>
      <p:ext uri="{BB962C8B-B14F-4D97-AF65-F5344CB8AC3E}">
        <p14:creationId xmlns:p14="http://schemas.microsoft.com/office/powerpoint/2010/main" val="41738432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95761382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78E4B-E7C6-136A-E524-1D31FF12A3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3B6C4C5-53EC-7BE0-9497-156FBE166D2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262244-41CD-C07E-1BF9-3E205E623662}"/>
              </a:ext>
            </a:extLst>
          </p:cNvPr>
          <p:cNvSpPr>
            <a:spLocks noGrp="1"/>
          </p:cNvSpPr>
          <p:nvPr>
            <p:ph type="dt" sz="half" idx="10"/>
          </p:nvPr>
        </p:nvSpPr>
        <p:spPr/>
        <p:txBody>
          <a:bodyPr/>
          <a:lstStyle/>
          <a:p>
            <a:fld id="{DB78B23F-21D1-4490-8608-0223C35B71E7}" type="datetimeFigureOut">
              <a:rPr lang="en-US" smtClean="0"/>
              <a:t>9/8/2026</a:t>
            </a:fld>
            <a:endParaRPr lang="en-US"/>
          </a:p>
        </p:txBody>
      </p:sp>
      <p:sp>
        <p:nvSpPr>
          <p:cNvPr id="5" name="Footer Placeholder 4">
            <a:extLst>
              <a:ext uri="{FF2B5EF4-FFF2-40B4-BE49-F238E27FC236}">
                <a16:creationId xmlns:a16="http://schemas.microsoft.com/office/drawing/2014/main" id="{B03E38E1-3CA1-F113-6ED6-513E590A1B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0EA5B9-3E1F-0C59-4EDE-8229E6E3EF33}"/>
              </a:ext>
            </a:extLst>
          </p:cNvPr>
          <p:cNvSpPr>
            <a:spLocks noGrp="1"/>
          </p:cNvSpPr>
          <p:nvPr>
            <p:ph type="sldNum" sz="quarter" idx="12"/>
          </p:nvPr>
        </p:nvSpPr>
        <p:spPr/>
        <p:txBody>
          <a:bodyPr/>
          <a:lstStyle/>
          <a:p>
            <a:fld id="{F1F572CA-5DBE-41EE-858F-C3A13591FDC1}" type="slidenum">
              <a:rPr lang="en-US" smtClean="0"/>
              <a:t>‹#›</a:t>
            </a:fld>
            <a:endParaRPr lang="en-US"/>
          </a:p>
        </p:txBody>
      </p:sp>
    </p:spTree>
    <p:extLst>
      <p:ext uri="{BB962C8B-B14F-4D97-AF65-F5344CB8AC3E}">
        <p14:creationId xmlns:p14="http://schemas.microsoft.com/office/powerpoint/2010/main" val="42587733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2_Title Slide - White">
    <p:bg bwMode="gray">
      <p:bgPr>
        <a:solidFill>
          <a:schemeClr val="tx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3" y="727200"/>
            <a:ext cx="7200000" cy="5400000"/>
          </a:xfrm>
          <a:prstGeom prst="rect">
            <a:avLst/>
          </a:prstGeom>
        </p:spPr>
        <p:txBody>
          <a:bodyPr/>
          <a:lstStyle>
            <a:lvl1pPr>
              <a:defRPr>
                <a:solidFill>
                  <a:schemeClr val="bg1"/>
                </a:solidFill>
              </a:defRPr>
            </a:lvl1pPr>
          </a:lstStyle>
          <a:p>
            <a:r>
              <a:rPr lang="en-US"/>
              <a:t>Click icon to add picture</a:t>
            </a:r>
            <a:endParaRPr lang="en-GB"/>
          </a:p>
        </p:txBody>
      </p:sp>
      <p:sp>
        <p:nvSpPr>
          <p:cNvPr id="2" name="Title 1"/>
          <p:cNvSpPr>
            <a:spLocks noGrp="1"/>
          </p:cNvSpPr>
          <p:nvPr>
            <p:ph type="ctrTitle"/>
          </p:nvPr>
        </p:nvSpPr>
        <p:spPr bwMode="gray">
          <a:xfrm>
            <a:off x="501652" y="5549440"/>
            <a:ext cx="5594349" cy="324000"/>
          </a:xfrm>
          <a:prstGeom prst="rect">
            <a:avLst/>
          </a:prstGeom>
        </p:spPr>
        <p:txBody>
          <a:bodyPr lIns="0" tIns="0" rIns="0" bIns="0" anchor="t" anchorCtr="0">
            <a:noAutofit/>
          </a:bodyPr>
          <a:lstStyle>
            <a:lvl1pPr algn="l">
              <a:lnSpc>
                <a:spcPct val="100000"/>
              </a:lnSpc>
              <a:defRPr sz="18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34"/>
            <a:ext cx="5594348" cy="505645"/>
          </a:xfrm>
          <a:prstGeom prst="rect">
            <a:avLst/>
          </a:prstGeom>
        </p:spPr>
        <p:txBody>
          <a:bodyPr lIns="0" tIns="0" rIns="0" bIns="0">
            <a:noAutofit/>
          </a:bodyPr>
          <a:lstStyle>
            <a:lvl1pPr marL="0" indent="0" algn="l">
              <a:lnSpc>
                <a:spcPct val="100000"/>
              </a:lnSpc>
              <a:spcAft>
                <a:spcPts val="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35" name="Group 34"/>
          <p:cNvGrpSpPr>
            <a:grpSpLocks/>
          </p:cNvGrpSpPr>
          <p:nvPr userDrawn="1"/>
        </p:nvGrpSpPr>
        <p:grpSpPr>
          <a:xfrm>
            <a:off x="503988" y="378000"/>
            <a:ext cx="1620000" cy="307976"/>
            <a:chOff x="398463" y="404813"/>
            <a:chExt cx="1627187" cy="307976"/>
          </a:xfrm>
          <a:solidFill>
            <a:schemeClr val="bg1"/>
          </a:solidFill>
        </p:grpSpPr>
        <p:sp>
          <p:nvSpPr>
            <p:cNvPr id="39"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1"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3"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4"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Tree>
    <p:extLst>
      <p:ext uri="{BB962C8B-B14F-4D97-AF65-F5344CB8AC3E}">
        <p14:creationId xmlns:p14="http://schemas.microsoft.com/office/powerpoint/2010/main" val="3621765212"/>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9"/>
            <a:ext cx="9277349" cy="4752975"/>
          </a:xfrm>
          <a:prstGeom prst="rect">
            <a:avLst/>
          </a:prstGeom>
        </p:spPr>
        <p:txBody>
          <a:bodyPr>
            <a:noAutofit/>
          </a:bodyPr>
          <a:lstStyle>
            <a:lvl1pPr>
              <a:spcBef>
                <a:spcPts val="3600"/>
              </a:spcBef>
              <a:defRPr sz="2800">
                <a:solidFill>
                  <a:schemeClr val="bg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26" name="TextBox 25"/>
          <p:cNvSpPr txBox="1"/>
          <p:nvPr userDrawn="1"/>
        </p:nvSpPr>
        <p:spPr>
          <a:xfrm>
            <a:off x="5942017" y="6477004"/>
            <a:ext cx="307975" cy="100027"/>
          </a:xfrm>
          <a:prstGeom prst="rect">
            <a:avLst/>
          </a:prstGeom>
          <a:noFill/>
        </p:spPr>
        <p:txBody>
          <a:bodyPr wrap="square" lIns="0" tIns="0" rIns="0" bIns="0" rtlCol="0">
            <a:noAutofit/>
          </a:bodyPr>
          <a:lstStyle/>
          <a:p>
            <a:pPr marL="0" indent="0" algn="ctr">
              <a:spcBef>
                <a:spcPts val="600"/>
              </a:spcBef>
              <a:buSzPct val="100000"/>
              <a:buFont typeface="Arial"/>
              <a:buNone/>
            </a:pPr>
            <a:fld id="{C58DF478-B544-4ED8-9ED4-6A2648E2D233}" type="slidenum">
              <a:rPr lang="en-US" sz="650" noProof="0" smtClean="0">
                <a:solidFill>
                  <a:schemeClr val="bg1"/>
                </a:solidFill>
              </a:rPr>
              <a:pPr marL="0" indent="0" algn="ctr">
                <a:spcBef>
                  <a:spcPts val="6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404009350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Title &amp; 1 column text">
    <p:bg>
      <p:bgPr>
        <a:solidFill>
          <a:schemeClr val="tx1"/>
        </a:solidFill>
        <a:effectLst/>
      </p:bgPr>
    </p:bg>
    <p:spTree>
      <p:nvGrpSpPr>
        <p:cNvPr id="1" name=""/>
        <p:cNvGrpSpPr/>
        <p:nvPr/>
      </p:nvGrpSpPr>
      <p:grpSpPr>
        <a:xfrm>
          <a:off x="0" y="0"/>
          <a:ext cx="0" cy="0"/>
          <a:chOff x="0" y="0"/>
          <a:chExt cx="0" cy="0"/>
        </a:xfrm>
      </p:grpSpPr>
      <p:sp>
        <p:nvSpPr>
          <p:cNvPr id="4" name="Do not remove" hidden="1"/>
          <p:cNvSpPr/>
          <p:nvPr userDrawn="1">
            <p:custDataLst>
              <p:tags r:id="rId1"/>
            </p:custDataLst>
          </p:nvPr>
        </p:nvSpPr>
        <p:spPr bwMode="gray">
          <a:xfrm>
            <a:off x="0" y="0"/>
            <a:ext cx="12700" cy="12700"/>
          </a:xfrm>
          <a:prstGeom prst="octagon">
            <a:avLst/>
          </a:prstGeom>
          <a:noFill/>
          <a:ln w="19050" algn="ctr">
            <a:noFill/>
            <a:miter lim="800000"/>
            <a:headEnd/>
            <a:tailEnd/>
          </a:ln>
          <a:extLst>
            <a:ext uri="{909E8E84-426E-40DD-AFC4-6F175D3DCCD1}">
              <a14:hiddenFill xmlns:a14="http://schemas.microsoft.com/office/drawing/2010/main">
                <a:solidFill>
                  <a:schemeClr val="accent3"/>
                </a:solidFill>
              </a14:hiddenFill>
            </a:ext>
          </a:extLst>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4" name="Text Placeholder 18"/>
          <p:cNvSpPr>
            <a:spLocks noGrp="1"/>
          </p:cNvSpPr>
          <p:nvPr>
            <p:ph idx="1"/>
          </p:nvPr>
        </p:nvSpPr>
        <p:spPr>
          <a:xfrm>
            <a:off x="501651" y="1015205"/>
            <a:ext cx="11188700" cy="4716463"/>
          </a:xfrm>
          <a:prstGeom prst="rect">
            <a:avLst/>
          </a:prstGeom>
        </p:spPr>
        <p:txBody>
          <a:bodyPr vert="horz" lIns="0" tIns="0" rIns="0" bIns="0" rtlCol="0">
            <a:normAutofit/>
          </a:bodyPr>
          <a:lstStyle>
            <a:lvl1pPr algn="just">
              <a:spcAft>
                <a:spcPts val="300"/>
              </a:spcAft>
              <a:defRPr sz="1000">
                <a:solidFill>
                  <a:schemeClr val="bg1"/>
                </a:solidFill>
              </a:defRPr>
            </a:lvl1pPr>
            <a:lvl2pPr algn="just">
              <a:spcAft>
                <a:spcPts val="300"/>
              </a:spcAft>
              <a:defRPr sz="1000">
                <a:solidFill>
                  <a:schemeClr val="bg1"/>
                </a:solidFill>
              </a:defRPr>
            </a:lvl2pPr>
            <a:lvl3pPr algn="just">
              <a:spcAft>
                <a:spcPts val="300"/>
              </a:spcAft>
              <a:defRPr sz="1000">
                <a:solidFill>
                  <a:schemeClr val="bg1"/>
                </a:solidFill>
              </a:defRPr>
            </a:lvl3pPr>
            <a:lvl4pPr algn="just">
              <a:spcAft>
                <a:spcPts val="300"/>
              </a:spcAft>
              <a:defRPr sz="1000">
                <a:solidFill>
                  <a:schemeClr val="bg1"/>
                </a:solidFill>
              </a:defRPr>
            </a:lvl4pPr>
            <a:lvl5pPr algn="just">
              <a:spcAft>
                <a:spcPts val="300"/>
              </a:spcAft>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itle Placeholder 1"/>
          <p:cNvSpPr>
            <a:spLocks noGrp="1"/>
          </p:cNvSpPr>
          <p:nvPr>
            <p:ph type="title" hasCustomPrompt="1"/>
          </p:nvPr>
        </p:nvSpPr>
        <p:spPr>
          <a:xfrm>
            <a:off x="501652" y="324005"/>
            <a:ext cx="11180232" cy="615553"/>
          </a:xfrm>
          <a:prstGeom prst="rect">
            <a:avLst/>
          </a:prstGeom>
        </p:spPr>
        <p:txBody>
          <a:bodyPr vert="horz" lIns="0" tIns="0" rIns="0" bIns="0" rtlCol="0" anchor="t" anchorCtr="0">
            <a:spAutoFit/>
          </a:bodyPr>
          <a:lstStyle>
            <a:lvl1pPr>
              <a:defRPr baseline="0">
                <a:solidFill>
                  <a:schemeClr val="bg1"/>
                </a:solidFill>
              </a:defRPr>
            </a:lvl1pPr>
          </a:lstStyle>
          <a:p>
            <a:r>
              <a:rPr lang="en-US"/>
              <a:t>Click to add title</a:t>
            </a:r>
            <a:br>
              <a:rPr lang="en-US"/>
            </a:br>
            <a:r>
              <a:rPr lang="en-US">
                <a:solidFill>
                  <a:schemeClr val="accent1"/>
                </a:solidFill>
              </a:rPr>
              <a:t>Subtitle</a:t>
            </a:r>
            <a:endParaRPr lang="en-US"/>
          </a:p>
        </p:txBody>
      </p:sp>
    </p:spTree>
    <p:extLst>
      <p:ext uri="{BB962C8B-B14F-4D97-AF65-F5344CB8AC3E}">
        <p14:creationId xmlns:p14="http://schemas.microsoft.com/office/powerpoint/2010/main" val="803272191"/>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1_End slide">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bwMode="gray">
          <a:xfrm>
            <a:off x="0" y="0"/>
            <a:ext cx="12700" cy="12700"/>
          </a:xfrm>
          <a:prstGeom prst="octagon">
            <a:avLst/>
          </a:prstGeom>
          <a:noFill/>
          <a:ln w="19050" algn="ctr">
            <a:noFill/>
            <a:miter lim="800000"/>
            <a:headEnd/>
            <a:tailEnd/>
          </a:ln>
          <a:extLst>
            <a:ext uri="{909E8E84-426E-40DD-AFC4-6F175D3DCCD1}">
              <a14:hiddenFill xmlns:a14="http://schemas.microsoft.com/office/drawing/2010/main">
                <a:solidFill>
                  <a:schemeClr val="accent3"/>
                </a:solidFill>
              </a14:hiddenFill>
            </a:ext>
          </a:extLst>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6" name="Text Placeholder 5"/>
          <p:cNvSpPr>
            <a:spLocks noGrp="1"/>
          </p:cNvSpPr>
          <p:nvPr>
            <p:ph type="body" sz="quarter" idx="13"/>
          </p:nvPr>
        </p:nvSpPr>
        <p:spPr>
          <a:xfrm>
            <a:off x="501652" y="4211955"/>
            <a:ext cx="8528936" cy="2169796"/>
          </a:xfrm>
        </p:spPr>
        <p:txBody>
          <a:bodyPr anchor="b" anchorCtr="0"/>
          <a:lstStyle>
            <a:lvl1pPr algn="just">
              <a:lnSpc>
                <a:spcPct val="100000"/>
              </a:lnSpc>
              <a:spcAft>
                <a:spcPts val="600"/>
              </a:spcAft>
              <a:defRPr sz="900"/>
            </a:lvl1pPr>
          </a:lstStyle>
          <a:p>
            <a:pPr lvl="0"/>
            <a:r>
              <a:rPr lang="en-US"/>
              <a:t>Click to edit Master text styles</a:t>
            </a:r>
          </a:p>
        </p:txBody>
      </p:sp>
      <p:sp>
        <p:nvSpPr>
          <p:cNvPr id="3" name="Picture Placeholder 2"/>
          <p:cNvSpPr>
            <a:spLocks noGrp="1"/>
          </p:cNvSpPr>
          <p:nvPr>
            <p:ph type="pic" sz="quarter" idx="14" hasCustomPrompt="1"/>
          </p:nvPr>
        </p:nvSpPr>
        <p:spPr>
          <a:xfrm>
            <a:off x="9370850" y="4211955"/>
            <a:ext cx="2319503" cy="1725448"/>
          </a:xfrm>
        </p:spPr>
        <p:txBody>
          <a:bodyPr anchor="ctr" anchorCtr="0"/>
          <a:lstStyle>
            <a:lvl1pPr algn="ctr">
              <a:defRPr sz="900"/>
            </a:lvl1pPr>
          </a:lstStyle>
          <a:p>
            <a:r>
              <a:rPr lang="en-GB" sz="900"/>
              <a:t>Insert sponsorship mark here</a:t>
            </a:r>
            <a:endParaRPr lang="en-GB"/>
          </a:p>
        </p:txBody>
      </p:sp>
      <p:sp>
        <p:nvSpPr>
          <p:cNvPr id="8" name="Text Placeholder 7"/>
          <p:cNvSpPr>
            <a:spLocks noGrp="1"/>
          </p:cNvSpPr>
          <p:nvPr>
            <p:ph type="body" sz="quarter" idx="15"/>
          </p:nvPr>
        </p:nvSpPr>
        <p:spPr>
          <a:xfrm>
            <a:off x="9370852" y="6018028"/>
            <a:ext cx="2319501" cy="363722"/>
          </a:xfrm>
        </p:spPr>
        <p:txBody>
          <a:bodyPr anchor="b" anchorCtr="0"/>
          <a:lstStyle>
            <a:lvl1pPr>
              <a:lnSpc>
                <a:spcPct val="100000"/>
              </a:lnSpc>
              <a:defRPr sz="950"/>
            </a:lvl1pPr>
          </a:lstStyle>
          <a:p>
            <a:pPr lvl="0"/>
            <a:r>
              <a:rPr lang="en-US"/>
              <a:t>Click to edit Master text styles</a:t>
            </a:r>
          </a:p>
        </p:txBody>
      </p:sp>
    </p:spTree>
    <p:extLst>
      <p:ext uri="{BB962C8B-B14F-4D97-AF65-F5344CB8AC3E}">
        <p14:creationId xmlns:p14="http://schemas.microsoft.com/office/powerpoint/2010/main" val="10809412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1"/>
            </p:custDataLst>
            <p:extLst>
              <p:ext uri="{D42A27DB-BD31-4B8C-83A1-F6EECF244321}">
                <p14:modId xmlns:p14="http://schemas.microsoft.com/office/powerpoint/2010/main" val="28824708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7" name="Object 6"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1" name="Do not remove" hidden="1"/>
          <p:cNvSpPr/>
          <p:nvPr userDrawn="1">
            <p:custDataLst>
              <p:tags r:id="rId2"/>
            </p:custDataLst>
          </p:nvPr>
        </p:nvSpPr>
        <p:spPr bwMode="gray">
          <a:xfrm>
            <a:off x="0" y="0"/>
            <a:ext cx="12700" cy="12700"/>
          </a:xfrm>
          <a:prstGeom prst="octagon">
            <a:avLst/>
          </a:prstGeom>
          <a:noFill/>
          <a:ln w="19050" algn="ctr">
            <a:noFill/>
            <a:miter lim="800000"/>
            <a:headEnd/>
            <a:tailEnd/>
          </a:ln>
          <a:extLst>
            <a:ext uri="{909E8E84-426E-40DD-AFC4-6F175D3DCCD1}">
              <a14:hiddenFill xmlns:a14="http://schemas.microsoft.com/office/drawing/2010/main">
                <a:solidFill>
                  <a:schemeClr val="accent3"/>
                </a:solidFill>
              </a14:hiddenFill>
            </a:ext>
          </a:extLst>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2321955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2_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05866"/>
            <a:ext cx="11252200" cy="757255"/>
          </a:xfrm>
          <a:prstGeom prst="rect">
            <a:avLst/>
          </a:prstGeom>
        </p:spPr>
        <p:txBody>
          <a:bodyPr lIns="0" tIns="0" rIns="0" bIns="0">
            <a:noAutofit/>
          </a:bodyPr>
          <a:lstStyle>
            <a:lvl1pPr marL="0" indent="0">
              <a:buNone/>
              <a:defRPr sz="23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0" y="382039"/>
            <a:ext cx="11252200" cy="334102"/>
          </a:xfrm>
          <a:prstGeom prst="rect">
            <a:avLst/>
          </a:prstGeom>
        </p:spPr>
        <p:txBody>
          <a:bodyPr vert="horz" lIns="0" tIns="0" rIns="0" bIns="0" rtlCol="0" anchor="t" anchorCtr="0">
            <a:noAutofit/>
          </a:bodyPr>
          <a:lstStyle>
            <a:lvl1pPr>
              <a:defRPr sz="2300"/>
            </a:lvl1pPr>
          </a:lstStyle>
          <a:p>
            <a:r>
              <a:rPr lang="en-US" noProof="0"/>
              <a:t>Click to edit Master title style</a:t>
            </a:r>
          </a:p>
        </p:txBody>
      </p:sp>
    </p:spTree>
    <p:extLst>
      <p:ext uri="{BB962C8B-B14F-4D97-AF65-F5344CB8AC3E}">
        <p14:creationId xmlns:p14="http://schemas.microsoft.com/office/powerpoint/2010/main" val="2314964115"/>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2" name="TextBox 1">
            <a:extLst>
              <a:ext uri="{FF2B5EF4-FFF2-40B4-BE49-F238E27FC236}">
                <a16:creationId xmlns:a16="http://schemas.microsoft.com/office/drawing/2014/main" id="{68E4ED88-C907-83CF-93B4-96B2E85817EC}"/>
              </a:ext>
            </a:extLst>
          </p:cNvPr>
          <p:cNvSpPr txBox="1"/>
          <p:nvPr userDrawn="1"/>
        </p:nvSpPr>
        <p:spPr>
          <a:xfrm>
            <a:off x="11423904" y="6635389"/>
            <a:ext cx="360109"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984144974"/>
      </p:ext>
    </p:extLst>
  </p:cSld>
  <p:clrMapOvr>
    <a:masterClrMapping/>
  </p:clrMapOvr>
  <p:transition>
    <p:fade/>
  </p:transition>
  <p:hf hd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382038"/>
            <a:ext cx="11252200" cy="360000"/>
          </a:xfrm>
          <a:prstGeom prst="rect">
            <a:avLst/>
          </a:prstGeom>
        </p:spPr>
        <p:txBody>
          <a:bodyPr vert="horz" lIns="0" tIns="0" rIns="0" bIns="0" rtlCol="0" anchor="t" anchorCtr="0">
            <a:noAutofit/>
          </a:bodyPr>
          <a:lstStyle>
            <a:lvl1pPr>
              <a:defRPr sz="2000" b="1">
                <a:solidFill>
                  <a:srgbClr val="86BC25"/>
                </a:solidFill>
                <a:latin typeface="+mj-lt"/>
              </a:defRPr>
            </a:lvl1pPr>
          </a:lstStyle>
          <a:p>
            <a:r>
              <a:rPr lang="en-US" noProof="0"/>
              <a:t>Click to edit Master title style</a:t>
            </a:r>
          </a:p>
        </p:txBody>
      </p:sp>
      <p:sp>
        <p:nvSpPr>
          <p:cNvPr id="37" name="Text Placeholder 36"/>
          <p:cNvSpPr>
            <a:spLocks noGrp="1"/>
          </p:cNvSpPr>
          <p:nvPr>
            <p:ph type="body" sz="quarter" idx="14"/>
          </p:nvPr>
        </p:nvSpPr>
        <p:spPr>
          <a:xfrm>
            <a:off x="532761" y="1323667"/>
            <a:ext cx="5400000" cy="1800000"/>
          </a:xfrm>
        </p:spPr>
        <p:txBody>
          <a:bodyPr/>
          <a:lstStyle>
            <a:lvl1pPr>
              <a:spcBef>
                <a:spcPts val="0"/>
              </a:spcBef>
              <a:spcAft>
                <a:spcPts val="200"/>
              </a:spcAft>
              <a:defRPr sz="800">
                <a:latin typeface="+mn-lt"/>
              </a:defRPr>
            </a:lvl1pPr>
            <a:lvl2pPr>
              <a:spcBef>
                <a:spcPts val="0"/>
              </a:spcBef>
              <a:spcAft>
                <a:spcPts val="200"/>
              </a:spcAft>
              <a:defRPr sz="800">
                <a:latin typeface="+mn-lt"/>
              </a:defRPr>
            </a:lvl2pPr>
            <a:lvl3pPr>
              <a:spcBef>
                <a:spcPts val="0"/>
              </a:spcBef>
              <a:spcAft>
                <a:spcPts val="200"/>
              </a:spcAft>
              <a:defRPr sz="800">
                <a:latin typeface="+mn-lt"/>
              </a:defRPr>
            </a:lvl3pPr>
            <a:lvl4pPr>
              <a:spcBef>
                <a:spcPts val="0"/>
              </a:spcBef>
              <a:spcAft>
                <a:spcPts val="200"/>
              </a:spcAft>
              <a:defRPr sz="800">
                <a:latin typeface="+mn-lt"/>
              </a:defRPr>
            </a:lvl4pPr>
            <a:lvl5pPr>
              <a:spcBef>
                <a:spcPts val="0"/>
              </a:spcBef>
              <a:spcAft>
                <a:spcPts val="200"/>
              </a:spcAft>
              <a:defRPr sz="8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8" name="Text Placeholder 36"/>
          <p:cNvSpPr>
            <a:spLocks noGrp="1"/>
          </p:cNvSpPr>
          <p:nvPr>
            <p:ph type="body" sz="quarter" idx="15"/>
          </p:nvPr>
        </p:nvSpPr>
        <p:spPr>
          <a:xfrm>
            <a:off x="532761" y="4162402"/>
            <a:ext cx="5400000" cy="1800000"/>
          </a:xfrm>
        </p:spPr>
        <p:txBody>
          <a:bodyPr/>
          <a:lstStyle>
            <a:lvl1pPr>
              <a:spcBef>
                <a:spcPts val="0"/>
              </a:spcBef>
              <a:spcAft>
                <a:spcPts val="200"/>
              </a:spcAft>
              <a:defRPr sz="800">
                <a:latin typeface="+mn-lt"/>
              </a:defRPr>
            </a:lvl1pPr>
            <a:lvl2pPr>
              <a:spcBef>
                <a:spcPts val="0"/>
              </a:spcBef>
              <a:spcAft>
                <a:spcPts val="200"/>
              </a:spcAft>
              <a:defRPr sz="800">
                <a:latin typeface="+mn-lt"/>
              </a:defRPr>
            </a:lvl2pPr>
            <a:lvl3pPr>
              <a:spcBef>
                <a:spcPts val="0"/>
              </a:spcBef>
              <a:spcAft>
                <a:spcPts val="200"/>
              </a:spcAft>
              <a:defRPr sz="800">
                <a:latin typeface="+mn-lt"/>
              </a:defRPr>
            </a:lvl3pPr>
            <a:lvl4pPr>
              <a:spcBef>
                <a:spcPts val="0"/>
              </a:spcBef>
              <a:spcAft>
                <a:spcPts val="200"/>
              </a:spcAft>
              <a:defRPr sz="800">
                <a:latin typeface="+mn-lt"/>
              </a:defRPr>
            </a:lvl4pPr>
            <a:lvl5pPr>
              <a:spcBef>
                <a:spcPts val="0"/>
              </a:spcBef>
              <a:spcAft>
                <a:spcPts val="200"/>
              </a:spcAft>
              <a:defRPr sz="8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9" name="Text Placeholder 36"/>
          <p:cNvSpPr>
            <a:spLocks noGrp="1"/>
          </p:cNvSpPr>
          <p:nvPr>
            <p:ph type="body" sz="quarter" idx="16"/>
          </p:nvPr>
        </p:nvSpPr>
        <p:spPr>
          <a:xfrm>
            <a:off x="6321702" y="1323667"/>
            <a:ext cx="5400000" cy="1800000"/>
          </a:xfrm>
        </p:spPr>
        <p:txBody>
          <a:bodyPr/>
          <a:lstStyle>
            <a:lvl1pPr>
              <a:spcBef>
                <a:spcPts val="0"/>
              </a:spcBef>
              <a:spcAft>
                <a:spcPts val="200"/>
              </a:spcAft>
              <a:defRPr sz="800">
                <a:latin typeface="+mn-lt"/>
              </a:defRPr>
            </a:lvl1pPr>
            <a:lvl2pPr>
              <a:spcBef>
                <a:spcPts val="0"/>
              </a:spcBef>
              <a:spcAft>
                <a:spcPts val="200"/>
              </a:spcAft>
              <a:defRPr sz="800">
                <a:latin typeface="+mn-lt"/>
              </a:defRPr>
            </a:lvl2pPr>
            <a:lvl3pPr>
              <a:spcBef>
                <a:spcPts val="0"/>
              </a:spcBef>
              <a:spcAft>
                <a:spcPts val="200"/>
              </a:spcAft>
              <a:defRPr sz="800">
                <a:latin typeface="+mn-lt"/>
              </a:defRPr>
            </a:lvl3pPr>
            <a:lvl4pPr>
              <a:spcBef>
                <a:spcPts val="0"/>
              </a:spcBef>
              <a:spcAft>
                <a:spcPts val="200"/>
              </a:spcAft>
              <a:defRPr sz="800">
                <a:latin typeface="+mn-lt"/>
              </a:defRPr>
            </a:lvl4pPr>
            <a:lvl5pPr>
              <a:spcBef>
                <a:spcPts val="0"/>
              </a:spcBef>
              <a:spcAft>
                <a:spcPts val="200"/>
              </a:spcAft>
              <a:defRPr sz="8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0" name="Text Placeholder 36"/>
          <p:cNvSpPr>
            <a:spLocks noGrp="1"/>
          </p:cNvSpPr>
          <p:nvPr>
            <p:ph type="body" sz="quarter" idx="17"/>
          </p:nvPr>
        </p:nvSpPr>
        <p:spPr>
          <a:xfrm>
            <a:off x="6321702" y="4164674"/>
            <a:ext cx="5400000" cy="1800000"/>
          </a:xfrm>
        </p:spPr>
        <p:txBody>
          <a:bodyPr/>
          <a:lstStyle>
            <a:lvl1pPr>
              <a:spcBef>
                <a:spcPts val="0"/>
              </a:spcBef>
              <a:spcAft>
                <a:spcPts val="200"/>
              </a:spcAft>
              <a:defRPr sz="800">
                <a:latin typeface="+mn-lt"/>
              </a:defRPr>
            </a:lvl1pPr>
            <a:lvl2pPr>
              <a:spcBef>
                <a:spcPts val="0"/>
              </a:spcBef>
              <a:spcAft>
                <a:spcPts val="200"/>
              </a:spcAft>
              <a:defRPr sz="800">
                <a:latin typeface="+mn-lt"/>
              </a:defRPr>
            </a:lvl2pPr>
            <a:lvl3pPr>
              <a:spcBef>
                <a:spcPts val="0"/>
              </a:spcBef>
              <a:spcAft>
                <a:spcPts val="200"/>
              </a:spcAft>
              <a:defRPr sz="800">
                <a:latin typeface="+mn-lt"/>
              </a:defRPr>
            </a:lvl3pPr>
            <a:lvl4pPr>
              <a:spcBef>
                <a:spcPts val="0"/>
              </a:spcBef>
              <a:spcAft>
                <a:spcPts val="200"/>
              </a:spcAft>
              <a:defRPr sz="800">
                <a:latin typeface="+mn-lt"/>
              </a:defRPr>
            </a:lvl4pPr>
            <a:lvl5pPr>
              <a:spcBef>
                <a:spcPts val="0"/>
              </a:spcBef>
              <a:spcAft>
                <a:spcPts val="200"/>
              </a:spcAft>
              <a:defRPr sz="8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6" name="Text Placeholder 45"/>
          <p:cNvSpPr>
            <a:spLocks noGrp="1"/>
          </p:cNvSpPr>
          <p:nvPr>
            <p:ph type="body" sz="quarter" idx="18" hasCustomPrompt="1"/>
          </p:nvPr>
        </p:nvSpPr>
        <p:spPr>
          <a:xfrm>
            <a:off x="1792761" y="860116"/>
            <a:ext cx="4140000" cy="432000"/>
          </a:xfrm>
        </p:spPr>
        <p:txBody>
          <a:bodyPr anchor="ctr"/>
          <a:lstStyle>
            <a:lvl1pPr>
              <a:defRPr sz="1200" b="1">
                <a:latin typeface="+mj-lt"/>
              </a:defRPr>
            </a:lvl1pPr>
            <a:lvl3pPr marL="0" indent="0">
              <a:buNone/>
              <a:defRPr/>
            </a:lvl3pPr>
            <a:lvl4pPr marL="180000" indent="0">
              <a:buNone/>
              <a:defRPr/>
            </a:lvl4pPr>
            <a:lvl5pPr marL="360000" indent="0">
              <a:buNone/>
              <a:defRPr/>
            </a:lvl5pPr>
          </a:lstStyle>
          <a:p>
            <a:pPr lvl="0"/>
            <a:r>
              <a:rPr lang="en-US"/>
              <a:t>Click to edit text styles</a:t>
            </a:r>
          </a:p>
        </p:txBody>
      </p:sp>
      <p:sp>
        <p:nvSpPr>
          <p:cNvPr id="47" name="Text Placeholder 45"/>
          <p:cNvSpPr>
            <a:spLocks noGrp="1"/>
          </p:cNvSpPr>
          <p:nvPr>
            <p:ph type="body" sz="quarter" idx="19" hasCustomPrompt="1"/>
          </p:nvPr>
        </p:nvSpPr>
        <p:spPr>
          <a:xfrm>
            <a:off x="7581702" y="860116"/>
            <a:ext cx="4140000" cy="432000"/>
          </a:xfrm>
        </p:spPr>
        <p:txBody>
          <a:bodyPr anchor="ctr"/>
          <a:lstStyle>
            <a:lvl1pPr>
              <a:defRPr sz="1200" b="1">
                <a:latin typeface="+mj-lt"/>
              </a:defRPr>
            </a:lvl1pPr>
            <a:lvl3pPr marL="0" indent="0">
              <a:buNone/>
              <a:defRPr/>
            </a:lvl3pPr>
            <a:lvl4pPr marL="180000" indent="0">
              <a:buNone/>
              <a:defRPr/>
            </a:lvl4pPr>
            <a:lvl5pPr marL="360000" indent="0">
              <a:buNone/>
              <a:defRPr/>
            </a:lvl5pPr>
          </a:lstStyle>
          <a:p>
            <a:pPr lvl="0"/>
            <a:r>
              <a:rPr lang="en-US"/>
              <a:t>Click to edit text styles</a:t>
            </a:r>
          </a:p>
        </p:txBody>
      </p:sp>
      <p:sp>
        <p:nvSpPr>
          <p:cNvPr id="48" name="Text Placeholder 45"/>
          <p:cNvSpPr>
            <a:spLocks noGrp="1"/>
          </p:cNvSpPr>
          <p:nvPr>
            <p:ph type="body" sz="quarter" idx="20" hasCustomPrompt="1"/>
          </p:nvPr>
        </p:nvSpPr>
        <p:spPr>
          <a:xfrm>
            <a:off x="1792761" y="3714780"/>
            <a:ext cx="4140000" cy="432000"/>
          </a:xfrm>
        </p:spPr>
        <p:txBody>
          <a:bodyPr anchor="ctr"/>
          <a:lstStyle>
            <a:lvl1pPr>
              <a:defRPr sz="1200" b="1">
                <a:latin typeface="+mj-lt"/>
              </a:defRPr>
            </a:lvl1pPr>
            <a:lvl3pPr marL="0" indent="0">
              <a:buNone/>
              <a:defRPr/>
            </a:lvl3pPr>
            <a:lvl4pPr marL="180000" indent="0">
              <a:buNone/>
              <a:defRPr/>
            </a:lvl4pPr>
            <a:lvl5pPr marL="360000" indent="0">
              <a:buNone/>
              <a:defRPr/>
            </a:lvl5pPr>
          </a:lstStyle>
          <a:p>
            <a:pPr lvl="0"/>
            <a:r>
              <a:rPr lang="en-US"/>
              <a:t>Click to edit text styles</a:t>
            </a:r>
          </a:p>
        </p:txBody>
      </p:sp>
      <p:sp>
        <p:nvSpPr>
          <p:cNvPr id="49" name="Text Placeholder 45"/>
          <p:cNvSpPr>
            <a:spLocks noGrp="1"/>
          </p:cNvSpPr>
          <p:nvPr>
            <p:ph type="body" sz="quarter" idx="21" hasCustomPrompt="1"/>
          </p:nvPr>
        </p:nvSpPr>
        <p:spPr>
          <a:xfrm>
            <a:off x="7581702" y="3714780"/>
            <a:ext cx="4140000" cy="432000"/>
          </a:xfrm>
        </p:spPr>
        <p:txBody>
          <a:bodyPr anchor="ctr"/>
          <a:lstStyle>
            <a:lvl1pPr>
              <a:defRPr sz="1200" b="1">
                <a:latin typeface="+mj-lt"/>
              </a:defRPr>
            </a:lvl1pPr>
            <a:lvl3pPr marL="0" indent="0">
              <a:buNone/>
              <a:defRPr/>
            </a:lvl3pPr>
            <a:lvl4pPr marL="180000" indent="0">
              <a:buNone/>
              <a:defRPr/>
            </a:lvl4pPr>
            <a:lvl5pPr marL="360000" indent="0">
              <a:buNone/>
              <a:defRPr/>
            </a:lvl5pPr>
          </a:lstStyle>
          <a:p>
            <a:pPr lvl="0"/>
            <a:r>
              <a:rPr lang="en-US"/>
              <a:t>Click to edit text styles</a:t>
            </a:r>
          </a:p>
        </p:txBody>
      </p:sp>
    </p:spTree>
    <p:extLst>
      <p:ext uri="{BB962C8B-B14F-4D97-AF65-F5344CB8AC3E}">
        <p14:creationId xmlns:p14="http://schemas.microsoft.com/office/powerpoint/2010/main" val="3260120309"/>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3_Title Slide - White">
    <p:bg bwMode="gray">
      <p:bgPr>
        <a:solidFill>
          <a:schemeClr val="tx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3" y="727200"/>
            <a:ext cx="7200000" cy="5400000"/>
          </a:xfrm>
          <a:prstGeom prst="rect">
            <a:avLst/>
          </a:prstGeom>
        </p:spPr>
        <p:txBody>
          <a:bodyPr/>
          <a:lstStyle>
            <a:lvl1pPr>
              <a:defRPr>
                <a:solidFill>
                  <a:schemeClr val="bg1"/>
                </a:solidFill>
              </a:defRPr>
            </a:lvl1pPr>
          </a:lstStyle>
          <a:p>
            <a:r>
              <a:rPr lang="en-US"/>
              <a:t>Click icon to add picture</a:t>
            </a:r>
            <a:endParaRPr lang="en-GB"/>
          </a:p>
        </p:txBody>
      </p:sp>
      <p:sp>
        <p:nvSpPr>
          <p:cNvPr id="2" name="Title 1"/>
          <p:cNvSpPr>
            <a:spLocks noGrp="1"/>
          </p:cNvSpPr>
          <p:nvPr>
            <p:ph type="ctrTitle"/>
          </p:nvPr>
        </p:nvSpPr>
        <p:spPr bwMode="gray">
          <a:xfrm>
            <a:off x="501652" y="5549440"/>
            <a:ext cx="5594349" cy="324000"/>
          </a:xfrm>
          <a:prstGeom prst="rect">
            <a:avLst/>
          </a:prstGeom>
        </p:spPr>
        <p:txBody>
          <a:bodyPr lIns="0" tIns="0" rIns="0" bIns="0" anchor="t" anchorCtr="0">
            <a:noAutofit/>
          </a:bodyPr>
          <a:lstStyle>
            <a:lvl1pPr algn="l">
              <a:lnSpc>
                <a:spcPct val="100000"/>
              </a:lnSpc>
              <a:defRPr sz="18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34"/>
            <a:ext cx="5594348" cy="505645"/>
          </a:xfrm>
          <a:prstGeom prst="rect">
            <a:avLst/>
          </a:prstGeom>
        </p:spPr>
        <p:txBody>
          <a:bodyPr lIns="0" tIns="0" rIns="0" bIns="0">
            <a:noAutofit/>
          </a:bodyPr>
          <a:lstStyle>
            <a:lvl1pPr marL="0" indent="0" algn="l">
              <a:lnSpc>
                <a:spcPct val="100000"/>
              </a:lnSpc>
              <a:spcAft>
                <a:spcPts val="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35" name="Group 34"/>
          <p:cNvGrpSpPr>
            <a:grpSpLocks/>
          </p:cNvGrpSpPr>
          <p:nvPr userDrawn="1"/>
        </p:nvGrpSpPr>
        <p:grpSpPr>
          <a:xfrm>
            <a:off x="503988" y="378000"/>
            <a:ext cx="1620000" cy="307976"/>
            <a:chOff x="398463" y="404813"/>
            <a:chExt cx="1627187" cy="307976"/>
          </a:xfrm>
          <a:solidFill>
            <a:schemeClr val="bg1"/>
          </a:solidFill>
        </p:grpSpPr>
        <p:sp>
          <p:nvSpPr>
            <p:cNvPr id="39"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1"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3"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4"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Tree>
    <p:extLst>
      <p:ext uri="{BB962C8B-B14F-4D97-AF65-F5344CB8AC3E}">
        <p14:creationId xmlns:p14="http://schemas.microsoft.com/office/powerpoint/2010/main" val="2714414657"/>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2_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9"/>
            <a:ext cx="9277349" cy="4752975"/>
          </a:xfrm>
          <a:prstGeom prst="rect">
            <a:avLst/>
          </a:prstGeom>
        </p:spPr>
        <p:txBody>
          <a:bodyPr>
            <a:noAutofit/>
          </a:bodyPr>
          <a:lstStyle>
            <a:lvl1pPr>
              <a:spcBef>
                <a:spcPts val="3600"/>
              </a:spcBef>
              <a:defRPr sz="2800">
                <a:solidFill>
                  <a:schemeClr val="bg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26" name="TextBox 25"/>
          <p:cNvSpPr txBox="1"/>
          <p:nvPr userDrawn="1"/>
        </p:nvSpPr>
        <p:spPr>
          <a:xfrm>
            <a:off x="5942017" y="6477004"/>
            <a:ext cx="307975" cy="100027"/>
          </a:xfrm>
          <a:prstGeom prst="rect">
            <a:avLst/>
          </a:prstGeom>
          <a:noFill/>
        </p:spPr>
        <p:txBody>
          <a:bodyPr wrap="square" lIns="0" tIns="0" rIns="0" bIns="0" rtlCol="0">
            <a:noAutofit/>
          </a:bodyPr>
          <a:lstStyle/>
          <a:p>
            <a:pPr marL="0" indent="0" algn="ctr">
              <a:spcBef>
                <a:spcPts val="600"/>
              </a:spcBef>
              <a:buSzPct val="100000"/>
              <a:buFont typeface="Arial"/>
              <a:buNone/>
            </a:pPr>
            <a:fld id="{C58DF478-B544-4ED8-9ED4-6A2648E2D233}" type="slidenum">
              <a:rPr lang="en-US" sz="650" noProof="0" smtClean="0">
                <a:solidFill>
                  <a:schemeClr val="bg1"/>
                </a:solidFill>
              </a:rPr>
              <a:pPr marL="0" indent="0" algn="ctr">
                <a:spcBef>
                  <a:spcPts val="6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229906676"/>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Title &amp; 1 column text">
    <p:bg>
      <p:bgPr>
        <a:solidFill>
          <a:schemeClr val="tx1"/>
        </a:solidFill>
        <a:effectLst/>
      </p:bgPr>
    </p:bg>
    <p:spTree>
      <p:nvGrpSpPr>
        <p:cNvPr id="1" name=""/>
        <p:cNvGrpSpPr/>
        <p:nvPr/>
      </p:nvGrpSpPr>
      <p:grpSpPr>
        <a:xfrm>
          <a:off x="0" y="0"/>
          <a:ext cx="0" cy="0"/>
          <a:chOff x="0" y="0"/>
          <a:chExt cx="0" cy="0"/>
        </a:xfrm>
      </p:grpSpPr>
      <p:sp>
        <p:nvSpPr>
          <p:cNvPr id="4" name="Do not remove" hidden="1"/>
          <p:cNvSpPr/>
          <p:nvPr userDrawn="1">
            <p:custDataLst>
              <p:tags r:id="rId1"/>
            </p:custDataLst>
          </p:nvPr>
        </p:nvSpPr>
        <p:spPr bwMode="gray">
          <a:xfrm>
            <a:off x="0" y="0"/>
            <a:ext cx="12700" cy="12700"/>
          </a:xfrm>
          <a:prstGeom prst="octagon">
            <a:avLst/>
          </a:prstGeom>
          <a:noFill/>
          <a:ln w="19050" algn="ctr">
            <a:noFill/>
            <a:miter lim="800000"/>
            <a:headEnd/>
            <a:tailEnd/>
          </a:ln>
          <a:extLst>
            <a:ext uri="{909E8E84-426E-40DD-AFC4-6F175D3DCCD1}">
              <a14:hiddenFill xmlns:a14="http://schemas.microsoft.com/office/drawing/2010/main">
                <a:solidFill>
                  <a:schemeClr val="accent3"/>
                </a:solidFill>
              </a14:hiddenFill>
            </a:ext>
          </a:extLst>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4" name="Text Placeholder 18"/>
          <p:cNvSpPr>
            <a:spLocks noGrp="1"/>
          </p:cNvSpPr>
          <p:nvPr>
            <p:ph idx="1"/>
          </p:nvPr>
        </p:nvSpPr>
        <p:spPr>
          <a:xfrm>
            <a:off x="501651" y="1015205"/>
            <a:ext cx="11188700" cy="4716463"/>
          </a:xfrm>
          <a:prstGeom prst="rect">
            <a:avLst/>
          </a:prstGeom>
        </p:spPr>
        <p:txBody>
          <a:bodyPr vert="horz" lIns="0" tIns="0" rIns="0" bIns="0" rtlCol="0">
            <a:normAutofit/>
          </a:bodyPr>
          <a:lstStyle>
            <a:lvl1pPr algn="just">
              <a:spcAft>
                <a:spcPts val="300"/>
              </a:spcAft>
              <a:defRPr sz="1000">
                <a:solidFill>
                  <a:schemeClr val="bg1"/>
                </a:solidFill>
              </a:defRPr>
            </a:lvl1pPr>
            <a:lvl2pPr algn="just">
              <a:spcAft>
                <a:spcPts val="300"/>
              </a:spcAft>
              <a:defRPr sz="1000">
                <a:solidFill>
                  <a:schemeClr val="bg1"/>
                </a:solidFill>
              </a:defRPr>
            </a:lvl2pPr>
            <a:lvl3pPr algn="just">
              <a:spcAft>
                <a:spcPts val="300"/>
              </a:spcAft>
              <a:defRPr sz="1000">
                <a:solidFill>
                  <a:schemeClr val="bg1"/>
                </a:solidFill>
              </a:defRPr>
            </a:lvl3pPr>
            <a:lvl4pPr algn="just">
              <a:spcAft>
                <a:spcPts val="300"/>
              </a:spcAft>
              <a:defRPr sz="1000">
                <a:solidFill>
                  <a:schemeClr val="bg1"/>
                </a:solidFill>
              </a:defRPr>
            </a:lvl4pPr>
            <a:lvl5pPr algn="just">
              <a:spcAft>
                <a:spcPts val="300"/>
              </a:spcAft>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itle Placeholder 1"/>
          <p:cNvSpPr>
            <a:spLocks noGrp="1"/>
          </p:cNvSpPr>
          <p:nvPr>
            <p:ph type="title" hasCustomPrompt="1"/>
          </p:nvPr>
        </p:nvSpPr>
        <p:spPr>
          <a:xfrm>
            <a:off x="501652" y="324005"/>
            <a:ext cx="11180232" cy="615553"/>
          </a:xfrm>
          <a:prstGeom prst="rect">
            <a:avLst/>
          </a:prstGeom>
        </p:spPr>
        <p:txBody>
          <a:bodyPr vert="horz" lIns="0" tIns="0" rIns="0" bIns="0" rtlCol="0" anchor="t" anchorCtr="0">
            <a:spAutoFit/>
          </a:bodyPr>
          <a:lstStyle>
            <a:lvl1pPr>
              <a:defRPr baseline="0">
                <a:solidFill>
                  <a:schemeClr val="bg1"/>
                </a:solidFill>
              </a:defRPr>
            </a:lvl1pPr>
          </a:lstStyle>
          <a:p>
            <a:r>
              <a:rPr lang="en-US"/>
              <a:t>Click to add title</a:t>
            </a:r>
            <a:br>
              <a:rPr lang="en-US"/>
            </a:br>
            <a:r>
              <a:rPr lang="en-US">
                <a:solidFill>
                  <a:schemeClr val="accent1"/>
                </a:solidFill>
              </a:rPr>
              <a:t>Subtitle</a:t>
            </a:r>
            <a:endParaRPr lang="en-US"/>
          </a:p>
        </p:txBody>
      </p:sp>
    </p:spTree>
    <p:extLst>
      <p:ext uri="{BB962C8B-B14F-4D97-AF65-F5344CB8AC3E}">
        <p14:creationId xmlns:p14="http://schemas.microsoft.com/office/powerpoint/2010/main" val="804573084"/>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2_End slide">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bwMode="gray">
          <a:xfrm>
            <a:off x="0" y="0"/>
            <a:ext cx="12700" cy="12700"/>
          </a:xfrm>
          <a:prstGeom prst="octagon">
            <a:avLst/>
          </a:prstGeom>
          <a:noFill/>
          <a:ln w="19050" algn="ctr">
            <a:noFill/>
            <a:miter lim="800000"/>
            <a:headEnd/>
            <a:tailEnd/>
          </a:ln>
          <a:extLst>
            <a:ext uri="{909E8E84-426E-40DD-AFC4-6F175D3DCCD1}">
              <a14:hiddenFill xmlns:a14="http://schemas.microsoft.com/office/drawing/2010/main">
                <a:solidFill>
                  <a:schemeClr val="accent3"/>
                </a:solidFill>
              </a14:hiddenFill>
            </a:ext>
          </a:extLst>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6" name="Text Placeholder 5"/>
          <p:cNvSpPr>
            <a:spLocks noGrp="1"/>
          </p:cNvSpPr>
          <p:nvPr>
            <p:ph type="body" sz="quarter" idx="13"/>
          </p:nvPr>
        </p:nvSpPr>
        <p:spPr>
          <a:xfrm>
            <a:off x="501652" y="4211955"/>
            <a:ext cx="8528936" cy="2169796"/>
          </a:xfrm>
        </p:spPr>
        <p:txBody>
          <a:bodyPr anchor="b" anchorCtr="0"/>
          <a:lstStyle>
            <a:lvl1pPr algn="just">
              <a:lnSpc>
                <a:spcPct val="100000"/>
              </a:lnSpc>
              <a:spcAft>
                <a:spcPts val="600"/>
              </a:spcAft>
              <a:defRPr sz="900"/>
            </a:lvl1pPr>
          </a:lstStyle>
          <a:p>
            <a:pPr lvl="0"/>
            <a:r>
              <a:rPr lang="en-US"/>
              <a:t>Click to edit Master text styles</a:t>
            </a:r>
          </a:p>
        </p:txBody>
      </p:sp>
      <p:sp>
        <p:nvSpPr>
          <p:cNvPr id="3" name="Picture Placeholder 2"/>
          <p:cNvSpPr>
            <a:spLocks noGrp="1"/>
          </p:cNvSpPr>
          <p:nvPr>
            <p:ph type="pic" sz="quarter" idx="14" hasCustomPrompt="1"/>
          </p:nvPr>
        </p:nvSpPr>
        <p:spPr>
          <a:xfrm>
            <a:off x="9370850" y="4211955"/>
            <a:ext cx="2319503" cy="1725448"/>
          </a:xfrm>
        </p:spPr>
        <p:txBody>
          <a:bodyPr anchor="ctr" anchorCtr="0"/>
          <a:lstStyle>
            <a:lvl1pPr algn="ctr">
              <a:defRPr sz="900"/>
            </a:lvl1pPr>
          </a:lstStyle>
          <a:p>
            <a:r>
              <a:rPr lang="en-GB" sz="900"/>
              <a:t>Insert sponsorship mark here</a:t>
            </a:r>
            <a:endParaRPr lang="en-GB"/>
          </a:p>
        </p:txBody>
      </p:sp>
      <p:sp>
        <p:nvSpPr>
          <p:cNvPr id="8" name="Text Placeholder 7"/>
          <p:cNvSpPr>
            <a:spLocks noGrp="1"/>
          </p:cNvSpPr>
          <p:nvPr>
            <p:ph type="body" sz="quarter" idx="15"/>
          </p:nvPr>
        </p:nvSpPr>
        <p:spPr>
          <a:xfrm>
            <a:off x="9370852" y="6018028"/>
            <a:ext cx="2319501" cy="363722"/>
          </a:xfrm>
        </p:spPr>
        <p:txBody>
          <a:bodyPr anchor="b" anchorCtr="0"/>
          <a:lstStyle>
            <a:lvl1pPr>
              <a:lnSpc>
                <a:spcPct val="100000"/>
              </a:lnSpc>
              <a:defRPr sz="950"/>
            </a:lvl1pPr>
          </a:lstStyle>
          <a:p>
            <a:pPr lvl="0"/>
            <a:r>
              <a:rPr lang="en-US"/>
              <a:t>Click to edit Master text styles</a:t>
            </a:r>
          </a:p>
        </p:txBody>
      </p:sp>
    </p:spTree>
    <p:extLst>
      <p:ext uri="{BB962C8B-B14F-4D97-AF65-F5344CB8AC3E}">
        <p14:creationId xmlns:p14="http://schemas.microsoft.com/office/powerpoint/2010/main" val="794276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1"/>
            </p:custDataLst>
            <p:extLst>
              <p:ext uri="{D42A27DB-BD31-4B8C-83A1-F6EECF244321}">
                <p14:modId xmlns:p14="http://schemas.microsoft.com/office/powerpoint/2010/main" val="4282211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7" name="Object 6"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1" name="Do not remove" hidden="1"/>
          <p:cNvSpPr/>
          <p:nvPr userDrawn="1">
            <p:custDataLst>
              <p:tags r:id="rId2"/>
            </p:custDataLst>
          </p:nvPr>
        </p:nvSpPr>
        <p:spPr bwMode="gray">
          <a:xfrm>
            <a:off x="0" y="0"/>
            <a:ext cx="12700" cy="12700"/>
          </a:xfrm>
          <a:prstGeom prst="octagon">
            <a:avLst/>
          </a:prstGeom>
          <a:noFill/>
          <a:ln w="19050" algn="ctr">
            <a:noFill/>
            <a:miter lim="800000"/>
            <a:headEnd/>
            <a:tailEnd/>
          </a:ln>
          <a:extLst>
            <a:ext uri="{909E8E84-426E-40DD-AFC4-6F175D3DCCD1}">
              <a14:hiddenFill xmlns:a14="http://schemas.microsoft.com/office/drawing/2010/main">
                <a:solidFill>
                  <a:schemeClr val="accent3"/>
                </a:solidFill>
              </a14:hiddenFill>
            </a:ext>
          </a:extLst>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37712516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3_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05866"/>
            <a:ext cx="11252200" cy="757255"/>
          </a:xfrm>
          <a:prstGeom prst="rect">
            <a:avLst/>
          </a:prstGeom>
        </p:spPr>
        <p:txBody>
          <a:bodyPr lIns="0" tIns="0" rIns="0" bIns="0">
            <a:noAutofit/>
          </a:bodyPr>
          <a:lstStyle>
            <a:lvl1pPr marL="0" indent="0">
              <a:buNone/>
              <a:defRPr sz="23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0" y="382039"/>
            <a:ext cx="11252200" cy="334102"/>
          </a:xfrm>
          <a:prstGeom prst="rect">
            <a:avLst/>
          </a:prstGeom>
        </p:spPr>
        <p:txBody>
          <a:bodyPr vert="horz" lIns="0" tIns="0" rIns="0" bIns="0" rtlCol="0" anchor="t" anchorCtr="0">
            <a:noAutofit/>
          </a:bodyPr>
          <a:lstStyle>
            <a:lvl1pPr>
              <a:defRPr sz="2300"/>
            </a:lvl1pPr>
          </a:lstStyle>
          <a:p>
            <a:r>
              <a:rPr lang="en-US" noProof="0"/>
              <a:t>Click to edit Master title style</a:t>
            </a:r>
          </a:p>
        </p:txBody>
      </p:sp>
    </p:spTree>
    <p:extLst>
      <p:ext uri="{BB962C8B-B14F-4D97-AF65-F5344CB8AC3E}">
        <p14:creationId xmlns:p14="http://schemas.microsoft.com/office/powerpoint/2010/main" val="686403100"/>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cSld name="2_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2" name="TextBox 1">
            <a:extLst>
              <a:ext uri="{FF2B5EF4-FFF2-40B4-BE49-F238E27FC236}">
                <a16:creationId xmlns:a16="http://schemas.microsoft.com/office/drawing/2014/main" id="{6973B9C1-C9BC-341B-819B-B00CCF5FD848}"/>
              </a:ext>
            </a:extLst>
          </p:cNvPr>
          <p:cNvSpPr txBox="1"/>
          <p:nvPr userDrawn="1"/>
        </p:nvSpPr>
        <p:spPr>
          <a:xfrm>
            <a:off x="11423904" y="6635389"/>
            <a:ext cx="360109"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3602302671"/>
      </p:ext>
    </p:extLst>
  </p:cSld>
  <p:clrMapOvr>
    <a:masterClrMapping/>
  </p:clrMapOvr>
  <p:transition>
    <p:fade/>
  </p:transition>
  <p:hf hd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382038"/>
            <a:ext cx="11252200" cy="360000"/>
          </a:xfrm>
          <a:prstGeom prst="rect">
            <a:avLst/>
          </a:prstGeom>
        </p:spPr>
        <p:txBody>
          <a:bodyPr vert="horz" lIns="0" tIns="0" rIns="0" bIns="0" rtlCol="0" anchor="t" anchorCtr="0">
            <a:noAutofit/>
          </a:bodyPr>
          <a:lstStyle>
            <a:lvl1pPr>
              <a:defRPr sz="2000" b="1">
                <a:solidFill>
                  <a:srgbClr val="86BC25"/>
                </a:solidFill>
                <a:latin typeface="+mj-lt"/>
              </a:defRPr>
            </a:lvl1pPr>
          </a:lstStyle>
          <a:p>
            <a:r>
              <a:rPr lang="en-US" noProof="0"/>
              <a:t>Click to edit Master title style</a:t>
            </a:r>
          </a:p>
        </p:txBody>
      </p:sp>
      <p:sp>
        <p:nvSpPr>
          <p:cNvPr id="37" name="Text Placeholder 36"/>
          <p:cNvSpPr>
            <a:spLocks noGrp="1"/>
          </p:cNvSpPr>
          <p:nvPr>
            <p:ph type="body" sz="quarter" idx="14"/>
          </p:nvPr>
        </p:nvSpPr>
        <p:spPr>
          <a:xfrm>
            <a:off x="532761" y="1323667"/>
            <a:ext cx="5400000" cy="1800000"/>
          </a:xfrm>
        </p:spPr>
        <p:txBody>
          <a:bodyPr/>
          <a:lstStyle>
            <a:lvl1pPr>
              <a:spcBef>
                <a:spcPts val="0"/>
              </a:spcBef>
              <a:spcAft>
                <a:spcPts val="200"/>
              </a:spcAft>
              <a:defRPr sz="800">
                <a:latin typeface="+mn-lt"/>
              </a:defRPr>
            </a:lvl1pPr>
            <a:lvl2pPr>
              <a:spcBef>
                <a:spcPts val="0"/>
              </a:spcBef>
              <a:spcAft>
                <a:spcPts val="200"/>
              </a:spcAft>
              <a:defRPr sz="800">
                <a:latin typeface="+mn-lt"/>
              </a:defRPr>
            </a:lvl2pPr>
            <a:lvl3pPr>
              <a:spcBef>
                <a:spcPts val="0"/>
              </a:spcBef>
              <a:spcAft>
                <a:spcPts val="200"/>
              </a:spcAft>
              <a:defRPr sz="800">
                <a:latin typeface="+mn-lt"/>
              </a:defRPr>
            </a:lvl3pPr>
            <a:lvl4pPr>
              <a:spcBef>
                <a:spcPts val="0"/>
              </a:spcBef>
              <a:spcAft>
                <a:spcPts val="200"/>
              </a:spcAft>
              <a:defRPr sz="800">
                <a:latin typeface="+mn-lt"/>
              </a:defRPr>
            </a:lvl4pPr>
            <a:lvl5pPr>
              <a:spcBef>
                <a:spcPts val="0"/>
              </a:spcBef>
              <a:spcAft>
                <a:spcPts val="200"/>
              </a:spcAft>
              <a:defRPr sz="8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8" name="Text Placeholder 36"/>
          <p:cNvSpPr>
            <a:spLocks noGrp="1"/>
          </p:cNvSpPr>
          <p:nvPr>
            <p:ph type="body" sz="quarter" idx="15"/>
          </p:nvPr>
        </p:nvSpPr>
        <p:spPr>
          <a:xfrm>
            <a:off x="532761" y="4162402"/>
            <a:ext cx="5400000" cy="1800000"/>
          </a:xfrm>
        </p:spPr>
        <p:txBody>
          <a:bodyPr/>
          <a:lstStyle>
            <a:lvl1pPr>
              <a:spcBef>
                <a:spcPts val="0"/>
              </a:spcBef>
              <a:spcAft>
                <a:spcPts val="200"/>
              </a:spcAft>
              <a:defRPr sz="800">
                <a:latin typeface="+mn-lt"/>
              </a:defRPr>
            </a:lvl1pPr>
            <a:lvl2pPr>
              <a:spcBef>
                <a:spcPts val="0"/>
              </a:spcBef>
              <a:spcAft>
                <a:spcPts val="200"/>
              </a:spcAft>
              <a:defRPr sz="800">
                <a:latin typeface="+mn-lt"/>
              </a:defRPr>
            </a:lvl2pPr>
            <a:lvl3pPr>
              <a:spcBef>
                <a:spcPts val="0"/>
              </a:spcBef>
              <a:spcAft>
                <a:spcPts val="200"/>
              </a:spcAft>
              <a:defRPr sz="800">
                <a:latin typeface="+mn-lt"/>
              </a:defRPr>
            </a:lvl3pPr>
            <a:lvl4pPr>
              <a:spcBef>
                <a:spcPts val="0"/>
              </a:spcBef>
              <a:spcAft>
                <a:spcPts val="200"/>
              </a:spcAft>
              <a:defRPr sz="800">
                <a:latin typeface="+mn-lt"/>
              </a:defRPr>
            </a:lvl4pPr>
            <a:lvl5pPr>
              <a:spcBef>
                <a:spcPts val="0"/>
              </a:spcBef>
              <a:spcAft>
                <a:spcPts val="200"/>
              </a:spcAft>
              <a:defRPr sz="8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9" name="Text Placeholder 36"/>
          <p:cNvSpPr>
            <a:spLocks noGrp="1"/>
          </p:cNvSpPr>
          <p:nvPr>
            <p:ph type="body" sz="quarter" idx="16"/>
          </p:nvPr>
        </p:nvSpPr>
        <p:spPr>
          <a:xfrm>
            <a:off x="6321702" y="1323667"/>
            <a:ext cx="5400000" cy="1800000"/>
          </a:xfrm>
        </p:spPr>
        <p:txBody>
          <a:bodyPr/>
          <a:lstStyle>
            <a:lvl1pPr>
              <a:spcBef>
                <a:spcPts val="0"/>
              </a:spcBef>
              <a:spcAft>
                <a:spcPts val="200"/>
              </a:spcAft>
              <a:defRPr sz="800">
                <a:latin typeface="+mn-lt"/>
              </a:defRPr>
            </a:lvl1pPr>
            <a:lvl2pPr>
              <a:spcBef>
                <a:spcPts val="0"/>
              </a:spcBef>
              <a:spcAft>
                <a:spcPts val="200"/>
              </a:spcAft>
              <a:defRPr sz="800">
                <a:latin typeface="+mn-lt"/>
              </a:defRPr>
            </a:lvl2pPr>
            <a:lvl3pPr>
              <a:spcBef>
                <a:spcPts val="0"/>
              </a:spcBef>
              <a:spcAft>
                <a:spcPts val="200"/>
              </a:spcAft>
              <a:defRPr sz="800">
                <a:latin typeface="+mn-lt"/>
              </a:defRPr>
            </a:lvl3pPr>
            <a:lvl4pPr>
              <a:spcBef>
                <a:spcPts val="0"/>
              </a:spcBef>
              <a:spcAft>
                <a:spcPts val="200"/>
              </a:spcAft>
              <a:defRPr sz="800">
                <a:latin typeface="+mn-lt"/>
              </a:defRPr>
            </a:lvl4pPr>
            <a:lvl5pPr>
              <a:spcBef>
                <a:spcPts val="0"/>
              </a:spcBef>
              <a:spcAft>
                <a:spcPts val="200"/>
              </a:spcAft>
              <a:defRPr sz="8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0" name="Text Placeholder 36"/>
          <p:cNvSpPr>
            <a:spLocks noGrp="1"/>
          </p:cNvSpPr>
          <p:nvPr>
            <p:ph type="body" sz="quarter" idx="17"/>
          </p:nvPr>
        </p:nvSpPr>
        <p:spPr>
          <a:xfrm>
            <a:off x="6321702" y="4164674"/>
            <a:ext cx="5400000" cy="1800000"/>
          </a:xfrm>
        </p:spPr>
        <p:txBody>
          <a:bodyPr/>
          <a:lstStyle>
            <a:lvl1pPr>
              <a:spcBef>
                <a:spcPts val="0"/>
              </a:spcBef>
              <a:spcAft>
                <a:spcPts val="200"/>
              </a:spcAft>
              <a:defRPr sz="800">
                <a:latin typeface="+mn-lt"/>
              </a:defRPr>
            </a:lvl1pPr>
            <a:lvl2pPr>
              <a:spcBef>
                <a:spcPts val="0"/>
              </a:spcBef>
              <a:spcAft>
                <a:spcPts val="200"/>
              </a:spcAft>
              <a:defRPr sz="800">
                <a:latin typeface="+mn-lt"/>
              </a:defRPr>
            </a:lvl2pPr>
            <a:lvl3pPr>
              <a:spcBef>
                <a:spcPts val="0"/>
              </a:spcBef>
              <a:spcAft>
                <a:spcPts val="200"/>
              </a:spcAft>
              <a:defRPr sz="800">
                <a:latin typeface="+mn-lt"/>
              </a:defRPr>
            </a:lvl3pPr>
            <a:lvl4pPr>
              <a:spcBef>
                <a:spcPts val="0"/>
              </a:spcBef>
              <a:spcAft>
                <a:spcPts val="200"/>
              </a:spcAft>
              <a:defRPr sz="800">
                <a:latin typeface="+mn-lt"/>
              </a:defRPr>
            </a:lvl4pPr>
            <a:lvl5pPr>
              <a:spcBef>
                <a:spcPts val="0"/>
              </a:spcBef>
              <a:spcAft>
                <a:spcPts val="200"/>
              </a:spcAft>
              <a:defRPr sz="8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6" name="Text Placeholder 45"/>
          <p:cNvSpPr>
            <a:spLocks noGrp="1"/>
          </p:cNvSpPr>
          <p:nvPr>
            <p:ph type="body" sz="quarter" idx="18" hasCustomPrompt="1"/>
          </p:nvPr>
        </p:nvSpPr>
        <p:spPr>
          <a:xfrm>
            <a:off x="1792761" y="860116"/>
            <a:ext cx="4140000" cy="432000"/>
          </a:xfrm>
        </p:spPr>
        <p:txBody>
          <a:bodyPr anchor="ctr"/>
          <a:lstStyle>
            <a:lvl1pPr>
              <a:defRPr sz="1200" b="1">
                <a:latin typeface="+mj-lt"/>
              </a:defRPr>
            </a:lvl1pPr>
            <a:lvl3pPr marL="0" indent="0">
              <a:buNone/>
              <a:defRPr/>
            </a:lvl3pPr>
            <a:lvl4pPr marL="180000" indent="0">
              <a:buNone/>
              <a:defRPr/>
            </a:lvl4pPr>
            <a:lvl5pPr marL="360000" indent="0">
              <a:buNone/>
              <a:defRPr/>
            </a:lvl5pPr>
          </a:lstStyle>
          <a:p>
            <a:pPr lvl="0"/>
            <a:r>
              <a:rPr lang="en-US"/>
              <a:t>Click to edit text styles</a:t>
            </a:r>
          </a:p>
        </p:txBody>
      </p:sp>
      <p:sp>
        <p:nvSpPr>
          <p:cNvPr id="47" name="Text Placeholder 45"/>
          <p:cNvSpPr>
            <a:spLocks noGrp="1"/>
          </p:cNvSpPr>
          <p:nvPr>
            <p:ph type="body" sz="quarter" idx="19" hasCustomPrompt="1"/>
          </p:nvPr>
        </p:nvSpPr>
        <p:spPr>
          <a:xfrm>
            <a:off x="7581702" y="860116"/>
            <a:ext cx="4140000" cy="432000"/>
          </a:xfrm>
        </p:spPr>
        <p:txBody>
          <a:bodyPr anchor="ctr"/>
          <a:lstStyle>
            <a:lvl1pPr>
              <a:defRPr sz="1200" b="1">
                <a:latin typeface="+mj-lt"/>
              </a:defRPr>
            </a:lvl1pPr>
            <a:lvl3pPr marL="0" indent="0">
              <a:buNone/>
              <a:defRPr/>
            </a:lvl3pPr>
            <a:lvl4pPr marL="180000" indent="0">
              <a:buNone/>
              <a:defRPr/>
            </a:lvl4pPr>
            <a:lvl5pPr marL="360000" indent="0">
              <a:buNone/>
              <a:defRPr/>
            </a:lvl5pPr>
          </a:lstStyle>
          <a:p>
            <a:pPr lvl="0"/>
            <a:r>
              <a:rPr lang="en-US"/>
              <a:t>Click to edit text styles</a:t>
            </a:r>
          </a:p>
        </p:txBody>
      </p:sp>
      <p:sp>
        <p:nvSpPr>
          <p:cNvPr id="48" name="Text Placeholder 45"/>
          <p:cNvSpPr>
            <a:spLocks noGrp="1"/>
          </p:cNvSpPr>
          <p:nvPr>
            <p:ph type="body" sz="quarter" idx="20" hasCustomPrompt="1"/>
          </p:nvPr>
        </p:nvSpPr>
        <p:spPr>
          <a:xfrm>
            <a:off x="1792761" y="3714780"/>
            <a:ext cx="4140000" cy="432000"/>
          </a:xfrm>
        </p:spPr>
        <p:txBody>
          <a:bodyPr anchor="ctr"/>
          <a:lstStyle>
            <a:lvl1pPr>
              <a:defRPr sz="1200" b="1">
                <a:latin typeface="+mj-lt"/>
              </a:defRPr>
            </a:lvl1pPr>
            <a:lvl3pPr marL="0" indent="0">
              <a:buNone/>
              <a:defRPr/>
            </a:lvl3pPr>
            <a:lvl4pPr marL="180000" indent="0">
              <a:buNone/>
              <a:defRPr/>
            </a:lvl4pPr>
            <a:lvl5pPr marL="360000" indent="0">
              <a:buNone/>
              <a:defRPr/>
            </a:lvl5pPr>
          </a:lstStyle>
          <a:p>
            <a:pPr lvl="0"/>
            <a:r>
              <a:rPr lang="en-US"/>
              <a:t>Click to edit text styles</a:t>
            </a:r>
          </a:p>
        </p:txBody>
      </p:sp>
      <p:sp>
        <p:nvSpPr>
          <p:cNvPr id="49" name="Text Placeholder 45"/>
          <p:cNvSpPr>
            <a:spLocks noGrp="1"/>
          </p:cNvSpPr>
          <p:nvPr>
            <p:ph type="body" sz="quarter" idx="21" hasCustomPrompt="1"/>
          </p:nvPr>
        </p:nvSpPr>
        <p:spPr>
          <a:xfrm>
            <a:off x="7581702" y="3714780"/>
            <a:ext cx="4140000" cy="432000"/>
          </a:xfrm>
        </p:spPr>
        <p:txBody>
          <a:bodyPr anchor="ctr"/>
          <a:lstStyle>
            <a:lvl1pPr>
              <a:defRPr sz="1200" b="1">
                <a:latin typeface="+mj-lt"/>
              </a:defRPr>
            </a:lvl1pPr>
            <a:lvl3pPr marL="0" indent="0">
              <a:buNone/>
              <a:defRPr/>
            </a:lvl3pPr>
            <a:lvl4pPr marL="180000" indent="0">
              <a:buNone/>
              <a:defRPr/>
            </a:lvl4pPr>
            <a:lvl5pPr marL="360000" indent="0">
              <a:buNone/>
              <a:defRPr/>
            </a:lvl5pPr>
          </a:lstStyle>
          <a:p>
            <a:pPr lvl="0"/>
            <a:r>
              <a:rPr lang="en-US"/>
              <a:t>Click to edit text styles</a:t>
            </a:r>
          </a:p>
        </p:txBody>
      </p:sp>
    </p:spTree>
    <p:extLst>
      <p:ext uri="{BB962C8B-B14F-4D97-AF65-F5344CB8AC3E}">
        <p14:creationId xmlns:p14="http://schemas.microsoft.com/office/powerpoint/2010/main" val="1723630930"/>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439999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grpSp>
        <p:nvGrpSpPr>
          <p:cNvPr id="6" name="Group 5"/>
          <p:cNvGrpSpPr>
            <a:grpSpLocks noChangeAspect="1"/>
          </p:cNvGrpSpPr>
          <p:nvPr userDrawn="1"/>
        </p:nvGrpSpPr>
        <p:grpSpPr>
          <a:xfrm>
            <a:off x="469900" y="457761"/>
            <a:ext cx="1998000" cy="374400"/>
            <a:chOff x="398463" y="404813"/>
            <a:chExt cx="1627187" cy="307976"/>
          </a:xfrm>
          <a:solidFill>
            <a:schemeClr val="tx1"/>
          </a:solidFill>
        </p:grpSpPr>
        <p:sp>
          <p:nvSpPr>
            <p:cNvPr id="7"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8"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9" name="Rectangle 7"/>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0"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1" name="Rectangle 9"/>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2" name="Rectangle 10"/>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3"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4"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5"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6"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3690537551"/>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OQ - Title &amp; subtitle">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411118" y="468166"/>
            <a:ext cx="11188700" cy="757255"/>
          </a:xfrm>
          <a:prstGeom prst="rect">
            <a:avLst/>
          </a:prstGeom>
        </p:spPr>
        <p:txBody>
          <a:bodyPr lIns="0" tIns="0" rIns="0" bIns="0">
            <a:noAutofit/>
          </a:bodyPr>
          <a:lstStyle>
            <a:lvl1pPr marL="0" indent="0">
              <a:buNone/>
              <a:defRPr sz="1600" b="0">
                <a:solidFill>
                  <a:srgbClr val="575757"/>
                </a:solidFill>
                <a:latin typeface="Calibri" panose="020F0502020204030204" pitchFamily="34" charset="0"/>
                <a:cs typeface="Calibri" panose="020F0502020204030204" pitchFamily="34" charset="0"/>
              </a:defRPr>
            </a:lvl1pPr>
          </a:lstStyle>
          <a:p>
            <a:pPr lvl="0"/>
            <a:r>
              <a:rPr lang="en-US"/>
              <a:t>Click to add subtitle</a:t>
            </a:r>
          </a:p>
        </p:txBody>
      </p:sp>
      <p:sp>
        <p:nvSpPr>
          <p:cNvPr id="6" name="Title 1"/>
          <p:cNvSpPr>
            <a:spLocks noGrp="1"/>
          </p:cNvSpPr>
          <p:nvPr>
            <p:ph type="title"/>
          </p:nvPr>
        </p:nvSpPr>
        <p:spPr>
          <a:xfrm>
            <a:off x="411118" y="108609"/>
            <a:ext cx="11369764" cy="388132"/>
          </a:xfrm>
        </p:spPr>
        <p:txBody>
          <a:bodyPr/>
          <a:lstStyle>
            <a:lvl1pPr>
              <a:defRPr>
                <a:latin typeface="Calibri" panose="020F0502020204030204" pitchFamily="34" charset="0"/>
                <a:cs typeface="Calibri" panose="020F0502020204030204" pitchFamily="34" charset="0"/>
              </a:defRPr>
            </a:lvl1pPr>
          </a:lstStyle>
          <a:p>
            <a:r>
              <a:rPr lang="en-US"/>
              <a:t>Click to edit Master title style</a:t>
            </a:r>
            <a:endParaRPr lang="nl-NL"/>
          </a:p>
        </p:txBody>
      </p:sp>
    </p:spTree>
    <p:extLst>
      <p:ext uri="{BB962C8B-B14F-4D97-AF65-F5344CB8AC3E}">
        <p14:creationId xmlns:p14="http://schemas.microsoft.com/office/powerpoint/2010/main" val="109425050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userDrawn="1">
  <p:cSld name="Divider - Deloitte green">
    <p:bg bwMode="gray">
      <p:bgPr>
        <a:solidFill>
          <a:srgbClr val="0097A9"/>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12" name="TextBox 11"/>
          <p:cNvSpPr txBox="1"/>
          <p:nvPr userDrawn="1"/>
        </p:nvSpPr>
        <p:spPr>
          <a:xfrm>
            <a:off x="5825067" y="6477000"/>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4" name="text" descr="{&quot;templafy&quot;:{&quot;id&quot;:&quot;b79eb271-6ad6-479a-b0ed-c0f3f7df00c0&quot;}}" title="UserProfile.Language.Copyright">
            <a:extLst>
              <a:ext uri="{FF2B5EF4-FFF2-40B4-BE49-F238E27FC236}">
                <a16:creationId xmlns:a16="http://schemas.microsoft.com/office/drawing/2014/main" id="{A08BEBEA-FCCE-4749-4A92-9350E0F4EBC0}"/>
              </a:ext>
            </a:extLst>
          </p:cNvPr>
          <p:cNvSpPr txBox="1"/>
          <p:nvPr userDrawn="1"/>
        </p:nvSpPr>
        <p:spPr>
          <a:xfrm>
            <a:off x="418289" y="6642738"/>
            <a:ext cx="3147359" cy="156991"/>
          </a:xfrm>
          <a:prstGeom prst="rect">
            <a:avLst/>
          </a:prstGeom>
          <a:noFill/>
        </p:spPr>
        <p:txBody>
          <a:bodyPr wrap="square" lIns="0" tIns="0" rIns="0" bIns="0" rtlCol="0">
            <a:noAutofit/>
          </a:bodyPr>
          <a:lstStyle/>
          <a:p>
            <a:pPr marL="0" indent="0">
              <a:spcBef>
                <a:spcPts val="800"/>
              </a:spcBef>
              <a:buSzPct val="100000"/>
              <a:buFont typeface="Arial"/>
              <a:buNone/>
            </a:pPr>
            <a:r>
              <a:rPr lang="fr-FR" sz="800">
                <a:solidFill>
                  <a:schemeClr val="bg1"/>
                </a:solidFill>
              </a:rPr>
              <a:t>© </a:t>
            </a:r>
            <a:r>
              <a:rPr lang="en-US" sz="800" noProof="0">
                <a:solidFill>
                  <a:schemeClr val="bg1"/>
                </a:solidFill>
                <a:latin typeface="Verdana" panose="020B0604030504040204" pitchFamily="34" charset="0"/>
                <a:ea typeface="Verdana" panose="020B0604030504040204" pitchFamily="34" charset="0"/>
              </a:rPr>
              <a:t>2023 Deloitte Touche </a:t>
            </a:r>
            <a:r>
              <a:rPr lang="en-US" sz="800" kern="1200" noProof="0">
                <a:solidFill>
                  <a:schemeClr val="bg1"/>
                </a:solidFill>
                <a:latin typeface="Verdana" panose="020B0604030504040204" pitchFamily="34" charset="0"/>
                <a:ea typeface="Verdana" panose="020B0604030504040204" pitchFamily="34" charset="0"/>
                <a:cs typeface="+mn-cs"/>
              </a:rPr>
              <a:t>Tohmatsu</a:t>
            </a:r>
            <a:r>
              <a:rPr lang="en-US" sz="800" noProof="0">
                <a:solidFill>
                  <a:schemeClr val="bg1"/>
                </a:solidFill>
                <a:latin typeface="Verdana" panose="020B0604030504040204" pitchFamily="34" charset="0"/>
                <a:ea typeface="Verdana" panose="020B0604030504040204" pitchFamily="34" charset="0"/>
              </a:rPr>
              <a:t> India LLP</a:t>
            </a:r>
          </a:p>
        </p:txBody>
      </p:sp>
      <p:sp>
        <p:nvSpPr>
          <p:cNvPr id="5" name="TextBox 4">
            <a:extLst>
              <a:ext uri="{FF2B5EF4-FFF2-40B4-BE49-F238E27FC236}">
                <a16:creationId xmlns:a16="http://schemas.microsoft.com/office/drawing/2014/main" id="{5BF01FFE-D45E-7AEB-1740-B08BA2EA05B6}"/>
              </a:ext>
            </a:extLst>
          </p:cNvPr>
          <p:cNvSpPr txBox="1"/>
          <p:nvPr userDrawn="1"/>
        </p:nvSpPr>
        <p:spPr>
          <a:xfrm>
            <a:off x="11423904" y="6635389"/>
            <a:ext cx="360109"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38739374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475325" y="4102100"/>
            <a:ext cx="8555263" cy="2197101"/>
          </a:xfrm>
        </p:spPr>
        <p:txBody>
          <a:bodyPr anchor="b" anchorCtr="0">
            <a:noAutofit/>
          </a:bodyPr>
          <a:lstStyle>
            <a:lvl1pPr>
              <a:lnSpc>
                <a:spcPct val="100000"/>
              </a:lnSpc>
              <a:spcAft>
                <a:spcPts val="800"/>
              </a:spcAft>
              <a:defRPr sz="900"/>
            </a:lvl1pPr>
          </a:lstStyle>
          <a:p>
            <a:pPr lvl="0"/>
            <a:r>
              <a:rPr lang="en-US" noProof="0"/>
              <a:t>Click to edit Master text styles</a:t>
            </a:r>
          </a:p>
        </p:txBody>
      </p:sp>
      <p:sp>
        <p:nvSpPr>
          <p:cNvPr id="3" name="Picture Placeholder 2"/>
          <p:cNvSpPr>
            <a:spLocks noGrp="1"/>
          </p:cNvSpPr>
          <p:nvPr>
            <p:ph type="pic" sz="quarter" idx="14" hasCustomPrompt="1"/>
          </p:nvPr>
        </p:nvSpPr>
        <p:spPr>
          <a:xfrm>
            <a:off x="9402597" y="4102100"/>
            <a:ext cx="2319503" cy="1725448"/>
          </a:xfrm>
        </p:spPr>
        <p:txBody>
          <a:bodyPr anchor="ctr" anchorCtr="0"/>
          <a:lstStyle>
            <a:lvl1pPr algn="ctr">
              <a:defRPr sz="1200"/>
            </a:lvl1pPr>
          </a:lstStyle>
          <a:p>
            <a:r>
              <a:rPr lang="en-US" sz="1200" noProof="0"/>
              <a:t>Insert sponsorship mark here</a:t>
            </a:r>
            <a:endParaRPr lang="en-US" noProof="0"/>
          </a:p>
        </p:txBody>
      </p:sp>
      <p:sp>
        <p:nvSpPr>
          <p:cNvPr id="8" name="Text Placeholder 7"/>
          <p:cNvSpPr>
            <a:spLocks noGrp="1"/>
          </p:cNvSpPr>
          <p:nvPr>
            <p:ph type="body" sz="quarter" idx="15"/>
          </p:nvPr>
        </p:nvSpPr>
        <p:spPr>
          <a:xfrm>
            <a:off x="9402598" y="5935479"/>
            <a:ext cx="2319501" cy="363723"/>
          </a:xfrm>
        </p:spPr>
        <p:txBody>
          <a:bodyPr anchor="b" anchorCtr="0"/>
          <a:lstStyle>
            <a:lvl1pPr>
              <a:lnSpc>
                <a:spcPct val="100000"/>
              </a:lnSpc>
              <a:defRPr sz="1267"/>
            </a:lvl1pPr>
          </a:lstStyle>
          <a:p>
            <a:pPr lvl="0"/>
            <a:r>
              <a:rPr lang="en-US" noProof="0"/>
              <a:t>Click to edit Master text styles</a:t>
            </a:r>
          </a:p>
        </p:txBody>
      </p:sp>
      <p:sp>
        <p:nvSpPr>
          <p:cNvPr id="17" name="Oval 5"/>
          <p:cNvSpPr>
            <a:spLocks noChangeArrowheads="1"/>
          </p:cNvSpPr>
          <p:nvPr userDrawn="1"/>
        </p:nvSpPr>
        <p:spPr bwMode="auto">
          <a:xfrm>
            <a:off x="2416963" y="613472"/>
            <a:ext cx="107209" cy="10614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18" name="Freeform 6"/>
          <p:cNvSpPr>
            <a:spLocks noEditPoints="1"/>
          </p:cNvSpPr>
          <p:nvPr userDrawn="1"/>
        </p:nvSpPr>
        <p:spPr bwMode="auto">
          <a:xfrm>
            <a:off x="526172" y="347147"/>
            <a:ext cx="304086" cy="366679"/>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19" name="Rectangle 7"/>
          <p:cNvSpPr>
            <a:spLocks noChangeArrowheads="1"/>
          </p:cNvSpPr>
          <p:nvPr userDrawn="1"/>
        </p:nvSpPr>
        <p:spPr bwMode="auto">
          <a:xfrm>
            <a:off x="1149938" y="345217"/>
            <a:ext cx="91615" cy="368610"/>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1" name="Freeform 8"/>
          <p:cNvSpPr>
            <a:spLocks noEditPoints="1"/>
          </p:cNvSpPr>
          <p:nvPr userDrawn="1"/>
        </p:nvSpPr>
        <p:spPr bwMode="auto">
          <a:xfrm>
            <a:off x="1278590" y="435922"/>
            <a:ext cx="265101" cy="281764"/>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2" name="Rectangle 9"/>
          <p:cNvSpPr>
            <a:spLocks noChangeArrowheads="1"/>
          </p:cNvSpPr>
          <p:nvPr userDrawn="1"/>
        </p:nvSpPr>
        <p:spPr bwMode="auto">
          <a:xfrm>
            <a:off x="1580726" y="439782"/>
            <a:ext cx="91615" cy="274044"/>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3" name="Rectangle 10"/>
          <p:cNvSpPr>
            <a:spLocks noChangeArrowheads="1"/>
          </p:cNvSpPr>
          <p:nvPr userDrawn="1"/>
        </p:nvSpPr>
        <p:spPr bwMode="auto">
          <a:xfrm>
            <a:off x="1580726" y="345217"/>
            <a:ext cx="91615" cy="61757"/>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4" name="Freeform 11"/>
          <p:cNvSpPr>
            <a:spLocks/>
          </p:cNvSpPr>
          <p:nvPr userDrawn="1"/>
        </p:nvSpPr>
        <p:spPr bwMode="auto">
          <a:xfrm>
            <a:off x="1709378" y="352937"/>
            <a:ext cx="194927" cy="364750"/>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5" name="Freeform 12"/>
          <p:cNvSpPr>
            <a:spLocks/>
          </p:cNvSpPr>
          <p:nvPr userDrawn="1"/>
        </p:nvSpPr>
        <p:spPr bwMode="auto">
          <a:xfrm>
            <a:off x="1921849" y="352937"/>
            <a:ext cx="194927" cy="364750"/>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6" name="Freeform 13"/>
          <p:cNvSpPr>
            <a:spLocks noEditPoints="1"/>
          </p:cNvSpPr>
          <p:nvPr userDrawn="1"/>
        </p:nvSpPr>
        <p:spPr bwMode="auto">
          <a:xfrm>
            <a:off x="2136268" y="435922"/>
            <a:ext cx="259252" cy="281764"/>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7" name="Freeform 14"/>
          <p:cNvSpPr>
            <a:spLocks noEditPoints="1"/>
          </p:cNvSpPr>
          <p:nvPr userDrawn="1"/>
        </p:nvSpPr>
        <p:spPr bwMode="auto">
          <a:xfrm>
            <a:off x="857548" y="435922"/>
            <a:ext cx="257303" cy="281764"/>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Tree>
    <p:extLst>
      <p:ext uri="{BB962C8B-B14F-4D97-AF65-F5344CB8AC3E}">
        <p14:creationId xmlns:p14="http://schemas.microsoft.com/office/powerpoint/2010/main" val="24000959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_Title, subtitle &amp; 1 column tex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225877" y="165101"/>
            <a:ext cx="11441190" cy="762272"/>
          </a:xfrm>
          <a:prstGeom prst="rect">
            <a:avLst/>
          </a:prstGeom>
        </p:spPr>
        <p:txBody>
          <a:bodyPr vert="horz" lIns="0" tIns="0" rIns="0" bIns="0" rtlCol="0" anchor="b"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1" y="1117601"/>
            <a:ext cx="11165416" cy="52616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511561389"/>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solidFill>
          <a:schemeClr val="bg1"/>
        </a:solidFill>
        <a:effectLst/>
      </p:bgPr>
    </p:bg>
    <p:spTree>
      <p:nvGrpSpPr>
        <p:cNvPr id="1" name=""/>
        <p:cNvGrpSpPr/>
        <p:nvPr/>
      </p:nvGrpSpPr>
      <p:grpSpPr>
        <a:xfrm>
          <a:off x="0" y="0"/>
          <a:ext cx="0" cy="0"/>
          <a:chOff x="0" y="0"/>
          <a:chExt cx="0" cy="0"/>
        </a:xfrm>
      </p:grpSpPr>
      <p:pic>
        <p:nvPicPr>
          <p:cNvPr id="5" name="Background Picture 3">
            <a:extLst>
              <a:ext uri="{FF2B5EF4-FFF2-40B4-BE49-F238E27FC236}">
                <a16:creationId xmlns:a16="http://schemas.microsoft.com/office/drawing/2014/main" id="{3097A459-8123-4125-90CF-072079CFE4F2}"/>
              </a:ext>
            </a:extLst>
          </p:cNvPr>
          <p:cNvPicPr>
            <a:picLocks/>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121888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D_ART_Logo_White">
            <a:extLst>
              <a:ext uri="{FF2B5EF4-FFF2-40B4-BE49-F238E27FC236}">
                <a16:creationId xmlns:a16="http://schemas.microsoft.com/office/drawing/2014/main" id="{9F64A820-00DD-4D13-841F-7DFD32A0D842}"/>
              </a:ext>
            </a:extLst>
          </p:cNvPr>
          <p:cNvSpPr/>
          <p:nvPr userDrawn="1"/>
        </p:nvSpPr>
        <p:spPr>
          <a:xfrm>
            <a:off x="474663" y="465138"/>
            <a:ext cx="2286000" cy="1000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9170" eaLnBrk="1" fontAlgn="auto" hangingPunct="1">
              <a:spcBef>
                <a:spcPts val="0"/>
              </a:spcBef>
              <a:spcAft>
                <a:spcPts val="0"/>
              </a:spcAft>
              <a:defRPr/>
            </a:pPr>
            <a:endParaRPr lang="en-GB"/>
          </a:p>
        </p:txBody>
      </p:sp>
      <p:pic>
        <p:nvPicPr>
          <p:cNvPr id="7" name="LogoFrontSlide">
            <a:extLst>
              <a:ext uri="{FF2B5EF4-FFF2-40B4-BE49-F238E27FC236}">
                <a16:creationId xmlns:a16="http://schemas.microsoft.com/office/drawing/2014/main" id="{80A8F85F-1B46-4878-BF5A-BF13ACF2D19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4338" y="503238"/>
            <a:ext cx="1655762"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Picture Placeholder 8"/>
          <p:cNvSpPr>
            <a:spLocks noGrp="1"/>
          </p:cNvSpPr>
          <p:nvPr>
            <p:ph type="pic" sz="quarter" idx="11"/>
          </p:nvPr>
        </p:nvSpPr>
        <p:spPr>
          <a:xfrm>
            <a:off x="3393716" y="727595"/>
            <a:ext cx="5400000" cy="5400000"/>
          </a:xfrm>
          <a:prstGeom prst="rect">
            <a:avLst/>
          </a:prstGeom>
        </p:spPr>
        <p:txBody>
          <a:bodyPr rtlCol="0">
            <a:noAutofit/>
          </a:bodyPr>
          <a:lstStyle>
            <a:lvl1pPr>
              <a:defRPr>
                <a:solidFill>
                  <a:schemeClr val="tx1"/>
                </a:solidFill>
              </a:defRPr>
            </a:lvl1pPr>
          </a:lstStyle>
          <a:p>
            <a:pPr lvl="0"/>
            <a:r>
              <a:rPr lang="en-GB" noProof="0"/>
              <a:t>Click icon to add picture</a:t>
            </a:r>
          </a:p>
        </p:txBody>
      </p:sp>
      <p:sp>
        <p:nvSpPr>
          <p:cNvPr id="2" name="Title"/>
          <p:cNvSpPr>
            <a:spLocks noGrp="1"/>
          </p:cNvSpPr>
          <p:nvPr>
            <p:ph type="ctrTitle"/>
          </p:nvPr>
        </p:nvSpPr>
        <p:spPr bwMode="gray">
          <a:xfrm>
            <a:off x="475200" y="5480578"/>
            <a:ext cx="5620800" cy="324000"/>
          </a:xfrm>
        </p:spPr>
        <p:txBody>
          <a:bodyPr anchor="b">
            <a:noAutofit/>
          </a:bodyPr>
          <a:lstStyle>
            <a:lvl1pPr algn="l">
              <a:lnSpc>
                <a:spcPct val="100000"/>
              </a:lnSpc>
              <a:defRPr sz="1800" b="1">
                <a:solidFill>
                  <a:schemeClr val="tx1"/>
                </a:solidFill>
                <a:latin typeface="+mj-lt"/>
                <a:ea typeface="Open Sans" panose="020B0606030504020204" pitchFamily="34" charset="0"/>
                <a:cs typeface="Open Sans" panose="020B0606030504020204" pitchFamily="34" charset="0"/>
              </a:defRPr>
            </a:lvl1pPr>
          </a:lstStyle>
          <a:p>
            <a:r>
              <a:rPr lang="en-US"/>
              <a:t>Click to edit Master title style</a:t>
            </a:r>
            <a:endParaRPr lang="en-GB" noProof="0"/>
          </a:p>
        </p:txBody>
      </p:sp>
      <p:sp>
        <p:nvSpPr>
          <p:cNvPr id="3" name="Subtitle"/>
          <p:cNvSpPr>
            <a:spLocks noGrp="1"/>
          </p:cNvSpPr>
          <p:nvPr>
            <p:ph type="subTitle" idx="1"/>
          </p:nvPr>
        </p:nvSpPr>
        <p:spPr bwMode="gray">
          <a:xfrm>
            <a:off x="475200" y="5845180"/>
            <a:ext cx="5620800" cy="505645"/>
          </a:xfrm>
          <a:prstGeom prst="rect">
            <a:avLst/>
          </a:prstGeom>
        </p:spPr>
        <p:txBody>
          <a:bodyPr>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pPr lvl="0"/>
            <a:r>
              <a:rPr lang="en-US"/>
              <a:t>Click to edit Master subtitle style</a:t>
            </a:r>
            <a:endParaRPr lang="en-GB"/>
          </a:p>
        </p:txBody>
      </p:sp>
      <p:sp>
        <p:nvSpPr>
          <p:cNvPr id="8" name="Footer Placeholder 3" hidden="1">
            <a:extLst>
              <a:ext uri="{FF2B5EF4-FFF2-40B4-BE49-F238E27FC236}">
                <a16:creationId xmlns:a16="http://schemas.microsoft.com/office/drawing/2014/main" id="{D2463FBD-4621-4182-9E6A-1270FDF34AA7}"/>
              </a:ext>
            </a:extLst>
          </p:cNvPr>
          <p:cNvSpPr>
            <a:spLocks noGrp="1"/>
          </p:cNvSpPr>
          <p:nvPr>
            <p:ph type="ftr" sz="quarter" idx="12"/>
          </p:nvPr>
        </p:nvSpPr>
        <p:spPr>
          <a:xfrm>
            <a:off x="6184900" y="6477000"/>
            <a:ext cx="4537075" cy="244475"/>
          </a:xfrm>
          <a:prstGeom prst="rect">
            <a:avLst/>
          </a:prstGeom>
        </p:spPr>
        <p:txBody>
          <a:bodyPr/>
          <a:lstStyle>
            <a:lvl1pPr defTabSz="1219170" eaLnBrk="1" fontAlgn="auto" hangingPunct="1">
              <a:spcBef>
                <a:spcPts val="0"/>
              </a:spcBef>
              <a:spcAft>
                <a:spcPts val="0"/>
              </a:spcAft>
              <a:defRPr>
                <a:solidFill>
                  <a:schemeClr val="bg1"/>
                </a:solidFill>
                <a:latin typeface="+mn-lt"/>
              </a:defRPr>
            </a:lvl1pPr>
          </a:lstStyle>
          <a:p>
            <a:pPr>
              <a:defRPr/>
            </a:pPr>
            <a:endParaRPr lang="en-GB"/>
          </a:p>
        </p:txBody>
      </p:sp>
    </p:spTree>
    <p:extLst>
      <p:ext uri="{BB962C8B-B14F-4D97-AF65-F5344CB8AC3E}">
        <p14:creationId xmlns:p14="http://schemas.microsoft.com/office/powerpoint/2010/main" val="74434756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bg1"/>
        </a:solidFill>
        <a:effectLst/>
      </p:bgPr>
    </p:bg>
    <p:spTree>
      <p:nvGrpSpPr>
        <p:cNvPr id="1" name=""/>
        <p:cNvGrpSpPr/>
        <p:nvPr/>
      </p:nvGrpSpPr>
      <p:grpSpPr>
        <a:xfrm>
          <a:off x="0" y="0"/>
          <a:ext cx="0" cy="0"/>
          <a:chOff x="0" y="0"/>
          <a:chExt cx="0" cy="0"/>
        </a:xfrm>
      </p:grpSpPr>
      <p:sp>
        <p:nvSpPr>
          <p:cNvPr id="4" name="Colored background">
            <a:extLst>
              <a:ext uri="{FF2B5EF4-FFF2-40B4-BE49-F238E27FC236}">
                <a16:creationId xmlns:a16="http://schemas.microsoft.com/office/drawing/2014/main" id="{77E878B0-2D2D-4289-9CA3-62C4A68DD90A}"/>
              </a:ext>
            </a:extLst>
          </p:cNvPr>
          <p:cNvSpPr>
            <a:spLocks noChangeArrowheads="1"/>
          </p:cNvSpPr>
          <p:nvPr userDrawn="1"/>
        </p:nvSpPr>
        <p:spPr bwMode="gray">
          <a:xfrm>
            <a:off x="0" y="0"/>
            <a:ext cx="12188825" cy="6858000"/>
          </a:xfrm>
          <a:prstGeom prst="rect">
            <a:avLst/>
          </a:prstGeom>
          <a:solidFill>
            <a:srgbClr val="000000"/>
          </a:solidFill>
          <a:ln>
            <a:noFill/>
          </a:ln>
          <a:extLst>
            <a:ext uri="{91240B29-F687-4F45-9708-019B960494DF}">
              <a14:hiddenLine xmlns:a14="http://schemas.microsoft.com/office/drawing/2010/main" w="19050" algn="ctr">
                <a:solidFill>
                  <a:srgbClr val="000000"/>
                </a:solidFill>
                <a:miter lim="800000"/>
                <a:headEnd/>
                <a:tailEnd/>
              </a14:hiddenLine>
            </a:ext>
          </a:extLst>
        </p:spPr>
        <p:txBody>
          <a:bodyPr lIns="88900" tIns="88900" rIns="88900" bIns="88900" anchor="ct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defTabSz="1217613" fontAlgn="base">
              <a:spcBef>
                <a:spcPct val="0"/>
              </a:spcBef>
              <a:spcAft>
                <a:spcPct val="0"/>
              </a:spcAft>
              <a:defRPr sz="2400">
                <a:solidFill>
                  <a:schemeClr val="tx1"/>
                </a:solidFill>
                <a:latin typeface="Verdana" panose="020B0604030504040204" pitchFamily="34" charset="0"/>
              </a:defRPr>
            </a:lvl6pPr>
            <a:lvl7pPr marL="2971800" indent="-228600" defTabSz="1217613" fontAlgn="base">
              <a:spcBef>
                <a:spcPct val="0"/>
              </a:spcBef>
              <a:spcAft>
                <a:spcPct val="0"/>
              </a:spcAft>
              <a:defRPr sz="2400">
                <a:solidFill>
                  <a:schemeClr val="tx1"/>
                </a:solidFill>
                <a:latin typeface="Verdana" panose="020B0604030504040204" pitchFamily="34" charset="0"/>
              </a:defRPr>
            </a:lvl7pPr>
            <a:lvl8pPr marL="3429000" indent="-228600" defTabSz="1217613" fontAlgn="base">
              <a:spcBef>
                <a:spcPct val="0"/>
              </a:spcBef>
              <a:spcAft>
                <a:spcPct val="0"/>
              </a:spcAft>
              <a:defRPr sz="2400">
                <a:solidFill>
                  <a:schemeClr val="tx1"/>
                </a:solidFill>
                <a:latin typeface="Verdana" panose="020B0604030504040204" pitchFamily="34" charset="0"/>
              </a:defRPr>
            </a:lvl8pPr>
            <a:lvl9pPr marL="3886200" indent="-228600" defTabSz="1217613" fontAlgn="base">
              <a:spcBef>
                <a:spcPct val="0"/>
              </a:spcBef>
              <a:spcAft>
                <a:spcPct val="0"/>
              </a:spcAft>
              <a:defRPr sz="2400">
                <a:solidFill>
                  <a:schemeClr val="tx1"/>
                </a:solidFill>
                <a:latin typeface="Verdana" panose="020B0604030504040204" pitchFamily="34" charset="0"/>
              </a:defRPr>
            </a:lvl9pPr>
          </a:lstStyle>
          <a:p>
            <a:pPr algn="ctr" eaLnBrk="1" hangingPunct="1">
              <a:lnSpc>
                <a:spcPct val="106000"/>
              </a:lnSpc>
              <a:buFont typeface="Wingdings 2" panose="05020102010507070707" pitchFamily="18" charset="2"/>
              <a:buNone/>
              <a:defRPr/>
            </a:pPr>
            <a:endParaRPr lang="en-GB" altLang="en-US" sz="1600" b="1"/>
          </a:p>
        </p:txBody>
      </p:sp>
      <p:sp>
        <p:nvSpPr>
          <p:cNvPr id="5" name="TextBox 4">
            <a:extLst>
              <a:ext uri="{FF2B5EF4-FFF2-40B4-BE49-F238E27FC236}">
                <a16:creationId xmlns:a16="http://schemas.microsoft.com/office/drawing/2014/main" id="{0C7B648F-BB72-4CA3-B42B-AC43146B6E5F}"/>
              </a:ext>
            </a:extLst>
          </p:cNvPr>
          <p:cNvSpPr txBox="1">
            <a:spLocks noChangeArrowheads="1"/>
          </p:cNvSpPr>
          <p:nvPr userDrawn="1"/>
        </p:nvSpPr>
        <p:spPr bwMode="auto">
          <a:xfrm>
            <a:off x="11379200" y="6500813"/>
            <a:ext cx="269875" cy="109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defTabSz="1217613" eaLnBrk="0" fontAlgn="base" hangingPunct="0">
              <a:spcBef>
                <a:spcPct val="0"/>
              </a:spcBef>
              <a:spcAft>
                <a:spcPct val="0"/>
              </a:spcAft>
              <a:defRPr sz="2400">
                <a:solidFill>
                  <a:schemeClr val="tx1"/>
                </a:solidFill>
                <a:latin typeface="Verdana" panose="020B0604030504040204" pitchFamily="34" charset="0"/>
              </a:defRPr>
            </a:lvl6pPr>
            <a:lvl7pPr marL="2971800" indent="-228600" defTabSz="1217613" eaLnBrk="0" fontAlgn="base" hangingPunct="0">
              <a:spcBef>
                <a:spcPct val="0"/>
              </a:spcBef>
              <a:spcAft>
                <a:spcPct val="0"/>
              </a:spcAft>
              <a:defRPr sz="2400">
                <a:solidFill>
                  <a:schemeClr val="tx1"/>
                </a:solidFill>
                <a:latin typeface="Verdana" panose="020B0604030504040204" pitchFamily="34" charset="0"/>
              </a:defRPr>
            </a:lvl7pPr>
            <a:lvl8pPr marL="3429000" indent="-228600" defTabSz="1217613" eaLnBrk="0" fontAlgn="base" hangingPunct="0">
              <a:spcBef>
                <a:spcPct val="0"/>
              </a:spcBef>
              <a:spcAft>
                <a:spcPct val="0"/>
              </a:spcAft>
              <a:defRPr sz="2400">
                <a:solidFill>
                  <a:schemeClr val="tx1"/>
                </a:solidFill>
                <a:latin typeface="Verdana" panose="020B0604030504040204" pitchFamily="34" charset="0"/>
              </a:defRPr>
            </a:lvl8pPr>
            <a:lvl9pPr marL="3886200" indent="-228600" defTabSz="1217613" eaLnBrk="0" fontAlgn="base" hangingPunct="0">
              <a:spcBef>
                <a:spcPct val="0"/>
              </a:spcBef>
              <a:spcAft>
                <a:spcPct val="0"/>
              </a:spcAft>
              <a:defRPr sz="2400">
                <a:solidFill>
                  <a:schemeClr val="tx1"/>
                </a:solidFill>
                <a:latin typeface="Verdana" panose="020B0604030504040204" pitchFamily="34" charset="0"/>
              </a:defRPr>
            </a:lvl9pPr>
          </a:lstStyle>
          <a:p>
            <a:pPr algn="r" eaLnBrk="1" hangingPunct="1">
              <a:spcBef>
                <a:spcPts val="663"/>
              </a:spcBef>
              <a:buSzPct val="100000"/>
              <a:buFont typeface="Arial" panose="020B0604020202020204" pitchFamily="34" charset="0"/>
              <a:buNone/>
            </a:pPr>
            <a:fld id="{F8505DBD-F5C7-4D15-BEF3-859FF49152C7}" type="slidenum">
              <a:rPr lang="en-US" altLang="en-US" sz="700"/>
              <a:pPr algn="r" eaLnBrk="1" hangingPunct="1">
                <a:spcBef>
                  <a:spcPts val="663"/>
                </a:spcBef>
                <a:buSzPct val="100000"/>
                <a:buFont typeface="Arial" panose="020B0604020202020204" pitchFamily="34" charset="0"/>
                <a:buNone/>
              </a:pPr>
              <a:t>‹#›</a:t>
            </a:fld>
            <a:endParaRPr lang="en-US" altLang="en-US" sz="700"/>
          </a:p>
        </p:txBody>
      </p:sp>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Tree>
    <p:extLst>
      <p:ext uri="{BB962C8B-B14F-4D97-AF65-F5344CB8AC3E}">
        <p14:creationId xmlns:p14="http://schemas.microsoft.com/office/powerpoint/2010/main" val="428636862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1"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p>
        </p:txBody>
      </p:sp>
      <p:sp>
        <p:nvSpPr>
          <p:cNvPr id="3" name="Text Placeholder 2"/>
          <p:cNvSpPr>
            <a:spLocks noGrp="1"/>
          </p:cNvSpPr>
          <p:nvPr>
            <p:ph type="body" idx="1"/>
          </p:nvPr>
        </p:nvSpPr>
        <p:spPr bwMode="gray">
          <a:xfrm>
            <a:off x="469900" y="3429000"/>
            <a:ext cx="10541000" cy="1566532"/>
          </a:xfrm>
        </p:spPr>
        <p:txBody>
          <a:bodyPr>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8" name="Picture Placeholder 7"/>
          <p:cNvSpPr>
            <a:spLocks noGrp="1"/>
          </p:cNvSpPr>
          <p:nvPr>
            <p:ph type="pic" sz="quarter" idx="11"/>
          </p:nvPr>
        </p:nvSpPr>
        <p:spPr>
          <a:xfrm>
            <a:off x="228600" y="228600"/>
            <a:ext cx="11734800" cy="6400800"/>
          </a:xfrm>
        </p:spPr>
        <p:txBody>
          <a:bodyPr rtlCol="0">
            <a:noAutofit/>
          </a:bodyPr>
          <a:lstStyle/>
          <a:p>
            <a:pPr lvl="0"/>
            <a:endParaRPr lang="en-IN" noProof="0"/>
          </a:p>
        </p:txBody>
      </p:sp>
    </p:spTree>
    <p:extLst>
      <p:ext uri="{BB962C8B-B14F-4D97-AF65-F5344CB8AC3E}">
        <p14:creationId xmlns:p14="http://schemas.microsoft.com/office/powerpoint/2010/main" val="2137427318"/>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Key statement white">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69900"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Edit Master text styles</a:t>
            </a:r>
            <a:endParaRPr lang="en-GB"/>
          </a:p>
        </p:txBody>
      </p:sp>
    </p:spTree>
    <p:extLst>
      <p:ext uri="{BB962C8B-B14F-4D97-AF65-F5344CB8AC3E}">
        <p14:creationId xmlns:p14="http://schemas.microsoft.com/office/powerpoint/2010/main" val="325723074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0" y="402586"/>
            <a:ext cx="11252200" cy="698501"/>
          </a:xfrm>
          <a:prstGeom prst="rect">
            <a:avLst/>
          </a:prstGeom>
        </p:spPr>
        <p:txBody>
          <a:bodyPr rtlCol="0">
            <a:noAutofit/>
          </a:bodyPr>
          <a:lstStyle>
            <a:lvl1pPr>
              <a:defRPr sz="2000"/>
            </a:lvl1pPr>
          </a:lstStyle>
          <a:p>
            <a:r>
              <a:rPr lang="en-GB" noProof="0"/>
              <a:t>Click to edit Master title style</a:t>
            </a:r>
          </a:p>
        </p:txBody>
      </p:sp>
      <p:sp>
        <p:nvSpPr>
          <p:cNvPr id="5" name="Text Placeholder 8"/>
          <p:cNvSpPr>
            <a:spLocks noGrp="1"/>
          </p:cNvSpPr>
          <p:nvPr>
            <p:ph type="body" sz="quarter" idx="13"/>
          </p:nvPr>
        </p:nvSpPr>
        <p:spPr>
          <a:xfrm>
            <a:off x="469900" y="736688"/>
            <a:ext cx="11252200" cy="757255"/>
          </a:xfrm>
          <a:prstGeom prst="rect">
            <a:avLst/>
          </a:prstGeom>
        </p:spPr>
        <p:txBody>
          <a:bodyPr>
            <a:noAutofit/>
          </a:bodyPr>
          <a:lstStyle>
            <a:lvl1pPr marL="0" indent="0">
              <a:buNone/>
              <a:defRPr sz="2000" b="0">
                <a:solidFill>
                  <a:srgbClr val="575757"/>
                </a:solidFill>
              </a:defRPr>
            </a:lvl1pPr>
          </a:lstStyle>
          <a:p>
            <a:pPr lvl="0"/>
            <a:r>
              <a:rPr lang="en-US" noProof="0"/>
              <a:t>Edit Master text styles</a:t>
            </a:r>
          </a:p>
        </p:txBody>
      </p:sp>
      <p:sp>
        <p:nvSpPr>
          <p:cNvPr id="4" name="Content Placeholder 3"/>
          <p:cNvSpPr>
            <a:spLocks noGrp="1"/>
          </p:cNvSpPr>
          <p:nvPr>
            <p:ph sz="quarter" idx="10"/>
          </p:nvPr>
        </p:nvSpPr>
        <p:spPr>
          <a:xfrm>
            <a:off x="469900" y="1665291"/>
            <a:ext cx="9348787" cy="4633910"/>
          </a:xfrm>
          <a:prstGeom prst="rect">
            <a:avLst/>
          </a:prstGeom>
        </p:spPr>
        <p:txBody>
          <a:bodyPr/>
          <a:lstStyle>
            <a:lvl1pPr>
              <a:tabLst>
                <a:tab pos="8972326" algn="r"/>
              </a:tabLst>
              <a:defRPr/>
            </a:lvl1pPr>
            <a:lvl2pPr>
              <a:tabLst>
                <a:tab pos="8972326" algn="r"/>
              </a:tabLst>
              <a:defRPr/>
            </a:lvl2pPr>
            <a:lvl3pPr>
              <a:tabLst>
                <a:tab pos="8972326" algn="r"/>
              </a:tabLst>
              <a:defRPr/>
            </a:lvl3pPr>
            <a:lvl4pPr>
              <a:tabLst>
                <a:tab pos="8972326" algn="r"/>
              </a:tabLst>
              <a:defRPr/>
            </a:lvl4pPr>
            <a:lvl5pPr>
              <a:tabLst>
                <a:tab pos="6705432" algn="r"/>
              </a:tabLst>
              <a:defRPr baseline="0"/>
            </a:lvl5pPr>
            <a:lvl6pPr marL="475188" indent="0">
              <a:buNone/>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GB"/>
              <a:t>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540962120"/>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69900" y="402586"/>
            <a:ext cx="11252200" cy="698501"/>
          </a:xfrm>
          <a:prstGeom prst="rect">
            <a:avLst/>
          </a:prstGeom>
        </p:spPr>
        <p:txBody>
          <a:bodyPr rtlCol="0">
            <a:noAutofit/>
          </a:bodyPr>
          <a:lstStyle>
            <a:lvl1pPr>
              <a:defRPr sz="2000"/>
            </a:lvl1pPr>
          </a:lstStyle>
          <a:p>
            <a:r>
              <a:rPr lang="en-GB" noProof="0"/>
              <a:t>Click to edit Master title style</a:t>
            </a:r>
          </a:p>
        </p:txBody>
      </p:sp>
      <p:sp>
        <p:nvSpPr>
          <p:cNvPr id="9" name="Text Placeholder 8"/>
          <p:cNvSpPr>
            <a:spLocks noGrp="1"/>
          </p:cNvSpPr>
          <p:nvPr>
            <p:ph type="body" sz="quarter" idx="13"/>
          </p:nvPr>
        </p:nvSpPr>
        <p:spPr>
          <a:xfrm>
            <a:off x="469900" y="736688"/>
            <a:ext cx="11252200" cy="757255"/>
          </a:xfrm>
          <a:prstGeom prst="rect">
            <a:avLst/>
          </a:prstGeom>
        </p:spPr>
        <p:txBody>
          <a:bodyPr>
            <a:noAutofit/>
          </a:bodyPr>
          <a:lstStyle>
            <a:lvl1pPr marL="0" indent="0">
              <a:buNone/>
              <a:defRPr sz="2000" b="0">
                <a:solidFill>
                  <a:srgbClr val="575757"/>
                </a:solidFill>
              </a:defRPr>
            </a:lvl1pPr>
          </a:lstStyle>
          <a:p>
            <a:pPr lvl="0"/>
            <a:r>
              <a:rPr lang="en-US" noProof="0"/>
              <a:t>Edit Master text styles</a:t>
            </a:r>
          </a:p>
        </p:txBody>
      </p:sp>
      <p:sp>
        <p:nvSpPr>
          <p:cNvPr id="8" name="Text Placeholder 18"/>
          <p:cNvSpPr>
            <a:spLocks noGrp="1"/>
          </p:cNvSpPr>
          <p:nvPr>
            <p:ph idx="1"/>
          </p:nvPr>
        </p:nvSpPr>
        <p:spPr>
          <a:xfrm>
            <a:off x="469900" y="1665818"/>
            <a:ext cx="11252200" cy="4633383"/>
          </a:xfrm>
          <a:prstGeom prst="rect">
            <a:avLst/>
          </a:prstGeom>
        </p:spPr>
        <p:txBody>
          <a:bodyPr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Tree>
    <p:extLst>
      <p:ext uri="{BB962C8B-B14F-4D97-AF65-F5344CB8AC3E}">
        <p14:creationId xmlns:p14="http://schemas.microsoft.com/office/powerpoint/2010/main" val="3284813904"/>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4" name="LEG_DisclaimerPowerPoint">
            <a:extLst>
              <a:ext uri="{FF2B5EF4-FFF2-40B4-BE49-F238E27FC236}">
                <a16:creationId xmlns:a16="http://schemas.microsoft.com/office/drawing/2014/main" id="{91840E8A-061E-477C-9213-E764AF4DB390}"/>
              </a:ext>
            </a:extLst>
          </p:cNvPr>
          <p:cNvSpPr>
            <a:spLocks/>
          </p:cNvSpPr>
          <p:nvPr userDrawn="1"/>
        </p:nvSpPr>
        <p:spPr bwMode="auto">
          <a:xfrm>
            <a:off x="474663" y="3429000"/>
            <a:ext cx="8556625" cy="28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defTabSz="1019175">
              <a:defRPr sz="2400">
                <a:solidFill>
                  <a:schemeClr val="tx1"/>
                </a:solidFill>
                <a:latin typeface="Verdana" panose="020B0604030504040204" pitchFamily="34" charset="0"/>
              </a:defRPr>
            </a:lvl1pPr>
            <a:lvl2pPr marL="742950" indent="-285750" defTabSz="1019175">
              <a:defRPr sz="2400">
                <a:solidFill>
                  <a:schemeClr val="tx1"/>
                </a:solidFill>
                <a:latin typeface="Verdana" panose="020B0604030504040204" pitchFamily="34" charset="0"/>
              </a:defRPr>
            </a:lvl2pPr>
            <a:lvl3pPr marL="1143000" indent="-228600" defTabSz="1019175">
              <a:defRPr sz="2400">
                <a:solidFill>
                  <a:schemeClr val="tx1"/>
                </a:solidFill>
                <a:latin typeface="Verdana" panose="020B0604030504040204" pitchFamily="34" charset="0"/>
              </a:defRPr>
            </a:lvl3pPr>
            <a:lvl4pPr marL="1600200" indent="-228600" defTabSz="1019175">
              <a:defRPr sz="2400">
                <a:solidFill>
                  <a:schemeClr val="tx1"/>
                </a:solidFill>
                <a:latin typeface="Verdana" panose="020B0604030504040204" pitchFamily="34" charset="0"/>
              </a:defRPr>
            </a:lvl4pPr>
            <a:lvl5pPr marL="2057400" indent="-228600" defTabSz="1019175">
              <a:defRPr sz="2400">
                <a:solidFill>
                  <a:schemeClr val="tx1"/>
                </a:solidFill>
                <a:latin typeface="Verdana" panose="020B0604030504040204" pitchFamily="34" charset="0"/>
              </a:defRPr>
            </a:lvl5pPr>
            <a:lvl6pPr marL="2514600" indent="-228600" defTabSz="1019175" fontAlgn="base">
              <a:spcBef>
                <a:spcPct val="0"/>
              </a:spcBef>
              <a:spcAft>
                <a:spcPct val="0"/>
              </a:spcAft>
              <a:defRPr sz="2400">
                <a:solidFill>
                  <a:schemeClr val="tx1"/>
                </a:solidFill>
                <a:latin typeface="Verdana" panose="020B0604030504040204" pitchFamily="34" charset="0"/>
              </a:defRPr>
            </a:lvl6pPr>
            <a:lvl7pPr marL="2971800" indent="-228600" defTabSz="1019175" fontAlgn="base">
              <a:spcBef>
                <a:spcPct val="0"/>
              </a:spcBef>
              <a:spcAft>
                <a:spcPct val="0"/>
              </a:spcAft>
              <a:defRPr sz="2400">
                <a:solidFill>
                  <a:schemeClr val="tx1"/>
                </a:solidFill>
                <a:latin typeface="Verdana" panose="020B0604030504040204" pitchFamily="34" charset="0"/>
              </a:defRPr>
            </a:lvl7pPr>
            <a:lvl8pPr marL="3429000" indent="-228600" defTabSz="1019175" fontAlgn="base">
              <a:spcBef>
                <a:spcPct val="0"/>
              </a:spcBef>
              <a:spcAft>
                <a:spcPct val="0"/>
              </a:spcAft>
              <a:defRPr sz="2400">
                <a:solidFill>
                  <a:schemeClr val="tx1"/>
                </a:solidFill>
                <a:latin typeface="Verdana" panose="020B0604030504040204" pitchFamily="34" charset="0"/>
              </a:defRPr>
            </a:lvl8pPr>
            <a:lvl9pPr marL="3886200" indent="-228600" defTabSz="1019175" fontAlgn="base">
              <a:spcBef>
                <a:spcPct val="0"/>
              </a:spcBef>
              <a:spcAft>
                <a:spcPct val="0"/>
              </a:spcAft>
              <a:defRPr sz="2400">
                <a:solidFill>
                  <a:schemeClr val="tx1"/>
                </a:solidFill>
                <a:latin typeface="Verdana" panose="020B0604030504040204" pitchFamily="34" charset="0"/>
              </a:defRPr>
            </a:lvl9pPr>
          </a:lstStyle>
          <a:p>
            <a:pPr eaLnBrk="1" hangingPunct="1">
              <a:buClr>
                <a:schemeClr val="tx1"/>
              </a:buClr>
              <a:buSzPct val="80000"/>
              <a:buFont typeface="Wingdings" panose="05000000000000000000" pitchFamily="2" charset="2"/>
              <a:buNone/>
              <a:defRPr/>
            </a:pPr>
            <a:r>
              <a:rPr lang="en-IN" altLang="en-US" sz="900" noProof="1"/>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eaLnBrk="1" hangingPunct="1">
              <a:buClr>
                <a:schemeClr val="tx1"/>
              </a:buClr>
              <a:buSzPct val="80000"/>
              <a:buFont typeface="Wingdings" panose="05000000000000000000" pitchFamily="2" charset="2"/>
              <a:buNone/>
              <a:defRPr/>
            </a:pPr>
            <a:endParaRPr lang="en-IN" altLang="en-US" sz="900" noProof="1"/>
          </a:p>
          <a:p>
            <a:pPr eaLnBrk="1" hangingPunct="1">
              <a:buClr>
                <a:schemeClr val="tx1"/>
              </a:buClr>
              <a:buSzPct val="80000"/>
              <a:buFont typeface="Wingdings" panose="05000000000000000000" pitchFamily="2" charset="2"/>
              <a:buNone/>
              <a:defRPr/>
            </a:pPr>
            <a:r>
              <a:rPr lang="en-IN" altLang="en-US" sz="900" noProof="1"/>
              <a:t>This material has been prepared by Deloitte Touche Tohmatsu India LLP (“DTTILLP”), a member of Deloitte Touche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eaLnBrk="1" hangingPunct="1">
              <a:buClr>
                <a:schemeClr val="tx1"/>
              </a:buClr>
              <a:buSzPct val="80000"/>
              <a:buFont typeface="Wingdings" panose="05000000000000000000" pitchFamily="2" charset="2"/>
              <a:buNone/>
              <a:defRPr/>
            </a:pPr>
            <a:r>
              <a:rPr lang="en-IN" altLang="en-US" sz="900" noProof="1"/>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eaLnBrk="1" hangingPunct="1">
              <a:buClr>
                <a:schemeClr val="tx1"/>
              </a:buClr>
              <a:buSzPct val="80000"/>
              <a:buFont typeface="Wingdings" panose="05000000000000000000" pitchFamily="2" charset="2"/>
              <a:buNone/>
              <a:defRPr/>
            </a:pPr>
            <a:endParaRPr lang="en-IN" altLang="en-US" sz="900" noProof="1"/>
          </a:p>
          <a:p>
            <a:pPr eaLnBrk="1" hangingPunct="1">
              <a:buClr>
                <a:schemeClr val="tx1"/>
              </a:buClr>
              <a:buSzPct val="80000"/>
              <a:buFont typeface="Wingdings" panose="05000000000000000000" pitchFamily="2" charset="2"/>
              <a:buNone/>
              <a:defRPr/>
            </a:pPr>
            <a:r>
              <a:rPr lang="en-IN" altLang="en-US" sz="900" noProof="1"/>
              <a:t>©2023 Deloitte Touche Tohmatsu India LLP. Member of Deloitte Touche Tohmatsu Limited</a:t>
            </a:r>
          </a:p>
          <a:p>
            <a:pPr eaLnBrk="1" hangingPunct="1">
              <a:buClr>
                <a:schemeClr val="tx1"/>
              </a:buClr>
              <a:buSzPct val="80000"/>
              <a:buFont typeface="Wingdings" panose="05000000000000000000" pitchFamily="2" charset="2"/>
              <a:buNone/>
              <a:defRPr/>
            </a:pPr>
            <a:endParaRPr lang="en-IN" altLang="en-US" sz="900" noProof="1"/>
          </a:p>
          <a:p>
            <a:pPr eaLnBrk="1" hangingPunct="1">
              <a:buClr>
                <a:schemeClr val="tx1"/>
              </a:buClr>
              <a:buSzPct val="80000"/>
              <a:buFont typeface="Wingdings" panose="05000000000000000000" pitchFamily="2" charset="2"/>
              <a:buNone/>
              <a:defRPr/>
            </a:pPr>
            <a:r>
              <a:rPr lang="en-IN" altLang="en-US" sz="900" noProof="1"/>
              <a:t>Deloitte Touche Tohmatsu India Private Limited (U74140MH199 5PTC093339), a private company limited by shares, was converted into Deloitte Touche Tohmatsu India LLP, a limited liability partnership (LLP Identification No. AAE-8458),with effect from October 1, 2015.</a:t>
            </a:r>
          </a:p>
        </p:txBody>
      </p:sp>
      <p:sp>
        <p:nvSpPr>
          <p:cNvPr id="5" name="SD_ART_Logo">
            <a:extLst>
              <a:ext uri="{FF2B5EF4-FFF2-40B4-BE49-F238E27FC236}">
                <a16:creationId xmlns:a16="http://schemas.microsoft.com/office/drawing/2014/main" id="{2F3F71EA-E271-41B3-A5C3-885B3024D894}"/>
              </a:ext>
            </a:extLst>
          </p:cNvPr>
          <p:cNvSpPr/>
          <p:nvPr userDrawn="1"/>
        </p:nvSpPr>
        <p:spPr>
          <a:xfrm>
            <a:off x="474663" y="465138"/>
            <a:ext cx="2286000" cy="1000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9170" eaLnBrk="1" fontAlgn="auto" hangingPunct="1">
              <a:spcBef>
                <a:spcPts val="0"/>
              </a:spcBef>
              <a:spcAft>
                <a:spcPts val="0"/>
              </a:spcAft>
              <a:defRPr/>
            </a:pPr>
            <a:endParaRPr lang="en-GB"/>
          </a:p>
        </p:txBody>
      </p:sp>
      <p:pic>
        <p:nvPicPr>
          <p:cNvPr id="6" name="LogoDisclaimerPage">
            <a:extLst>
              <a:ext uri="{FF2B5EF4-FFF2-40B4-BE49-F238E27FC236}">
                <a16:creationId xmlns:a16="http://schemas.microsoft.com/office/drawing/2014/main" id="{B842B163-66E0-400D-9C5C-8EEF4F6ED2C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4663" y="465138"/>
            <a:ext cx="1655762"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Picture Placeholder 2"/>
          <p:cNvSpPr>
            <a:spLocks noGrp="1"/>
          </p:cNvSpPr>
          <p:nvPr>
            <p:ph type="pic" sz="quarter" idx="14"/>
          </p:nvPr>
        </p:nvSpPr>
        <p:spPr>
          <a:xfrm>
            <a:off x="9402597" y="4102100"/>
            <a:ext cx="2319503" cy="1725448"/>
          </a:xfrm>
        </p:spPr>
        <p:txBody>
          <a:bodyPr rtlCol="0" anchor="ctr">
            <a:noAutofit/>
          </a:bodyPr>
          <a:lstStyle>
            <a:lvl1pPr algn="ctr">
              <a:defRPr sz="1200"/>
            </a:lvl1pPr>
          </a:lstStyle>
          <a:p>
            <a:pPr lvl="0"/>
            <a:r>
              <a:rPr lang="en-US" noProof="0"/>
              <a:t>Click icon to add picture</a:t>
            </a:r>
            <a:endParaRPr lang="en-GB" noProof="0"/>
          </a:p>
        </p:txBody>
      </p:sp>
      <p:sp>
        <p:nvSpPr>
          <p:cNvPr id="8" name="Text Placeholder 7"/>
          <p:cNvSpPr>
            <a:spLocks noGrp="1"/>
          </p:cNvSpPr>
          <p:nvPr>
            <p:ph type="body" sz="quarter" idx="15"/>
          </p:nvPr>
        </p:nvSpPr>
        <p:spPr>
          <a:xfrm>
            <a:off x="9402598" y="5935479"/>
            <a:ext cx="2319501" cy="363723"/>
          </a:xfrm>
        </p:spPr>
        <p:txBody>
          <a:bodyPr anchor="b"/>
          <a:lstStyle>
            <a:lvl1pPr>
              <a:lnSpc>
                <a:spcPct val="100000"/>
              </a:lnSpc>
              <a:defRPr sz="1267"/>
            </a:lvl1pPr>
          </a:lstStyle>
          <a:p>
            <a:pPr lvl="0"/>
            <a:r>
              <a:rPr lang="en-GB" noProof="0"/>
              <a:t>Edit Master text styles</a:t>
            </a:r>
            <a:endParaRPr lang="en-GB"/>
          </a:p>
        </p:txBody>
      </p:sp>
    </p:spTree>
    <p:extLst>
      <p:ext uri="{BB962C8B-B14F-4D97-AF65-F5344CB8AC3E}">
        <p14:creationId xmlns:p14="http://schemas.microsoft.com/office/powerpoint/2010/main" val="305242220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DB426CA9-5751-4AF8-97B7-BA81120A0C00}"/>
              </a:ext>
            </a:extLst>
          </p:cNvPr>
          <p:cNvGrpSpPr>
            <a:grpSpLocks noChangeAspect="1"/>
          </p:cNvGrpSpPr>
          <p:nvPr userDrawn="1"/>
        </p:nvGrpSpPr>
        <p:grpSpPr>
          <a:xfrm>
            <a:off x="475325" y="457200"/>
            <a:ext cx="1998000" cy="374400"/>
            <a:chOff x="398463" y="404813"/>
            <a:chExt cx="1627187" cy="307976"/>
          </a:xfrm>
          <a:solidFill>
            <a:schemeClr val="tx1"/>
          </a:solidFill>
        </p:grpSpPr>
        <p:sp>
          <p:nvSpPr>
            <p:cNvPr id="7" name="Oval 5">
              <a:extLst>
                <a:ext uri="{FF2B5EF4-FFF2-40B4-BE49-F238E27FC236}">
                  <a16:creationId xmlns:a16="http://schemas.microsoft.com/office/drawing/2014/main" id="{366ADD15-0E4A-4375-8799-5038DD069DC6}"/>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9" name="Freeform 6">
              <a:extLst>
                <a:ext uri="{FF2B5EF4-FFF2-40B4-BE49-F238E27FC236}">
                  <a16:creationId xmlns:a16="http://schemas.microsoft.com/office/drawing/2014/main" id="{C1CDB9EF-D4B3-43A4-B9AE-0D3C54E4B8E8}"/>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10" name="Rectangle 7">
              <a:extLst>
                <a:ext uri="{FF2B5EF4-FFF2-40B4-BE49-F238E27FC236}">
                  <a16:creationId xmlns:a16="http://schemas.microsoft.com/office/drawing/2014/main" id="{FCCA16FD-1D13-4B01-88EC-CB922B50681C}"/>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11" name="Freeform 8">
              <a:extLst>
                <a:ext uri="{FF2B5EF4-FFF2-40B4-BE49-F238E27FC236}">
                  <a16:creationId xmlns:a16="http://schemas.microsoft.com/office/drawing/2014/main" id="{41AD0E19-7C01-4C9B-8BFF-29FA6590B001}"/>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12" name="Rectangle 9">
              <a:extLst>
                <a:ext uri="{FF2B5EF4-FFF2-40B4-BE49-F238E27FC236}">
                  <a16:creationId xmlns:a16="http://schemas.microsoft.com/office/drawing/2014/main" id="{EDF0B31B-4537-4F46-A5DA-1DAAFCB92246}"/>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13" name="Rectangle 10">
              <a:extLst>
                <a:ext uri="{FF2B5EF4-FFF2-40B4-BE49-F238E27FC236}">
                  <a16:creationId xmlns:a16="http://schemas.microsoft.com/office/drawing/2014/main" id="{B0B871F5-1A31-48B4-B34D-2BE859FFC5D9}"/>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14" name="Freeform 11">
              <a:extLst>
                <a:ext uri="{FF2B5EF4-FFF2-40B4-BE49-F238E27FC236}">
                  <a16:creationId xmlns:a16="http://schemas.microsoft.com/office/drawing/2014/main" id="{0FE25ACF-6D6B-490B-A78D-554A4D1F815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15" name="Freeform 12">
              <a:extLst>
                <a:ext uri="{FF2B5EF4-FFF2-40B4-BE49-F238E27FC236}">
                  <a16:creationId xmlns:a16="http://schemas.microsoft.com/office/drawing/2014/main" id="{21977E01-724B-475B-92E3-230F6B948DCE}"/>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16" name="Freeform 13">
              <a:extLst>
                <a:ext uri="{FF2B5EF4-FFF2-40B4-BE49-F238E27FC236}">
                  <a16:creationId xmlns:a16="http://schemas.microsoft.com/office/drawing/2014/main" id="{517AD7A4-16CB-42D7-99B5-0D127B9B3131}"/>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17" name="Freeform 14">
              <a:extLst>
                <a:ext uri="{FF2B5EF4-FFF2-40B4-BE49-F238E27FC236}">
                  <a16:creationId xmlns:a16="http://schemas.microsoft.com/office/drawing/2014/main" id="{020F760E-C173-4453-A929-4315D9FAFD5B}"/>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grpSp>
      <p:sp>
        <p:nvSpPr>
          <p:cNvPr id="6" name="Text Placeholder 5"/>
          <p:cNvSpPr>
            <a:spLocks noGrp="1"/>
          </p:cNvSpPr>
          <p:nvPr>
            <p:ph type="body" sz="quarter" idx="13"/>
          </p:nvPr>
        </p:nvSpPr>
        <p:spPr>
          <a:xfrm>
            <a:off x="475325" y="4102100"/>
            <a:ext cx="8555263" cy="2197101"/>
          </a:xfrm>
        </p:spPr>
        <p:txBody>
          <a:bodyPr anchor="b">
            <a:noAutofit/>
          </a:bodyPr>
          <a:lstStyle>
            <a:lvl1pPr>
              <a:lnSpc>
                <a:spcPct val="100000"/>
              </a:lnSpc>
              <a:spcAft>
                <a:spcPts val="800"/>
              </a:spcAft>
              <a:defRPr sz="900"/>
            </a:lvl1pPr>
          </a:lstStyle>
          <a:p>
            <a:pPr lvl="0"/>
            <a:r>
              <a:rPr lang="en-US" noProof="0"/>
              <a:t>Click to edit Master text styles</a:t>
            </a:r>
          </a:p>
        </p:txBody>
      </p:sp>
      <p:sp>
        <p:nvSpPr>
          <p:cNvPr id="3" name="Picture Placeholder 2"/>
          <p:cNvSpPr>
            <a:spLocks noGrp="1"/>
          </p:cNvSpPr>
          <p:nvPr>
            <p:ph type="pic" sz="quarter" idx="14"/>
          </p:nvPr>
        </p:nvSpPr>
        <p:spPr>
          <a:xfrm>
            <a:off x="9402597" y="4102100"/>
            <a:ext cx="2319503" cy="1725448"/>
          </a:xfrm>
        </p:spPr>
        <p:txBody>
          <a:bodyPr rtlCol="0" anchor="ctr">
            <a:noAutofit/>
          </a:bodyPr>
          <a:lstStyle>
            <a:lvl1pPr algn="ctr">
              <a:defRPr sz="1200"/>
            </a:lvl1pPr>
          </a:lstStyle>
          <a:p>
            <a:pPr lvl="0"/>
            <a:r>
              <a:rPr lang="en-US" noProof="0"/>
              <a:t>Click icon to add picture</a:t>
            </a:r>
          </a:p>
        </p:txBody>
      </p:sp>
      <p:sp>
        <p:nvSpPr>
          <p:cNvPr id="8" name="Text Placeholder 7"/>
          <p:cNvSpPr>
            <a:spLocks noGrp="1"/>
          </p:cNvSpPr>
          <p:nvPr>
            <p:ph type="body" sz="quarter" idx="15"/>
          </p:nvPr>
        </p:nvSpPr>
        <p:spPr>
          <a:xfrm>
            <a:off x="9402598" y="5935479"/>
            <a:ext cx="2319501" cy="363723"/>
          </a:xfrm>
        </p:spPr>
        <p:txBody>
          <a:bodyPr anchor="b"/>
          <a:lstStyle>
            <a:lvl1pPr>
              <a:lnSpc>
                <a:spcPct val="100000"/>
              </a:lnSpc>
              <a:defRPr sz="1267"/>
            </a:lvl1pPr>
          </a:lstStyle>
          <a:p>
            <a:pPr lvl="0"/>
            <a:r>
              <a:rPr lang="en-US" noProof="0"/>
              <a:t>Click to edit Master text styles</a:t>
            </a:r>
          </a:p>
        </p:txBody>
      </p:sp>
    </p:spTree>
    <p:extLst>
      <p:ext uri="{BB962C8B-B14F-4D97-AF65-F5344CB8AC3E}">
        <p14:creationId xmlns:p14="http://schemas.microsoft.com/office/powerpoint/2010/main" val="338007746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userDrawn="1">
  <p:cSld name="1_Title Slide - Black">
    <p:bg bwMode="gray">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F7D807B3-9E84-4865-99BD-42D78DB597DD}"/>
              </a:ext>
            </a:extLst>
          </p:cNvPr>
          <p:cNvGrpSpPr>
            <a:grpSpLocks noChangeAspect="1"/>
          </p:cNvGrpSpPr>
          <p:nvPr userDrawn="1"/>
        </p:nvGrpSpPr>
        <p:grpSpPr>
          <a:xfrm>
            <a:off x="469900" y="457761"/>
            <a:ext cx="1998000" cy="374400"/>
            <a:chOff x="398463" y="404813"/>
            <a:chExt cx="1627187" cy="307976"/>
          </a:xfrm>
          <a:solidFill>
            <a:schemeClr val="tx1"/>
          </a:solidFill>
        </p:grpSpPr>
        <p:sp>
          <p:nvSpPr>
            <p:cNvPr id="7" name="Oval 5">
              <a:extLst>
                <a:ext uri="{FF2B5EF4-FFF2-40B4-BE49-F238E27FC236}">
                  <a16:creationId xmlns:a16="http://schemas.microsoft.com/office/drawing/2014/main" id="{82A75DEB-D873-4D01-8A8C-A02C5997C8B0}"/>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8" name="Freeform 6">
              <a:extLst>
                <a:ext uri="{FF2B5EF4-FFF2-40B4-BE49-F238E27FC236}">
                  <a16:creationId xmlns:a16="http://schemas.microsoft.com/office/drawing/2014/main" id="{D9DE406F-16A1-4EE3-AB2D-6F06D17D613F}"/>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9" name="Rectangle 7">
              <a:extLst>
                <a:ext uri="{FF2B5EF4-FFF2-40B4-BE49-F238E27FC236}">
                  <a16:creationId xmlns:a16="http://schemas.microsoft.com/office/drawing/2014/main" id="{0FBAB793-9A14-44D2-BC8C-3B6FFBD48763}"/>
                </a:ext>
              </a:extLst>
            </p:cNvPr>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10" name="Freeform 8">
              <a:extLst>
                <a:ext uri="{FF2B5EF4-FFF2-40B4-BE49-F238E27FC236}">
                  <a16:creationId xmlns:a16="http://schemas.microsoft.com/office/drawing/2014/main" id="{01B0123C-9CF0-4FA2-A6A9-A34159027AF3}"/>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11" name="Rectangle 9">
              <a:extLst>
                <a:ext uri="{FF2B5EF4-FFF2-40B4-BE49-F238E27FC236}">
                  <a16:creationId xmlns:a16="http://schemas.microsoft.com/office/drawing/2014/main" id="{E5F976EF-C4FC-46DE-B08C-3D042103A755}"/>
                </a:ext>
              </a:extLst>
            </p:cNvPr>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12" name="Rectangle 10">
              <a:extLst>
                <a:ext uri="{FF2B5EF4-FFF2-40B4-BE49-F238E27FC236}">
                  <a16:creationId xmlns:a16="http://schemas.microsoft.com/office/drawing/2014/main" id="{DA17760B-E0AF-4CD3-8F78-E6C8911A69DE}"/>
                </a:ext>
              </a:extLst>
            </p:cNvPr>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13" name="Freeform 11">
              <a:extLst>
                <a:ext uri="{FF2B5EF4-FFF2-40B4-BE49-F238E27FC236}">
                  <a16:creationId xmlns:a16="http://schemas.microsoft.com/office/drawing/2014/main" id="{46A8B68E-2340-4F9A-B2DA-9BD4A17C98A2}"/>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14" name="Freeform 12">
              <a:extLst>
                <a:ext uri="{FF2B5EF4-FFF2-40B4-BE49-F238E27FC236}">
                  <a16:creationId xmlns:a16="http://schemas.microsoft.com/office/drawing/2014/main" id="{7E493A86-43FE-496B-B3BE-36AAE6E205B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15" name="Freeform 13">
              <a:extLst>
                <a:ext uri="{FF2B5EF4-FFF2-40B4-BE49-F238E27FC236}">
                  <a16:creationId xmlns:a16="http://schemas.microsoft.com/office/drawing/2014/main" id="{A03E540C-158C-4589-AE07-8D4013D5D2E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16" name="Freeform 14">
              <a:extLst>
                <a:ext uri="{FF2B5EF4-FFF2-40B4-BE49-F238E27FC236}">
                  <a16:creationId xmlns:a16="http://schemas.microsoft.com/office/drawing/2014/main" id="{CB6CF1FF-7D28-42AD-BE73-8BAEA3E01387}"/>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grpSp>
      <p:sp>
        <p:nvSpPr>
          <p:cNvPr id="3" name="Subtitle 2"/>
          <p:cNvSpPr>
            <a:spLocks noGrp="1"/>
          </p:cNvSpPr>
          <p:nvPr>
            <p:ph type="subTitle" idx="1"/>
          </p:nvPr>
        </p:nvSpPr>
        <p:spPr bwMode="gray">
          <a:xfrm>
            <a:off x="475200" y="5845180"/>
            <a:ext cx="5592011" cy="505645"/>
          </a:xfrm>
          <a:prstGeom prst="rect">
            <a:avLst/>
          </a:prstGeom>
        </p:spPr>
        <p:txBody>
          <a:bodyPr anchor="b">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33" name="Picture Placeholder 8"/>
          <p:cNvSpPr>
            <a:spLocks noGrp="1"/>
          </p:cNvSpPr>
          <p:nvPr>
            <p:ph type="pic" sz="quarter" idx="11"/>
          </p:nvPr>
        </p:nvSpPr>
        <p:spPr>
          <a:xfrm>
            <a:off x="3393716" y="727595"/>
            <a:ext cx="5400000" cy="5400000"/>
          </a:xfrm>
          <a:prstGeom prst="rect">
            <a:avLst/>
          </a:prstGeom>
        </p:spPr>
        <p:txBody>
          <a:bodyPr rtlCol="0">
            <a:noAutofit/>
          </a:bodyPr>
          <a:lstStyle/>
          <a:p>
            <a:pPr lvl="0"/>
            <a:r>
              <a:rPr lang="en-US" noProof="0"/>
              <a:t>Click icon to add picture</a:t>
            </a:r>
          </a:p>
        </p:txBody>
      </p:sp>
    </p:spTree>
    <p:extLst>
      <p:ext uri="{BB962C8B-B14F-4D97-AF65-F5344CB8AC3E}">
        <p14:creationId xmlns:p14="http://schemas.microsoft.com/office/powerpoint/2010/main" val="30560328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_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9900" y="1665290"/>
            <a:ext cx="11252200" cy="4633911"/>
          </a:xfrm>
          <a:prstGeom prst="rect">
            <a:avLst/>
          </a:prstGeom>
        </p:spPr>
        <p:txBody>
          <a:bodyPr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8"/>
          <p:cNvSpPr>
            <a:spLocks noGrp="1"/>
          </p:cNvSpPr>
          <p:nvPr>
            <p:ph type="body" sz="quarter" idx="13"/>
          </p:nvPr>
        </p:nvSpPr>
        <p:spPr>
          <a:xfrm>
            <a:off x="469900" y="736688"/>
            <a:ext cx="11252200" cy="757255"/>
          </a:xfrm>
          <a:prstGeom prst="rect">
            <a:avLst/>
          </a:prstGeom>
        </p:spPr>
        <p:txBody>
          <a:bodyPr>
            <a:noAutofit/>
          </a:bodyPr>
          <a:lstStyle>
            <a:lvl1pPr marL="0" indent="0">
              <a:buNone/>
              <a:defRPr sz="2000" b="0">
                <a:solidFill>
                  <a:srgbClr val="575757"/>
                </a:solidFill>
              </a:defRPr>
            </a:lvl1pPr>
          </a:lstStyle>
          <a:p>
            <a:pPr lvl="0"/>
            <a:r>
              <a:rPr lang="en-US" noProof="0"/>
              <a:t>Edit Master text styles</a:t>
            </a:r>
          </a:p>
        </p:txBody>
      </p:sp>
      <p:sp>
        <p:nvSpPr>
          <p:cNvPr id="5" name="Title Placeholder 1"/>
          <p:cNvSpPr>
            <a:spLocks noGrp="1"/>
          </p:cNvSpPr>
          <p:nvPr>
            <p:ph type="title"/>
          </p:nvPr>
        </p:nvSpPr>
        <p:spPr>
          <a:xfrm>
            <a:off x="469900" y="402587"/>
            <a:ext cx="11252200" cy="334102"/>
          </a:xfrm>
          <a:prstGeom prst="rect">
            <a:avLst/>
          </a:prstGeom>
        </p:spPr>
        <p:txBody>
          <a:bodyPr rtlCol="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305322832"/>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userDrawn="1">
  <p:cSld name="Divider - Deloitte blue">
    <p:bg bwMode="gray">
      <p:bgPr>
        <a:solidFill>
          <a:srgbClr val="001035"/>
        </a:solidFill>
        <a:effectLst/>
      </p:bgPr>
    </p:bg>
    <p:spTree>
      <p:nvGrpSpPr>
        <p:cNvPr id="1" name=""/>
        <p:cNvGrpSpPr/>
        <p:nvPr/>
      </p:nvGrpSpPr>
      <p:grpSpPr>
        <a:xfrm>
          <a:off x="0" y="0"/>
          <a:ext cx="0" cy="0"/>
          <a:chOff x="0" y="0"/>
          <a:chExt cx="0" cy="0"/>
        </a:xfrm>
      </p:grpSpPr>
      <p:sp>
        <p:nvSpPr>
          <p:cNvPr id="4" name="text" descr="{&quot;templafy&quot;:{&quot;id&quot;:&quot;b79eb271-6ad6-479a-b0ed-c0f3f7df00c0&quot;}}" title="UserProfile.Language.Copyright">
            <a:extLst>
              <a:ext uri="{FF2B5EF4-FFF2-40B4-BE49-F238E27FC236}">
                <a16:creationId xmlns:a16="http://schemas.microsoft.com/office/drawing/2014/main" id="{169813C6-241F-3142-F007-0D8FE6965D5D}"/>
              </a:ext>
            </a:extLst>
          </p:cNvPr>
          <p:cNvSpPr txBox="1"/>
          <p:nvPr userDrawn="1"/>
        </p:nvSpPr>
        <p:spPr>
          <a:xfrm>
            <a:off x="418289" y="6642738"/>
            <a:ext cx="3147359" cy="156991"/>
          </a:xfrm>
          <a:prstGeom prst="rect">
            <a:avLst/>
          </a:prstGeom>
          <a:noFill/>
        </p:spPr>
        <p:txBody>
          <a:bodyPr wrap="square" lIns="0" tIns="0" rIns="0" bIns="0" rtlCol="0">
            <a:noAutofit/>
          </a:bodyPr>
          <a:lstStyle/>
          <a:p>
            <a:pPr marL="0" indent="0">
              <a:spcBef>
                <a:spcPts val="800"/>
              </a:spcBef>
              <a:buSzPct val="100000"/>
              <a:buFont typeface="Arial"/>
              <a:buNone/>
            </a:pPr>
            <a:r>
              <a:rPr lang="fr-FR" sz="800">
                <a:solidFill>
                  <a:schemeClr val="bg1"/>
                </a:solidFill>
              </a:rPr>
              <a:t>© </a:t>
            </a:r>
            <a:r>
              <a:rPr lang="en-US" sz="800" noProof="0">
                <a:solidFill>
                  <a:schemeClr val="bg1"/>
                </a:solidFill>
                <a:latin typeface="Verdana" panose="020B0604030504040204" pitchFamily="34" charset="0"/>
                <a:ea typeface="Verdana" panose="020B0604030504040204" pitchFamily="34" charset="0"/>
              </a:rPr>
              <a:t>2023 Deloitte Touche </a:t>
            </a:r>
            <a:r>
              <a:rPr lang="en-US" sz="800" kern="1200" noProof="0">
                <a:solidFill>
                  <a:schemeClr val="bg1"/>
                </a:solidFill>
                <a:latin typeface="Verdana" panose="020B0604030504040204" pitchFamily="34" charset="0"/>
                <a:ea typeface="Verdana" panose="020B0604030504040204" pitchFamily="34" charset="0"/>
                <a:cs typeface="+mn-cs"/>
              </a:rPr>
              <a:t>Tohmatsu</a:t>
            </a:r>
            <a:r>
              <a:rPr lang="en-US" sz="800" noProof="0">
                <a:solidFill>
                  <a:schemeClr val="bg1"/>
                </a:solidFill>
                <a:latin typeface="Verdana" panose="020B0604030504040204" pitchFamily="34" charset="0"/>
                <a:ea typeface="Verdana" panose="020B0604030504040204" pitchFamily="34" charset="0"/>
              </a:rPr>
              <a:t> India LLP</a:t>
            </a:r>
          </a:p>
        </p:txBody>
      </p:sp>
      <p:sp>
        <p:nvSpPr>
          <p:cNvPr id="5" name="TextBox 4">
            <a:extLst>
              <a:ext uri="{FF2B5EF4-FFF2-40B4-BE49-F238E27FC236}">
                <a16:creationId xmlns:a16="http://schemas.microsoft.com/office/drawing/2014/main" id="{F2EF8959-A9F1-48AF-C10F-AA81805C6497}"/>
              </a:ext>
            </a:extLst>
          </p:cNvPr>
          <p:cNvSpPr txBox="1"/>
          <p:nvPr userDrawn="1"/>
        </p:nvSpPr>
        <p:spPr>
          <a:xfrm>
            <a:off x="11423904" y="6635389"/>
            <a:ext cx="360109"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467269923"/>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Title Slide 1">
    <p:spTree>
      <p:nvGrpSpPr>
        <p:cNvPr id="1" name=""/>
        <p:cNvGrpSpPr/>
        <p:nvPr/>
      </p:nvGrpSpPr>
      <p:grpSpPr>
        <a:xfrm>
          <a:off x="0" y="0"/>
          <a:ext cx="0" cy="0"/>
          <a:chOff x="0" y="0"/>
          <a:chExt cx="0" cy="0"/>
        </a:xfrm>
      </p:grpSpPr>
      <p:sp>
        <p:nvSpPr>
          <p:cNvPr id="2" name="Title 1"/>
          <p:cNvSpPr>
            <a:spLocks noGrp="1"/>
          </p:cNvSpPr>
          <p:nvPr>
            <p:ph type="ctrTitle"/>
          </p:nvPr>
        </p:nvSpPr>
        <p:spPr>
          <a:xfrm>
            <a:off x="499200" y="1812967"/>
            <a:ext cx="6171941" cy="842400"/>
          </a:xfrm>
        </p:spPr>
        <p:txBody>
          <a:bodyPr>
            <a:noAutofit/>
          </a:bodyPr>
          <a:lstStyle>
            <a:lvl1pPr>
              <a:defRPr sz="2281">
                <a:solidFill>
                  <a:schemeClr val="accent1"/>
                </a:solidFill>
              </a:defRPr>
            </a:lvl1pPr>
          </a:lstStyle>
          <a:p>
            <a:r>
              <a:rPr lang="en-US"/>
              <a:t>Click to edit Master title style</a:t>
            </a:r>
            <a:endParaRPr lang="en-GB"/>
          </a:p>
        </p:txBody>
      </p:sp>
      <p:sp>
        <p:nvSpPr>
          <p:cNvPr id="3" name="Subtitle 2"/>
          <p:cNvSpPr>
            <a:spLocks noGrp="1"/>
          </p:cNvSpPr>
          <p:nvPr>
            <p:ph type="subTitle" idx="1"/>
          </p:nvPr>
        </p:nvSpPr>
        <p:spPr>
          <a:xfrm>
            <a:off x="499214" y="4357694"/>
            <a:ext cx="6171414" cy="1143008"/>
          </a:xfrm>
          <a:prstGeom prst="rect">
            <a:avLst/>
          </a:prstGeom>
        </p:spPr>
        <p:txBody>
          <a:bodyPr>
            <a:normAutofit/>
          </a:bodyPr>
          <a:lstStyle>
            <a:lvl1pPr marL="0" indent="0" algn="l">
              <a:lnSpc>
                <a:spcPct val="120000"/>
              </a:lnSpc>
              <a:spcBef>
                <a:spcPts val="0"/>
              </a:spcBef>
              <a:spcAft>
                <a:spcPts val="0"/>
              </a:spcAft>
              <a:buNone/>
              <a:defRPr sz="1141" b="0">
                <a:solidFill>
                  <a:schemeClr val="accent5"/>
                </a:solidFill>
              </a:defRPr>
            </a:lvl1pPr>
            <a:lvl2pPr marL="372404" indent="0" algn="ctr">
              <a:buNone/>
              <a:defRPr>
                <a:solidFill>
                  <a:schemeClr val="tx1">
                    <a:tint val="75000"/>
                  </a:schemeClr>
                </a:solidFill>
              </a:defRPr>
            </a:lvl2pPr>
            <a:lvl3pPr marL="744807" indent="0" algn="ctr">
              <a:buNone/>
              <a:defRPr>
                <a:solidFill>
                  <a:schemeClr val="tx1">
                    <a:tint val="75000"/>
                  </a:schemeClr>
                </a:solidFill>
              </a:defRPr>
            </a:lvl3pPr>
            <a:lvl4pPr marL="1117211" indent="0" algn="ctr">
              <a:buNone/>
              <a:defRPr>
                <a:solidFill>
                  <a:schemeClr val="tx1">
                    <a:tint val="75000"/>
                  </a:schemeClr>
                </a:solidFill>
              </a:defRPr>
            </a:lvl4pPr>
            <a:lvl5pPr marL="1489614" indent="0" algn="ctr">
              <a:buNone/>
              <a:defRPr>
                <a:solidFill>
                  <a:schemeClr val="tx1">
                    <a:tint val="75000"/>
                  </a:schemeClr>
                </a:solidFill>
              </a:defRPr>
            </a:lvl5pPr>
            <a:lvl6pPr marL="1862018" indent="0" algn="ctr">
              <a:buNone/>
              <a:defRPr>
                <a:solidFill>
                  <a:schemeClr val="tx1">
                    <a:tint val="75000"/>
                  </a:schemeClr>
                </a:solidFill>
              </a:defRPr>
            </a:lvl6pPr>
            <a:lvl7pPr marL="2234422" indent="0" algn="ctr">
              <a:buNone/>
              <a:defRPr>
                <a:solidFill>
                  <a:schemeClr val="tx1">
                    <a:tint val="75000"/>
                  </a:schemeClr>
                </a:solidFill>
              </a:defRPr>
            </a:lvl7pPr>
            <a:lvl8pPr marL="2606825" indent="0" algn="ctr">
              <a:buNone/>
              <a:defRPr>
                <a:solidFill>
                  <a:schemeClr val="tx1">
                    <a:tint val="75000"/>
                  </a:schemeClr>
                </a:solidFill>
              </a:defRPr>
            </a:lvl8pPr>
            <a:lvl9pPr marL="2979229" indent="0" algn="ctr">
              <a:buNone/>
              <a:defRPr>
                <a:solidFill>
                  <a:schemeClr val="tx1">
                    <a:tint val="75000"/>
                  </a:schemeClr>
                </a:solidFill>
              </a:defRPr>
            </a:lvl9pPr>
          </a:lstStyle>
          <a:p>
            <a:r>
              <a:rPr lang="en-US"/>
              <a:t>Click to edit Master subtitle style</a:t>
            </a:r>
            <a:endParaRPr lang="en-GB"/>
          </a:p>
        </p:txBody>
      </p:sp>
      <p:sp>
        <p:nvSpPr>
          <p:cNvPr id="8" name="Text Placeholder 5"/>
          <p:cNvSpPr>
            <a:spLocks noGrp="1"/>
          </p:cNvSpPr>
          <p:nvPr>
            <p:ph type="body" sz="quarter" idx="10"/>
          </p:nvPr>
        </p:nvSpPr>
        <p:spPr>
          <a:xfrm>
            <a:off x="499212" y="2663195"/>
            <a:ext cx="6172800" cy="1699200"/>
          </a:xfrm>
          <a:prstGeom prst="rect">
            <a:avLst/>
          </a:prstGeom>
        </p:spPr>
        <p:txBody>
          <a:bodyPr>
            <a:noAutofit/>
          </a:bodyPr>
          <a:lstStyle>
            <a:lvl1pPr marL="0" indent="0">
              <a:buNone/>
              <a:defRPr sz="2281">
                <a:solidFill>
                  <a:schemeClr val="accent2"/>
                </a:solidFill>
              </a:defRPr>
            </a:lvl1pPr>
          </a:lstStyle>
          <a:p>
            <a:pPr lvl="0"/>
            <a:r>
              <a:rPr lang="en-US"/>
              <a:t>Click to edit Master text styles</a:t>
            </a:r>
          </a:p>
        </p:txBody>
      </p:sp>
    </p:spTree>
    <p:extLst>
      <p:ext uri="{BB962C8B-B14F-4D97-AF65-F5344CB8AC3E}">
        <p14:creationId xmlns:p14="http://schemas.microsoft.com/office/powerpoint/2010/main" val="150073787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18" Type="http://schemas.openxmlformats.org/officeDocument/2006/relationships/slideLayout" Target="../slideLayouts/slideLayout22.xml"/><Relationship Id="rId26" Type="http://schemas.openxmlformats.org/officeDocument/2006/relationships/slideLayout" Target="../slideLayouts/slideLayout30.xml"/><Relationship Id="rId3" Type="http://schemas.openxmlformats.org/officeDocument/2006/relationships/slideLayout" Target="../slideLayouts/slideLayout7.xml"/><Relationship Id="rId21" Type="http://schemas.openxmlformats.org/officeDocument/2006/relationships/slideLayout" Target="../slideLayouts/slideLayout25.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25" Type="http://schemas.openxmlformats.org/officeDocument/2006/relationships/slideLayout" Target="../slideLayouts/slideLayout29.xml"/><Relationship Id="rId2" Type="http://schemas.openxmlformats.org/officeDocument/2006/relationships/slideLayout" Target="../slideLayouts/slideLayout6.xml"/><Relationship Id="rId16" Type="http://schemas.openxmlformats.org/officeDocument/2006/relationships/slideLayout" Target="../slideLayouts/slideLayout20.xml"/><Relationship Id="rId20" Type="http://schemas.openxmlformats.org/officeDocument/2006/relationships/slideLayout" Target="../slideLayouts/slideLayout24.xml"/><Relationship Id="rId29" Type="http://schemas.openxmlformats.org/officeDocument/2006/relationships/oleObject" Target="../embeddings/oleObject2.bin"/><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24" Type="http://schemas.openxmlformats.org/officeDocument/2006/relationships/slideLayout" Target="../slideLayouts/slideLayout28.xml"/><Relationship Id="rId5" Type="http://schemas.openxmlformats.org/officeDocument/2006/relationships/slideLayout" Target="../slideLayouts/slideLayout9.xml"/><Relationship Id="rId15" Type="http://schemas.openxmlformats.org/officeDocument/2006/relationships/slideLayout" Target="../slideLayouts/slideLayout19.xml"/><Relationship Id="rId23" Type="http://schemas.openxmlformats.org/officeDocument/2006/relationships/slideLayout" Target="../slideLayouts/slideLayout27.xml"/><Relationship Id="rId28" Type="http://schemas.openxmlformats.org/officeDocument/2006/relationships/tags" Target="../tags/tag2.xml"/><Relationship Id="rId10" Type="http://schemas.openxmlformats.org/officeDocument/2006/relationships/slideLayout" Target="../slideLayouts/slideLayout14.xml"/><Relationship Id="rId19" Type="http://schemas.openxmlformats.org/officeDocument/2006/relationships/slideLayout" Target="../slideLayouts/slideLayout23.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 Id="rId22" Type="http://schemas.openxmlformats.org/officeDocument/2006/relationships/slideLayout" Target="../slideLayouts/slideLayout26.xml"/><Relationship Id="rId27" Type="http://schemas.openxmlformats.org/officeDocument/2006/relationships/theme" Target="../theme/theme2.xml"/><Relationship Id="rId30"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8" Type="http://schemas.openxmlformats.org/officeDocument/2006/relationships/tags" Target="../tags/tag15.xml"/><Relationship Id="rId3" Type="http://schemas.openxmlformats.org/officeDocument/2006/relationships/slideLayout" Target="../slideLayouts/slideLayout33.xml"/><Relationship Id="rId7" Type="http://schemas.openxmlformats.org/officeDocument/2006/relationships/theme" Target="../theme/theme3.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5" Type="http://schemas.openxmlformats.org/officeDocument/2006/relationships/slideLayout" Target="../slideLayouts/slideLayout35.xml"/><Relationship Id="rId10" Type="http://schemas.openxmlformats.org/officeDocument/2006/relationships/image" Target="../media/image1.emf"/><Relationship Id="rId4" Type="http://schemas.openxmlformats.org/officeDocument/2006/relationships/slideLayout" Target="../slideLayouts/slideLayout34.xml"/><Relationship Id="rId9" Type="http://schemas.openxmlformats.org/officeDocument/2006/relationships/oleObject" Target="../embeddings/oleObject1.bin"/></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6" Type="http://schemas.openxmlformats.org/officeDocument/2006/relationships/image" Target="../media/image1.emf"/><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5" Type="http://schemas.openxmlformats.org/officeDocument/2006/relationships/oleObject" Target="../embeddings/oleObject4.bin"/><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tags" Target="../tags/tag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6"/>
            </p:custData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7" imgW="360" imgH="360" progId="">
                  <p:embed/>
                </p:oleObj>
              </mc:Choice>
              <mc:Fallback>
                <p:oleObj name="think-cell Slide" r:id="rId7" imgW="360" imgH="360" progId="">
                  <p:embed/>
                  <p:pic>
                    <p:nvPicPr>
                      <p:cNvPr id="4" name="Object 3"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18" y="1589"/>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nvPr>
        </p:nvSpPr>
        <p:spPr bwMode="gray">
          <a:xfrm>
            <a:off x="411118" y="404813"/>
            <a:ext cx="11369764" cy="472802"/>
          </a:xfrm>
          <a:prstGeom prst="rect">
            <a:avLst/>
          </a:prstGeom>
        </p:spPr>
        <p:txBody>
          <a:bodyPr vert="horz" lIns="0" tIns="0" rIns="0" bIns="0" rtlCol="0" anchor="t" anchorCtr="0">
            <a:noAutofit/>
          </a:bodyPr>
          <a:lstStyle/>
          <a:p>
            <a:r>
              <a:rPr lang="en-US"/>
              <a:t>Click to edit Master title style</a:t>
            </a:r>
          </a:p>
        </p:txBody>
      </p:sp>
      <p:sp>
        <p:nvSpPr>
          <p:cNvPr id="19" name="Text Placeholder 18"/>
          <p:cNvSpPr>
            <a:spLocks noGrp="1"/>
          </p:cNvSpPr>
          <p:nvPr>
            <p:ph type="body" idx="1"/>
          </p:nvPr>
        </p:nvSpPr>
        <p:spPr>
          <a:xfrm>
            <a:off x="418289" y="1700214"/>
            <a:ext cx="11365724" cy="4681537"/>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GB"/>
              <a:t>Seventh level</a:t>
            </a:r>
          </a:p>
          <a:p>
            <a:pPr lvl="7"/>
            <a:r>
              <a:rPr lang="en-GB"/>
              <a:t>Eighth level</a:t>
            </a:r>
          </a:p>
          <a:p>
            <a:pPr lvl="8"/>
            <a:r>
              <a:rPr lang="en-GB"/>
              <a:t>Ninth level</a:t>
            </a:r>
          </a:p>
        </p:txBody>
      </p:sp>
      <p:sp>
        <p:nvSpPr>
          <p:cNvPr id="7" name="TextBox 6"/>
          <p:cNvSpPr txBox="1"/>
          <p:nvPr userDrawn="1"/>
        </p:nvSpPr>
        <p:spPr>
          <a:xfrm>
            <a:off x="11423904" y="6635389"/>
            <a:ext cx="360109"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a:solidFill>
                <a:schemeClr val="tx1"/>
              </a:solidFill>
            </a:endParaRPr>
          </a:p>
        </p:txBody>
      </p:sp>
      <p:sp>
        <p:nvSpPr>
          <p:cNvPr id="8" name="text" descr="{&quot;templafy&quot;:{&quot;id&quot;:&quot;b79eb271-6ad6-479a-b0ed-c0f3f7df00c0&quot;}}" title="UserProfile.Language.Copyright">
            <a:extLst>
              <a:ext uri="{FF2B5EF4-FFF2-40B4-BE49-F238E27FC236}">
                <a16:creationId xmlns:a16="http://schemas.microsoft.com/office/drawing/2014/main" id="{D515E2FD-BA73-48EC-A31C-C28A50BBF34C}"/>
              </a:ext>
            </a:extLst>
          </p:cNvPr>
          <p:cNvSpPr txBox="1"/>
          <p:nvPr userDrawn="1"/>
        </p:nvSpPr>
        <p:spPr>
          <a:xfrm>
            <a:off x="418289" y="6642738"/>
            <a:ext cx="3147359" cy="156991"/>
          </a:xfrm>
          <a:prstGeom prst="rect">
            <a:avLst/>
          </a:prstGeom>
          <a:noFill/>
        </p:spPr>
        <p:txBody>
          <a:bodyPr wrap="square" lIns="0" tIns="0" rIns="0" bIns="0" rtlCol="0">
            <a:noAutofit/>
          </a:bodyPr>
          <a:lstStyle/>
          <a:p>
            <a:pPr marL="0" indent="0">
              <a:spcBef>
                <a:spcPts val="800"/>
              </a:spcBef>
              <a:buSzPct val="100000"/>
              <a:buFont typeface="Arial"/>
              <a:buNone/>
            </a:pPr>
            <a:r>
              <a:rPr lang="fr-FR" sz="800">
                <a:solidFill>
                  <a:schemeClr val="tx1"/>
                </a:solidFill>
              </a:rPr>
              <a:t>© </a:t>
            </a:r>
            <a:r>
              <a:rPr lang="en-US" sz="800" noProof="0">
                <a:solidFill>
                  <a:schemeClr val="tx1"/>
                </a:solidFill>
                <a:latin typeface="Verdana" panose="020B0604030504040204" pitchFamily="34" charset="0"/>
                <a:ea typeface="Verdana" panose="020B0604030504040204" pitchFamily="34" charset="0"/>
              </a:rPr>
              <a:t>2023 Deloitte Touche </a:t>
            </a:r>
            <a:r>
              <a:rPr lang="en-US" sz="800" kern="1200" noProof="0">
                <a:solidFill>
                  <a:schemeClr val="tx1"/>
                </a:solidFill>
                <a:latin typeface="Verdana" panose="020B0604030504040204" pitchFamily="34" charset="0"/>
                <a:ea typeface="Verdana" panose="020B0604030504040204" pitchFamily="34" charset="0"/>
                <a:cs typeface="+mn-cs"/>
              </a:rPr>
              <a:t>Tohmatsu</a:t>
            </a:r>
            <a:r>
              <a:rPr lang="en-US" sz="800" noProof="0">
                <a:solidFill>
                  <a:schemeClr val="tx1"/>
                </a:solidFill>
                <a:latin typeface="Verdana" panose="020B0604030504040204" pitchFamily="34" charset="0"/>
                <a:ea typeface="Verdana" panose="020B0604030504040204" pitchFamily="34" charset="0"/>
              </a:rPr>
              <a:t> India LLP</a:t>
            </a:r>
          </a:p>
        </p:txBody>
      </p:sp>
    </p:spTree>
    <p:extLst>
      <p:ext uri="{BB962C8B-B14F-4D97-AF65-F5344CB8AC3E}">
        <p14:creationId xmlns:p14="http://schemas.microsoft.com/office/powerpoint/2010/main" val="1227794795"/>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4077" r:id="rId4"/>
  </p:sldLayoutIdLst>
  <p:hf hdr="0" dt="0"/>
  <p:txStyles>
    <p:titleStyle>
      <a:lvl1pPr algn="l" defTabSz="914400" rtl="0" eaLnBrk="1" latinLnBrk="0" hangingPunct="1">
        <a:spcBef>
          <a:spcPct val="0"/>
        </a:spcBef>
        <a:buNone/>
        <a:defRPr sz="2000" kern="1200">
          <a:solidFill>
            <a:schemeClr val="tx1"/>
          </a:solidFill>
          <a:latin typeface="+mj-lt"/>
          <a:ea typeface="+mj-ea"/>
          <a:cs typeface="+mj-cs"/>
        </a:defRPr>
      </a:lvl1pPr>
    </p:titleStyle>
    <p:bodyStyle>
      <a:lvl1pPr marL="0" indent="0" algn="l" defTabSz="914400" rtl="0" eaLnBrk="1" latinLnBrk="0" hangingPunct="1">
        <a:spcBef>
          <a:spcPts val="0"/>
        </a:spcBef>
        <a:spcAft>
          <a:spcPts val="1000"/>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4020">
          <p15:clr>
            <a:srgbClr val="F26B43"/>
          </p15:clr>
        </p15:guide>
        <p15:guide id="4" pos="257">
          <p15:clr>
            <a:srgbClr val="F26B43"/>
          </p15:clr>
        </p15:guide>
        <p15:guide id="5" pos="7423">
          <p15:clr>
            <a:srgbClr val="F26B43"/>
          </p15:clr>
        </p15:guide>
        <p15:guide id="6" orient="horz" pos="1071">
          <p15:clr>
            <a:srgbClr val="F26B43"/>
          </p15:clr>
        </p15:guide>
        <p15:guide id="7" orient="horz" pos="255">
          <p15:clr>
            <a:srgbClr val="F26B43"/>
          </p15:clr>
        </p15:guide>
        <p15:guide id="8" orient="horz" pos="408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8"/>
            </p:custDataLst>
            <p:extLst>
              <p:ext uri="{D42A27DB-BD31-4B8C-83A1-F6EECF244321}">
                <p14:modId xmlns:p14="http://schemas.microsoft.com/office/powerpoint/2010/main" val="3720313293"/>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29" imgW="270" imgH="270" progId="TCLayout.ActiveDocument.1">
                  <p:embed/>
                </p:oleObj>
              </mc:Choice>
              <mc:Fallback>
                <p:oleObj name="think-cell Slide" r:id="rId29" imgW="270" imgH="270" progId="TCLayout.ActiveDocument.1">
                  <p:embed/>
                  <p:pic>
                    <p:nvPicPr>
                      <p:cNvPr id="4" name="Object 3" hidden="1"/>
                      <p:cNvPicPr/>
                      <p:nvPr/>
                    </p:nvPicPr>
                    <p:blipFill>
                      <a:blip r:embed="rId30"/>
                      <a:stretch>
                        <a:fillRect/>
                      </a:stretch>
                    </p:blipFill>
                    <p:spPr>
                      <a:xfrm>
                        <a:off x="2119" y="1593"/>
                        <a:ext cx="2116" cy="1587"/>
                      </a:xfrm>
                      <a:prstGeom prst="rect">
                        <a:avLst/>
                      </a:prstGeom>
                    </p:spPr>
                  </p:pic>
                </p:oleObj>
              </mc:Fallback>
            </mc:AlternateContent>
          </a:graphicData>
        </a:graphic>
      </p:graphicFrame>
      <p:sp>
        <p:nvSpPr>
          <p:cNvPr id="19" name="Text Placeholder 18"/>
          <p:cNvSpPr>
            <a:spLocks noGrp="1"/>
          </p:cNvSpPr>
          <p:nvPr>
            <p:ph type="body" idx="1"/>
          </p:nvPr>
        </p:nvSpPr>
        <p:spPr>
          <a:xfrm>
            <a:off x="501651" y="1016000"/>
            <a:ext cx="11188700" cy="4716462"/>
          </a:xfrm>
          <a:prstGeom prst="rect">
            <a:avLst/>
          </a:prstGeom>
        </p:spPr>
        <p:txBody>
          <a:bodyPr vert="horz" lIns="0" tIns="0" rIns="0" bIns="0" rtlCol="0">
            <a:normAutofit/>
          </a:bodyPr>
          <a:lstStyle/>
          <a:p>
            <a:pPr lvl="0"/>
            <a:r>
              <a:rPr lang="es-CO" noProof="0" err="1"/>
              <a:t>Click</a:t>
            </a:r>
            <a:r>
              <a:rPr lang="es-CO" noProof="0"/>
              <a:t> to </a:t>
            </a:r>
            <a:r>
              <a:rPr lang="es-CO" noProof="0" err="1"/>
              <a:t>edit</a:t>
            </a:r>
            <a:r>
              <a:rPr lang="es-CO" noProof="0"/>
              <a:t> Master </a:t>
            </a:r>
            <a:r>
              <a:rPr lang="es-CO" noProof="0" err="1"/>
              <a:t>text</a:t>
            </a:r>
            <a:r>
              <a:rPr lang="es-CO" noProof="0"/>
              <a:t> </a:t>
            </a:r>
            <a:r>
              <a:rPr lang="es-CO" noProof="0" err="1"/>
              <a:t>styles</a:t>
            </a:r>
            <a:endParaRPr lang="es-CO" noProof="0"/>
          </a:p>
          <a:p>
            <a:pPr lvl="1"/>
            <a:r>
              <a:rPr lang="es-CO" noProof="0" err="1"/>
              <a:t>Second</a:t>
            </a:r>
            <a:r>
              <a:rPr lang="es-CO" noProof="0"/>
              <a:t> </a:t>
            </a:r>
            <a:r>
              <a:rPr lang="es-CO" noProof="0" err="1"/>
              <a:t>level</a:t>
            </a:r>
            <a:endParaRPr lang="es-CO" noProof="0"/>
          </a:p>
          <a:p>
            <a:pPr lvl="2"/>
            <a:r>
              <a:rPr lang="es-CO" noProof="0" err="1"/>
              <a:t>Third</a:t>
            </a:r>
            <a:r>
              <a:rPr lang="es-CO" noProof="0"/>
              <a:t> </a:t>
            </a:r>
            <a:r>
              <a:rPr lang="es-CO" noProof="0" err="1"/>
              <a:t>level</a:t>
            </a:r>
            <a:endParaRPr lang="es-CO" noProof="0"/>
          </a:p>
          <a:p>
            <a:pPr lvl="3"/>
            <a:r>
              <a:rPr lang="es-CO" noProof="0" err="1"/>
              <a:t>Fourth</a:t>
            </a:r>
            <a:r>
              <a:rPr lang="es-CO" noProof="0"/>
              <a:t> </a:t>
            </a:r>
            <a:r>
              <a:rPr lang="es-CO" noProof="0" err="1"/>
              <a:t>level</a:t>
            </a:r>
            <a:endParaRPr lang="es-CO" noProof="0"/>
          </a:p>
          <a:p>
            <a:pPr lvl="4"/>
            <a:r>
              <a:rPr lang="es-CO" noProof="0" err="1"/>
              <a:t>Fifth</a:t>
            </a:r>
            <a:r>
              <a:rPr lang="es-CO" noProof="0"/>
              <a:t> </a:t>
            </a:r>
            <a:r>
              <a:rPr lang="es-CO" noProof="0" err="1"/>
              <a:t>level</a:t>
            </a:r>
            <a:endParaRPr lang="es-CO" noProof="0"/>
          </a:p>
        </p:txBody>
      </p:sp>
      <p:sp>
        <p:nvSpPr>
          <p:cNvPr id="2" name="text" descr="{&quot;templafy&quot;:{&quot;id&quot;:&quot;b79eb271-6ad6-479a-b0ed-c0f3f7df00c0&quot;}}" title="UserProfile.Language.Copyright">
            <a:extLst>
              <a:ext uri="{FF2B5EF4-FFF2-40B4-BE49-F238E27FC236}">
                <a16:creationId xmlns:a16="http://schemas.microsoft.com/office/drawing/2014/main" id="{B34C6518-801F-02BF-569E-29D94656884D}"/>
              </a:ext>
            </a:extLst>
          </p:cNvPr>
          <p:cNvSpPr txBox="1"/>
          <p:nvPr userDrawn="1"/>
        </p:nvSpPr>
        <p:spPr>
          <a:xfrm>
            <a:off x="418289" y="6642738"/>
            <a:ext cx="3147359" cy="156991"/>
          </a:xfrm>
          <a:prstGeom prst="rect">
            <a:avLst/>
          </a:prstGeom>
          <a:noFill/>
        </p:spPr>
        <p:txBody>
          <a:bodyPr wrap="square" lIns="0" tIns="0" rIns="0" bIns="0" rtlCol="0">
            <a:noAutofit/>
          </a:bodyPr>
          <a:lstStyle/>
          <a:p>
            <a:pPr marL="0" indent="0">
              <a:spcBef>
                <a:spcPts val="800"/>
              </a:spcBef>
              <a:buSzPct val="100000"/>
              <a:buFont typeface="Arial"/>
              <a:buNone/>
            </a:pPr>
            <a:r>
              <a:rPr lang="fr-FR" sz="800">
                <a:solidFill>
                  <a:schemeClr val="tx1"/>
                </a:solidFill>
              </a:rPr>
              <a:t>© </a:t>
            </a:r>
            <a:r>
              <a:rPr lang="en-US" sz="800" noProof="0">
                <a:solidFill>
                  <a:schemeClr val="tx1"/>
                </a:solidFill>
                <a:latin typeface="Verdana" panose="020B0604030504040204" pitchFamily="34" charset="0"/>
                <a:ea typeface="Verdana" panose="020B0604030504040204" pitchFamily="34" charset="0"/>
              </a:rPr>
              <a:t>2023 Deloitte Touche </a:t>
            </a:r>
            <a:r>
              <a:rPr lang="en-US" sz="800" kern="1200" noProof="0">
                <a:solidFill>
                  <a:schemeClr val="tx1"/>
                </a:solidFill>
                <a:latin typeface="Verdana" panose="020B0604030504040204" pitchFamily="34" charset="0"/>
                <a:ea typeface="Verdana" panose="020B0604030504040204" pitchFamily="34" charset="0"/>
                <a:cs typeface="+mn-cs"/>
              </a:rPr>
              <a:t>Tohmatsu</a:t>
            </a:r>
            <a:r>
              <a:rPr lang="en-US" sz="800" noProof="0">
                <a:solidFill>
                  <a:schemeClr val="tx1"/>
                </a:solidFill>
                <a:latin typeface="Verdana" panose="020B0604030504040204" pitchFamily="34" charset="0"/>
                <a:ea typeface="Verdana" panose="020B0604030504040204" pitchFamily="34" charset="0"/>
              </a:rPr>
              <a:t> India LLP</a:t>
            </a:r>
          </a:p>
        </p:txBody>
      </p:sp>
      <p:sp>
        <p:nvSpPr>
          <p:cNvPr id="3" name="TextBox 2">
            <a:extLst>
              <a:ext uri="{FF2B5EF4-FFF2-40B4-BE49-F238E27FC236}">
                <a16:creationId xmlns:a16="http://schemas.microsoft.com/office/drawing/2014/main" id="{F551B393-52C0-D1AF-F862-3FF3545F67CA}"/>
              </a:ext>
            </a:extLst>
          </p:cNvPr>
          <p:cNvSpPr txBox="1"/>
          <p:nvPr userDrawn="1"/>
        </p:nvSpPr>
        <p:spPr>
          <a:xfrm>
            <a:off x="11423904" y="6635389"/>
            <a:ext cx="360109"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a:solidFill>
                <a:schemeClr val="tx1"/>
              </a:solidFill>
            </a:endParaRPr>
          </a:p>
        </p:txBody>
      </p:sp>
    </p:spTree>
    <p:extLst>
      <p:ext uri="{BB962C8B-B14F-4D97-AF65-F5344CB8AC3E}">
        <p14:creationId xmlns:p14="http://schemas.microsoft.com/office/powerpoint/2010/main" val="2100720400"/>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954" r:id="rId8"/>
    <p:sldLayoutId id="2147484075" r:id="rId9"/>
    <p:sldLayoutId id="2147484076" r:id="rId10"/>
    <p:sldLayoutId id="2147483914" r:id="rId11"/>
    <p:sldLayoutId id="2147483915" r:id="rId12"/>
    <p:sldLayoutId id="2147483916" r:id="rId13"/>
    <p:sldLayoutId id="2147483917" r:id="rId14"/>
    <p:sldLayoutId id="2147483918" r:id="rId15"/>
    <p:sldLayoutId id="2147483919" r:id="rId16"/>
    <p:sldLayoutId id="2147483920" r:id="rId17"/>
    <p:sldLayoutId id="2147483921" r:id="rId18"/>
    <p:sldLayoutId id="2147483936" r:id="rId19"/>
    <p:sldLayoutId id="2147483937" r:id="rId20"/>
    <p:sldLayoutId id="2147483938" r:id="rId21"/>
    <p:sldLayoutId id="2147483939" r:id="rId22"/>
    <p:sldLayoutId id="2147483940" r:id="rId23"/>
    <p:sldLayoutId id="2147483941" r:id="rId24"/>
    <p:sldLayoutId id="2147483942" r:id="rId25"/>
    <p:sldLayoutId id="2147483943" r:id="rId26"/>
  </p:sldLayoutIdLst>
  <p:transition>
    <p:fade/>
  </p:transition>
  <p:hf hdr="0" dt="0"/>
  <p:txStyles>
    <p:titleStyle>
      <a:lvl1pPr algn="l" defTabSz="914400" rtl="0" eaLnBrk="1" latinLnBrk="0" hangingPunct="1">
        <a:spcBef>
          <a:spcPct val="0"/>
        </a:spcBef>
        <a:buNone/>
        <a:defRPr sz="2000" kern="1200">
          <a:solidFill>
            <a:schemeClr val="tx1"/>
          </a:solidFill>
          <a:latin typeface="+mj-lt"/>
          <a:ea typeface="+mj-ea"/>
          <a:cs typeface="+mj-cs"/>
        </a:defRPr>
      </a:lvl1pPr>
    </p:titleStyle>
    <p:body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112">
          <p15:clr>
            <a:srgbClr val="F26B43"/>
          </p15:clr>
        </p15:guide>
        <p15:guide id="2" orient="horz" pos="2160">
          <p15:clr>
            <a:srgbClr val="F26B43"/>
          </p15:clr>
        </p15:guide>
        <p15:guide id="3" orient="horz" pos="4020">
          <p15:clr>
            <a:srgbClr val="F26B43"/>
          </p15:clr>
        </p15:guide>
        <p15:guide id="4" pos="316">
          <p15:clr>
            <a:srgbClr val="F26B43"/>
          </p15:clr>
        </p15:guide>
        <p15:guide id="5" pos="7364">
          <p15:clr>
            <a:srgbClr val="F26B43"/>
          </p15:clr>
        </p15:guide>
        <p15:guide id="7" orient="horz" pos="200">
          <p15:clr>
            <a:srgbClr val="F26B43"/>
          </p15:clr>
        </p15:guide>
        <p15:guide id="8" orient="horz" pos="4080">
          <p15:clr>
            <a:srgbClr val="F26B43"/>
          </p15:clr>
        </p15:guide>
        <p15:guide id="10" pos="4961">
          <p15:clr>
            <a:srgbClr val="F26B43"/>
          </p15:clr>
        </p15:guide>
        <p15:guide id="11" orient="horz" pos="236">
          <p15:clr>
            <a:srgbClr val="F26B43"/>
          </p15:clr>
        </p15:guide>
        <p15:guide id="12" pos="1363">
          <p15:clr>
            <a:srgbClr val="F26B43"/>
          </p15:clr>
        </p15:guide>
        <p15:guide id="13" pos="1516">
          <p15:clr>
            <a:srgbClr val="F26B43"/>
          </p15:clr>
        </p15:guide>
        <p15:guide id="14" pos="2560">
          <p15:clr>
            <a:srgbClr val="F26B43"/>
          </p15:clr>
        </p15:guide>
        <p15:guide id="15" pos="2711">
          <p15:clr>
            <a:srgbClr val="F26B43"/>
          </p15:clr>
        </p15:guide>
        <p15:guide id="16" pos="6160">
          <p15:clr>
            <a:srgbClr val="F26B43"/>
          </p15:clr>
        </p15:guide>
        <p15:guide id="17" pos="3764">
          <p15:clr>
            <a:srgbClr val="F26B43"/>
          </p15:clr>
        </p15:guide>
        <p15:guide id="18" pos="3916">
          <p15:clr>
            <a:srgbClr val="F26B43"/>
          </p15:clr>
        </p15:guide>
        <p15:guide id="19" pos="3840">
          <p15:clr>
            <a:srgbClr val="F26B43"/>
          </p15:clr>
        </p15:guide>
        <p15:guide id="20" pos="6312">
          <p15:clr>
            <a:srgbClr val="F26B43"/>
          </p15:clr>
        </p15:guide>
        <p15:guide id="21" orient="horz" pos="1049">
          <p15:clr>
            <a:srgbClr val="F26B43"/>
          </p15:clr>
        </p15:guide>
        <p15:guide id="22" orient="horz" pos="6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8"/>
            </p:custData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9" imgW="360" imgH="360" progId="">
                  <p:embed/>
                </p:oleObj>
              </mc:Choice>
              <mc:Fallback>
                <p:oleObj name="think-cell Slide" r:id="rId9" imgW="360" imgH="360" progId="">
                  <p:embed/>
                  <p:pic>
                    <p:nvPicPr>
                      <p:cNvPr id="4" name="Object 3" hidden="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18" y="1589"/>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nvPr>
        </p:nvSpPr>
        <p:spPr bwMode="gray">
          <a:xfrm>
            <a:off x="411118" y="404813"/>
            <a:ext cx="11369764" cy="472802"/>
          </a:xfrm>
          <a:prstGeom prst="rect">
            <a:avLst/>
          </a:prstGeom>
        </p:spPr>
        <p:txBody>
          <a:bodyPr vert="horz" lIns="0" tIns="0" rIns="0" bIns="0" rtlCol="0" anchor="t" anchorCtr="0">
            <a:noAutofit/>
          </a:bodyPr>
          <a:lstStyle/>
          <a:p>
            <a:r>
              <a:rPr lang="en-US"/>
              <a:t>Click to edit Master title style</a:t>
            </a:r>
          </a:p>
        </p:txBody>
      </p:sp>
      <p:sp>
        <p:nvSpPr>
          <p:cNvPr id="19" name="Text Placeholder 18"/>
          <p:cNvSpPr>
            <a:spLocks noGrp="1"/>
          </p:cNvSpPr>
          <p:nvPr>
            <p:ph type="body" idx="1"/>
          </p:nvPr>
        </p:nvSpPr>
        <p:spPr>
          <a:xfrm>
            <a:off x="418289" y="1700214"/>
            <a:ext cx="11365724" cy="4681537"/>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GB"/>
              <a:t>Seventh level</a:t>
            </a:r>
          </a:p>
          <a:p>
            <a:pPr lvl="7"/>
            <a:r>
              <a:rPr lang="en-GB"/>
              <a:t>Eighth level</a:t>
            </a:r>
          </a:p>
          <a:p>
            <a:pPr lvl="8"/>
            <a:r>
              <a:rPr lang="en-GB"/>
              <a:t>Ninth level</a:t>
            </a:r>
          </a:p>
        </p:txBody>
      </p:sp>
      <p:sp>
        <p:nvSpPr>
          <p:cNvPr id="3" name="text" descr="{&quot;templafy&quot;:{&quot;id&quot;:&quot;b79eb271-6ad6-479a-b0ed-c0f3f7df00c0&quot;}}" title="UserProfile.Language.Copyright">
            <a:extLst>
              <a:ext uri="{FF2B5EF4-FFF2-40B4-BE49-F238E27FC236}">
                <a16:creationId xmlns:a16="http://schemas.microsoft.com/office/drawing/2014/main" id="{D8A64BC8-522A-094A-7941-5CD4A016543C}"/>
              </a:ext>
            </a:extLst>
          </p:cNvPr>
          <p:cNvSpPr txBox="1"/>
          <p:nvPr userDrawn="1"/>
        </p:nvSpPr>
        <p:spPr>
          <a:xfrm>
            <a:off x="418289" y="6642738"/>
            <a:ext cx="3147359" cy="156991"/>
          </a:xfrm>
          <a:prstGeom prst="rect">
            <a:avLst/>
          </a:prstGeom>
          <a:noFill/>
        </p:spPr>
        <p:txBody>
          <a:bodyPr wrap="square" lIns="0" tIns="0" rIns="0" bIns="0" rtlCol="0">
            <a:noAutofit/>
          </a:bodyPr>
          <a:lstStyle/>
          <a:p>
            <a:pPr marL="0" indent="0">
              <a:spcBef>
                <a:spcPts val="800"/>
              </a:spcBef>
              <a:buSzPct val="100000"/>
              <a:buFont typeface="Arial"/>
              <a:buNone/>
            </a:pPr>
            <a:r>
              <a:rPr lang="fr-FR" sz="800">
                <a:solidFill>
                  <a:schemeClr val="tx1"/>
                </a:solidFill>
              </a:rPr>
              <a:t>© </a:t>
            </a:r>
            <a:r>
              <a:rPr lang="en-US" sz="800" noProof="0">
                <a:solidFill>
                  <a:schemeClr val="tx1"/>
                </a:solidFill>
                <a:latin typeface="Verdana" panose="020B0604030504040204" pitchFamily="34" charset="0"/>
                <a:ea typeface="Verdana" panose="020B0604030504040204" pitchFamily="34" charset="0"/>
              </a:rPr>
              <a:t>2023 Deloitte Touche </a:t>
            </a:r>
            <a:r>
              <a:rPr lang="en-US" sz="800" kern="1200" noProof="0">
                <a:solidFill>
                  <a:schemeClr val="tx1"/>
                </a:solidFill>
                <a:latin typeface="Verdana" panose="020B0604030504040204" pitchFamily="34" charset="0"/>
                <a:ea typeface="Verdana" panose="020B0604030504040204" pitchFamily="34" charset="0"/>
                <a:cs typeface="+mn-cs"/>
              </a:rPr>
              <a:t>Tohmatsu</a:t>
            </a:r>
            <a:r>
              <a:rPr lang="en-US" sz="800" noProof="0">
                <a:solidFill>
                  <a:schemeClr val="tx1"/>
                </a:solidFill>
                <a:latin typeface="Verdana" panose="020B0604030504040204" pitchFamily="34" charset="0"/>
                <a:ea typeface="Verdana" panose="020B0604030504040204" pitchFamily="34" charset="0"/>
              </a:rPr>
              <a:t> India LLP</a:t>
            </a:r>
          </a:p>
        </p:txBody>
      </p:sp>
      <p:sp>
        <p:nvSpPr>
          <p:cNvPr id="5" name="TextBox 4">
            <a:extLst>
              <a:ext uri="{FF2B5EF4-FFF2-40B4-BE49-F238E27FC236}">
                <a16:creationId xmlns:a16="http://schemas.microsoft.com/office/drawing/2014/main" id="{0EBE4080-59DA-1727-CCE2-3A89EB929AD6}"/>
              </a:ext>
            </a:extLst>
          </p:cNvPr>
          <p:cNvSpPr txBox="1"/>
          <p:nvPr userDrawn="1"/>
        </p:nvSpPr>
        <p:spPr>
          <a:xfrm>
            <a:off x="11423904" y="6635389"/>
            <a:ext cx="360109"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a:solidFill>
                <a:schemeClr val="tx1"/>
              </a:solidFill>
            </a:endParaRPr>
          </a:p>
        </p:txBody>
      </p:sp>
    </p:spTree>
    <p:extLst>
      <p:ext uri="{BB962C8B-B14F-4D97-AF65-F5344CB8AC3E}">
        <p14:creationId xmlns:p14="http://schemas.microsoft.com/office/powerpoint/2010/main" val="2866197259"/>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Lst>
  <p:hf hdr="0" dt="0"/>
  <p:txStyles>
    <p:titleStyle>
      <a:lvl1pPr algn="l" defTabSz="914400" rtl="0" eaLnBrk="1" latinLnBrk="0" hangingPunct="1">
        <a:spcBef>
          <a:spcPct val="0"/>
        </a:spcBef>
        <a:buNone/>
        <a:defRPr sz="2000" kern="1200">
          <a:solidFill>
            <a:schemeClr val="tx1"/>
          </a:solidFill>
          <a:latin typeface="+mj-lt"/>
          <a:ea typeface="+mj-ea"/>
          <a:cs typeface="+mj-cs"/>
        </a:defRPr>
      </a:lvl1pPr>
    </p:titleStyle>
    <p:bodyStyle>
      <a:lvl1pPr marL="0" indent="0" algn="l" defTabSz="914400" rtl="0" eaLnBrk="1" latinLnBrk="0" hangingPunct="1">
        <a:spcBef>
          <a:spcPts val="0"/>
        </a:spcBef>
        <a:spcAft>
          <a:spcPts val="1000"/>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4020">
          <p15:clr>
            <a:srgbClr val="F26B43"/>
          </p15:clr>
        </p15:guide>
        <p15:guide id="4" pos="257">
          <p15:clr>
            <a:srgbClr val="F26B43"/>
          </p15:clr>
        </p15:guide>
        <p15:guide id="5" pos="7423">
          <p15:clr>
            <a:srgbClr val="F26B43"/>
          </p15:clr>
        </p15:guide>
        <p15:guide id="6" orient="horz" pos="1071">
          <p15:clr>
            <a:srgbClr val="F26B43"/>
          </p15:clr>
        </p15:guide>
        <p15:guide id="7" orient="horz" pos="255">
          <p15:clr>
            <a:srgbClr val="F26B43"/>
          </p15:clr>
        </p15:guide>
        <p15:guide id="8" orient="horz" pos="408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026" name="Object 3" hidden="1">
            <a:extLst>
              <a:ext uri="{FF2B5EF4-FFF2-40B4-BE49-F238E27FC236}">
                <a16:creationId xmlns:a16="http://schemas.microsoft.com/office/drawing/2014/main" id="{227EB70E-23EB-41D3-8E94-CC5969E91AC5}"/>
              </a:ext>
            </a:extLst>
          </p:cNvPr>
          <p:cNvGraphicFramePr>
            <a:graphicFrameLocks noChangeAspect="1"/>
          </p:cNvGraphicFramePr>
          <p:nvPr>
            <p:custDataLst>
              <p:tags r:id="rId14"/>
            </p:custDataLst>
          </p:nvPr>
        </p:nvGraphicFramePr>
        <p:xfrm>
          <a:off x="1588" y="1588"/>
          <a:ext cx="3175" cy="1587"/>
        </p:xfrm>
        <a:graphic>
          <a:graphicData uri="http://schemas.openxmlformats.org/presentationml/2006/ole">
            <mc:AlternateContent xmlns:mc="http://schemas.openxmlformats.org/markup-compatibility/2006">
              <mc:Choice xmlns:v="urn:schemas-microsoft-com:vml" Requires="v">
                <p:oleObj name="think-cell Slide" r:id="rId15" imgW="360" imgH="360" progId="TCLayout.ActiveDocument.1">
                  <p:embed/>
                </p:oleObj>
              </mc:Choice>
              <mc:Fallback>
                <p:oleObj name="think-cell Slide" r:id="rId15" imgW="360" imgH="360" progId="TCLayout.ActiveDocument.1">
                  <p:embed/>
                  <p:pic>
                    <p:nvPicPr>
                      <p:cNvPr id="1026" name="Object 3" hidden="1">
                        <a:extLst>
                          <a:ext uri="{FF2B5EF4-FFF2-40B4-BE49-F238E27FC236}">
                            <a16:creationId xmlns:a16="http://schemas.microsoft.com/office/drawing/2014/main" id="{227EB70E-23EB-41D3-8E94-CC5969E91AC5}"/>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88" y="1588"/>
                        <a:ext cx="3175"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7" name="Title Placeholder 1">
            <a:extLst>
              <a:ext uri="{FF2B5EF4-FFF2-40B4-BE49-F238E27FC236}">
                <a16:creationId xmlns:a16="http://schemas.microsoft.com/office/drawing/2014/main" id="{CEDC394F-5F16-488E-B15A-E99F73B1E7DE}"/>
              </a:ext>
            </a:extLst>
          </p:cNvPr>
          <p:cNvSpPr>
            <a:spLocks noGrp="1"/>
          </p:cNvSpPr>
          <p:nvPr>
            <p:ph type="title"/>
          </p:nvPr>
        </p:nvSpPr>
        <p:spPr bwMode="gray">
          <a:xfrm>
            <a:off x="469900" y="403225"/>
            <a:ext cx="112522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GB" altLang="en-US"/>
              <a:t>Click to edit Master title style</a:t>
            </a:r>
          </a:p>
        </p:txBody>
      </p:sp>
      <p:sp>
        <p:nvSpPr>
          <p:cNvPr id="1028" name="Text Placeholder 18">
            <a:extLst>
              <a:ext uri="{FF2B5EF4-FFF2-40B4-BE49-F238E27FC236}">
                <a16:creationId xmlns:a16="http://schemas.microsoft.com/office/drawing/2014/main" id="{A9FE53F2-B455-4581-AEAE-5E73F3DB63BD}"/>
              </a:ext>
            </a:extLst>
          </p:cNvPr>
          <p:cNvSpPr>
            <a:spLocks noGrp="1"/>
          </p:cNvSpPr>
          <p:nvPr>
            <p:ph type="body" idx="1"/>
          </p:nvPr>
        </p:nvSpPr>
        <p:spPr bwMode="auto">
          <a:xfrm>
            <a:off x="469900" y="1665288"/>
            <a:ext cx="11252200" cy="463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GB" altLang="en-US"/>
              <a:t>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2" name="text" descr="{&quot;templafy&quot;:{&quot;id&quot;:&quot;b79eb271-6ad6-479a-b0ed-c0f3f7df00c0&quot;}}" title="UserProfile.Language.Copyright">
            <a:extLst>
              <a:ext uri="{FF2B5EF4-FFF2-40B4-BE49-F238E27FC236}">
                <a16:creationId xmlns:a16="http://schemas.microsoft.com/office/drawing/2014/main" id="{C09C361C-8901-4CA5-A1D0-1FFE86B57AF3}"/>
              </a:ext>
            </a:extLst>
          </p:cNvPr>
          <p:cNvSpPr txBox="1"/>
          <p:nvPr userDrawn="1"/>
        </p:nvSpPr>
        <p:spPr>
          <a:xfrm>
            <a:off x="418289" y="6642738"/>
            <a:ext cx="3147359" cy="156991"/>
          </a:xfrm>
          <a:prstGeom prst="rect">
            <a:avLst/>
          </a:prstGeom>
          <a:noFill/>
        </p:spPr>
        <p:txBody>
          <a:bodyPr wrap="square" lIns="0" tIns="0" rIns="0" bIns="0" rtlCol="0">
            <a:noAutofit/>
          </a:bodyPr>
          <a:lstStyle/>
          <a:p>
            <a:pPr marL="0" indent="0">
              <a:spcBef>
                <a:spcPts val="800"/>
              </a:spcBef>
              <a:buSzPct val="100000"/>
              <a:buFont typeface="Arial"/>
              <a:buNone/>
            </a:pPr>
            <a:r>
              <a:rPr lang="fr-FR" sz="800">
                <a:solidFill>
                  <a:schemeClr val="tx1"/>
                </a:solidFill>
              </a:rPr>
              <a:t>© </a:t>
            </a:r>
            <a:r>
              <a:rPr lang="en-US" sz="800" noProof="0">
                <a:solidFill>
                  <a:schemeClr val="tx1"/>
                </a:solidFill>
                <a:latin typeface="Verdana" panose="020B0604030504040204" pitchFamily="34" charset="0"/>
                <a:ea typeface="Verdana" panose="020B0604030504040204" pitchFamily="34" charset="0"/>
              </a:rPr>
              <a:t>2023 Deloitte Touche </a:t>
            </a:r>
            <a:r>
              <a:rPr lang="en-US" sz="800" kern="1200" noProof="0">
                <a:solidFill>
                  <a:schemeClr val="tx1"/>
                </a:solidFill>
                <a:latin typeface="Verdana" panose="020B0604030504040204" pitchFamily="34" charset="0"/>
                <a:ea typeface="Verdana" panose="020B0604030504040204" pitchFamily="34" charset="0"/>
                <a:cs typeface="+mn-cs"/>
              </a:rPr>
              <a:t>Tohmatsu</a:t>
            </a:r>
            <a:r>
              <a:rPr lang="en-US" sz="800" noProof="0">
                <a:solidFill>
                  <a:schemeClr val="tx1"/>
                </a:solidFill>
                <a:latin typeface="Verdana" panose="020B0604030504040204" pitchFamily="34" charset="0"/>
                <a:ea typeface="Verdana" panose="020B0604030504040204" pitchFamily="34" charset="0"/>
              </a:rPr>
              <a:t> India LLP</a:t>
            </a:r>
          </a:p>
        </p:txBody>
      </p:sp>
      <p:sp>
        <p:nvSpPr>
          <p:cNvPr id="3" name="TextBox 2">
            <a:extLst>
              <a:ext uri="{FF2B5EF4-FFF2-40B4-BE49-F238E27FC236}">
                <a16:creationId xmlns:a16="http://schemas.microsoft.com/office/drawing/2014/main" id="{87DDF3EB-BB4F-FB9E-EA94-251B4D53BFE3}"/>
              </a:ext>
            </a:extLst>
          </p:cNvPr>
          <p:cNvSpPr txBox="1"/>
          <p:nvPr userDrawn="1"/>
        </p:nvSpPr>
        <p:spPr>
          <a:xfrm>
            <a:off x="11423904" y="6635389"/>
            <a:ext cx="360109"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a:solidFill>
                <a:schemeClr val="tx1"/>
              </a:solidFill>
            </a:endParaRPr>
          </a:p>
        </p:txBody>
      </p:sp>
    </p:spTree>
    <p:extLst>
      <p:ext uri="{BB962C8B-B14F-4D97-AF65-F5344CB8AC3E}">
        <p14:creationId xmlns:p14="http://schemas.microsoft.com/office/powerpoint/2010/main" val="3169369005"/>
      </p:ext>
    </p:extLst>
  </p:cSld>
  <p:clrMap bg1="lt1" tx1="dk1" bg2="lt2" tx2="dk2" accent1="accent1" accent2="accent2" accent3="accent3" accent4="accent4" accent5="accent5" accent6="accent6" hlink="hlink" folHlink="folHlink"/>
  <p:sldLayoutIdLst>
    <p:sldLayoutId id="2147483923" r:id="rId1"/>
    <p:sldLayoutId id="2147483924" r:id="rId2"/>
    <p:sldLayoutId id="2147483925" r:id="rId3"/>
    <p:sldLayoutId id="2147483926" r:id="rId4"/>
    <p:sldLayoutId id="2147483927" r:id="rId5"/>
    <p:sldLayoutId id="2147483928" r:id="rId6"/>
    <p:sldLayoutId id="2147483929" r:id="rId7"/>
    <p:sldLayoutId id="2147483930" r:id="rId8"/>
    <p:sldLayoutId id="2147483931" r:id="rId9"/>
    <p:sldLayoutId id="2147483932" r:id="rId10"/>
    <p:sldLayoutId id="2147483933" r:id="rId11"/>
    <p:sldLayoutId id="2147483934" r:id="rId12"/>
  </p:sldLayoutIdLst>
  <p:transition>
    <p:fade/>
  </p:transition>
  <p:hf sldNum="0" hdr="0" dt="0"/>
  <p:txStyles>
    <p:titleStyle>
      <a:lvl1pPr algn="l" defTabSz="1217613" rtl="0" eaLnBrk="0" fontAlgn="base" hangingPunct="0">
        <a:spcBef>
          <a:spcPct val="0"/>
        </a:spcBef>
        <a:spcAft>
          <a:spcPct val="0"/>
        </a:spcAft>
        <a:defRPr sz="2000" kern="1200">
          <a:solidFill>
            <a:schemeClr val="tx1"/>
          </a:solidFill>
          <a:latin typeface="+mj-lt"/>
          <a:ea typeface="+mj-ea"/>
          <a:cs typeface="+mj-cs"/>
        </a:defRPr>
      </a:lvl1pPr>
      <a:lvl2pPr algn="l" defTabSz="1217613" rtl="0" eaLnBrk="0" fontAlgn="base" hangingPunct="0">
        <a:spcBef>
          <a:spcPct val="0"/>
        </a:spcBef>
        <a:spcAft>
          <a:spcPct val="0"/>
        </a:spcAft>
        <a:defRPr sz="2000">
          <a:solidFill>
            <a:schemeClr val="tx1"/>
          </a:solidFill>
          <a:latin typeface="Verdana" panose="020B0604030504040204" pitchFamily="34" charset="0"/>
        </a:defRPr>
      </a:lvl2pPr>
      <a:lvl3pPr algn="l" defTabSz="1217613" rtl="0" eaLnBrk="0" fontAlgn="base" hangingPunct="0">
        <a:spcBef>
          <a:spcPct val="0"/>
        </a:spcBef>
        <a:spcAft>
          <a:spcPct val="0"/>
        </a:spcAft>
        <a:defRPr sz="2000">
          <a:solidFill>
            <a:schemeClr val="tx1"/>
          </a:solidFill>
          <a:latin typeface="Verdana" panose="020B0604030504040204" pitchFamily="34" charset="0"/>
        </a:defRPr>
      </a:lvl3pPr>
      <a:lvl4pPr algn="l" defTabSz="1217613" rtl="0" eaLnBrk="0" fontAlgn="base" hangingPunct="0">
        <a:spcBef>
          <a:spcPct val="0"/>
        </a:spcBef>
        <a:spcAft>
          <a:spcPct val="0"/>
        </a:spcAft>
        <a:defRPr sz="2000">
          <a:solidFill>
            <a:schemeClr val="tx1"/>
          </a:solidFill>
          <a:latin typeface="Verdana" panose="020B0604030504040204" pitchFamily="34" charset="0"/>
        </a:defRPr>
      </a:lvl4pPr>
      <a:lvl5pPr algn="l" defTabSz="1217613" rtl="0" eaLnBrk="0" fontAlgn="base" hangingPunct="0">
        <a:spcBef>
          <a:spcPct val="0"/>
        </a:spcBef>
        <a:spcAft>
          <a:spcPct val="0"/>
        </a:spcAft>
        <a:defRPr sz="2000">
          <a:solidFill>
            <a:schemeClr val="tx1"/>
          </a:solidFill>
          <a:latin typeface="Verdana" panose="020B0604030504040204" pitchFamily="34" charset="0"/>
        </a:defRPr>
      </a:lvl5pPr>
      <a:lvl6pPr marL="457200" algn="l" defTabSz="1217613" rtl="0" fontAlgn="base">
        <a:spcBef>
          <a:spcPct val="0"/>
        </a:spcBef>
        <a:spcAft>
          <a:spcPct val="0"/>
        </a:spcAft>
        <a:defRPr sz="2000">
          <a:solidFill>
            <a:schemeClr val="tx1"/>
          </a:solidFill>
          <a:latin typeface="Verdana" panose="020B0604030504040204" pitchFamily="34" charset="0"/>
        </a:defRPr>
      </a:lvl6pPr>
      <a:lvl7pPr marL="914400" algn="l" defTabSz="1217613" rtl="0" fontAlgn="base">
        <a:spcBef>
          <a:spcPct val="0"/>
        </a:spcBef>
        <a:spcAft>
          <a:spcPct val="0"/>
        </a:spcAft>
        <a:defRPr sz="2000">
          <a:solidFill>
            <a:schemeClr val="tx1"/>
          </a:solidFill>
          <a:latin typeface="Verdana" panose="020B0604030504040204" pitchFamily="34" charset="0"/>
        </a:defRPr>
      </a:lvl7pPr>
      <a:lvl8pPr marL="1371600" algn="l" defTabSz="1217613" rtl="0" fontAlgn="base">
        <a:spcBef>
          <a:spcPct val="0"/>
        </a:spcBef>
        <a:spcAft>
          <a:spcPct val="0"/>
        </a:spcAft>
        <a:defRPr sz="2000">
          <a:solidFill>
            <a:schemeClr val="tx1"/>
          </a:solidFill>
          <a:latin typeface="Verdana" panose="020B0604030504040204" pitchFamily="34" charset="0"/>
        </a:defRPr>
      </a:lvl8pPr>
      <a:lvl9pPr marL="1828800" algn="l" defTabSz="1217613" rtl="0" fontAlgn="base">
        <a:spcBef>
          <a:spcPct val="0"/>
        </a:spcBef>
        <a:spcAft>
          <a:spcPct val="0"/>
        </a:spcAft>
        <a:defRPr sz="2000">
          <a:solidFill>
            <a:schemeClr val="tx1"/>
          </a:solidFill>
          <a:latin typeface="Verdana" panose="020B0604030504040204" pitchFamily="34" charset="0"/>
        </a:defRPr>
      </a:lvl9pPr>
    </p:titleStyle>
    <p:bodyStyle>
      <a:lvl1pPr algn="l" defTabSz="1217613" rtl="0" eaLnBrk="0" fontAlgn="base" hangingPunct="0">
        <a:spcBef>
          <a:spcPct val="0"/>
        </a:spcBef>
        <a:spcAft>
          <a:spcPts val="1338"/>
        </a:spcAft>
        <a:buSzPct val="100000"/>
        <a:buFont typeface="Arial" panose="020B0604020202020204" pitchFamily="34" charset="0"/>
        <a:buChar char="​"/>
        <a:defRPr sz="1200" kern="1200">
          <a:solidFill>
            <a:schemeClr val="tx1"/>
          </a:solidFill>
          <a:latin typeface="+mn-lt"/>
          <a:ea typeface="+mn-ea"/>
          <a:cs typeface="+mn-cs"/>
        </a:defRPr>
      </a:lvl1pPr>
      <a:lvl2pPr algn="l" defTabSz="1217613" rtl="0" eaLnBrk="0" fontAlgn="base" hangingPunct="0">
        <a:spcBef>
          <a:spcPct val="0"/>
        </a:spcBef>
        <a:spcAft>
          <a:spcPts val="1338"/>
        </a:spcAft>
        <a:buSzPct val="100000"/>
        <a:buFont typeface="Arial" panose="020B0604020202020204" pitchFamily="34" charset="0"/>
        <a:buChar char="​"/>
        <a:defRPr lang="en-US" sz="1200" b="1" kern="1200" dirty="0">
          <a:solidFill>
            <a:schemeClr val="tx1"/>
          </a:solidFill>
          <a:latin typeface="+mn-lt"/>
          <a:ea typeface="+mn-ea"/>
          <a:cs typeface="+mn-cs"/>
        </a:defRPr>
      </a:lvl2pPr>
      <a:lvl3pPr marL="234950" indent="-234950" algn="l" defTabSz="1217613" rtl="0" eaLnBrk="0" fontAlgn="base" hangingPunct="0">
        <a:spcBef>
          <a:spcPct val="0"/>
        </a:spcBef>
        <a:spcAft>
          <a:spcPts val="1338"/>
        </a:spcAft>
        <a:buSzPct val="100000"/>
        <a:buFont typeface="Arial" panose="020B0604020202020204" pitchFamily="34" charset="0"/>
        <a:buChar char="•"/>
        <a:defRPr lang="en-US" sz="1200" kern="1200" dirty="0">
          <a:solidFill>
            <a:schemeClr val="tx1"/>
          </a:solidFill>
          <a:latin typeface="+mn-lt"/>
          <a:ea typeface="+mn-ea"/>
          <a:cs typeface="+mn-cs"/>
        </a:defRPr>
      </a:lvl3pPr>
      <a:lvl4pPr marL="474663" indent="-234950" algn="l" defTabSz="1217613" rtl="0" eaLnBrk="0" fontAlgn="base" hangingPunct="0">
        <a:spcBef>
          <a:spcPct val="0"/>
        </a:spcBef>
        <a:spcAft>
          <a:spcPts val="1338"/>
        </a:spcAft>
        <a:buSzPct val="100000"/>
        <a:buFont typeface="Verdana" panose="020B0604030504040204" pitchFamily="34" charset="0"/>
        <a:buChar char="−"/>
        <a:defRPr lang="en-US" sz="1200" kern="1200" dirty="0">
          <a:solidFill>
            <a:schemeClr val="tx1"/>
          </a:solidFill>
          <a:latin typeface="+mn-lt"/>
          <a:ea typeface="+mn-ea"/>
          <a:cs typeface="+mn-cs"/>
        </a:defRPr>
      </a:lvl4pPr>
      <a:lvl5pPr marL="709613" indent="-234950" algn="l" defTabSz="1063625" rtl="0" eaLnBrk="0" fontAlgn="base" hangingPunct="0">
        <a:spcBef>
          <a:spcPct val="0"/>
        </a:spcBef>
        <a:spcAft>
          <a:spcPts val="1338"/>
        </a:spcAft>
        <a:buSzPct val="100000"/>
        <a:buFont typeface="Verdana" panose="020B0604030504040204" pitchFamily="34" charset="0"/>
        <a:buChar char="−"/>
        <a:defRPr lang="en-US" sz="1200" kern="120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5.xml"/><Relationship Id="rId1" Type="http://schemas.openxmlformats.org/officeDocument/2006/relationships/tags" Target="../tags/tag1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 Target="slide122.xml"/><Relationship Id="rId2" Type="http://schemas.openxmlformats.org/officeDocument/2006/relationships/slide" Target="slide5.xml"/><Relationship Id="rId1" Type="http://schemas.openxmlformats.org/officeDocument/2006/relationships/slideLayout" Target="../slideLayouts/slideLayout46.xml"/><Relationship Id="rId6" Type="http://schemas.openxmlformats.org/officeDocument/2006/relationships/image" Target="../media/image10.png"/><Relationship Id="rId5" Type="http://schemas.openxmlformats.org/officeDocument/2006/relationships/slide" Target="slide127.xml"/><Relationship Id="rId4" Type="http://schemas.openxmlformats.org/officeDocument/2006/relationships/slide" Target="slide12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1.xml"/><Relationship Id="rId7" Type="http://schemas.openxmlformats.org/officeDocument/2006/relationships/image" Target="../media/image11.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11.png"/><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notesSlide" Target="../notesSlides/notes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1.xml"/><Relationship Id="rId7" Type="http://schemas.openxmlformats.org/officeDocument/2006/relationships/image" Target="../media/image11.png"/><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2.xml"/><Relationship Id="rId4" Type="http://schemas.openxmlformats.org/officeDocument/2006/relationships/chart" Target="../charts/chart3.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1.xml"/><Relationship Id="rId7" Type="http://schemas.openxmlformats.org/officeDocument/2006/relationships/image" Target="../media/image11.png"/><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notesSlide" Target="../notesSlides/notesSlide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1.xml"/><Relationship Id="rId7" Type="http://schemas.openxmlformats.org/officeDocument/2006/relationships/image" Target="../media/image11.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notesSlide" Target="../notesSlides/notesSlide10.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png"/></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cid:image004.png@01DD2369.D3082ED0" TargetMode="External"/><Relationship Id="rId2" Type="http://schemas.openxmlformats.org/officeDocument/2006/relationships/image" Target="../media/image30.jpeg"/><Relationship Id="rId1" Type="http://schemas.openxmlformats.org/officeDocument/2006/relationships/slideLayout" Target="../slideLayouts/slideLayout12.xml"/><Relationship Id="rId6" Type="http://schemas.openxmlformats.org/officeDocument/2006/relationships/image" Target="../media/image34.png"/><Relationship Id="rId5" Type="http://schemas.openxmlformats.org/officeDocument/2006/relationships/image" Target="../media/image33.jpeg"/><Relationship Id="rId4" Type="http://schemas.openxmlformats.org/officeDocument/2006/relationships/image" Target="../media/image32.png"/></Relationships>
</file>

<file path=ppt/slides/_rels/slide4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cid:image004.png@01DD2369.D3082ED0" TargetMode="Externa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1.xml"/><Relationship Id="rId7" Type="http://schemas.openxmlformats.org/officeDocument/2006/relationships/image" Target="../media/image11.png"/><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notesSlide" Target="../notesSlides/notesSlide15.xml"/></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2.xml"/><Relationship Id="rId5" Type="http://schemas.openxmlformats.org/officeDocument/2006/relationships/image" Target="../media/image39.png"/><Relationship Id="rId4" Type="http://schemas.openxmlformats.org/officeDocument/2006/relationships/image" Target="../media/image38.png"/></Relationships>
</file>

<file path=ppt/slides/_rels/slide4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2.xml"/><Relationship Id="rId5" Type="http://schemas.openxmlformats.org/officeDocument/2006/relationships/image" Target="../media/image40.png"/><Relationship Id="rId4" Type="http://schemas.openxmlformats.org/officeDocument/2006/relationships/image" Target="../media/image38.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1.xml"/><Relationship Id="rId7" Type="http://schemas.openxmlformats.org/officeDocument/2006/relationships/image" Target="../media/image11.png"/><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notesSlide" Target="../notesSlides/notesSlide16.xml"/></Relationships>
</file>

<file path=ppt/slides/_rels/slide50.xml.rels><?xml version="1.0" encoding="UTF-8" standalone="yes"?>
<Relationships xmlns="http://schemas.openxmlformats.org/package/2006/relationships"><Relationship Id="rId3" Type="http://schemas.openxmlformats.org/officeDocument/2006/relationships/hyperlink" Target="https://finance.wb.gov.in/writereaddata/Budget_Publication/BP_30.pdf" TargetMode="External"/><Relationship Id="rId7" Type="http://schemas.openxmlformats.org/officeDocument/2006/relationships/hyperlink" Target="https://www.qaa.ac.uk/docs/qaa/reports/istituto-marangoni-her-ap-16.pdf?sfvrsn=cbfef581_4" TargetMode="External"/><Relationship Id="rId2" Type="http://schemas.openxmlformats.org/officeDocument/2006/relationships/notesSlide" Target="../notesSlides/notesSlide17.xml"/><Relationship Id="rId1" Type="http://schemas.openxmlformats.org/officeDocument/2006/relationships/slideLayout" Target="../slideLayouts/slideLayout14.xml"/><Relationship Id="rId6" Type="http://schemas.openxmlformats.org/officeDocument/2006/relationships/hyperlink" Target="https://www.adb.org/projects/documents/ind-49209-001-tacr" TargetMode="External"/><Relationship Id="rId5" Type="http://schemas.openxmlformats.org/officeDocument/2006/relationships/hyperlink" Target="https://www.adb.org/sites/default/files/publication/662116/strengthening-indias-intergovernmental-fiscal-transfers.pdf" TargetMode="External"/><Relationship Id="rId4" Type="http://schemas.openxmlformats.org/officeDocument/2006/relationships/hyperlink" Target="https://finance.rajasthan.gov.in/PDFDOCS/EAD/12420.pdf" TargetMode="Externa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2.xml.rels><?xml version="1.0" encoding="UTF-8" standalone="yes"?>
<Relationships xmlns="http://schemas.openxmlformats.org/package/2006/relationships"><Relationship Id="rId3" Type="http://schemas.openxmlformats.org/officeDocument/2006/relationships/slideLayout" Target="../slideLayouts/slideLayout11.xml"/><Relationship Id="rId7" Type="http://schemas.openxmlformats.org/officeDocument/2006/relationships/image" Target="../media/image11.pn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notesSlide" Target="../notesSlides/notesSlide25.xml"/></Relationships>
</file>

<file path=ppt/slides/_rels/slide1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124.xml.rels><?xml version="1.0" encoding="UTF-8" standalone="yes"?>
<Relationships xmlns="http://schemas.openxmlformats.org/package/2006/relationships"><Relationship Id="rId3" Type="http://schemas.openxmlformats.org/officeDocument/2006/relationships/slideLayout" Target="../slideLayouts/slideLayout11.xml"/><Relationship Id="rId7" Type="http://schemas.openxmlformats.org/officeDocument/2006/relationships/image" Target="../media/image11.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notesSlide" Target="../notesSlides/notesSlide26.xml"/></Relationships>
</file>

<file path=ppt/slides/_rels/slide12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3.xml"/></Relationships>
</file>

<file path=ppt/slides/_rels/slide12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3.xml"/></Relationships>
</file>

<file path=ppt/slides/_rels/slide127.xml.rels><?xml version="1.0" encoding="UTF-8" standalone="yes"?>
<Relationships xmlns="http://schemas.openxmlformats.org/package/2006/relationships"><Relationship Id="rId3" Type="http://schemas.openxmlformats.org/officeDocument/2006/relationships/slideLayout" Target="../slideLayouts/slideLayout11.xml"/><Relationship Id="rId7" Type="http://schemas.openxmlformats.org/officeDocument/2006/relationships/image" Target="../media/image11.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notesSlide" Target="../notesSlides/notesSlide27.xml"/></Relationships>
</file>

<file path=ppt/slides/_rels/slide128.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33.xml"/></Relationships>
</file>

<file path=ppt/slides/_rels/slide12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3.xml"/></Relationships>
</file>

<file path=ppt/slides/_rels/slide13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33.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7" name="Object 6"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ubtitle 3"/>
          <p:cNvSpPr>
            <a:spLocks noGrp="1"/>
          </p:cNvSpPr>
          <p:nvPr>
            <p:ph type="subTitle" idx="1"/>
          </p:nvPr>
        </p:nvSpPr>
        <p:spPr>
          <a:xfrm>
            <a:off x="389006" y="5381915"/>
            <a:ext cx="11530851" cy="1123370"/>
          </a:xfrm>
        </p:spPr>
        <p:txBody>
          <a:bodyPr/>
          <a:lstStyle/>
          <a:p>
            <a:r>
              <a:rPr lang="en-US" b="1"/>
              <a:t>Ensuring Fiscal Prudence while making provision for partially/fully subsidized Public Goods &amp; Services</a:t>
            </a:r>
          </a:p>
          <a:p>
            <a:r>
              <a:rPr lang="en-US" sz="1400"/>
              <a:t>Technical Presentation</a:t>
            </a:r>
          </a:p>
          <a:p>
            <a:endParaRPr lang="en-US" sz="1400"/>
          </a:p>
          <a:p>
            <a:r>
              <a:rPr lang="en-US" sz="1400" b="1"/>
              <a:t>A research Study proposed to NITI Aayog, Government of India</a:t>
            </a:r>
            <a:endParaRPr lang="en-US" sz="1000" b="1"/>
          </a:p>
          <a:p>
            <a:r>
              <a:rPr lang="en-US" sz="1000"/>
              <a:t>August 2026</a:t>
            </a:r>
          </a:p>
        </p:txBody>
      </p:sp>
      <p:pic>
        <p:nvPicPr>
          <p:cNvPr id="6" name="Picture 5">
            <a:extLst>
              <a:ext uri="{FF2B5EF4-FFF2-40B4-BE49-F238E27FC236}">
                <a16:creationId xmlns:a16="http://schemas.microsoft.com/office/drawing/2014/main" id="{4FE633F6-CECA-4CB0-8794-4CF4E6D7B631}"/>
              </a:ext>
            </a:extLst>
          </p:cNvPr>
          <p:cNvPicPr>
            <a:picLocks noChangeAspect="1"/>
          </p:cNvPicPr>
          <p:nvPr/>
        </p:nvPicPr>
        <p:blipFill rotWithShape="1">
          <a:blip r:embed="rId5">
            <a:extLst>
              <a:ext uri="{28A0092B-C50C-407E-A947-70E740481C1C}">
                <a14:useLocalDpi xmlns:a14="http://schemas.microsoft.com/office/drawing/2010/main" val="0"/>
              </a:ext>
            </a:extLst>
          </a:blip>
          <a:srcRect t="17290" b="17290"/>
          <a:stretch/>
        </p:blipFill>
        <p:spPr>
          <a:xfrm>
            <a:off x="3315822" y="914400"/>
            <a:ext cx="6178528" cy="4171308"/>
          </a:xfrm>
          <a:prstGeom prst="rect">
            <a:avLst/>
          </a:prstGeom>
        </p:spPr>
      </p:pic>
      <p:pic>
        <p:nvPicPr>
          <p:cNvPr id="1026" name="Picture 2" descr="All you need to know about NITI Aayog - by Naveen Singh ...">
            <a:extLst>
              <a:ext uri="{FF2B5EF4-FFF2-40B4-BE49-F238E27FC236}">
                <a16:creationId xmlns:a16="http://schemas.microsoft.com/office/drawing/2014/main" id="{D2EC0328-B018-CA2E-AB0D-4A688E09760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49640" y="118928"/>
            <a:ext cx="1902660" cy="902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619239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708CF6-A20B-018E-279F-8A7CC515A1F0}"/>
              </a:ext>
            </a:extLst>
          </p:cNvPr>
          <p:cNvSpPr>
            <a:spLocks noGrp="1"/>
          </p:cNvSpPr>
          <p:nvPr>
            <p:ph idx="1"/>
          </p:nvPr>
        </p:nvSpPr>
        <p:spPr/>
        <p:txBody>
          <a:bodyPr/>
          <a:lstStyle/>
          <a:p>
            <a:r>
              <a:rPr lang="en-IN" dirty="0"/>
              <a:t>(DMEO Proposal)</a:t>
            </a:r>
          </a:p>
          <a:p>
            <a:r>
              <a:rPr lang="en-IN" dirty="0"/>
              <a:t>-</a:t>
            </a:r>
          </a:p>
        </p:txBody>
      </p:sp>
      <p:sp>
        <p:nvSpPr>
          <p:cNvPr id="3" name="Text Placeholder 2">
            <a:extLst>
              <a:ext uri="{FF2B5EF4-FFF2-40B4-BE49-F238E27FC236}">
                <a16:creationId xmlns:a16="http://schemas.microsoft.com/office/drawing/2014/main" id="{B8272B0D-D665-7826-EAB0-416DBC01453D}"/>
              </a:ext>
            </a:extLst>
          </p:cNvPr>
          <p:cNvSpPr>
            <a:spLocks noGrp="1"/>
          </p:cNvSpPr>
          <p:nvPr>
            <p:ph type="body" sz="quarter" idx="13"/>
          </p:nvPr>
        </p:nvSpPr>
        <p:spPr/>
        <p:txBody>
          <a:bodyPr/>
          <a:lstStyle/>
          <a:p>
            <a:endParaRPr lang="en-IN"/>
          </a:p>
        </p:txBody>
      </p:sp>
      <p:sp>
        <p:nvSpPr>
          <p:cNvPr id="4" name="Title 3">
            <a:extLst>
              <a:ext uri="{FF2B5EF4-FFF2-40B4-BE49-F238E27FC236}">
                <a16:creationId xmlns:a16="http://schemas.microsoft.com/office/drawing/2014/main" id="{C1C58670-4DF8-6DCF-11FD-14F93646A0EA}"/>
              </a:ext>
            </a:extLst>
          </p:cNvPr>
          <p:cNvSpPr>
            <a:spLocks noGrp="1"/>
          </p:cNvSpPr>
          <p:nvPr>
            <p:ph type="title"/>
          </p:nvPr>
        </p:nvSpPr>
        <p:spPr/>
        <p:txBody>
          <a:bodyPr/>
          <a:lstStyle/>
          <a:p>
            <a:r>
              <a:rPr lang="en-IN" dirty="0"/>
              <a:t>Contents</a:t>
            </a:r>
          </a:p>
        </p:txBody>
      </p:sp>
    </p:spTree>
    <p:extLst>
      <p:ext uri="{BB962C8B-B14F-4D97-AF65-F5344CB8AC3E}">
        <p14:creationId xmlns:p14="http://schemas.microsoft.com/office/powerpoint/2010/main" val="55676445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3A203594-85B4-CE6A-3755-CA2F36B3AC41}"/>
              </a:ext>
            </a:extLst>
          </p:cNvPr>
          <p:cNvGrpSpPr/>
          <p:nvPr/>
        </p:nvGrpSpPr>
        <p:grpSpPr>
          <a:xfrm>
            <a:off x="980194" y="969519"/>
            <a:ext cx="10546109" cy="5072176"/>
            <a:chOff x="980194" y="969519"/>
            <a:chExt cx="10546109" cy="5072176"/>
          </a:xfrm>
        </p:grpSpPr>
        <p:grpSp>
          <p:nvGrpSpPr>
            <p:cNvPr id="14" name="Group 13">
              <a:extLst>
                <a:ext uri="{FF2B5EF4-FFF2-40B4-BE49-F238E27FC236}">
                  <a16:creationId xmlns:a16="http://schemas.microsoft.com/office/drawing/2014/main" id="{288D48BA-7935-D8E1-0EC0-FC673087DC52}"/>
                </a:ext>
              </a:extLst>
            </p:cNvPr>
            <p:cNvGrpSpPr/>
            <p:nvPr/>
          </p:nvGrpSpPr>
          <p:grpSpPr>
            <a:xfrm>
              <a:off x="980194" y="4979866"/>
              <a:ext cx="10541981" cy="1061829"/>
              <a:chOff x="980194" y="4979866"/>
              <a:chExt cx="10541981" cy="1061829"/>
            </a:xfrm>
          </p:grpSpPr>
          <p:sp>
            <p:nvSpPr>
              <p:cNvPr id="107" name="Isosceles Triangle 106">
                <a:extLst>
                  <a:ext uri="{FF2B5EF4-FFF2-40B4-BE49-F238E27FC236}">
                    <a16:creationId xmlns:a16="http://schemas.microsoft.com/office/drawing/2014/main" id="{A0D286BE-5491-449D-A33C-9B879A75659E}"/>
                  </a:ext>
                </a:extLst>
              </p:cNvPr>
              <p:cNvSpPr/>
              <p:nvPr/>
            </p:nvSpPr>
            <p:spPr>
              <a:xfrm rot="5400000">
                <a:off x="1874919" y="5449811"/>
                <a:ext cx="393293" cy="147483"/>
              </a:xfrm>
              <a:prstGeom prst="triangle">
                <a:avLst/>
              </a:prstGeom>
              <a:solidFill>
                <a:srgbClr val="0097A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pitchFamily="34" charset="0"/>
                  <a:cs typeface="Calibri" panose="020F0502020204030204" pitchFamily="34" charset="0"/>
                </a:endParaRPr>
              </a:p>
            </p:txBody>
          </p:sp>
          <p:sp>
            <p:nvSpPr>
              <p:cNvPr id="108" name="TextBox 107">
                <a:extLst>
                  <a:ext uri="{FF2B5EF4-FFF2-40B4-BE49-F238E27FC236}">
                    <a16:creationId xmlns:a16="http://schemas.microsoft.com/office/drawing/2014/main" id="{6CCC9E2B-39FC-476A-9F39-59479BDA7274}"/>
                  </a:ext>
                </a:extLst>
              </p:cNvPr>
              <p:cNvSpPr txBox="1"/>
              <p:nvPr/>
            </p:nvSpPr>
            <p:spPr>
              <a:xfrm>
                <a:off x="2295268" y="5069582"/>
                <a:ext cx="1970692" cy="900246"/>
              </a:xfrm>
              <a:prstGeom prst="rect">
                <a:avLst/>
              </a:prstGeom>
              <a:noFill/>
            </p:spPr>
            <p:txBody>
              <a:bodyPr wrap="square" rtlCol="0">
                <a:spAutoFit/>
              </a:bodyPr>
              <a:lstStyle/>
              <a:p>
                <a:pPr>
                  <a:defRPr/>
                </a:pPr>
                <a:r>
                  <a:rPr lang="en-US" sz="1050" b="1">
                    <a:solidFill>
                      <a:srgbClr val="0097A9"/>
                    </a:solidFill>
                    <a:latin typeface="+mj-lt"/>
                    <a:ea typeface="Verdana" panose="020B0604030504040204" pitchFamily="34" charset="0"/>
                    <a:cs typeface="Calibri" panose="020F0502020204030204" pitchFamily="34" charset="0"/>
                  </a:rPr>
                  <a:t>We Know you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Verdana"/>
                    <a:ea typeface="Verdana" panose="020B0604030504040204" pitchFamily="34" charset="0"/>
                    <a:cs typeface="+mn-cs"/>
                  </a:rPr>
                  <a:t>Our firm has served the NITI Aayog. We know your people, priorities and purpose</a:t>
                </a:r>
              </a:p>
            </p:txBody>
          </p:sp>
          <p:sp>
            <p:nvSpPr>
              <p:cNvPr id="112" name="TextBox 111">
                <a:extLst>
                  <a:ext uri="{FF2B5EF4-FFF2-40B4-BE49-F238E27FC236}">
                    <a16:creationId xmlns:a16="http://schemas.microsoft.com/office/drawing/2014/main" id="{4152330E-4358-4ED5-A0C9-7F39E7C49A9F}"/>
                  </a:ext>
                </a:extLst>
              </p:cNvPr>
              <p:cNvSpPr txBox="1"/>
              <p:nvPr/>
            </p:nvSpPr>
            <p:spPr>
              <a:xfrm>
                <a:off x="4415921" y="4979866"/>
                <a:ext cx="7106254" cy="1061829"/>
              </a:xfrm>
              <a:prstGeom prst="rect">
                <a:avLst/>
              </a:prstGeom>
              <a:noFill/>
            </p:spPr>
            <p:txBody>
              <a:bodyPr wrap="square" rtlCol="0">
                <a:spAutoFit/>
              </a:bodyPr>
              <a:lstStyle/>
              <a:p>
                <a:pPr marL="216000" lvl="0" indent="-216000" algn="just">
                  <a:buFont typeface="Arial" panose="020B0604020202020204" pitchFamily="34" charset="0"/>
                  <a:buChar char="•"/>
                  <a:defRPr/>
                </a:pPr>
                <a:r>
                  <a:rPr lang="en-IN" sz="1050"/>
                  <a:t>We know that </a:t>
                </a:r>
                <a:r>
                  <a:rPr lang="en-IN" sz="1050" b="1">
                    <a:solidFill>
                      <a:srgbClr val="92D050"/>
                    </a:solidFill>
                  </a:rPr>
                  <a:t>NITI Aayog plays a pivotal role in shaping India’s development priorities</a:t>
                </a:r>
                <a:r>
                  <a:rPr lang="en-IN" sz="1050" b="1"/>
                  <a:t>, </a:t>
                </a:r>
                <a:r>
                  <a:rPr lang="en-IN" sz="1050" b="1">
                    <a:solidFill>
                      <a:srgbClr val="92D050"/>
                    </a:solidFill>
                  </a:rPr>
                  <a:t>policy frameworks and evidence-based reforms. Deloitte has served as a trusted advisor to NITI Aayog</a:t>
                </a:r>
                <a:r>
                  <a:rPr lang="en-IN" sz="1050">
                    <a:solidFill>
                      <a:srgbClr val="92D050"/>
                    </a:solidFill>
                  </a:rPr>
                  <a:t> </a:t>
                </a:r>
                <a:r>
                  <a:rPr lang="en-IN" sz="1050"/>
                  <a:t>across assignments on public finance, subsidy assessment, scheme evaluation and strategic policy research. </a:t>
                </a:r>
                <a:r>
                  <a:rPr lang="en-IN" sz="1050" b="1">
                    <a:solidFill>
                      <a:srgbClr val="92D050"/>
                    </a:solidFill>
                  </a:rPr>
                  <a:t>We understand NITI Aayog’s focus on evidence-driven policymaking and fiscal efficiency and have proposed a team with the relevant expertise and experience to provide high-quality advisory support for this study</a:t>
                </a:r>
                <a:r>
                  <a:rPr lang="en-IN" sz="1050" b="1"/>
                  <a:t>.</a:t>
                </a:r>
                <a:endParaRPr lang="en-US" sz="1050" b="1">
                  <a:solidFill>
                    <a:srgbClr val="92D050"/>
                  </a:solidFill>
                  <a:latin typeface="Verdana"/>
                  <a:ea typeface="Verdana" panose="020B0604030504040204" pitchFamily="34" charset="0"/>
                </a:endParaRPr>
              </a:p>
            </p:txBody>
          </p:sp>
          <p:pic>
            <p:nvPicPr>
              <p:cNvPr id="24" name="Picture 2" descr="CRM free icon">
                <a:extLst>
                  <a:ext uri="{FF2B5EF4-FFF2-40B4-BE49-F238E27FC236}">
                    <a16:creationId xmlns:a16="http://schemas.microsoft.com/office/drawing/2014/main" id="{201A2BE0-05D6-434D-B821-5E1157209A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0194" y="5135012"/>
                <a:ext cx="777080" cy="777080"/>
              </a:xfrm>
              <a:prstGeom prst="rect">
                <a:avLst/>
              </a:prstGeom>
              <a:noFill/>
              <a:effectLst>
                <a:glow rad="38100">
                  <a:schemeClr val="accent5">
                    <a:satMod val="175000"/>
                    <a:alpha val="40000"/>
                  </a:schemeClr>
                </a:glow>
              </a:effectLst>
              <a:extLst>
                <a:ext uri="{909E8E84-426E-40DD-AFC4-6F175D3DCCD1}">
                  <a14:hiddenFill xmlns:a14="http://schemas.microsoft.com/office/drawing/2010/main">
                    <a:solidFill>
                      <a:srgbClr val="FFFFFF"/>
                    </a:solidFill>
                  </a14:hiddenFill>
                </a:ext>
              </a:extLst>
            </p:spPr>
          </p:pic>
        </p:grpSp>
        <p:grpSp>
          <p:nvGrpSpPr>
            <p:cNvPr id="11" name="Group 10">
              <a:extLst>
                <a:ext uri="{FF2B5EF4-FFF2-40B4-BE49-F238E27FC236}">
                  <a16:creationId xmlns:a16="http://schemas.microsoft.com/office/drawing/2014/main" id="{6C4A2A32-E995-9212-16FE-797E363CF6F0}"/>
                </a:ext>
              </a:extLst>
            </p:cNvPr>
            <p:cNvGrpSpPr/>
            <p:nvPr/>
          </p:nvGrpSpPr>
          <p:grpSpPr>
            <a:xfrm>
              <a:off x="980194" y="1025687"/>
              <a:ext cx="10546109" cy="3578890"/>
              <a:chOff x="980194" y="1025687"/>
              <a:chExt cx="10546109" cy="3578890"/>
            </a:xfrm>
          </p:grpSpPr>
          <p:sp>
            <p:nvSpPr>
              <p:cNvPr id="101" name="Isosceles Triangle 100">
                <a:extLst>
                  <a:ext uri="{FF2B5EF4-FFF2-40B4-BE49-F238E27FC236}">
                    <a16:creationId xmlns:a16="http://schemas.microsoft.com/office/drawing/2014/main" id="{1909E59C-E914-48E3-95AA-2E345F253818}"/>
                  </a:ext>
                </a:extLst>
              </p:cNvPr>
              <p:cNvSpPr/>
              <p:nvPr/>
            </p:nvSpPr>
            <p:spPr>
              <a:xfrm rot="5400000">
                <a:off x="1874919" y="1321278"/>
                <a:ext cx="393293" cy="147483"/>
              </a:xfrm>
              <a:prstGeom prst="triangle">
                <a:avLst/>
              </a:prstGeom>
              <a:solidFill>
                <a:srgbClr val="0097A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pitchFamily="34" charset="0"/>
                  <a:cs typeface="Calibri" panose="020F0502020204030204" pitchFamily="34" charset="0"/>
                </a:endParaRPr>
              </a:p>
            </p:txBody>
          </p:sp>
          <p:sp>
            <p:nvSpPr>
              <p:cNvPr id="102" name="TextBox 101">
                <a:extLst>
                  <a:ext uri="{FF2B5EF4-FFF2-40B4-BE49-F238E27FC236}">
                    <a16:creationId xmlns:a16="http://schemas.microsoft.com/office/drawing/2014/main" id="{2F0ACAC1-53E7-40CB-A825-CE0715677B44}"/>
                  </a:ext>
                </a:extLst>
              </p:cNvPr>
              <p:cNvSpPr txBox="1"/>
              <p:nvPr/>
            </p:nvSpPr>
            <p:spPr>
              <a:xfrm>
                <a:off x="2295268" y="1025687"/>
                <a:ext cx="2020427"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97A9"/>
                    </a:solidFill>
                    <a:effectLst/>
                    <a:uLnTx/>
                    <a:uFillTx/>
                    <a:latin typeface="+mj-lt"/>
                    <a:ea typeface="Verdana" panose="020B0604030504040204" pitchFamily="34" charset="0"/>
                    <a:cs typeface="Calibri" panose="020F0502020204030204" pitchFamily="34" charset="0"/>
                  </a:rPr>
                  <a:t>Our experience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rPr>
                  <a:t>We have undertaken similar projects in </a:t>
                </a:r>
                <a:r>
                  <a:rPr lang="en-US" sz="1050">
                    <a:solidFill>
                      <a:prstClr val="black"/>
                    </a:solidFill>
                    <a:latin typeface="+mj-lt"/>
                    <a:ea typeface="Verdana" panose="020B0604030504040204" pitchFamily="34" charset="0"/>
                    <a:cs typeface="Calibri" panose="020F0502020204030204" pitchFamily="34" charset="0"/>
                  </a:rPr>
                  <a:t>India</a:t>
                </a:r>
                <a:r>
                  <a:rPr kumimoji="0" lang="en-US" sz="1050" b="0" i="0" u="none" strike="noStrike" kern="120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rPr>
                  <a:t> and abroad</a:t>
                </a:r>
                <a:endParaRPr kumimoji="0" lang="en-IN" sz="1050" b="0" i="0" u="none" strike="noStrike" kern="120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endParaRPr>
              </a:p>
            </p:txBody>
          </p:sp>
          <p:sp>
            <p:nvSpPr>
              <p:cNvPr id="109" name="TextBox 108">
                <a:extLst>
                  <a:ext uri="{FF2B5EF4-FFF2-40B4-BE49-F238E27FC236}">
                    <a16:creationId xmlns:a16="http://schemas.microsoft.com/office/drawing/2014/main" id="{8E589345-6998-49F5-96C1-8BB56AEF594D}"/>
                  </a:ext>
                </a:extLst>
              </p:cNvPr>
              <p:cNvSpPr txBox="1"/>
              <p:nvPr/>
            </p:nvSpPr>
            <p:spPr>
              <a:xfrm>
                <a:off x="4420048" y="3704331"/>
                <a:ext cx="7106255" cy="900246"/>
              </a:xfrm>
              <a:prstGeom prst="rect">
                <a:avLst/>
              </a:prstGeom>
              <a:noFill/>
            </p:spPr>
            <p:txBody>
              <a:bodyPr wrap="square" rtlCol="0">
                <a:spAutoFit/>
              </a:bodyPr>
              <a:lstStyle/>
              <a:p>
                <a:pPr marL="216000" marR="0" lvl="0" indent="-2160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prstClr val="black"/>
                    </a:solidFill>
                    <a:effectLst/>
                    <a:uLnTx/>
                    <a:uFillTx/>
                    <a:latin typeface="Verdana"/>
                    <a:ea typeface="Verdana" panose="020B0604030504040204" pitchFamily="34" charset="0"/>
                    <a:cs typeface="+mn-cs"/>
                  </a:rPr>
                  <a:t>Deloitte has proven experience in </a:t>
                </a:r>
                <a:r>
                  <a:rPr kumimoji="0" lang="en-US" sz="1050" b="0" i="0" u="none" strike="noStrike" kern="1200" cap="none" spc="0" normalizeH="0" baseline="0" noProof="0">
                    <a:ln>
                      <a:noFill/>
                    </a:ln>
                    <a:solidFill>
                      <a:srgbClr val="92D050"/>
                    </a:solidFill>
                    <a:effectLst/>
                    <a:uLnTx/>
                    <a:uFillTx/>
                    <a:latin typeface="Verdana"/>
                    <a:ea typeface="Verdana" panose="020B0604030504040204" pitchFamily="34" charset="0"/>
                    <a:cs typeface="+mn-cs"/>
                  </a:rPr>
                  <a:t>assignments related to government and public sector </a:t>
                </a:r>
                <a:r>
                  <a:rPr kumimoji="0" lang="en-US" sz="1050" b="0" i="0" u="none" strike="noStrike" kern="1200" cap="none" spc="0" normalizeH="0" baseline="0" noProof="0">
                    <a:ln>
                      <a:noFill/>
                    </a:ln>
                    <a:solidFill>
                      <a:prstClr val="black"/>
                    </a:solidFill>
                    <a:effectLst/>
                    <a:uLnTx/>
                    <a:uFillTx/>
                    <a:latin typeface="Verdana"/>
                    <a:ea typeface="Verdana" panose="020B0604030504040204" pitchFamily="34" charset="0"/>
                    <a:cs typeface="+mn-cs"/>
                  </a:rPr>
                  <a:t>transformation, </a:t>
                </a:r>
                <a:r>
                  <a:rPr kumimoji="0" lang="en-US" sz="1050" b="0" i="0" u="none" strike="noStrike" kern="1200" cap="none" spc="0" normalizeH="0" baseline="0" noProof="0">
                    <a:ln>
                      <a:noFill/>
                    </a:ln>
                    <a:solidFill>
                      <a:srgbClr val="92D050"/>
                    </a:solidFill>
                    <a:effectLst/>
                    <a:uLnTx/>
                    <a:uFillTx/>
                    <a:latin typeface="Verdana"/>
                    <a:ea typeface="Verdana" panose="020B0604030504040204" pitchFamily="34" charset="0"/>
                    <a:cs typeface="+mn-cs"/>
                  </a:rPr>
                  <a:t>public finance and fiscal governance in India and abroad, </a:t>
                </a:r>
                <a:r>
                  <a:rPr kumimoji="0" lang="en-US" sz="1050" b="0" i="0" u="none" strike="noStrike" kern="1200" cap="none" spc="0" normalizeH="0" baseline="0" noProof="0">
                    <a:ln>
                      <a:noFill/>
                    </a:ln>
                    <a:solidFill>
                      <a:prstClr val="black"/>
                    </a:solidFill>
                    <a:effectLst/>
                    <a:uLnTx/>
                    <a:uFillTx/>
                    <a:latin typeface="Verdana"/>
                    <a:ea typeface="Verdana" panose="020B0604030504040204" pitchFamily="34" charset="0"/>
                    <a:cs typeface="+mn-cs"/>
                  </a:rPr>
                  <a:t>with dedicated teams working across areas such as fiscal policy and strategy, public financial management, expenditure and subsidy reforms, revenue and debt management, policy research and evaluation, institutional strengthening, digital transformation, capacity building, and evidence-based governance reforms.</a:t>
                </a:r>
                <a:endParaRPr kumimoji="0" lang="en-IN" sz="1050" b="0" i="0" u="none" strike="noStrike" kern="1200" cap="none" spc="0" normalizeH="0" baseline="0" noProof="0">
                  <a:ln>
                    <a:noFill/>
                  </a:ln>
                  <a:solidFill>
                    <a:prstClr val="black"/>
                  </a:solidFill>
                  <a:effectLst/>
                  <a:uLnTx/>
                  <a:uFillTx/>
                  <a:latin typeface="Verdana"/>
                  <a:ea typeface="Verdana" panose="020B0604030504040204" pitchFamily="34" charset="0"/>
                  <a:cs typeface="+mn-cs"/>
                </a:endParaRPr>
              </a:p>
            </p:txBody>
          </p:sp>
          <p:sp>
            <p:nvSpPr>
              <p:cNvPr id="25" name="Freeform 671">
                <a:extLst>
                  <a:ext uri="{FF2B5EF4-FFF2-40B4-BE49-F238E27FC236}">
                    <a16:creationId xmlns:a16="http://schemas.microsoft.com/office/drawing/2014/main" id="{5827945C-2987-4DC8-86FF-3C1E4C399E8D}"/>
                  </a:ext>
                </a:extLst>
              </p:cNvPr>
              <p:cNvSpPr>
                <a:spLocks noEditPoints="1"/>
              </p:cNvSpPr>
              <p:nvPr/>
            </p:nvSpPr>
            <p:spPr bwMode="auto">
              <a:xfrm>
                <a:off x="980194" y="1123071"/>
                <a:ext cx="677802" cy="543897"/>
              </a:xfrm>
              <a:custGeom>
                <a:avLst/>
                <a:gdLst>
                  <a:gd name="T0" fmla="*/ 298 w 322"/>
                  <a:gd name="T1" fmla="*/ 67 h 320"/>
                  <a:gd name="T2" fmla="*/ 246 w 322"/>
                  <a:gd name="T3" fmla="*/ 55 h 320"/>
                  <a:gd name="T4" fmla="*/ 246 w 322"/>
                  <a:gd name="T5" fmla="*/ 10 h 320"/>
                  <a:gd name="T6" fmla="*/ 235 w 322"/>
                  <a:gd name="T7" fmla="*/ 0 h 320"/>
                  <a:gd name="T8" fmla="*/ 86 w 322"/>
                  <a:gd name="T9" fmla="*/ 0 h 320"/>
                  <a:gd name="T10" fmla="*/ 75 w 322"/>
                  <a:gd name="T11" fmla="*/ 10 h 320"/>
                  <a:gd name="T12" fmla="*/ 76 w 322"/>
                  <a:gd name="T13" fmla="*/ 55 h 320"/>
                  <a:gd name="T14" fmla="*/ 23 w 322"/>
                  <a:gd name="T15" fmla="*/ 67 h 320"/>
                  <a:gd name="T16" fmla="*/ 52 w 322"/>
                  <a:gd name="T17" fmla="*/ 177 h 320"/>
                  <a:gd name="T18" fmla="*/ 104 w 322"/>
                  <a:gd name="T19" fmla="*/ 213 h 320"/>
                  <a:gd name="T20" fmla="*/ 107 w 322"/>
                  <a:gd name="T21" fmla="*/ 213 h 320"/>
                  <a:gd name="T22" fmla="*/ 109 w 322"/>
                  <a:gd name="T23" fmla="*/ 213 h 320"/>
                  <a:gd name="T24" fmla="*/ 121 w 322"/>
                  <a:gd name="T25" fmla="*/ 227 h 320"/>
                  <a:gd name="T26" fmla="*/ 146 w 322"/>
                  <a:gd name="T27" fmla="*/ 243 h 320"/>
                  <a:gd name="T28" fmla="*/ 119 w 322"/>
                  <a:gd name="T29" fmla="*/ 305 h 320"/>
                  <a:gd name="T30" fmla="*/ 120 w 322"/>
                  <a:gd name="T31" fmla="*/ 315 h 320"/>
                  <a:gd name="T32" fmla="*/ 129 w 322"/>
                  <a:gd name="T33" fmla="*/ 320 h 320"/>
                  <a:gd name="T34" fmla="*/ 193 w 322"/>
                  <a:gd name="T35" fmla="*/ 320 h 320"/>
                  <a:gd name="T36" fmla="*/ 202 w 322"/>
                  <a:gd name="T37" fmla="*/ 315 h 320"/>
                  <a:gd name="T38" fmla="*/ 202 w 322"/>
                  <a:gd name="T39" fmla="*/ 305 h 320"/>
                  <a:gd name="T40" fmla="*/ 176 w 322"/>
                  <a:gd name="T41" fmla="*/ 243 h 320"/>
                  <a:gd name="T42" fmla="*/ 201 w 322"/>
                  <a:gd name="T43" fmla="*/ 227 h 320"/>
                  <a:gd name="T44" fmla="*/ 212 w 322"/>
                  <a:gd name="T45" fmla="*/ 213 h 320"/>
                  <a:gd name="T46" fmla="*/ 214 w 322"/>
                  <a:gd name="T47" fmla="*/ 213 h 320"/>
                  <a:gd name="T48" fmla="*/ 217 w 322"/>
                  <a:gd name="T49" fmla="*/ 213 h 320"/>
                  <a:gd name="T50" fmla="*/ 270 w 322"/>
                  <a:gd name="T51" fmla="*/ 177 h 320"/>
                  <a:gd name="T52" fmla="*/ 298 w 322"/>
                  <a:gd name="T53" fmla="*/ 67 h 320"/>
                  <a:gd name="T54" fmla="*/ 66 w 322"/>
                  <a:gd name="T55" fmla="*/ 161 h 320"/>
                  <a:gd name="T56" fmla="*/ 39 w 322"/>
                  <a:gd name="T57" fmla="*/ 81 h 320"/>
                  <a:gd name="T58" fmla="*/ 77 w 322"/>
                  <a:gd name="T59" fmla="*/ 77 h 320"/>
                  <a:gd name="T60" fmla="*/ 97 w 322"/>
                  <a:gd name="T61" fmla="*/ 186 h 320"/>
                  <a:gd name="T62" fmla="*/ 66 w 322"/>
                  <a:gd name="T63" fmla="*/ 161 h 320"/>
                  <a:gd name="T64" fmla="*/ 145 w 322"/>
                  <a:gd name="T65" fmla="*/ 298 h 320"/>
                  <a:gd name="T66" fmla="*/ 161 w 322"/>
                  <a:gd name="T67" fmla="*/ 262 h 320"/>
                  <a:gd name="T68" fmla="*/ 176 w 322"/>
                  <a:gd name="T69" fmla="*/ 298 h 320"/>
                  <a:gd name="T70" fmla="*/ 145 w 322"/>
                  <a:gd name="T71" fmla="*/ 298 h 320"/>
                  <a:gd name="T72" fmla="*/ 185 w 322"/>
                  <a:gd name="T73" fmla="*/ 213 h 320"/>
                  <a:gd name="T74" fmla="*/ 161 w 322"/>
                  <a:gd name="T75" fmla="*/ 224 h 320"/>
                  <a:gd name="T76" fmla="*/ 136 w 322"/>
                  <a:gd name="T77" fmla="*/ 213 h 320"/>
                  <a:gd name="T78" fmla="*/ 96 w 322"/>
                  <a:gd name="T79" fmla="*/ 21 h 320"/>
                  <a:gd name="T80" fmla="*/ 225 w 322"/>
                  <a:gd name="T81" fmla="*/ 21 h 320"/>
                  <a:gd name="T82" fmla="*/ 185 w 322"/>
                  <a:gd name="T83" fmla="*/ 213 h 320"/>
                  <a:gd name="T84" fmla="*/ 255 w 322"/>
                  <a:gd name="T85" fmla="*/ 161 h 320"/>
                  <a:gd name="T86" fmla="*/ 225 w 322"/>
                  <a:gd name="T87" fmla="*/ 186 h 320"/>
                  <a:gd name="T88" fmla="*/ 245 w 322"/>
                  <a:gd name="T89" fmla="*/ 77 h 320"/>
                  <a:gd name="T90" fmla="*/ 283 w 322"/>
                  <a:gd name="T91" fmla="*/ 81 h 320"/>
                  <a:gd name="T92" fmla="*/ 255 w 322"/>
                  <a:gd name="T93" fmla="*/ 161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2" h="320">
                    <a:moveTo>
                      <a:pt x="298" y="67"/>
                    </a:moveTo>
                    <a:cubicBezTo>
                      <a:pt x="286" y="54"/>
                      <a:pt x="268" y="50"/>
                      <a:pt x="246" y="55"/>
                    </a:cubicBezTo>
                    <a:cubicBezTo>
                      <a:pt x="247" y="30"/>
                      <a:pt x="246" y="12"/>
                      <a:pt x="246" y="10"/>
                    </a:cubicBezTo>
                    <a:cubicBezTo>
                      <a:pt x="246" y="4"/>
                      <a:pt x="241" y="0"/>
                      <a:pt x="235" y="0"/>
                    </a:cubicBezTo>
                    <a:cubicBezTo>
                      <a:pt x="86" y="0"/>
                      <a:pt x="86" y="0"/>
                      <a:pt x="86" y="0"/>
                    </a:cubicBezTo>
                    <a:cubicBezTo>
                      <a:pt x="80" y="0"/>
                      <a:pt x="76" y="4"/>
                      <a:pt x="75" y="10"/>
                    </a:cubicBezTo>
                    <a:cubicBezTo>
                      <a:pt x="75" y="12"/>
                      <a:pt x="75" y="30"/>
                      <a:pt x="76" y="55"/>
                    </a:cubicBezTo>
                    <a:cubicBezTo>
                      <a:pt x="54" y="50"/>
                      <a:pt x="35" y="54"/>
                      <a:pt x="23" y="67"/>
                    </a:cubicBezTo>
                    <a:cubicBezTo>
                      <a:pt x="0" y="92"/>
                      <a:pt x="12" y="140"/>
                      <a:pt x="52" y="177"/>
                    </a:cubicBezTo>
                    <a:cubicBezTo>
                      <a:pt x="67" y="191"/>
                      <a:pt x="85" y="207"/>
                      <a:pt x="104" y="213"/>
                    </a:cubicBezTo>
                    <a:cubicBezTo>
                      <a:pt x="105" y="213"/>
                      <a:pt x="106" y="213"/>
                      <a:pt x="107" y="213"/>
                    </a:cubicBezTo>
                    <a:cubicBezTo>
                      <a:pt x="108" y="213"/>
                      <a:pt x="109" y="213"/>
                      <a:pt x="109" y="213"/>
                    </a:cubicBezTo>
                    <a:cubicBezTo>
                      <a:pt x="113" y="218"/>
                      <a:pt x="117" y="223"/>
                      <a:pt x="121" y="227"/>
                    </a:cubicBezTo>
                    <a:cubicBezTo>
                      <a:pt x="128" y="235"/>
                      <a:pt x="136" y="240"/>
                      <a:pt x="146" y="243"/>
                    </a:cubicBezTo>
                    <a:cubicBezTo>
                      <a:pt x="119" y="305"/>
                      <a:pt x="119" y="305"/>
                      <a:pt x="119" y="305"/>
                    </a:cubicBezTo>
                    <a:cubicBezTo>
                      <a:pt x="117" y="308"/>
                      <a:pt x="118" y="312"/>
                      <a:pt x="120" y="315"/>
                    </a:cubicBezTo>
                    <a:cubicBezTo>
                      <a:pt x="122" y="318"/>
                      <a:pt x="125" y="320"/>
                      <a:pt x="129" y="320"/>
                    </a:cubicBezTo>
                    <a:cubicBezTo>
                      <a:pt x="193" y="320"/>
                      <a:pt x="193" y="320"/>
                      <a:pt x="193" y="320"/>
                    </a:cubicBezTo>
                    <a:cubicBezTo>
                      <a:pt x="196" y="320"/>
                      <a:pt x="200" y="318"/>
                      <a:pt x="202" y="315"/>
                    </a:cubicBezTo>
                    <a:cubicBezTo>
                      <a:pt x="204" y="312"/>
                      <a:pt x="204" y="308"/>
                      <a:pt x="202" y="305"/>
                    </a:cubicBezTo>
                    <a:cubicBezTo>
                      <a:pt x="176" y="243"/>
                      <a:pt x="176" y="243"/>
                      <a:pt x="176" y="243"/>
                    </a:cubicBezTo>
                    <a:cubicBezTo>
                      <a:pt x="185" y="240"/>
                      <a:pt x="193" y="235"/>
                      <a:pt x="201" y="227"/>
                    </a:cubicBezTo>
                    <a:cubicBezTo>
                      <a:pt x="205" y="223"/>
                      <a:pt x="209" y="218"/>
                      <a:pt x="212" y="213"/>
                    </a:cubicBezTo>
                    <a:cubicBezTo>
                      <a:pt x="213" y="213"/>
                      <a:pt x="213" y="213"/>
                      <a:pt x="214" y="213"/>
                    </a:cubicBezTo>
                    <a:cubicBezTo>
                      <a:pt x="215" y="213"/>
                      <a:pt x="216" y="213"/>
                      <a:pt x="217" y="213"/>
                    </a:cubicBezTo>
                    <a:cubicBezTo>
                      <a:pt x="236" y="207"/>
                      <a:pt x="254" y="191"/>
                      <a:pt x="270" y="177"/>
                    </a:cubicBezTo>
                    <a:cubicBezTo>
                      <a:pt x="309" y="140"/>
                      <a:pt x="322" y="92"/>
                      <a:pt x="298" y="67"/>
                    </a:cubicBezTo>
                    <a:close/>
                    <a:moveTo>
                      <a:pt x="66" y="161"/>
                    </a:moveTo>
                    <a:cubicBezTo>
                      <a:pt x="37" y="134"/>
                      <a:pt x="24" y="97"/>
                      <a:pt x="39" y="81"/>
                    </a:cubicBezTo>
                    <a:cubicBezTo>
                      <a:pt x="46" y="74"/>
                      <a:pt x="60" y="72"/>
                      <a:pt x="77" y="77"/>
                    </a:cubicBezTo>
                    <a:cubicBezTo>
                      <a:pt x="79" y="112"/>
                      <a:pt x="85" y="153"/>
                      <a:pt x="97" y="186"/>
                    </a:cubicBezTo>
                    <a:cubicBezTo>
                      <a:pt x="86" y="179"/>
                      <a:pt x="76" y="170"/>
                      <a:pt x="66" y="161"/>
                    </a:cubicBezTo>
                    <a:close/>
                    <a:moveTo>
                      <a:pt x="145" y="298"/>
                    </a:moveTo>
                    <a:cubicBezTo>
                      <a:pt x="161" y="262"/>
                      <a:pt x="161" y="262"/>
                      <a:pt x="161" y="262"/>
                    </a:cubicBezTo>
                    <a:cubicBezTo>
                      <a:pt x="176" y="298"/>
                      <a:pt x="176" y="298"/>
                      <a:pt x="176" y="298"/>
                    </a:cubicBezTo>
                    <a:lnTo>
                      <a:pt x="145" y="298"/>
                    </a:lnTo>
                    <a:close/>
                    <a:moveTo>
                      <a:pt x="185" y="213"/>
                    </a:moveTo>
                    <a:cubicBezTo>
                      <a:pt x="178" y="220"/>
                      <a:pt x="170" y="224"/>
                      <a:pt x="161" y="224"/>
                    </a:cubicBezTo>
                    <a:cubicBezTo>
                      <a:pt x="151" y="224"/>
                      <a:pt x="143" y="220"/>
                      <a:pt x="136" y="213"/>
                    </a:cubicBezTo>
                    <a:cubicBezTo>
                      <a:pt x="102" y="177"/>
                      <a:pt x="96" y="70"/>
                      <a:pt x="96" y="21"/>
                    </a:cubicBezTo>
                    <a:cubicBezTo>
                      <a:pt x="225" y="21"/>
                      <a:pt x="225" y="21"/>
                      <a:pt x="225" y="21"/>
                    </a:cubicBezTo>
                    <a:cubicBezTo>
                      <a:pt x="225" y="70"/>
                      <a:pt x="220" y="177"/>
                      <a:pt x="185" y="213"/>
                    </a:cubicBezTo>
                    <a:close/>
                    <a:moveTo>
                      <a:pt x="255" y="161"/>
                    </a:moveTo>
                    <a:cubicBezTo>
                      <a:pt x="246" y="170"/>
                      <a:pt x="235" y="179"/>
                      <a:pt x="225" y="186"/>
                    </a:cubicBezTo>
                    <a:cubicBezTo>
                      <a:pt x="237" y="153"/>
                      <a:pt x="242" y="112"/>
                      <a:pt x="245" y="77"/>
                    </a:cubicBezTo>
                    <a:cubicBezTo>
                      <a:pt x="261" y="72"/>
                      <a:pt x="275" y="74"/>
                      <a:pt x="283" y="81"/>
                    </a:cubicBezTo>
                    <a:cubicBezTo>
                      <a:pt x="297" y="97"/>
                      <a:pt x="284" y="134"/>
                      <a:pt x="255" y="161"/>
                    </a:cubicBezTo>
                    <a:close/>
                  </a:path>
                </a:pathLst>
              </a:custGeom>
              <a:solidFill>
                <a:schemeClr val="tx1"/>
              </a:solidFill>
              <a:ln>
                <a:solidFill>
                  <a:schemeClr val="bg1"/>
                </a:solidFill>
              </a:ln>
              <a:effectLst>
                <a:glow rad="63500">
                  <a:schemeClr val="accent5">
                    <a:satMod val="175000"/>
                    <a:alpha val="40000"/>
                  </a:schemeClr>
                </a:glow>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13" name="Group 12">
              <a:extLst>
                <a:ext uri="{FF2B5EF4-FFF2-40B4-BE49-F238E27FC236}">
                  <a16:creationId xmlns:a16="http://schemas.microsoft.com/office/drawing/2014/main" id="{185AB308-CE1F-9CF7-176E-8C1150827824}"/>
                </a:ext>
              </a:extLst>
            </p:cNvPr>
            <p:cNvGrpSpPr/>
            <p:nvPr/>
          </p:nvGrpSpPr>
          <p:grpSpPr>
            <a:xfrm>
              <a:off x="980194" y="969519"/>
              <a:ext cx="10546109" cy="3439466"/>
              <a:chOff x="980194" y="969519"/>
              <a:chExt cx="10546109" cy="3439466"/>
            </a:xfrm>
          </p:grpSpPr>
          <p:sp>
            <p:nvSpPr>
              <p:cNvPr id="105" name="Isosceles Triangle 104">
                <a:extLst>
                  <a:ext uri="{FF2B5EF4-FFF2-40B4-BE49-F238E27FC236}">
                    <a16:creationId xmlns:a16="http://schemas.microsoft.com/office/drawing/2014/main" id="{18628F26-2C1B-4AD7-8AD2-AF5387B1F2F4}"/>
                  </a:ext>
                </a:extLst>
              </p:cNvPr>
              <p:cNvSpPr/>
              <p:nvPr/>
            </p:nvSpPr>
            <p:spPr>
              <a:xfrm rot="5400000">
                <a:off x="1874919" y="3965912"/>
                <a:ext cx="393293" cy="147483"/>
              </a:xfrm>
              <a:prstGeom prst="triangle">
                <a:avLst/>
              </a:prstGeom>
              <a:solidFill>
                <a:srgbClr val="0097A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pitchFamily="34" charset="0"/>
                  <a:cs typeface="Calibri" panose="020F0502020204030204" pitchFamily="34" charset="0"/>
                </a:endParaRPr>
              </a:p>
            </p:txBody>
          </p:sp>
          <p:sp>
            <p:nvSpPr>
              <p:cNvPr id="106" name="TextBox 105">
                <a:extLst>
                  <a:ext uri="{FF2B5EF4-FFF2-40B4-BE49-F238E27FC236}">
                    <a16:creationId xmlns:a16="http://schemas.microsoft.com/office/drawing/2014/main" id="{452E3957-8854-4875-A8E6-810AFAB0490C}"/>
                  </a:ext>
                </a:extLst>
              </p:cNvPr>
              <p:cNvSpPr txBox="1"/>
              <p:nvPr/>
            </p:nvSpPr>
            <p:spPr>
              <a:xfrm>
                <a:off x="2295268" y="3670321"/>
                <a:ext cx="1970692"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97A9"/>
                    </a:solidFill>
                    <a:effectLst/>
                    <a:uLnTx/>
                    <a:uFillTx/>
                    <a:latin typeface="+mj-lt"/>
                    <a:ea typeface="Verdana" panose="020B0604030504040204" pitchFamily="34" charset="0"/>
                    <a:cs typeface="Calibri" panose="020F0502020204030204" pitchFamily="34" charset="0"/>
                  </a:rPr>
                  <a:t>Our team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rPr>
                  <a:t>Experienced team with requisite expertise and skill sets</a:t>
                </a:r>
                <a:endParaRPr kumimoji="0" lang="en-IN" sz="1050" b="0" i="0" u="none" strike="noStrike" kern="120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endParaRPr>
              </a:p>
            </p:txBody>
          </p:sp>
          <p:sp>
            <p:nvSpPr>
              <p:cNvPr id="111" name="TextBox 110">
                <a:extLst>
                  <a:ext uri="{FF2B5EF4-FFF2-40B4-BE49-F238E27FC236}">
                    <a16:creationId xmlns:a16="http://schemas.microsoft.com/office/drawing/2014/main" id="{9722B535-AD26-4432-A5F8-7547C737BA19}"/>
                  </a:ext>
                </a:extLst>
              </p:cNvPr>
              <p:cNvSpPr txBox="1"/>
              <p:nvPr/>
            </p:nvSpPr>
            <p:spPr>
              <a:xfrm>
                <a:off x="4420049" y="969519"/>
                <a:ext cx="7106254" cy="1061829"/>
              </a:xfrm>
              <a:prstGeom prst="rect">
                <a:avLst/>
              </a:prstGeom>
              <a:noFill/>
            </p:spPr>
            <p:txBody>
              <a:bodyPr wrap="square" rtlCol="0">
                <a:spAutoFit/>
              </a:bodyPr>
              <a:lstStyle/>
              <a:p>
                <a:pPr marL="216000" lvl="0" indent="-216000" algn="just">
                  <a:buFont typeface="Arial" panose="020B0604020202020204" pitchFamily="34" charset="0"/>
                  <a:buChar char="•"/>
                  <a:defRPr/>
                </a:pPr>
                <a:r>
                  <a:rPr lang="en-IN" sz="1050"/>
                  <a:t>Deloitte has </a:t>
                </a:r>
                <a:r>
                  <a:rPr lang="en-IN" sz="1050" b="1"/>
                  <a:t>a </a:t>
                </a:r>
                <a:r>
                  <a:rPr lang="en-IN" sz="1050" b="1">
                    <a:solidFill>
                      <a:srgbClr val="92D050"/>
                    </a:solidFill>
                  </a:rPr>
                  <a:t>dedicated team of professionals</a:t>
                </a:r>
                <a:r>
                  <a:rPr lang="en-IN" sz="1050">
                    <a:solidFill>
                      <a:srgbClr val="92D050"/>
                    </a:solidFill>
                  </a:rPr>
                  <a:t> </a:t>
                </a:r>
                <a:r>
                  <a:rPr lang="en-IN" sz="1050"/>
                  <a:t>supporting governments and public sector institutions in public finance, fiscal policy, public financial management, debt management, FMIS, policy</a:t>
                </a:r>
                <a:r>
                  <a:rPr lang="en-IN" sz="1050">
                    <a:solidFill>
                      <a:srgbClr val="BEE397"/>
                    </a:solidFill>
                  </a:rPr>
                  <a:t>, </a:t>
                </a:r>
                <a:r>
                  <a:rPr lang="en-IN" sz="1050">
                    <a:solidFill>
                      <a:srgbClr val="92D050"/>
                    </a:solidFill>
                  </a:rPr>
                  <a:t>expenditure and subsidy assessment, fiscal sustainability, revenue augmentation research, impact assessment, institutional strengthening and evidence-based policy formulation</a:t>
                </a:r>
                <a:r>
                  <a:rPr lang="en-IN" sz="1050"/>
                  <a:t>, with extensive experience in strengthening governance, improving public resource allocation and enabling sustainable and inclusive development in India as well as globally.</a:t>
                </a:r>
                <a:endParaRPr kumimoji="0" lang="en-IN" sz="1050" b="1" i="0" u="none" strike="noStrike" kern="1200" cap="none" spc="0" normalizeH="0" baseline="0" noProof="0">
                  <a:ln>
                    <a:noFill/>
                  </a:ln>
                  <a:solidFill>
                    <a:srgbClr val="92D050"/>
                  </a:solidFill>
                  <a:effectLst/>
                  <a:uLnTx/>
                  <a:uFillTx/>
                  <a:latin typeface="Verdana"/>
                  <a:ea typeface="Verdana" panose="020B0604030504040204" pitchFamily="34" charset="0"/>
                  <a:cs typeface="+mn-cs"/>
                </a:endParaRPr>
              </a:p>
            </p:txBody>
          </p:sp>
          <p:grpSp>
            <p:nvGrpSpPr>
              <p:cNvPr id="27" name="Group 26">
                <a:extLst>
                  <a:ext uri="{FF2B5EF4-FFF2-40B4-BE49-F238E27FC236}">
                    <a16:creationId xmlns:a16="http://schemas.microsoft.com/office/drawing/2014/main" id="{9E1C1089-9D2F-4E20-8F9C-1670D8C88EBA}"/>
                  </a:ext>
                </a:extLst>
              </p:cNvPr>
              <p:cNvGrpSpPr>
                <a:grpSpLocks noChangeAspect="1"/>
              </p:cNvGrpSpPr>
              <p:nvPr/>
            </p:nvGrpSpPr>
            <p:grpSpPr>
              <a:xfrm>
                <a:off x="980194" y="3728915"/>
                <a:ext cx="624236" cy="621477"/>
                <a:chOff x="6923672" y="4955694"/>
                <a:chExt cx="1077912" cy="1073150"/>
              </a:xfrm>
              <a:solidFill>
                <a:schemeClr val="accent2"/>
              </a:solidFill>
            </p:grpSpPr>
            <p:sp>
              <p:nvSpPr>
                <p:cNvPr id="28" name="Freeform 15">
                  <a:extLst>
                    <a:ext uri="{FF2B5EF4-FFF2-40B4-BE49-F238E27FC236}">
                      <a16:creationId xmlns:a16="http://schemas.microsoft.com/office/drawing/2014/main" id="{8D13BA8C-2497-427F-9EE8-7C12FD4D426E}"/>
                    </a:ext>
                  </a:extLst>
                </p:cNvPr>
                <p:cNvSpPr>
                  <a:spLocks noEditPoints="1"/>
                </p:cNvSpPr>
                <p:nvPr/>
              </p:nvSpPr>
              <p:spPr bwMode="auto">
                <a:xfrm>
                  <a:off x="7688847" y="5262081"/>
                  <a:ext cx="312737" cy="766763"/>
                </a:xfrm>
                <a:custGeom>
                  <a:avLst/>
                  <a:gdLst>
                    <a:gd name="T0" fmla="*/ 41 w 65"/>
                    <a:gd name="T1" fmla="*/ 0 h 160"/>
                    <a:gd name="T2" fmla="*/ 25 w 65"/>
                    <a:gd name="T3" fmla="*/ 0 h 160"/>
                    <a:gd name="T4" fmla="*/ 17 w 65"/>
                    <a:gd name="T5" fmla="*/ 6 h 160"/>
                    <a:gd name="T6" fmla="*/ 1 w 65"/>
                    <a:gd name="T7" fmla="*/ 86 h 160"/>
                    <a:gd name="T8" fmla="*/ 2 w 65"/>
                    <a:gd name="T9" fmla="*/ 93 h 160"/>
                    <a:gd name="T10" fmla="*/ 9 w 65"/>
                    <a:gd name="T11" fmla="*/ 96 h 160"/>
                    <a:gd name="T12" fmla="*/ 9 w 65"/>
                    <a:gd name="T13" fmla="*/ 152 h 160"/>
                    <a:gd name="T14" fmla="*/ 17 w 65"/>
                    <a:gd name="T15" fmla="*/ 160 h 160"/>
                    <a:gd name="T16" fmla="*/ 25 w 65"/>
                    <a:gd name="T17" fmla="*/ 152 h 160"/>
                    <a:gd name="T18" fmla="*/ 25 w 65"/>
                    <a:gd name="T19" fmla="*/ 96 h 160"/>
                    <a:gd name="T20" fmla="*/ 41 w 65"/>
                    <a:gd name="T21" fmla="*/ 96 h 160"/>
                    <a:gd name="T22" fmla="*/ 41 w 65"/>
                    <a:gd name="T23" fmla="*/ 152 h 160"/>
                    <a:gd name="T24" fmla="*/ 49 w 65"/>
                    <a:gd name="T25" fmla="*/ 160 h 160"/>
                    <a:gd name="T26" fmla="*/ 57 w 65"/>
                    <a:gd name="T27" fmla="*/ 152 h 160"/>
                    <a:gd name="T28" fmla="*/ 57 w 65"/>
                    <a:gd name="T29" fmla="*/ 96 h 160"/>
                    <a:gd name="T30" fmla="*/ 63 w 65"/>
                    <a:gd name="T31" fmla="*/ 93 h 160"/>
                    <a:gd name="T32" fmla="*/ 65 w 65"/>
                    <a:gd name="T33" fmla="*/ 86 h 160"/>
                    <a:gd name="T34" fmla="*/ 49 w 65"/>
                    <a:gd name="T35" fmla="*/ 6 h 160"/>
                    <a:gd name="T36" fmla="*/ 41 w 65"/>
                    <a:gd name="T37" fmla="*/ 0 h 160"/>
                    <a:gd name="T38" fmla="*/ 31 w 65"/>
                    <a:gd name="T39" fmla="*/ 16 h 160"/>
                    <a:gd name="T40" fmla="*/ 34 w 65"/>
                    <a:gd name="T41" fmla="*/ 16 h 160"/>
                    <a:gd name="T42" fmla="*/ 47 w 65"/>
                    <a:gd name="T43" fmla="*/ 80 h 160"/>
                    <a:gd name="T44" fmla="*/ 18 w 65"/>
                    <a:gd name="T45" fmla="*/ 80 h 160"/>
                    <a:gd name="T46" fmla="*/ 31 w 65"/>
                    <a:gd name="T47" fmla="*/ 1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 h="160">
                      <a:moveTo>
                        <a:pt x="41" y="0"/>
                      </a:moveTo>
                      <a:cubicBezTo>
                        <a:pt x="25" y="0"/>
                        <a:pt x="25" y="0"/>
                        <a:pt x="25" y="0"/>
                      </a:cubicBezTo>
                      <a:cubicBezTo>
                        <a:pt x="21" y="0"/>
                        <a:pt x="18" y="2"/>
                        <a:pt x="17" y="6"/>
                      </a:cubicBezTo>
                      <a:cubicBezTo>
                        <a:pt x="1" y="86"/>
                        <a:pt x="1" y="86"/>
                        <a:pt x="1" y="86"/>
                      </a:cubicBezTo>
                      <a:cubicBezTo>
                        <a:pt x="0" y="88"/>
                        <a:pt x="1" y="91"/>
                        <a:pt x="2" y="93"/>
                      </a:cubicBezTo>
                      <a:cubicBezTo>
                        <a:pt x="4" y="95"/>
                        <a:pt x="6" y="96"/>
                        <a:pt x="9" y="96"/>
                      </a:cubicBezTo>
                      <a:cubicBezTo>
                        <a:pt x="9" y="152"/>
                        <a:pt x="9" y="152"/>
                        <a:pt x="9" y="152"/>
                      </a:cubicBezTo>
                      <a:cubicBezTo>
                        <a:pt x="9" y="156"/>
                        <a:pt x="12" y="160"/>
                        <a:pt x="17" y="160"/>
                      </a:cubicBezTo>
                      <a:cubicBezTo>
                        <a:pt x="21" y="160"/>
                        <a:pt x="25" y="156"/>
                        <a:pt x="25" y="152"/>
                      </a:cubicBezTo>
                      <a:cubicBezTo>
                        <a:pt x="25" y="96"/>
                        <a:pt x="25" y="96"/>
                        <a:pt x="25" y="96"/>
                      </a:cubicBezTo>
                      <a:cubicBezTo>
                        <a:pt x="41" y="96"/>
                        <a:pt x="41" y="96"/>
                        <a:pt x="41" y="96"/>
                      </a:cubicBezTo>
                      <a:cubicBezTo>
                        <a:pt x="41" y="152"/>
                        <a:pt x="41" y="152"/>
                        <a:pt x="41" y="152"/>
                      </a:cubicBezTo>
                      <a:cubicBezTo>
                        <a:pt x="41" y="156"/>
                        <a:pt x="44" y="160"/>
                        <a:pt x="49" y="160"/>
                      </a:cubicBezTo>
                      <a:cubicBezTo>
                        <a:pt x="53" y="160"/>
                        <a:pt x="57" y="156"/>
                        <a:pt x="57" y="152"/>
                      </a:cubicBezTo>
                      <a:cubicBezTo>
                        <a:pt x="57" y="96"/>
                        <a:pt x="57" y="96"/>
                        <a:pt x="57" y="96"/>
                      </a:cubicBezTo>
                      <a:cubicBezTo>
                        <a:pt x="59" y="96"/>
                        <a:pt x="61" y="95"/>
                        <a:pt x="63" y="93"/>
                      </a:cubicBezTo>
                      <a:cubicBezTo>
                        <a:pt x="64" y="91"/>
                        <a:pt x="65" y="88"/>
                        <a:pt x="65" y="86"/>
                      </a:cubicBezTo>
                      <a:cubicBezTo>
                        <a:pt x="49" y="6"/>
                        <a:pt x="49" y="6"/>
                        <a:pt x="49" y="6"/>
                      </a:cubicBezTo>
                      <a:cubicBezTo>
                        <a:pt x="48" y="2"/>
                        <a:pt x="44" y="0"/>
                        <a:pt x="41" y="0"/>
                      </a:cubicBezTo>
                      <a:close/>
                      <a:moveTo>
                        <a:pt x="31" y="16"/>
                      </a:moveTo>
                      <a:cubicBezTo>
                        <a:pt x="34" y="16"/>
                        <a:pt x="34" y="16"/>
                        <a:pt x="34" y="16"/>
                      </a:cubicBezTo>
                      <a:cubicBezTo>
                        <a:pt x="47" y="80"/>
                        <a:pt x="47" y="80"/>
                        <a:pt x="47" y="80"/>
                      </a:cubicBezTo>
                      <a:cubicBezTo>
                        <a:pt x="18" y="80"/>
                        <a:pt x="18" y="80"/>
                        <a:pt x="18" y="80"/>
                      </a:cubicBezTo>
                      <a:lnTo>
                        <a:pt x="31" y="16"/>
                      </a:lnTo>
                      <a:close/>
                    </a:path>
                  </a:pathLst>
                </a:custGeom>
                <a:solidFill>
                  <a:schemeClr val="tx1"/>
                </a:solidFill>
                <a:ln>
                  <a:solidFill>
                    <a:schemeClr val="bg1"/>
                  </a:solidFill>
                </a:ln>
                <a:effectLst>
                  <a:glow rad="63500">
                    <a:schemeClr val="accent5">
                      <a:satMod val="175000"/>
                      <a:alpha val="40000"/>
                    </a:schemeClr>
                  </a:glow>
                </a:effectLst>
              </p:spPr>
              <p:txBody>
                <a:bodyPr vert="horz" wrap="square" lIns="91440" tIns="45720" rIns="91440" bIns="45720" numCol="1" anchor="t" anchorCtr="0" compatLnSpc="1">
                  <a:prstTxWarp prst="textNoShape">
                    <a:avLst/>
                  </a:prstTxWarp>
                </a:bodyPr>
                <a:lstStyle/>
                <a:p>
                  <a:endParaRPr lang="en-US"/>
                </a:p>
              </p:txBody>
            </p:sp>
            <p:sp>
              <p:nvSpPr>
                <p:cNvPr id="29" name="Freeform 16">
                  <a:extLst>
                    <a:ext uri="{FF2B5EF4-FFF2-40B4-BE49-F238E27FC236}">
                      <a16:creationId xmlns:a16="http://schemas.microsoft.com/office/drawing/2014/main" id="{159D06FE-F05F-49FB-B3C7-B5A0522B3054}"/>
                    </a:ext>
                  </a:extLst>
                </p:cNvPr>
                <p:cNvSpPr>
                  <a:spLocks noEditPoints="1"/>
                </p:cNvSpPr>
                <p:nvPr/>
              </p:nvSpPr>
              <p:spPr bwMode="auto">
                <a:xfrm>
                  <a:off x="7731710" y="4955694"/>
                  <a:ext cx="231775" cy="230188"/>
                </a:xfrm>
                <a:custGeom>
                  <a:avLst/>
                  <a:gdLst>
                    <a:gd name="T0" fmla="*/ 24 w 48"/>
                    <a:gd name="T1" fmla="*/ 48 h 48"/>
                    <a:gd name="T2" fmla="*/ 48 w 48"/>
                    <a:gd name="T3" fmla="*/ 24 h 48"/>
                    <a:gd name="T4" fmla="*/ 24 w 48"/>
                    <a:gd name="T5" fmla="*/ 0 h 48"/>
                    <a:gd name="T6" fmla="*/ 0 w 48"/>
                    <a:gd name="T7" fmla="*/ 24 h 48"/>
                    <a:gd name="T8" fmla="*/ 24 w 48"/>
                    <a:gd name="T9" fmla="*/ 48 h 48"/>
                    <a:gd name="T10" fmla="*/ 24 w 48"/>
                    <a:gd name="T11" fmla="*/ 16 h 48"/>
                    <a:gd name="T12" fmla="*/ 32 w 48"/>
                    <a:gd name="T13" fmla="*/ 24 h 48"/>
                    <a:gd name="T14" fmla="*/ 24 w 48"/>
                    <a:gd name="T15" fmla="*/ 32 h 48"/>
                    <a:gd name="T16" fmla="*/ 16 w 48"/>
                    <a:gd name="T17" fmla="*/ 24 h 48"/>
                    <a:gd name="T18" fmla="*/ 24 w 48"/>
                    <a:gd name="T19"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37" y="48"/>
                        <a:pt x="48" y="37"/>
                        <a:pt x="48" y="24"/>
                      </a:cubicBezTo>
                      <a:cubicBezTo>
                        <a:pt x="48" y="10"/>
                        <a:pt x="37" y="0"/>
                        <a:pt x="24" y="0"/>
                      </a:cubicBezTo>
                      <a:cubicBezTo>
                        <a:pt x="10" y="0"/>
                        <a:pt x="0" y="10"/>
                        <a:pt x="0" y="24"/>
                      </a:cubicBezTo>
                      <a:cubicBezTo>
                        <a:pt x="0" y="37"/>
                        <a:pt x="10" y="48"/>
                        <a:pt x="24" y="48"/>
                      </a:cubicBezTo>
                      <a:close/>
                      <a:moveTo>
                        <a:pt x="24" y="16"/>
                      </a:moveTo>
                      <a:cubicBezTo>
                        <a:pt x="28" y="16"/>
                        <a:pt x="32" y="19"/>
                        <a:pt x="32" y="24"/>
                      </a:cubicBezTo>
                      <a:cubicBezTo>
                        <a:pt x="32" y="28"/>
                        <a:pt x="28" y="32"/>
                        <a:pt x="24" y="32"/>
                      </a:cubicBezTo>
                      <a:cubicBezTo>
                        <a:pt x="19" y="32"/>
                        <a:pt x="16" y="28"/>
                        <a:pt x="16" y="24"/>
                      </a:cubicBezTo>
                      <a:cubicBezTo>
                        <a:pt x="16" y="19"/>
                        <a:pt x="19" y="16"/>
                        <a:pt x="24" y="16"/>
                      </a:cubicBezTo>
                      <a:close/>
                    </a:path>
                  </a:pathLst>
                </a:custGeom>
                <a:solidFill>
                  <a:schemeClr val="tx1"/>
                </a:solidFill>
                <a:ln>
                  <a:solidFill>
                    <a:schemeClr val="bg1"/>
                  </a:solidFill>
                </a:ln>
                <a:effectLst>
                  <a:glow rad="63500">
                    <a:schemeClr val="accent5">
                      <a:satMod val="175000"/>
                      <a:alpha val="40000"/>
                    </a:schemeClr>
                  </a:glow>
                </a:effectLst>
              </p:spPr>
              <p:txBody>
                <a:bodyPr vert="horz" wrap="square" lIns="91440" tIns="45720" rIns="91440" bIns="45720" numCol="1" anchor="t" anchorCtr="0" compatLnSpc="1">
                  <a:prstTxWarp prst="textNoShape">
                    <a:avLst/>
                  </a:prstTxWarp>
                </a:bodyPr>
                <a:lstStyle/>
                <a:p>
                  <a:endParaRPr lang="en-US"/>
                </a:p>
              </p:txBody>
            </p:sp>
            <p:sp>
              <p:nvSpPr>
                <p:cNvPr id="30" name="Freeform 17">
                  <a:extLst>
                    <a:ext uri="{FF2B5EF4-FFF2-40B4-BE49-F238E27FC236}">
                      <a16:creationId xmlns:a16="http://schemas.microsoft.com/office/drawing/2014/main" id="{1702D6EE-E540-42C2-972D-4EF48799A7C7}"/>
                    </a:ext>
                  </a:extLst>
                </p:cNvPr>
                <p:cNvSpPr>
                  <a:spLocks noEditPoints="1"/>
                </p:cNvSpPr>
                <p:nvPr/>
              </p:nvSpPr>
              <p:spPr bwMode="auto">
                <a:xfrm>
                  <a:off x="6923672" y="5262081"/>
                  <a:ext cx="307975" cy="766763"/>
                </a:xfrm>
                <a:custGeom>
                  <a:avLst/>
                  <a:gdLst>
                    <a:gd name="T0" fmla="*/ 56 w 64"/>
                    <a:gd name="T1" fmla="*/ 0 h 160"/>
                    <a:gd name="T2" fmla="*/ 8 w 64"/>
                    <a:gd name="T3" fmla="*/ 0 h 160"/>
                    <a:gd name="T4" fmla="*/ 0 w 64"/>
                    <a:gd name="T5" fmla="*/ 8 h 160"/>
                    <a:gd name="T6" fmla="*/ 0 w 64"/>
                    <a:gd name="T7" fmla="*/ 72 h 160"/>
                    <a:gd name="T8" fmla="*/ 8 w 64"/>
                    <a:gd name="T9" fmla="*/ 80 h 160"/>
                    <a:gd name="T10" fmla="*/ 8 w 64"/>
                    <a:gd name="T11" fmla="*/ 152 h 160"/>
                    <a:gd name="T12" fmla="*/ 16 w 64"/>
                    <a:gd name="T13" fmla="*/ 160 h 160"/>
                    <a:gd name="T14" fmla="*/ 24 w 64"/>
                    <a:gd name="T15" fmla="*/ 152 h 160"/>
                    <a:gd name="T16" fmla="*/ 24 w 64"/>
                    <a:gd name="T17" fmla="*/ 80 h 160"/>
                    <a:gd name="T18" fmla="*/ 40 w 64"/>
                    <a:gd name="T19" fmla="*/ 80 h 160"/>
                    <a:gd name="T20" fmla="*/ 40 w 64"/>
                    <a:gd name="T21" fmla="*/ 152 h 160"/>
                    <a:gd name="T22" fmla="*/ 48 w 64"/>
                    <a:gd name="T23" fmla="*/ 160 h 160"/>
                    <a:gd name="T24" fmla="*/ 56 w 64"/>
                    <a:gd name="T25" fmla="*/ 152 h 160"/>
                    <a:gd name="T26" fmla="*/ 56 w 64"/>
                    <a:gd name="T27" fmla="*/ 80 h 160"/>
                    <a:gd name="T28" fmla="*/ 64 w 64"/>
                    <a:gd name="T29" fmla="*/ 72 h 160"/>
                    <a:gd name="T30" fmla="*/ 64 w 64"/>
                    <a:gd name="T31" fmla="*/ 8 h 160"/>
                    <a:gd name="T32" fmla="*/ 56 w 64"/>
                    <a:gd name="T33" fmla="*/ 0 h 160"/>
                    <a:gd name="T34" fmla="*/ 16 w 64"/>
                    <a:gd name="T35" fmla="*/ 16 h 160"/>
                    <a:gd name="T36" fmla="*/ 48 w 64"/>
                    <a:gd name="T37" fmla="*/ 16 h 160"/>
                    <a:gd name="T38" fmla="*/ 48 w 64"/>
                    <a:gd name="T39" fmla="*/ 64 h 160"/>
                    <a:gd name="T40" fmla="*/ 16 w 64"/>
                    <a:gd name="T41" fmla="*/ 64 h 160"/>
                    <a:gd name="T42" fmla="*/ 16 w 64"/>
                    <a:gd name="T43" fmla="*/ 1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 h="160">
                      <a:moveTo>
                        <a:pt x="56" y="0"/>
                      </a:moveTo>
                      <a:cubicBezTo>
                        <a:pt x="8" y="0"/>
                        <a:pt x="8" y="0"/>
                        <a:pt x="8" y="0"/>
                      </a:cubicBezTo>
                      <a:cubicBezTo>
                        <a:pt x="3" y="0"/>
                        <a:pt x="0" y="3"/>
                        <a:pt x="0" y="8"/>
                      </a:cubicBezTo>
                      <a:cubicBezTo>
                        <a:pt x="0" y="72"/>
                        <a:pt x="0" y="72"/>
                        <a:pt x="0" y="72"/>
                      </a:cubicBezTo>
                      <a:cubicBezTo>
                        <a:pt x="0" y="76"/>
                        <a:pt x="3" y="80"/>
                        <a:pt x="8" y="80"/>
                      </a:cubicBezTo>
                      <a:cubicBezTo>
                        <a:pt x="8" y="152"/>
                        <a:pt x="8" y="152"/>
                        <a:pt x="8" y="152"/>
                      </a:cubicBezTo>
                      <a:cubicBezTo>
                        <a:pt x="8" y="156"/>
                        <a:pt x="11" y="160"/>
                        <a:pt x="16" y="160"/>
                      </a:cubicBezTo>
                      <a:cubicBezTo>
                        <a:pt x="20" y="160"/>
                        <a:pt x="24" y="156"/>
                        <a:pt x="24" y="152"/>
                      </a:cubicBezTo>
                      <a:cubicBezTo>
                        <a:pt x="24" y="80"/>
                        <a:pt x="24" y="80"/>
                        <a:pt x="24" y="80"/>
                      </a:cubicBezTo>
                      <a:cubicBezTo>
                        <a:pt x="40" y="80"/>
                        <a:pt x="40" y="80"/>
                        <a:pt x="40" y="80"/>
                      </a:cubicBezTo>
                      <a:cubicBezTo>
                        <a:pt x="40" y="152"/>
                        <a:pt x="40" y="152"/>
                        <a:pt x="40" y="152"/>
                      </a:cubicBezTo>
                      <a:cubicBezTo>
                        <a:pt x="40" y="156"/>
                        <a:pt x="43" y="160"/>
                        <a:pt x="48" y="160"/>
                      </a:cubicBezTo>
                      <a:cubicBezTo>
                        <a:pt x="52" y="160"/>
                        <a:pt x="56" y="156"/>
                        <a:pt x="56" y="152"/>
                      </a:cubicBezTo>
                      <a:cubicBezTo>
                        <a:pt x="56" y="80"/>
                        <a:pt x="56" y="80"/>
                        <a:pt x="56" y="80"/>
                      </a:cubicBezTo>
                      <a:cubicBezTo>
                        <a:pt x="60" y="80"/>
                        <a:pt x="64" y="76"/>
                        <a:pt x="64" y="72"/>
                      </a:cubicBezTo>
                      <a:cubicBezTo>
                        <a:pt x="64" y="8"/>
                        <a:pt x="64" y="8"/>
                        <a:pt x="64" y="8"/>
                      </a:cubicBezTo>
                      <a:cubicBezTo>
                        <a:pt x="64" y="3"/>
                        <a:pt x="60" y="0"/>
                        <a:pt x="56" y="0"/>
                      </a:cubicBezTo>
                      <a:close/>
                      <a:moveTo>
                        <a:pt x="16" y="16"/>
                      </a:moveTo>
                      <a:cubicBezTo>
                        <a:pt x="48" y="16"/>
                        <a:pt x="48" y="16"/>
                        <a:pt x="48" y="16"/>
                      </a:cubicBezTo>
                      <a:cubicBezTo>
                        <a:pt x="48" y="64"/>
                        <a:pt x="48" y="64"/>
                        <a:pt x="48" y="64"/>
                      </a:cubicBezTo>
                      <a:cubicBezTo>
                        <a:pt x="16" y="64"/>
                        <a:pt x="16" y="64"/>
                        <a:pt x="16" y="64"/>
                      </a:cubicBezTo>
                      <a:lnTo>
                        <a:pt x="16" y="16"/>
                      </a:lnTo>
                      <a:close/>
                    </a:path>
                  </a:pathLst>
                </a:custGeom>
                <a:solidFill>
                  <a:schemeClr val="tx1"/>
                </a:solidFill>
                <a:ln>
                  <a:solidFill>
                    <a:schemeClr val="bg1"/>
                  </a:solidFill>
                </a:ln>
                <a:effectLst>
                  <a:glow rad="63500">
                    <a:schemeClr val="accent5">
                      <a:satMod val="175000"/>
                      <a:alpha val="40000"/>
                    </a:schemeClr>
                  </a:glow>
                </a:effectLst>
              </p:spPr>
              <p:txBody>
                <a:bodyPr vert="horz" wrap="square" lIns="91440" tIns="45720" rIns="91440" bIns="45720" numCol="1" anchor="t" anchorCtr="0" compatLnSpc="1">
                  <a:prstTxWarp prst="textNoShape">
                    <a:avLst/>
                  </a:prstTxWarp>
                </a:bodyPr>
                <a:lstStyle/>
                <a:p>
                  <a:endParaRPr lang="en-US"/>
                </a:p>
              </p:txBody>
            </p:sp>
            <p:sp>
              <p:nvSpPr>
                <p:cNvPr id="31" name="Freeform 18">
                  <a:extLst>
                    <a:ext uri="{FF2B5EF4-FFF2-40B4-BE49-F238E27FC236}">
                      <a16:creationId xmlns:a16="http://schemas.microsoft.com/office/drawing/2014/main" id="{F7E104EA-A24A-4BD8-8B5F-DA56F6F0CA65}"/>
                    </a:ext>
                  </a:extLst>
                </p:cNvPr>
                <p:cNvSpPr>
                  <a:spLocks noEditPoints="1"/>
                </p:cNvSpPr>
                <p:nvPr/>
              </p:nvSpPr>
              <p:spPr bwMode="auto">
                <a:xfrm>
                  <a:off x="6961772" y="4955694"/>
                  <a:ext cx="231775" cy="230188"/>
                </a:xfrm>
                <a:custGeom>
                  <a:avLst/>
                  <a:gdLst>
                    <a:gd name="T0" fmla="*/ 24 w 48"/>
                    <a:gd name="T1" fmla="*/ 48 h 48"/>
                    <a:gd name="T2" fmla="*/ 48 w 48"/>
                    <a:gd name="T3" fmla="*/ 24 h 48"/>
                    <a:gd name="T4" fmla="*/ 24 w 48"/>
                    <a:gd name="T5" fmla="*/ 0 h 48"/>
                    <a:gd name="T6" fmla="*/ 0 w 48"/>
                    <a:gd name="T7" fmla="*/ 24 h 48"/>
                    <a:gd name="T8" fmla="*/ 24 w 48"/>
                    <a:gd name="T9" fmla="*/ 48 h 48"/>
                    <a:gd name="T10" fmla="*/ 24 w 48"/>
                    <a:gd name="T11" fmla="*/ 16 h 48"/>
                    <a:gd name="T12" fmla="*/ 32 w 48"/>
                    <a:gd name="T13" fmla="*/ 24 h 48"/>
                    <a:gd name="T14" fmla="*/ 24 w 48"/>
                    <a:gd name="T15" fmla="*/ 32 h 48"/>
                    <a:gd name="T16" fmla="*/ 16 w 48"/>
                    <a:gd name="T17" fmla="*/ 24 h 48"/>
                    <a:gd name="T18" fmla="*/ 24 w 48"/>
                    <a:gd name="T19"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37" y="48"/>
                        <a:pt x="48" y="37"/>
                        <a:pt x="48" y="24"/>
                      </a:cubicBezTo>
                      <a:cubicBezTo>
                        <a:pt x="48" y="10"/>
                        <a:pt x="37" y="0"/>
                        <a:pt x="24" y="0"/>
                      </a:cubicBezTo>
                      <a:cubicBezTo>
                        <a:pt x="10" y="0"/>
                        <a:pt x="0" y="10"/>
                        <a:pt x="0" y="24"/>
                      </a:cubicBezTo>
                      <a:cubicBezTo>
                        <a:pt x="0" y="37"/>
                        <a:pt x="10" y="48"/>
                        <a:pt x="24" y="48"/>
                      </a:cubicBezTo>
                      <a:close/>
                      <a:moveTo>
                        <a:pt x="24" y="16"/>
                      </a:moveTo>
                      <a:cubicBezTo>
                        <a:pt x="28" y="16"/>
                        <a:pt x="32" y="19"/>
                        <a:pt x="32" y="24"/>
                      </a:cubicBezTo>
                      <a:cubicBezTo>
                        <a:pt x="32" y="28"/>
                        <a:pt x="28" y="32"/>
                        <a:pt x="24" y="32"/>
                      </a:cubicBezTo>
                      <a:cubicBezTo>
                        <a:pt x="19" y="32"/>
                        <a:pt x="16" y="28"/>
                        <a:pt x="16" y="24"/>
                      </a:cubicBezTo>
                      <a:cubicBezTo>
                        <a:pt x="16" y="19"/>
                        <a:pt x="19" y="16"/>
                        <a:pt x="24" y="16"/>
                      </a:cubicBezTo>
                      <a:close/>
                    </a:path>
                  </a:pathLst>
                </a:custGeom>
                <a:solidFill>
                  <a:schemeClr val="tx1"/>
                </a:solidFill>
                <a:ln>
                  <a:solidFill>
                    <a:schemeClr val="bg1"/>
                  </a:solidFill>
                </a:ln>
                <a:effectLst>
                  <a:glow rad="63500">
                    <a:schemeClr val="accent5">
                      <a:satMod val="175000"/>
                      <a:alpha val="40000"/>
                    </a:schemeClr>
                  </a:glow>
                </a:effectLst>
              </p:spPr>
              <p:txBody>
                <a:bodyPr vert="horz" wrap="square" lIns="91440" tIns="45720" rIns="91440" bIns="45720" numCol="1" anchor="t" anchorCtr="0" compatLnSpc="1">
                  <a:prstTxWarp prst="textNoShape">
                    <a:avLst/>
                  </a:prstTxWarp>
                </a:bodyPr>
                <a:lstStyle/>
                <a:p>
                  <a:endParaRPr lang="en-US"/>
                </a:p>
              </p:txBody>
            </p:sp>
            <p:sp>
              <p:nvSpPr>
                <p:cNvPr id="32" name="Freeform 19">
                  <a:extLst>
                    <a:ext uri="{FF2B5EF4-FFF2-40B4-BE49-F238E27FC236}">
                      <a16:creationId xmlns:a16="http://schemas.microsoft.com/office/drawing/2014/main" id="{68A64029-605A-4D41-B5A3-0A57235C66F4}"/>
                    </a:ext>
                  </a:extLst>
                </p:cNvPr>
                <p:cNvSpPr>
                  <a:spLocks noEditPoints="1"/>
                </p:cNvSpPr>
                <p:nvPr/>
              </p:nvSpPr>
              <p:spPr bwMode="auto">
                <a:xfrm>
                  <a:off x="7307847" y="5262081"/>
                  <a:ext cx="309562" cy="766763"/>
                </a:xfrm>
                <a:custGeom>
                  <a:avLst/>
                  <a:gdLst>
                    <a:gd name="T0" fmla="*/ 56 w 64"/>
                    <a:gd name="T1" fmla="*/ 0 h 160"/>
                    <a:gd name="T2" fmla="*/ 8 w 64"/>
                    <a:gd name="T3" fmla="*/ 0 h 160"/>
                    <a:gd name="T4" fmla="*/ 0 w 64"/>
                    <a:gd name="T5" fmla="*/ 8 h 160"/>
                    <a:gd name="T6" fmla="*/ 0 w 64"/>
                    <a:gd name="T7" fmla="*/ 72 h 160"/>
                    <a:gd name="T8" fmla="*/ 8 w 64"/>
                    <a:gd name="T9" fmla="*/ 80 h 160"/>
                    <a:gd name="T10" fmla="*/ 8 w 64"/>
                    <a:gd name="T11" fmla="*/ 152 h 160"/>
                    <a:gd name="T12" fmla="*/ 16 w 64"/>
                    <a:gd name="T13" fmla="*/ 160 h 160"/>
                    <a:gd name="T14" fmla="*/ 24 w 64"/>
                    <a:gd name="T15" fmla="*/ 152 h 160"/>
                    <a:gd name="T16" fmla="*/ 24 w 64"/>
                    <a:gd name="T17" fmla="*/ 80 h 160"/>
                    <a:gd name="T18" fmla="*/ 40 w 64"/>
                    <a:gd name="T19" fmla="*/ 80 h 160"/>
                    <a:gd name="T20" fmla="*/ 40 w 64"/>
                    <a:gd name="T21" fmla="*/ 152 h 160"/>
                    <a:gd name="T22" fmla="*/ 48 w 64"/>
                    <a:gd name="T23" fmla="*/ 160 h 160"/>
                    <a:gd name="T24" fmla="*/ 56 w 64"/>
                    <a:gd name="T25" fmla="*/ 152 h 160"/>
                    <a:gd name="T26" fmla="*/ 56 w 64"/>
                    <a:gd name="T27" fmla="*/ 80 h 160"/>
                    <a:gd name="T28" fmla="*/ 64 w 64"/>
                    <a:gd name="T29" fmla="*/ 72 h 160"/>
                    <a:gd name="T30" fmla="*/ 64 w 64"/>
                    <a:gd name="T31" fmla="*/ 8 h 160"/>
                    <a:gd name="T32" fmla="*/ 56 w 64"/>
                    <a:gd name="T33" fmla="*/ 0 h 160"/>
                    <a:gd name="T34" fmla="*/ 16 w 64"/>
                    <a:gd name="T35" fmla="*/ 16 h 160"/>
                    <a:gd name="T36" fmla="*/ 48 w 64"/>
                    <a:gd name="T37" fmla="*/ 16 h 160"/>
                    <a:gd name="T38" fmla="*/ 48 w 64"/>
                    <a:gd name="T39" fmla="*/ 64 h 160"/>
                    <a:gd name="T40" fmla="*/ 16 w 64"/>
                    <a:gd name="T41" fmla="*/ 64 h 160"/>
                    <a:gd name="T42" fmla="*/ 16 w 64"/>
                    <a:gd name="T43" fmla="*/ 1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 h="160">
                      <a:moveTo>
                        <a:pt x="56" y="0"/>
                      </a:moveTo>
                      <a:cubicBezTo>
                        <a:pt x="8" y="0"/>
                        <a:pt x="8" y="0"/>
                        <a:pt x="8" y="0"/>
                      </a:cubicBezTo>
                      <a:cubicBezTo>
                        <a:pt x="3" y="0"/>
                        <a:pt x="0" y="3"/>
                        <a:pt x="0" y="8"/>
                      </a:cubicBezTo>
                      <a:cubicBezTo>
                        <a:pt x="0" y="72"/>
                        <a:pt x="0" y="72"/>
                        <a:pt x="0" y="72"/>
                      </a:cubicBezTo>
                      <a:cubicBezTo>
                        <a:pt x="0" y="76"/>
                        <a:pt x="3" y="80"/>
                        <a:pt x="8" y="80"/>
                      </a:cubicBezTo>
                      <a:cubicBezTo>
                        <a:pt x="8" y="152"/>
                        <a:pt x="8" y="152"/>
                        <a:pt x="8" y="152"/>
                      </a:cubicBezTo>
                      <a:cubicBezTo>
                        <a:pt x="8" y="156"/>
                        <a:pt x="11" y="160"/>
                        <a:pt x="16" y="160"/>
                      </a:cubicBezTo>
                      <a:cubicBezTo>
                        <a:pt x="20" y="160"/>
                        <a:pt x="24" y="156"/>
                        <a:pt x="24" y="152"/>
                      </a:cubicBezTo>
                      <a:cubicBezTo>
                        <a:pt x="24" y="80"/>
                        <a:pt x="24" y="80"/>
                        <a:pt x="24" y="80"/>
                      </a:cubicBezTo>
                      <a:cubicBezTo>
                        <a:pt x="40" y="80"/>
                        <a:pt x="40" y="80"/>
                        <a:pt x="40" y="80"/>
                      </a:cubicBezTo>
                      <a:cubicBezTo>
                        <a:pt x="40" y="152"/>
                        <a:pt x="40" y="152"/>
                        <a:pt x="40" y="152"/>
                      </a:cubicBezTo>
                      <a:cubicBezTo>
                        <a:pt x="40" y="156"/>
                        <a:pt x="43" y="160"/>
                        <a:pt x="48" y="160"/>
                      </a:cubicBezTo>
                      <a:cubicBezTo>
                        <a:pt x="52" y="160"/>
                        <a:pt x="56" y="156"/>
                        <a:pt x="56" y="152"/>
                      </a:cubicBezTo>
                      <a:cubicBezTo>
                        <a:pt x="56" y="80"/>
                        <a:pt x="56" y="80"/>
                        <a:pt x="56" y="80"/>
                      </a:cubicBezTo>
                      <a:cubicBezTo>
                        <a:pt x="60" y="80"/>
                        <a:pt x="64" y="76"/>
                        <a:pt x="64" y="72"/>
                      </a:cubicBezTo>
                      <a:cubicBezTo>
                        <a:pt x="64" y="8"/>
                        <a:pt x="64" y="8"/>
                        <a:pt x="64" y="8"/>
                      </a:cubicBezTo>
                      <a:cubicBezTo>
                        <a:pt x="64" y="3"/>
                        <a:pt x="60" y="0"/>
                        <a:pt x="56" y="0"/>
                      </a:cubicBezTo>
                      <a:close/>
                      <a:moveTo>
                        <a:pt x="16" y="16"/>
                      </a:moveTo>
                      <a:cubicBezTo>
                        <a:pt x="48" y="16"/>
                        <a:pt x="48" y="16"/>
                        <a:pt x="48" y="16"/>
                      </a:cubicBezTo>
                      <a:cubicBezTo>
                        <a:pt x="48" y="64"/>
                        <a:pt x="48" y="64"/>
                        <a:pt x="48" y="64"/>
                      </a:cubicBezTo>
                      <a:cubicBezTo>
                        <a:pt x="16" y="64"/>
                        <a:pt x="16" y="64"/>
                        <a:pt x="16" y="64"/>
                      </a:cubicBezTo>
                      <a:lnTo>
                        <a:pt x="16" y="16"/>
                      </a:lnTo>
                      <a:close/>
                    </a:path>
                  </a:pathLst>
                </a:custGeom>
                <a:solidFill>
                  <a:schemeClr val="tx1"/>
                </a:solidFill>
                <a:ln>
                  <a:solidFill>
                    <a:schemeClr val="bg1"/>
                  </a:solidFill>
                </a:ln>
                <a:effectLst>
                  <a:glow rad="63500">
                    <a:schemeClr val="accent5">
                      <a:satMod val="175000"/>
                      <a:alpha val="40000"/>
                    </a:schemeClr>
                  </a:glow>
                </a:effectLst>
              </p:spPr>
              <p:txBody>
                <a:bodyPr vert="horz" wrap="square" lIns="91440" tIns="45720" rIns="91440" bIns="45720" numCol="1" anchor="t" anchorCtr="0" compatLnSpc="1">
                  <a:prstTxWarp prst="textNoShape">
                    <a:avLst/>
                  </a:prstTxWarp>
                </a:bodyPr>
                <a:lstStyle/>
                <a:p>
                  <a:endParaRPr lang="en-US"/>
                </a:p>
              </p:txBody>
            </p:sp>
            <p:sp>
              <p:nvSpPr>
                <p:cNvPr id="33" name="Freeform 20">
                  <a:extLst>
                    <a:ext uri="{FF2B5EF4-FFF2-40B4-BE49-F238E27FC236}">
                      <a16:creationId xmlns:a16="http://schemas.microsoft.com/office/drawing/2014/main" id="{EAB3658B-06EA-4080-AD73-0C0339F389DD}"/>
                    </a:ext>
                  </a:extLst>
                </p:cNvPr>
                <p:cNvSpPr>
                  <a:spLocks noEditPoints="1"/>
                </p:cNvSpPr>
                <p:nvPr/>
              </p:nvSpPr>
              <p:spPr bwMode="auto">
                <a:xfrm>
                  <a:off x="7347535" y="4955694"/>
                  <a:ext cx="230187" cy="230188"/>
                </a:xfrm>
                <a:custGeom>
                  <a:avLst/>
                  <a:gdLst>
                    <a:gd name="T0" fmla="*/ 24 w 48"/>
                    <a:gd name="T1" fmla="*/ 48 h 48"/>
                    <a:gd name="T2" fmla="*/ 48 w 48"/>
                    <a:gd name="T3" fmla="*/ 24 h 48"/>
                    <a:gd name="T4" fmla="*/ 24 w 48"/>
                    <a:gd name="T5" fmla="*/ 0 h 48"/>
                    <a:gd name="T6" fmla="*/ 0 w 48"/>
                    <a:gd name="T7" fmla="*/ 24 h 48"/>
                    <a:gd name="T8" fmla="*/ 24 w 48"/>
                    <a:gd name="T9" fmla="*/ 48 h 48"/>
                    <a:gd name="T10" fmla="*/ 24 w 48"/>
                    <a:gd name="T11" fmla="*/ 16 h 48"/>
                    <a:gd name="T12" fmla="*/ 32 w 48"/>
                    <a:gd name="T13" fmla="*/ 24 h 48"/>
                    <a:gd name="T14" fmla="*/ 24 w 48"/>
                    <a:gd name="T15" fmla="*/ 32 h 48"/>
                    <a:gd name="T16" fmla="*/ 16 w 48"/>
                    <a:gd name="T17" fmla="*/ 24 h 48"/>
                    <a:gd name="T18" fmla="*/ 24 w 48"/>
                    <a:gd name="T19"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37" y="48"/>
                        <a:pt x="48" y="37"/>
                        <a:pt x="48" y="24"/>
                      </a:cubicBezTo>
                      <a:cubicBezTo>
                        <a:pt x="48" y="10"/>
                        <a:pt x="37" y="0"/>
                        <a:pt x="24" y="0"/>
                      </a:cubicBezTo>
                      <a:cubicBezTo>
                        <a:pt x="10" y="0"/>
                        <a:pt x="0" y="10"/>
                        <a:pt x="0" y="24"/>
                      </a:cubicBezTo>
                      <a:cubicBezTo>
                        <a:pt x="0" y="37"/>
                        <a:pt x="10" y="48"/>
                        <a:pt x="24" y="48"/>
                      </a:cubicBezTo>
                      <a:close/>
                      <a:moveTo>
                        <a:pt x="24" y="16"/>
                      </a:moveTo>
                      <a:cubicBezTo>
                        <a:pt x="28" y="16"/>
                        <a:pt x="32" y="19"/>
                        <a:pt x="32" y="24"/>
                      </a:cubicBezTo>
                      <a:cubicBezTo>
                        <a:pt x="32" y="28"/>
                        <a:pt x="28" y="32"/>
                        <a:pt x="24" y="32"/>
                      </a:cubicBezTo>
                      <a:cubicBezTo>
                        <a:pt x="19" y="32"/>
                        <a:pt x="16" y="28"/>
                        <a:pt x="16" y="24"/>
                      </a:cubicBezTo>
                      <a:cubicBezTo>
                        <a:pt x="16" y="19"/>
                        <a:pt x="19" y="16"/>
                        <a:pt x="24" y="16"/>
                      </a:cubicBezTo>
                      <a:close/>
                    </a:path>
                  </a:pathLst>
                </a:custGeom>
                <a:solidFill>
                  <a:schemeClr val="tx1"/>
                </a:solidFill>
                <a:ln>
                  <a:solidFill>
                    <a:schemeClr val="bg1"/>
                  </a:solidFill>
                </a:ln>
                <a:effectLst>
                  <a:glow rad="63500">
                    <a:schemeClr val="accent5">
                      <a:satMod val="175000"/>
                      <a:alpha val="40000"/>
                    </a:schemeClr>
                  </a:glow>
                </a:effectLst>
              </p:spPr>
              <p:txBody>
                <a:bodyPr vert="horz" wrap="square" lIns="91440" tIns="45720" rIns="91440" bIns="45720" numCol="1" anchor="t" anchorCtr="0" compatLnSpc="1">
                  <a:prstTxWarp prst="textNoShape">
                    <a:avLst/>
                  </a:prstTxWarp>
                </a:bodyPr>
                <a:lstStyle/>
                <a:p>
                  <a:endParaRPr lang="en-US"/>
                </a:p>
              </p:txBody>
            </p:sp>
          </p:grpSp>
        </p:grpSp>
        <p:grpSp>
          <p:nvGrpSpPr>
            <p:cNvPr id="12" name="Group 11">
              <a:extLst>
                <a:ext uri="{FF2B5EF4-FFF2-40B4-BE49-F238E27FC236}">
                  <a16:creationId xmlns:a16="http://schemas.microsoft.com/office/drawing/2014/main" id="{DC80D15B-A02D-4AFB-D95D-C8608C806761}"/>
                </a:ext>
              </a:extLst>
            </p:cNvPr>
            <p:cNvGrpSpPr/>
            <p:nvPr/>
          </p:nvGrpSpPr>
          <p:grpSpPr>
            <a:xfrm>
              <a:off x="980194" y="2267213"/>
              <a:ext cx="10546109" cy="1061829"/>
              <a:chOff x="980194" y="2267213"/>
              <a:chExt cx="10546109" cy="1061829"/>
            </a:xfrm>
          </p:grpSpPr>
          <p:sp>
            <p:nvSpPr>
              <p:cNvPr id="103" name="Isosceles Triangle 102">
                <a:extLst>
                  <a:ext uri="{FF2B5EF4-FFF2-40B4-BE49-F238E27FC236}">
                    <a16:creationId xmlns:a16="http://schemas.microsoft.com/office/drawing/2014/main" id="{D26A1904-F2BC-498D-B6D3-CA77A9AD753B}"/>
                  </a:ext>
                </a:extLst>
              </p:cNvPr>
              <p:cNvSpPr/>
              <p:nvPr/>
            </p:nvSpPr>
            <p:spPr>
              <a:xfrm rot="5400000">
                <a:off x="1874919" y="2643595"/>
                <a:ext cx="393293" cy="147483"/>
              </a:xfrm>
              <a:prstGeom prst="triangle">
                <a:avLst/>
              </a:prstGeom>
              <a:solidFill>
                <a:srgbClr val="0097A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pitchFamily="34" charset="0"/>
                  <a:cs typeface="Calibri" panose="020F0502020204030204" pitchFamily="34" charset="0"/>
                </a:endParaRPr>
              </a:p>
            </p:txBody>
          </p:sp>
          <p:sp>
            <p:nvSpPr>
              <p:cNvPr id="104" name="TextBox 103">
                <a:extLst>
                  <a:ext uri="{FF2B5EF4-FFF2-40B4-BE49-F238E27FC236}">
                    <a16:creationId xmlns:a16="http://schemas.microsoft.com/office/drawing/2014/main" id="{C0D4F809-2091-47B2-99C8-8F17B730EA14}"/>
                  </a:ext>
                </a:extLst>
              </p:cNvPr>
              <p:cNvSpPr txBox="1"/>
              <p:nvPr/>
            </p:nvSpPr>
            <p:spPr>
              <a:xfrm>
                <a:off x="2295268" y="2348004"/>
                <a:ext cx="1970692"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97A9"/>
                    </a:solidFill>
                    <a:effectLst/>
                    <a:uLnTx/>
                    <a:uFillTx/>
                    <a:latin typeface="+mj-lt"/>
                    <a:ea typeface="Verdana" panose="020B0604030504040204" pitchFamily="34" charset="0"/>
                    <a:cs typeface="Calibri" panose="020F0502020204030204" pitchFamily="34" charset="0"/>
                  </a:rPr>
                  <a:t>Familiar with Local context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rPr>
                  <a:t>Strong regional </a:t>
                </a:r>
                <a:r>
                  <a:rPr lang="en-US" sz="1050">
                    <a:solidFill>
                      <a:prstClr val="black"/>
                    </a:solidFill>
                    <a:latin typeface="+mj-lt"/>
                    <a:ea typeface="Verdana" panose="020B0604030504040204" pitchFamily="34" charset="0"/>
                    <a:cs typeface="Calibri" panose="020F0502020204030204" pitchFamily="34" charset="0"/>
                  </a:rPr>
                  <a:t>presence </a:t>
                </a:r>
                <a:r>
                  <a:rPr kumimoji="0" lang="en-US" sz="1050" b="0" i="0" u="none" strike="noStrike" kern="120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rPr>
                  <a:t>with established network</a:t>
                </a:r>
                <a:endParaRPr kumimoji="0" lang="en-IN" sz="1050" b="0" i="0" u="none" strike="noStrike" kern="120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endParaRPr>
              </a:p>
            </p:txBody>
          </p:sp>
          <p:sp>
            <p:nvSpPr>
              <p:cNvPr id="110" name="TextBox 109">
                <a:extLst>
                  <a:ext uri="{FF2B5EF4-FFF2-40B4-BE49-F238E27FC236}">
                    <a16:creationId xmlns:a16="http://schemas.microsoft.com/office/drawing/2014/main" id="{D0457195-1B4E-47B1-B445-92EAF37371D2}"/>
                  </a:ext>
                </a:extLst>
              </p:cNvPr>
              <p:cNvSpPr txBox="1"/>
              <p:nvPr/>
            </p:nvSpPr>
            <p:spPr>
              <a:xfrm>
                <a:off x="4420049" y="2267213"/>
                <a:ext cx="7106254" cy="1061829"/>
              </a:xfrm>
              <a:prstGeom prst="rect">
                <a:avLst/>
              </a:prstGeom>
              <a:noFill/>
            </p:spPr>
            <p:txBody>
              <a:bodyPr wrap="square" rtlCol="0">
                <a:spAutoFit/>
              </a:bodyPr>
              <a:lstStyle/>
              <a:p>
                <a:pPr marL="216000" lvl="0" indent="-216000" algn="just">
                  <a:buFont typeface="Arial" panose="020B0604020202020204" pitchFamily="34" charset="0"/>
                  <a:buChar char="•"/>
                  <a:defRPr/>
                </a:pPr>
                <a:r>
                  <a:rPr lang="en-IN" sz="1050"/>
                  <a:t>Deloitte has </a:t>
                </a:r>
                <a:r>
                  <a:rPr lang="en-IN" sz="1050" b="1">
                    <a:solidFill>
                      <a:srgbClr val="92D050"/>
                    </a:solidFill>
                  </a:rPr>
                  <a:t>familiarity with the Indian public finance and policy landscape</a:t>
                </a:r>
                <a:r>
                  <a:rPr lang="en-IN" sz="1050"/>
                  <a:t>, having supported </a:t>
                </a:r>
                <a:r>
                  <a:rPr lang="en-IN" sz="1050" b="1">
                    <a:solidFill>
                      <a:srgbClr val="92D050"/>
                    </a:solidFill>
                  </a:rPr>
                  <a:t>NITI Aayog, government institutions</a:t>
                </a:r>
                <a:r>
                  <a:rPr lang="en-IN" sz="1050" b="1"/>
                  <a:t>, </a:t>
                </a:r>
                <a:r>
                  <a:rPr lang="en-IN" sz="1050"/>
                  <a:t>multilateral agencies and key policy stakeholders</a:t>
                </a:r>
                <a:r>
                  <a:rPr lang="en-IN" sz="1050" b="1"/>
                  <a:t> </a:t>
                </a:r>
                <a:r>
                  <a:rPr lang="en-IN" sz="1050"/>
                  <a:t> on assignments covering subsidy assessment, fiscal policy, public finance, scheme evaluation and economic reforms. This provides strong contextual understanding of government priorities, institutional frameworks, public expenditure dynamics and subsidy-related challenges, enabling the team to deliver </a:t>
                </a:r>
                <a:r>
                  <a:rPr lang="en-IN" sz="1050" b="1">
                    <a:solidFill>
                      <a:srgbClr val="92D050"/>
                    </a:solidFill>
                  </a:rPr>
                  <a:t>evidence-based and context-specific recommendations</a:t>
                </a:r>
                <a:r>
                  <a:rPr lang="en-IN" sz="1050">
                    <a:solidFill>
                      <a:srgbClr val="92D050"/>
                    </a:solidFill>
                  </a:rPr>
                  <a:t>.</a:t>
                </a:r>
                <a:endParaRPr kumimoji="0" lang="en-IN" sz="1050" i="0" u="none" strike="noStrike" kern="1200" cap="none" spc="0" normalizeH="0" baseline="0" noProof="0">
                  <a:ln>
                    <a:noFill/>
                  </a:ln>
                  <a:solidFill>
                    <a:srgbClr val="92D050"/>
                  </a:solidFill>
                  <a:effectLst/>
                  <a:uLnTx/>
                  <a:uFillTx/>
                  <a:latin typeface="Verdana"/>
                  <a:ea typeface="Verdana" panose="020B0604030504040204" pitchFamily="34" charset="0"/>
                  <a:cs typeface="+mn-cs"/>
                </a:endParaRPr>
              </a:p>
            </p:txBody>
          </p:sp>
          <p:sp>
            <p:nvSpPr>
              <p:cNvPr id="34" name="Freeform 904">
                <a:extLst>
                  <a:ext uri="{FF2B5EF4-FFF2-40B4-BE49-F238E27FC236}">
                    <a16:creationId xmlns:a16="http://schemas.microsoft.com/office/drawing/2014/main" id="{ED6CE4E3-1213-4B0B-8D27-705203496901}"/>
                  </a:ext>
                </a:extLst>
              </p:cNvPr>
              <p:cNvSpPr>
                <a:spLocks noEditPoints="1"/>
              </p:cNvSpPr>
              <p:nvPr/>
            </p:nvSpPr>
            <p:spPr bwMode="auto">
              <a:xfrm>
                <a:off x="980194" y="2445388"/>
                <a:ext cx="615915" cy="543897"/>
              </a:xfrm>
              <a:custGeom>
                <a:avLst/>
                <a:gdLst>
                  <a:gd name="T0" fmla="*/ 296 w 300"/>
                  <a:gd name="T1" fmla="*/ 25 h 246"/>
                  <a:gd name="T2" fmla="*/ 281 w 300"/>
                  <a:gd name="T3" fmla="*/ 24 h 246"/>
                  <a:gd name="T4" fmla="*/ 245 w 300"/>
                  <a:gd name="T5" fmla="*/ 55 h 246"/>
                  <a:gd name="T6" fmla="*/ 245 w 300"/>
                  <a:gd name="T7" fmla="*/ 11 h 246"/>
                  <a:gd name="T8" fmla="*/ 235 w 300"/>
                  <a:gd name="T9" fmla="*/ 0 h 246"/>
                  <a:gd name="T10" fmla="*/ 11 w 300"/>
                  <a:gd name="T11" fmla="*/ 0 h 246"/>
                  <a:gd name="T12" fmla="*/ 0 w 300"/>
                  <a:gd name="T13" fmla="*/ 11 h 246"/>
                  <a:gd name="T14" fmla="*/ 0 w 300"/>
                  <a:gd name="T15" fmla="*/ 235 h 246"/>
                  <a:gd name="T16" fmla="*/ 11 w 300"/>
                  <a:gd name="T17" fmla="*/ 246 h 246"/>
                  <a:gd name="T18" fmla="*/ 235 w 300"/>
                  <a:gd name="T19" fmla="*/ 246 h 246"/>
                  <a:gd name="T20" fmla="*/ 245 w 300"/>
                  <a:gd name="T21" fmla="*/ 235 h 246"/>
                  <a:gd name="T22" fmla="*/ 245 w 300"/>
                  <a:gd name="T23" fmla="*/ 84 h 246"/>
                  <a:gd name="T24" fmla="*/ 295 w 300"/>
                  <a:gd name="T25" fmla="*/ 40 h 246"/>
                  <a:gd name="T26" fmla="*/ 296 w 300"/>
                  <a:gd name="T27" fmla="*/ 25 h 246"/>
                  <a:gd name="T28" fmla="*/ 224 w 300"/>
                  <a:gd name="T29" fmla="*/ 224 h 246"/>
                  <a:gd name="T30" fmla="*/ 21 w 300"/>
                  <a:gd name="T31" fmla="*/ 224 h 246"/>
                  <a:gd name="T32" fmla="*/ 21 w 300"/>
                  <a:gd name="T33" fmla="*/ 22 h 246"/>
                  <a:gd name="T34" fmla="*/ 224 w 300"/>
                  <a:gd name="T35" fmla="*/ 22 h 246"/>
                  <a:gd name="T36" fmla="*/ 224 w 300"/>
                  <a:gd name="T37" fmla="*/ 74 h 246"/>
                  <a:gd name="T38" fmla="*/ 119 w 300"/>
                  <a:gd name="T39" fmla="*/ 166 h 246"/>
                  <a:gd name="T40" fmla="*/ 72 w 300"/>
                  <a:gd name="T41" fmla="*/ 111 h 246"/>
                  <a:gd name="T42" fmla="*/ 57 w 300"/>
                  <a:gd name="T43" fmla="*/ 109 h 246"/>
                  <a:gd name="T44" fmla="*/ 56 w 300"/>
                  <a:gd name="T45" fmla="*/ 125 h 246"/>
                  <a:gd name="T46" fmla="*/ 109 w 300"/>
                  <a:gd name="T47" fmla="*/ 189 h 246"/>
                  <a:gd name="T48" fmla="*/ 109 w 300"/>
                  <a:gd name="T49" fmla="*/ 189 h 246"/>
                  <a:gd name="T50" fmla="*/ 117 w 300"/>
                  <a:gd name="T51" fmla="*/ 192 h 246"/>
                  <a:gd name="T52" fmla="*/ 124 w 300"/>
                  <a:gd name="T53" fmla="*/ 190 h 246"/>
                  <a:gd name="T54" fmla="*/ 224 w 300"/>
                  <a:gd name="T55" fmla="*/ 103 h 246"/>
                  <a:gd name="T56" fmla="*/ 224 w 300"/>
                  <a:gd name="T57" fmla="*/ 224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00" h="246">
                    <a:moveTo>
                      <a:pt x="296" y="25"/>
                    </a:moveTo>
                    <a:cubicBezTo>
                      <a:pt x="292" y="21"/>
                      <a:pt x="285" y="20"/>
                      <a:pt x="281" y="24"/>
                    </a:cubicBezTo>
                    <a:cubicBezTo>
                      <a:pt x="245" y="55"/>
                      <a:pt x="245" y="55"/>
                      <a:pt x="245" y="55"/>
                    </a:cubicBezTo>
                    <a:cubicBezTo>
                      <a:pt x="245" y="11"/>
                      <a:pt x="245" y="11"/>
                      <a:pt x="245" y="11"/>
                    </a:cubicBezTo>
                    <a:cubicBezTo>
                      <a:pt x="245" y="5"/>
                      <a:pt x="241" y="0"/>
                      <a:pt x="235" y="0"/>
                    </a:cubicBezTo>
                    <a:cubicBezTo>
                      <a:pt x="11" y="0"/>
                      <a:pt x="11" y="0"/>
                      <a:pt x="11" y="0"/>
                    </a:cubicBezTo>
                    <a:cubicBezTo>
                      <a:pt x="5" y="0"/>
                      <a:pt x="0" y="5"/>
                      <a:pt x="0" y="11"/>
                    </a:cubicBezTo>
                    <a:cubicBezTo>
                      <a:pt x="0" y="235"/>
                      <a:pt x="0" y="235"/>
                      <a:pt x="0" y="235"/>
                    </a:cubicBezTo>
                    <a:cubicBezTo>
                      <a:pt x="0" y="241"/>
                      <a:pt x="5" y="246"/>
                      <a:pt x="11" y="246"/>
                    </a:cubicBezTo>
                    <a:cubicBezTo>
                      <a:pt x="235" y="246"/>
                      <a:pt x="235" y="246"/>
                      <a:pt x="235" y="246"/>
                    </a:cubicBezTo>
                    <a:cubicBezTo>
                      <a:pt x="241" y="246"/>
                      <a:pt x="245" y="241"/>
                      <a:pt x="245" y="235"/>
                    </a:cubicBezTo>
                    <a:cubicBezTo>
                      <a:pt x="245" y="84"/>
                      <a:pt x="245" y="84"/>
                      <a:pt x="245" y="84"/>
                    </a:cubicBezTo>
                    <a:cubicBezTo>
                      <a:pt x="295" y="40"/>
                      <a:pt x="295" y="40"/>
                      <a:pt x="295" y="40"/>
                    </a:cubicBezTo>
                    <a:cubicBezTo>
                      <a:pt x="299" y="36"/>
                      <a:pt x="300" y="30"/>
                      <a:pt x="296" y="25"/>
                    </a:cubicBezTo>
                    <a:close/>
                    <a:moveTo>
                      <a:pt x="224" y="224"/>
                    </a:moveTo>
                    <a:cubicBezTo>
                      <a:pt x="21" y="224"/>
                      <a:pt x="21" y="224"/>
                      <a:pt x="21" y="224"/>
                    </a:cubicBezTo>
                    <a:cubicBezTo>
                      <a:pt x="21" y="22"/>
                      <a:pt x="21" y="22"/>
                      <a:pt x="21" y="22"/>
                    </a:cubicBezTo>
                    <a:cubicBezTo>
                      <a:pt x="224" y="22"/>
                      <a:pt x="224" y="22"/>
                      <a:pt x="224" y="22"/>
                    </a:cubicBezTo>
                    <a:cubicBezTo>
                      <a:pt x="224" y="74"/>
                      <a:pt x="224" y="74"/>
                      <a:pt x="224" y="74"/>
                    </a:cubicBezTo>
                    <a:cubicBezTo>
                      <a:pt x="119" y="166"/>
                      <a:pt x="119" y="166"/>
                      <a:pt x="119" y="166"/>
                    </a:cubicBezTo>
                    <a:cubicBezTo>
                      <a:pt x="72" y="111"/>
                      <a:pt x="72" y="111"/>
                      <a:pt x="72" y="111"/>
                    </a:cubicBezTo>
                    <a:cubicBezTo>
                      <a:pt x="68" y="106"/>
                      <a:pt x="62" y="106"/>
                      <a:pt x="57" y="109"/>
                    </a:cubicBezTo>
                    <a:cubicBezTo>
                      <a:pt x="53" y="113"/>
                      <a:pt x="52" y="120"/>
                      <a:pt x="56" y="125"/>
                    </a:cubicBezTo>
                    <a:cubicBezTo>
                      <a:pt x="109" y="189"/>
                      <a:pt x="109" y="189"/>
                      <a:pt x="109" y="189"/>
                    </a:cubicBezTo>
                    <a:cubicBezTo>
                      <a:pt x="109" y="189"/>
                      <a:pt x="109" y="189"/>
                      <a:pt x="109" y="189"/>
                    </a:cubicBezTo>
                    <a:cubicBezTo>
                      <a:pt x="111" y="191"/>
                      <a:pt x="114" y="192"/>
                      <a:pt x="117" y="192"/>
                    </a:cubicBezTo>
                    <a:cubicBezTo>
                      <a:pt x="120" y="192"/>
                      <a:pt x="122" y="191"/>
                      <a:pt x="124" y="190"/>
                    </a:cubicBezTo>
                    <a:cubicBezTo>
                      <a:pt x="224" y="103"/>
                      <a:pt x="224" y="103"/>
                      <a:pt x="224" y="103"/>
                    </a:cubicBezTo>
                    <a:lnTo>
                      <a:pt x="224" y="224"/>
                    </a:lnTo>
                    <a:close/>
                  </a:path>
                </a:pathLst>
              </a:custGeom>
              <a:solidFill>
                <a:schemeClr val="tx1"/>
              </a:solidFill>
              <a:ln>
                <a:solidFill>
                  <a:schemeClr val="bg1"/>
                </a:solidFill>
              </a:ln>
              <a:effectLst>
                <a:glow rad="63500">
                  <a:schemeClr val="accent5">
                    <a:satMod val="175000"/>
                    <a:alpha val="40000"/>
                  </a:schemeClr>
                </a:glow>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cxnSp>
        <p:nvCxnSpPr>
          <p:cNvPr id="4" name="Straight Arrow Connector 3">
            <a:extLst>
              <a:ext uri="{FF2B5EF4-FFF2-40B4-BE49-F238E27FC236}">
                <a16:creationId xmlns:a16="http://schemas.microsoft.com/office/drawing/2014/main" id="{C2511DFC-5D5F-F43E-FFB7-D25C85651D98}"/>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D540F6FF-D4CC-2C5E-9FC1-D4A0D0182D14}"/>
              </a:ext>
            </a:extLst>
          </p:cNvPr>
          <p:cNvSpPr/>
          <p:nvPr/>
        </p:nvSpPr>
        <p:spPr bwMode="gray">
          <a:xfrm>
            <a:off x="333467" y="121358"/>
            <a:ext cx="5551714"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Why Deloitte</a:t>
            </a:r>
          </a:p>
        </p:txBody>
      </p:sp>
    </p:spTree>
    <p:extLst>
      <p:ext uri="{BB962C8B-B14F-4D97-AF65-F5344CB8AC3E}">
        <p14:creationId xmlns:p14="http://schemas.microsoft.com/office/powerpoint/2010/main" val="3267234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2">
            <a:extLst>
              <a:ext uri="{FF2B5EF4-FFF2-40B4-BE49-F238E27FC236}">
                <a16:creationId xmlns:a16="http://schemas.microsoft.com/office/drawing/2014/main" id="{178194DD-7BC9-4900-BF6C-1B334FF1BE55}"/>
              </a:ext>
            </a:extLst>
          </p:cNvPr>
          <p:cNvGraphicFramePr>
            <a:graphicFrameLocks noGrp="1"/>
          </p:cNvGraphicFramePr>
          <p:nvPr>
            <p:extLst>
              <p:ext uri="{D42A27DB-BD31-4B8C-83A1-F6EECF244321}">
                <p14:modId xmlns:p14="http://schemas.microsoft.com/office/powerpoint/2010/main" val="2779273048"/>
              </p:ext>
            </p:extLst>
          </p:nvPr>
        </p:nvGraphicFramePr>
        <p:xfrm>
          <a:off x="363800" y="655378"/>
          <a:ext cx="5646343" cy="5753632"/>
        </p:xfrm>
        <a:graphic>
          <a:graphicData uri="http://schemas.openxmlformats.org/drawingml/2006/table">
            <a:tbl>
              <a:tblPr firstRow="1" bandRow="1">
                <a:tableStyleId>{2D5ABB26-0587-4C30-8999-92F81FD0307C}</a:tableStyleId>
              </a:tblPr>
              <a:tblGrid>
                <a:gridCol w="874385">
                  <a:extLst>
                    <a:ext uri="{9D8B030D-6E8A-4147-A177-3AD203B41FA5}">
                      <a16:colId xmlns:a16="http://schemas.microsoft.com/office/drawing/2014/main" val="2232217169"/>
                    </a:ext>
                  </a:extLst>
                </a:gridCol>
                <a:gridCol w="3523754">
                  <a:extLst>
                    <a:ext uri="{9D8B030D-6E8A-4147-A177-3AD203B41FA5}">
                      <a16:colId xmlns:a16="http://schemas.microsoft.com/office/drawing/2014/main" val="1224095198"/>
                    </a:ext>
                  </a:extLst>
                </a:gridCol>
                <a:gridCol w="1248204">
                  <a:extLst>
                    <a:ext uri="{9D8B030D-6E8A-4147-A177-3AD203B41FA5}">
                      <a16:colId xmlns:a16="http://schemas.microsoft.com/office/drawing/2014/main" val="460347406"/>
                    </a:ext>
                  </a:extLst>
                </a:gridCol>
              </a:tblGrid>
              <a:tr h="572445">
                <a:tc>
                  <a:txBody>
                    <a:bodyPr/>
                    <a:lstStyle/>
                    <a:p>
                      <a:pPr algn="ctr"/>
                      <a:r>
                        <a:rPr kumimoji="0" lang="en-US" sz="1400" b="1" i="0" u="none" strike="noStrike" kern="1200" cap="none" spc="0" normalizeH="0" baseline="0">
                          <a:ln>
                            <a:noFill/>
                          </a:ln>
                          <a:solidFill>
                            <a:srgbClr val="000000"/>
                          </a:solidFill>
                          <a:effectLst/>
                          <a:uLnTx/>
                          <a:uFillTx/>
                          <a:latin typeface="+mj-lt"/>
                          <a:ea typeface="+mn-ea"/>
                          <a:cs typeface="Calibri" panose="020F0502020204030204" pitchFamily="34" charset="0"/>
                        </a:rPr>
                        <a:t>Sl. No</a:t>
                      </a:r>
                      <a:endParaRPr kumimoji="0" lang="en-IN" sz="1400" b="1" i="0" u="none" strike="noStrike" kern="1200" cap="none" spc="0" normalizeH="0" baseline="0">
                        <a:ln>
                          <a:noFill/>
                        </a:ln>
                        <a:solidFill>
                          <a:srgbClr val="000000"/>
                        </a:solidFill>
                        <a:effectLst/>
                        <a:uLnTx/>
                        <a:uFillTx/>
                        <a:latin typeface="+mj-lt"/>
                        <a:ea typeface="+mn-ea"/>
                        <a:cs typeface="Calibri" panose="020F0502020204030204" pitchFamily="34" charset="0"/>
                      </a:endParaRPr>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tcPr>
                </a:tc>
                <a:tc>
                  <a:txBody>
                    <a:bodyPr/>
                    <a:lstStyle/>
                    <a:p>
                      <a:pPr algn="ctr"/>
                      <a:r>
                        <a:rPr kumimoji="0" lang="en-US" sz="1400" b="1" i="0" u="none" strike="noStrike" kern="1200" cap="none" spc="0" normalizeH="0" baseline="0">
                          <a:ln>
                            <a:noFill/>
                          </a:ln>
                          <a:solidFill>
                            <a:srgbClr val="000000"/>
                          </a:solidFill>
                          <a:effectLst/>
                          <a:uLnTx/>
                          <a:uFillTx/>
                          <a:latin typeface="+mj-lt"/>
                          <a:ea typeface="+mn-ea"/>
                          <a:cs typeface="Calibri" panose="020F0502020204030204" pitchFamily="34" charset="0"/>
                        </a:rPr>
                        <a:t>Section</a:t>
                      </a:r>
                      <a:endParaRPr kumimoji="0" lang="en-IN" sz="1400" b="1" i="0" u="none" strike="noStrike" kern="1200" cap="none" spc="0" normalizeH="0" baseline="0">
                        <a:ln>
                          <a:noFill/>
                        </a:ln>
                        <a:solidFill>
                          <a:srgbClr val="000000"/>
                        </a:solidFill>
                        <a:effectLst/>
                        <a:uLnTx/>
                        <a:uFillTx/>
                        <a:latin typeface="+mj-lt"/>
                        <a:ea typeface="+mn-ea"/>
                        <a:cs typeface="Calibri" panose="020F0502020204030204" pitchFamily="34" charset="0"/>
                      </a:endParaRPr>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tcPr>
                </a:tc>
                <a:tc>
                  <a:txBody>
                    <a:bodyPr/>
                    <a:lstStyle/>
                    <a:p>
                      <a:pPr algn="ctr"/>
                      <a:r>
                        <a:rPr kumimoji="0" lang="en-US" sz="1400" b="1" i="0" u="none" strike="noStrike" kern="1200" cap="none" spc="0" normalizeH="0" baseline="0">
                          <a:ln>
                            <a:noFill/>
                          </a:ln>
                          <a:solidFill>
                            <a:srgbClr val="000000"/>
                          </a:solidFill>
                          <a:effectLst/>
                          <a:uLnTx/>
                          <a:uFillTx/>
                          <a:latin typeface="+mj-lt"/>
                          <a:ea typeface="+mn-ea"/>
                          <a:cs typeface="Calibri" panose="020F0502020204030204" pitchFamily="34" charset="0"/>
                        </a:rPr>
                        <a:t>Slide </a:t>
                      </a:r>
                      <a:endParaRPr kumimoji="0" lang="en-IN" sz="1400" b="1" i="0" u="none" strike="noStrike" kern="1200" cap="none" spc="0" normalizeH="0" baseline="0">
                        <a:ln>
                          <a:noFill/>
                        </a:ln>
                        <a:solidFill>
                          <a:srgbClr val="000000"/>
                        </a:solidFill>
                        <a:effectLst/>
                        <a:uLnTx/>
                        <a:uFillTx/>
                        <a:latin typeface="+mj-lt"/>
                        <a:ea typeface="+mn-ea"/>
                        <a:cs typeface="Calibri" panose="020F0502020204030204" pitchFamily="34" charset="0"/>
                      </a:endParaRPr>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tcPr>
                </a:tc>
                <a:extLst>
                  <a:ext uri="{0D108BD9-81ED-4DB2-BD59-A6C34878D82A}">
                    <a16:rowId xmlns:a16="http://schemas.microsoft.com/office/drawing/2014/main" val="4100676946"/>
                  </a:ext>
                </a:extLst>
              </a:tr>
              <a:tr h="572445">
                <a:tc>
                  <a:txBody>
                    <a:bodyPr/>
                    <a:lstStyle/>
                    <a:p>
                      <a:pPr marL="0" marR="0" lvl="0" indent="0" algn="l" defTabSz="1219170" rtl="0" eaLnBrk="1" fontAlgn="auto" latinLnBrk="0" hangingPunct="1">
                        <a:lnSpc>
                          <a:spcPct val="100000"/>
                        </a:lnSpc>
                        <a:spcBef>
                          <a:spcPts val="0"/>
                        </a:spcBef>
                        <a:spcAft>
                          <a:spcPts val="0"/>
                        </a:spcAft>
                        <a:buClrTx/>
                        <a:buSzTx/>
                        <a:buFont typeface="+mj-lt"/>
                        <a:buNone/>
                        <a:tabLst/>
                        <a:defRPr/>
                      </a:pPr>
                      <a:r>
                        <a:rPr kumimoji="0" lang="en-US" altLang="en-US" sz="1400" b="0" i="1" u="none" strike="noStrike" kern="1200" cap="none" spc="0" normalizeH="0" baseline="0" noProof="0">
                          <a:ln>
                            <a:noFill/>
                          </a:ln>
                          <a:solidFill>
                            <a:srgbClr val="000000"/>
                          </a:solidFill>
                          <a:effectLst/>
                          <a:uLnTx/>
                          <a:uFillTx/>
                          <a:latin typeface="+mj-lt"/>
                          <a:cs typeface="Calibri" panose="020F0502020204030204" pitchFamily="34" charset="0"/>
                        </a:rPr>
                        <a:t>1. </a:t>
                      </a:r>
                    </a:p>
                    <a:p>
                      <a:pPr marL="342900" marR="0" lvl="0" indent="-342900" algn="l" defTabSz="1219170" rtl="0" eaLnBrk="1" fontAlgn="auto" latinLnBrk="0" hangingPunct="1">
                        <a:lnSpc>
                          <a:spcPct val="100000"/>
                        </a:lnSpc>
                        <a:spcBef>
                          <a:spcPts val="0"/>
                        </a:spcBef>
                        <a:spcAft>
                          <a:spcPts val="0"/>
                        </a:spcAft>
                        <a:buClrTx/>
                        <a:buSzTx/>
                        <a:buFont typeface="+mj-lt"/>
                        <a:buAutoNum type="arabicPeriod"/>
                        <a:tabLst/>
                        <a:defRPr/>
                      </a:pPr>
                      <a:endParaRPr kumimoji="0" lang="en-US" altLang="en-US" sz="1400" b="0" i="1" u="none" strike="noStrike" kern="1200" cap="none" spc="0" normalizeH="0" baseline="0" noProof="0">
                        <a:ln>
                          <a:noFill/>
                        </a:ln>
                        <a:solidFill>
                          <a:srgbClr val="000000"/>
                        </a:solidFill>
                        <a:effectLst/>
                        <a:uLnTx/>
                        <a:uFillTx/>
                        <a:latin typeface="Calibri" panose="020F0502020204030204" pitchFamily="34" charset="0"/>
                        <a:cs typeface="Calibri" panose="020F0502020204030204" pitchFamily="34" charset="0"/>
                      </a:endParaRPr>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tcPr>
                </a:tc>
                <a:tc>
                  <a:txBody>
                    <a:bodyPr/>
                    <a:lstStyle/>
                    <a:p>
                      <a:pPr marL="0" marR="0" lvl="0" indent="0" algn="l" defTabSz="1219170" rtl="0" eaLnBrk="1" fontAlgn="auto" latinLnBrk="0" hangingPunct="1">
                        <a:lnSpc>
                          <a:spcPct val="100000"/>
                        </a:lnSpc>
                        <a:spcBef>
                          <a:spcPts val="0"/>
                        </a:spcBef>
                        <a:spcAft>
                          <a:spcPts val="0"/>
                        </a:spcAft>
                        <a:buClrTx/>
                        <a:buSzTx/>
                        <a:buFont typeface="+mj-lt"/>
                        <a:buNone/>
                        <a:tabLst/>
                        <a:defRPr/>
                      </a:pPr>
                      <a:r>
                        <a:rPr kumimoji="0" lang="en-US" sz="1400" b="0" i="1" u="none" strike="noStrike" kern="1200" cap="none" spc="0" normalizeH="0" baseline="0">
                          <a:ln>
                            <a:noFill/>
                          </a:ln>
                          <a:solidFill>
                            <a:srgbClr val="000000"/>
                          </a:solidFill>
                          <a:effectLst/>
                          <a:uLnTx/>
                          <a:uFillTx/>
                          <a:latin typeface="+mj-lt"/>
                          <a:ea typeface="+mn-ea"/>
                          <a:cs typeface="Calibri" panose="020F0502020204030204" pitchFamily="34" charset="0"/>
                        </a:rPr>
                        <a:t>Organization Profile </a:t>
                      </a:r>
                      <a:endParaRPr kumimoji="0" lang="en-US" altLang="en-US" sz="1400" b="0" i="1" u="none" strike="noStrike" kern="1200" cap="none" spc="0" normalizeH="0" baseline="0" noProof="0">
                        <a:ln>
                          <a:noFill/>
                        </a:ln>
                        <a:solidFill>
                          <a:srgbClr val="000000"/>
                        </a:solidFill>
                        <a:effectLst/>
                        <a:uLnTx/>
                        <a:uFillTx/>
                        <a:latin typeface="+mj-lt"/>
                        <a:ea typeface="+mn-ea"/>
                        <a:cs typeface="Calibri" panose="020F0502020204030204" pitchFamily="34" charset="0"/>
                      </a:endParaRPr>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tcPr>
                </a:tc>
                <a:tc>
                  <a:txBody>
                    <a:bodyPr/>
                    <a:lstStyle/>
                    <a:p>
                      <a:pPr algn="l"/>
                      <a:r>
                        <a:rPr kumimoji="0" lang="en-IN" sz="1400" b="0" i="1" u="none" strike="noStrike" kern="1200" cap="none" spc="0" normalizeH="0" baseline="0">
                          <a:ln>
                            <a:noFill/>
                          </a:ln>
                          <a:solidFill>
                            <a:schemeClr val="tx1"/>
                          </a:solidFill>
                          <a:effectLst/>
                          <a:uLnTx/>
                          <a:uFillTx/>
                          <a:latin typeface="+mj-lt"/>
                          <a:ea typeface="+mn-ea"/>
                          <a:cs typeface="Calibri" panose="020F0502020204030204" pitchFamily="34" charset="0"/>
                          <a:hlinkClick r:id="rId2" action="ppaction://hlinksldjump">
                            <a:extLst>
                              <a:ext uri="{A12FA001-AC4F-418D-AE19-62706E023703}">
                                <ahyp:hlinkClr xmlns:ahyp="http://schemas.microsoft.com/office/drawing/2018/hyperlinkcolor" val="tx"/>
                              </a:ext>
                            </a:extLst>
                          </a:hlinkClick>
                        </a:rPr>
                        <a:t>5</a:t>
                      </a:r>
                      <a:endParaRPr kumimoji="0" lang="en-IN" sz="1400" b="0" i="1" u="none" strike="noStrike" kern="1200" cap="none" spc="0" normalizeH="0" baseline="0">
                        <a:ln>
                          <a:noFill/>
                        </a:ln>
                        <a:solidFill>
                          <a:schemeClr val="tx1"/>
                        </a:solidFill>
                        <a:effectLst/>
                        <a:uLnTx/>
                        <a:uFillTx/>
                        <a:latin typeface="+mj-lt"/>
                        <a:ea typeface="+mn-ea"/>
                        <a:cs typeface="Calibri" panose="020F0502020204030204" pitchFamily="34" charset="0"/>
                      </a:endParaRPr>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tcPr>
                </a:tc>
                <a:extLst>
                  <a:ext uri="{0D108BD9-81ED-4DB2-BD59-A6C34878D82A}">
                    <a16:rowId xmlns:a16="http://schemas.microsoft.com/office/drawing/2014/main" val="670216919"/>
                  </a:ext>
                </a:extLst>
              </a:tr>
              <a:tr h="803232">
                <a:tc>
                  <a:txBody>
                    <a:bodyPr/>
                    <a:lstStyle/>
                    <a:p>
                      <a:pPr marL="0" marR="0" lvl="0" indent="0" algn="l" defTabSz="1219170" rtl="0" eaLnBrk="1" fontAlgn="auto" latinLnBrk="0" hangingPunct="1">
                        <a:lnSpc>
                          <a:spcPct val="100000"/>
                        </a:lnSpc>
                        <a:spcBef>
                          <a:spcPts val="0"/>
                        </a:spcBef>
                        <a:spcAft>
                          <a:spcPts val="0"/>
                        </a:spcAft>
                        <a:buClrTx/>
                        <a:buSzTx/>
                        <a:buFont typeface="+mj-lt"/>
                        <a:buNone/>
                        <a:tabLst/>
                        <a:defRPr/>
                      </a:pPr>
                      <a:r>
                        <a:rPr kumimoji="0" lang="en-US" sz="1400" b="0" i="1" u="none" strike="noStrike" kern="1200" cap="none" spc="0" normalizeH="0" baseline="0">
                          <a:ln>
                            <a:noFill/>
                          </a:ln>
                          <a:solidFill>
                            <a:prstClr val="black"/>
                          </a:solidFill>
                          <a:effectLst/>
                          <a:uLnTx/>
                          <a:uFillTx/>
                          <a:latin typeface="+mn-lt"/>
                          <a:ea typeface="+mn-ea"/>
                          <a:cs typeface="+mn-cs"/>
                        </a:rPr>
                        <a:t>2. </a:t>
                      </a:r>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tcPr>
                </a:tc>
                <a:tc>
                  <a:txBody>
                    <a:bodyPr/>
                    <a:lstStyle/>
                    <a:p>
                      <a:pPr marL="0" marR="0" lvl="0" indent="0" algn="l" defTabSz="1219170" rtl="0" eaLnBrk="1" fontAlgn="auto" latinLnBrk="0" hangingPunct="1">
                        <a:lnSpc>
                          <a:spcPct val="100000"/>
                        </a:lnSpc>
                        <a:spcBef>
                          <a:spcPts val="0"/>
                        </a:spcBef>
                        <a:spcAft>
                          <a:spcPts val="0"/>
                        </a:spcAft>
                        <a:buClrTx/>
                        <a:buSzTx/>
                        <a:buFont typeface="+mj-lt"/>
                        <a:buNone/>
                        <a:tabLst/>
                        <a:defRPr/>
                      </a:pPr>
                      <a:r>
                        <a:rPr kumimoji="0" lang="en-US" sz="1400" b="0" i="1" u="none" strike="noStrike" kern="1200" cap="none" spc="0" normalizeH="0" baseline="0">
                          <a:ln>
                            <a:noFill/>
                          </a:ln>
                          <a:solidFill>
                            <a:srgbClr val="000000"/>
                          </a:solidFill>
                          <a:effectLst/>
                          <a:uLnTx/>
                          <a:uFillTx/>
                          <a:latin typeface="+mj-lt"/>
                          <a:ea typeface="+mn-ea"/>
                          <a:cs typeface="Calibri" panose="020F0502020204030204" pitchFamily="34" charset="0"/>
                        </a:rPr>
                        <a:t>Information on consultant’s core Business and years in business</a:t>
                      </a:r>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tcPr>
                </a:tc>
                <a:tc>
                  <a:txBody>
                    <a:bodyPr/>
                    <a:lstStyle/>
                    <a:p>
                      <a:pPr algn="l"/>
                      <a:r>
                        <a:rPr kumimoji="0" lang="en-US" sz="1400" b="0" i="1" u="sng" strike="noStrike" kern="1200" cap="none" spc="0" normalizeH="0" baseline="0">
                          <a:ln>
                            <a:noFill/>
                          </a:ln>
                          <a:solidFill>
                            <a:schemeClr val="tx1"/>
                          </a:solidFill>
                          <a:effectLst/>
                          <a:uLnTx/>
                          <a:uFillTx/>
                          <a:latin typeface="+mj-lt"/>
                          <a:ea typeface="+mn-ea"/>
                          <a:cs typeface="Calibri" panose="020F0502020204030204" pitchFamily="34" charset="0"/>
                        </a:rPr>
                        <a:t>1</a:t>
                      </a:r>
                      <a:r>
                        <a:rPr kumimoji="0" lang="en-IN" sz="1400" b="0" i="1" u="sng" strike="noStrike" kern="1200" cap="none" spc="0" normalizeH="0" baseline="0">
                          <a:ln>
                            <a:noFill/>
                          </a:ln>
                          <a:solidFill>
                            <a:schemeClr val="tx1"/>
                          </a:solidFill>
                          <a:effectLst/>
                          <a:uLnTx/>
                          <a:uFillTx/>
                          <a:latin typeface="+mj-lt"/>
                          <a:ea typeface="+mn-ea"/>
                          <a:cs typeface="Calibri" panose="020F0502020204030204" pitchFamily="34" charset="0"/>
                        </a:rPr>
                        <a:t>1</a:t>
                      </a:r>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tcPr>
                </a:tc>
                <a:extLst>
                  <a:ext uri="{0D108BD9-81ED-4DB2-BD59-A6C34878D82A}">
                    <a16:rowId xmlns:a16="http://schemas.microsoft.com/office/drawing/2014/main" val="1058135351"/>
                  </a:ext>
                </a:extLst>
              </a:tr>
              <a:tr h="943285">
                <a:tc>
                  <a:txBody>
                    <a:bodyPr/>
                    <a:lstStyle/>
                    <a:p>
                      <a:pPr marL="0" indent="0" algn="l">
                        <a:buFont typeface="+mj-lt"/>
                        <a:buNone/>
                      </a:pPr>
                      <a:r>
                        <a:rPr lang="en-US" sz="1400" i="1">
                          <a:solidFill>
                            <a:schemeClr val="tx1"/>
                          </a:solidFill>
                        </a:rPr>
                        <a:t>3.</a:t>
                      </a:r>
                      <a:endParaRPr lang="en-IN" sz="1400" i="1">
                        <a:solidFill>
                          <a:schemeClr val="tx1"/>
                        </a:solidFill>
                      </a:endParaRPr>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tcPr>
                </a:tc>
                <a:tc>
                  <a:txBody>
                    <a:bodyPr/>
                    <a:lstStyle/>
                    <a:p>
                      <a:pPr marL="0" marR="0" lvl="0" indent="0" algn="l" defTabSz="1219170" rtl="0" eaLnBrk="1" fontAlgn="auto" latinLnBrk="0" hangingPunct="1">
                        <a:lnSpc>
                          <a:spcPct val="100000"/>
                        </a:lnSpc>
                        <a:spcBef>
                          <a:spcPts val="0"/>
                        </a:spcBef>
                        <a:spcAft>
                          <a:spcPts val="0"/>
                        </a:spcAft>
                        <a:buClrTx/>
                        <a:buSzTx/>
                        <a:buFont typeface="+mj-lt"/>
                        <a:buNone/>
                        <a:tabLst/>
                        <a:defRPr/>
                      </a:pPr>
                      <a:r>
                        <a:rPr kumimoji="0" lang="en-US" sz="1400" b="0" i="1" u="none" strike="noStrike" kern="1200" cap="none" spc="0" normalizeH="0" baseline="0">
                          <a:ln>
                            <a:noFill/>
                          </a:ln>
                          <a:solidFill>
                            <a:srgbClr val="000000"/>
                          </a:solidFill>
                          <a:effectLst/>
                          <a:uLnTx/>
                          <a:uFillTx/>
                          <a:latin typeface="+mj-lt"/>
                          <a:ea typeface="+mn-ea"/>
                          <a:cs typeface="Calibri" panose="020F0502020204030204" pitchFamily="34" charset="0"/>
                        </a:rPr>
                        <a:t>Approach &amp; Methodology</a:t>
                      </a:r>
                      <a:endParaRPr kumimoji="0" lang="en-IN" sz="1400" b="0" i="1" u="none" strike="noStrike" kern="1200" cap="none" spc="0" normalizeH="0" baseline="0">
                        <a:ln>
                          <a:noFill/>
                        </a:ln>
                        <a:solidFill>
                          <a:srgbClr val="000000"/>
                        </a:solidFill>
                        <a:effectLst/>
                        <a:uLnTx/>
                        <a:uFillTx/>
                        <a:latin typeface="+mj-lt"/>
                        <a:ea typeface="+mn-ea"/>
                        <a:cs typeface="Calibri" panose="020F0502020204030204" pitchFamily="34" charset="0"/>
                      </a:endParaRPr>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tcPr>
                </a:tc>
                <a:tc>
                  <a:txBody>
                    <a:bodyPr/>
                    <a:lstStyle/>
                    <a:p>
                      <a:pPr algn="l"/>
                      <a:r>
                        <a:rPr kumimoji="0" lang="en-US" sz="1400" b="0" i="1" u="sng" strike="noStrike" kern="1200" cap="none" spc="0" normalizeH="0" baseline="0">
                          <a:ln>
                            <a:noFill/>
                          </a:ln>
                          <a:solidFill>
                            <a:schemeClr val="tx1"/>
                          </a:solidFill>
                          <a:effectLst/>
                          <a:uLnTx/>
                          <a:uFillTx/>
                          <a:latin typeface="+mj-lt"/>
                          <a:ea typeface="+mn-ea"/>
                          <a:cs typeface="Calibri" panose="020F0502020204030204" pitchFamily="34" charset="0"/>
                        </a:rPr>
                        <a:t>1</a:t>
                      </a:r>
                      <a:r>
                        <a:rPr kumimoji="0" lang="en-IN" sz="1400" b="0" i="1" u="sng" strike="noStrike" kern="1200" cap="none" spc="0" normalizeH="0" baseline="0">
                          <a:ln>
                            <a:noFill/>
                          </a:ln>
                          <a:solidFill>
                            <a:schemeClr val="tx1"/>
                          </a:solidFill>
                          <a:effectLst/>
                          <a:uLnTx/>
                          <a:uFillTx/>
                          <a:latin typeface="+mj-lt"/>
                          <a:ea typeface="+mn-ea"/>
                          <a:cs typeface="Calibri" panose="020F0502020204030204" pitchFamily="34" charset="0"/>
                        </a:rPr>
                        <a:t>8</a:t>
                      </a:r>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tcPr>
                </a:tc>
                <a:extLst>
                  <a:ext uri="{0D108BD9-81ED-4DB2-BD59-A6C34878D82A}">
                    <a16:rowId xmlns:a16="http://schemas.microsoft.com/office/drawing/2014/main" val="2847152791"/>
                  </a:ext>
                </a:extLst>
              </a:tr>
              <a:tr h="572445">
                <a:tc>
                  <a:txBody>
                    <a:bodyPr/>
                    <a:lstStyle/>
                    <a:p>
                      <a:pPr marL="0" indent="0" algn="l">
                        <a:buFont typeface="+mj-lt"/>
                        <a:buNone/>
                      </a:pPr>
                      <a:r>
                        <a:rPr lang="en-US" sz="1400" i="1" baseline="0">
                          <a:solidFill>
                            <a:schemeClr val="tx1"/>
                          </a:solidFill>
                        </a:rPr>
                        <a:t>4. </a:t>
                      </a:r>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tcPr>
                </a:tc>
                <a:tc>
                  <a:txBody>
                    <a:bodyPr/>
                    <a:lstStyle/>
                    <a:p>
                      <a:pPr marL="0" marR="0" lvl="0" indent="0" algn="l" defTabSz="1219170" rtl="0" eaLnBrk="1" fontAlgn="auto" latinLnBrk="0" hangingPunct="1">
                        <a:lnSpc>
                          <a:spcPct val="100000"/>
                        </a:lnSpc>
                        <a:spcBef>
                          <a:spcPts val="0"/>
                        </a:spcBef>
                        <a:spcAft>
                          <a:spcPts val="0"/>
                        </a:spcAft>
                        <a:buClrTx/>
                        <a:buSzTx/>
                        <a:buFont typeface="+mj-lt"/>
                        <a:buNone/>
                        <a:tabLst/>
                        <a:defRPr/>
                      </a:pPr>
                      <a:r>
                        <a:rPr kumimoji="0" lang="en-US" sz="1400" b="0" i="1" u="none" strike="noStrike" kern="1200" cap="none" spc="0" normalizeH="0" baseline="0">
                          <a:ln>
                            <a:noFill/>
                          </a:ln>
                          <a:solidFill>
                            <a:srgbClr val="000000"/>
                          </a:solidFill>
                          <a:effectLst/>
                          <a:uLnTx/>
                          <a:uFillTx/>
                          <a:latin typeface="+mj-lt"/>
                          <a:ea typeface="+mn-ea"/>
                          <a:cs typeface="Calibri" panose="020F0502020204030204" pitchFamily="34" charset="0"/>
                        </a:rPr>
                        <a:t>Profile of Key Personnel</a:t>
                      </a:r>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tcPr>
                </a:tc>
                <a:tc>
                  <a:txBody>
                    <a:bodyPr/>
                    <a:lstStyle/>
                    <a:p>
                      <a:pPr algn="l"/>
                      <a:r>
                        <a:rPr kumimoji="0" lang="en-IN" sz="1400" b="0" i="1" u="sng" strike="noStrike" kern="1200" cap="none" spc="0" normalizeH="0" baseline="0">
                          <a:ln>
                            <a:noFill/>
                          </a:ln>
                          <a:solidFill>
                            <a:schemeClr val="tx1"/>
                          </a:solidFill>
                          <a:effectLst/>
                          <a:uLnTx/>
                          <a:uFillTx/>
                          <a:latin typeface="+mj-lt"/>
                          <a:ea typeface="+mn-ea"/>
                          <a:cs typeface="Calibri" panose="020F0502020204030204" pitchFamily="34" charset="0"/>
                        </a:rPr>
                        <a:t>31</a:t>
                      </a:r>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tcPr>
                </a:tc>
                <a:extLst>
                  <a:ext uri="{0D108BD9-81ED-4DB2-BD59-A6C34878D82A}">
                    <a16:rowId xmlns:a16="http://schemas.microsoft.com/office/drawing/2014/main" val="2212223935"/>
                  </a:ext>
                </a:extLst>
              </a:tr>
              <a:tr h="572445">
                <a:tc>
                  <a:txBody>
                    <a:bodyPr/>
                    <a:lstStyle/>
                    <a:p>
                      <a:pPr marL="0" indent="0" algn="l">
                        <a:buFont typeface="+mj-lt"/>
                        <a:buNone/>
                      </a:pPr>
                      <a:r>
                        <a:rPr lang="en-US" sz="1400" i="1">
                          <a:solidFill>
                            <a:schemeClr val="tx1"/>
                          </a:solidFill>
                        </a:rPr>
                        <a:t>5.</a:t>
                      </a:r>
                      <a:endParaRPr lang="en-IN" sz="1400" i="1">
                        <a:solidFill>
                          <a:schemeClr val="tx1"/>
                        </a:solidFill>
                      </a:endParaRPr>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tcPr>
                </a:tc>
                <a:tc>
                  <a:txBody>
                    <a:bodyPr/>
                    <a:lstStyle/>
                    <a:p>
                      <a:pPr marL="0" marR="0" lvl="0" indent="0" algn="l" defTabSz="1219170" rtl="0" eaLnBrk="1" fontAlgn="auto" latinLnBrk="0" hangingPunct="1">
                        <a:lnSpc>
                          <a:spcPct val="100000"/>
                        </a:lnSpc>
                        <a:spcBef>
                          <a:spcPts val="0"/>
                        </a:spcBef>
                        <a:spcAft>
                          <a:spcPts val="0"/>
                        </a:spcAft>
                        <a:buClrTx/>
                        <a:buSzTx/>
                        <a:buFont typeface="+mj-lt"/>
                        <a:buNone/>
                        <a:tabLst/>
                        <a:defRPr/>
                      </a:pPr>
                      <a:r>
                        <a:rPr kumimoji="0" lang="en-US" sz="1400" b="0" i="1" u="none" strike="noStrike" kern="1200" cap="none" spc="0" normalizeH="0" baseline="0">
                          <a:ln>
                            <a:noFill/>
                          </a:ln>
                          <a:solidFill>
                            <a:srgbClr val="000000"/>
                          </a:solidFill>
                          <a:effectLst/>
                          <a:uLnTx/>
                          <a:uFillTx/>
                          <a:latin typeface="+mj-lt"/>
                          <a:ea typeface="+mn-ea"/>
                          <a:cs typeface="Calibri" panose="020F0502020204030204" pitchFamily="34" charset="0"/>
                        </a:rPr>
                        <a:t>Our Experience in the field of Assignment</a:t>
                      </a:r>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tcPr>
                </a:tc>
                <a:tc>
                  <a:txBody>
                    <a:bodyPr/>
                    <a:lstStyle/>
                    <a:p>
                      <a:pPr algn="l"/>
                      <a:r>
                        <a:rPr kumimoji="0" lang="en-IN" sz="1400" b="0" i="1" u="sng" strike="noStrike" kern="1200" cap="none" spc="0" normalizeH="0" baseline="0">
                          <a:ln>
                            <a:noFill/>
                          </a:ln>
                          <a:solidFill>
                            <a:schemeClr val="tx1"/>
                          </a:solidFill>
                          <a:effectLst/>
                          <a:uLnTx/>
                          <a:uFillTx/>
                          <a:latin typeface="+mj-lt"/>
                          <a:ea typeface="+mn-ea"/>
                          <a:cs typeface="Calibri" panose="020F0502020204030204" pitchFamily="34" charset="0"/>
                        </a:rPr>
                        <a:t>39</a:t>
                      </a:r>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tcPr>
                </a:tc>
                <a:extLst>
                  <a:ext uri="{0D108BD9-81ED-4DB2-BD59-A6C34878D82A}">
                    <a16:rowId xmlns:a16="http://schemas.microsoft.com/office/drawing/2014/main" val="2829748471"/>
                  </a:ext>
                </a:extLst>
              </a:tr>
              <a:tr h="572445">
                <a:tc>
                  <a:txBody>
                    <a:bodyPr/>
                    <a:lstStyle/>
                    <a:p>
                      <a:pPr marL="0" indent="0" algn="l">
                        <a:buFont typeface="+mj-lt"/>
                        <a:buNone/>
                      </a:pPr>
                      <a:r>
                        <a:rPr lang="en-IN" sz="1400" i="1">
                          <a:solidFill>
                            <a:schemeClr val="tx1"/>
                          </a:solidFill>
                        </a:rPr>
                        <a:t>6.</a:t>
                      </a:r>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tcPr>
                </a:tc>
                <a:tc>
                  <a:txBody>
                    <a:bodyPr/>
                    <a:lstStyle/>
                    <a:p>
                      <a:pPr marL="0" marR="0" lvl="0" indent="0" algn="l" defTabSz="1219170" rtl="0" eaLnBrk="1" fontAlgn="auto" latinLnBrk="0" hangingPunct="1">
                        <a:lnSpc>
                          <a:spcPct val="100000"/>
                        </a:lnSpc>
                        <a:spcBef>
                          <a:spcPts val="0"/>
                        </a:spcBef>
                        <a:spcAft>
                          <a:spcPts val="0"/>
                        </a:spcAft>
                        <a:buClrTx/>
                        <a:buSzTx/>
                        <a:buFont typeface="+mj-lt"/>
                        <a:buNone/>
                        <a:tabLst/>
                        <a:defRPr/>
                      </a:pPr>
                      <a:r>
                        <a:rPr kumimoji="0" lang="en-US" sz="1400" b="0" i="1" u="none" strike="noStrike" kern="1200" cap="none" spc="0" normalizeH="0" baseline="0">
                          <a:ln>
                            <a:noFill/>
                          </a:ln>
                          <a:solidFill>
                            <a:srgbClr val="000000"/>
                          </a:solidFill>
                          <a:effectLst/>
                          <a:uLnTx/>
                          <a:uFillTx/>
                          <a:latin typeface="+mj-lt"/>
                          <a:ea typeface="+mn-ea"/>
                          <a:cs typeface="Calibri" panose="020F0502020204030204" pitchFamily="34" charset="0"/>
                        </a:rPr>
                        <a:t>Letter of Association</a:t>
                      </a:r>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tcPr>
                </a:tc>
                <a:tc>
                  <a:txBody>
                    <a:bodyPr/>
                    <a:lstStyle/>
                    <a:p>
                      <a:pPr algn="l"/>
                      <a:r>
                        <a:rPr kumimoji="0" lang="en-IN" sz="1400" b="0" i="1" u="none" strike="noStrike" kern="1200" cap="none" spc="0" normalizeH="0" baseline="0">
                          <a:ln>
                            <a:noFill/>
                          </a:ln>
                          <a:solidFill>
                            <a:schemeClr val="tx1"/>
                          </a:solidFill>
                          <a:effectLst/>
                          <a:uLnTx/>
                          <a:uFillTx/>
                          <a:latin typeface="+mj-lt"/>
                          <a:ea typeface="+mn-ea"/>
                          <a:cs typeface="Calibri" panose="020F0502020204030204" pitchFamily="34" charset="0"/>
                          <a:hlinkClick r:id="rId3" action="ppaction://hlinksldjump">
                            <a:extLst>
                              <a:ext uri="{A12FA001-AC4F-418D-AE19-62706E023703}">
                                <ahyp:hlinkClr xmlns:ahyp="http://schemas.microsoft.com/office/drawing/2018/hyperlinkcolor" val="tx"/>
                              </a:ext>
                            </a:extLst>
                          </a:hlinkClick>
                        </a:rPr>
                        <a:t>94</a:t>
                      </a:r>
                      <a:endParaRPr kumimoji="0" lang="en-IN" sz="1400" b="0" i="1" u="none" strike="noStrike" kern="1200" cap="none" spc="0" normalizeH="0" baseline="0">
                        <a:ln>
                          <a:noFill/>
                        </a:ln>
                        <a:solidFill>
                          <a:schemeClr val="tx1"/>
                        </a:solidFill>
                        <a:effectLst/>
                        <a:uLnTx/>
                        <a:uFillTx/>
                        <a:latin typeface="+mj-lt"/>
                        <a:ea typeface="+mn-ea"/>
                        <a:cs typeface="Calibri" panose="020F0502020204030204" pitchFamily="34" charset="0"/>
                      </a:endParaRPr>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tcPr>
                </a:tc>
                <a:extLst>
                  <a:ext uri="{0D108BD9-81ED-4DB2-BD59-A6C34878D82A}">
                    <a16:rowId xmlns:a16="http://schemas.microsoft.com/office/drawing/2014/main" val="2404122627"/>
                  </a:ext>
                </a:extLst>
              </a:tr>
              <a:tr h="572445">
                <a:tc>
                  <a:txBody>
                    <a:bodyPr/>
                    <a:lstStyle/>
                    <a:p>
                      <a:pPr marL="0" indent="0" algn="l">
                        <a:buFont typeface="+mj-lt"/>
                        <a:buNone/>
                      </a:pPr>
                      <a:r>
                        <a:rPr lang="en-IN" sz="1400" i="1">
                          <a:solidFill>
                            <a:schemeClr val="tx1"/>
                          </a:solidFill>
                        </a:rPr>
                        <a:t>7.</a:t>
                      </a:r>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tcPr>
                </a:tc>
                <a:tc>
                  <a:txBody>
                    <a:bodyPr/>
                    <a:lstStyle/>
                    <a:p>
                      <a:pPr marL="0" marR="0" lvl="0" indent="0" algn="l" defTabSz="1219170" rtl="0" eaLnBrk="1" fontAlgn="auto" latinLnBrk="0" hangingPunct="1">
                        <a:lnSpc>
                          <a:spcPct val="100000"/>
                        </a:lnSpc>
                        <a:spcBef>
                          <a:spcPts val="0"/>
                        </a:spcBef>
                        <a:spcAft>
                          <a:spcPts val="0"/>
                        </a:spcAft>
                        <a:buClrTx/>
                        <a:buSzTx/>
                        <a:buFont typeface="+mj-lt"/>
                        <a:buNone/>
                        <a:tabLst/>
                        <a:defRPr/>
                      </a:pPr>
                      <a:r>
                        <a:rPr kumimoji="0" lang="en-US" sz="1400" b="0" i="1" u="none" strike="noStrike" kern="1200" cap="none" spc="0" normalizeH="0" baseline="0">
                          <a:ln>
                            <a:noFill/>
                          </a:ln>
                          <a:solidFill>
                            <a:srgbClr val="000000"/>
                          </a:solidFill>
                          <a:effectLst/>
                          <a:uLnTx/>
                          <a:uFillTx/>
                          <a:latin typeface="+mj-lt"/>
                          <a:ea typeface="+mn-ea"/>
                          <a:cs typeface="Calibri" panose="020F0502020204030204" pitchFamily="34" charset="0"/>
                        </a:rPr>
                        <a:t>Financial Turnover</a:t>
                      </a:r>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tcPr>
                </a:tc>
                <a:tc>
                  <a:txBody>
                    <a:bodyPr/>
                    <a:lstStyle/>
                    <a:p>
                      <a:pPr algn="l"/>
                      <a:r>
                        <a:rPr kumimoji="0" lang="en-IN" sz="1400" b="0" i="1" u="none" strike="noStrike" kern="1200" cap="none" spc="0" normalizeH="0" baseline="0">
                          <a:ln>
                            <a:noFill/>
                          </a:ln>
                          <a:solidFill>
                            <a:schemeClr val="tx1"/>
                          </a:solidFill>
                          <a:effectLst/>
                          <a:uLnTx/>
                          <a:uFillTx/>
                          <a:latin typeface="+mj-lt"/>
                          <a:ea typeface="+mn-ea"/>
                          <a:cs typeface="Calibri" panose="020F0502020204030204" pitchFamily="34" charset="0"/>
                          <a:hlinkClick r:id="rId4" action="ppaction://hlinksldjump">
                            <a:extLst>
                              <a:ext uri="{A12FA001-AC4F-418D-AE19-62706E023703}">
                                <ahyp:hlinkClr xmlns:ahyp="http://schemas.microsoft.com/office/drawing/2018/hyperlinkcolor" val="tx"/>
                              </a:ext>
                            </a:extLst>
                          </a:hlinkClick>
                        </a:rPr>
                        <a:t>96</a:t>
                      </a:r>
                      <a:endParaRPr kumimoji="0" lang="en-IN" sz="1400" b="0" i="1" u="none" strike="noStrike" kern="1200" cap="none" spc="0" normalizeH="0" baseline="0">
                        <a:ln>
                          <a:noFill/>
                        </a:ln>
                        <a:solidFill>
                          <a:schemeClr val="tx1"/>
                        </a:solidFill>
                        <a:effectLst/>
                        <a:uLnTx/>
                        <a:uFillTx/>
                        <a:latin typeface="+mj-lt"/>
                        <a:ea typeface="+mn-ea"/>
                        <a:cs typeface="Calibri" panose="020F0502020204030204" pitchFamily="34" charset="0"/>
                      </a:endParaRPr>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tcPr>
                </a:tc>
                <a:extLst>
                  <a:ext uri="{0D108BD9-81ED-4DB2-BD59-A6C34878D82A}">
                    <a16:rowId xmlns:a16="http://schemas.microsoft.com/office/drawing/2014/main" val="3450099648"/>
                  </a:ext>
                </a:extLst>
              </a:tr>
              <a:tr h="572445">
                <a:tc>
                  <a:txBody>
                    <a:bodyPr/>
                    <a:lstStyle/>
                    <a:p>
                      <a:pPr marL="0" indent="0" algn="l">
                        <a:buFont typeface="+mj-lt"/>
                        <a:buNone/>
                      </a:pPr>
                      <a:r>
                        <a:rPr lang="en-US" sz="1400" i="1">
                          <a:solidFill>
                            <a:schemeClr val="tx1"/>
                          </a:solidFill>
                        </a:rPr>
                        <a:t>8.</a:t>
                      </a:r>
                      <a:endParaRPr lang="en-IN" sz="1400" i="1">
                        <a:solidFill>
                          <a:schemeClr val="tx1"/>
                        </a:solidFill>
                      </a:endParaRPr>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tcPr>
                </a:tc>
                <a:tc>
                  <a:txBody>
                    <a:bodyPr/>
                    <a:lstStyle/>
                    <a:p>
                      <a:pPr marL="0" marR="0" lvl="0" indent="0" algn="l" defTabSz="1219170" rtl="0" eaLnBrk="1" fontAlgn="auto" latinLnBrk="0" hangingPunct="1">
                        <a:lnSpc>
                          <a:spcPct val="100000"/>
                        </a:lnSpc>
                        <a:spcBef>
                          <a:spcPts val="0"/>
                        </a:spcBef>
                        <a:spcAft>
                          <a:spcPts val="0"/>
                        </a:spcAft>
                        <a:buClrTx/>
                        <a:buSzTx/>
                        <a:buFont typeface="+mj-lt"/>
                        <a:buNone/>
                        <a:tabLst/>
                        <a:defRPr/>
                      </a:pPr>
                      <a:r>
                        <a:rPr kumimoji="0" lang="en-US" sz="1400" b="0" i="1" u="none" strike="noStrike" kern="1200" cap="none" spc="0" normalizeH="0" baseline="0">
                          <a:ln>
                            <a:noFill/>
                          </a:ln>
                          <a:solidFill>
                            <a:srgbClr val="000000"/>
                          </a:solidFill>
                          <a:effectLst/>
                          <a:uLnTx/>
                          <a:uFillTx/>
                          <a:latin typeface="+mj-lt"/>
                          <a:ea typeface="+mn-ea"/>
                          <a:cs typeface="Calibri" panose="020F0502020204030204" pitchFamily="34" charset="0"/>
                        </a:rPr>
                        <a:t>Relevant documents</a:t>
                      </a:r>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tcPr>
                </a:tc>
                <a:tc>
                  <a:txBody>
                    <a:bodyPr/>
                    <a:lstStyle/>
                    <a:p>
                      <a:pPr algn="l"/>
                      <a:r>
                        <a:rPr kumimoji="0" lang="en-IN" sz="1400" b="0" i="1" u="none" strike="noStrike" kern="1200" cap="none" spc="0" normalizeH="0" baseline="0">
                          <a:ln>
                            <a:noFill/>
                          </a:ln>
                          <a:solidFill>
                            <a:schemeClr val="tx1"/>
                          </a:solidFill>
                          <a:effectLst/>
                          <a:uLnTx/>
                          <a:uFillTx/>
                          <a:latin typeface="+mj-lt"/>
                          <a:ea typeface="+mn-ea"/>
                          <a:cs typeface="Calibri" panose="020F0502020204030204" pitchFamily="34" charset="0"/>
                          <a:hlinkClick r:id="rId5" action="ppaction://hlinksldjump">
                            <a:extLst>
                              <a:ext uri="{A12FA001-AC4F-418D-AE19-62706E023703}">
                                <ahyp:hlinkClr xmlns:ahyp="http://schemas.microsoft.com/office/drawing/2018/hyperlinkcolor" val="tx"/>
                              </a:ext>
                            </a:extLst>
                          </a:hlinkClick>
                        </a:rPr>
                        <a:t>99</a:t>
                      </a:r>
                      <a:endParaRPr kumimoji="0" lang="en-IN" sz="1400" b="0" i="1" u="none" strike="noStrike" kern="1200" cap="none" spc="0" normalizeH="0" baseline="0">
                        <a:ln>
                          <a:noFill/>
                        </a:ln>
                        <a:solidFill>
                          <a:schemeClr val="tx1"/>
                        </a:solidFill>
                        <a:effectLst/>
                        <a:uLnTx/>
                        <a:uFillTx/>
                        <a:latin typeface="+mj-lt"/>
                        <a:ea typeface="+mn-ea"/>
                        <a:cs typeface="Calibri" panose="020F0502020204030204" pitchFamily="34" charset="0"/>
                      </a:endParaRPr>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tcPr>
                </a:tc>
                <a:extLst>
                  <a:ext uri="{0D108BD9-81ED-4DB2-BD59-A6C34878D82A}">
                    <a16:rowId xmlns:a16="http://schemas.microsoft.com/office/drawing/2014/main" val="59060790"/>
                  </a:ext>
                </a:extLst>
              </a:tr>
            </a:tbl>
          </a:graphicData>
        </a:graphic>
      </p:graphicFrame>
      <p:pic>
        <p:nvPicPr>
          <p:cNvPr id="11" name="Picture 10">
            <a:extLst>
              <a:ext uri="{FF2B5EF4-FFF2-40B4-BE49-F238E27FC236}">
                <a16:creationId xmlns:a16="http://schemas.microsoft.com/office/drawing/2014/main" id="{5CA1740C-9DA0-4B7D-925E-AB2A48B7CA2D}"/>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6936324" y="1014192"/>
            <a:ext cx="4633376" cy="4608466"/>
          </a:xfrm>
          <a:prstGeom prst="rect">
            <a:avLst/>
          </a:prstGeom>
        </p:spPr>
      </p:pic>
      <p:cxnSp>
        <p:nvCxnSpPr>
          <p:cNvPr id="7" name="Straight Arrow Connector 6">
            <a:extLst>
              <a:ext uri="{FF2B5EF4-FFF2-40B4-BE49-F238E27FC236}">
                <a16:creationId xmlns:a16="http://schemas.microsoft.com/office/drawing/2014/main" id="{8F523FD1-9A62-D2D7-A937-2523BBD416EB}"/>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70E1C1C5-3EB1-55EF-FD84-7DB2D11391A2}"/>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Contents</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7" name="Object 6"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Chronicle Display Black" pitchFamily="50" charset="0"/>
              <a:ea typeface="+mn-ea"/>
              <a:cs typeface="+mn-cs"/>
              <a:sym typeface="Chronicle Display Black" pitchFamily="50" charset="0"/>
            </a:endParaRPr>
          </a:p>
        </p:txBody>
      </p:sp>
      <p:pic>
        <p:nvPicPr>
          <p:cNvPr id="33" name="Picture 32"/>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bwMode="gray">
          <a:xfrm>
            <a:off x="0" y="0"/>
            <a:ext cx="12192000" cy="6858000"/>
          </a:xfrm>
          <a:prstGeom prst="rect">
            <a:avLst/>
          </a:prstGeom>
        </p:spPr>
      </p:pic>
      <p:sp>
        <p:nvSpPr>
          <p:cNvPr id="34" name="Flowchart: Process 33"/>
          <p:cNvSpPr/>
          <p:nvPr/>
        </p:nvSpPr>
        <p:spPr bwMode="gray">
          <a:xfrm>
            <a:off x="1343139" y="1283297"/>
            <a:ext cx="9512456" cy="4332512"/>
          </a:xfrm>
          <a:prstGeom prst="flowChartProcess">
            <a:avLst/>
          </a:prstGeom>
          <a:solidFill>
            <a:schemeClr val="tx1">
              <a:alpha val="38000"/>
            </a:schemeClr>
          </a:solidFill>
          <a:ln w="19050" algn="ctr">
            <a:noFill/>
            <a:miter lim="800000"/>
            <a:headEnd/>
            <a:tailEnd/>
          </a:ln>
        </p:spPr>
        <p:txBody>
          <a:bodyPr wrap="square" lIns="1080000" tIns="88900" rIns="1080000" bIns="88900" rtlCol="0" anchor="ct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400" b="0" i="0" u="none" strike="noStrike" kern="1200" cap="none" spc="0" normalizeH="0" baseline="0" noProof="0">
                <a:ln>
                  <a:noFill/>
                </a:ln>
                <a:solidFill>
                  <a:srgbClr val="0097A9"/>
                </a:solidFill>
                <a:effectLst/>
                <a:uLnTx/>
                <a:uFillTx/>
                <a:latin typeface="Verdana" panose="020B0604030504040204" pitchFamily="34" charset="0"/>
                <a:ea typeface="Verdana" panose="020B0604030504040204" pitchFamily="34" charset="0"/>
                <a:cs typeface="Calibri" panose="020F0502020204030204" pitchFamily="34" charset="0"/>
              </a:rPr>
              <a:t>Organization Profile</a:t>
            </a:r>
          </a:p>
        </p:txBody>
      </p:sp>
      <p:grpSp>
        <p:nvGrpSpPr>
          <p:cNvPr id="35" name="Group 541"/>
          <p:cNvGrpSpPr>
            <a:grpSpLocks noChangeAspect="1"/>
          </p:cNvGrpSpPr>
          <p:nvPr/>
        </p:nvGrpSpPr>
        <p:grpSpPr bwMode="gray">
          <a:xfrm>
            <a:off x="2043454" y="743296"/>
            <a:ext cx="1080000" cy="1080000"/>
            <a:chOff x="5326" y="2494"/>
            <a:chExt cx="340" cy="340"/>
          </a:xfrm>
          <a:solidFill>
            <a:srgbClr val="0097A9"/>
          </a:solidFill>
        </p:grpSpPr>
        <p:sp>
          <p:nvSpPr>
            <p:cNvPr id="36" name="Freeform 542"/>
            <p:cNvSpPr>
              <a:spLocks noEditPoints="1"/>
            </p:cNvSpPr>
            <p:nvPr/>
          </p:nvSpPr>
          <p:spPr bwMode="gray">
            <a:xfrm>
              <a:off x="5430" y="2558"/>
              <a:ext cx="132" cy="212"/>
            </a:xfrm>
            <a:custGeom>
              <a:avLst/>
              <a:gdLst>
                <a:gd name="T0" fmla="*/ 99 w 199"/>
                <a:gd name="T1" fmla="*/ 0 h 320"/>
                <a:gd name="T2" fmla="*/ 99 w 199"/>
                <a:gd name="T3" fmla="*/ 0 h 320"/>
                <a:gd name="T4" fmla="*/ 99 w 199"/>
                <a:gd name="T5" fmla="*/ 0 h 320"/>
                <a:gd name="T6" fmla="*/ 99 w 199"/>
                <a:gd name="T7" fmla="*/ 0 h 320"/>
                <a:gd name="T8" fmla="*/ 98 w 199"/>
                <a:gd name="T9" fmla="*/ 0 h 320"/>
                <a:gd name="T10" fmla="*/ 0 w 199"/>
                <a:gd name="T11" fmla="*/ 95 h 320"/>
                <a:gd name="T12" fmla="*/ 19 w 199"/>
                <a:gd name="T13" fmla="*/ 158 h 320"/>
                <a:gd name="T14" fmla="*/ 45 w 199"/>
                <a:gd name="T15" fmla="*/ 213 h 320"/>
                <a:gd name="T16" fmla="*/ 45 w 199"/>
                <a:gd name="T17" fmla="*/ 245 h 320"/>
                <a:gd name="T18" fmla="*/ 46 w 199"/>
                <a:gd name="T19" fmla="*/ 246 h 320"/>
                <a:gd name="T20" fmla="*/ 45 w 199"/>
                <a:gd name="T21" fmla="*/ 247 h 320"/>
                <a:gd name="T22" fmla="*/ 56 w 199"/>
                <a:gd name="T23" fmla="*/ 311 h 320"/>
                <a:gd name="T24" fmla="*/ 67 w 199"/>
                <a:gd name="T25" fmla="*/ 320 h 320"/>
                <a:gd name="T26" fmla="*/ 131 w 199"/>
                <a:gd name="T27" fmla="*/ 320 h 320"/>
                <a:gd name="T28" fmla="*/ 141 w 199"/>
                <a:gd name="T29" fmla="*/ 311 h 320"/>
                <a:gd name="T30" fmla="*/ 152 w 199"/>
                <a:gd name="T31" fmla="*/ 247 h 320"/>
                <a:gd name="T32" fmla="*/ 152 w 199"/>
                <a:gd name="T33" fmla="*/ 246 h 320"/>
                <a:gd name="T34" fmla="*/ 152 w 199"/>
                <a:gd name="T35" fmla="*/ 245 h 320"/>
                <a:gd name="T36" fmla="*/ 152 w 199"/>
                <a:gd name="T37" fmla="*/ 213 h 320"/>
                <a:gd name="T38" fmla="*/ 179 w 199"/>
                <a:gd name="T39" fmla="*/ 158 h 320"/>
                <a:gd name="T40" fmla="*/ 199 w 199"/>
                <a:gd name="T41" fmla="*/ 95 h 320"/>
                <a:gd name="T42" fmla="*/ 99 w 199"/>
                <a:gd name="T43" fmla="*/ 0 h 320"/>
                <a:gd name="T44" fmla="*/ 122 w 199"/>
                <a:gd name="T45" fmla="*/ 298 h 320"/>
                <a:gd name="T46" fmla="*/ 76 w 199"/>
                <a:gd name="T47" fmla="*/ 298 h 320"/>
                <a:gd name="T48" fmla="*/ 69 w 199"/>
                <a:gd name="T49" fmla="*/ 256 h 320"/>
                <a:gd name="T50" fmla="*/ 129 w 199"/>
                <a:gd name="T51" fmla="*/ 256 h 320"/>
                <a:gd name="T52" fmla="*/ 122 w 199"/>
                <a:gd name="T53" fmla="*/ 298 h 320"/>
                <a:gd name="T54" fmla="*/ 161 w 199"/>
                <a:gd name="T55" fmla="*/ 147 h 320"/>
                <a:gd name="T56" fmla="*/ 131 w 199"/>
                <a:gd name="T57" fmla="*/ 213 h 320"/>
                <a:gd name="T58" fmla="*/ 131 w 199"/>
                <a:gd name="T59" fmla="*/ 234 h 320"/>
                <a:gd name="T60" fmla="*/ 109 w 199"/>
                <a:gd name="T61" fmla="*/ 234 h 320"/>
                <a:gd name="T62" fmla="*/ 109 w 199"/>
                <a:gd name="T63" fmla="*/ 153 h 320"/>
                <a:gd name="T64" fmla="*/ 128 w 199"/>
                <a:gd name="T65" fmla="*/ 135 h 320"/>
                <a:gd name="T66" fmla="*/ 128 w 199"/>
                <a:gd name="T67" fmla="*/ 120 h 320"/>
                <a:gd name="T68" fmla="*/ 112 w 199"/>
                <a:gd name="T69" fmla="*/ 120 h 320"/>
                <a:gd name="T70" fmla="*/ 99 w 199"/>
                <a:gd name="T71" fmla="*/ 134 h 320"/>
                <a:gd name="T72" fmla="*/ 85 w 199"/>
                <a:gd name="T73" fmla="*/ 120 h 320"/>
                <a:gd name="T74" fmla="*/ 70 w 199"/>
                <a:gd name="T75" fmla="*/ 120 h 320"/>
                <a:gd name="T76" fmla="*/ 70 w 199"/>
                <a:gd name="T77" fmla="*/ 135 h 320"/>
                <a:gd name="T78" fmla="*/ 88 w 199"/>
                <a:gd name="T79" fmla="*/ 153 h 320"/>
                <a:gd name="T80" fmla="*/ 88 w 199"/>
                <a:gd name="T81" fmla="*/ 234 h 320"/>
                <a:gd name="T82" fmla="*/ 67 w 199"/>
                <a:gd name="T83" fmla="*/ 234 h 320"/>
                <a:gd name="T84" fmla="*/ 67 w 199"/>
                <a:gd name="T85" fmla="*/ 213 h 320"/>
                <a:gd name="T86" fmla="*/ 37 w 199"/>
                <a:gd name="T87" fmla="*/ 146 h 320"/>
                <a:gd name="T88" fmla="*/ 21 w 199"/>
                <a:gd name="T89" fmla="*/ 95 h 320"/>
                <a:gd name="T90" fmla="*/ 99 w 199"/>
                <a:gd name="T91" fmla="*/ 21 h 320"/>
                <a:gd name="T92" fmla="*/ 177 w 199"/>
                <a:gd name="T93" fmla="*/ 95 h 320"/>
                <a:gd name="T94" fmla="*/ 161 w 199"/>
                <a:gd name="T95" fmla="*/ 147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320">
                  <a:moveTo>
                    <a:pt x="99" y="0"/>
                  </a:moveTo>
                  <a:cubicBezTo>
                    <a:pt x="99" y="0"/>
                    <a:pt x="99" y="0"/>
                    <a:pt x="99" y="0"/>
                  </a:cubicBezTo>
                  <a:cubicBezTo>
                    <a:pt x="99" y="0"/>
                    <a:pt x="99" y="0"/>
                    <a:pt x="99" y="0"/>
                  </a:cubicBezTo>
                  <a:cubicBezTo>
                    <a:pt x="99" y="0"/>
                    <a:pt x="99" y="0"/>
                    <a:pt x="99" y="0"/>
                  </a:cubicBezTo>
                  <a:cubicBezTo>
                    <a:pt x="99" y="0"/>
                    <a:pt x="99" y="0"/>
                    <a:pt x="98" y="0"/>
                  </a:cubicBezTo>
                  <a:cubicBezTo>
                    <a:pt x="45" y="0"/>
                    <a:pt x="0" y="44"/>
                    <a:pt x="0" y="95"/>
                  </a:cubicBezTo>
                  <a:cubicBezTo>
                    <a:pt x="0" y="129"/>
                    <a:pt x="18" y="157"/>
                    <a:pt x="19" y="158"/>
                  </a:cubicBezTo>
                  <a:cubicBezTo>
                    <a:pt x="32" y="179"/>
                    <a:pt x="45" y="206"/>
                    <a:pt x="45" y="213"/>
                  </a:cubicBezTo>
                  <a:cubicBezTo>
                    <a:pt x="45" y="245"/>
                    <a:pt x="45" y="245"/>
                    <a:pt x="45" y="245"/>
                  </a:cubicBezTo>
                  <a:cubicBezTo>
                    <a:pt x="45" y="245"/>
                    <a:pt x="45" y="246"/>
                    <a:pt x="46" y="246"/>
                  </a:cubicBezTo>
                  <a:cubicBezTo>
                    <a:pt x="46" y="246"/>
                    <a:pt x="45" y="246"/>
                    <a:pt x="45" y="247"/>
                  </a:cubicBezTo>
                  <a:cubicBezTo>
                    <a:pt x="56" y="311"/>
                    <a:pt x="56" y="311"/>
                    <a:pt x="56" y="311"/>
                  </a:cubicBezTo>
                  <a:cubicBezTo>
                    <a:pt x="57" y="316"/>
                    <a:pt x="61" y="320"/>
                    <a:pt x="67" y="320"/>
                  </a:cubicBezTo>
                  <a:cubicBezTo>
                    <a:pt x="131" y="320"/>
                    <a:pt x="131" y="320"/>
                    <a:pt x="131" y="320"/>
                  </a:cubicBezTo>
                  <a:cubicBezTo>
                    <a:pt x="136" y="320"/>
                    <a:pt x="140" y="316"/>
                    <a:pt x="141" y="311"/>
                  </a:cubicBezTo>
                  <a:cubicBezTo>
                    <a:pt x="152" y="247"/>
                    <a:pt x="152" y="247"/>
                    <a:pt x="152" y="247"/>
                  </a:cubicBezTo>
                  <a:cubicBezTo>
                    <a:pt x="152" y="246"/>
                    <a:pt x="152" y="246"/>
                    <a:pt x="152" y="246"/>
                  </a:cubicBezTo>
                  <a:cubicBezTo>
                    <a:pt x="152" y="246"/>
                    <a:pt x="152" y="245"/>
                    <a:pt x="152" y="245"/>
                  </a:cubicBezTo>
                  <a:cubicBezTo>
                    <a:pt x="152" y="213"/>
                    <a:pt x="152" y="213"/>
                    <a:pt x="152" y="213"/>
                  </a:cubicBezTo>
                  <a:cubicBezTo>
                    <a:pt x="152" y="206"/>
                    <a:pt x="166" y="179"/>
                    <a:pt x="179" y="158"/>
                  </a:cubicBezTo>
                  <a:cubicBezTo>
                    <a:pt x="180" y="157"/>
                    <a:pt x="199" y="129"/>
                    <a:pt x="199" y="95"/>
                  </a:cubicBezTo>
                  <a:cubicBezTo>
                    <a:pt x="199" y="44"/>
                    <a:pt x="153" y="0"/>
                    <a:pt x="99" y="0"/>
                  </a:cubicBezTo>
                  <a:close/>
                  <a:moveTo>
                    <a:pt x="122" y="298"/>
                  </a:moveTo>
                  <a:cubicBezTo>
                    <a:pt x="76" y="298"/>
                    <a:pt x="76" y="298"/>
                    <a:pt x="76" y="298"/>
                  </a:cubicBezTo>
                  <a:cubicBezTo>
                    <a:pt x="69" y="256"/>
                    <a:pt x="69" y="256"/>
                    <a:pt x="69" y="256"/>
                  </a:cubicBezTo>
                  <a:cubicBezTo>
                    <a:pt x="129" y="256"/>
                    <a:pt x="129" y="256"/>
                    <a:pt x="129" y="256"/>
                  </a:cubicBezTo>
                  <a:lnTo>
                    <a:pt x="122" y="298"/>
                  </a:lnTo>
                  <a:close/>
                  <a:moveTo>
                    <a:pt x="161" y="147"/>
                  </a:moveTo>
                  <a:cubicBezTo>
                    <a:pt x="154" y="158"/>
                    <a:pt x="131" y="196"/>
                    <a:pt x="131" y="213"/>
                  </a:cubicBezTo>
                  <a:cubicBezTo>
                    <a:pt x="131" y="234"/>
                    <a:pt x="131" y="234"/>
                    <a:pt x="131" y="234"/>
                  </a:cubicBezTo>
                  <a:cubicBezTo>
                    <a:pt x="109" y="234"/>
                    <a:pt x="109" y="234"/>
                    <a:pt x="109" y="234"/>
                  </a:cubicBezTo>
                  <a:cubicBezTo>
                    <a:pt x="109" y="153"/>
                    <a:pt x="109" y="153"/>
                    <a:pt x="109" y="153"/>
                  </a:cubicBezTo>
                  <a:cubicBezTo>
                    <a:pt x="128" y="135"/>
                    <a:pt x="128" y="135"/>
                    <a:pt x="128" y="135"/>
                  </a:cubicBezTo>
                  <a:cubicBezTo>
                    <a:pt x="132" y="131"/>
                    <a:pt x="132" y="124"/>
                    <a:pt x="128" y="120"/>
                  </a:cubicBezTo>
                  <a:cubicBezTo>
                    <a:pt x="123" y="116"/>
                    <a:pt x="117" y="116"/>
                    <a:pt x="112" y="120"/>
                  </a:cubicBezTo>
                  <a:cubicBezTo>
                    <a:pt x="99" y="134"/>
                    <a:pt x="99" y="134"/>
                    <a:pt x="99" y="134"/>
                  </a:cubicBezTo>
                  <a:cubicBezTo>
                    <a:pt x="85" y="120"/>
                    <a:pt x="85" y="120"/>
                    <a:pt x="85" y="120"/>
                  </a:cubicBezTo>
                  <a:cubicBezTo>
                    <a:pt x="81" y="116"/>
                    <a:pt x="74" y="116"/>
                    <a:pt x="70" y="120"/>
                  </a:cubicBezTo>
                  <a:cubicBezTo>
                    <a:pt x="66" y="124"/>
                    <a:pt x="66" y="131"/>
                    <a:pt x="70" y="135"/>
                  </a:cubicBezTo>
                  <a:cubicBezTo>
                    <a:pt x="88" y="153"/>
                    <a:pt x="88" y="153"/>
                    <a:pt x="88" y="153"/>
                  </a:cubicBezTo>
                  <a:cubicBezTo>
                    <a:pt x="88" y="234"/>
                    <a:pt x="88" y="234"/>
                    <a:pt x="88" y="234"/>
                  </a:cubicBezTo>
                  <a:cubicBezTo>
                    <a:pt x="67" y="234"/>
                    <a:pt x="67" y="234"/>
                    <a:pt x="67" y="234"/>
                  </a:cubicBezTo>
                  <a:cubicBezTo>
                    <a:pt x="67" y="213"/>
                    <a:pt x="67" y="213"/>
                    <a:pt x="67" y="213"/>
                  </a:cubicBezTo>
                  <a:cubicBezTo>
                    <a:pt x="67" y="196"/>
                    <a:pt x="44" y="158"/>
                    <a:pt x="37" y="146"/>
                  </a:cubicBezTo>
                  <a:cubicBezTo>
                    <a:pt x="37" y="146"/>
                    <a:pt x="21" y="123"/>
                    <a:pt x="21" y="95"/>
                  </a:cubicBezTo>
                  <a:cubicBezTo>
                    <a:pt x="21" y="55"/>
                    <a:pt x="57" y="21"/>
                    <a:pt x="99" y="21"/>
                  </a:cubicBezTo>
                  <a:cubicBezTo>
                    <a:pt x="141" y="21"/>
                    <a:pt x="177" y="55"/>
                    <a:pt x="177" y="95"/>
                  </a:cubicBezTo>
                  <a:cubicBezTo>
                    <a:pt x="177" y="122"/>
                    <a:pt x="161" y="146"/>
                    <a:pt x="161" y="14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Freeform 543"/>
            <p:cNvSpPr>
              <a:spLocks noEditPoints="1"/>
            </p:cNvSpPr>
            <p:nvPr/>
          </p:nvSpPr>
          <p:spPr bwMode="gray">
            <a:xfrm>
              <a:off x="5326" y="249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8" name="Group 37"/>
          <p:cNvGrpSpPr/>
          <p:nvPr/>
        </p:nvGrpSpPr>
        <p:grpSpPr bwMode="gray">
          <a:xfrm>
            <a:off x="1332253" y="1283296"/>
            <a:ext cx="9535886" cy="4341335"/>
            <a:chOff x="1332253" y="1283296"/>
            <a:chExt cx="9535886" cy="4341335"/>
          </a:xfrm>
        </p:grpSpPr>
        <p:cxnSp>
          <p:nvCxnSpPr>
            <p:cNvPr id="39" name="Straight Connector 38"/>
            <p:cNvCxnSpPr/>
            <p:nvPr/>
          </p:nvCxnSpPr>
          <p:spPr bwMode="gray">
            <a:xfrm flipH="1">
              <a:off x="1332253" y="1283296"/>
              <a:ext cx="551543"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gray">
            <a:xfrm flipH="1">
              <a:off x="1332253" y="5615809"/>
              <a:ext cx="551543"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gray">
            <a:xfrm>
              <a:off x="1332253" y="1283296"/>
              <a:ext cx="0" cy="4341335"/>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gray">
            <a:xfrm>
              <a:off x="10868139" y="1283296"/>
              <a:ext cx="0" cy="4341335"/>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gray">
            <a:xfrm flipH="1">
              <a:off x="3320709" y="1283296"/>
              <a:ext cx="7524000"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gray">
            <a:xfrm flipH="1">
              <a:off x="1763486" y="5615809"/>
              <a:ext cx="9089909"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5374965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4" name="Picture 2453"/>
          <p:cNvPicPr>
            <a:picLocks noChangeAspect="1"/>
          </p:cNvPicPr>
          <p:nvPr/>
        </p:nvPicPr>
        <p:blipFill rotWithShape="1">
          <a:blip r:embed="rId2" cstate="email">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a:ext>
            </a:extLst>
          </a:blip>
          <a:srcRect b="-9075"/>
          <a:stretch/>
        </p:blipFill>
        <p:spPr>
          <a:xfrm>
            <a:off x="4303712" y="1378984"/>
            <a:ext cx="7386637" cy="5018396"/>
          </a:xfrm>
          <a:prstGeom prst="rect">
            <a:avLst/>
          </a:prstGeom>
        </p:spPr>
      </p:pic>
      <p:grpSp>
        <p:nvGrpSpPr>
          <p:cNvPr id="2455" name="Group 2454"/>
          <p:cNvGrpSpPr/>
          <p:nvPr/>
        </p:nvGrpSpPr>
        <p:grpSpPr>
          <a:xfrm>
            <a:off x="517040" y="1665279"/>
            <a:ext cx="3546960" cy="1956071"/>
            <a:chOff x="3954284" y="6902140"/>
            <a:chExt cx="2431448" cy="1540844"/>
          </a:xfrm>
        </p:grpSpPr>
        <p:sp>
          <p:nvSpPr>
            <p:cNvPr id="2456" name="TextBox 2455"/>
            <p:cNvSpPr txBox="1"/>
            <p:nvPr/>
          </p:nvSpPr>
          <p:spPr>
            <a:xfrm>
              <a:off x="3954284" y="6927715"/>
              <a:ext cx="2431448" cy="1515269"/>
            </a:xfrm>
            <a:prstGeom prst="rect">
              <a:avLst/>
            </a:prstGeom>
            <a:noFill/>
          </p:spPr>
          <p:txBody>
            <a:bodyPr wrap="square" lIns="0" tIns="0" rIns="0" bIns="0" rtlCol="0">
              <a:spAutoFit/>
            </a:bodyPr>
            <a:lstStyle/>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prstClr val="white"/>
                  </a:solidFill>
                  <a:effectLst/>
                  <a:uLnTx/>
                  <a:uFillTx/>
                  <a:latin typeface="Verdana"/>
                  <a:ea typeface="+mn-ea"/>
                  <a:cs typeface="+mn-cs"/>
                </a:rPr>
                <a:t>Deloitte is a world character organization that advises and supports clients to reach success from any location in which they operate, offering Audit, Tax, Consulting, Financial Advisory, Risk Advisory and Legal Advisory services to all types of clients across multiple sectors.  </a:t>
              </a:r>
            </a:p>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prstClr val="white"/>
                  </a:solidFill>
                  <a:effectLst/>
                  <a:uLnTx/>
                  <a:uFillTx/>
                  <a:latin typeface="Verdana"/>
                  <a:ea typeface="+mn-ea"/>
                  <a:cs typeface="+mn-cs"/>
                </a:rPr>
                <a:t>Deloitte, the first choice for clients drawn by its world quality service in every segment of the market. </a:t>
              </a:r>
            </a:p>
          </p:txBody>
        </p:sp>
        <p:cxnSp>
          <p:nvCxnSpPr>
            <p:cNvPr id="2457" name="Straight Connector 2456"/>
            <p:cNvCxnSpPr/>
            <p:nvPr/>
          </p:nvCxnSpPr>
          <p:spPr>
            <a:xfrm>
              <a:off x="3954284" y="6902140"/>
              <a:ext cx="2431448"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460" name="TextBox 2459"/>
          <p:cNvSpPr txBox="1"/>
          <p:nvPr/>
        </p:nvSpPr>
        <p:spPr>
          <a:xfrm>
            <a:off x="501650" y="5234594"/>
            <a:ext cx="1425762" cy="70788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1400" b="1" i="0" u="none" strike="noStrike" kern="1200" cap="none" spc="0" normalizeH="0" baseline="0" noProof="0">
                <a:ln>
                  <a:noFill/>
                </a:ln>
                <a:solidFill>
                  <a:srgbClr val="0097A9"/>
                </a:solidFill>
                <a:effectLst/>
                <a:uLnTx/>
                <a:uFillTx/>
                <a:latin typeface="Verdana"/>
                <a:ea typeface="+mn-ea"/>
                <a:cs typeface="+mn-cs"/>
              </a:rPr>
              <a:t>Presence </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1800" b="0" i="0" u="none" strike="noStrike" kern="1200" cap="none" spc="0" normalizeH="0" baseline="0" noProof="0">
                <a:ln>
                  <a:noFill/>
                </a:ln>
                <a:solidFill>
                  <a:schemeClr val="bg1"/>
                </a:solidFill>
                <a:effectLst/>
                <a:uLnTx/>
                <a:uFillTx/>
                <a:latin typeface="Verdana"/>
                <a:ea typeface="+mn-ea"/>
                <a:cs typeface="+mn-cs"/>
              </a:rPr>
              <a:t>+</a:t>
            </a:r>
            <a:r>
              <a:rPr lang="en-US">
                <a:solidFill>
                  <a:schemeClr val="bg1"/>
                </a:solidFill>
                <a:latin typeface="Verdana"/>
              </a:rPr>
              <a:t>150</a:t>
            </a:r>
            <a:endParaRPr kumimoji="0" lang="en-US" sz="1800" b="0" i="0" u="none" strike="noStrike" kern="1200" cap="none" spc="0" normalizeH="0" baseline="0" noProof="0">
              <a:ln>
                <a:noFill/>
              </a:ln>
              <a:solidFill>
                <a:schemeClr val="bg1"/>
              </a:solidFill>
              <a:effectLst/>
              <a:uLnTx/>
              <a:uFillTx/>
              <a:latin typeface="Verdana"/>
              <a:ea typeface="+mn-ea"/>
              <a:cs typeface="+mn-cs"/>
            </a:endParaRP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1400" b="0" i="0" u="none" strike="noStrike" kern="1200" cap="none" spc="0" normalizeH="0" baseline="0" noProof="0">
                <a:ln>
                  <a:noFill/>
                </a:ln>
                <a:solidFill>
                  <a:srgbClr val="44546A">
                    <a:lumMod val="40000"/>
                    <a:lumOff val="60000"/>
                  </a:srgbClr>
                </a:solidFill>
                <a:effectLst/>
                <a:uLnTx/>
                <a:uFillTx/>
                <a:latin typeface="Verdana"/>
                <a:ea typeface="+mn-ea"/>
                <a:cs typeface="+mn-cs"/>
              </a:rPr>
              <a:t>Countries</a:t>
            </a:r>
          </a:p>
        </p:txBody>
      </p:sp>
      <p:sp>
        <p:nvSpPr>
          <p:cNvPr id="2463" name="TextBox 2462"/>
          <p:cNvSpPr txBox="1"/>
          <p:nvPr/>
        </p:nvSpPr>
        <p:spPr>
          <a:xfrm>
            <a:off x="2406650" y="5228045"/>
            <a:ext cx="1368331" cy="70788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1400" b="1" i="0" u="none" strike="noStrike" kern="1200" cap="none" spc="0" normalizeH="0" baseline="0" noProof="0">
                <a:ln>
                  <a:noFill/>
                </a:ln>
                <a:solidFill>
                  <a:srgbClr val="0097A9"/>
                </a:solidFill>
                <a:effectLst/>
                <a:uLnTx/>
                <a:uFillTx/>
                <a:latin typeface="Verdana"/>
                <a:ea typeface="+mn-ea"/>
                <a:cs typeface="+mn-cs"/>
              </a:rPr>
              <a:t>Headcount</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1800" b="0" i="0" u="none" strike="noStrike" kern="1200" cap="none" spc="0" normalizeH="0" baseline="0" noProof="0">
                <a:ln>
                  <a:noFill/>
                </a:ln>
                <a:solidFill>
                  <a:prstClr val="white"/>
                </a:solidFill>
                <a:effectLst/>
                <a:uLnTx/>
                <a:uFillTx/>
                <a:latin typeface="Verdana"/>
                <a:ea typeface="+mn-ea"/>
                <a:cs typeface="+mn-cs"/>
              </a:rPr>
              <a:t>+</a:t>
            </a:r>
            <a:r>
              <a:rPr lang="en-US">
                <a:solidFill>
                  <a:prstClr val="white"/>
                </a:solidFill>
                <a:latin typeface="Verdana"/>
              </a:rPr>
              <a:t>4,10,000</a:t>
            </a:r>
            <a:endParaRPr kumimoji="0" lang="en-US" sz="1800" b="0" i="0" u="none" strike="noStrike" kern="1200" cap="none" spc="0" normalizeH="0" baseline="0" noProof="0">
              <a:ln>
                <a:noFill/>
              </a:ln>
              <a:effectLst/>
              <a:uLnTx/>
              <a:uFillTx/>
              <a:latin typeface="Verdana"/>
              <a:ea typeface="+mn-ea"/>
              <a:cs typeface="+mn-cs"/>
            </a:endParaRP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1400" b="0" i="0" u="none" strike="noStrike" kern="1200" cap="none" spc="0" normalizeH="0" baseline="0" noProof="0">
                <a:ln>
                  <a:noFill/>
                </a:ln>
                <a:solidFill>
                  <a:srgbClr val="44546A">
                    <a:lumMod val="40000"/>
                    <a:lumOff val="60000"/>
                  </a:srgbClr>
                </a:solidFill>
                <a:effectLst/>
                <a:uLnTx/>
                <a:uFillTx/>
                <a:latin typeface="Verdana"/>
                <a:ea typeface="+mn-ea"/>
                <a:cs typeface="+mn-cs"/>
              </a:rPr>
              <a:t>Professionals</a:t>
            </a:r>
          </a:p>
        </p:txBody>
      </p:sp>
      <p:grpSp>
        <p:nvGrpSpPr>
          <p:cNvPr id="9" name="Group 749"/>
          <p:cNvGrpSpPr>
            <a:grpSpLocks noChangeAspect="1"/>
          </p:cNvGrpSpPr>
          <p:nvPr/>
        </p:nvGrpSpPr>
        <p:grpSpPr bwMode="auto">
          <a:xfrm>
            <a:off x="2406650" y="4754881"/>
            <a:ext cx="597376" cy="380654"/>
            <a:chOff x="3582" y="2789"/>
            <a:chExt cx="215" cy="137"/>
          </a:xfrm>
          <a:solidFill>
            <a:schemeClr val="bg1"/>
          </a:solidFill>
        </p:grpSpPr>
        <p:sp>
          <p:nvSpPr>
            <p:cNvPr id="11" name="Freeform 751"/>
            <p:cNvSpPr>
              <a:spLocks/>
            </p:cNvSpPr>
            <p:nvPr/>
          </p:nvSpPr>
          <p:spPr bwMode="auto">
            <a:xfrm>
              <a:off x="3582" y="2789"/>
              <a:ext cx="144" cy="137"/>
            </a:xfrm>
            <a:custGeom>
              <a:avLst/>
              <a:gdLst>
                <a:gd name="T0" fmla="*/ 209 w 216"/>
                <a:gd name="T1" fmla="*/ 187 h 207"/>
                <a:gd name="T2" fmla="*/ 171 w 216"/>
                <a:gd name="T3" fmla="*/ 179 h 207"/>
                <a:gd name="T4" fmla="*/ 156 w 216"/>
                <a:gd name="T5" fmla="*/ 177 h 207"/>
                <a:gd name="T6" fmla="*/ 145 w 216"/>
                <a:gd name="T7" fmla="*/ 147 h 207"/>
                <a:gd name="T8" fmla="*/ 167 w 216"/>
                <a:gd name="T9" fmla="*/ 96 h 207"/>
                <a:gd name="T10" fmla="*/ 157 w 216"/>
                <a:gd name="T11" fmla="*/ 22 h 207"/>
                <a:gd name="T12" fmla="*/ 108 w 216"/>
                <a:gd name="T13" fmla="*/ 0 h 207"/>
                <a:gd name="T14" fmla="*/ 59 w 216"/>
                <a:gd name="T15" fmla="*/ 22 h 207"/>
                <a:gd name="T16" fmla="*/ 50 w 216"/>
                <a:gd name="T17" fmla="*/ 96 h 207"/>
                <a:gd name="T18" fmla="*/ 72 w 216"/>
                <a:gd name="T19" fmla="*/ 147 h 207"/>
                <a:gd name="T20" fmla="*/ 61 w 216"/>
                <a:gd name="T21" fmla="*/ 177 h 207"/>
                <a:gd name="T22" fmla="*/ 45 w 216"/>
                <a:gd name="T23" fmla="*/ 179 h 207"/>
                <a:gd name="T24" fmla="*/ 8 w 216"/>
                <a:gd name="T25" fmla="*/ 187 h 207"/>
                <a:gd name="T26" fmla="*/ 3 w 216"/>
                <a:gd name="T27" fmla="*/ 201 h 207"/>
                <a:gd name="T28" fmla="*/ 12 w 216"/>
                <a:gd name="T29" fmla="*/ 207 h 207"/>
                <a:gd name="T30" fmla="*/ 17 w 216"/>
                <a:gd name="T31" fmla="*/ 206 h 207"/>
                <a:gd name="T32" fmla="*/ 46 w 216"/>
                <a:gd name="T33" fmla="*/ 200 h 207"/>
                <a:gd name="T34" fmla="*/ 71 w 216"/>
                <a:gd name="T35" fmla="*/ 195 h 207"/>
                <a:gd name="T36" fmla="*/ 91 w 216"/>
                <a:gd name="T37" fmla="*/ 162 h 207"/>
                <a:gd name="T38" fmla="*/ 90 w 216"/>
                <a:gd name="T39" fmla="*/ 135 h 207"/>
                <a:gd name="T40" fmla="*/ 71 w 216"/>
                <a:gd name="T41" fmla="*/ 91 h 207"/>
                <a:gd name="T42" fmla="*/ 76 w 216"/>
                <a:gd name="T43" fmla="*/ 36 h 207"/>
                <a:gd name="T44" fmla="*/ 108 w 216"/>
                <a:gd name="T45" fmla="*/ 22 h 207"/>
                <a:gd name="T46" fmla="*/ 108 w 216"/>
                <a:gd name="T47" fmla="*/ 21 h 207"/>
                <a:gd name="T48" fmla="*/ 109 w 216"/>
                <a:gd name="T49" fmla="*/ 22 h 207"/>
                <a:gd name="T50" fmla="*/ 141 w 216"/>
                <a:gd name="T51" fmla="*/ 36 h 207"/>
                <a:gd name="T52" fmla="*/ 146 w 216"/>
                <a:gd name="T53" fmla="*/ 91 h 207"/>
                <a:gd name="T54" fmla="*/ 127 w 216"/>
                <a:gd name="T55" fmla="*/ 135 h 207"/>
                <a:gd name="T56" fmla="*/ 125 w 216"/>
                <a:gd name="T57" fmla="*/ 162 h 207"/>
                <a:gd name="T58" fmla="*/ 146 w 216"/>
                <a:gd name="T59" fmla="*/ 195 h 207"/>
                <a:gd name="T60" fmla="*/ 170 w 216"/>
                <a:gd name="T61" fmla="*/ 200 h 207"/>
                <a:gd name="T62" fmla="*/ 200 w 216"/>
                <a:gd name="T63" fmla="*/ 206 h 207"/>
                <a:gd name="T64" fmla="*/ 204 w 216"/>
                <a:gd name="T65" fmla="*/ 207 h 207"/>
                <a:gd name="T66" fmla="*/ 214 w 216"/>
                <a:gd name="T67" fmla="*/ 201 h 207"/>
                <a:gd name="T68" fmla="*/ 209 w 216"/>
                <a:gd name="T69" fmla="*/ 187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6" h="207">
                  <a:moveTo>
                    <a:pt x="209" y="187"/>
                  </a:moveTo>
                  <a:cubicBezTo>
                    <a:pt x="194" y="180"/>
                    <a:pt x="182" y="180"/>
                    <a:pt x="171" y="179"/>
                  </a:cubicBezTo>
                  <a:cubicBezTo>
                    <a:pt x="165" y="179"/>
                    <a:pt x="159" y="179"/>
                    <a:pt x="156" y="177"/>
                  </a:cubicBezTo>
                  <a:cubicBezTo>
                    <a:pt x="149" y="173"/>
                    <a:pt x="143" y="153"/>
                    <a:pt x="145" y="147"/>
                  </a:cubicBezTo>
                  <a:cubicBezTo>
                    <a:pt x="153" y="134"/>
                    <a:pt x="162" y="114"/>
                    <a:pt x="167" y="96"/>
                  </a:cubicBezTo>
                  <a:cubicBezTo>
                    <a:pt x="174" y="64"/>
                    <a:pt x="171" y="39"/>
                    <a:pt x="157" y="22"/>
                  </a:cubicBezTo>
                  <a:cubicBezTo>
                    <a:pt x="139" y="0"/>
                    <a:pt x="111" y="0"/>
                    <a:pt x="108" y="0"/>
                  </a:cubicBezTo>
                  <a:cubicBezTo>
                    <a:pt x="106" y="0"/>
                    <a:pt x="77" y="0"/>
                    <a:pt x="59" y="22"/>
                  </a:cubicBezTo>
                  <a:cubicBezTo>
                    <a:pt x="45" y="39"/>
                    <a:pt x="42" y="64"/>
                    <a:pt x="50" y="96"/>
                  </a:cubicBezTo>
                  <a:cubicBezTo>
                    <a:pt x="54" y="114"/>
                    <a:pt x="63" y="134"/>
                    <a:pt x="72" y="147"/>
                  </a:cubicBezTo>
                  <a:cubicBezTo>
                    <a:pt x="73" y="153"/>
                    <a:pt x="67" y="173"/>
                    <a:pt x="61" y="177"/>
                  </a:cubicBezTo>
                  <a:cubicBezTo>
                    <a:pt x="57" y="179"/>
                    <a:pt x="52" y="179"/>
                    <a:pt x="45" y="179"/>
                  </a:cubicBezTo>
                  <a:cubicBezTo>
                    <a:pt x="35" y="180"/>
                    <a:pt x="22" y="180"/>
                    <a:pt x="8" y="187"/>
                  </a:cubicBezTo>
                  <a:cubicBezTo>
                    <a:pt x="2" y="189"/>
                    <a:pt x="0" y="196"/>
                    <a:pt x="3" y="201"/>
                  </a:cubicBezTo>
                  <a:cubicBezTo>
                    <a:pt x="4" y="205"/>
                    <a:pt x="8" y="207"/>
                    <a:pt x="12" y="207"/>
                  </a:cubicBezTo>
                  <a:cubicBezTo>
                    <a:pt x="14" y="207"/>
                    <a:pt x="15" y="207"/>
                    <a:pt x="17" y="206"/>
                  </a:cubicBezTo>
                  <a:cubicBezTo>
                    <a:pt x="28" y="201"/>
                    <a:pt x="37" y="201"/>
                    <a:pt x="46" y="200"/>
                  </a:cubicBezTo>
                  <a:cubicBezTo>
                    <a:pt x="55" y="200"/>
                    <a:pt x="63" y="200"/>
                    <a:pt x="71" y="195"/>
                  </a:cubicBezTo>
                  <a:cubicBezTo>
                    <a:pt x="85" y="188"/>
                    <a:pt x="90" y="168"/>
                    <a:pt x="91" y="162"/>
                  </a:cubicBezTo>
                  <a:cubicBezTo>
                    <a:pt x="93" y="153"/>
                    <a:pt x="95" y="142"/>
                    <a:pt x="90" y="135"/>
                  </a:cubicBezTo>
                  <a:cubicBezTo>
                    <a:pt x="82" y="125"/>
                    <a:pt x="74" y="106"/>
                    <a:pt x="71" y="91"/>
                  </a:cubicBezTo>
                  <a:cubicBezTo>
                    <a:pt x="65" y="66"/>
                    <a:pt x="66" y="47"/>
                    <a:pt x="76" y="36"/>
                  </a:cubicBezTo>
                  <a:cubicBezTo>
                    <a:pt x="87" y="21"/>
                    <a:pt x="108" y="22"/>
                    <a:pt x="108" y="22"/>
                  </a:cubicBezTo>
                  <a:cubicBezTo>
                    <a:pt x="108" y="22"/>
                    <a:pt x="108" y="21"/>
                    <a:pt x="108" y="21"/>
                  </a:cubicBezTo>
                  <a:cubicBezTo>
                    <a:pt x="108" y="21"/>
                    <a:pt x="108" y="22"/>
                    <a:pt x="109" y="22"/>
                  </a:cubicBezTo>
                  <a:cubicBezTo>
                    <a:pt x="109" y="22"/>
                    <a:pt x="129" y="21"/>
                    <a:pt x="141" y="36"/>
                  </a:cubicBezTo>
                  <a:cubicBezTo>
                    <a:pt x="150" y="47"/>
                    <a:pt x="152" y="66"/>
                    <a:pt x="146" y="91"/>
                  </a:cubicBezTo>
                  <a:cubicBezTo>
                    <a:pt x="142" y="106"/>
                    <a:pt x="134" y="125"/>
                    <a:pt x="127" y="135"/>
                  </a:cubicBezTo>
                  <a:cubicBezTo>
                    <a:pt x="122" y="142"/>
                    <a:pt x="123" y="153"/>
                    <a:pt x="125" y="162"/>
                  </a:cubicBezTo>
                  <a:cubicBezTo>
                    <a:pt x="126" y="168"/>
                    <a:pt x="132" y="188"/>
                    <a:pt x="146" y="195"/>
                  </a:cubicBezTo>
                  <a:cubicBezTo>
                    <a:pt x="154" y="200"/>
                    <a:pt x="162" y="200"/>
                    <a:pt x="170" y="200"/>
                  </a:cubicBezTo>
                  <a:cubicBezTo>
                    <a:pt x="179" y="201"/>
                    <a:pt x="189" y="201"/>
                    <a:pt x="200" y="206"/>
                  </a:cubicBezTo>
                  <a:cubicBezTo>
                    <a:pt x="201" y="207"/>
                    <a:pt x="203" y="207"/>
                    <a:pt x="204" y="207"/>
                  </a:cubicBezTo>
                  <a:cubicBezTo>
                    <a:pt x="208" y="207"/>
                    <a:pt x="212" y="205"/>
                    <a:pt x="214" y="201"/>
                  </a:cubicBezTo>
                  <a:cubicBezTo>
                    <a:pt x="216" y="196"/>
                    <a:pt x="214" y="189"/>
                    <a:pt x="209" y="18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Verdana"/>
                <a:ea typeface="+mn-ea"/>
                <a:cs typeface="+mn-cs"/>
              </a:endParaRPr>
            </a:p>
          </p:txBody>
        </p:sp>
        <p:sp>
          <p:nvSpPr>
            <p:cNvPr id="12" name="Freeform 752"/>
            <p:cNvSpPr>
              <a:spLocks/>
            </p:cNvSpPr>
            <p:nvPr/>
          </p:nvSpPr>
          <p:spPr bwMode="auto">
            <a:xfrm>
              <a:off x="3702" y="2802"/>
              <a:ext cx="95" cy="111"/>
            </a:xfrm>
            <a:custGeom>
              <a:avLst/>
              <a:gdLst>
                <a:gd name="T0" fmla="*/ 136 w 143"/>
                <a:gd name="T1" fmla="*/ 147 h 167"/>
                <a:gd name="T2" fmla="*/ 109 w 143"/>
                <a:gd name="T3" fmla="*/ 139 h 167"/>
                <a:gd name="T4" fmla="*/ 95 w 143"/>
                <a:gd name="T5" fmla="*/ 136 h 167"/>
                <a:gd name="T6" fmla="*/ 89 w 143"/>
                <a:gd name="T7" fmla="*/ 118 h 167"/>
                <a:gd name="T8" fmla="*/ 106 w 143"/>
                <a:gd name="T9" fmla="*/ 78 h 167"/>
                <a:gd name="T10" fmla="*/ 99 w 143"/>
                <a:gd name="T11" fmla="*/ 20 h 167"/>
                <a:gd name="T12" fmla="*/ 56 w 143"/>
                <a:gd name="T13" fmla="*/ 1 h 167"/>
                <a:gd name="T14" fmla="*/ 14 w 143"/>
                <a:gd name="T15" fmla="*/ 20 h 167"/>
                <a:gd name="T16" fmla="*/ 6 w 143"/>
                <a:gd name="T17" fmla="*/ 78 h 167"/>
                <a:gd name="T18" fmla="*/ 24 w 143"/>
                <a:gd name="T19" fmla="*/ 118 h 167"/>
                <a:gd name="T20" fmla="*/ 18 w 143"/>
                <a:gd name="T21" fmla="*/ 136 h 167"/>
                <a:gd name="T22" fmla="*/ 16 w 143"/>
                <a:gd name="T23" fmla="*/ 151 h 167"/>
                <a:gd name="T24" fmla="*/ 24 w 143"/>
                <a:gd name="T25" fmla="*/ 155 h 167"/>
                <a:gd name="T26" fmla="*/ 31 w 143"/>
                <a:gd name="T27" fmla="*/ 153 h 167"/>
                <a:gd name="T28" fmla="*/ 41 w 143"/>
                <a:gd name="T29" fmla="*/ 107 h 167"/>
                <a:gd name="T30" fmla="*/ 27 w 143"/>
                <a:gd name="T31" fmla="*/ 73 h 167"/>
                <a:gd name="T32" fmla="*/ 31 w 143"/>
                <a:gd name="T33" fmla="*/ 33 h 167"/>
                <a:gd name="T34" fmla="*/ 56 w 143"/>
                <a:gd name="T35" fmla="*/ 22 h 167"/>
                <a:gd name="T36" fmla="*/ 82 w 143"/>
                <a:gd name="T37" fmla="*/ 33 h 167"/>
                <a:gd name="T38" fmla="*/ 86 w 143"/>
                <a:gd name="T39" fmla="*/ 73 h 167"/>
                <a:gd name="T40" fmla="*/ 71 w 143"/>
                <a:gd name="T41" fmla="*/ 107 h 167"/>
                <a:gd name="T42" fmla="*/ 82 w 143"/>
                <a:gd name="T43" fmla="*/ 153 h 167"/>
                <a:gd name="T44" fmla="*/ 83 w 143"/>
                <a:gd name="T45" fmla="*/ 154 h 167"/>
                <a:gd name="T46" fmla="*/ 106 w 143"/>
                <a:gd name="T47" fmla="*/ 160 h 167"/>
                <a:gd name="T48" fmla="*/ 125 w 143"/>
                <a:gd name="T49" fmla="*/ 165 h 167"/>
                <a:gd name="T50" fmla="*/ 131 w 143"/>
                <a:gd name="T51" fmla="*/ 167 h 167"/>
                <a:gd name="T52" fmla="*/ 140 w 143"/>
                <a:gd name="T53" fmla="*/ 162 h 167"/>
                <a:gd name="T54" fmla="*/ 136 w 143"/>
                <a:gd name="T55" fmla="*/ 147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3" h="167">
                  <a:moveTo>
                    <a:pt x="136" y="147"/>
                  </a:moveTo>
                  <a:cubicBezTo>
                    <a:pt x="128" y="142"/>
                    <a:pt x="118" y="140"/>
                    <a:pt x="109" y="139"/>
                  </a:cubicBezTo>
                  <a:cubicBezTo>
                    <a:pt x="104" y="138"/>
                    <a:pt x="98" y="137"/>
                    <a:pt x="95" y="136"/>
                  </a:cubicBezTo>
                  <a:cubicBezTo>
                    <a:pt x="89" y="131"/>
                    <a:pt x="88" y="121"/>
                    <a:pt x="89" y="118"/>
                  </a:cubicBezTo>
                  <a:cubicBezTo>
                    <a:pt x="96" y="109"/>
                    <a:pt x="103" y="93"/>
                    <a:pt x="106" y="78"/>
                  </a:cubicBezTo>
                  <a:cubicBezTo>
                    <a:pt x="112" y="53"/>
                    <a:pt x="110" y="34"/>
                    <a:pt x="99" y="20"/>
                  </a:cubicBezTo>
                  <a:cubicBezTo>
                    <a:pt x="83" y="0"/>
                    <a:pt x="58" y="1"/>
                    <a:pt x="56" y="1"/>
                  </a:cubicBezTo>
                  <a:cubicBezTo>
                    <a:pt x="54" y="1"/>
                    <a:pt x="30" y="0"/>
                    <a:pt x="14" y="20"/>
                  </a:cubicBezTo>
                  <a:cubicBezTo>
                    <a:pt x="3" y="34"/>
                    <a:pt x="0" y="53"/>
                    <a:pt x="6" y="78"/>
                  </a:cubicBezTo>
                  <a:cubicBezTo>
                    <a:pt x="10" y="93"/>
                    <a:pt x="17" y="109"/>
                    <a:pt x="24" y="118"/>
                  </a:cubicBezTo>
                  <a:cubicBezTo>
                    <a:pt x="25" y="121"/>
                    <a:pt x="24" y="132"/>
                    <a:pt x="18" y="136"/>
                  </a:cubicBezTo>
                  <a:cubicBezTo>
                    <a:pt x="13" y="140"/>
                    <a:pt x="12" y="146"/>
                    <a:pt x="16" y="151"/>
                  </a:cubicBezTo>
                  <a:cubicBezTo>
                    <a:pt x="18" y="154"/>
                    <a:pt x="21" y="155"/>
                    <a:pt x="24" y="155"/>
                  </a:cubicBezTo>
                  <a:cubicBezTo>
                    <a:pt x="26" y="155"/>
                    <a:pt x="29" y="155"/>
                    <a:pt x="31" y="153"/>
                  </a:cubicBezTo>
                  <a:cubicBezTo>
                    <a:pt x="45" y="142"/>
                    <a:pt x="49" y="118"/>
                    <a:pt x="41" y="107"/>
                  </a:cubicBezTo>
                  <a:cubicBezTo>
                    <a:pt x="36" y="99"/>
                    <a:pt x="30" y="85"/>
                    <a:pt x="27" y="73"/>
                  </a:cubicBezTo>
                  <a:cubicBezTo>
                    <a:pt x="23" y="55"/>
                    <a:pt x="24" y="42"/>
                    <a:pt x="31" y="33"/>
                  </a:cubicBezTo>
                  <a:cubicBezTo>
                    <a:pt x="39" y="22"/>
                    <a:pt x="55" y="22"/>
                    <a:pt x="56" y="22"/>
                  </a:cubicBezTo>
                  <a:cubicBezTo>
                    <a:pt x="58" y="22"/>
                    <a:pt x="73" y="22"/>
                    <a:pt x="82" y="33"/>
                  </a:cubicBezTo>
                  <a:cubicBezTo>
                    <a:pt x="89" y="42"/>
                    <a:pt x="90" y="55"/>
                    <a:pt x="86" y="73"/>
                  </a:cubicBezTo>
                  <a:cubicBezTo>
                    <a:pt x="83" y="85"/>
                    <a:pt x="77" y="99"/>
                    <a:pt x="71" y="107"/>
                  </a:cubicBezTo>
                  <a:cubicBezTo>
                    <a:pt x="63" y="118"/>
                    <a:pt x="67" y="142"/>
                    <a:pt x="82" y="153"/>
                  </a:cubicBezTo>
                  <a:cubicBezTo>
                    <a:pt x="82" y="153"/>
                    <a:pt x="83" y="154"/>
                    <a:pt x="83" y="154"/>
                  </a:cubicBezTo>
                  <a:cubicBezTo>
                    <a:pt x="90" y="158"/>
                    <a:pt x="98" y="159"/>
                    <a:pt x="106" y="160"/>
                  </a:cubicBezTo>
                  <a:cubicBezTo>
                    <a:pt x="113" y="161"/>
                    <a:pt x="121" y="162"/>
                    <a:pt x="125" y="165"/>
                  </a:cubicBezTo>
                  <a:cubicBezTo>
                    <a:pt x="127" y="166"/>
                    <a:pt x="129" y="167"/>
                    <a:pt x="131" y="167"/>
                  </a:cubicBezTo>
                  <a:cubicBezTo>
                    <a:pt x="134" y="167"/>
                    <a:pt x="138" y="165"/>
                    <a:pt x="140" y="162"/>
                  </a:cubicBezTo>
                  <a:cubicBezTo>
                    <a:pt x="143" y="157"/>
                    <a:pt x="141" y="150"/>
                    <a:pt x="136" y="14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13" name="Group 35"/>
          <p:cNvGrpSpPr>
            <a:grpSpLocks noChangeAspect="1"/>
          </p:cNvGrpSpPr>
          <p:nvPr/>
        </p:nvGrpSpPr>
        <p:grpSpPr bwMode="auto">
          <a:xfrm>
            <a:off x="501664" y="4754881"/>
            <a:ext cx="396599" cy="380655"/>
            <a:chOff x="2779" y="84"/>
            <a:chExt cx="199" cy="191"/>
          </a:xfrm>
          <a:solidFill>
            <a:schemeClr val="bg1"/>
          </a:solidFill>
        </p:grpSpPr>
        <p:sp>
          <p:nvSpPr>
            <p:cNvPr id="14" name="Freeform 36"/>
            <p:cNvSpPr>
              <a:spLocks noEditPoints="1"/>
            </p:cNvSpPr>
            <p:nvPr/>
          </p:nvSpPr>
          <p:spPr bwMode="auto">
            <a:xfrm>
              <a:off x="2779" y="84"/>
              <a:ext cx="71" cy="92"/>
            </a:xfrm>
            <a:custGeom>
              <a:avLst/>
              <a:gdLst>
                <a:gd name="T0" fmla="*/ 54 w 107"/>
                <a:gd name="T1" fmla="*/ 139 h 139"/>
                <a:gd name="T2" fmla="*/ 61 w 107"/>
                <a:gd name="T3" fmla="*/ 136 h 139"/>
                <a:gd name="T4" fmla="*/ 107 w 107"/>
                <a:gd name="T5" fmla="*/ 53 h 139"/>
                <a:gd name="T6" fmla="*/ 54 w 107"/>
                <a:gd name="T7" fmla="*/ 0 h 139"/>
                <a:gd name="T8" fmla="*/ 0 w 107"/>
                <a:gd name="T9" fmla="*/ 53 h 139"/>
                <a:gd name="T10" fmla="*/ 46 w 107"/>
                <a:gd name="T11" fmla="*/ 136 h 139"/>
                <a:gd name="T12" fmla="*/ 54 w 107"/>
                <a:gd name="T13" fmla="*/ 139 h 139"/>
                <a:gd name="T14" fmla="*/ 54 w 107"/>
                <a:gd name="T15" fmla="*/ 21 h 139"/>
                <a:gd name="T16" fmla="*/ 86 w 107"/>
                <a:gd name="T17" fmla="*/ 53 h 139"/>
                <a:gd name="T18" fmla="*/ 54 w 107"/>
                <a:gd name="T19" fmla="*/ 113 h 139"/>
                <a:gd name="T20" fmla="*/ 22 w 107"/>
                <a:gd name="T21" fmla="*/ 53 h 139"/>
                <a:gd name="T22" fmla="*/ 54 w 107"/>
                <a:gd name="T23" fmla="*/ 21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7" h="139">
                  <a:moveTo>
                    <a:pt x="54" y="139"/>
                  </a:moveTo>
                  <a:cubicBezTo>
                    <a:pt x="56" y="139"/>
                    <a:pt x="59" y="138"/>
                    <a:pt x="61" y="136"/>
                  </a:cubicBezTo>
                  <a:cubicBezTo>
                    <a:pt x="107" y="90"/>
                    <a:pt x="107" y="55"/>
                    <a:pt x="107" y="53"/>
                  </a:cubicBezTo>
                  <a:cubicBezTo>
                    <a:pt x="107" y="24"/>
                    <a:pt x="83" y="0"/>
                    <a:pt x="54" y="0"/>
                  </a:cubicBezTo>
                  <a:cubicBezTo>
                    <a:pt x="24" y="0"/>
                    <a:pt x="0" y="24"/>
                    <a:pt x="0" y="53"/>
                  </a:cubicBezTo>
                  <a:cubicBezTo>
                    <a:pt x="0" y="55"/>
                    <a:pt x="0" y="90"/>
                    <a:pt x="46" y="136"/>
                  </a:cubicBezTo>
                  <a:cubicBezTo>
                    <a:pt x="48" y="138"/>
                    <a:pt x="51" y="139"/>
                    <a:pt x="54" y="139"/>
                  </a:cubicBezTo>
                  <a:close/>
                  <a:moveTo>
                    <a:pt x="54" y="21"/>
                  </a:moveTo>
                  <a:cubicBezTo>
                    <a:pt x="71" y="21"/>
                    <a:pt x="86" y="36"/>
                    <a:pt x="86" y="53"/>
                  </a:cubicBezTo>
                  <a:cubicBezTo>
                    <a:pt x="86" y="54"/>
                    <a:pt x="85" y="78"/>
                    <a:pt x="54" y="113"/>
                  </a:cubicBezTo>
                  <a:cubicBezTo>
                    <a:pt x="23" y="78"/>
                    <a:pt x="22" y="54"/>
                    <a:pt x="22" y="53"/>
                  </a:cubicBezTo>
                  <a:cubicBezTo>
                    <a:pt x="22" y="36"/>
                    <a:pt x="36" y="21"/>
                    <a:pt x="54" y="2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Verdana"/>
                <a:ea typeface="+mn-ea"/>
                <a:cs typeface="+mn-cs"/>
              </a:endParaRPr>
            </a:p>
          </p:txBody>
        </p:sp>
        <p:sp>
          <p:nvSpPr>
            <p:cNvPr id="15" name="Oval 37"/>
            <p:cNvSpPr>
              <a:spLocks noChangeArrowheads="1"/>
            </p:cNvSpPr>
            <p:nvPr/>
          </p:nvSpPr>
          <p:spPr bwMode="auto">
            <a:xfrm>
              <a:off x="2808" y="112"/>
              <a:ext cx="14" cy="14"/>
            </a:xfrm>
            <a:prstGeom prst="ellipse">
              <a:avLst/>
            </a:pr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Verdana"/>
                <a:ea typeface="+mn-ea"/>
                <a:cs typeface="+mn-cs"/>
              </a:endParaRPr>
            </a:p>
          </p:txBody>
        </p:sp>
        <p:sp>
          <p:nvSpPr>
            <p:cNvPr id="16" name="Freeform 38"/>
            <p:cNvSpPr>
              <a:spLocks noEditPoints="1"/>
            </p:cNvSpPr>
            <p:nvPr/>
          </p:nvSpPr>
          <p:spPr bwMode="auto">
            <a:xfrm>
              <a:off x="2808" y="105"/>
              <a:ext cx="170" cy="170"/>
            </a:xfrm>
            <a:custGeom>
              <a:avLst/>
              <a:gdLst>
                <a:gd name="T0" fmla="*/ 128 w 256"/>
                <a:gd name="T1" fmla="*/ 0 h 256"/>
                <a:gd name="T2" fmla="*/ 93 w 256"/>
                <a:gd name="T3" fmla="*/ 5 h 256"/>
                <a:gd name="T4" fmla="*/ 86 w 256"/>
                <a:gd name="T5" fmla="*/ 18 h 256"/>
                <a:gd name="T6" fmla="*/ 94 w 256"/>
                <a:gd name="T7" fmla="*/ 25 h 256"/>
                <a:gd name="T8" fmla="*/ 78 w 256"/>
                <a:gd name="T9" fmla="*/ 75 h 256"/>
                <a:gd name="T10" fmla="*/ 75 w 256"/>
                <a:gd name="T11" fmla="*/ 75 h 256"/>
                <a:gd name="T12" fmla="*/ 64 w 256"/>
                <a:gd name="T13" fmla="*/ 85 h 256"/>
                <a:gd name="T14" fmla="*/ 75 w 256"/>
                <a:gd name="T15" fmla="*/ 96 h 256"/>
                <a:gd name="T16" fmla="*/ 75 w 256"/>
                <a:gd name="T17" fmla="*/ 96 h 256"/>
                <a:gd name="T18" fmla="*/ 73 w 256"/>
                <a:gd name="T19" fmla="*/ 128 h 256"/>
                <a:gd name="T20" fmla="*/ 75 w 256"/>
                <a:gd name="T21" fmla="*/ 160 h 256"/>
                <a:gd name="T22" fmla="*/ 26 w 256"/>
                <a:gd name="T23" fmla="*/ 160 h 256"/>
                <a:gd name="T24" fmla="*/ 22 w 256"/>
                <a:gd name="T25" fmla="*/ 138 h 256"/>
                <a:gd name="T26" fmla="*/ 10 w 256"/>
                <a:gd name="T27" fmla="*/ 128 h 256"/>
                <a:gd name="T28" fmla="*/ 1 w 256"/>
                <a:gd name="T29" fmla="*/ 140 h 256"/>
                <a:gd name="T30" fmla="*/ 128 w 256"/>
                <a:gd name="T31" fmla="*/ 256 h 256"/>
                <a:gd name="T32" fmla="*/ 256 w 256"/>
                <a:gd name="T33" fmla="*/ 128 h 256"/>
                <a:gd name="T34" fmla="*/ 128 w 256"/>
                <a:gd name="T35" fmla="*/ 0 h 256"/>
                <a:gd name="T36" fmla="*/ 36 w 256"/>
                <a:gd name="T37" fmla="*/ 181 h 256"/>
                <a:gd name="T38" fmla="*/ 78 w 256"/>
                <a:gd name="T39" fmla="*/ 181 h 256"/>
                <a:gd name="T40" fmla="*/ 93 w 256"/>
                <a:gd name="T41" fmla="*/ 229 h 256"/>
                <a:gd name="T42" fmla="*/ 36 w 256"/>
                <a:gd name="T43" fmla="*/ 181 h 256"/>
                <a:gd name="T44" fmla="*/ 220 w 256"/>
                <a:gd name="T45" fmla="*/ 75 h 256"/>
                <a:gd name="T46" fmla="*/ 178 w 256"/>
                <a:gd name="T47" fmla="*/ 75 h 256"/>
                <a:gd name="T48" fmla="*/ 163 w 256"/>
                <a:gd name="T49" fmla="*/ 27 h 256"/>
                <a:gd name="T50" fmla="*/ 220 w 256"/>
                <a:gd name="T51" fmla="*/ 75 h 256"/>
                <a:gd name="T52" fmla="*/ 128 w 256"/>
                <a:gd name="T53" fmla="*/ 21 h 256"/>
                <a:gd name="T54" fmla="*/ 156 w 256"/>
                <a:gd name="T55" fmla="*/ 75 h 256"/>
                <a:gd name="T56" fmla="*/ 100 w 256"/>
                <a:gd name="T57" fmla="*/ 75 h 256"/>
                <a:gd name="T58" fmla="*/ 128 w 256"/>
                <a:gd name="T59" fmla="*/ 21 h 256"/>
                <a:gd name="T60" fmla="*/ 128 w 256"/>
                <a:gd name="T61" fmla="*/ 235 h 256"/>
                <a:gd name="T62" fmla="*/ 100 w 256"/>
                <a:gd name="T63" fmla="*/ 181 h 256"/>
                <a:gd name="T64" fmla="*/ 156 w 256"/>
                <a:gd name="T65" fmla="*/ 181 h 256"/>
                <a:gd name="T66" fmla="*/ 128 w 256"/>
                <a:gd name="T67" fmla="*/ 235 h 256"/>
                <a:gd name="T68" fmla="*/ 160 w 256"/>
                <a:gd name="T69" fmla="*/ 160 h 256"/>
                <a:gd name="T70" fmla="*/ 96 w 256"/>
                <a:gd name="T71" fmla="*/ 160 h 256"/>
                <a:gd name="T72" fmla="*/ 95 w 256"/>
                <a:gd name="T73" fmla="*/ 128 h 256"/>
                <a:gd name="T74" fmla="*/ 96 w 256"/>
                <a:gd name="T75" fmla="*/ 96 h 256"/>
                <a:gd name="T76" fmla="*/ 160 w 256"/>
                <a:gd name="T77" fmla="*/ 96 h 256"/>
                <a:gd name="T78" fmla="*/ 161 w 256"/>
                <a:gd name="T79" fmla="*/ 128 h 256"/>
                <a:gd name="T80" fmla="*/ 160 w 256"/>
                <a:gd name="T81" fmla="*/ 160 h 256"/>
                <a:gd name="T82" fmla="*/ 163 w 256"/>
                <a:gd name="T83" fmla="*/ 229 h 256"/>
                <a:gd name="T84" fmla="*/ 178 w 256"/>
                <a:gd name="T85" fmla="*/ 181 h 256"/>
                <a:gd name="T86" fmla="*/ 220 w 256"/>
                <a:gd name="T87" fmla="*/ 181 h 256"/>
                <a:gd name="T88" fmla="*/ 163 w 256"/>
                <a:gd name="T89" fmla="*/ 229 h 256"/>
                <a:gd name="T90" fmla="*/ 181 w 256"/>
                <a:gd name="T91" fmla="*/ 160 h 256"/>
                <a:gd name="T92" fmla="*/ 183 w 256"/>
                <a:gd name="T93" fmla="*/ 128 h 256"/>
                <a:gd name="T94" fmla="*/ 181 w 256"/>
                <a:gd name="T95" fmla="*/ 96 h 256"/>
                <a:gd name="T96" fmla="*/ 230 w 256"/>
                <a:gd name="T97" fmla="*/ 96 h 256"/>
                <a:gd name="T98" fmla="*/ 235 w 256"/>
                <a:gd name="T99" fmla="*/ 128 h 256"/>
                <a:gd name="T100" fmla="*/ 230 w 256"/>
                <a:gd name="T101" fmla="*/ 160 h 256"/>
                <a:gd name="T102" fmla="*/ 181 w 256"/>
                <a:gd name="T103" fmla="*/ 16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6" h="256">
                  <a:moveTo>
                    <a:pt x="128" y="0"/>
                  </a:moveTo>
                  <a:cubicBezTo>
                    <a:pt x="116" y="0"/>
                    <a:pt x="104" y="2"/>
                    <a:pt x="93" y="5"/>
                  </a:cubicBezTo>
                  <a:cubicBezTo>
                    <a:pt x="87" y="6"/>
                    <a:pt x="84" y="12"/>
                    <a:pt x="86" y="18"/>
                  </a:cubicBezTo>
                  <a:cubicBezTo>
                    <a:pt x="87" y="22"/>
                    <a:pt x="90" y="25"/>
                    <a:pt x="94" y="25"/>
                  </a:cubicBezTo>
                  <a:cubicBezTo>
                    <a:pt x="87" y="39"/>
                    <a:pt x="81" y="56"/>
                    <a:pt x="78" y="75"/>
                  </a:cubicBezTo>
                  <a:cubicBezTo>
                    <a:pt x="75" y="75"/>
                    <a:pt x="75" y="75"/>
                    <a:pt x="75" y="75"/>
                  </a:cubicBezTo>
                  <a:cubicBezTo>
                    <a:pt x="69" y="75"/>
                    <a:pt x="64" y="79"/>
                    <a:pt x="64" y="85"/>
                  </a:cubicBezTo>
                  <a:cubicBezTo>
                    <a:pt x="64" y="91"/>
                    <a:pt x="69" y="96"/>
                    <a:pt x="75" y="96"/>
                  </a:cubicBezTo>
                  <a:cubicBezTo>
                    <a:pt x="75" y="96"/>
                    <a:pt x="75" y="96"/>
                    <a:pt x="75" y="96"/>
                  </a:cubicBezTo>
                  <a:cubicBezTo>
                    <a:pt x="74" y="106"/>
                    <a:pt x="73" y="117"/>
                    <a:pt x="73" y="128"/>
                  </a:cubicBezTo>
                  <a:cubicBezTo>
                    <a:pt x="73" y="139"/>
                    <a:pt x="74" y="150"/>
                    <a:pt x="75" y="160"/>
                  </a:cubicBezTo>
                  <a:cubicBezTo>
                    <a:pt x="26" y="160"/>
                    <a:pt x="26" y="160"/>
                    <a:pt x="26" y="160"/>
                  </a:cubicBezTo>
                  <a:cubicBezTo>
                    <a:pt x="24" y="153"/>
                    <a:pt x="22" y="145"/>
                    <a:pt x="22" y="138"/>
                  </a:cubicBezTo>
                  <a:cubicBezTo>
                    <a:pt x="21" y="132"/>
                    <a:pt x="16" y="127"/>
                    <a:pt x="10" y="128"/>
                  </a:cubicBezTo>
                  <a:cubicBezTo>
                    <a:pt x="4" y="129"/>
                    <a:pt x="0" y="134"/>
                    <a:pt x="1" y="140"/>
                  </a:cubicBezTo>
                  <a:cubicBezTo>
                    <a:pt x="6" y="206"/>
                    <a:pt x="61" y="256"/>
                    <a:pt x="128" y="256"/>
                  </a:cubicBezTo>
                  <a:cubicBezTo>
                    <a:pt x="199" y="256"/>
                    <a:pt x="256" y="199"/>
                    <a:pt x="256" y="128"/>
                  </a:cubicBezTo>
                  <a:cubicBezTo>
                    <a:pt x="256" y="57"/>
                    <a:pt x="199" y="0"/>
                    <a:pt x="128" y="0"/>
                  </a:cubicBezTo>
                  <a:close/>
                  <a:moveTo>
                    <a:pt x="36" y="181"/>
                  </a:moveTo>
                  <a:cubicBezTo>
                    <a:pt x="78" y="181"/>
                    <a:pt x="78" y="181"/>
                    <a:pt x="78" y="181"/>
                  </a:cubicBezTo>
                  <a:cubicBezTo>
                    <a:pt x="81" y="200"/>
                    <a:pt x="86" y="216"/>
                    <a:pt x="93" y="229"/>
                  </a:cubicBezTo>
                  <a:cubicBezTo>
                    <a:pt x="69" y="220"/>
                    <a:pt x="48" y="204"/>
                    <a:pt x="36" y="181"/>
                  </a:cubicBezTo>
                  <a:close/>
                  <a:moveTo>
                    <a:pt x="220" y="75"/>
                  </a:moveTo>
                  <a:cubicBezTo>
                    <a:pt x="178" y="75"/>
                    <a:pt x="178" y="75"/>
                    <a:pt x="178" y="75"/>
                  </a:cubicBezTo>
                  <a:cubicBezTo>
                    <a:pt x="175" y="57"/>
                    <a:pt x="170" y="40"/>
                    <a:pt x="163" y="27"/>
                  </a:cubicBezTo>
                  <a:cubicBezTo>
                    <a:pt x="187" y="36"/>
                    <a:pt x="207" y="53"/>
                    <a:pt x="220" y="75"/>
                  </a:cubicBezTo>
                  <a:close/>
                  <a:moveTo>
                    <a:pt x="128" y="21"/>
                  </a:moveTo>
                  <a:cubicBezTo>
                    <a:pt x="137" y="21"/>
                    <a:pt x="150" y="41"/>
                    <a:pt x="156" y="75"/>
                  </a:cubicBezTo>
                  <a:cubicBezTo>
                    <a:pt x="100" y="75"/>
                    <a:pt x="100" y="75"/>
                    <a:pt x="100" y="75"/>
                  </a:cubicBezTo>
                  <a:cubicBezTo>
                    <a:pt x="106" y="41"/>
                    <a:pt x="119" y="21"/>
                    <a:pt x="128" y="21"/>
                  </a:cubicBezTo>
                  <a:close/>
                  <a:moveTo>
                    <a:pt x="128" y="235"/>
                  </a:moveTo>
                  <a:cubicBezTo>
                    <a:pt x="119" y="235"/>
                    <a:pt x="106" y="215"/>
                    <a:pt x="100" y="181"/>
                  </a:cubicBezTo>
                  <a:cubicBezTo>
                    <a:pt x="156" y="181"/>
                    <a:pt x="156" y="181"/>
                    <a:pt x="156" y="181"/>
                  </a:cubicBezTo>
                  <a:cubicBezTo>
                    <a:pt x="150" y="215"/>
                    <a:pt x="137" y="235"/>
                    <a:pt x="128" y="235"/>
                  </a:cubicBezTo>
                  <a:close/>
                  <a:moveTo>
                    <a:pt x="160" y="160"/>
                  </a:moveTo>
                  <a:cubicBezTo>
                    <a:pt x="96" y="160"/>
                    <a:pt x="96" y="160"/>
                    <a:pt x="96" y="160"/>
                  </a:cubicBezTo>
                  <a:cubicBezTo>
                    <a:pt x="95" y="150"/>
                    <a:pt x="95" y="139"/>
                    <a:pt x="95" y="128"/>
                  </a:cubicBezTo>
                  <a:cubicBezTo>
                    <a:pt x="95" y="117"/>
                    <a:pt x="95" y="106"/>
                    <a:pt x="96" y="96"/>
                  </a:cubicBezTo>
                  <a:cubicBezTo>
                    <a:pt x="160" y="96"/>
                    <a:pt x="160" y="96"/>
                    <a:pt x="160" y="96"/>
                  </a:cubicBezTo>
                  <a:cubicBezTo>
                    <a:pt x="161" y="106"/>
                    <a:pt x="161" y="117"/>
                    <a:pt x="161" y="128"/>
                  </a:cubicBezTo>
                  <a:cubicBezTo>
                    <a:pt x="161" y="139"/>
                    <a:pt x="161" y="150"/>
                    <a:pt x="160" y="160"/>
                  </a:cubicBezTo>
                  <a:close/>
                  <a:moveTo>
                    <a:pt x="163" y="229"/>
                  </a:moveTo>
                  <a:cubicBezTo>
                    <a:pt x="170" y="216"/>
                    <a:pt x="175" y="199"/>
                    <a:pt x="178" y="181"/>
                  </a:cubicBezTo>
                  <a:cubicBezTo>
                    <a:pt x="220" y="181"/>
                    <a:pt x="220" y="181"/>
                    <a:pt x="220" y="181"/>
                  </a:cubicBezTo>
                  <a:cubicBezTo>
                    <a:pt x="207" y="203"/>
                    <a:pt x="187" y="220"/>
                    <a:pt x="163" y="229"/>
                  </a:cubicBezTo>
                  <a:close/>
                  <a:moveTo>
                    <a:pt x="181" y="160"/>
                  </a:moveTo>
                  <a:cubicBezTo>
                    <a:pt x="182" y="150"/>
                    <a:pt x="183" y="139"/>
                    <a:pt x="183" y="128"/>
                  </a:cubicBezTo>
                  <a:cubicBezTo>
                    <a:pt x="183" y="117"/>
                    <a:pt x="182" y="106"/>
                    <a:pt x="181" y="96"/>
                  </a:cubicBezTo>
                  <a:cubicBezTo>
                    <a:pt x="230" y="96"/>
                    <a:pt x="230" y="96"/>
                    <a:pt x="230" y="96"/>
                  </a:cubicBezTo>
                  <a:cubicBezTo>
                    <a:pt x="233" y="106"/>
                    <a:pt x="235" y="117"/>
                    <a:pt x="235" y="128"/>
                  </a:cubicBezTo>
                  <a:cubicBezTo>
                    <a:pt x="235" y="139"/>
                    <a:pt x="233" y="150"/>
                    <a:pt x="230" y="160"/>
                  </a:cubicBezTo>
                  <a:lnTo>
                    <a:pt x="181" y="16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Verdana"/>
                <a:ea typeface="+mn-ea"/>
                <a:cs typeface="+mn-cs"/>
              </a:endParaRPr>
            </a:p>
          </p:txBody>
        </p:sp>
      </p:grpSp>
      <p:sp>
        <p:nvSpPr>
          <p:cNvPr id="17" name="Rectangle 16"/>
          <p:cNvSpPr/>
          <p:nvPr/>
        </p:nvSpPr>
        <p:spPr>
          <a:xfrm>
            <a:off x="0" y="-24680"/>
            <a:ext cx="12192001" cy="825516"/>
          </a:xfrm>
          <a:prstGeom prst="rect">
            <a:avLst/>
          </a:prstGeom>
          <a:solidFill>
            <a:schemeClr val="tx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00" tIns="61200" rIns="61200" bIns="6120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FFE600"/>
              </a:buClr>
              <a:buSzTx/>
              <a:buFontTx/>
              <a:buNone/>
              <a:tabLst/>
              <a:defRPr/>
            </a:pPr>
            <a:endParaRPr kumimoji="0" lang="en-US" sz="1000" b="0" i="0" u="none" strike="noStrike" kern="1200" cap="none" spc="0" normalizeH="0" baseline="0" noProof="0">
              <a:ln>
                <a:noFill/>
              </a:ln>
              <a:solidFill>
                <a:srgbClr val="000000"/>
              </a:solidFill>
              <a:effectLst/>
              <a:uLnTx/>
              <a:uFillTx/>
              <a:latin typeface="Verdana"/>
              <a:ea typeface="+mn-ea"/>
              <a:cs typeface="+mn-cs"/>
            </a:endParaRPr>
          </a:p>
        </p:txBody>
      </p:sp>
      <p:grpSp>
        <p:nvGrpSpPr>
          <p:cNvPr id="18" name="Group 17"/>
          <p:cNvGrpSpPr>
            <a:grpSpLocks noChangeAspect="1"/>
          </p:cNvGrpSpPr>
          <p:nvPr/>
        </p:nvGrpSpPr>
        <p:grpSpPr>
          <a:xfrm>
            <a:off x="11573456" y="176270"/>
            <a:ext cx="475092" cy="423616"/>
            <a:chOff x="6372659" y="242102"/>
            <a:chExt cx="336446" cy="306388"/>
          </a:xfrm>
          <a:solidFill>
            <a:srgbClr val="86BC25"/>
          </a:solidFill>
        </p:grpSpPr>
        <p:sp>
          <p:nvSpPr>
            <p:cNvPr id="19" name="Oval 5"/>
            <p:cNvSpPr>
              <a:spLocks noChangeArrowheads="1"/>
            </p:cNvSpPr>
            <p:nvPr userDrawn="1"/>
          </p:nvSpPr>
          <p:spPr bwMode="auto">
            <a:xfrm>
              <a:off x="6621793" y="461177"/>
              <a:ext cx="87312" cy="8731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a:ln>
                  <a:noFill/>
                </a:ln>
                <a:solidFill>
                  <a:prstClr val="white"/>
                </a:solidFill>
                <a:effectLst/>
                <a:uLnTx/>
                <a:uFillTx/>
                <a:latin typeface="Verdana"/>
                <a:ea typeface="+mn-ea"/>
                <a:cs typeface="+mn-cs"/>
              </a:endParaRPr>
            </a:p>
          </p:txBody>
        </p:sp>
        <p:sp>
          <p:nvSpPr>
            <p:cNvPr id="20" name="Freeform 6"/>
            <p:cNvSpPr>
              <a:spLocks noEditPoints="1"/>
            </p:cNvSpPr>
            <p:nvPr userDrawn="1"/>
          </p:nvSpPr>
          <p:spPr bwMode="auto">
            <a:xfrm>
              <a:off x="6372659" y="242102"/>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600" b="0" i="0" u="none" strike="noStrike" kern="0" cap="none" spc="0" normalizeH="0" baseline="0" noProof="0">
                <a:ln>
                  <a:noFill/>
                </a:ln>
                <a:solidFill>
                  <a:prstClr val="white"/>
                </a:solidFill>
                <a:effectLst/>
                <a:uLnTx/>
                <a:uFillTx/>
                <a:latin typeface="Verdana"/>
                <a:ea typeface="+mn-ea"/>
                <a:cs typeface="+mn-cs"/>
              </a:endParaRPr>
            </a:p>
          </p:txBody>
        </p:sp>
      </p:grpSp>
      <p:sp>
        <p:nvSpPr>
          <p:cNvPr id="22" name="TextBox 21"/>
          <p:cNvSpPr txBox="1"/>
          <p:nvPr/>
        </p:nvSpPr>
        <p:spPr>
          <a:xfrm>
            <a:off x="322766" y="350606"/>
            <a:ext cx="969175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About Deloitte - A global vision and differential approach</a:t>
            </a:r>
            <a:endParaRPr kumimoji="0" lang="es-CO" sz="1800" b="0"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45378068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Rectangle 59"/>
          <p:cNvSpPr/>
          <p:nvPr/>
        </p:nvSpPr>
        <p:spPr>
          <a:xfrm>
            <a:off x="0" y="-24680"/>
            <a:ext cx="12192001" cy="825516"/>
          </a:xfrm>
          <a:prstGeom prst="rect">
            <a:avLst/>
          </a:prstGeom>
          <a:solidFill>
            <a:schemeClr val="tx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00" tIns="61200" rIns="61200" bIns="6120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FFE600"/>
              </a:buClr>
              <a:buSzTx/>
              <a:buFontTx/>
              <a:buNone/>
              <a:tabLst/>
              <a:defRPr/>
            </a:pPr>
            <a:endParaRPr kumimoji="0" lang="en-US" sz="1000" b="0" i="0" u="none" strike="noStrike" kern="1200" cap="none" spc="0" normalizeH="0" baseline="0" noProof="0">
              <a:ln>
                <a:noFill/>
              </a:ln>
              <a:solidFill>
                <a:srgbClr val="000000"/>
              </a:solidFill>
              <a:effectLst/>
              <a:uLnTx/>
              <a:uFillTx/>
              <a:latin typeface="+mj-lt"/>
              <a:ea typeface="+mn-ea"/>
              <a:cs typeface="+mn-cs"/>
            </a:endParaRPr>
          </a:p>
        </p:txBody>
      </p:sp>
      <p:sp>
        <p:nvSpPr>
          <p:cNvPr id="65" name="TextBox 64"/>
          <p:cNvSpPr txBox="1"/>
          <p:nvPr/>
        </p:nvSpPr>
        <p:spPr>
          <a:xfrm>
            <a:off x="214450" y="176270"/>
            <a:ext cx="772792" cy="417031"/>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600"/>
              </a:spcAft>
              <a:buClr>
                <a:srgbClr val="FFD200"/>
              </a:buClr>
              <a:buSzPct val="70000"/>
              <a:buFontTx/>
              <a:buNone/>
              <a:tabLst/>
              <a:defRPr/>
            </a:pPr>
            <a:endParaRPr kumimoji="0" lang="en-US" sz="8000" b="1" i="0" u="none" strike="noStrike" kern="1200" cap="none" spc="0" normalizeH="0" baseline="0" noProof="0">
              <a:ln>
                <a:noFill/>
              </a:ln>
              <a:solidFill>
                <a:prstClr val="white"/>
              </a:solidFill>
              <a:effectLst/>
              <a:uLnTx/>
              <a:uFillTx/>
              <a:latin typeface="+mj-lt"/>
              <a:ea typeface="Verdana" panose="020B0604030504040204" pitchFamily="34" charset="0"/>
              <a:cs typeface="Verdana" panose="020B0604030504040204" pitchFamily="34" charset="0"/>
            </a:endParaRPr>
          </a:p>
        </p:txBody>
      </p:sp>
      <p:sp>
        <p:nvSpPr>
          <p:cNvPr id="72" name="TextBox 71"/>
          <p:cNvSpPr txBox="1"/>
          <p:nvPr/>
        </p:nvSpPr>
        <p:spPr>
          <a:xfrm>
            <a:off x="322766" y="350606"/>
            <a:ext cx="9691750" cy="369332"/>
          </a:xfrm>
          <a:prstGeom prst="rect">
            <a:avLst/>
          </a:prstGeom>
          <a:noFill/>
        </p:spPr>
        <p:txBody>
          <a:bodyPr wrap="square" rtlCol="0">
            <a:spAutoFit/>
          </a:bodyPr>
          <a:lstStyle/>
          <a:p>
            <a:pPr lvl="0">
              <a:defRPr/>
            </a:pPr>
            <a:r>
              <a:rPr lang="en-US">
                <a:solidFill>
                  <a:prstClr val="white"/>
                </a:solidFill>
                <a:latin typeface="+mj-lt"/>
                <a:ea typeface="Verdana" panose="020B0604030504040204" pitchFamily="34" charset="0"/>
                <a:cs typeface="Verdana" panose="020B0604030504040204" pitchFamily="34" charset="0"/>
              </a:rPr>
              <a:t>Deloitte Advantage</a:t>
            </a:r>
          </a:p>
        </p:txBody>
      </p:sp>
      <p:sp>
        <p:nvSpPr>
          <p:cNvPr id="73" name="AutoShape 4" descr="Resultado de imagen para peru fla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mn-ea"/>
              <a:cs typeface="+mn-cs"/>
            </a:endParaRPr>
          </a:p>
        </p:txBody>
      </p:sp>
      <p:sp>
        <p:nvSpPr>
          <p:cNvPr id="104" name="Text Placeholder 1">
            <a:extLst>
              <a:ext uri="{FF2B5EF4-FFF2-40B4-BE49-F238E27FC236}">
                <a16:creationId xmlns:a16="http://schemas.microsoft.com/office/drawing/2014/main" id="{8968C120-178D-411F-9FF4-36DA7D1A8129}"/>
              </a:ext>
            </a:extLst>
          </p:cNvPr>
          <p:cNvSpPr>
            <a:spLocks noGrp="1"/>
          </p:cNvSpPr>
          <p:nvPr>
            <p:ph type="body" sz="quarter" idx="13"/>
          </p:nvPr>
        </p:nvSpPr>
        <p:spPr>
          <a:xfrm>
            <a:off x="359410" y="911367"/>
            <a:ext cx="11362690" cy="561914"/>
          </a:xfrm>
        </p:spPr>
        <p:txBody>
          <a:bodyPr/>
          <a:lstStyle/>
          <a:p>
            <a:r>
              <a:rPr lang="en-US" sz="1600">
                <a:cs typeface="Calibri" panose="020F0502020204030204" pitchFamily="34" charset="0"/>
              </a:rPr>
              <a:t>Deloitte is the world’s largest professional services organization with presence across 150+ countries and territories</a:t>
            </a:r>
          </a:p>
        </p:txBody>
      </p:sp>
      <p:grpSp>
        <p:nvGrpSpPr>
          <p:cNvPr id="105" name="Group 104">
            <a:extLst>
              <a:ext uri="{FF2B5EF4-FFF2-40B4-BE49-F238E27FC236}">
                <a16:creationId xmlns:a16="http://schemas.microsoft.com/office/drawing/2014/main" id="{6095AF37-CE1A-4F7A-B117-748BA81641A8}"/>
              </a:ext>
            </a:extLst>
          </p:cNvPr>
          <p:cNvGrpSpPr/>
          <p:nvPr/>
        </p:nvGrpSpPr>
        <p:grpSpPr>
          <a:xfrm>
            <a:off x="359410" y="1512463"/>
            <a:ext cx="2696385" cy="4939137"/>
            <a:chOff x="-295958" y="2066366"/>
            <a:chExt cx="2897424" cy="7466787"/>
          </a:xfrm>
        </p:grpSpPr>
        <p:sp>
          <p:nvSpPr>
            <p:cNvPr id="106" name="Rectangle 105">
              <a:extLst>
                <a:ext uri="{FF2B5EF4-FFF2-40B4-BE49-F238E27FC236}">
                  <a16:creationId xmlns:a16="http://schemas.microsoft.com/office/drawing/2014/main" id="{30B3D126-736D-47FC-8576-D462F1BCCFBC}"/>
                </a:ext>
              </a:extLst>
            </p:cNvPr>
            <p:cNvSpPr/>
            <p:nvPr/>
          </p:nvSpPr>
          <p:spPr bwMode="gray">
            <a:xfrm>
              <a:off x="-295958" y="2066366"/>
              <a:ext cx="2897424" cy="7466787"/>
            </a:xfrm>
            <a:prstGeom prst="rect">
              <a:avLst/>
            </a:prstGeom>
            <a:solidFill>
              <a:sysClr val="windowText" lastClr="000000"/>
            </a:solidFill>
            <a:ln w="19050" algn="ctr">
              <a:noFill/>
              <a:miter lim="800000"/>
              <a:headEnd/>
              <a:tailEnd/>
            </a:ln>
          </p:spPr>
          <p:txBody>
            <a:bodyPr wrap="square" lIns="57041" tIns="57041" rIns="57041" bIns="57041"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endParaRPr>
            </a:p>
          </p:txBody>
        </p:sp>
        <p:grpSp>
          <p:nvGrpSpPr>
            <p:cNvPr id="107" name="Group 106">
              <a:extLst>
                <a:ext uri="{FF2B5EF4-FFF2-40B4-BE49-F238E27FC236}">
                  <a16:creationId xmlns:a16="http://schemas.microsoft.com/office/drawing/2014/main" id="{37656687-C0F9-4C9C-B693-94CED04F1F5C}"/>
                </a:ext>
              </a:extLst>
            </p:cNvPr>
            <p:cNvGrpSpPr/>
            <p:nvPr/>
          </p:nvGrpSpPr>
          <p:grpSpPr>
            <a:xfrm>
              <a:off x="678869" y="2213570"/>
              <a:ext cx="1366697" cy="267693"/>
              <a:chOff x="398463" y="404813"/>
              <a:chExt cx="1627187" cy="307976"/>
            </a:xfrm>
            <a:solidFill>
              <a:sysClr val="windowText" lastClr="000000"/>
            </a:solidFill>
          </p:grpSpPr>
          <p:sp>
            <p:nvSpPr>
              <p:cNvPr id="109" name="Oval 5">
                <a:extLst>
                  <a:ext uri="{FF2B5EF4-FFF2-40B4-BE49-F238E27FC236}">
                    <a16:creationId xmlns:a16="http://schemas.microsoft.com/office/drawing/2014/main" id="{EFCFB654-C6F6-44FD-AB92-B3BF04F779A9}"/>
                  </a:ext>
                </a:extLst>
              </p:cNvPr>
              <p:cNvSpPr>
                <a:spLocks noChangeArrowheads="1"/>
              </p:cNvSpPr>
              <p:nvPr userDrawn="1"/>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8672" tIns="29336" rIns="58672" bIns="29336"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endParaRPr>
              </a:p>
            </p:txBody>
          </p:sp>
          <p:sp>
            <p:nvSpPr>
              <p:cNvPr id="110" name="Freeform 6">
                <a:extLst>
                  <a:ext uri="{FF2B5EF4-FFF2-40B4-BE49-F238E27FC236}">
                    <a16:creationId xmlns:a16="http://schemas.microsoft.com/office/drawing/2014/main" id="{5C39046A-54CC-4772-83CC-5D92F68E4F98}"/>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8672" tIns="29336" rIns="58672" bIns="29336"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endParaRPr>
              </a:p>
            </p:txBody>
          </p:sp>
          <p:sp>
            <p:nvSpPr>
              <p:cNvPr id="111" name="Rectangle 7">
                <a:extLst>
                  <a:ext uri="{FF2B5EF4-FFF2-40B4-BE49-F238E27FC236}">
                    <a16:creationId xmlns:a16="http://schemas.microsoft.com/office/drawing/2014/main" id="{574AE152-8D65-40E4-8097-B279158F7887}"/>
                  </a:ext>
                </a:extLst>
              </p:cNvPr>
              <p:cNvSpPr>
                <a:spLocks noChangeArrowheads="1"/>
              </p:cNvSpPr>
              <p:nvPr userDrawn="1"/>
            </p:nvSpPr>
            <p:spPr bwMode="auto">
              <a:xfrm>
                <a:off x="906463" y="404813"/>
                <a:ext cx="74612" cy="303213"/>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8672" tIns="29336" rIns="58672" bIns="29336"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endParaRPr>
              </a:p>
            </p:txBody>
          </p:sp>
          <p:sp>
            <p:nvSpPr>
              <p:cNvPr id="112" name="Freeform 8">
                <a:extLst>
                  <a:ext uri="{FF2B5EF4-FFF2-40B4-BE49-F238E27FC236}">
                    <a16:creationId xmlns:a16="http://schemas.microsoft.com/office/drawing/2014/main" id="{0E2FF848-D6A7-4CFB-AD77-A2BBAA38DBF8}"/>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8672" tIns="29336" rIns="58672" bIns="29336"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endParaRPr>
              </a:p>
            </p:txBody>
          </p:sp>
          <p:sp>
            <p:nvSpPr>
              <p:cNvPr id="113" name="Rectangle 9">
                <a:extLst>
                  <a:ext uri="{FF2B5EF4-FFF2-40B4-BE49-F238E27FC236}">
                    <a16:creationId xmlns:a16="http://schemas.microsoft.com/office/drawing/2014/main" id="{8964884E-7366-44B9-BC56-A624301527FC}"/>
                  </a:ext>
                </a:extLst>
              </p:cNvPr>
              <p:cNvSpPr>
                <a:spLocks noChangeArrowheads="1"/>
              </p:cNvSpPr>
              <p:nvPr userDrawn="1"/>
            </p:nvSpPr>
            <p:spPr bwMode="auto">
              <a:xfrm>
                <a:off x="1257300" y="482600"/>
                <a:ext cx="74611" cy="225426"/>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8672" tIns="29336" rIns="58672" bIns="29336"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endParaRPr>
              </a:p>
            </p:txBody>
          </p:sp>
          <p:sp>
            <p:nvSpPr>
              <p:cNvPr id="114" name="Rectangle 10">
                <a:extLst>
                  <a:ext uri="{FF2B5EF4-FFF2-40B4-BE49-F238E27FC236}">
                    <a16:creationId xmlns:a16="http://schemas.microsoft.com/office/drawing/2014/main" id="{772D4C93-DB31-438B-AFAD-E944B267A872}"/>
                  </a:ext>
                </a:extLst>
              </p:cNvPr>
              <p:cNvSpPr>
                <a:spLocks noChangeArrowheads="1"/>
              </p:cNvSpPr>
              <p:nvPr userDrawn="1"/>
            </p:nvSpPr>
            <p:spPr bwMode="auto">
              <a:xfrm>
                <a:off x="1257300" y="404813"/>
                <a:ext cx="74612" cy="50800"/>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8672" tIns="29336" rIns="58672" bIns="29336"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endParaRPr>
              </a:p>
            </p:txBody>
          </p:sp>
          <p:sp>
            <p:nvSpPr>
              <p:cNvPr id="115" name="Freeform 11">
                <a:extLst>
                  <a:ext uri="{FF2B5EF4-FFF2-40B4-BE49-F238E27FC236}">
                    <a16:creationId xmlns:a16="http://schemas.microsoft.com/office/drawing/2014/main" id="{BD3C065C-F513-4870-8CE0-29080C90EF66}"/>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8672" tIns="29336" rIns="58672" bIns="29336"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endParaRPr>
              </a:p>
            </p:txBody>
          </p:sp>
          <p:sp>
            <p:nvSpPr>
              <p:cNvPr id="116" name="Freeform 12">
                <a:extLst>
                  <a:ext uri="{FF2B5EF4-FFF2-40B4-BE49-F238E27FC236}">
                    <a16:creationId xmlns:a16="http://schemas.microsoft.com/office/drawing/2014/main" id="{836EE8CC-A66B-41B8-B5C4-5E32A5FF5E2F}"/>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8672" tIns="29336" rIns="58672" bIns="29336"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endParaRPr>
              </a:p>
            </p:txBody>
          </p:sp>
          <p:sp>
            <p:nvSpPr>
              <p:cNvPr id="117" name="Freeform 13">
                <a:extLst>
                  <a:ext uri="{FF2B5EF4-FFF2-40B4-BE49-F238E27FC236}">
                    <a16:creationId xmlns:a16="http://schemas.microsoft.com/office/drawing/2014/main" id="{5F654948-D511-4EBA-BDD4-A9C7DB8F0512}"/>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8672" tIns="29336" rIns="58672" bIns="29336"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endParaRPr>
              </a:p>
            </p:txBody>
          </p:sp>
          <p:sp>
            <p:nvSpPr>
              <p:cNvPr id="118" name="Freeform 14">
                <a:extLst>
                  <a:ext uri="{FF2B5EF4-FFF2-40B4-BE49-F238E27FC236}">
                    <a16:creationId xmlns:a16="http://schemas.microsoft.com/office/drawing/2014/main" id="{E2059AB2-4720-40F5-8F38-EEAC5D15CABA}"/>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58672" tIns="29336" rIns="58672" bIns="29336"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endParaRPr>
              </a:p>
            </p:txBody>
          </p:sp>
        </p:grpSp>
        <p:sp>
          <p:nvSpPr>
            <p:cNvPr id="108" name="Rectangle 107">
              <a:extLst>
                <a:ext uri="{FF2B5EF4-FFF2-40B4-BE49-F238E27FC236}">
                  <a16:creationId xmlns:a16="http://schemas.microsoft.com/office/drawing/2014/main" id="{BCD52D4E-AABC-4C09-9A0F-35501F1900BD}"/>
                </a:ext>
              </a:extLst>
            </p:cNvPr>
            <p:cNvSpPr/>
            <p:nvPr/>
          </p:nvSpPr>
          <p:spPr>
            <a:xfrm>
              <a:off x="-179329" y="2697690"/>
              <a:ext cx="2674055" cy="6595402"/>
            </a:xfrm>
            <a:prstGeom prst="rect">
              <a:avLst/>
            </a:prstGeom>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rPr>
                <a:t>Ranked #1 globally in </a:t>
              </a:r>
              <a:r>
                <a:rPr kumimoji="0" lang="en-US" sz="1050" b="1" i="0" u="none" strike="noStrike" kern="0" cap="none" spc="0" normalizeH="0" baseline="0" noProof="0">
                  <a:ln>
                    <a:noFill/>
                  </a:ln>
                  <a:solidFill>
                    <a:srgbClr val="86BC25"/>
                  </a:solidFill>
                  <a:effectLst/>
                  <a:uLnTx/>
                  <a:uFillTx/>
                  <a:latin typeface="+mj-lt"/>
                  <a:ea typeface="Verdana" panose="020B0604030504040204" pitchFamily="34" charset="0"/>
                  <a:cs typeface="Calibri" panose="020F0502020204030204" pitchFamily="34" charset="0"/>
                </a:rPr>
                <a:t>Consulting</a:t>
              </a:r>
              <a:r>
                <a:rPr kumimoji="0" lang="en-US" sz="1050" b="0" i="0" u="none" strike="noStrike" kern="0" cap="none" spc="0" normalizeH="0" baseline="0" noProof="0">
                  <a:ln>
                    <a:noFill/>
                  </a:ln>
                  <a:solidFill>
                    <a:srgbClr val="86BC25"/>
                  </a:solidFill>
                  <a:effectLst/>
                  <a:uLnTx/>
                  <a:uFillTx/>
                  <a:latin typeface="+mj-lt"/>
                  <a:ea typeface="Verdana" panose="020B0604030504040204" pitchFamily="34" charset="0"/>
                  <a:cs typeface="Calibri" panose="020F0502020204030204" pitchFamily="34" charset="0"/>
                </a:rPr>
                <a:t> </a:t>
              </a:r>
              <a:r>
                <a:rPr kumimoji="0" lang="en-US"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rPr>
                <a:t>by Kennedy</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rPr>
                <a:t>Named global leader in </a:t>
              </a:r>
              <a:r>
                <a:rPr kumimoji="0" lang="en-US" sz="1050" b="1" i="0" u="none" strike="noStrike" kern="0" cap="none" spc="0" normalizeH="0" baseline="0" noProof="0">
                  <a:ln>
                    <a:noFill/>
                  </a:ln>
                  <a:solidFill>
                    <a:srgbClr val="86BC25"/>
                  </a:solidFill>
                  <a:effectLst/>
                  <a:uLnTx/>
                  <a:uFillTx/>
                  <a:latin typeface="+mj-lt"/>
                  <a:ea typeface="Verdana" panose="020B0604030504040204" pitchFamily="34" charset="0"/>
                  <a:cs typeface="Calibri" panose="020F0502020204030204" pitchFamily="34" charset="0"/>
                </a:rPr>
                <a:t>Business Analytics Services </a:t>
              </a:r>
              <a:r>
                <a:rPr kumimoji="0" lang="en-US"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rPr>
                <a:t>by Gartner</a:t>
              </a:r>
              <a:endParaRPr kumimoji="0" lang="en-IN"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rPr>
                <a:t>Named leader in </a:t>
              </a:r>
              <a:r>
                <a:rPr kumimoji="0" lang="en-US" sz="1050" b="1"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rPr>
                <a:t>Business </a:t>
              </a:r>
              <a:r>
                <a:rPr kumimoji="0" lang="en-US" sz="1050" b="1" i="0" u="none" strike="noStrike" kern="0" cap="none" spc="0" normalizeH="0" baseline="0" noProof="0">
                  <a:ln>
                    <a:noFill/>
                  </a:ln>
                  <a:solidFill>
                    <a:srgbClr val="86BC25"/>
                  </a:solidFill>
                  <a:effectLst/>
                  <a:uLnTx/>
                  <a:uFillTx/>
                  <a:latin typeface="+mj-lt"/>
                  <a:ea typeface="Verdana" panose="020B0604030504040204" pitchFamily="34" charset="0"/>
                  <a:cs typeface="Calibri" panose="020F0502020204030204" pitchFamily="34" charset="0"/>
                </a:rPr>
                <a:t>Technology Transformation</a:t>
              </a:r>
              <a:r>
                <a:rPr kumimoji="0" lang="en-US" sz="1050" b="0" i="0" u="none" strike="noStrike" kern="0" cap="none" spc="0" normalizeH="0" baseline="0" noProof="0">
                  <a:ln>
                    <a:noFill/>
                  </a:ln>
                  <a:solidFill>
                    <a:srgbClr val="86BC25"/>
                  </a:solidFill>
                  <a:effectLst/>
                  <a:uLnTx/>
                  <a:uFillTx/>
                  <a:latin typeface="+mj-lt"/>
                  <a:ea typeface="Verdana" panose="020B0604030504040204" pitchFamily="34" charset="0"/>
                  <a:cs typeface="Calibri" panose="020F0502020204030204" pitchFamily="34" charset="0"/>
                </a:rPr>
                <a:t> </a:t>
              </a:r>
              <a:r>
                <a:rPr kumimoji="0" lang="en-US"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rPr>
                <a:t>by Forrester Inc. </a:t>
              </a:r>
              <a:endParaRPr kumimoji="0" lang="en-IN"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rPr>
                <a:t> </a:t>
              </a:r>
              <a:endParaRPr kumimoji="0" lang="en-IN"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rPr>
                <a:t>Named global leader in </a:t>
              </a:r>
              <a:r>
                <a:rPr kumimoji="0" lang="en-US" sz="1050" b="1" i="0" u="none" strike="noStrike" kern="0" cap="none" spc="0" normalizeH="0" baseline="0" noProof="0">
                  <a:ln>
                    <a:noFill/>
                  </a:ln>
                  <a:solidFill>
                    <a:srgbClr val="86BC25"/>
                  </a:solidFill>
                  <a:effectLst/>
                  <a:uLnTx/>
                  <a:uFillTx/>
                  <a:latin typeface="+mj-lt"/>
                  <a:ea typeface="Verdana" panose="020B0604030504040204" pitchFamily="34" charset="0"/>
                  <a:cs typeface="Calibri" panose="020F0502020204030204" pitchFamily="34" charset="0"/>
                </a:rPr>
                <a:t>Cyber Security Consulting</a:t>
              </a:r>
              <a:r>
                <a:rPr kumimoji="0" lang="en-US" sz="1050" b="0" i="0" u="none" strike="noStrike" kern="0" cap="none" spc="0" normalizeH="0" baseline="0" noProof="0">
                  <a:ln>
                    <a:noFill/>
                  </a:ln>
                  <a:solidFill>
                    <a:srgbClr val="86BC25"/>
                  </a:solidFill>
                  <a:effectLst/>
                  <a:uLnTx/>
                  <a:uFillTx/>
                  <a:latin typeface="+mj-lt"/>
                  <a:ea typeface="Verdana" panose="020B0604030504040204" pitchFamily="34" charset="0"/>
                  <a:cs typeface="Calibri" panose="020F0502020204030204" pitchFamily="34" charset="0"/>
                </a:rPr>
                <a:t> </a:t>
              </a:r>
              <a:r>
                <a:rPr kumimoji="0" lang="en-US"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rPr>
                <a:t>by Kennedy</a:t>
              </a:r>
              <a:endParaRPr kumimoji="0" lang="en-IN"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rPr>
                <a:t> </a:t>
              </a:r>
              <a:endParaRPr kumimoji="0" lang="en-IN"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rPr>
                <a:t>Ranked #1 globally in </a:t>
              </a:r>
              <a:r>
                <a:rPr kumimoji="0" lang="en-US" sz="1050" b="1"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rPr>
                <a:t>Life </a:t>
              </a:r>
              <a:r>
                <a:rPr kumimoji="0" lang="en-US" sz="1050" b="1" i="0" u="none" strike="noStrike" kern="0" cap="none" spc="0" normalizeH="0" baseline="0" noProof="0">
                  <a:ln>
                    <a:noFill/>
                  </a:ln>
                  <a:solidFill>
                    <a:srgbClr val="86BC25"/>
                  </a:solidFill>
                  <a:effectLst/>
                  <a:uLnTx/>
                  <a:uFillTx/>
                  <a:latin typeface="+mj-lt"/>
                  <a:ea typeface="Verdana" panose="020B0604030504040204" pitchFamily="34" charset="0"/>
                  <a:cs typeface="Calibri" panose="020F0502020204030204" pitchFamily="34" charset="0"/>
                </a:rPr>
                <a:t>Sciences Sector Consulting</a:t>
              </a:r>
              <a:r>
                <a:rPr kumimoji="0" lang="en-US" sz="1050" b="0" i="0" u="none" strike="noStrike" kern="0" cap="none" spc="0" normalizeH="0" baseline="0" noProof="0">
                  <a:ln>
                    <a:noFill/>
                  </a:ln>
                  <a:solidFill>
                    <a:srgbClr val="86BC25"/>
                  </a:solidFill>
                  <a:effectLst/>
                  <a:uLnTx/>
                  <a:uFillTx/>
                  <a:latin typeface="+mj-lt"/>
                  <a:ea typeface="Verdana" panose="020B0604030504040204" pitchFamily="34" charset="0"/>
                  <a:cs typeface="Calibri" panose="020F0502020204030204" pitchFamily="34" charset="0"/>
                </a:rPr>
                <a:t> </a:t>
              </a:r>
              <a:r>
                <a:rPr kumimoji="0" lang="en-US"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rPr>
                <a:t>by Kennedy</a:t>
              </a:r>
              <a:endParaRPr kumimoji="0" lang="en-IN"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rPr>
                <a:t> </a:t>
              </a:r>
              <a:endParaRPr kumimoji="0" lang="en-IN"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rPr>
                <a:t>Named leader in </a:t>
              </a:r>
              <a:r>
                <a:rPr kumimoji="0" lang="en-US" sz="1050" b="1" i="0" u="none" strike="noStrike" kern="0" cap="none" spc="0" normalizeH="0" baseline="0" noProof="0">
                  <a:ln>
                    <a:noFill/>
                  </a:ln>
                  <a:solidFill>
                    <a:srgbClr val="86BC25"/>
                  </a:solidFill>
                  <a:effectLst/>
                  <a:uLnTx/>
                  <a:uFillTx/>
                  <a:latin typeface="+mj-lt"/>
                  <a:ea typeface="Verdana" panose="020B0604030504040204" pitchFamily="34" charset="0"/>
                  <a:cs typeface="Calibri" panose="020F0502020204030204" pitchFamily="34" charset="0"/>
                </a:rPr>
                <a:t>Global Risk Management Consulting Services</a:t>
              </a:r>
              <a:r>
                <a:rPr kumimoji="0" lang="en-US" sz="1050" b="0" i="0" u="none" strike="noStrike" kern="0" cap="none" spc="0" normalizeH="0" baseline="0" noProof="0">
                  <a:ln>
                    <a:noFill/>
                  </a:ln>
                  <a:solidFill>
                    <a:srgbClr val="86BC25"/>
                  </a:solidFill>
                  <a:effectLst/>
                  <a:uLnTx/>
                  <a:uFillTx/>
                  <a:latin typeface="+mj-lt"/>
                  <a:ea typeface="Verdana" panose="020B0604030504040204" pitchFamily="34" charset="0"/>
                  <a:cs typeface="Calibri" panose="020F0502020204030204" pitchFamily="34" charset="0"/>
                </a:rPr>
                <a:t> </a:t>
              </a:r>
              <a:r>
                <a:rPr kumimoji="0" lang="en-US"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rPr>
                <a:t>by Gartner </a:t>
              </a:r>
              <a:endParaRPr kumimoji="0" lang="en-IN"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rPr>
                <a:t> </a:t>
              </a:r>
              <a:endParaRPr kumimoji="0" lang="en-IN"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rPr>
                <a:t>Ranked #1 globally in </a:t>
              </a:r>
              <a:r>
                <a:rPr kumimoji="0" lang="en-US" sz="1050" b="1" i="0" u="none" strike="noStrike" kern="0" cap="none" spc="0" normalizeH="0" baseline="0" noProof="0">
                  <a:ln>
                    <a:noFill/>
                  </a:ln>
                  <a:solidFill>
                    <a:srgbClr val="86BC25"/>
                  </a:solidFill>
                  <a:effectLst/>
                  <a:uLnTx/>
                  <a:uFillTx/>
                  <a:latin typeface="+mj-lt"/>
                  <a:ea typeface="Verdana" panose="020B0604030504040204" pitchFamily="34" charset="0"/>
                  <a:cs typeface="Calibri" panose="020F0502020204030204" pitchFamily="34" charset="0"/>
                </a:rPr>
                <a:t>Forensics &amp; Dispute Advisory Services</a:t>
              </a:r>
              <a:r>
                <a:rPr kumimoji="0" lang="en-US" sz="1050" b="0" i="0" u="none" strike="noStrike" kern="0" cap="none" spc="0" normalizeH="0" baseline="0" noProof="0">
                  <a:ln>
                    <a:noFill/>
                  </a:ln>
                  <a:solidFill>
                    <a:srgbClr val="86BC25"/>
                  </a:solidFill>
                  <a:effectLst/>
                  <a:uLnTx/>
                  <a:uFillTx/>
                  <a:latin typeface="+mj-lt"/>
                  <a:ea typeface="Verdana" panose="020B0604030504040204" pitchFamily="34" charset="0"/>
                  <a:cs typeface="Calibri" panose="020F0502020204030204" pitchFamily="34" charset="0"/>
                </a:rPr>
                <a:t> </a:t>
              </a:r>
              <a:r>
                <a:rPr kumimoji="0" lang="en-US"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rPr>
                <a:t>by Kennedy </a:t>
              </a:r>
              <a:endParaRPr kumimoji="0" lang="en-IN"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rPr>
                <a:t> </a:t>
              </a:r>
              <a:endParaRPr kumimoji="0" lang="en-IN"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rPr>
                <a:t>Recognized for </a:t>
              </a:r>
              <a:r>
                <a:rPr kumimoji="0" lang="en-US" sz="1050" b="1" i="0" u="none" strike="noStrike" kern="0" cap="none" spc="0" normalizeH="0" baseline="0" noProof="0">
                  <a:ln>
                    <a:noFill/>
                  </a:ln>
                  <a:solidFill>
                    <a:srgbClr val="86BC25"/>
                  </a:solidFill>
                  <a:effectLst/>
                  <a:uLnTx/>
                  <a:uFillTx/>
                  <a:latin typeface="+mj-lt"/>
                  <a:ea typeface="Verdana" panose="020B0604030504040204" pitchFamily="34" charset="0"/>
                  <a:cs typeface="Calibri" panose="020F0502020204030204" pitchFamily="34" charset="0"/>
                </a:rPr>
                <a:t>innovative client work</a:t>
              </a:r>
              <a:r>
                <a:rPr kumimoji="0" lang="en-US" sz="1050" b="0" i="0" u="none" strike="noStrike" kern="0" cap="none" spc="0" normalizeH="0" baseline="0" noProof="0">
                  <a:ln>
                    <a:noFill/>
                  </a:ln>
                  <a:solidFill>
                    <a:srgbClr val="86BC25"/>
                  </a:solidFill>
                  <a:effectLst/>
                  <a:uLnTx/>
                  <a:uFillTx/>
                  <a:latin typeface="+mj-lt"/>
                  <a:ea typeface="Verdana" panose="020B0604030504040204" pitchFamily="34" charset="0"/>
                  <a:cs typeface="Calibri" panose="020F0502020204030204" pitchFamily="34" charset="0"/>
                </a:rPr>
                <a:t> </a:t>
              </a:r>
              <a:r>
                <a:rPr kumimoji="0" lang="en-US"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rPr>
                <a:t>by the International Tax Review</a:t>
              </a:r>
              <a:endParaRPr kumimoji="0" lang="en-IN" sz="105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endParaRPr>
            </a:p>
          </p:txBody>
        </p:sp>
      </p:grpSp>
      <p:grpSp>
        <p:nvGrpSpPr>
          <p:cNvPr id="132" name="Group 131">
            <a:extLst>
              <a:ext uri="{FF2B5EF4-FFF2-40B4-BE49-F238E27FC236}">
                <a16:creationId xmlns:a16="http://schemas.microsoft.com/office/drawing/2014/main" id="{0C0FDC14-36EC-481E-A590-6BA717C746C4}"/>
              </a:ext>
            </a:extLst>
          </p:cNvPr>
          <p:cNvGrpSpPr/>
          <p:nvPr/>
        </p:nvGrpSpPr>
        <p:grpSpPr>
          <a:xfrm>
            <a:off x="3389911" y="5720486"/>
            <a:ext cx="4941775" cy="452293"/>
            <a:chOff x="439793" y="6711514"/>
            <a:chExt cx="4455240" cy="412290"/>
          </a:xfrm>
        </p:grpSpPr>
        <p:sp>
          <p:nvSpPr>
            <p:cNvPr id="133" name="Rectangle 132">
              <a:extLst>
                <a:ext uri="{FF2B5EF4-FFF2-40B4-BE49-F238E27FC236}">
                  <a16:creationId xmlns:a16="http://schemas.microsoft.com/office/drawing/2014/main" id="{23BD8B62-0CBD-48A8-8CAE-33AA0C1DF332}"/>
                </a:ext>
              </a:extLst>
            </p:cNvPr>
            <p:cNvSpPr/>
            <p:nvPr/>
          </p:nvSpPr>
          <p:spPr>
            <a:xfrm>
              <a:off x="699218" y="6739505"/>
              <a:ext cx="4195815" cy="316794"/>
            </a:xfrm>
            <a:prstGeom prst="rect">
              <a:avLst/>
            </a:prstGeom>
            <a:solidFill>
              <a:schemeClr val="accent1"/>
            </a:solidFill>
          </p:spPr>
          <p:txBody>
            <a:bodyPr wrap="square" lIns="304896" tIns="0" rIns="33877" bIns="0">
              <a:spAutoFit/>
            </a:bodyPr>
            <a:lstStyle/>
            <a:p>
              <a:pPr marL="0" marR="0" lvl="0" indent="0" algn="l" defTabSz="1290436" rtl="0" eaLnBrk="0" fontAlgn="auto" latinLnBrk="0" hangingPunct="0">
                <a:lnSpc>
                  <a:spcPct val="100000"/>
                </a:lnSpc>
                <a:spcBef>
                  <a:spcPts val="0"/>
                </a:spcBef>
                <a:spcAft>
                  <a:spcPts val="0"/>
                </a:spcAft>
                <a:buClrTx/>
                <a:buSzTx/>
                <a:buFontTx/>
                <a:buNone/>
                <a:tabLst/>
                <a:defRPr/>
              </a:pPr>
              <a:r>
                <a:rPr kumimoji="0" lang="en-US" sz="1100" b="0" i="0" u="none" strike="noStrike" kern="1200" cap="none" spc="200" normalizeH="0" baseline="0" noProof="0">
                  <a:ln>
                    <a:noFill/>
                  </a:ln>
                  <a:solidFill>
                    <a:prstClr val="white"/>
                  </a:solidFill>
                  <a:effectLst/>
                  <a:uLnTx/>
                  <a:uFillTx/>
                  <a:latin typeface="Calibri"/>
                  <a:ea typeface="+mn-ea"/>
                  <a:cs typeface="Calibri" panose="020F0502020204030204" pitchFamily="34" charset="0"/>
                </a:rPr>
                <a:t>Deloitte member firms serve 82% of the 2020 Fortune 500 companies</a:t>
              </a:r>
            </a:p>
          </p:txBody>
        </p:sp>
        <p:grpSp>
          <p:nvGrpSpPr>
            <p:cNvPr id="134" name="Group 133">
              <a:extLst>
                <a:ext uri="{FF2B5EF4-FFF2-40B4-BE49-F238E27FC236}">
                  <a16:creationId xmlns:a16="http://schemas.microsoft.com/office/drawing/2014/main" id="{539B69C8-2DC2-4A71-8FB9-B319FF46EFE6}"/>
                </a:ext>
              </a:extLst>
            </p:cNvPr>
            <p:cNvGrpSpPr/>
            <p:nvPr/>
          </p:nvGrpSpPr>
          <p:grpSpPr>
            <a:xfrm>
              <a:off x="439793" y="6711523"/>
              <a:ext cx="412291" cy="412291"/>
              <a:chOff x="10058400" y="4040797"/>
              <a:chExt cx="412291" cy="412291"/>
            </a:xfrm>
          </p:grpSpPr>
          <p:sp>
            <p:nvSpPr>
              <p:cNvPr id="135" name="Oval 134">
                <a:extLst>
                  <a:ext uri="{FF2B5EF4-FFF2-40B4-BE49-F238E27FC236}">
                    <a16:creationId xmlns:a16="http://schemas.microsoft.com/office/drawing/2014/main" id="{E9F3C2C8-359B-4490-B29C-1D93F018127B}"/>
                  </a:ext>
                </a:extLst>
              </p:cNvPr>
              <p:cNvSpPr/>
              <p:nvPr/>
            </p:nvSpPr>
            <p:spPr bwMode="gray">
              <a:xfrm>
                <a:off x="10058400" y="4040797"/>
                <a:ext cx="412291" cy="412291"/>
              </a:xfrm>
              <a:prstGeom prst="ellipse">
                <a:avLst/>
              </a:prstGeom>
              <a:solidFill>
                <a:schemeClr val="bg1"/>
              </a:solidFill>
              <a:ln w="19050" algn="ctr">
                <a:noFill/>
                <a:miter lim="800000"/>
                <a:headEnd/>
                <a:tailEnd/>
              </a:ln>
            </p:spPr>
            <p:txBody>
              <a:bodyPr wrap="square" lIns="83658" tIns="83658" rIns="83658" bIns="83658"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GB" sz="1100" b="1" i="0" u="none" strike="noStrike" kern="1200" cap="none" spc="0" normalizeH="0" baseline="0" noProof="0">
                  <a:ln>
                    <a:noFill/>
                  </a:ln>
                  <a:solidFill>
                    <a:prstClr val="white"/>
                  </a:solidFill>
                  <a:effectLst/>
                  <a:uLnTx/>
                  <a:uFillTx/>
                  <a:latin typeface="+mj-lt"/>
                  <a:ea typeface="+mn-ea"/>
                  <a:cs typeface="Calibri" panose="020F0502020204030204" pitchFamily="34" charset="0"/>
                </a:endParaRPr>
              </a:p>
            </p:txBody>
          </p:sp>
          <p:sp>
            <p:nvSpPr>
              <p:cNvPr id="136" name="Freeform 636">
                <a:extLst>
                  <a:ext uri="{FF2B5EF4-FFF2-40B4-BE49-F238E27FC236}">
                    <a16:creationId xmlns:a16="http://schemas.microsoft.com/office/drawing/2014/main" id="{CAB8BA97-29D4-49CF-A731-BE805A0ABDAF}"/>
                  </a:ext>
                </a:extLst>
              </p:cNvPr>
              <p:cNvSpPr>
                <a:spLocks noChangeAspect="1" noEditPoints="1"/>
              </p:cNvSpPr>
              <p:nvPr/>
            </p:nvSpPr>
            <p:spPr bwMode="auto">
              <a:xfrm>
                <a:off x="10081025" y="4063425"/>
                <a:ext cx="367041" cy="367041"/>
              </a:xfrm>
              <a:custGeom>
                <a:avLst/>
                <a:gdLst>
                  <a:gd name="T0" fmla="*/ 260 w 512"/>
                  <a:gd name="T1" fmla="*/ 165 h 512"/>
                  <a:gd name="T2" fmla="*/ 295 w 512"/>
                  <a:gd name="T3" fmla="*/ 288 h 512"/>
                  <a:gd name="T4" fmla="*/ 128 w 512"/>
                  <a:gd name="T5" fmla="*/ 288 h 512"/>
                  <a:gd name="T6" fmla="*/ 119 w 512"/>
                  <a:gd name="T7" fmla="*/ 250 h 512"/>
                  <a:gd name="T8" fmla="*/ 260 w 512"/>
                  <a:gd name="T9" fmla="*/ 165 h 512"/>
                  <a:gd name="T10" fmla="*/ 192 w 512"/>
                  <a:gd name="T11" fmla="*/ 309 h 512"/>
                  <a:gd name="T12" fmla="*/ 213 w 512"/>
                  <a:gd name="T13" fmla="*/ 330 h 512"/>
                  <a:gd name="T14" fmla="*/ 234 w 512"/>
                  <a:gd name="T15" fmla="*/ 309 h 512"/>
                  <a:gd name="T16" fmla="*/ 234 w 512"/>
                  <a:gd name="T17" fmla="*/ 309 h 512"/>
                  <a:gd name="T18" fmla="*/ 192 w 512"/>
                  <a:gd name="T19" fmla="*/ 309 h 512"/>
                  <a:gd name="T20" fmla="*/ 192 w 512"/>
                  <a:gd name="T21" fmla="*/ 309 h 512"/>
                  <a:gd name="T22" fmla="*/ 512 w 512"/>
                  <a:gd name="T23" fmla="*/ 256 h 512"/>
                  <a:gd name="T24" fmla="*/ 256 w 512"/>
                  <a:gd name="T25" fmla="*/ 512 h 512"/>
                  <a:gd name="T26" fmla="*/ 0 w 512"/>
                  <a:gd name="T27" fmla="*/ 256 h 512"/>
                  <a:gd name="T28" fmla="*/ 256 w 512"/>
                  <a:gd name="T29" fmla="*/ 0 h 512"/>
                  <a:gd name="T30" fmla="*/ 512 w 512"/>
                  <a:gd name="T31" fmla="*/ 256 h 512"/>
                  <a:gd name="T32" fmla="*/ 301 w 512"/>
                  <a:gd name="T33" fmla="*/ 177 h 512"/>
                  <a:gd name="T34" fmla="*/ 309 w 512"/>
                  <a:gd name="T35" fmla="*/ 181 h 512"/>
                  <a:gd name="T36" fmla="*/ 316 w 512"/>
                  <a:gd name="T37" fmla="*/ 179 h 512"/>
                  <a:gd name="T38" fmla="*/ 369 w 512"/>
                  <a:gd name="T39" fmla="*/ 136 h 512"/>
                  <a:gd name="T40" fmla="*/ 371 w 512"/>
                  <a:gd name="T41" fmla="*/ 121 h 512"/>
                  <a:gd name="T42" fmla="*/ 356 w 512"/>
                  <a:gd name="T43" fmla="*/ 119 h 512"/>
                  <a:gd name="T44" fmla="*/ 302 w 512"/>
                  <a:gd name="T45" fmla="*/ 162 h 512"/>
                  <a:gd name="T46" fmla="*/ 301 w 512"/>
                  <a:gd name="T47" fmla="*/ 177 h 512"/>
                  <a:gd name="T48" fmla="*/ 319 w 512"/>
                  <a:gd name="T49" fmla="*/ 295 h 512"/>
                  <a:gd name="T50" fmla="*/ 277 w 512"/>
                  <a:gd name="T51" fmla="*/ 146 h 512"/>
                  <a:gd name="T52" fmla="*/ 270 w 512"/>
                  <a:gd name="T53" fmla="*/ 139 h 512"/>
                  <a:gd name="T54" fmla="*/ 261 w 512"/>
                  <a:gd name="T55" fmla="*/ 140 h 512"/>
                  <a:gd name="T56" fmla="*/ 101 w 512"/>
                  <a:gd name="T57" fmla="*/ 236 h 512"/>
                  <a:gd name="T58" fmla="*/ 96 w 512"/>
                  <a:gd name="T59" fmla="*/ 248 h 512"/>
                  <a:gd name="T60" fmla="*/ 110 w 512"/>
                  <a:gd name="T61" fmla="*/ 301 h 512"/>
                  <a:gd name="T62" fmla="*/ 120 w 512"/>
                  <a:gd name="T63" fmla="*/ 309 h 512"/>
                  <a:gd name="T64" fmla="*/ 170 w 512"/>
                  <a:gd name="T65" fmla="*/ 309 h 512"/>
                  <a:gd name="T66" fmla="*/ 170 w 512"/>
                  <a:gd name="T67" fmla="*/ 309 h 512"/>
                  <a:gd name="T68" fmla="*/ 213 w 512"/>
                  <a:gd name="T69" fmla="*/ 352 h 512"/>
                  <a:gd name="T70" fmla="*/ 256 w 512"/>
                  <a:gd name="T71" fmla="*/ 309 h 512"/>
                  <a:gd name="T72" fmla="*/ 256 w 512"/>
                  <a:gd name="T73" fmla="*/ 309 h 512"/>
                  <a:gd name="T74" fmla="*/ 309 w 512"/>
                  <a:gd name="T75" fmla="*/ 309 h 512"/>
                  <a:gd name="T76" fmla="*/ 309 w 512"/>
                  <a:gd name="T77" fmla="*/ 309 h 512"/>
                  <a:gd name="T78" fmla="*/ 318 w 512"/>
                  <a:gd name="T79" fmla="*/ 305 h 512"/>
                  <a:gd name="T80" fmla="*/ 319 w 512"/>
                  <a:gd name="T81" fmla="*/ 295 h 512"/>
                  <a:gd name="T82" fmla="*/ 416 w 512"/>
                  <a:gd name="T83" fmla="*/ 279 h 512"/>
                  <a:gd name="T84" fmla="*/ 407 w 512"/>
                  <a:gd name="T85" fmla="*/ 266 h 512"/>
                  <a:gd name="T86" fmla="*/ 343 w 512"/>
                  <a:gd name="T87" fmla="*/ 256 h 512"/>
                  <a:gd name="T88" fmla="*/ 330 w 512"/>
                  <a:gd name="T89" fmla="*/ 265 h 512"/>
                  <a:gd name="T90" fmla="*/ 339 w 512"/>
                  <a:gd name="T91" fmla="*/ 277 h 512"/>
                  <a:gd name="T92" fmla="*/ 403 w 512"/>
                  <a:gd name="T93" fmla="*/ 288 h 512"/>
                  <a:gd name="T94" fmla="*/ 405 w 512"/>
                  <a:gd name="T95" fmla="*/ 288 h 512"/>
                  <a:gd name="T96" fmla="*/ 416 w 512"/>
                  <a:gd name="T97" fmla="*/ 279 h 512"/>
                  <a:gd name="T98" fmla="*/ 415 w 512"/>
                  <a:gd name="T99" fmla="*/ 189 h 512"/>
                  <a:gd name="T100" fmla="*/ 402 w 512"/>
                  <a:gd name="T101" fmla="*/ 181 h 512"/>
                  <a:gd name="T102" fmla="*/ 327 w 512"/>
                  <a:gd name="T103" fmla="*/ 203 h 512"/>
                  <a:gd name="T104" fmla="*/ 320 w 512"/>
                  <a:gd name="T105" fmla="*/ 216 h 512"/>
                  <a:gd name="T106" fmla="*/ 330 w 512"/>
                  <a:gd name="T107" fmla="*/ 224 h 512"/>
                  <a:gd name="T108" fmla="*/ 333 w 512"/>
                  <a:gd name="T109" fmla="*/ 223 h 512"/>
                  <a:gd name="T110" fmla="*/ 408 w 512"/>
                  <a:gd name="T111" fmla="*/ 202 h 512"/>
                  <a:gd name="T112" fmla="*/ 415 w 512"/>
                  <a:gd name="T113" fmla="*/ 18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12" h="512">
                    <a:moveTo>
                      <a:pt x="260" y="165"/>
                    </a:moveTo>
                    <a:cubicBezTo>
                      <a:pt x="295" y="288"/>
                      <a:pt x="295" y="288"/>
                      <a:pt x="295" y="288"/>
                    </a:cubicBezTo>
                    <a:cubicBezTo>
                      <a:pt x="128" y="288"/>
                      <a:pt x="128" y="288"/>
                      <a:pt x="128" y="288"/>
                    </a:cubicBezTo>
                    <a:cubicBezTo>
                      <a:pt x="119" y="250"/>
                      <a:pt x="119" y="250"/>
                      <a:pt x="119" y="250"/>
                    </a:cubicBezTo>
                    <a:lnTo>
                      <a:pt x="260" y="165"/>
                    </a:lnTo>
                    <a:close/>
                    <a:moveTo>
                      <a:pt x="192" y="309"/>
                    </a:moveTo>
                    <a:cubicBezTo>
                      <a:pt x="192" y="321"/>
                      <a:pt x="201" y="330"/>
                      <a:pt x="213" y="330"/>
                    </a:cubicBezTo>
                    <a:cubicBezTo>
                      <a:pt x="225" y="330"/>
                      <a:pt x="234" y="321"/>
                      <a:pt x="234" y="309"/>
                    </a:cubicBezTo>
                    <a:cubicBezTo>
                      <a:pt x="234" y="309"/>
                      <a:pt x="234" y="309"/>
                      <a:pt x="234" y="309"/>
                    </a:cubicBezTo>
                    <a:cubicBezTo>
                      <a:pt x="192" y="309"/>
                      <a:pt x="192" y="309"/>
                      <a:pt x="192" y="309"/>
                    </a:cubicBezTo>
                    <a:cubicBezTo>
                      <a:pt x="192" y="309"/>
                      <a:pt x="192" y="309"/>
                      <a:pt x="192" y="309"/>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01" y="177"/>
                    </a:moveTo>
                    <a:cubicBezTo>
                      <a:pt x="303" y="180"/>
                      <a:pt x="306" y="181"/>
                      <a:pt x="309" y="181"/>
                    </a:cubicBezTo>
                    <a:cubicBezTo>
                      <a:pt x="311" y="181"/>
                      <a:pt x="314" y="180"/>
                      <a:pt x="316" y="179"/>
                    </a:cubicBezTo>
                    <a:cubicBezTo>
                      <a:pt x="369" y="136"/>
                      <a:pt x="369" y="136"/>
                      <a:pt x="369" y="136"/>
                    </a:cubicBezTo>
                    <a:cubicBezTo>
                      <a:pt x="374" y="132"/>
                      <a:pt x="374" y="126"/>
                      <a:pt x="371" y="121"/>
                    </a:cubicBezTo>
                    <a:cubicBezTo>
                      <a:pt x="367" y="116"/>
                      <a:pt x="360" y="116"/>
                      <a:pt x="356" y="119"/>
                    </a:cubicBezTo>
                    <a:cubicBezTo>
                      <a:pt x="302" y="162"/>
                      <a:pt x="302" y="162"/>
                      <a:pt x="302" y="162"/>
                    </a:cubicBezTo>
                    <a:cubicBezTo>
                      <a:pt x="298" y="166"/>
                      <a:pt x="297" y="172"/>
                      <a:pt x="301" y="177"/>
                    </a:cubicBezTo>
                    <a:close/>
                    <a:moveTo>
                      <a:pt x="319" y="295"/>
                    </a:moveTo>
                    <a:cubicBezTo>
                      <a:pt x="277" y="146"/>
                      <a:pt x="277" y="146"/>
                      <a:pt x="277" y="146"/>
                    </a:cubicBezTo>
                    <a:cubicBezTo>
                      <a:pt x="276" y="143"/>
                      <a:pt x="273" y="140"/>
                      <a:pt x="270" y="139"/>
                    </a:cubicBezTo>
                    <a:cubicBezTo>
                      <a:pt x="267" y="138"/>
                      <a:pt x="264" y="138"/>
                      <a:pt x="261" y="140"/>
                    </a:cubicBezTo>
                    <a:cubicBezTo>
                      <a:pt x="101" y="236"/>
                      <a:pt x="101" y="236"/>
                      <a:pt x="101" y="236"/>
                    </a:cubicBezTo>
                    <a:cubicBezTo>
                      <a:pt x="97" y="238"/>
                      <a:pt x="95" y="243"/>
                      <a:pt x="96" y="248"/>
                    </a:cubicBezTo>
                    <a:cubicBezTo>
                      <a:pt x="110" y="301"/>
                      <a:pt x="110" y="301"/>
                      <a:pt x="110" y="301"/>
                    </a:cubicBezTo>
                    <a:cubicBezTo>
                      <a:pt x="111" y="306"/>
                      <a:pt x="115" y="309"/>
                      <a:pt x="120" y="309"/>
                    </a:cubicBezTo>
                    <a:cubicBezTo>
                      <a:pt x="170" y="309"/>
                      <a:pt x="170" y="309"/>
                      <a:pt x="170" y="309"/>
                    </a:cubicBezTo>
                    <a:cubicBezTo>
                      <a:pt x="170" y="309"/>
                      <a:pt x="170" y="309"/>
                      <a:pt x="170" y="309"/>
                    </a:cubicBezTo>
                    <a:cubicBezTo>
                      <a:pt x="170" y="333"/>
                      <a:pt x="189" y="352"/>
                      <a:pt x="213" y="352"/>
                    </a:cubicBezTo>
                    <a:cubicBezTo>
                      <a:pt x="237" y="352"/>
                      <a:pt x="256" y="333"/>
                      <a:pt x="256" y="309"/>
                    </a:cubicBezTo>
                    <a:cubicBezTo>
                      <a:pt x="256" y="309"/>
                      <a:pt x="256" y="309"/>
                      <a:pt x="256" y="309"/>
                    </a:cubicBezTo>
                    <a:cubicBezTo>
                      <a:pt x="309" y="309"/>
                      <a:pt x="309" y="309"/>
                      <a:pt x="309" y="309"/>
                    </a:cubicBezTo>
                    <a:cubicBezTo>
                      <a:pt x="309" y="309"/>
                      <a:pt x="309" y="309"/>
                      <a:pt x="309" y="309"/>
                    </a:cubicBezTo>
                    <a:cubicBezTo>
                      <a:pt x="312" y="309"/>
                      <a:pt x="316" y="307"/>
                      <a:pt x="318" y="305"/>
                    </a:cubicBezTo>
                    <a:cubicBezTo>
                      <a:pt x="320" y="302"/>
                      <a:pt x="320" y="299"/>
                      <a:pt x="319" y="295"/>
                    </a:cubicBezTo>
                    <a:close/>
                    <a:moveTo>
                      <a:pt x="416" y="279"/>
                    </a:moveTo>
                    <a:cubicBezTo>
                      <a:pt x="416" y="273"/>
                      <a:pt x="413" y="267"/>
                      <a:pt x="407" y="266"/>
                    </a:cubicBezTo>
                    <a:cubicBezTo>
                      <a:pt x="343" y="256"/>
                      <a:pt x="343" y="256"/>
                      <a:pt x="343" y="256"/>
                    </a:cubicBezTo>
                    <a:cubicBezTo>
                      <a:pt x="337" y="255"/>
                      <a:pt x="331" y="259"/>
                      <a:pt x="330" y="265"/>
                    </a:cubicBezTo>
                    <a:cubicBezTo>
                      <a:pt x="330" y="270"/>
                      <a:pt x="333" y="276"/>
                      <a:pt x="339" y="277"/>
                    </a:cubicBezTo>
                    <a:cubicBezTo>
                      <a:pt x="403" y="288"/>
                      <a:pt x="403" y="288"/>
                      <a:pt x="403" y="288"/>
                    </a:cubicBezTo>
                    <a:cubicBezTo>
                      <a:pt x="404" y="288"/>
                      <a:pt x="404" y="288"/>
                      <a:pt x="405" y="288"/>
                    </a:cubicBezTo>
                    <a:cubicBezTo>
                      <a:pt x="410" y="288"/>
                      <a:pt x="415" y="284"/>
                      <a:pt x="416" y="279"/>
                    </a:cubicBezTo>
                    <a:close/>
                    <a:moveTo>
                      <a:pt x="415" y="189"/>
                    </a:moveTo>
                    <a:cubicBezTo>
                      <a:pt x="414" y="183"/>
                      <a:pt x="408" y="180"/>
                      <a:pt x="402" y="181"/>
                    </a:cubicBezTo>
                    <a:cubicBezTo>
                      <a:pt x="327" y="203"/>
                      <a:pt x="327" y="203"/>
                      <a:pt x="327" y="203"/>
                    </a:cubicBezTo>
                    <a:cubicBezTo>
                      <a:pt x="322" y="204"/>
                      <a:pt x="318" y="210"/>
                      <a:pt x="320" y="216"/>
                    </a:cubicBezTo>
                    <a:cubicBezTo>
                      <a:pt x="321" y="221"/>
                      <a:pt x="326" y="224"/>
                      <a:pt x="330" y="224"/>
                    </a:cubicBezTo>
                    <a:cubicBezTo>
                      <a:pt x="331" y="224"/>
                      <a:pt x="332" y="224"/>
                      <a:pt x="333" y="223"/>
                    </a:cubicBezTo>
                    <a:cubicBezTo>
                      <a:pt x="408" y="202"/>
                      <a:pt x="408" y="202"/>
                      <a:pt x="408" y="202"/>
                    </a:cubicBezTo>
                    <a:cubicBezTo>
                      <a:pt x="414" y="200"/>
                      <a:pt x="417" y="194"/>
                      <a:pt x="415" y="189"/>
                    </a:cubicBezTo>
                    <a:close/>
                  </a:path>
                </a:pathLst>
              </a:custGeom>
              <a:solidFill>
                <a:schemeClr val="accent1"/>
              </a:solidFill>
              <a:ln>
                <a:noFill/>
              </a:ln>
            </p:spPr>
            <p:txBody>
              <a:bodyPr vert="horz" wrap="square" lIns="86048" tIns="43024" rIns="86048" bIns="43024"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black"/>
                  </a:solidFill>
                  <a:effectLst/>
                  <a:uLnTx/>
                  <a:uFillTx/>
                  <a:latin typeface="+mj-lt"/>
                  <a:ea typeface="+mn-ea"/>
                  <a:cs typeface="Calibri" panose="020F0502020204030204" pitchFamily="34" charset="0"/>
                </a:endParaRPr>
              </a:p>
            </p:txBody>
          </p:sp>
        </p:grpSp>
      </p:grpSp>
      <p:pic>
        <p:nvPicPr>
          <p:cNvPr id="2" name="Picture 1" descr="Image">
            <a:extLst>
              <a:ext uri="{FF2B5EF4-FFF2-40B4-BE49-F238E27FC236}">
                <a16:creationId xmlns:a16="http://schemas.microsoft.com/office/drawing/2014/main" id="{C1A490FF-8A2A-83A7-AC32-6B41CC53837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55795" y="1736708"/>
            <a:ext cx="5755640" cy="3539490"/>
          </a:xfrm>
          <a:prstGeom prst="rect">
            <a:avLst/>
          </a:prstGeom>
          <a:noFill/>
          <a:ln>
            <a:solidFill>
              <a:schemeClr val="bg2"/>
            </a:solidFill>
          </a:ln>
        </p:spPr>
      </p:pic>
      <p:grpSp>
        <p:nvGrpSpPr>
          <p:cNvPr id="119" name="Group 118">
            <a:extLst>
              <a:ext uri="{FF2B5EF4-FFF2-40B4-BE49-F238E27FC236}">
                <a16:creationId xmlns:a16="http://schemas.microsoft.com/office/drawing/2014/main" id="{1026AE98-1129-4040-9C8E-2B5F998EA433}"/>
              </a:ext>
            </a:extLst>
          </p:cNvPr>
          <p:cNvGrpSpPr/>
          <p:nvPr/>
        </p:nvGrpSpPr>
        <p:grpSpPr>
          <a:xfrm>
            <a:off x="8594346" y="1512463"/>
            <a:ext cx="3338689" cy="4801815"/>
            <a:chOff x="6897871" y="1823990"/>
            <a:chExt cx="2243223" cy="5463146"/>
          </a:xfrm>
        </p:grpSpPr>
        <p:sp>
          <p:nvSpPr>
            <p:cNvPr id="120" name="Rounded Rectangle 81">
              <a:extLst>
                <a:ext uri="{FF2B5EF4-FFF2-40B4-BE49-F238E27FC236}">
                  <a16:creationId xmlns:a16="http://schemas.microsoft.com/office/drawing/2014/main" id="{FCF0C6D8-69FB-4DFB-8AE2-95D54023888E}"/>
                </a:ext>
              </a:extLst>
            </p:cNvPr>
            <p:cNvSpPr/>
            <p:nvPr/>
          </p:nvSpPr>
          <p:spPr>
            <a:xfrm>
              <a:off x="6897871" y="1823990"/>
              <a:ext cx="2243223" cy="5463146"/>
            </a:xfrm>
            <a:prstGeom prst="roundRect">
              <a:avLst>
                <a:gd name="adj" fmla="val 5064"/>
              </a:avLst>
            </a:prstGeom>
            <a:solidFill>
              <a:srgbClr val="9DD4CF">
                <a:alpha val="50000"/>
              </a:srgbClr>
            </a:solidFill>
            <a:ln w="3175" cap="flat" cmpd="sng" algn="ctr">
              <a:solidFill>
                <a:srgbClr val="53565A">
                  <a:lumMod val="25000"/>
                  <a:lumOff val="75000"/>
                </a:srgbClr>
              </a:solidFill>
              <a:prstDash val="solid"/>
            </a:ln>
            <a:effectLst/>
          </p:spPr>
          <p:txBody>
            <a:bodyPr lIns="66839" tIns="33419" rIns="66839" bIns="33419"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white"/>
                </a:solidFill>
                <a:effectLst/>
                <a:uLnTx/>
                <a:uFillTx/>
                <a:latin typeface="+mj-lt"/>
                <a:ea typeface="Verdana" panose="020B0604030504040204" pitchFamily="34" charset="0"/>
                <a:cs typeface="Calibri" panose="020F0502020204030204" pitchFamily="34" charset="0"/>
              </a:endParaRPr>
            </a:p>
          </p:txBody>
        </p:sp>
        <p:sp>
          <p:nvSpPr>
            <p:cNvPr id="121" name="TextBox 288">
              <a:extLst>
                <a:ext uri="{FF2B5EF4-FFF2-40B4-BE49-F238E27FC236}">
                  <a16:creationId xmlns:a16="http://schemas.microsoft.com/office/drawing/2014/main" id="{29A5BBAA-85EB-44B8-8E48-14AB8DBCCF6A}"/>
                </a:ext>
              </a:extLst>
            </p:cNvPr>
            <p:cNvSpPr txBox="1">
              <a:spLocks noChangeArrowheads="1"/>
            </p:cNvSpPr>
            <p:nvPr/>
          </p:nvSpPr>
          <p:spPr bwMode="auto">
            <a:xfrm>
              <a:off x="6955407" y="1923350"/>
              <a:ext cx="2136940" cy="700330"/>
            </a:xfrm>
            <a:prstGeom prst="rect">
              <a:avLst/>
            </a:prstGeom>
            <a:noFill/>
            <a:ln w="9525">
              <a:noFill/>
              <a:miter lim="800000"/>
              <a:headEnd/>
              <a:tailEnd/>
            </a:ln>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rPr>
                <a:t>North America</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rPr>
                <a:t>131 offices 2 countries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rPr>
                <a:t>Key offices: </a:t>
              </a:r>
              <a:r>
                <a:rPr kumimoji="0" lang="en-US" sz="1000" b="0" i="0" u="none" strike="noStrike" kern="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rPr>
                <a:t>New York, San Francisco, Los Angeles, Denver, Toronto, Montreal</a:t>
              </a:r>
            </a:p>
          </p:txBody>
        </p:sp>
        <p:sp>
          <p:nvSpPr>
            <p:cNvPr id="122" name="TextBox 289">
              <a:extLst>
                <a:ext uri="{FF2B5EF4-FFF2-40B4-BE49-F238E27FC236}">
                  <a16:creationId xmlns:a16="http://schemas.microsoft.com/office/drawing/2014/main" id="{01BBA3E3-D19F-454C-A61A-4121B682D48B}"/>
                </a:ext>
              </a:extLst>
            </p:cNvPr>
            <p:cNvSpPr txBox="1">
              <a:spLocks noChangeArrowheads="1"/>
            </p:cNvSpPr>
            <p:nvPr/>
          </p:nvSpPr>
          <p:spPr bwMode="auto">
            <a:xfrm>
              <a:off x="6955829" y="2836160"/>
              <a:ext cx="2136940" cy="700330"/>
            </a:xfrm>
            <a:prstGeom prst="rect">
              <a:avLst/>
            </a:prstGeom>
            <a:noFill/>
            <a:ln w="9525">
              <a:noFill/>
              <a:miter lim="800000"/>
              <a:headEnd/>
              <a:tailEnd/>
            </a:ln>
          </p:spPr>
          <p:txBody>
            <a:bodyPr wrap="square" lIns="0" tIns="0" rIns="0" bIns="0">
              <a:spAutoFit/>
            </a:bodyPr>
            <a:lstStyle>
              <a:defPPr>
                <a:defRPr lang="en-US"/>
              </a:defPPr>
              <a:lvl1pPr>
                <a:defRPr sz="800" b="0">
                  <a:solidFill>
                    <a:schemeClr val="tx2"/>
                  </a:solidFill>
                </a:defRPr>
              </a:lvl1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rPr>
                <a:t>South America </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rPr>
                <a:t>69 offices in 28 countries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rPr>
                <a:t>Key offices: </a:t>
              </a:r>
              <a:r>
                <a:rPr kumimoji="0" lang="en-US" sz="1000" b="0" i="0" u="none" strike="noStrike" kern="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rPr>
                <a:t>Sao Paulo, Mexico City, Buenos Aires, Santiago, Caracas</a:t>
              </a:r>
            </a:p>
          </p:txBody>
        </p:sp>
        <p:sp>
          <p:nvSpPr>
            <p:cNvPr id="123" name="TextBox 290">
              <a:extLst>
                <a:ext uri="{FF2B5EF4-FFF2-40B4-BE49-F238E27FC236}">
                  <a16:creationId xmlns:a16="http://schemas.microsoft.com/office/drawing/2014/main" id="{549AF42D-9D19-4D2E-A978-6286F8B0A48F}"/>
                </a:ext>
              </a:extLst>
            </p:cNvPr>
            <p:cNvSpPr txBox="1">
              <a:spLocks noChangeArrowheads="1"/>
            </p:cNvSpPr>
            <p:nvPr/>
          </p:nvSpPr>
          <p:spPr bwMode="auto">
            <a:xfrm>
              <a:off x="6955830" y="4650770"/>
              <a:ext cx="2136940" cy="700330"/>
            </a:xfrm>
            <a:prstGeom prst="rect">
              <a:avLst/>
            </a:prstGeom>
            <a:noFill/>
            <a:ln w="9525">
              <a:noFill/>
              <a:miter lim="800000"/>
              <a:headEnd/>
              <a:tailEnd/>
            </a:ln>
          </p:spPr>
          <p:txBody>
            <a:bodyPr wrap="square" lIns="0" tIns="0" rIns="0" bIns="0">
              <a:spAutoFit/>
            </a:bodyPr>
            <a:lstStyle>
              <a:defPPr>
                <a:defRPr lang="en-US"/>
              </a:defPPr>
              <a:lvl1pPr>
                <a:defRPr sz="800" b="0">
                  <a:solidFill>
                    <a:schemeClr val="tx2"/>
                  </a:solidFill>
                </a:defRPr>
              </a:lvl1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rPr>
                <a:t>Africa &amp; Middle East</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rPr>
                <a:t>46 offices in 35 countries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rPr>
                <a:t>Key offices: </a:t>
              </a:r>
              <a:r>
                <a:rPr kumimoji="0" lang="en-US" sz="1000" b="0" i="0" u="none" strike="noStrike" kern="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rPr>
                <a:t>Johannesburg, Cape Town, Kenya, Tel Aviv</a:t>
              </a:r>
            </a:p>
          </p:txBody>
        </p:sp>
        <p:sp>
          <p:nvSpPr>
            <p:cNvPr id="124" name="TextBox 291">
              <a:extLst>
                <a:ext uri="{FF2B5EF4-FFF2-40B4-BE49-F238E27FC236}">
                  <a16:creationId xmlns:a16="http://schemas.microsoft.com/office/drawing/2014/main" id="{9703661B-C36C-49C8-A587-1ED9A6A6D60C}"/>
                </a:ext>
              </a:extLst>
            </p:cNvPr>
            <p:cNvSpPr txBox="1">
              <a:spLocks noChangeArrowheads="1"/>
            </p:cNvSpPr>
            <p:nvPr/>
          </p:nvSpPr>
          <p:spPr bwMode="auto">
            <a:xfrm>
              <a:off x="6957641" y="6331951"/>
              <a:ext cx="2136940" cy="875412"/>
            </a:xfrm>
            <a:prstGeom prst="rect">
              <a:avLst/>
            </a:prstGeom>
            <a:noFill/>
            <a:ln w="9525">
              <a:noFill/>
              <a:miter lim="800000"/>
              <a:headEnd/>
              <a:tailEnd/>
            </a:ln>
          </p:spPr>
          <p:txBody>
            <a:bodyPr wrap="square" lIns="0" tIns="0" rIns="0" bIns="0">
              <a:spAutoFit/>
            </a:bodyPr>
            <a:lstStyle>
              <a:defPPr>
                <a:defRPr lang="en-US"/>
              </a:defPPr>
              <a:lvl1pPr>
                <a:defRPr sz="800" b="0">
                  <a:solidFill>
                    <a:schemeClr val="tx2"/>
                  </a:solidFill>
                </a:defRPr>
              </a:lvl1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rPr>
                <a:t>India</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rPr>
                <a:t>30,000+ professionals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rPr>
                <a:t>14 offices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rPr>
                <a:t>Key offices: </a:t>
              </a:r>
              <a:r>
                <a:rPr kumimoji="0" lang="en-US" sz="1000" b="0" i="0" u="none" strike="noStrike" kern="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rPr>
                <a:t>Mumbai, Delhi, Hyderabad, Bengaluru</a:t>
              </a:r>
            </a:p>
          </p:txBody>
        </p:sp>
        <p:sp>
          <p:nvSpPr>
            <p:cNvPr id="125" name="TextBox 292">
              <a:extLst>
                <a:ext uri="{FF2B5EF4-FFF2-40B4-BE49-F238E27FC236}">
                  <a16:creationId xmlns:a16="http://schemas.microsoft.com/office/drawing/2014/main" id="{B526A64D-DDC9-4FAE-B1D0-4C5400466A3E}"/>
                </a:ext>
              </a:extLst>
            </p:cNvPr>
            <p:cNvSpPr txBox="1">
              <a:spLocks noChangeArrowheads="1"/>
            </p:cNvSpPr>
            <p:nvPr/>
          </p:nvSpPr>
          <p:spPr bwMode="auto">
            <a:xfrm>
              <a:off x="6955829" y="5478172"/>
              <a:ext cx="2136940" cy="700330"/>
            </a:xfrm>
            <a:prstGeom prst="rect">
              <a:avLst/>
            </a:prstGeom>
            <a:noFill/>
            <a:ln w="9525">
              <a:noFill/>
              <a:miter lim="800000"/>
              <a:headEnd/>
              <a:tailEnd/>
            </a:ln>
          </p:spPr>
          <p:txBody>
            <a:bodyPr wrap="square" lIns="0" tIns="0" rIns="0" bIns="0">
              <a:spAutoFit/>
            </a:bodyPr>
            <a:lstStyle>
              <a:defPPr>
                <a:defRPr lang="en-US"/>
              </a:defPPr>
              <a:lvl1pPr>
                <a:defRPr sz="800" b="0">
                  <a:solidFill>
                    <a:schemeClr val="tx2"/>
                  </a:solidFill>
                </a:defRPr>
              </a:lvl1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rPr>
                <a:t>Asia Pacific</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rPr>
                <a:t>113 offices in 26 countries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rPr>
                <a:t>Key offices: India, </a:t>
              </a:r>
              <a:r>
                <a:rPr kumimoji="0" lang="en-US" sz="1000" b="0" i="0" u="none" strike="noStrike" kern="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rPr>
                <a:t>Pakistan, Singapore, Thailand, Vietnam, Indonesia</a:t>
              </a:r>
            </a:p>
          </p:txBody>
        </p:sp>
        <p:sp>
          <p:nvSpPr>
            <p:cNvPr id="126" name="TextBox 290">
              <a:extLst>
                <a:ext uri="{FF2B5EF4-FFF2-40B4-BE49-F238E27FC236}">
                  <a16:creationId xmlns:a16="http://schemas.microsoft.com/office/drawing/2014/main" id="{84BA1D88-8085-4801-AEEB-4074B83BFD48}"/>
                </a:ext>
              </a:extLst>
            </p:cNvPr>
            <p:cNvSpPr txBox="1">
              <a:spLocks noChangeArrowheads="1"/>
            </p:cNvSpPr>
            <p:nvPr/>
          </p:nvSpPr>
          <p:spPr bwMode="auto">
            <a:xfrm>
              <a:off x="6955797" y="3722676"/>
              <a:ext cx="2136940" cy="700330"/>
            </a:xfrm>
            <a:prstGeom prst="rect">
              <a:avLst/>
            </a:prstGeom>
            <a:noFill/>
            <a:ln w="9525">
              <a:noFill/>
              <a:miter lim="800000"/>
              <a:headEnd/>
              <a:tailEnd/>
            </a:ln>
          </p:spPr>
          <p:txBody>
            <a:bodyPr wrap="square" lIns="0" tIns="0" rIns="0" bIns="0">
              <a:spAutoFit/>
            </a:bodyPr>
            <a:lstStyle>
              <a:defPPr>
                <a:defRPr lang="en-US"/>
              </a:defPPr>
              <a:lvl1pPr>
                <a:defRPr sz="800">
                  <a:solidFill>
                    <a:schemeClr val="tx2"/>
                  </a:solidFill>
                </a:defRPr>
              </a:lvl1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rPr>
                <a:t>Europe</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rPr>
                <a:t>297 offices in 47 countries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rPr>
                <a:t>Key offices:</a:t>
              </a:r>
              <a:r>
                <a:rPr kumimoji="0" lang="en-US" sz="1000" b="0" i="0" u="none" strike="noStrike" kern="0" cap="none" spc="0" normalizeH="0" baseline="0" noProof="0">
                  <a:ln>
                    <a:noFill/>
                  </a:ln>
                  <a:solidFill>
                    <a:prstClr val="black"/>
                  </a:solidFill>
                  <a:effectLst/>
                  <a:uLnTx/>
                  <a:uFillTx/>
                  <a:latin typeface="+mj-lt"/>
                  <a:ea typeface="Verdana" panose="020B0604030504040204" pitchFamily="34" charset="0"/>
                  <a:cs typeface="Calibri" panose="020F0502020204030204" pitchFamily="34" charset="0"/>
                </a:rPr>
                <a:t> London, Frankfurt, Paris, Rome, Dusseldorf, Madrid, Moscow, Prague</a:t>
              </a:r>
            </a:p>
          </p:txBody>
        </p:sp>
        <p:cxnSp>
          <p:nvCxnSpPr>
            <p:cNvPr id="127" name="Straight Connector 126">
              <a:extLst>
                <a:ext uri="{FF2B5EF4-FFF2-40B4-BE49-F238E27FC236}">
                  <a16:creationId xmlns:a16="http://schemas.microsoft.com/office/drawing/2014/main" id="{493ABE7B-ED4D-484E-90C3-FFB587D592F6}"/>
                </a:ext>
              </a:extLst>
            </p:cNvPr>
            <p:cNvCxnSpPr/>
            <p:nvPr/>
          </p:nvCxnSpPr>
          <p:spPr>
            <a:xfrm>
              <a:off x="6918602" y="2803156"/>
              <a:ext cx="2003603" cy="0"/>
            </a:xfrm>
            <a:prstGeom prst="line">
              <a:avLst/>
            </a:prstGeom>
            <a:noFill/>
            <a:ln w="9525" cap="flat" cmpd="sng" algn="ctr">
              <a:solidFill>
                <a:srgbClr val="53565A">
                  <a:lumMod val="25000"/>
                  <a:lumOff val="75000"/>
                </a:srgbClr>
              </a:solidFill>
              <a:prstDash val="dash"/>
            </a:ln>
            <a:effectLst/>
          </p:spPr>
        </p:cxnSp>
        <p:cxnSp>
          <p:nvCxnSpPr>
            <p:cNvPr id="128" name="Straight Connector 127">
              <a:extLst>
                <a:ext uri="{FF2B5EF4-FFF2-40B4-BE49-F238E27FC236}">
                  <a16:creationId xmlns:a16="http://schemas.microsoft.com/office/drawing/2014/main" id="{33124DE1-486A-4259-9AE7-8EA0836B3B1B}"/>
                </a:ext>
              </a:extLst>
            </p:cNvPr>
            <p:cNvCxnSpPr/>
            <p:nvPr/>
          </p:nvCxnSpPr>
          <p:spPr>
            <a:xfrm>
              <a:off x="6926734" y="3696714"/>
              <a:ext cx="2003603" cy="0"/>
            </a:xfrm>
            <a:prstGeom prst="line">
              <a:avLst/>
            </a:prstGeom>
            <a:noFill/>
            <a:ln w="9525" cap="flat" cmpd="sng" algn="ctr">
              <a:solidFill>
                <a:srgbClr val="53565A">
                  <a:lumMod val="25000"/>
                  <a:lumOff val="75000"/>
                </a:srgbClr>
              </a:solidFill>
              <a:prstDash val="dash"/>
            </a:ln>
            <a:effectLst/>
          </p:spPr>
        </p:cxnSp>
        <p:cxnSp>
          <p:nvCxnSpPr>
            <p:cNvPr id="129" name="Straight Connector 128">
              <a:extLst>
                <a:ext uri="{FF2B5EF4-FFF2-40B4-BE49-F238E27FC236}">
                  <a16:creationId xmlns:a16="http://schemas.microsoft.com/office/drawing/2014/main" id="{5EB507B2-29A4-42FC-A548-B936618C63E0}"/>
                </a:ext>
              </a:extLst>
            </p:cNvPr>
            <p:cNvCxnSpPr/>
            <p:nvPr/>
          </p:nvCxnSpPr>
          <p:spPr>
            <a:xfrm>
              <a:off x="6926734" y="4603338"/>
              <a:ext cx="2003603" cy="0"/>
            </a:xfrm>
            <a:prstGeom prst="line">
              <a:avLst/>
            </a:prstGeom>
            <a:noFill/>
            <a:ln w="9525" cap="flat" cmpd="sng" algn="ctr">
              <a:solidFill>
                <a:srgbClr val="53565A">
                  <a:lumMod val="25000"/>
                  <a:lumOff val="75000"/>
                </a:srgbClr>
              </a:solidFill>
              <a:prstDash val="dash"/>
            </a:ln>
            <a:effectLst/>
          </p:spPr>
        </p:cxnSp>
        <p:cxnSp>
          <p:nvCxnSpPr>
            <p:cNvPr id="130" name="Straight Connector 129">
              <a:extLst>
                <a:ext uri="{FF2B5EF4-FFF2-40B4-BE49-F238E27FC236}">
                  <a16:creationId xmlns:a16="http://schemas.microsoft.com/office/drawing/2014/main" id="{38FE639C-E71F-4A53-8FA0-8E5F3EF1D7B4}"/>
                </a:ext>
              </a:extLst>
            </p:cNvPr>
            <p:cNvCxnSpPr/>
            <p:nvPr/>
          </p:nvCxnSpPr>
          <p:spPr>
            <a:xfrm>
              <a:off x="6955405" y="5363106"/>
              <a:ext cx="2003603" cy="0"/>
            </a:xfrm>
            <a:prstGeom prst="line">
              <a:avLst/>
            </a:prstGeom>
            <a:noFill/>
            <a:ln w="9525" cap="flat" cmpd="sng" algn="ctr">
              <a:solidFill>
                <a:srgbClr val="53565A">
                  <a:lumMod val="25000"/>
                  <a:lumOff val="75000"/>
                </a:srgbClr>
              </a:solidFill>
              <a:prstDash val="dash"/>
            </a:ln>
            <a:effectLst/>
          </p:spPr>
        </p:cxnSp>
        <p:cxnSp>
          <p:nvCxnSpPr>
            <p:cNvPr id="131" name="Straight Connector 130">
              <a:extLst>
                <a:ext uri="{FF2B5EF4-FFF2-40B4-BE49-F238E27FC236}">
                  <a16:creationId xmlns:a16="http://schemas.microsoft.com/office/drawing/2014/main" id="{1574BBE2-C36F-4962-AD63-5030E3233831}"/>
                </a:ext>
              </a:extLst>
            </p:cNvPr>
            <p:cNvCxnSpPr/>
            <p:nvPr/>
          </p:nvCxnSpPr>
          <p:spPr>
            <a:xfrm>
              <a:off x="6971793" y="6272377"/>
              <a:ext cx="2003603" cy="0"/>
            </a:xfrm>
            <a:prstGeom prst="line">
              <a:avLst/>
            </a:prstGeom>
            <a:noFill/>
            <a:ln w="9525" cap="flat" cmpd="sng" algn="ctr">
              <a:solidFill>
                <a:srgbClr val="53565A">
                  <a:lumMod val="25000"/>
                  <a:lumOff val="75000"/>
                </a:srgbClr>
              </a:solidFill>
              <a:prstDash val="dash"/>
            </a:ln>
            <a:effectLst/>
          </p:spPr>
        </p:cxnSp>
      </p:grpSp>
    </p:spTree>
    <p:extLst>
      <p:ext uri="{BB962C8B-B14F-4D97-AF65-F5344CB8AC3E}">
        <p14:creationId xmlns:p14="http://schemas.microsoft.com/office/powerpoint/2010/main" val="115404759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Text Placeholder 1">
            <a:extLst>
              <a:ext uri="{FF2B5EF4-FFF2-40B4-BE49-F238E27FC236}">
                <a16:creationId xmlns:a16="http://schemas.microsoft.com/office/drawing/2014/main" id="{28DEACAA-CD18-44D3-A48E-8C76BAFEF090}"/>
              </a:ext>
            </a:extLst>
          </p:cNvPr>
          <p:cNvSpPr>
            <a:spLocks noGrp="1"/>
          </p:cNvSpPr>
          <p:nvPr>
            <p:ph type="body" sz="quarter" idx="13"/>
          </p:nvPr>
        </p:nvSpPr>
        <p:spPr>
          <a:xfrm>
            <a:off x="437752" y="532879"/>
            <a:ext cx="11188700" cy="757255"/>
          </a:xfrm>
        </p:spPr>
        <p:txBody>
          <a:bodyPr/>
          <a:lstStyle/>
          <a:p>
            <a:r>
              <a:rPr lang="en-US" sz="1400">
                <a:latin typeface="+mj-lt"/>
              </a:rPr>
              <a:t>Deloitte India is one of the leading professional services firms with a rich heritage of serving the best-in-class clients in India</a:t>
            </a:r>
          </a:p>
          <a:p>
            <a:endParaRPr lang="en-US" sz="1400">
              <a:latin typeface="+mj-lt"/>
            </a:endParaRPr>
          </a:p>
        </p:txBody>
      </p:sp>
      <p:sp>
        <p:nvSpPr>
          <p:cNvPr id="690" name="TextBox 689">
            <a:extLst>
              <a:ext uri="{FF2B5EF4-FFF2-40B4-BE49-F238E27FC236}">
                <a16:creationId xmlns:a16="http://schemas.microsoft.com/office/drawing/2014/main" id="{4112600F-BBAD-406D-AA0A-4DA44B4BE5B9}"/>
              </a:ext>
            </a:extLst>
          </p:cNvPr>
          <p:cNvSpPr txBox="1"/>
          <p:nvPr/>
        </p:nvSpPr>
        <p:spPr>
          <a:xfrm>
            <a:off x="333466" y="826438"/>
            <a:ext cx="3666005" cy="606319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a:ln>
                  <a:noFill/>
                </a:ln>
                <a:solidFill>
                  <a:srgbClr val="313131"/>
                </a:solidFill>
                <a:effectLst/>
                <a:uLnTx/>
                <a:uFillTx/>
                <a:latin typeface="Calibri" panose="020F0502020204030204" pitchFamily="34" charset="0"/>
                <a:cs typeface="Calibri" panose="020F0502020204030204" pitchFamily="34" charset="0"/>
              </a:rPr>
              <a:t>Deloitte in India</a:t>
            </a:r>
          </a:p>
          <a:p>
            <a:pPr marL="0" marR="0" lvl="0" indent="0" algn="just" defTabSz="914400" rtl="0" eaLnBrk="1" fontAlgn="auto" latinLnBrk="0" hangingPunct="1">
              <a:lnSpc>
                <a:spcPct val="100000"/>
              </a:lnSpc>
              <a:spcBef>
                <a:spcPts val="600"/>
              </a:spcBef>
              <a:spcAft>
                <a:spcPts val="0"/>
              </a:spcAft>
              <a:buClrTx/>
              <a:buSzPct val="100000"/>
              <a:buFontTx/>
              <a:buNone/>
              <a:tabLst/>
              <a:defRPr/>
            </a:pPr>
            <a:r>
              <a:rPr kumimoji="0" lang="en-US" sz="1200" b="0" i="0" u="none" strike="noStrike" kern="1200" cap="none" spc="0" normalizeH="0" baseline="0" noProof="0">
                <a:ln>
                  <a:noFill/>
                </a:ln>
                <a:solidFill>
                  <a:srgbClr val="313131"/>
                </a:solidFill>
                <a:effectLst/>
                <a:uLnTx/>
                <a:uFillTx/>
                <a:latin typeface="Calibri" panose="020F0502020204030204" pitchFamily="34" charset="0"/>
                <a:cs typeface="Calibri" panose="020F0502020204030204" pitchFamily="34" charset="0"/>
              </a:rPr>
              <a:t>Deloitte has been present in the Indian sub-continent since 1893 through its network firm A.F. Ferguson and constitutes a large and important part of the global Deloitte network. Deloitte Touche Tohmatsu India LLP (DTTILLP) provides Research, Strategy &amp; Consulting, Risk Advisory, Assurance, Tax and Financial Advisory services, supported by more than 36,000 professionals across 15 cities in India.</a:t>
            </a:r>
          </a:p>
          <a:p>
            <a:pPr marL="0" marR="0" lvl="0" indent="0" algn="just" defTabSz="914400" rtl="0" eaLnBrk="1" fontAlgn="auto" latinLnBrk="0" hangingPunct="1">
              <a:lnSpc>
                <a:spcPct val="100000"/>
              </a:lnSpc>
              <a:spcBef>
                <a:spcPts val="600"/>
              </a:spcBef>
              <a:spcAft>
                <a:spcPts val="0"/>
              </a:spcAft>
              <a:buClrTx/>
              <a:buSzPct val="100000"/>
              <a:buFontTx/>
              <a:buNone/>
              <a:tabLst/>
              <a:defRPr/>
            </a:pPr>
            <a:r>
              <a:rPr kumimoji="0" lang="en-US" sz="1200" b="0" i="0" u="none" strike="noStrike" kern="1200" cap="none" spc="0" normalizeH="0" baseline="0" noProof="0">
                <a:ln>
                  <a:noFill/>
                </a:ln>
                <a:solidFill>
                  <a:srgbClr val="313131"/>
                </a:solidFill>
                <a:effectLst/>
                <a:uLnTx/>
                <a:uFillTx/>
                <a:latin typeface="Calibri" panose="020F0502020204030204" pitchFamily="34" charset="0"/>
                <a:cs typeface="Calibri" panose="020F0502020204030204" pitchFamily="34" charset="0"/>
              </a:rPr>
              <a:t>Deloitte’s PF practice has more than 30 years of experience supporting national, sub-national and local governments, international funding agencies and government organizations across public finance, state finances, fiscal policy and public financial management. Our experience includes expenditure management, subsidy assessment, fiscal sustainability, revenue augmentation, debt management and FMIS, as well as policy research, fiscal and economic assessments, stakeholder consultations, benchmarking, analytical frameworks and evidence-based policy recommendations.</a:t>
            </a:r>
          </a:p>
          <a:p>
            <a:pPr marL="0" marR="0" lvl="0" indent="0" algn="just" defTabSz="914400" rtl="0" eaLnBrk="1" fontAlgn="auto" latinLnBrk="0" hangingPunct="1">
              <a:lnSpc>
                <a:spcPct val="100000"/>
              </a:lnSpc>
              <a:spcBef>
                <a:spcPts val="600"/>
              </a:spcBef>
              <a:spcAft>
                <a:spcPts val="0"/>
              </a:spcAft>
              <a:buClrTx/>
              <a:buSzPct val="100000"/>
              <a:buFontTx/>
              <a:buNone/>
              <a:tabLst/>
              <a:defRPr/>
            </a:pPr>
            <a:r>
              <a:rPr kumimoji="0" lang="en-US" sz="1200" b="0" i="0" u="none" strike="noStrike" kern="1200" cap="none" spc="0" normalizeH="0" baseline="0" noProof="0">
                <a:ln>
                  <a:noFill/>
                </a:ln>
                <a:solidFill>
                  <a:srgbClr val="313131"/>
                </a:solidFill>
                <a:effectLst/>
                <a:uLnTx/>
                <a:uFillTx/>
                <a:latin typeface="Calibri" panose="020F0502020204030204" pitchFamily="34" charset="0"/>
                <a:cs typeface="Calibri" panose="020F0502020204030204" pitchFamily="34" charset="0"/>
              </a:rPr>
              <a:t>Our global client experience includes the World Bank, Asian Development Bank, United Nations, USAID, European Union, EBRD, African Development Bank, Austrian Development Agency and Inter-American Development Bank, providing a strong combination of global insights and local expertise.</a:t>
            </a:r>
          </a:p>
          <a:p>
            <a:pPr marL="0" marR="0" lvl="0" indent="0" algn="just" defTabSz="914400" rtl="0" eaLnBrk="1" fontAlgn="auto" latinLnBrk="0" hangingPunct="1">
              <a:lnSpc>
                <a:spcPct val="100000"/>
              </a:lnSpc>
              <a:spcBef>
                <a:spcPts val="600"/>
              </a:spcBef>
              <a:spcAft>
                <a:spcPts val="0"/>
              </a:spcAft>
              <a:buClrTx/>
              <a:buSzPct val="100000"/>
              <a:buFontTx/>
              <a:buNone/>
              <a:tabLst/>
              <a:defRPr/>
            </a:pPr>
            <a:r>
              <a:rPr kumimoji="0" lang="en-US" sz="1200" b="0" i="0" u="none" strike="noStrike" kern="1200" cap="none" spc="0" normalizeH="0" baseline="0" noProof="0">
                <a:ln>
                  <a:noFill/>
                </a:ln>
                <a:solidFill>
                  <a:srgbClr val="313131"/>
                </a:solidFill>
                <a:effectLst/>
                <a:uLnTx/>
                <a:uFillTx/>
                <a:latin typeface="Calibri" panose="020F0502020204030204" pitchFamily="34" charset="0"/>
                <a:cs typeface="Calibri" panose="020F0502020204030204" pitchFamily="34" charset="0"/>
              </a:rPr>
              <a:t>We deliver high-quality, evidence-based and implementation-oriented solutions for complex public finance, policy research and government reform assignments.</a:t>
            </a:r>
          </a:p>
        </p:txBody>
      </p:sp>
      <p:sp>
        <p:nvSpPr>
          <p:cNvPr id="2" name="Title 2">
            <a:extLst>
              <a:ext uri="{FF2B5EF4-FFF2-40B4-BE49-F238E27FC236}">
                <a16:creationId xmlns:a16="http://schemas.microsoft.com/office/drawing/2014/main" id="{654C0316-805B-60FD-53F3-E693DF8C64F1}"/>
              </a:ext>
            </a:extLst>
          </p:cNvPr>
          <p:cNvSpPr txBox="1">
            <a:spLocks/>
          </p:cNvSpPr>
          <p:nvPr/>
        </p:nvSpPr>
        <p:spPr>
          <a:xfrm>
            <a:off x="411118" y="213764"/>
            <a:ext cx="11369764" cy="243926"/>
          </a:xfrm>
        </p:spPr>
        <p:txBody>
          <a:bodyPr vert="horz" lIns="0" tIns="0" rIns="0" bIns="0" rtlCol="0" anchor="t" anchorCtr="0">
            <a:noAutofit/>
          </a:bodyPr>
          <a:lstStyle>
            <a:lvl1pPr algn="l" defTabSz="914400" rtl="0" eaLnBrk="1" latinLnBrk="0" hangingPunct="1">
              <a:spcBef>
                <a:spcPct val="0"/>
              </a:spcBef>
              <a:buNone/>
              <a:defRPr sz="2000" kern="1200">
                <a:solidFill>
                  <a:schemeClr val="tx1"/>
                </a:solidFill>
                <a:latin typeface="Calibri" panose="020F0502020204030204" pitchFamily="34" charset="0"/>
                <a:ea typeface="+mj-ea"/>
                <a:cs typeface="Calibri" panose="020F0502020204030204" pitchFamily="34" charset="0"/>
              </a:defRPr>
            </a:lvl1pPr>
          </a:lstStyle>
          <a:p>
            <a:r>
              <a:rPr lang="en-US" sz="1800" b="1">
                <a:latin typeface="+mj-lt"/>
              </a:rPr>
              <a:t>Technical and Managerial Capabilities of the firm</a:t>
            </a:r>
          </a:p>
        </p:txBody>
      </p:sp>
      <p:cxnSp>
        <p:nvCxnSpPr>
          <p:cNvPr id="4" name="Straight Arrow Connector 3">
            <a:extLst>
              <a:ext uri="{FF2B5EF4-FFF2-40B4-BE49-F238E27FC236}">
                <a16:creationId xmlns:a16="http://schemas.microsoft.com/office/drawing/2014/main" id="{EDDD2F8C-E79E-630B-00E9-DD2D2CC269E3}"/>
              </a:ext>
            </a:extLst>
          </p:cNvPr>
          <p:cNvCxnSpPr/>
          <p:nvPr/>
        </p:nvCxnSpPr>
        <p:spPr>
          <a:xfrm flipV="1">
            <a:off x="333467" y="826438"/>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3" name="Picture 2" descr="A screenshot of a computer&#10;&#10;AI-generated content may be incorrect.">
            <a:extLst>
              <a:ext uri="{FF2B5EF4-FFF2-40B4-BE49-F238E27FC236}">
                <a16:creationId xmlns:a16="http://schemas.microsoft.com/office/drawing/2014/main" id="{0712310E-0B25-230E-E6FF-7D265EAFC51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258833" y="1290134"/>
            <a:ext cx="7787652" cy="4587691"/>
          </a:xfrm>
          <a:prstGeom prst="rect">
            <a:avLst/>
          </a:prstGeom>
        </p:spPr>
      </p:pic>
    </p:spTree>
    <p:extLst>
      <p:ext uri="{BB962C8B-B14F-4D97-AF65-F5344CB8AC3E}">
        <p14:creationId xmlns:p14="http://schemas.microsoft.com/office/powerpoint/2010/main" val="23063688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8" name="Straight Arrow Connector 27">
            <a:extLst>
              <a:ext uri="{FF2B5EF4-FFF2-40B4-BE49-F238E27FC236}">
                <a16:creationId xmlns:a16="http://schemas.microsoft.com/office/drawing/2014/main" id="{81FD32A8-90CB-2667-D917-285D5E14A3AE}"/>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9A964E40-70CF-17D1-64CE-460EC7CA2D63}"/>
              </a:ext>
            </a:extLst>
          </p:cNvPr>
          <p:cNvSpPr/>
          <p:nvPr/>
        </p:nvSpPr>
        <p:spPr bwMode="gray">
          <a:xfrm>
            <a:off x="333466" y="121358"/>
            <a:ext cx="12004110"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Selected thought leadership on Public Finance : Deloitte India </a:t>
            </a:r>
          </a:p>
        </p:txBody>
      </p:sp>
      <p:pic>
        <p:nvPicPr>
          <p:cNvPr id="2" name="Picture 1" descr="A close-up of a graph&#10;&#10;AI-generated content may be incorrect.">
            <a:extLst>
              <a:ext uri="{FF2B5EF4-FFF2-40B4-BE49-F238E27FC236}">
                <a16:creationId xmlns:a16="http://schemas.microsoft.com/office/drawing/2014/main" id="{696D95BA-B2F9-4059-9D2D-7890C395491D}"/>
              </a:ext>
            </a:extLst>
          </p:cNvPr>
          <p:cNvPicPr>
            <a:picLocks noChangeAspect="1"/>
          </p:cNvPicPr>
          <p:nvPr/>
        </p:nvPicPr>
        <p:blipFill rotWithShape="1">
          <a:blip r:embed="rId2">
            <a:extLst>
              <a:ext uri="{28A0092B-C50C-407E-A947-70E740481C1C}">
                <a14:useLocalDpi xmlns:a14="http://schemas.microsoft.com/office/drawing/2010/main" val="0"/>
              </a:ext>
            </a:extLst>
          </a:blip>
          <a:srcRect r="5716"/>
          <a:stretch/>
        </p:blipFill>
        <p:spPr>
          <a:xfrm>
            <a:off x="639965" y="867623"/>
            <a:ext cx="10873162" cy="5430157"/>
          </a:xfrm>
          <a:prstGeom prst="rect">
            <a:avLst/>
          </a:prstGeom>
        </p:spPr>
      </p:pic>
    </p:spTree>
    <p:extLst>
      <p:ext uri="{BB962C8B-B14F-4D97-AF65-F5344CB8AC3E}">
        <p14:creationId xmlns:p14="http://schemas.microsoft.com/office/powerpoint/2010/main" val="2360340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A9E52CF-D718-1C3D-CF8E-F95746E26AEA}"/>
              </a:ext>
            </a:extLst>
          </p:cNvPr>
          <p:cNvSpPr/>
          <p:nvPr/>
        </p:nvSpPr>
        <p:spPr bwMode="gray">
          <a:xfrm>
            <a:off x="333466" y="121358"/>
            <a:ext cx="12004110"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Selected thought leadership on Public Finance : Deloitte India </a:t>
            </a:r>
          </a:p>
        </p:txBody>
      </p:sp>
      <p:cxnSp>
        <p:nvCxnSpPr>
          <p:cNvPr id="8" name="Straight Arrow Connector 7">
            <a:extLst>
              <a:ext uri="{FF2B5EF4-FFF2-40B4-BE49-F238E27FC236}">
                <a16:creationId xmlns:a16="http://schemas.microsoft.com/office/drawing/2014/main" id="{77FFDA4B-7FE9-6EF1-41DC-0F04A8800B13}"/>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3" name="Picture 2" descr="A screenshot of a computer&#10;&#10;AI-generated content may be incorrect.">
            <a:extLst>
              <a:ext uri="{FF2B5EF4-FFF2-40B4-BE49-F238E27FC236}">
                <a16:creationId xmlns:a16="http://schemas.microsoft.com/office/drawing/2014/main" id="{567F3956-71E3-919D-4630-CE7C012D35A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3466" y="491880"/>
            <a:ext cx="11401334" cy="6039963"/>
          </a:xfrm>
          <a:prstGeom prst="rect">
            <a:avLst/>
          </a:prstGeom>
          <a:noFill/>
          <a:ln>
            <a:noFill/>
          </a:ln>
        </p:spPr>
      </p:pic>
    </p:spTree>
    <p:extLst>
      <p:ext uri="{BB962C8B-B14F-4D97-AF65-F5344CB8AC3E}">
        <p14:creationId xmlns:p14="http://schemas.microsoft.com/office/powerpoint/2010/main" val="2418935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1B68A-F6CB-6765-F98B-AF487F9E701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49EB6CD-DCF3-76EB-9457-432A59D94511}"/>
              </a:ext>
            </a:extLst>
          </p:cNvPr>
          <p:cNvSpPr/>
          <p:nvPr/>
        </p:nvSpPr>
        <p:spPr bwMode="gray">
          <a:xfrm>
            <a:off x="333466" y="121358"/>
            <a:ext cx="12004110"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Selected thought leadership on Public Finance : Deloitte India </a:t>
            </a:r>
          </a:p>
        </p:txBody>
      </p:sp>
      <p:cxnSp>
        <p:nvCxnSpPr>
          <p:cNvPr id="8" name="Straight Arrow Connector 7">
            <a:extLst>
              <a:ext uri="{FF2B5EF4-FFF2-40B4-BE49-F238E27FC236}">
                <a16:creationId xmlns:a16="http://schemas.microsoft.com/office/drawing/2014/main" id="{FA7E3143-CC6D-53A5-6FDC-E1547090CA6A}"/>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4" name="Picture 3" descr="A close-up of a book&#10;&#10;AI-generated content may be incorrect.">
            <a:extLst>
              <a:ext uri="{FF2B5EF4-FFF2-40B4-BE49-F238E27FC236}">
                <a16:creationId xmlns:a16="http://schemas.microsoft.com/office/drawing/2014/main" id="{ACDC193D-0D44-CC16-C6E8-1F696AB194EC}"/>
              </a:ext>
            </a:extLst>
          </p:cNvPr>
          <p:cNvPicPr>
            <a:picLocks noChangeAspect="1"/>
          </p:cNvPicPr>
          <p:nvPr/>
        </p:nvPicPr>
        <p:blipFill>
          <a:blip r:embed="rId2">
            <a:extLst>
              <a:ext uri="{28A0092B-C50C-407E-A947-70E740481C1C}">
                <a14:useLocalDpi xmlns:a14="http://schemas.microsoft.com/office/drawing/2010/main" val="0"/>
              </a:ext>
            </a:extLst>
          </a:blip>
          <a:srcRect b="1746"/>
          <a:stretch>
            <a:fillRect/>
          </a:stretch>
        </p:blipFill>
        <p:spPr bwMode="auto">
          <a:xfrm>
            <a:off x="181066" y="628561"/>
            <a:ext cx="11795034" cy="5789296"/>
          </a:xfrm>
          <a:prstGeom prst="rect">
            <a:avLst/>
          </a:prstGeom>
          <a:noFill/>
          <a:ln>
            <a:noFill/>
          </a:ln>
        </p:spPr>
      </p:pic>
    </p:spTree>
    <p:extLst>
      <p:ext uri="{BB962C8B-B14F-4D97-AF65-F5344CB8AC3E}">
        <p14:creationId xmlns:p14="http://schemas.microsoft.com/office/powerpoint/2010/main" val="3125725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7" name="Object 6"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Chronicle Display Black" pitchFamily="50" charset="0"/>
              <a:ea typeface="+mn-ea"/>
              <a:cs typeface="+mn-cs"/>
              <a:sym typeface="Chronicle Display Black" pitchFamily="50" charset="0"/>
            </a:endParaRPr>
          </a:p>
        </p:txBody>
      </p:sp>
      <p:pic>
        <p:nvPicPr>
          <p:cNvPr id="33" name="Picture 32"/>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bwMode="gray">
          <a:xfrm>
            <a:off x="0" y="0"/>
            <a:ext cx="12192000" cy="6858000"/>
          </a:xfrm>
          <a:prstGeom prst="rect">
            <a:avLst/>
          </a:prstGeom>
        </p:spPr>
      </p:pic>
      <p:sp>
        <p:nvSpPr>
          <p:cNvPr id="34" name="Flowchart: Process 33"/>
          <p:cNvSpPr/>
          <p:nvPr/>
        </p:nvSpPr>
        <p:spPr bwMode="gray">
          <a:xfrm>
            <a:off x="1343139" y="1283297"/>
            <a:ext cx="9512456" cy="4332512"/>
          </a:xfrm>
          <a:prstGeom prst="flowChartProcess">
            <a:avLst/>
          </a:prstGeom>
          <a:solidFill>
            <a:schemeClr val="tx1">
              <a:alpha val="38000"/>
            </a:schemeClr>
          </a:solidFill>
          <a:ln w="19050" algn="ctr">
            <a:noFill/>
            <a:miter lim="800000"/>
            <a:headEnd/>
            <a:tailEnd/>
          </a:ln>
        </p:spPr>
        <p:txBody>
          <a:bodyPr wrap="square" lIns="1080000" tIns="88900" rIns="1080000" bIns="88900" rtlCol="0" anchor="ct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400" b="0" i="0" u="none" strike="noStrike" kern="1200" cap="none" spc="0" normalizeH="0" baseline="0" noProof="0">
                <a:ln>
                  <a:noFill/>
                </a:ln>
                <a:solidFill>
                  <a:srgbClr val="0097A9"/>
                </a:solidFill>
                <a:effectLst/>
                <a:uLnTx/>
                <a:uFillTx/>
                <a:latin typeface="Verdana" panose="020B0604030504040204" pitchFamily="34" charset="0"/>
                <a:ea typeface="Verdana" panose="020B0604030504040204" pitchFamily="34" charset="0"/>
                <a:cs typeface="Calibri" panose="020F0502020204030204" pitchFamily="34" charset="0"/>
              </a:rPr>
              <a:t>Information on </a:t>
            </a:r>
            <a:r>
              <a:rPr lang="en-US" sz="2400">
                <a:solidFill>
                  <a:srgbClr val="0097A9"/>
                </a:solidFill>
                <a:latin typeface="Verdana" panose="020B0604030504040204" pitchFamily="34" charset="0"/>
                <a:ea typeface="Verdana" panose="020B0604030504040204" pitchFamily="34" charset="0"/>
                <a:cs typeface="Calibri" panose="020F0502020204030204" pitchFamily="34" charset="0"/>
              </a:rPr>
              <a:t>the consultant’s core business and years in business </a:t>
            </a:r>
            <a:endParaRPr kumimoji="0" lang="en-US" sz="2400" b="0" i="0" u="none" strike="noStrike" kern="1200" cap="none" spc="0" normalizeH="0" baseline="0" noProof="0">
              <a:ln>
                <a:noFill/>
              </a:ln>
              <a:solidFill>
                <a:srgbClr val="0097A9"/>
              </a:solidFill>
              <a:effectLst/>
              <a:uLnTx/>
              <a:uFillTx/>
              <a:latin typeface="Verdana" panose="020B0604030504040204" pitchFamily="34" charset="0"/>
              <a:ea typeface="Verdana" panose="020B0604030504040204" pitchFamily="34" charset="0"/>
              <a:cs typeface="Calibri" panose="020F0502020204030204" pitchFamily="34" charset="0"/>
            </a:endParaRPr>
          </a:p>
        </p:txBody>
      </p:sp>
      <p:grpSp>
        <p:nvGrpSpPr>
          <p:cNvPr id="35" name="Group 541"/>
          <p:cNvGrpSpPr>
            <a:grpSpLocks noChangeAspect="1"/>
          </p:cNvGrpSpPr>
          <p:nvPr/>
        </p:nvGrpSpPr>
        <p:grpSpPr bwMode="gray">
          <a:xfrm>
            <a:off x="2043454" y="743296"/>
            <a:ext cx="1080000" cy="1080000"/>
            <a:chOff x="5326" y="2494"/>
            <a:chExt cx="340" cy="340"/>
          </a:xfrm>
          <a:solidFill>
            <a:srgbClr val="0097A9"/>
          </a:solidFill>
        </p:grpSpPr>
        <p:sp>
          <p:nvSpPr>
            <p:cNvPr id="36" name="Freeform 542"/>
            <p:cNvSpPr>
              <a:spLocks noEditPoints="1"/>
            </p:cNvSpPr>
            <p:nvPr/>
          </p:nvSpPr>
          <p:spPr bwMode="gray">
            <a:xfrm>
              <a:off x="5430" y="2558"/>
              <a:ext cx="132" cy="212"/>
            </a:xfrm>
            <a:custGeom>
              <a:avLst/>
              <a:gdLst>
                <a:gd name="T0" fmla="*/ 99 w 199"/>
                <a:gd name="T1" fmla="*/ 0 h 320"/>
                <a:gd name="T2" fmla="*/ 99 w 199"/>
                <a:gd name="T3" fmla="*/ 0 h 320"/>
                <a:gd name="T4" fmla="*/ 99 w 199"/>
                <a:gd name="T5" fmla="*/ 0 h 320"/>
                <a:gd name="T6" fmla="*/ 99 w 199"/>
                <a:gd name="T7" fmla="*/ 0 h 320"/>
                <a:gd name="T8" fmla="*/ 98 w 199"/>
                <a:gd name="T9" fmla="*/ 0 h 320"/>
                <a:gd name="T10" fmla="*/ 0 w 199"/>
                <a:gd name="T11" fmla="*/ 95 h 320"/>
                <a:gd name="T12" fmla="*/ 19 w 199"/>
                <a:gd name="T13" fmla="*/ 158 h 320"/>
                <a:gd name="T14" fmla="*/ 45 w 199"/>
                <a:gd name="T15" fmla="*/ 213 h 320"/>
                <a:gd name="T16" fmla="*/ 45 w 199"/>
                <a:gd name="T17" fmla="*/ 245 h 320"/>
                <a:gd name="T18" fmla="*/ 46 w 199"/>
                <a:gd name="T19" fmla="*/ 246 h 320"/>
                <a:gd name="T20" fmla="*/ 45 w 199"/>
                <a:gd name="T21" fmla="*/ 247 h 320"/>
                <a:gd name="T22" fmla="*/ 56 w 199"/>
                <a:gd name="T23" fmla="*/ 311 h 320"/>
                <a:gd name="T24" fmla="*/ 67 w 199"/>
                <a:gd name="T25" fmla="*/ 320 h 320"/>
                <a:gd name="T26" fmla="*/ 131 w 199"/>
                <a:gd name="T27" fmla="*/ 320 h 320"/>
                <a:gd name="T28" fmla="*/ 141 w 199"/>
                <a:gd name="T29" fmla="*/ 311 h 320"/>
                <a:gd name="T30" fmla="*/ 152 w 199"/>
                <a:gd name="T31" fmla="*/ 247 h 320"/>
                <a:gd name="T32" fmla="*/ 152 w 199"/>
                <a:gd name="T33" fmla="*/ 246 h 320"/>
                <a:gd name="T34" fmla="*/ 152 w 199"/>
                <a:gd name="T35" fmla="*/ 245 h 320"/>
                <a:gd name="T36" fmla="*/ 152 w 199"/>
                <a:gd name="T37" fmla="*/ 213 h 320"/>
                <a:gd name="T38" fmla="*/ 179 w 199"/>
                <a:gd name="T39" fmla="*/ 158 h 320"/>
                <a:gd name="T40" fmla="*/ 199 w 199"/>
                <a:gd name="T41" fmla="*/ 95 h 320"/>
                <a:gd name="T42" fmla="*/ 99 w 199"/>
                <a:gd name="T43" fmla="*/ 0 h 320"/>
                <a:gd name="T44" fmla="*/ 122 w 199"/>
                <a:gd name="T45" fmla="*/ 298 h 320"/>
                <a:gd name="T46" fmla="*/ 76 w 199"/>
                <a:gd name="T47" fmla="*/ 298 h 320"/>
                <a:gd name="T48" fmla="*/ 69 w 199"/>
                <a:gd name="T49" fmla="*/ 256 h 320"/>
                <a:gd name="T50" fmla="*/ 129 w 199"/>
                <a:gd name="T51" fmla="*/ 256 h 320"/>
                <a:gd name="T52" fmla="*/ 122 w 199"/>
                <a:gd name="T53" fmla="*/ 298 h 320"/>
                <a:gd name="T54" fmla="*/ 161 w 199"/>
                <a:gd name="T55" fmla="*/ 147 h 320"/>
                <a:gd name="T56" fmla="*/ 131 w 199"/>
                <a:gd name="T57" fmla="*/ 213 h 320"/>
                <a:gd name="T58" fmla="*/ 131 w 199"/>
                <a:gd name="T59" fmla="*/ 234 h 320"/>
                <a:gd name="T60" fmla="*/ 109 w 199"/>
                <a:gd name="T61" fmla="*/ 234 h 320"/>
                <a:gd name="T62" fmla="*/ 109 w 199"/>
                <a:gd name="T63" fmla="*/ 153 h 320"/>
                <a:gd name="T64" fmla="*/ 128 w 199"/>
                <a:gd name="T65" fmla="*/ 135 h 320"/>
                <a:gd name="T66" fmla="*/ 128 w 199"/>
                <a:gd name="T67" fmla="*/ 120 h 320"/>
                <a:gd name="T68" fmla="*/ 112 w 199"/>
                <a:gd name="T69" fmla="*/ 120 h 320"/>
                <a:gd name="T70" fmla="*/ 99 w 199"/>
                <a:gd name="T71" fmla="*/ 134 h 320"/>
                <a:gd name="T72" fmla="*/ 85 w 199"/>
                <a:gd name="T73" fmla="*/ 120 h 320"/>
                <a:gd name="T74" fmla="*/ 70 w 199"/>
                <a:gd name="T75" fmla="*/ 120 h 320"/>
                <a:gd name="T76" fmla="*/ 70 w 199"/>
                <a:gd name="T77" fmla="*/ 135 h 320"/>
                <a:gd name="T78" fmla="*/ 88 w 199"/>
                <a:gd name="T79" fmla="*/ 153 h 320"/>
                <a:gd name="T80" fmla="*/ 88 w 199"/>
                <a:gd name="T81" fmla="*/ 234 h 320"/>
                <a:gd name="T82" fmla="*/ 67 w 199"/>
                <a:gd name="T83" fmla="*/ 234 h 320"/>
                <a:gd name="T84" fmla="*/ 67 w 199"/>
                <a:gd name="T85" fmla="*/ 213 h 320"/>
                <a:gd name="T86" fmla="*/ 37 w 199"/>
                <a:gd name="T87" fmla="*/ 146 h 320"/>
                <a:gd name="T88" fmla="*/ 21 w 199"/>
                <a:gd name="T89" fmla="*/ 95 h 320"/>
                <a:gd name="T90" fmla="*/ 99 w 199"/>
                <a:gd name="T91" fmla="*/ 21 h 320"/>
                <a:gd name="T92" fmla="*/ 177 w 199"/>
                <a:gd name="T93" fmla="*/ 95 h 320"/>
                <a:gd name="T94" fmla="*/ 161 w 199"/>
                <a:gd name="T95" fmla="*/ 147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320">
                  <a:moveTo>
                    <a:pt x="99" y="0"/>
                  </a:moveTo>
                  <a:cubicBezTo>
                    <a:pt x="99" y="0"/>
                    <a:pt x="99" y="0"/>
                    <a:pt x="99" y="0"/>
                  </a:cubicBezTo>
                  <a:cubicBezTo>
                    <a:pt x="99" y="0"/>
                    <a:pt x="99" y="0"/>
                    <a:pt x="99" y="0"/>
                  </a:cubicBezTo>
                  <a:cubicBezTo>
                    <a:pt x="99" y="0"/>
                    <a:pt x="99" y="0"/>
                    <a:pt x="99" y="0"/>
                  </a:cubicBezTo>
                  <a:cubicBezTo>
                    <a:pt x="99" y="0"/>
                    <a:pt x="99" y="0"/>
                    <a:pt x="98" y="0"/>
                  </a:cubicBezTo>
                  <a:cubicBezTo>
                    <a:pt x="45" y="0"/>
                    <a:pt x="0" y="44"/>
                    <a:pt x="0" y="95"/>
                  </a:cubicBezTo>
                  <a:cubicBezTo>
                    <a:pt x="0" y="129"/>
                    <a:pt x="18" y="157"/>
                    <a:pt x="19" y="158"/>
                  </a:cubicBezTo>
                  <a:cubicBezTo>
                    <a:pt x="32" y="179"/>
                    <a:pt x="45" y="206"/>
                    <a:pt x="45" y="213"/>
                  </a:cubicBezTo>
                  <a:cubicBezTo>
                    <a:pt x="45" y="245"/>
                    <a:pt x="45" y="245"/>
                    <a:pt x="45" y="245"/>
                  </a:cubicBezTo>
                  <a:cubicBezTo>
                    <a:pt x="45" y="245"/>
                    <a:pt x="45" y="246"/>
                    <a:pt x="46" y="246"/>
                  </a:cubicBezTo>
                  <a:cubicBezTo>
                    <a:pt x="46" y="246"/>
                    <a:pt x="45" y="246"/>
                    <a:pt x="45" y="247"/>
                  </a:cubicBezTo>
                  <a:cubicBezTo>
                    <a:pt x="56" y="311"/>
                    <a:pt x="56" y="311"/>
                    <a:pt x="56" y="311"/>
                  </a:cubicBezTo>
                  <a:cubicBezTo>
                    <a:pt x="57" y="316"/>
                    <a:pt x="61" y="320"/>
                    <a:pt x="67" y="320"/>
                  </a:cubicBezTo>
                  <a:cubicBezTo>
                    <a:pt x="131" y="320"/>
                    <a:pt x="131" y="320"/>
                    <a:pt x="131" y="320"/>
                  </a:cubicBezTo>
                  <a:cubicBezTo>
                    <a:pt x="136" y="320"/>
                    <a:pt x="140" y="316"/>
                    <a:pt x="141" y="311"/>
                  </a:cubicBezTo>
                  <a:cubicBezTo>
                    <a:pt x="152" y="247"/>
                    <a:pt x="152" y="247"/>
                    <a:pt x="152" y="247"/>
                  </a:cubicBezTo>
                  <a:cubicBezTo>
                    <a:pt x="152" y="246"/>
                    <a:pt x="152" y="246"/>
                    <a:pt x="152" y="246"/>
                  </a:cubicBezTo>
                  <a:cubicBezTo>
                    <a:pt x="152" y="246"/>
                    <a:pt x="152" y="245"/>
                    <a:pt x="152" y="245"/>
                  </a:cubicBezTo>
                  <a:cubicBezTo>
                    <a:pt x="152" y="213"/>
                    <a:pt x="152" y="213"/>
                    <a:pt x="152" y="213"/>
                  </a:cubicBezTo>
                  <a:cubicBezTo>
                    <a:pt x="152" y="206"/>
                    <a:pt x="166" y="179"/>
                    <a:pt x="179" y="158"/>
                  </a:cubicBezTo>
                  <a:cubicBezTo>
                    <a:pt x="180" y="157"/>
                    <a:pt x="199" y="129"/>
                    <a:pt x="199" y="95"/>
                  </a:cubicBezTo>
                  <a:cubicBezTo>
                    <a:pt x="199" y="44"/>
                    <a:pt x="153" y="0"/>
                    <a:pt x="99" y="0"/>
                  </a:cubicBezTo>
                  <a:close/>
                  <a:moveTo>
                    <a:pt x="122" y="298"/>
                  </a:moveTo>
                  <a:cubicBezTo>
                    <a:pt x="76" y="298"/>
                    <a:pt x="76" y="298"/>
                    <a:pt x="76" y="298"/>
                  </a:cubicBezTo>
                  <a:cubicBezTo>
                    <a:pt x="69" y="256"/>
                    <a:pt x="69" y="256"/>
                    <a:pt x="69" y="256"/>
                  </a:cubicBezTo>
                  <a:cubicBezTo>
                    <a:pt x="129" y="256"/>
                    <a:pt x="129" y="256"/>
                    <a:pt x="129" y="256"/>
                  </a:cubicBezTo>
                  <a:lnTo>
                    <a:pt x="122" y="298"/>
                  </a:lnTo>
                  <a:close/>
                  <a:moveTo>
                    <a:pt x="161" y="147"/>
                  </a:moveTo>
                  <a:cubicBezTo>
                    <a:pt x="154" y="158"/>
                    <a:pt x="131" y="196"/>
                    <a:pt x="131" y="213"/>
                  </a:cubicBezTo>
                  <a:cubicBezTo>
                    <a:pt x="131" y="234"/>
                    <a:pt x="131" y="234"/>
                    <a:pt x="131" y="234"/>
                  </a:cubicBezTo>
                  <a:cubicBezTo>
                    <a:pt x="109" y="234"/>
                    <a:pt x="109" y="234"/>
                    <a:pt x="109" y="234"/>
                  </a:cubicBezTo>
                  <a:cubicBezTo>
                    <a:pt x="109" y="153"/>
                    <a:pt x="109" y="153"/>
                    <a:pt x="109" y="153"/>
                  </a:cubicBezTo>
                  <a:cubicBezTo>
                    <a:pt x="128" y="135"/>
                    <a:pt x="128" y="135"/>
                    <a:pt x="128" y="135"/>
                  </a:cubicBezTo>
                  <a:cubicBezTo>
                    <a:pt x="132" y="131"/>
                    <a:pt x="132" y="124"/>
                    <a:pt x="128" y="120"/>
                  </a:cubicBezTo>
                  <a:cubicBezTo>
                    <a:pt x="123" y="116"/>
                    <a:pt x="117" y="116"/>
                    <a:pt x="112" y="120"/>
                  </a:cubicBezTo>
                  <a:cubicBezTo>
                    <a:pt x="99" y="134"/>
                    <a:pt x="99" y="134"/>
                    <a:pt x="99" y="134"/>
                  </a:cubicBezTo>
                  <a:cubicBezTo>
                    <a:pt x="85" y="120"/>
                    <a:pt x="85" y="120"/>
                    <a:pt x="85" y="120"/>
                  </a:cubicBezTo>
                  <a:cubicBezTo>
                    <a:pt x="81" y="116"/>
                    <a:pt x="74" y="116"/>
                    <a:pt x="70" y="120"/>
                  </a:cubicBezTo>
                  <a:cubicBezTo>
                    <a:pt x="66" y="124"/>
                    <a:pt x="66" y="131"/>
                    <a:pt x="70" y="135"/>
                  </a:cubicBezTo>
                  <a:cubicBezTo>
                    <a:pt x="88" y="153"/>
                    <a:pt x="88" y="153"/>
                    <a:pt x="88" y="153"/>
                  </a:cubicBezTo>
                  <a:cubicBezTo>
                    <a:pt x="88" y="234"/>
                    <a:pt x="88" y="234"/>
                    <a:pt x="88" y="234"/>
                  </a:cubicBezTo>
                  <a:cubicBezTo>
                    <a:pt x="67" y="234"/>
                    <a:pt x="67" y="234"/>
                    <a:pt x="67" y="234"/>
                  </a:cubicBezTo>
                  <a:cubicBezTo>
                    <a:pt x="67" y="213"/>
                    <a:pt x="67" y="213"/>
                    <a:pt x="67" y="213"/>
                  </a:cubicBezTo>
                  <a:cubicBezTo>
                    <a:pt x="67" y="196"/>
                    <a:pt x="44" y="158"/>
                    <a:pt x="37" y="146"/>
                  </a:cubicBezTo>
                  <a:cubicBezTo>
                    <a:pt x="37" y="146"/>
                    <a:pt x="21" y="123"/>
                    <a:pt x="21" y="95"/>
                  </a:cubicBezTo>
                  <a:cubicBezTo>
                    <a:pt x="21" y="55"/>
                    <a:pt x="57" y="21"/>
                    <a:pt x="99" y="21"/>
                  </a:cubicBezTo>
                  <a:cubicBezTo>
                    <a:pt x="141" y="21"/>
                    <a:pt x="177" y="55"/>
                    <a:pt x="177" y="95"/>
                  </a:cubicBezTo>
                  <a:cubicBezTo>
                    <a:pt x="177" y="122"/>
                    <a:pt x="161" y="146"/>
                    <a:pt x="161" y="14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Freeform 543"/>
            <p:cNvSpPr>
              <a:spLocks noEditPoints="1"/>
            </p:cNvSpPr>
            <p:nvPr/>
          </p:nvSpPr>
          <p:spPr bwMode="gray">
            <a:xfrm>
              <a:off x="5326" y="249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8" name="Group 37"/>
          <p:cNvGrpSpPr/>
          <p:nvPr/>
        </p:nvGrpSpPr>
        <p:grpSpPr bwMode="gray">
          <a:xfrm>
            <a:off x="1332253" y="1283296"/>
            <a:ext cx="9535886" cy="4341335"/>
            <a:chOff x="1332253" y="1283296"/>
            <a:chExt cx="9535886" cy="4341335"/>
          </a:xfrm>
        </p:grpSpPr>
        <p:cxnSp>
          <p:nvCxnSpPr>
            <p:cNvPr id="39" name="Straight Connector 38"/>
            <p:cNvCxnSpPr/>
            <p:nvPr/>
          </p:nvCxnSpPr>
          <p:spPr bwMode="gray">
            <a:xfrm flipH="1">
              <a:off x="1332253" y="1283296"/>
              <a:ext cx="551543"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gray">
            <a:xfrm flipH="1">
              <a:off x="1332253" y="5615809"/>
              <a:ext cx="551543"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gray">
            <a:xfrm>
              <a:off x="1332253" y="1283296"/>
              <a:ext cx="0" cy="4341335"/>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gray">
            <a:xfrm>
              <a:off x="10868139" y="1283296"/>
              <a:ext cx="0" cy="4341335"/>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gray">
            <a:xfrm flipH="1">
              <a:off x="3320709" y="1283296"/>
              <a:ext cx="7524000"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gray">
            <a:xfrm flipH="1">
              <a:off x="1763486" y="5615809"/>
              <a:ext cx="9089909"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6027008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1FA0B2-9099-4603-A71C-C330043321CB}"/>
              </a:ext>
            </a:extLst>
          </p:cNvPr>
          <p:cNvSpPr txBox="1"/>
          <p:nvPr/>
        </p:nvSpPr>
        <p:spPr>
          <a:xfrm>
            <a:off x="485308" y="6182084"/>
            <a:ext cx="9242681" cy="415498"/>
          </a:xfrm>
          <a:prstGeom prst="rect">
            <a:avLst/>
          </a:prstGeom>
          <a:noFill/>
        </p:spPr>
        <p:txBody>
          <a:bodyPr wrap="square" lIns="0" tIns="0" rIns="0" bIns="0" rtlCol="0">
            <a:spAutoFit/>
          </a:bodyPr>
          <a:lstStyle/>
          <a:p>
            <a:pPr marL="0" marR="0" lvl="0" indent="0" algn="l" defTabSz="822068" rtl="0" eaLnBrk="1" fontAlgn="auto" latinLnBrk="0" hangingPunct="1">
              <a:lnSpc>
                <a:spcPct val="100000"/>
              </a:lnSpc>
              <a:spcBef>
                <a:spcPts val="473"/>
              </a:spcBef>
              <a:spcAft>
                <a:spcPts val="0"/>
              </a:spcAft>
              <a:buClrTx/>
              <a:buSzPct val="100000"/>
              <a:buFontTx/>
              <a:buNone/>
              <a:tabLst/>
              <a:defRPr/>
            </a:pPr>
            <a:r>
              <a:rPr kumimoji="0" lang="en-US" sz="900" b="1" i="0" u="none" strike="noStrike" kern="0" cap="none" spc="0" normalizeH="0" baseline="0" noProof="0">
                <a:ln>
                  <a:noFill/>
                </a:ln>
                <a:solidFill>
                  <a:srgbClr val="53565A"/>
                </a:solidFill>
                <a:effectLst/>
                <a:uLnTx/>
                <a:uFillTx/>
                <a:latin typeface="Verdana"/>
                <a:ea typeface="+mn-ea"/>
                <a:cs typeface="+mn-cs"/>
              </a:rPr>
              <a:t>Note: </a:t>
            </a:r>
            <a:br>
              <a:rPr kumimoji="0" lang="en-US" sz="900" b="0" i="0" u="none" strike="noStrike" kern="0" cap="none" spc="0" normalizeH="0" baseline="0" noProof="0">
                <a:ln>
                  <a:noFill/>
                </a:ln>
                <a:solidFill>
                  <a:srgbClr val="53565A"/>
                </a:solidFill>
                <a:effectLst/>
                <a:uLnTx/>
                <a:uFillTx/>
                <a:latin typeface="Verdana"/>
                <a:ea typeface="+mn-ea"/>
                <a:cs typeface="+mn-cs"/>
              </a:rPr>
            </a:br>
            <a:r>
              <a:rPr kumimoji="0" lang="en-US" sz="900" b="0" i="0" u="none" strike="noStrike" kern="0" cap="none" spc="0" normalizeH="0" baseline="0" noProof="0">
                <a:ln>
                  <a:noFill/>
                </a:ln>
                <a:solidFill>
                  <a:srgbClr val="53565A"/>
                </a:solidFill>
                <a:effectLst/>
                <a:uLnTx/>
                <a:uFillTx/>
                <a:latin typeface="Verdana"/>
                <a:ea typeface="+mn-ea"/>
                <a:cs typeface="+mn-cs"/>
              </a:rPr>
              <a:t>All of the services listed here may not be available from every Deloitte member firm. In addition, there may be local regulations restricting the provision of certain services to attest clients </a:t>
            </a:r>
            <a:endParaRPr kumimoji="0" lang="en-IN" sz="900" b="0" i="0" u="none" strike="noStrike" kern="0" cap="none" spc="0" normalizeH="0" baseline="0" noProof="0">
              <a:ln>
                <a:noFill/>
              </a:ln>
              <a:solidFill>
                <a:srgbClr val="53565A"/>
              </a:solidFill>
              <a:effectLst/>
              <a:uLnTx/>
              <a:uFillTx/>
              <a:latin typeface="Verdana"/>
              <a:ea typeface="+mn-ea"/>
              <a:cs typeface="+mn-cs"/>
            </a:endParaRPr>
          </a:p>
        </p:txBody>
      </p:sp>
      <p:grpSp>
        <p:nvGrpSpPr>
          <p:cNvPr id="5" name="Group 4">
            <a:extLst>
              <a:ext uri="{FF2B5EF4-FFF2-40B4-BE49-F238E27FC236}">
                <a16:creationId xmlns:a16="http://schemas.microsoft.com/office/drawing/2014/main" id="{4E3F8147-D6DD-485C-83AB-09C4E38AB062}"/>
              </a:ext>
            </a:extLst>
          </p:cNvPr>
          <p:cNvGrpSpPr/>
          <p:nvPr/>
        </p:nvGrpSpPr>
        <p:grpSpPr>
          <a:xfrm>
            <a:off x="1133341" y="965110"/>
            <a:ext cx="9216001" cy="5001000"/>
            <a:chOff x="1338955" y="975172"/>
            <a:chExt cx="9216001" cy="4677185"/>
          </a:xfrm>
        </p:grpSpPr>
        <p:cxnSp>
          <p:nvCxnSpPr>
            <p:cNvPr id="6" name="Straight Connector 5">
              <a:extLst>
                <a:ext uri="{FF2B5EF4-FFF2-40B4-BE49-F238E27FC236}">
                  <a16:creationId xmlns:a16="http://schemas.microsoft.com/office/drawing/2014/main" id="{A8AB49C1-371B-499A-A149-4B485836E059}"/>
                </a:ext>
              </a:extLst>
            </p:cNvPr>
            <p:cNvCxnSpPr/>
            <p:nvPr/>
          </p:nvCxnSpPr>
          <p:spPr>
            <a:xfrm>
              <a:off x="5928361" y="1270327"/>
              <a:ext cx="0" cy="468000"/>
            </a:xfrm>
            <a:prstGeom prst="line">
              <a:avLst/>
            </a:prstGeom>
            <a:noFill/>
            <a:ln w="12700" cap="flat" cmpd="sng" algn="ctr">
              <a:solidFill>
                <a:srgbClr val="53565A"/>
              </a:solidFill>
              <a:prstDash val="solid"/>
            </a:ln>
            <a:effectLst/>
          </p:spPr>
        </p:cxnSp>
        <p:grpSp>
          <p:nvGrpSpPr>
            <p:cNvPr id="7" name="Group 6">
              <a:extLst>
                <a:ext uri="{FF2B5EF4-FFF2-40B4-BE49-F238E27FC236}">
                  <a16:creationId xmlns:a16="http://schemas.microsoft.com/office/drawing/2014/main" id="{1E5E7100-CD95-473C-9C49-1B9D9BF9F0CB}"/>
                </a:ext>
              </a:extLst>
            </p:cNvPr>
            <p:cNvGrpSpPr>
              <a:grpSpLocks noChangeAspect="1"/>
            </p:cNvGrpSpPr>
            <p:nvPr/>
          </p:nvGrpSpPr>
          <p:grpSpPr>
            <a:xfrm>
              <a:off x="1338955" y="1730580"/>
              <a:ext cx="9216001" cy="2925357"/>
              <a:chOff x="439795" y="1828799"/>
              <a:chExt cx="9821805" cy="3117650"/>
            </a:xfrm>
          </p:grpSpPr>
          <p:sp>
            <p:nvSpPr>
              <p:cNvPr id="37" name="Rectangle 36">
                <a:extLst>
                  <a:ext uri="{FF2B5EF4-FFF2-40B4-BE49-F238E27FC236}">
                    <a16:creationId xmlns:a16="http://schemas.microsoft.com/office/drawing/2014/main" id="{2DFDA70D-381A-4A8D-A53B-20286A87E51A}"/>
                  </a:ext>
                </a:extLst>
              </p:cNvPr>
              <p:cNvSpPr/>
              <p:nvPr/>
            </p:nvSpPr>
            <p:spPr bwMode="gray">
              <a:xfrm>
                <a:off x="439795" y="2260800"/>
                <a:ext cx="1912919" cy="2685648"/>
              </a:xfrm>
              <a:prstGeom prst="rect">
                <a:avLst/>
              </a:prstGeom>
              <a:solidFill>
                <a:srgbClr val="0097A9">
                  <a:alpha val="5000"/>
                </a:srgbClr>
              </a:solidFill>
              <a:ln w="19050" algn="ctr">
                <a:noFill/>
                <a:miter lim="800000"/>
                <a:headEnd/>
                <a:tailEnd/>
              </a:ln>
            </p:spPr>
            <p:txBody>
              <a:bodyPr wrap="square" lIns="88900" tIns="72000" rIns="88900" bIns="88900" rtlCol="0" anchor="t"/>
              <a:lstStyle/>
              <a:p>
                <a:pPr marL="144000" marR="0" lvl="0" indent="-144000" algn="l" defTabSz="977856"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Verdana"/>
                    <a:ea typeface="+mn-ea"/>
                    <a:cs typeface="+mn-cs"/>
                  </a:rPr>
                  <a:t>Strategic &amp; Reputation Risk</a:t>
                </a:r>
              </a:p>
              <a:p>
                <a:pPr marL="144000" marR="0" lvl="0" indent="-144000" algn="l" defTabSz="977856"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Verdana"/>
                    <a:ea typeface="+mn-ea"/>
                    <a:cs typeface="+mn-cs"/>
                  </a:rPr>
                  <a:t>Regulatory Risk</a:t>
                </a:r>
              </a:p>
              <a:p>
                <a:pPr marL="144000" marR="0" lvl="0" indent="-144000" algn="l" defTabSz="977856"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Verdana"/>
                    <a:ea typeface="+mn-ea"/>
                    <a:cs typeface="+mn-cs"/>
                  </a:rPr>
                  <a:t>Financial Risk</a:t>
                </a:r>
              </a:p>
              <a:p>
                <a:pPr marL="144000" marR="0" lvl="0" indent="-144000" algn="l" defTabSz="977856"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Verdana"/>
                    <a:ea typeface="+mn-ea"/>
                    <a:cs typeface="+mn-cs"/>
                  </a:rPr>
                  <a:t>Operational Risk</a:t>
                </a:r>
              </a:p>
              <a:p>
                <a:pPr marL="144000" marR="0" lvl="0" indent="-144000" algn="l" defTabSz="977856"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Verdana"/>
                    <a:ea typeface="+mn-ea"/>
                    <a:cs typeface="+mn-cs"/>
                  </a:rPr>
                  <a:t>Cyber Risk</a:t>
                </a:r>
              </a:p>
            </p:txBody>
          </p:sp>
          <p:sp>
            <p:nvSpPr>
              <p:cNvPr id="38" name="Rectangle 37">
                <a:extLst>
                  <a:ext uri="{FF2B5EF4-FFF2-40B4-BE49-F238E27FC236}">
                    <a16:creationId xmlns:a16="http://schemas.microsoft.com/office/drawing/2014/main" id="{946C57F7-4D2C-40A0-8A5B-0FF1B17E275C}"/>
                  </a:ext>
                </a:extLst>
              </p:cNvPr>
              <p:cNvSpPr/>
              <p:nvPr/>
            </p:nvSpPr>
            <p:spPr bwMode="gray">
              <a:xfrm>
                <a:off x="439795" y="1828799"/>
                <a:ext cx="1912919" cy="432000"/>
              </a:xfrm>
              <a:prstGeom prst="rect">
                <a:avLst/>
              </a:prstGeom>
              <a:gradFill>
                <a:gsLst>
                  <a:gs pos="95000">
                    <a:srgbClr val="0097A9">
                      <a:alpha val="20000"/>
                    </a:srgbClr>
                  </a:gs>
                  <a:gs pos="95000">
                    <a:srgbClr val="0097A9"/>
                  </a:gs>
                </a:gsLst>
                <a:lin ang="5400000" scaled="1"/>
              </a:gradFill>
              <a:ln w="19050" algn="ctr">
                <a:noFill/>
                <a:miter lim="800000"/>
                <a:headEnd/>
                <a:tailEnd/>
              </a:ln>
            </p:spPr>
            <p:txBody>
              <a:bodyPr wrap="square" lIns="540000" tIns="88900" rIns="88900" bIns="88900" rtlCol="0" anchor="ctr"/>
              <a:lstStyle/>
              <a:p>
                <a:pPr marL="0" marR="0" lvl="0" indent="0" algn="l" defTabSz="977856" rtl="0" eaLnBrk="1" fontAlgn="auto" latinLnBrk="0" hangingPunct="1">
                  <a:lnSpc>
                    <a:spcPct val="90000"/>
                  </a:lnSpc>
                  <a:spcBef>
                    <a:spcPts val="0"/>
                  </a:spcBef>
                  <a:spcAft>
                    <a:spcPts val="882"/>
                  </a:spcAft>
                  <a:buClrTx/>
                  <a:buSzTx/>
                  <a:buFontTx/>
                  <a:buNone/>
                  <a:tabLst/>
                  <a:defRPr/>
                </a:pPr>
                <a:r>
                  <a:rPr kumimoji="0" lang="en-US" sz="1200" b="1" i="0" u="none" strike="noStrike" kern="0" cap="none" spc="0" normalizeH="0" baseline="0" noProof="0">
                    <a:ln>
                      <a:noFill/>
                    </a:ln>
                    <a:solidFill>
                      <a:prstClr val="black"/>
                    </a:solidFill>
                    <a:effectLst/>
                    <a:uLnTx/>
                    <a:uFillTx/>
                    <a:latin typeface="Verdana"/>
                    <a:ea typeface="+mn-ea"/>
                    <a:cs typeface="+mn-cs"/>
                  </a:rPr>
                  <a:t>Risk Advisory </a:t>
                </a:r>
              </a:p>
            </p:txBody>
          </p:sp>
          <p:sp>
            <p:nvSpPr>
              <p:cNvPr id="39" name="Rectangle 38">
                <a:extLst>
                  <a:ext uri="{FF2B5EF4-FFF2-40B4-BE49-F238E27FC236}">
                    <a16:creationId xmlns:a16="http://schemas.microsoft.com/office/drawing/2014/main" id="{EC245F6E-1750-4714-BC0D-79F038801844}"/>
                  </a:ext>
                </a:extLst>
              </p:cNvPr>
              <p:cNvSpPr/>
              <p:nvPr/>
            </p:nvSpPr>
            <p:spPr bwMode="gray">
              <a:xfrm>
                <a:off x="2417017" y="2260801"/>
                <a:ext cx="1912919" cy="2685648"/>
              </a:xfrm>
              <a:prstGeom prst="rect">
                <a:avLst/>
              </a:prstGeom>
              <a:solidFill>
                <a:srgbClr val="009A44">
                  <a:alpha val="5000"/>
                </a:srgbClr>
              </a:solidFill>
              <a:ln w="19050" algn="ctr">
                <a:noFill/>
                <a:miter lim="800000"/>
                <a:headEnd/>
                <a:tailEnd/>
              </a:ln>
            </p:spPr>
            <p:txBody>
              <a:bodyPr wrap="square" lIns="88900" tIns="72000" rIns="88900" bIns="88900" rtlCol="0" anchor="t"/>
              <a:lstStyle/>
              <a:p>
                <a:pPr marL="144000" marR="0" lvl="0" indent="-144000" algn="l" defTabSz="977856"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Verdana"/>
                    <a:ea typeface="+mn-ea"/>
                    <a:cs typeface="+mn-cs"/>
                  </a:rPr>
                  <a:t>A Comprehensive Audit Process</a:t>
                </a:r>
              </a:p>
              <a:p>
                <a:pPr marL="144000" marR="0" lvl="0" indent="-144000" algn="l" defTabSz="977856"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Verdana"/>
                    <a:ea typeface="+mn-ea"/>
                    <a:cs typeface="+mn-cs"/>
                  </a:rPr>
                  <a:t>Assurance Services</a:t>
                </a:r>
              </a:p>
              <a:p>
                <a:pPr marL="144000" marR="0" lvl="0" indent="-144000" algn="l" defTabSz="977856"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Verdana"/>
                    <a:ea typeface="+mn-ea"/>
                    <a:cs typeface="+mn-cs"/>
                  </a:rPr>
                  <a:t>Specialized Audit Services Including Detailed Investigations</a:t>
                </a:r>
              </a:p>
            </p:txBody>
          </p:sp>
          <p:sp>
            <p:nvSpPr>
              <p:cNvPr id="40" name="Rectangle 39">
                <a:extLst>
                  <a:ext uri="{FF2B5EF4-FFF2-40B4-BE49-F238E27FC236}">
                    <a16:creationId xmlns:a16="http://schemas.microsoft.com/office/drawing/2014/main" id="{C8DAF5B5-8FDB-495D-B794-C01876DA3BBF}"/>
                  </a:ext>
                </a:extLst>
              </p:cNvPr>
              <p:cNvSpPr/>
              <p:nvPr/>
            </p:nvSpPr>
            <p:spPr bwMode="gray">
              <a:xfrm>
                <a:off x="2417017" y="1828800"/>
                <a:ext cx="1912919" cy="432000"/>
              </a:xfrm>
              <a:prstGeom prst="rect">
                <a:avLst/>
              </a:prstGeom>
              <a:gradFill>
                <a:gsLst>
                  <a:gs pos="95000">
                    <a:srgbClr val="009A44">
                      <a:alpha val="20000"/>
                    </a:srgbClr>
                  </a:gs>
                  <a:gs pos="95000">
                    <a:srgbClr val="009A44"/>
                  </a:gs>
                </a:gsLst>
                <a:lin ang="5400000" scaled="1"/>
              </a:gradFill>
              <a:ln w="19050" algn="ctr">
                <a:noFill/>
                <a:miter lim="800000"/>
                <a:headEnd/>
                <a:tailEnd/>
              </a:ln>
            </p:spPr>
            <p:txBody>
              <a:bodyPr wrap="square" lIns="540000" tIns="88900" rIns="88900" bIns="88900" rtlCol="0" anchor="ctr"/>
              <a:lstStyle/>
              <a:p>
                <a:pPr marL="0" marR="0" lvl="0" indent="0" algn="l" defTabSz="977856" rtl="0" eaLnBrk="1" fontAlgn="auto" latinLnBrk="0" hangingPunct="1">
                  <a:lnSpc>
                    <a:spcPct val="90000"/>
                  </a:lnSpc>
                  <a:spcBef>
                    <a:spcPts val="0"/>
                  </a:spcBef>
                  <a:spcAft>
                    <a:spcPts val="882"/>
                  </a:spcAft>
                  <a:buClrTx/>
                  <a:buSzTx/>
                  <a:buFontTx/>
                  <a:buNone/>
                  <a:tabLst/>
                  <a:defRPr/>
                </a:pPr>
                <a:r>
                  <a:rPr kumimoji="0" lang="en-US" sz="1200" b="1" i="0" u="none" strike="noStrike" kern="0" cap="none" spc="0" normalizeH="0" baseline="0" noProof="0">
                    <a:ln>
                      <a:noFill/>
                    </a:ln>
                    <a:solidFill>
                      <a:prstClr val="black"/>
                    </a:solidFill>
                    <a:effectLst/>
                    <a:uLnTx/>
                    <a:uFillTx/>
                    <a:latin typeface="Verdana"/>
                    <a:ea typeface="+mn-ea"/>
                    <a:cs typeface="+mn-cs"/>
                  </a:rPr>
                  <a:t>Assurance </a:t>
                </a:r>
              </a:p>
            </p:txBody>
          </p:sp>
          <p:sp>
            <p:nvSpPr>
              <p:cNvPr id="41" name="Rectangle 40">
                <a:extLst>
                  <a:ext uri="{FF2B5EF4-FFF2-40B4-BE49-F238E27FC236}">
                    <a16:creationId xmlns:a16="http://schemas.microsoft.com/office/drawing/2014/main" id="{0DEB8227-82DF-443C-9325-3FAB15C139A3}"/>
                  </a:ext>
                </a:extLst>
              </p:cNvPr>
              <p:cNvSpPr/>
              <p:nvPr/>
            </p:nvSpPr>
            <p:spPr bwMode="gray">
              <a:xfrm>
                <a:off x="4394238" y="2260800"/>
                <a:ext cx="1912919" cy="2685648"/>
              </a:xfrm>
              <a:prstGeom prst="rect">
                <a:avLst/>
              </a:prstGeom>
              <a:solidFill>
                <a:srgbClr val="0097A9">
                  <a:alpha val="5000"/>
                </a:srgbClr>
              </a:solidFill>
              <a:ln w="19050" algn="ctr">
                <a:noFill/>
                <a:miter lim="800000"/>
                <a:headEnd/>
                <a:tailEnd/>
              </a:ln>
            </p:spPr>
            <p:txBody>
              <a:bodyPr wrap="square" lIns="88900" tIns="72000" rIns="88900" bIns="88900" rtlCol="0" anchor="t"/>
              <a:lstStyle/>
              <a:p>
                <a:pPr marL="144000" marR="0" lvl="0" indent="-144000" algn="l" defTabSz="977856"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Verdana"/>
                    <a:ea typeface="+mn-ea"/>
                    <a:cs typeface="+mn-cs"/>
                  </a:rPr>
                  <a:t>Business Process Solutions</a:t>
                </a:r>
              </a:p>
              <a:p>
                <a:pPr marL="144000" marR="0" lvl="0" indent="-144000" algn="l" defTabSz="977856"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Verdana"/>
                    <a:ea typeface="+mn-ea"/>
                    <a:cs typeface="+mn-cs"/>
                  </a:rPr>
                  <a:t>Global Business Tax</a:t>
                </a:r>
              </a:p>
              <a:p>
                <a:pPr marL="144000" marR="0" lvl="0" indent="-144000" algn="l" defTabSz="977856"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Verdana"/>
                    <a:ea typeface="+mn-ea"/>
                    <a:cs typeface="+mn-cs"/>
                  </a:rPr>
                  <a:t>Global Employer Services</a:t>
                </a:r>
              </a:p>
              <a:p>
                <a:pPr marL="144000" marR="0" lvl="0" indent="-144000" algn="l" defTabSz="977856"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Verdana"/>
                    <a:ea typeface="+mn-ea"/>
                    <a:cs typeface="+mn-cs"/>
                  </a:rPr>
                  <a:t>Indirect Tax</a:t>
                </a:r>
              </a:p>
              <a:p>
                <a:pPr marL="144000" marR="0" lvl="0" indent="-144000" algn="l" defTabSz="977856"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Verdana"/>
                    <a:ea typeface="+mn-ea"/>
                    <a:cs typeface="+mn-cs"/>
                  </a:rPr>
                  <a:t>Mergers and Acquisitions (M&amp;A) – Tax</a:t>
                </a:r>
              </a:p>
              <a:p>
                <a:pPr marL="144000" marR="0" lvl="0" indent="-144000" algn="l" defTabSz="977856"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Verdana"/>
                    <a:ea typeface="+mn-ea"/>
                    <a:cs typeface="+mn-cs"/>
                  </a:rPr>
                  <a:t>Tax Analytics</a:t>
                </a:r>
              </a:p>
              <a:p>
                <a:pPr marL="144000" marR="0" lvl="0" indent="-144000" algn="l" defTabSz="977856"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Verdana"/>
                    <a:ea typeface="+mn-ea"/>
                    <a:cs typeface="+mn-cs"/>
                  </a:rPr>
                  <a:t>Transfer Pricing</a:t>
                </a:r>
              </a:p>
            </p:txBody>
          </p:sp>
          <p:sp>
            <p:nvSpPr>
              <p:cNvPr id="42" name="Rectangle 41">
                <a:extLst>
                  <a:ext uri="{FF2B5EF4-FFF2-40B4-BE49-F238E27FC236}">
                    <a16:creationId xmlns:a16="http://schemas.microsoft.com/office/drawing/2014/main" id="{BB7890F8-F42C-4067-AC7A-B854D6B97787}"/>
                  </a:ext>
                </a:extLst>
              </p:cNvPr>
              <p:cNvSpPr/>
              <p:nvPr/>
            </p:nvSpPr>
            <p:spPr bwMode="gray">
              <a:xfrm>
                <a:off x="4394238" y="1828799"/>
                <a:ext cx="1912919" cy="432000"/>
              </a:xfrm>
              <a:prstGeom prst="rect">
                <a:avLst/>
              </a:prstGeom>
              <a:gradFill>
                <a:gsLst>
                  <a:gs pos="95000">
                    <a:srgbClr val="0097A9">
                      <a:alpha val="20000"/>
                    </a:srgbClr>
                  </a:gs>
                  <a:gs pos="95000">
                    <a:srgbClr val="0097A9"/>
                  </a:gs>
                </a:gsLst>
                <a:lin ang="5400000" scaled="1"/>
              </a:gradFill>
              <a:ln w="19050" algn="ctr">
                <a:noFill/>
                <a:miter lim="800000"/>
                <a:headEnd/>
                <a:tailEnd/>
              </a:ln>
            </p:spPr>
            <p:txBody>
              <a:bodyPr wrap="square" lIns="540000" tIns="88900" rIns="88900" bIns="88900" rtlCol="0" anchor="ctr"/>
              <a:lstStyle/>
              <a:p>
                <a:pPr marL="0" marR="0" lvl="0" indent="0" algn="l" defTabSz="977856" rtl="0" eaLnBrk="1" fontAlgn="auto" latinLnBrk="0" hangingPunct="1">
                  <a:lnSpc>
                    <a:spcPct val="90000"/>
                  </a:lnSpc>
                  <a:spcBef>
                    <a:spcPts val="0"/>
                  </a:spcBef>
                  <a:spcAft>
                    <a:spcPts val="882"/>
                  </a:spcAft>
                  <a:buClrTx/>
                  <a:buSzTx/>
                  <a:buFontTx/>
                  <a:buNone/>
                  <a:tabLst/>
                  <a:defRPr/>
                </a:pPr>
                <a:r>
                  <a:rPr kumimoji="0" lang="en-US" sz="1200" b="1" i="0" u="none" strike="noStrike" kern="0" cap="none" spc="0" normalizeH="0" baseline="0" noProof="0">
                    <a:ln>
                      <a:noFill/>
                    </a:ln>
                    <a:solidFill>
                      <a:prstClr val="black"/>
                    </a:solidFill>
                    <a:effectLst/>
                    <a:uLnTx/>
                    <a:uFillTx/>
                    <a:latin typeface="Verdana"/>
                    <a:ea typeface="+mn-ea"/>
                    <a:cs typeface="+mn-cs"/>
                  </a:rPr>
                  <a:t>Tax</a:t>
                </a:r>
              </a:p>
            </p:txBody>
          </p:sp>
          <p:sp>
            <p:nvSpPr>
              <p:cNvPr id="43" name="Rectangle 42">
                <a:extLst>
                  <a:ext uri="{FF2B5EF4-FFF2-40B4-BE49-F238E27FC236}">
                    <a16:creationId xmlns:a16="http://schemas.microsoft.com/office/drawing/2014/main" id="{5FDAA2E7-76B1-4449-ADD3-CB06A05B5C19}"/>
                  </a:ext>
                </a:extLst>
              </p:cNvPr>
              <p:cNvSpPr/>
              <p:nvPr/>
            </p:nvSpPr>
            <p:spPr bwMode="gray">
              <a:xfrm>
                <a:off x="6371460" y="2260801"/>
                <a:ext cx="1912920" cy="2685648"/>
              </a:xfrm>
              <a:prstGeom prst="rect">
                <a:avLst/>
              </a:prstGeom>
              <a:solidFill>
                <a:srgbClr val="009A44">
                  <a:alpha val="5000"/>
                </a:srgbClr>
              </a:solidFill>
              <a:ln w="19050" algn="ctr">
                <a:noFill/>
                <a:miter lim="800000"/>
                <a:headEnd/>
                <a:tailEnd/>
              </a:ln>
            </p:spPr>
            <p:txBody>
              <a:bodyPr wrap="square" lIns="88900" tIns="72000" rIns="88900" bIns="88900" rtlCol="0" anchor="t"/>
              <a:lstStyle/>
              <a:p>
                <a:pPr marL="144000" marR="0" lvl="0" indent="-144000" algn="l" defTabSz="977856"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Verdana"/>
                    <a:ea typeface="+mn-ea"/>
                    <a:cs typeface="+mn-cs"/>
                  </a:rPr>
                  <a:t>Corporate Finance &amp; Restructuring</a:t>
                </a:r>
              </a:p>
              <a:p>
                <a:pPr marL="144000" marR="0" lvl="0" indent="-144000" algn="l" defTabSz="977856"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Verdana"/>
                    <a:ea typeface="+mn-ea"/>
                    <a:cs typeface="+mn-cs"/>
                  </a:rPr>
                  <a:t>Forensic Services</a:t>
                </a:r>
              </a:p>
              <a:p>
                <a:pPr marL="144000" marR="0" lvl="0" indent="-144000" algn="l" defTabSz="977856"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Verdana"/>
                    <a:ea typeface="+mn-ea"/>
                    <a:cs typeface="+mn-cs"/>
                  </a:rPr>
                  <a:t>M&amp;A Transaction Services</a:t>
                </a:r>
              </a:p>
              <a:p>
                <a:pPr marL="144000" marR="0" lvl="0" indent="-144000" algn="l" defTabSz="977856"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Verdana"/>
                    <a:ea typeface="+mn-ea"/>
                    <a:cs typeface="+mn-cs"/>
                  </a:rPr>
                  <a:t>Valuation &amp; Modelling</a:t>
                </a:r>
              </a:p>
            </p:txBody>
          </p:sp>
          <p:sp>
            <p:nvSpPr>
              <p:cNvPr id="44" name="Rectangle 43">
                <a:extLst>
                  <a:ext uri="{FF2B5EF4-FFF2-40B4-BE49-F238E27FC236}">
                    <a16:creationId xmlns:a16="http://schemas.microsoft.com/office/drawing/2014/main" id="{1C234BFF-169D-4CB8-B0A4-1A0C7CA8C5B8}"/>
                  </a:ext>
                </a:extLst>
              </p:cNvPr>
              <p:cNvSpPr/>
              <p:nvPr/>
            </p:nvSpPr>
            <p:spPr bwMode="gray">
              <a:xfrm>
                <a:off x="6371460" y="1828800"/>
                <a:ext cx="1912920" cy="432000"/>
              </a:xfrm>
              <a:prstGeom prst="rect">
                <a:avLst/>
              </a:prstGeom>
              <a:gradFill>
                <a:gsLst>
                  <a:gs pos="95000">
                    <a:srgbClr val="009A44">
                      <a:alpha val="20000"/>
                    </a:srgbClr>
                  </a:gs>
                  <a:gs pos="95000">
                    <a:srgbClr val="009A44"/>
                  </a:gs>
                </a:gsLst>
                <a:lin ang="5400000" scaled="1"/>
              </a:gradFill>
              <a:ln w="19050" algn="ctr">
                <a:noFill/>
                <a:miter lim="800000"/>
                <a:headEnd/>
                <a:tailEnd/>
              </a:ln>
            </p:spPr>
            <p:txBody>
              <a:bodyPr wrap="square" lIns="540000" tIns="88900" rIns="88900" bIns="88900" rtlCol="0" anchor="ctr"/>
              <a:lstStyle/>
              <a:p>
                <a:pPr marL="0" marR="0" lvl="0" indent="0" algn="l" defTabSz="977856" rtl="0" eaLnBrk="1" fontAlgn="auto" latinLnBrk="0" hangingPunct="1">
                  <a:lnSpc>
                    <a:spcPct val="90000"/>
                  </a:lnSpc>
                  <a:spcBef>
                    <a:spcPts val="0"/>
                  </a:spcBef>
                  <a:spcAft>
                    <a:spcPts val="882"/>
                  </a:spcAft>
                  <a:buClrTx/>
                  <a:buSzTx/>
                  <a:buFontTx/>
                  <a:buNone/>
                  <a:tabLst/>
                  <a:defRPr/>
                </a:pPr>
                <a:r>
                  <a:rPr kumimoji="0" lang="en-US" sz="1200" b="1" i="0" u="none" strike="noStrike" kern="0" cap="none" spc="0" normalizeH="0" baseline="0" noProof="0">
                    <a:ln>
                      <a:noFill/>
                    </a:ln>
                    <a:solidFill>
                      <a:prstClr val="black"/>
                    </a:solidFill>
                    <a:effectLst/>
                    <a:uLnTx/>
                    <a:uFillTx/>
                    <a:latin typeface="Verdana"/>
                    <a:ea typeface="+mn-ea"/>
                    <a:cs typeface="+mn-cs"/>
                  </a:rPr>
                  <a:t>Financial Advisory</a:t>
                </a:r>
              </a:p>
            </p:txBody>
          </p:sp>
          <p:sp>
            <p:nvSpPr>
              <p:cNvPr id="45" name="Rectangle 44">
                <a:extLst>
                  <a:ext uri="{FF2B5EF4-FFF2-40B4-BE49-F238E27FC236}">
                    <a16:creationId xmlns:a16="http://schemas.microsoft.com/office/drawing/2014/main" id="{3F2EA814-D3F1-42D6-9526-CA8CD4B53633}"/>
                  </a:ext>
                </a:extLst>
              </p:cNvPr>
              <p:cNvSpPr/>
              <p:nvPr/>
            </p:nvSpPr>
            <p:spPr bwMode="gray">
              <a:xfrm>
                <a:off x="8348681" y="2260801"/>
                <a:ext cx="1912919" cy="2685648"/>
              </a:xfrm>
              <a:prstGeom prst="rect">
                <a:avLst/>
              </a:prstGeom>
              <a:solidFill>
                <a:srgbClr val="0097A9">
                  <a:alpha val="5000"/>
                </a:srgbClr>
              </a:solidFill>
              <a:ln w="19050" algn="ctr">
                <a:noFill/>
                <a:miter lim="800000"/>
                <a:headEnd/>
                <a:tailEnd/>
              </a:ln>
            </p:spPr>
            <p:txBody>
              <a:bodyPr wrap="square" lIns="88900" tIns="72000" rIns="88900" bIns="88900" rtlCol="0" anchor="t"/>
              <a:lstStyle/>
              <a:p>
                <a:pPr marL="144000" marR="0" lvl="0" indent="-144000" algn="l" defTabSz="977856"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Verdana"/>
                    <a:ea typeface="+mn-ea"/>
                    <a:cs typeface="+mn-cs"/>
                  </a:rPr>
                  <a:t>Strategy and Operations</a:t>
                </a:r>
              </a:p>
              <a:p>
                <a:pPr marL="144000" marR="0" lvl="0" indent="-144000" algn="l" defTabSz="977856"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Verdana"/>
                    <a:ea typeface="+mn-ea"/>
                    <a:cs typeface="+mn-cs"/>
                  </a:rPr>
                  <a:t>Human Capital</a:t>
                </a:r>
              </a:p>
              <a:p>
                <a:pPr marL="144000" marR="0" lvl="0" indent="-144000" algn="l" defTabSz="977856"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Verdana"/>
                    <a:ea typeface="+mn-ea"/>
                    <a:cs typeface="+mn-cs"/>
                  </a:rPr>
                  <a:t>Technology </a:t>
                </a:r>
              </a:p>
              <a:p>
                <a:pPr marL="144000" marR="0" lvl="0" indent="-144000" algn="l" defTabSz="977856"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Verdana"/>
                    <a:ea typeface="+mn-ea"/>
                    <a:cs typeface="+mn-cs"/>
                  </a:rPr>
                  <a:t>Government Public Sector</a:t>
                </a:r>
              </a:p>
            </p:txBody>
          </p:sp>
          <p:sp>
            <p:nvSpPr>
              <p:cNvPr id="46" name="Rectangle 45">
                <a:extLst>
                  <a:ext uri="{FF2B5EF4-FFF2-40B4-BE49-F238E27FC236}">
                    <a16:creationId xmlns:a16="http://schemas.microsoft.com/office/drawing/2014/main" id="{1D74B41C-3385-4F69-ADF8-AFB7D354FA01}"/>
                  </a:ext>
                </a:extLst>
              </p:cNvPr>
              <p:cNvSpPr/>
              <p:nvPr/>
            </p:nvSpPr>
            <p:spPr bwMode="gray">
              <a:xfrm>
                <a:off x="8348681" y="1828800"/>
                <a:ext cx="1912919" cy="432000"/>
              </a:xfrm>
              <a:prstGeom prst="rect">
                <a:avLst/>
              </a:prstGeom>
              <a:gradFill>
                <a:gsLst>
                  <a:gs pos="95000">
                    <a:srgbClr val="0097A9">
                      <a:alpha val="20000"/>
                    </a:srgbClr>
                  </a:gs>
                  <a:gs pos="95000">
                    <a:srgbClr val="0097A9"/>
                  </a:gs>
                </a:gsLst>
                <a:lin ang="5400000" scaled="1"/>
              </a:gradFill>
              <a:ln w="19050" algn="ctr">
                <a:noFill/>
                <a:miter lim="800000"/>
                <a:headEnd/>
                <a:tailEnd/>
              </a:ln>
            </p:spPr>
            <p:txBody>
              <a:bodyPr wrap="square" lIns="540000" tIns="88900" rIns="88900" bIns="88900" rtlCol="0" anchor="ctr"/>
              <a:lstStyle/>
              <a:p>
                <a:pPr marL="0" marR="0" lvl="0" indent="0" algn="l" defTabSz="977856" rtl="0" eaLnBrk="1" fontAlgn="auto" latinLnBrk="0" hangingPunct="1">
                  <a:lnSpc>
                    <a:spcPct val="90000"/>
                  </a:lnSpc>
                  <a:spcBef>
                    <a:spcPts val="0"/>
                  </a:spcBef>
                  <a:spcAft>
                    <a:spcPts val="882"/>
                  </a:spcAft>
                  <a:buClrTx/>
                  <a:buSzTx/>
                  <a:buFontTx/>
                  <a:buNone/>
                  <a:tabLst/>
                  <a:defRPr/>
                </a:pPr>
                <a:r>
                  <a:rPr kumimoji="0" lang="en-US" sz="1200" b="1" i="0" u="none" strike="noStrike" kern="0" cap="none" spc="0" normalizeH="0" baseline="0" noProof="0">
                    <a:ln>
                      <a:noFill/>
                    </a:ln>
                    <a:solidFill>
                      <a:prstClr val="black"/>
                    </a:solidFill>
                    <a:effectLst/>
                    <a:uLnTx/>
                    <a:uFillTx/>
                    <a:latin typeface="Verdana"/>
                    <a:ea typeface="+mn-ea"/>
                    <a:cs typeface="+mn-cs"/>
                  </a:rPr>
                  <a:t>Consulting</a:t>
                </a:r>
              </a:p>
            </p:txBody>
          </p:sp>
        </p:grpSp>
        <p:grpSp>
          <p:nvGrpSpPr>
            <p:cNvPr id="8" name="Group 489">
              <a:extLst>
                <a:ext uri="{FF2B5EF4-FFF2-40B4-BE49-F238E27FC236}">
                  <a16:creationId xmlns:a16="http://schemas.microsoft.com/office/drawing/2014/main" id="{C5909A89-02A2-4C91-8D93-EB3BB6EC617A}"/>
                </a:ext>
              </a:extLst>
            </p:cNvPr>
            <p:cNvGrpSpPr>
              <a:grpSpLocks noChangeAspect="1"/>
            </p:cNvGrpSpPr>
            <p:nvPr/>
          </p:nvGrpSpPr>
          <p:grpSpPr bwMode="auto">
            <a:xfrm>
              <a:off x="1416817" y="1760872"/>
              <a:ext cx="326863" cy="326863"/>
              <a:chOff x="2920" y="2264"/>
              <a:chExt cx="340" cy="340"/>
            </a:xfrm>
            <a:solidFill>
              <a:sysClr val="windowText" lastClr="000000"/>
            </a:solidFill>
          </p:grpSpPr>
          <p:sp>
            <p:nvSpPr>
              <p:cNvPr id="34" name="Freeform 490">
                <a:extLst>
                  <a:ext uri="{FF2B5EF4-FFF2-40B4-BE49-F238E27FC236}">
                    <a16:creationId xmlns:a16="http://schemas.microsoft.com/office/drawing/2014/main" id="{7ADFDA69-EF60-46F0-A00C-1E664402EFE5}"/>
                  </a:ext>
                </a:extLst>
              </p:cNvPr>
              <p:cNvSpPr>
                <a:spLocks noEditPoints="1"/>
              </p:cNvSpPr>
              <p:nvPr/>
            </p:nvSpPr>
            <p:spPr bwMode="auto">
              <a:xfrm>
                <a:off x="2998" y="2363"/>
                <a:ext cx="184" cy="113"/>
              </a:xfrm>
              <a:custGeom>
                <a:avLst/>
                <a:gdLst>
                  <a:gd name="T0" fmla="*/ 11 w 277"/>
                  <a:gd name="T1" fmla="*/ 171 h 171"/>
                  <a:gd name="T2" fmla="*/ 267 w 277"/>
                  <a:gd name="T3" fmla="*/ 171 h 171"/>
                  <a:gd name="T4" fmla="*/ 277 w 277"/>
                  <a:gd name="T5" fmla="*/ 160 h 171"/>
                  <a:gd name="T6" fmla="*/ 277 w 277"/>
                  <a:gd name="T7" fmla="*/ 11 h 171"/>
                  <a:gd name="T8" fmla="*/ 267 w 277"/>
                  <a:gd name="T9" fmla="*/ 0 h 171"/>
                  <a:gd name="T10" fmla="*/ 11 w 277"/>
                  <a:gd name="T11" fmla="*/ 0 h 171"/>
                  <a:gd name="T12" fmla="*/ 0 w 277"/>
                  <a:gd name="T13" fmla="*/ 11 h 171"/>
                  <a:gd name="T14" fmla="*/ 0 w 277"/>
                  <a:gd name="T15" fmla="*/ 160 h 171"/>
                  <a:gd name="T16" fmla="*/ 11 w 277"/>
                  <a:gd name="T17" fmla="*/ 171 h 171"/>
                  <a:gd name="T18" fmla="*/ 21 w 277"/>
                  <a:gd name="T19" fmla="*/ 21 h 171"/>
                  <a:gd name="T20" fmla="*/ 256 w 277"/>
                  <a:gd name="T21" fmla="*/ 21 h 171"/>
                  <a:gd name="T22" fmla="*/ 256 w 277"/>
                  <a:gd name="T23" fmla="*/ 149 h 171"/>
                  <a:gd name="T24" fmla="*/ 21 w 277"/>
                  <a:gd name="T25" fmla="*/ 149 h 171"/>
                  <a:gd name="T26" fmla="*/ 21 w 277"/>
                  <a:gd name="T27" fmla="*/ 2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7" h="171">
                    <a:moveTo>
                      <a:pt x="11" y="171"/>
                    </a:moveTo>
                    <a:cubicBezTo>
                      <a:pt x="267" y="171"/>
                      <a:pt x="267" y="171"/>
                      <a:pt x="267" y="171"/>
                    </a:cubicBezTo>
                    <a:cubicBezTo>
                      <a:pt x="273" y="171"/>
                      <a:pt x="277" y="166"/>
                      <a:pt x="277" y="160"/>
                    </a:cubicBezTo>
                    <a:cubicBezTo>
                      <a:pt x="277" y="11"/>
                      <a:pt x="277" y="11"/>
                      <a:pt x="277" y="11"/>
                    </a:cubicBezTo>
                    <a:cubicBezTo>
                      <a:pt x="277" y="5"/>
                      <a:pt x="273" y="0"/>
                      <a:pt x="267" y="0"/>
                    </a:cubicBezTo>
                    <a:cubicBezTo>
                      <a:pt x="11" y="0"/>
                      <a:pt x="11" y="0"/>
                      <a:pt x="11" y="0"/>
                    </a:cubicBezTo>
                    <a:cubicBezTo>
                      <a:pt x="5" y="0"/>
                      <a:pt x="0" y="5"/>
                      <a:pt x="0" y="11"/>
                    </a:cubicBezTo>
                    <a:cubicBezTo>
                      <a:pt x="0" y="160"/>
                      <a:pt x="0" y="160"/>
                      <a:pt x="0" y="160"/>
                    </a:cubicBezTo>
                    <a:cubicBezTo>
                      <a:pt x="0" y="166"/>
                      <a:pt x="5" y="171"/>
                      <a:pt x="11" y="171"/>
                    </a:cubicBezTo>
                    <a:close/>
                    <a:moveTo>
                      <a:pt x="21" y="21"/>
                    </a:moveTo>
                    <a:cubicBezTo>
                      <a:pt x="256" y="21"/>
                      <a:pt x="256" y="21"/>
                      <a:pt x="256" y="21"/>
                    </a:cubicBezTo>
                    <a:cubicBezTo>
                      <a:pt x="256" y="149"/>
                      <a:pt x="256" y="149"/>
                      <a:pt x="256" y="149"/>
                    </a:cubicBezTo>
                    <a:cubicBezTo>
                      <a:pt x="21" y="149"/>
                      <a:pt x="21" y="149"/>
                      <a:pt x="21" y="149"/>
                    </a:cubicBezTo>
                    <a:lnTo>
                      <a:pt x="21"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6586" tIns="38294" rIns="76586" bIns="38294" numCol="1" anchor="t" anchorCtr="0" compatLnSpc="1">
                <a:prstTxWarp prst="textNoShape">
                  <a:avLst/>
                </a:prstTxWarp>
              </a:bodyPr>
              <a:lstStyle/>
              <a:p>
                <a:pPr marL="0" marR="0" lvl="0" indent="0" algn="l" defTabSz="1018824" rtl="0" eaLnBrk="1" fontAlgn="auto" latinLnBrk="0" hangingPunct="1">
                  <a:lnSpc>
                    <a:spcPct val="100000"/>
                  </a:lnSpc>
                  <a:spcBef>
                    <a:spcPts val="0"/>
                  </a:spcBef>
                  <a:spcAft>
                    <a:spcPts val="0"/>
                  </a:spcAft>
                  <a:buClrTx/>
                  <a:buSzTx/>
                  <a:buFontTx/>
                  <a:buNone/>
                  <a:tabLst/>
                  <a:defRPr/>
                </a:pPr>
                <a:endParaRPr kumimoji="0" lang="en-GB" sz="1719" b="0" i="0" u="none" strike="noStrike" kern="0" cap="none" spc="0" normalizeH="0" baseline="0" noProof="0">
                  <a:ln>
                    <a:noFill/>
                  </a:ln>
                  <a:solidFill>
                    <a:prstClr val="black"/>
                  </a:solidFill>
                  <a:effectLst/>
                  <a:uLnTx/>
                  <a:uFillTx/>
                  <a:latin typeface="Verdana"/>
                  <a:ea typeface="+mn-ea"/>
                  <a:cs typeface="+mn-cs"/>
                </a:endParaRPr>
              </a:p>
            </p:txBody>
          </p:sp>
          <p:sp>
            <p:nvSpPr>
              <p:cNvPr id="35" name="Freeform 491">
                <a:extLst>
                  <a:ext uri="{FF2B5EF4-FFF2-40B4-BE49-F238E27FC236}">
                    <a16:creationId xmlns:a16="http://schemas.microsoft.com/office/drawing/2014/main" id="{09AC8DB5-E82E-4C20-A73D-BCA3FE874042}"/>
                  </a:ext>
                </a:extLst>
              </p:cNvPr>
              <p:cNvSpPr>
                <a:spLocks/>
              </p:cNvSpPr>
              <p:nvPr/>
            </p:nvSpPr>
            <p:spPr bwMode="auto">
              <a:xfrm>
                <a:off x="2984" y="2490"/>
                <a:ext cx="212" cy="14"/>
              </a:xfrm>
              <a:custGeom>
                <a:avLst/>
                <a:gdLst>
                  <a:gd name="T0" fmla="*/ 309 w 320"/>
                  <a:gd name="T1" fmla="*/ 0 h 21"/>
                  <a:gd name="T2" fmla="*/ 10 w 320"/>
                  <a:gd name="T3" fmla="*/ 0 h 21"/>
                  <a:gd name="T4" fmla="*/ 0 w 320"/>
                  <a:gd name="T5" fmla="*/ 11 h 21"/>
                  <a:gd name="T6" fmla="*/ 10 w 320"/>
                  <a:gd name="T7" fmla="*/ 21 h 21"/>
                  <a:gd name="T8" fmla="*/ 309 w 320"/>
                  <a:gd name="T9" fmla="*/ 21 h 21"/>
                  <a:gd name="T10" fmla="*/ 320 w 320"/>
                  <a:gd name="T11" fmla="*/ 11 h 21"/>
                  <a:gd name="T12" fmla="*/ 309 w 320"/>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320" h="21">
                    <a:moveTo>
                      <a:pt x="309" y="0"/>
                    </a:moveTo>
                    <a:cubicBezTo>
                      <a:pt x="10" y="0"/>
                      <a:pt x="10" y="0"/>
                      <a:pt x="10" y="0"/>
                    </a:cubicBezTo>
                    <a:cubicBezTo>
                      <a:pt x="4" y="0"/>
                      <a:pt x="0" y="5"/>
                      <a:pt x="0" y="11"/>
                    </a:cubicBezTo>
                    <a:cubicBezTo>
                      <a:pt x="0" y="17"/>
                      <a:pt x="4" y="21"/>
                      <a:pt x="10" y="21"/>
                    </a:cubicBezTo>
                    <a:cubicBezTo>
                      <a:pt x="309" y="21"/>
                      <a:pt x="309" y="21"/>
                      <a:pt x="309" y="21"/>
                    </a:cubicBezTo>
                    <a:cubicBezTo>
                      <a:pt x="315" y="21"/>
                      <a:pt x="320" y="17"/>
                      <a:pt x="320" y="11"/>
                    </a:cubicBezTo>
                    <a:cubicBezTo>
                      <a:pt x="320" y="5"/>
                      <a:pt x="315" y="0"/>
                      <a:pt x="309"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6586" tIns="38294" rIns="76586" bIns="38294" numCol="1" anchor="t" anchorCtr="0" compatLnSpc="1">
                <a:prstTxWarp prst="textNoShape">
                  <a:avLst/>
                </a:prstTxWarp>
              </a:bodyPr>
              <a:lstStyle/>
              <a:p>
                <a:pPr marL="0" marR="0" lvl="0" indent="0" algn="l" defTabSz="1018824" rtl="0" eaLnBrk="1" fontAlgn="auto" latinLnBrk="0" hangingPunct="1">
                  <a:lnSpc>
                    <a:spcPct val="100000"/>
                  </a:lnSpc>
                  <a:spcBef>
                    <a:spcPts val="0"/>
                  </a:spcBef>
                  <a:spcAft>
                    <a:spcPts val="0"/>
                  </a:spcAft>
                  <a:buClrTx/>
                  <a:buSzTx/>
                  <a:buFontTx/>
                  <a:buNone/>
                  <a:tabLst/>
                  <a:defRPr/>
                </a:pPr>
                <a:endParaRPr kumimoji="0" lang="en-GB" sz="1719" b="0" i="0" u="none" strike="noStrike" kern="0" cap="none" spc="0" normalizeH="0" baseline="0" noProof="0">
                  <a:ln>
                    <a:noFill/>
                  </a:ln>
                  <a:solidFill>
                    <a:prstClr val="black"/>
                  </a:solidFill>
                  <a:effectLst/>
                  <a:uLnTx/>
                  <a:uFillTx/>
                  <a:latin typeface="Verdana"/>
                  <a:ea typeface="+mn-ea"/>
                  <a:cs typeface="+mn-cs"/>
                </a:endParaRPr>
              </a:p>
            </p:txBody>
          </p:sp>
          <p:sp>
            <p:nvSpPr>
              <p:cNvPr id="36" name="Freeform 492">
                <a:extLst>
                  <a:ext uri="{FF2B5EF4-FFF2-40B4-BE49-F238E27FC236}">
                    <a16:creationId xmlns:a16="http://schemas.microsoft.com/office/drawing/2014/main" id="{9430CF0A-25AB-493D-A9E0-1D3CCC28204C}"/>
                  </a:ext>
                </a:extLst>
              </p:cNvPr>
              <p:cNvSpPr>
                <a:spLocks noEditPoints="1"/>
              </p:cNvSpPr>
              <p:nvPr/>
            </p:nvSpPr>
            <p:spPr bwMode="auto">
              <a:xfrm>
                <a:off x="2920" y="226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6586" tIns="38294" rIns="76586" bIns="38294" numCol="1" anchor="t" anchorCtr="0" compatLnSpc="1">
                <a:prstTxWarp prst="textNoShape">
                  <a:avLst/>
                </a:prstTxWarp>
              </a:bodyPr>
              <a:lstStyle/>
              <a:p>
                <a:pPr marL="0" marR="0" lvl="0" indent="0" algn="l" defTabSz="1018824" rtl="0" eaLnBrk="1" fontAlgn="auto" latinLnBrk="0" hangingPunct="1">
                  <a:lnSpc>
                    <a:spcPct val="100000"/>
                  </a:lnSpc>
                  <a:spcBef>
                    <a:spcPts val="0"/>
                  </a:spcBef>
                  <a:spcAft>
                    <a:spcPts val="0"/>
                  </a:spcAft>
                  <a:buClrTx/>
                  <a:buSzTx/>
                  <a:buFontTx/>
                  <a:buNone/>
                  <a:tabLst/>
                  <a:defRPr/>
                </a:pPr>
                <a:endParaRPr kumimoji="0" lang="en-GB" sz="1719" b="0" i="0" u="none" strike="noStrike" kern="0" cap="none" spc="0" normalizeH="0" baseline="0" noProof="0">
                  <a:ln>
                    <a:noFill/>
                  </a:ln>
                  <a:solidFill>
                    <a:prstClr val="black"/>
                  </a:solidFill>
                  <a:effectLst/>
                  <a:uLnTx/>
                  <a:uFillTx/>
                  <a:latin typeface="Verdana"/>
                  <a:ea typeface="+mn-ea"/>
                  <a:cs typeface="+mn-cs"/>
                </a:endParaRPr>
              </a:p>
            </p:txBody>
          </p:sp>
        </p:grpSp>
        <p:grpSp>
          <p:nvGrpSpPr>
            <p:cNvPr id="9" name="Group 763">
              <a:extLst>
                <a:ext uri="{FF2B5EF4-FFF2-40B4-BE49-F238E27FC236}">
                  <a16:creationId xmlns:a16="http://schemas.microsoft.com/office/drawing/2014/main" id="{B7144F1D-E7D2-40B1-AEC2-E94E4C6041DF}"/>
                </a:ext>
              </a:extLst>
            </p:cNvPr>
            <p:cNvGrpSpPr>
              <a:grpSpLocks noChangeAspect="1"/>
            </p:cNvGrpSpPr>
            <p:nvPr/>
          </p:nvGrpSpPr>
          <p:grpSpPr bwMode="auto">
            <a:xfrm>
              <a:off x="5124286" y="1760746"/>
              <a:ext cx="328665" cy="327702"/>
              <a:chOff x="3203" y="3365"/>
              <a:chExt cx="341" cy="340"/>
            </a:xfrm>
            <a:solidFill>
              <a:sysClr val="windowText" lastClr="000000"/>
            </a:solidFill>
          </p:grpSpPr>
          <p:sp>
            <p:nvSpPr>
              <p:cNvPr id="32" name="Freeform 764">
                <a:extLst>
                  <a:ext uri="{FF2B5EF4-FFF2-40B4-BE49-F238E27FC236}">
                    <a16:creationId xmlns:a16="http://schemas.microsoft.com/office/drawing/2014/main" id="{C856E0C8-35B8-4AC1-A19A-8F3B4D682598}"/>
                  </a:ext>
                </a:extLst>
              </p:cNvPr>
              <p:cNvSpPr>
                <a:spLocks noEditPoints="1"/>
              </p:cNvSpPr>
              <p:nvPr/>
            </p:nvSpPr>
            <p:spPr bwMode="auto">
              <a:xfrm>
                <a:off x="3295" y="3429"/>
                <a:ext cx="156" cy="212"/>
              </a:xfrm>
              <a:custGeom>
                <a:avLst/>
                <a:gdLst>
                  <a:gd name="T0" fmla="*/ 11 w 235"/>
                  <a:gd name="T1" fmla="*/ 0 h 320"/>
                  <a:gd name="T2" fmla="*/ 0 w 235"/>
                  <a:gd name="T3" fmla="*/ 309 h 320"/>
                  <a:gd name="T4" fmla="*/ 224 w 235"/>
                  <a:gd name="T5" fmla="*/ 320 h 320"/>
                  <a:gd name="T6" fmla="*/ 235 w 235"/>
                  <a:gd name="T7" fmla="*/ 10 h 320"/>
                  <a:gd name="T8" fmla="*/ 214 w 235"/>
                  <a:gd name="T9" fmla="*/ 298 h 320"/>
                  <a:gd name="T10" fmla="*/ 22 w 235"/>
                  <a:gd name="T11" fmla="*/ 21 h 320"/>
                  <a:gd name="T12" fmla="*/ 214 w 235"/>
                  <a:gd name="T13" fmla="*/ 298 h 320"/>
                  <a:gd name="T14" fmla="*/ 182 w 235"/>
                  <a:gd name="T15" fmla="*/ 106 h 320"/>
                  <a:gd name="T16" fmla="*/ 192 w 235"/>
                  <a:gd name="T17" fmla="*/ 53 h 320"/>
                  <a:gd name="T18" fmla="*/ 54 w 235"/>
                  <a:gd name="T19" fmla="*/ 42 h 320"/>
                  <a:gd name="T20" fmla="*/ 43 w 235"/>
                  <a:gd name="T21" fmla="*/ 96 h 320"/>
                  <a:gd name="T22" fmla="*/ 64 w 235"/>
                  <a:gd name="T23" fmla="*/ 64 h 320"/>
                  <a:gd name="T24" fmla="*/ 171 w 235"/>
                  <a:gd name="T25" fmla="*/ 85 h 320"/>
                  <a:gd name="T26" fmla="*/ 64 w 235"/>
                  <a:gd name="T27" fmla="*/ 64 h 320"/>
                  <a:gd name="T28" fmla="*/ 54 w 235"/>
                  <a:gd name="T29" fmla="*/ 128 h 320"/>
                  <a:gd name="T30" fmla="*/ 54 w 235"/>
                  <a:gd name="T31" fmla="*/ 149 h 320"/>
                  <a:gd name="T32" fmla="*/ 107 w 235"/>
                  <a:gd name="T33" fmla="*/ 138 h 320"/>
                  <a:gd name="T34" fmla="*/ 86 w 235"/>
                  <a:gd name="T35" fmla="*/ 138 h 320"/>
                  <a:gd name="T36" fmla="*/ 107 w 235"/>
                  <a:gd name="T37" fmla="*/ 138 h 320"/>
                  <a:gd name="T38" fmla="*/ 139 w 235"/>
                  <a:gd name="T39" fmla="*/ 149 h 320"/>
                  <a:gd name="T40" fmla="*/ 139 w 235"/>
                  <a:gd name="T41" fmla="*/ 128 h 320"/>
                  <a:gd name="T42" fmla="*/ 192 w 235"/>
                  <a:gd name="T43" fmla="*/ 138 h 320"/>
                  <a:gd name="T44" fmla="*/ 171 w 235"/>
                  <a:gd name="T45" fmla="*/ 138 h 320"/>
                  <a:gd name="T46" fmla="*/ 192 w 235"/>
                  <a:gd name="T47" fmla="*/ 138 h 320"/>
                  <a:gd name="T48" fmla="*/ 54 w 235"/>
                  <a:gd name="T49" fmla="*/ 170 h 320"/>
                  <a:gd name="T50" fmla="*/ 54 w 235"/>
                  <a:gd name="T51" fmla="*/ 192 h 320"/>
                  <a:gd name="T52" fmla="*/ 107 w 235"/>
                  <a:gd name="T53" fmla="*/ 181 h 320"/>
                  <a:gd name="T54" fmla="*/ 86 w 235"/>
                  <a:gd name="T55" fmla="*/ 181 h 320"/>
                  <a:gd name="T56" fmla="*/ 107 w 235"/>
                  <a:gd name="T57" fmla="*/ 181 h 320"/>
                  <a:gd name="T58" fmla="*/ 139 w 235"/>
                  <a:gd name="T59" fmla="*/ 192 h 320"/>
                  <a:gd name="T60" fmla="*/ 139 w 235"/>
                  <a:gd name="T61" fmla="*/ 170 h 320"/>
                  <a:gd name="T62" fmla="*/ 192 w 235"/>
                  <a:gd name="T63" fmla="*/ 181 h 320"/>
                  <a:gd name="T64" fmla="*/ 171 w 235"/>
                  <a:gd name="T65" fmla="*/ 181 h 320"/>
                  <a:gd name="T66" fmla="*/ 192 w 235"/>
                  <a:gd name="T67" fmla="*/ 181 h 320"/>
                  <a:gd name="T68" fmla="*/ 54 w 235"/>
                  <a:gd name="T69" fmla="*/ 213 h 320"/>
                  <a:gd name="T70" fmla="*/ 54 w 235"/>
                  <a:gd name="T71" fmla="*/ 234 h 320"/>
                  <a:gd name="T72" fmla="*/ 107 w 235"/>
                  <a:gd name="T73" fmla="*/ 224 h 320"/>
                  <a:gd name="T74" fmla="*/ 86 w 235"/>
                  <a:gd name="T75" fmla="*/ 224 h 320"/>
                  <a:gd name="T76" fmla="*/ 107 w 235"/>
                  <a:gd name="T77" fmla="*/ 224 h 320"/>
                  <a:gd name="T78" fmla="*/ 139 w 235"/>
                  <a:gd name="T79" fmla="*/ 234 h 320"/>
                  <a:gd name="T80" fmla="*/ 139 w 235"/>
                  <a:gd name="T81" fmla="*/ 213 h 320"/>
                  <a:gd name="T82" fmla="*/ 192 w 235"/>
                  <a:gd name="T83" fmla="*/ 224 h 320"/>
                  <a:gd name="T84" fmla="*/ 182 w 235"/>
                  <a:gd name="T85" fmla="*/ 277 h 320"/>
                  <a:gd name="T86" fmla="*/ 171 w 235"/>
                  <a:gd name="T87" fmla="*/ 224 h 320"/>
                  <a:gd name="T88" fmla="*/ 192 w 235"/>
                  <a:gd name="T89" fmla="*/ 224 h 320"/>
                  <a:gd name="T90" fmla="*/ 54 w 235"/>
                  <a:gd name="T91" fmla="*/ 256 h 320"/>
                  <a:gd name="T92" fmla="*/ 54 w 235"/>
                  <a:gd name="T93" fmla="*/ 277 h 320"/>
                  <a:gd name="T94" fmla="*/ 107 w 235"/>
                  <a:gd name="T95" fmla="*/ 266 h 320"/>
                  <a:gd name="T96" fmla="*/ 86 w 235"/>
                  <a:gd name="T97" fmla="*/ 266 h 320"/>
                  <a:gd name="T98" fmla="*/ 107 w 235"/>
                  <a:gd name="T99" fmla="*/ 266 h 320"/>
                  <a:gd name="T100" fmla="*/ 139 w 235"/>
                  <a:gd name="T101" fmla="*/ 277 h 320"/>
                  <a:gd name="T102" fmla="*/ 139 w 235"/>
                  <a:gd name="T103" fmla="*/ 25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5" h="320">
                    <a:moveTo>
                      <a:pt x="224" y="0"/>
                    </a:moveTo>
                    <a:cubicBezTo>
                      <a:pt x="11" y="0"/>
                      <a:pt x="11" y="0"/>
                      <a:pt x="11" y="0"/>
                    </a:cubicBezTo>
                    <a:cubicBezTo>
                      <a:pt x="5" y="0"/>
                      <a:pt x="0" y="4"/>
                      <a:pt x="0" y="10"/>
                    </a:cubicBezTo>
                    <a:cubicBezTo>
                      <a:pt x="0" y="309"/>
                      <a:pt x="0" y="309"/>
                      <a:pt x="0" y="309"/>
                    </a:cubicBezTo>
                    <a:cubicBezTo>
                      <a:pt x="0" y="315"/>
                      <a:pt x="5" y="320"/>
                      <a:pt x="11" y="320"/>
                    </a:cubicBezTo>
                    <a:cubicBezTo>
                      <a:pt x="224" y="320"/>
                      <a:pt x="224" y="320"/>
                      <a:pt x="224" y="320"/>
                    </a:cubicBezTo>
                    <a:cubicBezTo>
                      <a:pt x="230" y="320"/>
                      <a:pt x="235" y="315"/>
                      <a:pt x="235" y="309"/>
                    </a:cubicBezTo>
                    <a:cubicBezTo>
                      <a:pt x="235" y="10"/>
                      <a:pt x="235" y="10"/>
                      <a:pt x="235" y="10"/>
                    </a:cubicBezTo>
                    <a:cubicBezTo>
                      <a:pt x="235" y="4"/>
                      <a:pt x="230" y="0"/>
                      <a:pt x="224" y="0"/>
                    </a:cubicBezTo>
                    <a:close/>
                    <a:moveTo>
                      <a:pt x="214" y="298"/>
                    </a:moveTo>
                    <a:cubicBezTo>
                      <a:pt x="22" y="298"/>
                      <a:pt x="22" y="298"/>
                      <a:pt x="22" y="298"/>
                    </a:cubicBezTo>
                    <a:cubicBezTo>
                      <a:pt x="22" y="21"/>
                      <a:pt x="22" y="21"/>
                      <a:pt x="22" y="21"/>
                    </a:cubicBezTo>
                    <a:cubicBezTo>
                      <a:pt x="214" y="21"/>
                      <a:pt x="214" y="21"/>
                      <a:pt x="214" y="21"/>
                    </a:cubicBezTo>
                    <a:lnTo>
                      <a:pt x="214" y="298"/>
                    </a:lnTo>
                    <a:close/>
                    <a:moveTo>
                      <a:pt x="54" y="106"/>
                    </a:moveTo>
                    <a:cubicBezTo>
                      <a:pt x="182" y="106"/>
                      <a:pt x="182" y="106"/>
                      <a:pt x="182" y="106"/>
                    </a:cubicBezTo>
                    <a:cubicBezTo>
                      <a:pt x="188" y="106"/>
                      <a:pt x="192" y="102"/>
                      <a:pt x="192" y="96"/>
                    </a:cubicBezTo>
                    <a:cubicBezTo>
                      <a:pt x="192" y="53"/>
                      <a:pt x="192" y="53"/>
                      <a:pt x="192" y="53"/>
                    </a:cubicBezTo>
                    <a:cubicBezTo>
                      <a:pt x="192" y="47"/>
                      <a:pt x="188" y="42"/>
                      <a:pt x="182" y="42"/>
                    </a:cubicBezTo>
                    <a:cubicBezTo>
                      <a:pt x="54" y="42"/>
                      <a:pt x="54" y="42"/>
                      <a:pt x="54" y="42"/>
                    </a:cubicBezTo>
                    <a:cubicBezTo>
                      <a:pt x="48" y="42"/>
                      <a:pt x="43" y="47"/>
                      <a:pt x="43" y="53"/>
                    </a:cubicBezTo>
                    <a:cubicBezTo>
                      <a:pt x="43" y="96"/>
                      <a:pt x="43" y="96"/>
                      <a:pt x="43" y="96"/>
                    </a:cubicBezTo>
                    <a:cubicBezTo>
                      <a:pt x="43" y="102"/>
                      <a:pt x="48" y="106"/>
                      <a:pt x="54" y="106"/>
                    </a:cubicBezTo>
                    <a:close/>
                    <a:moveTo>
                      <a:pt x="64" y="64"/>
                    </a:moveTo>
                    <a:cubicBezTo>
                      <a:pt x="171" y="64"/>
                      <a:pt x="171" y="64"/>
                      <a:pt x="171" y="64"/>
                    </a:cubicBezTo>
                    <a:cubicBezTo>
                      <a:pt x="171" y="85"/>
                      <a:pt x="171" y="85"/>
                      <a:pt x="171" y="85"/>
                    </a:cubicBezTo>
                    <a:cubicBezTo>
                      <a:pt x="64" y="85"/>
                      <a:pt x="64" y="85"/>
                      <a:pt x="64" y="85"/>
                    </a:cubicBezTo>
                    <a:lnTo>
                      <a:pt x="64" y="64"/>
                    </a:lnTo>
                    <a:close/>
                    <a:moveTo>
                      <a:pt x="43" y="138"/>
                    </a:moveTo>
                    <a:cubicBezTo>
                      <a:pt x="43" y="132"/>
                      <a:pt x="48" y="128"/>
                      <a:pt x="54" y="128"/>
                    </a:cubicBezTo>
                    <a:cubicBezTo>
                      <a:pt x="60" y="128"/>
                      <a:pt x="64" y="132"/>
                      <a:pt x="64" y="138"/>
                    </a:cubicBezTo>
                    <a:cubicBezTo>
                      <a:pt x="64" y="144"/>
                      <a:pt x="60" y="149"/>
                      <a:pt x="54" y="149"/>
                    </a:cubicBezTo>
                    <a:cubicBezTo>
                      <a:pt x="48" y="149"/>
                      <a:pt x="43" y="144"/>
                      <a:pt x="43" y="138"/>
                    </a:cubicBezTo>
                    <a:close/>
                    <a:moveTo>
                      <a:pt x="107" y="138"/>
                    </a:moveTo>
                    <a:cubicBezTo>
                      <a:pt x="107" y="144"/>
                      <a:pt x="102" y="149"/>
                      <a:pt x="96" y="149"/>
                    </a:cubicBezTo>
                    <a:cubicBezTo>
                      <a:pt x="90" y="149"/>
                      <a:pt x="86" y="144"/>
                      <a:pt x="86" y="138"/>
                    </a:cubicBezTo>
                    <a:cubicBezTo>
                      <a:pt x="86" y="132"/>
                      <a:pt x="90" y="128"/>
                      <a:pt x="96" y="128"/>
                    </a:cubicBezTo>
                    <a:cubicBezTo>
                      <a:pt x="102" y="128"/>
                      <a:pt x="107" y="132"/>
                      <a:pt x="107" y="138"/>
                    </a:cubicBezTo>
                    <a:close/>
                    <a:moveTo>
                      <a:pt x="150" y="138"/>
                    </a:moveTo>
                    <a:cubicBezTo>
                      <a:pt x="150" y="144"/>
                      <a:pt x="145" y="149"/>
                      <a:pt x="139" y="149"/>
                    </a:cubicBezTo>
                    <a:cubicBezTo>
                      <a:pt x="133" y="149"/>
                      <a:pt x="128" y="144"/>
                      <a:pt x="128" y="138"/>
                    </a:cubicBezTo>
                    <a:cubicBezTo>
                      <a:pt x="128" y="132"/>
                      <a:pt x="133" y="128"/>
                      <a:pt x="139" y="128"/>
                    </a:cubicBezTo>
                    <a:cubicBezTo>
                      <a:pt x="145" y="128"/>
                      <a:pt x="150" y="132"/>
                      <a:pt x="150" y="138"/>
                    </a:cubicBezTo>
                    <a:close/>
                    <a:moveTo>
                      <a:pt x="192" y="138"/>
                    </a:moveTo>
                    <a:cubicBezTo>
                      <a:pt x="192" y="144"/>
                      <a:pt x="188" y="149"/>
                      <a:pt x="182" y="149"/>
                    </a:cubicBezTo>
                    <a:cubicBezTo>
                      <a:pt x="176" y="149"/>
                      <a:pt x="171" y="144"/>
                      <a:pt x="171" y="138"/>
                    </a:cubicBezTo>
                    <a:cubicBezTo>
                      <a:pt x="171" y="132"/>
                      <a:pt x="176" y="128"/>
                      <a:pt x="182" y="128"/>
                    </a:cubicBezTo>
                    <a:cubicBezTo>
                      <a:pt x="188" y="128"/>
                      <a:pt x="192" y="132"/>
                      <a:pt x="192" y="138"/>
                    </a:cubicBezTo>
                    <a:close/>
                    <a:moveTo>
                      <a:pt x="43" y="181"/>
                    </a:moveTo>
                    <a:cubicBezTo>
                      <a:pt x="43" y="175"/>
                      <a:pt x="48" y="170"/>
                      <a:pt x="54" y="170"/>
                    </a:cubicBezTo>
                    <a:cubicBezTo>
                      <a:pt x="60" y="170"/>
                      <a:pt x="64" y="175"/>
                      <a:pt x="64" y="181"/>
                    </a:cubicBezTo>
                    <a:cubicBezTo>
                      <a:pt x="64" y="187"/>
                      <a:pt x="60" y="192"/>
                      <a:pt x="54" y="192"/>
                    </a:cubicBezTo>
                    <a:cubicBezTo>
                      <a:pt x="48" y="192"/>
                      <a:pt x="43" y="187"/>
                      <a:pt x="43" y="181"/>
                    </a:cubicBezTo>
                    <a:close/>
                    <a:moveTo>
                      <a:pt x="107" y="181"/>
                    </a:moveTo>
                    <a:cubicBezTo>
                      <a:pt x="107" y="187"/>
                      <a:pt x="102" y="192"/>
                      <a:pt x="96" y="192"/>
                    </a:cubicBezTo>
                    <a:cubicBezTo>
                      <a:pt x="90" y="192"/>
                      <a:pt x="86" y="187"/>
                      <a:pt x="86" y="181"/>
                    </a:cubicBezTo>
                    <a:cubicBezTo>
                      <a:pt x="86" y="175"/>
                      <a:pt x="90" y="170"/>
                      <a:pt x="96" y="170"/>
                    </a:cubicBezTo>
                    <a:cubicBezTo>
                      <a:pt x="102" y="170"/>
                      <a:pt x="107" y="175"/>
                      <a:pt x="107" y="181"/>
                    </a:cubicBezTo>
                    <a:close/>
                    <a:moveTo>
                      <a:pt x="150" y="181"/>
                    </a:moveTo>
                    <a:cubicBezTo>
                      <a:pt x="150" y="187"/>
                      <a:pt x="145" y="192"/>
                      <a:pt x="139" y="192"/>
                    </a:cubicBezTo>
                    <a:cubicBezTo>
                      <a:pt x="133" y="192"/>
                      <a:pt x="128" y="187"/>
                      <a:pt x="128" y="181"/>
                    </a:cubicBezTo>
                    <a:cubicBezTo>
                      <a:pt x="128" y="175"/>
                      <a:pt x="133" y="170"/>
                      <a:pt x="139" y="170"/>
                    </a:cubicBezTo>
                    <a:cubicBezTo>
                      <a:pt x="145" y="170"/>
                      <a:pt x="150" y="175"/>
                      <a:pt x="150" y="181"/>
                    </a:cubicBezTo>
                    <a:close/>
                    <a:moveTo>
                      <a:pt x="192" y="181"/>
                    </a:moveTo>
                    <a:cubicBezTo>
                      <a:pt x="192" y="187"/>
                      <a:pt x="188" y="192"/>
                      <a:pt x="182" y="192"/>
                    </a:cubicBezTo>
                    <a:cubicBezTo>
                      <a:pt x="176" y="192"/>
                      <a:pt x="171" y="187"/>
                      <a:pt x="171" y="181"/>
                    </a:cubicBezTo>
                    <a:cubicBezTo>
                      <a:pt x="171" y="175"/>
                      <a:pt x="176" y="170"/>
                      <a:pt x="182" y="170"/>
                    </a:cubicBezTo>
                    <a:cubicBezTo>
                      <a:pt x="188" y="170"/>
                      <a:pt x="192" y="175"/>
                      <a:pt x="192" y="181"/>
                    </a:cubicBezTo>
                    <a:close/>
                    <a:moveTo>
                      <a:pt x="43" y="224"/>
                    </a:moveTo>
                    <a:cubicBezTo>
                      <a:pt x="43" y="218"/>
                      <a:pt x="48" y="213"/>
                      <a:pt x="54" y="213"/>
                    </a:cubicBezTo>
                    <a:cubicBezTo>
                      <a:pt x="60" y="213"/>
                      <a:pt x="64" y="218"/>
                      <a:pt x="64" y="224"/>
                    </a:cubicBezTo>
                    <a:cubicBezTo>
                      <a:pt x="64" y="230"/>
                      <a:pt x="60" y="234"/>
                      <a:pt x="54" y="234"/>
                    </a:cubicBezTo>
                    <a:cubicBezTo>
                      <a:pt x="48" y="234"/>
                      <a:pt x="43" y="230"/>
                      <a:pt x="43" y="224"/>
                    </a:cubicBezTo>
                    <a:close/>
                    <a:moveTo>
                      <a:pt x="107" y="224"/>
                    </a:moveTo>
                    <a:cubicBezTo>
                      <a:pt x="107" y="230"/>
                      <a:pt x="102" y="234"/>
                      <a:pt x="96" y="234"/>
                    </a:cubicBezTo>
                    <a:cubicBezTo>
                      <a:pt x="90" y="234"/>
                      <a:pt x="86" y="230"/>
                      <a:pt x="86" y="224"/>
                    </a:cubicBezTo>
                    <a:cubicBezTo>
                      <a:pt x="86" y="218"/>
                      <a:pt x="90" y="213"/>
                      <a:pt x="96" y="213"/>
                    </a:cubicBezTo>
                    <a:cubicBezTo>
                      <a:pt x="102" y="213"/>
                      <a:pt x="107" y="218"/>
                      <a:pt x="107" y="224"/>
                    </a:cubicBezTo>
                    <a:close/>
                    <a:moveTo>
                      <a:pt x="150" y="224"/>
                    </a:moveTo>
                    <a:cubicBezTo>
                      <a:pt x="150" y="230"/>
                      <a:pt x="145" y="234"/>
                      <a:pt x="139" y="234"/>
                    </a:cubicBezTo>
                    <a:cubicBezTo>
                      <a:pt x="133" y="234"/>
                      <a:pt x="128" y="230"/>
                      <a:pt x="128" y="224"/>
                    </a:cubicBezTo>
                    <a:cubicBezTo>
                      <a:pt x="128" y="218"/>
                      <a:pt x="133" y="213"/>
                      <a:pt x="139" y="213"/>
                    </a:cubicBezTo>
                    <a:cubicBezTo>
                      <a:pt x="145" y="213"/>
                      <a:pt x="150" y="218"/>
                      <a:pt x="150" y="224"/>
                    </a:cubicBezTo>
                    <a:close/>
                    <a:moveTo>
                      <a:pt x="192" y="224"/>
                    </a:moveTo>
                    <a:cubicBezTo>
                      <a:pt x="192" y="266"/>
                      <a:pt x="192" y="266"/>
                      <a:pt x="192" y="266"/>
                    </a:cubicBezTo>
                    <a:cubicBezTo>
                      <a:pt x="192" y="272"/>
                      <a:pt x="188" y="277"/>
                      <a:pt x="182" y="277"/>
                    </a:cubicBezTo>
                    <a:cubicBezTo>
                      <a:pt x="176" y="277"/>
                      <a:pt x="171" y="272"/>
                      <a:pt x="171" y="266"/>
                    </a:cubicBezTo>
                    <a:cubicBezTo>
                      <a:pt x="171" y="224"/>
                      <a:pt x="171" y="224"/>
                      <a:pt x="171" y="224"/>
                    </a:cubicBezTo>
                    <a:cubicBezTo>
                      <a:pt x="171" y="218"/>
                      <a:pt x="176" y="213"/>
                      <a:pt x="182" y="213"/>
                    </a:cubicBezTo>
                    <a:cubicBezTo>
                      <a:pt x="188" y="213"/>
                      <a:pt x="192" y="218"/>
                      <a:pt x="192" y="224"/>
                    </a:cubicBezTo>
                    <a:close/>
                    <a:moveTo>
                      <a:pt x="43" y="266"/>
                    </a:moveTo>
                    <a:cubicBezTo>
                      <a:pt x="43" y="260"/>
                      <a:pt x="48" y="256"/>
                      <a:pt x="54" y="256"/>
                    </a:cubicBezTo>
                    <a:cubicBezTo>
                      <a:pt x="60" y="256"/>
                      <a:pt x="64" y="260"/>
                      <a:pt x="64" y="266"/>
                    </a:cubicBezTo>
                    <a:cubicBezTo>
                      <a:pt x="64" y="272"/>
                      <a:pt x="60" y="277"/>
                      <a:pt x="54" y="277"/>
                    </a:cubicBezTo>
                    <a:cubicBezTo>
                      <a:pt x="48" y="277"/>
                      <a:pt x="43" y="272"/>
                      <a:pt x="43" y="266"/>
                    </a:cubicBezTo>
                    <a:close/>
                    <a:moveTo>
                      <a:pt x="107" y="266"/>
                    </a:moveTo>
                    <a:cubicBezTo>
                      <a:pt x="107" y="272"/>
                      <a:pt x="102" y="277"/>
                      <a:pt x="96" y="277"/>
                    </a:cubicBezTo>
                    <a:cubicBezTo>
                      <a:pt x="90" y="277"/>
                      <a:pt x="86" y="272"/>
                      <a:pt x="86" y="266"/>
                    </a:cubicBezTo>
                    <a:cubicBezTo>
                      <a:pt x="86" y="260"/>
                      <a:pt x="90" y="256"/>
                      <a:pt x="96" y="256"/>
                    </a:cubicBezTo>
                    <a:cubicBezTo>
                      <a:pt x="102" y="256"/>
                      <a:pt x="107" y="260"/>
                      <a:pt x="107" y="266"/>
                    </a:cubicBezTo>
                    <a:close/>
                    <a:moveTo>
                      <a:pt x="150" y="266"/>
                    </a:moveTo>
                    <a:cubicBezTo>
                      <a:pt x="150" y="272"/>
                      <a:pt x="145" y="277"/>
                      <a:pt x="139" y="277"/>
                    </a:cubicBezTo>
                    <a:cubicBezTo>
                      <a:pt x="133" y="277"/>
                      <a:pt x="128" y="272"/>
                      <a:pt x="128" y="266"/>
                    </a:cubicBezTo>
                    <a:cubicBezTo>
                      <a:pt x="128" y="260"/>
                      <a:pt x="133" y="256"/>
                      <a:pt x="139" y="256"/>
                    </a:cubicBezTo>
                    <a:cubicBezTo>
                      <a:pt x="145" y="256"/>
                      <a:pt x="150" y="260"/>
                      <a:pt x="150" y="26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6586" tIns="38294" rIns="76586" bIns="38294" numCol="1" anchor="t" anchorCtr="0" compatLnSpc="1">
                <a:prstTxWarp prst="textNoShape">
                  <a:avLst/>
                </a:prstTxWarp>
              </a:bodyPr>
              <a:lstStyle/>
              <a:p>
                <a:pPr marL="0" marR="0" lvl="0" indent="0" algn="l" defTabSz="1018824" rtl="0" eaLnBrk="1" fontAlgn="auto" latinLnBrk="0" hangingPunct="1">
                  <a:lnSpc>
                    <a:spcPct val="100000"/>
                  </a:lnSpc>
                  <a:spcBef>
                    <a:spcPts val="0"/>
                  </a:spcBef>
                  <a:spcAft>
                    <a:spcPts val="0"/>
                  </a:spcAft>
                  <a:buClrTx/>
                  <a:buSzTx/>
                  <a:buFontTx/>
                  <a:buNone/>
                  <a:tabLst/>
                  <a:defRPr/>
                </a:pPr>
                <a:endParaRPr kumimoji="0" lang="en-GB" sz="1719" b="0" i="0" u="none" strike="noStrike" kern="0" cap="none" spc="0" normalizeH="0" baseline="0" noProof="0">
                  <a:ln>
                    <a:noFill/>
                  </a:ln>
                  <a:solidFill>
                    <a:prstClr val="black"/>
                  </a:solidFill>
                  <a:effectLst/>
                  <a:uLnTx/>
                  <a:uFillTx/>
                  <a:latin typeface="Verdana"/>
                  <a:ea typeface="+mn-ea"/>
                  <a:cs typeface="+mn-cs"/>
                </a:endParaRPr>
              </a:p>
            </p:txBody>
          </p:sp>
          <p:sp>
            <p:nvSpPr>
              <p:cNvPr id="33" name="Freeform 765">
                <a:extLst>
                  <a:ext uri="{FF2B5EF4-FFF2-40B4-BE49-F238E27FC236}">
                    <a16:creationId xmlns:a16="http://schemas.microsoft.com/office/drawing/2014/main" id="{C067BD24-826C-4AEB-8931-2756617FA5E8}"/>
                  </a:ext>
                </a:extLst>
              </p:cNvPr>
              <p:cNvSpPr>
                <a:spLocks noEditPoints="1"/>
              </p:cNvSpPr>
              <p:nvPr/>
            </p:nvSpPr>
            <p:spPr bwMode="auto">
              <a:xfrm>
                <a:off x="3203" y="3365"/>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6586" tIns="38294" rIns="76586" bIns="38294" numCol="1" anchor="t" anchorCtr="0" compatLnSpc="1">
                <a:prstTxWarp prst="textNoShape">
                  <a:avLst/>
                </a:prstTxWarp>
              </a:bodyPr>
              <a:lstStyle/>
              <a:p>
                <a:pPr marL="0" marR="0" lvl="0" indent="0" algn="l" defTabSz="1018824" rtl="0" eaLnBrk="1" fontAlgn="auto" latinLnBrk="0" hangingPunct="1">
                  <a:lnSpc>
                    <a:spcPct val="100000"/>
                  </a:lnSpc>
                  <a:spcBef>
                    <a:spcPts val="0"/>
                  </a:spcBef>
                  <a:spcAft>
                    <a:spcPts val="0"/>
                  </a:spcAft>
                  <a:buClrTx/>
                  <a:buSzTx/>
                  <a:buFontTx/>
                  <a:buNone/>
                  <a:tabLst/>
                  <a:defRPr/>
                </a:pPr>
                <a:endParaRPr kumimoji="0" lang="en-GB" sz="1719" b="0" i="0" u="none" strike="noStrike" kern="0" cap="none" spc="0" normalizeH="0" baseline="0" noProof="0">
                  <a:ln>
                    <a:noFill/>
                  </a:ln>
                  <a:solidFill>
                    <a:prstClr val="black"/>
                  </a:solidFill>
                  <a:effectLst/>
                  <a:uLnTx/>
                  <a:uFillTx/>
                  <a:latin typeface="Verdana"/>
                  <a:ea typeface="+mn-ea"/>
                  <a:cs typeface="+mn-cs"/>
                </a:endParaRPr>
              </a:p>
            </p:txBody>
          </p:sp>
        </p:grpSp>
        <p:grpSp>
          <p:nvGrpSpPr>
            <p:cNvPr id="10" name="Group 781">
              <a:extLst>
                <a:ext uri="{FF2B5EF4-FFF2-40B4-BE49-F238E27FC236}">
                  <a16:creationId xmlns:a16="http://schemas.microsoft.com/office/drawing/2014/main" id="{54712F30-E2A1-421B-AF81-748F2E942EB1}"/>
                </a:ext>
              </a:extLst>
            </p:cNvPr>
            <p:cNvGrpSpPr>
              <a:grpSpLocks noChangeAspect="1"/>
            </p:cNvGrpSpPr>
            <p:nvPr/>
          </p:nvGrpSpPr>
          <p:grpSpPr bwMode="auto">
            <a:xfrm>
              <a:off x="6978937" y="1760903"/>
              <a:ext cx="327389" cy="327389"/>
              <a:chOff x="7332" y="2771"/>
              <a:chExt cx="340" cy="340"/>
            </a:xfrm>
            <a:solidFill>
              <a:sysClr val="windowText" lastClr="000000"/>
            </a:solidFill>
          </p:grpSpPr>
          <p:sp>
            <p:nvSpPr>
              <p:cNvPr id="30" name="Freeform 782">
                <a:extLst>
                  <a:ext uri="{FF2B5EF4-FFF2-40B4-BE49-F238E27FC236}">
                    <a16:creationId xmlns:a16="http://schemas.microsoft.com/office/drawing/2014/main" id="{A3EF63A7-B7A6-4024-A830-338097D23B97}"/>
                  </a:ext>
                </a:extLst>
              </p:cNvPr>
              <p:cNvSpPr>
                <a:spLocks noEditPoints="1"/>
              </p:cNvSpPr>
              <p:nvPr/>
            </p:nvSpPr>
            <p:spPr bwMode="auto">
              <a:xfrm>
                <a:off x="7332" y="2771"/>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6586" tIns="38294" rIns="76586" bIns="38294" numCol="1" anchor="t" anchorCtr="0" compatLnSpc="1">
                <a:prstTxWarp prst="textNoShape">
                  <a:avLst/>
                </a:prstTxWarp>
              </a:bodyPr>
              <a:lstStyle/>
              <a:p>
                <a:pPr marL="0" marR="0" lvl="0" indent="0" algn="l" defTabSz="1018824" rtl="0" eaLnBrk="1" fontAlgn="auto" latinLnBrk="0" hangingPunct="1">
                  <a:lnSpc>
                    <a:spcPct val="100000"/>
                  </a:lnSpc>
                  <a:spcBef>
                    <a:spcPts val="0"/>
                  </a:spcBef>
                  <a:spcAft>
                    <a:spcPts val="0"/>
                  </a:spcAft>
                  <a:buClrTx/>
                  <a:buSzTx/>
                  <a:buFontTx/>
                  <a:buNone/>
                  <a:tabLst/>
                  <a:defRPr/>
                </a:pPr>
                <a:endParaRPr kumimoji="0" lang="en-GB" sz="1719" b="0" i="0" u="none" strike="noStrike" kern="0" cap="none" spc="0" normalizeH="0" baseline="0" noProof="0">
                  <a:ln>
                    <a:noFill/>
                  </a:ln>
                  <a:solidFill>
                    <a:prstClr val="black"/>
                  </a:solidFill>
                  <a:effectLst/>
                  <a:uLnTx/>
                  <a:uFillTx/>
                  <a:latin typeface="Verdana"/>
                  <a:ea typeface="+mn-ea"/>
                  <a:cs typeface="+mn-cs"/>
                </a:endParaRPr>
              </a:p>
            </p:txBody>
          </p:sp>
          <p:sp>
            <p:nvSpPr>
              <p:cNvPr id="31" name="Freeform 783">
                <a:extLst>
                  <a:ext uri="{FF2B5EF4-FFF2-40B4-BE49-F238E27FC236}">
                    <a16:creationId xmlns:a16="http://schemas.microsoft.com/office/drawing/2014/main" id="{A16EEA82-1070-416F-9954-C540506A3E60}"/>
                  </a:ext>
                </a:extLst>
              </p:cNvPr>
              <p:cNvSpPr>
                <a:spLocks noEditPoints="1"/>
              </p:cNvSpPr>
              <p:nvPr/>
            </p:nvSpPr>
            <p:spPr bwMode="auto">
              <a:xfrm>
                <a:off x="7436" y="2835"/>
                <a:ext cx="144" cy="212"/>
              </a:xfrm>
              <a:custGeom>
                <a:avLst/>
                <a:gdLst>
                  <a:gd name="T0" fmla="*/ 216 w 216"/>
                  <a:gd name="T1" fmla="*/ 277 h 320"/>
                  <a:gd name="T2" fmla="*/ 195 w 216"/>
                  <a:gd name="T3" fmla="*/ 277 h 320"/>
                  <a:gd name="T4" fmla="*/ 184 w 216"/>
                  <a:gd name="T5" fmla="*/ 245 h 320"/>
                  <a:gd name="T6" fmla="*/ 173 w 216"/>
                  <a:gd name="T7" fmla="*/ 266 h 320"/>
                  <a:gd name="T8" fmla="*/ 152 w 216"/>
                  <a:gd name="T9" fmla="*/ 266 h 320"/>
                  <a:gd name="T10" fmla="*/ 141 w 216"/>
                  <a:gd name="T11" fmla="*/ 224 h 320"/>
                  <a:gd name="T12" fmla="*/ 131 w 216"/>
                  <a:gd name="T13" fmla="*/ 266 h 320"/>
                  <a:gd name="T14" fmla="*/ 109 w 216"/>
                  <a:gd name="T15" fmla="*/ 266 h 320"/>
                  <a:gd name="T16" fmla="*/ 99 w 216"/>
                  <a:gd name="T17" fmla="*/ 160 h 320"/>
                  <a:gd name="T18" fmla="*/ 88 w 216"/>
                  <a:gd name="T19" fmla="*/ 298 h 320"/>
                  <a:gd name="T20" fmla="*/ 82 w 216"/>
                  <a:gd name="T21" fmla="*/ 312 h 320"/>
                  <a:gd name="T22" fmla="*/ 53 w 216"/>
                  <a:gd name="T23" fmla="*/ 275 h 320"/>
                  <a:gd name="T24" fmla="*/ 31 w 216"/>
                  <a:gd name="T25" fmla="*/ 256 h 320"/>
                  <a:gd name="T26" fmla="*/ 25 w 216"/>
                  <a:gd name="T27" fmla="*/ 260 h 320"/>
                  <a:gd name="T28" fmla="*/ 32 w 216"/>
                  <a:gd name="T29" fmla="*/ 284 h 320"/>
                  <a:gd name="T30" fmla="*/ 36 w 216"/>
                  <a:gd name="T31" fmla="*/ 319 h 320"/>
                  <a:gd name="T32" fmla="*/ 22 w 216"/>
                  <a:gd name="T33" fmla="*/ 314 h 320"/>
                  <a:gd name="T34" fmla="*/ 5 w 216"/>
                  <a:gd name="T35" fmla="*/ 252 h 320"/>
                  <a:gd name="T36" fmla="*/ 49 w 216"/>
                  <a:gd name="T37" fmla="*/ 239 h 320"/>
                  <a:gd name="T38" fmla="*/ 67 w 216"/>
                  <a:gd name="T39" fmla="*/ 170 h 320"/>
                  <a:gd name="T40" fmla="*/ 131 w 216"/>
                  <a:gd name="T41" fmla="*/ 170 h 320"/>
                  <a:gd name="T42" fmla="*/ 141 w 216"/>
                  <a:gd name="T43" fmla="*/ 202 h 320"/>
                  <a:gd name="T44" fmla="*/ 184 w 216"/>
                  <a:gd name="T45" fmla="*/ 224 h 320"/>
                  <a:gd name="T46" fmla="*/ 24 w 216"/>
                  <a:gd name="T47" fmla="*/ 42 h 320"/>
                  <a:gd name="T48" fmla="*/ 24 w 216"/>
                  <a:gd name="T49" fmla="*/ 0 h 320"/>
                  <a:gd name="T50" fmla="*/ 24 w 216"/>
                  <a:gd name="T51" fmla="*/ 42 h 320"/>
                  <a:gd name="T52" fmla="*/ 120 w 216"/>
                  <a:gd name="T53" fmla="*/ 21 h 320"/>
                  <a:gd name="T54" fmla="*/ 78 w 216"/>
                  <a:gd name="T55" fmla="*/ 21 h 320"/>
                  <a:gd name="T56" fmla="*/ 173 w 216"/>
                  <a:gd name="T57" fmla="*/ 42 h 320"/>
                  <a:gd name="T58" fmla="*/ 173 w 216"/>
                  <a:gd name="T59" fmla="*/ 0 h 320"/>
                  <a:gd name="T60" fmla="*/ 173 w 216"/>
                  <a:gd name="T61" fmla="*/ 42 h 320"/>
                  <a:gd name="T62" fmla="*/ 45 w 216"/>
                  <a:gd name="T63" fmla="*/ 96 h 320"/>
                  <a:gd name="T64" fmla="*/ 3 w 216"/>
                  <a:gd name="T65" fmla="*/ 96 h 320"/>
                  <a:gd name="T66" fmla="*/ 24 w 216"/>
                  <a:gd name="T67" fmla="*/ 191 h 320"/>
                  <a:gd name="T68" fmla="*/ 24 w 216"/>
                  <a:gd name="T69" fmla="*/ 149 h 320"/>
                  <a:gd name="T70" fmla="*/ 24 w 216"/>
                  <a:gd name="T71" fmla="*/ 191 h 320"/>
                  <a:gd name="T72" fmla="*/ 120 w 216"/>
                  <a:gd name="T73" fmla="*/ 96 h 320"/>
                  <a:gd name="T74" fmla="*/ 78 w 216"/>
                  <a:gd name="T75" fmla="*/ 96 h 320"/>
                  <a:gd name="T76" fmla="*/ 173 w 216"/>
                  <a:gd name="T77" fmla="*/ 117 h 320"/>
                  <a:gd name="T78" fmla="*/ 173 w 216"/>
                  <a:gd name="T79" fmla="*/ 75 h 320"/>
                  <a:gd name="T80" fmla="*/ 173 w 216"/>
                  <a:gd name="T81" fmla="*/ 117 h 320"/>
                  <a:gd name="T82" fmla="*/ 194 w 216"/>
                  <a:gd name="T83" fmla="*/ 170 h 320"/>
                  <a:gd name="T84" fmla="*/ 152 w 216"/>
                  <a:gd name="T85" fmla="*/ 170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6" h="320">
                    <a:moveTo>
                      <a:pt x="216" y="256"/>
                    </a:moveTo>
                    <a:cubicBezTo>
                      <a:pt x="216" y="277"/>
                      <a:pt x="216" y="277"/>
                      <a:pt x="216" y="277"/>
                    </a:cubicBezTo>
                    <a:cubicBezTo>
                      <a:pt x="216" y="283"/>
                      <a:pt x="211" y="288"/>
                      <a:pt x="205" y="288"/>
                    </a:cubicBezTo>
                    <a:cubicBezTo>
                      <a:pt x="199" y="288"/>
                      <a:pt x="195" y="283"/>
                      <a:pt x="195" y="277"/>
                    </a:cubicBezTo>
                    <a:cubicBezTo>
                      <a:pt x="195" y="256"/>
                      <a:pt x="195" y="256"/>
                      <a:pt x="195" y="256"/>
                    </a:cubicBezTo>
                    <a:cubicBezTo>
                      <a:pt x="195" y="250"/>
                      <a:pt x="190" y="245"/>
                      <a:pt x="184" y="245"/>
                    </a:cubicBezTo>
                    <a:cubicBezTo>
                      <a:pt x="178" y="245"/>
                      <a:pt x="173" y="250"/>
                      <a:pt x="173" y="256"/>
                    </a:cubicBezTo>
                    <a:cubicBezTo>
                      <a:pt x="173" y="266"/>
                      <a:pt x="173" y="266"/>
                      <a:pt x="173" y="266"/>
                    </a:cubicBezTo>
                    <a:cubicBezTo>
                      <a:pt x="173" y="272"/>
                      <a:pt x="169" y="277"/>
                      <a:pt x="163" y="277"/>
                    </a:cubicBezTo>
                    <a:cubicBezTo>
                      <a:pt x="157" y="277"/>
                      <a:pt x="152" y="272"/>
                      <a:pt x="152" y="266"/>
                    </a:cubicBezTo>
                    <a:cubicBezTo>
                      <a:pt x="152" y="234"/>
                      <a:pt x="152" y="234"/>
                      <a:pt x="152" y="234"/>
                    </a:cubicBezTo>
                    <a:cubicBezTo>
                      <a:pt x="152" y="228"/>
                      <a:pt x="147" y="224"/>
                      <a:pt x="141" y="224"/>
                    </a:cubicBezTo>
                    <a:cubicBezTo>
                      <a:pt x="135" y="224"/>
                      <a:pt x="131" y="228"/>
                      <a:pt x="131" y="234"/>
                    </a:cubicBezTo>
                    <a:cubicBezTo>
                      <a:pt x="131" y="266"/>
                      <a:pt x="131" y="266"/>
                      <a:pt x="131" y="266"/>
                    </a:cubicBezTo>
                    <a:cubicBezTo>
                      <a:pt x="131" y="272"/>
                      <a:pt x="126" y="277"/>
                      <a:pt x="120" y="277"/>
                    </a:cubicBezTo>
                    <a:cubicBezTo>
                      <a:pt x="114" y="277"/>
                      <a:pt x="109" y="272"/>
                      <a:pt x="109" y="266"/>
                    </a:cubicBezTo>
                    <a:cubicBezTo>
                      <a:pt x="109" y="170"/>
                      <a:pt x="109" y="170"/>
                      <a:pt x="109" y="170"/>
                    </a:cubicBezTo>
                    <a:cubicBezTo>
                      <a:pt x="109" y="164"/>
                      <a:pt x="105" y="160"/>
                      <a:pt x="99" y="160"/>
                    </a:cubicBezTo>
                    <a:cubicBezTo>
                      <a:pt x="93" y="160"/>
                      <a:pt x="88" y="164"/>
                      <a:pt x="88" y="170"/>
                    </a:cubicBezTo>
                    <a:cubicBezTo>
                      <a:pt x="88" y="298"/>
                      <a:pt x="88" y="298"/>
                      <a:pt x="88" y="298"/>
                    </a:cubicBezTo>
                    <a:cubicBezTo>
                      <a:pt x="88" y="299"/>
                      <a:pt x="88" y="299"/>
                      <a:pt x="88" y="300"/>
                    </a:cubicBezTo>
                    <a:cubicBezTo>
                      <a:pt x="89" y="305"/>
                      <a:pt x="87" y="310"/>
                      <a:pt x="82" y="312"/>
                    </a:cubicBezTo>
                    <a:cubicBezTo>
                      <a:pt x="77" y="314"/>
                      <a:pt x="70" y="312"/>
                      <a:pt x="68" y="307"/>
                    </a:cubicBezTo>
                    <a:cubicBezTo>
                      <a:pt x="53" y="275"/>
                      <a:pt x="53" y="275"/>
                      <a:pt x="53" y="275"/>
                    </a:cubicBezTo>
                    <a:cubicBezTo>
                      <a:pt x="50" y="269"/>
                      <a:pt x="46" y="262"/>
                      <a:pt x="38" y="258"/>
                    </a:cubicBezTo>
                    <a:cubicBezTo>
                      <a:pt x="36" y="257"/>
                      <a:pt x="33" y="255"/>
                      <a:pt x="31" y="256"/>
                    </a:cubicBezTo>
                    <a:cubicBezTo>
                      <a:pt x="31" y="256"/>
                      <a:pt x="30" y="256"/>
                      <a:pt x="29" y="257"/>
                    </a:cubicBezTo>
                    <a:cubicBezTo>
                      <a:pt x="26" y="257"/>
                      <a:pt x="25" y="259"/>
                      <a:pt x="25" y="260"/>
                    </a:cubicBezTo>
                    <a:cubicBezTo>
                      <a:pt x="23" y="264"/>
                      <a:pt x="24" y="272"/>
                      <a:pt x="31" y="283"/>
                    </a:cubicBezTo>
                    <a:cubicBezTo>
                      <a:pt x="31" y="283"/>
                      <a:pt x="32" y="283"/>
                      <a:pt x="32" y="284"/>
                    </a:cubicBezTo>
                    <a:cubicBezTo>
                      <a:pt x="41" y="305"/>
                      <a:pt x="41" y="305"/>
                      <a:pt x="41" y="305"/>
                    </a:cubicBezTo>
                    <a:cubicBezTo>
                      <a:pt x="44" y="310"/>
                      <a:pt x="42" y="316"/>
                      <a:pt x="36" y="319"/>
                    </a:cubicBezTo>
                    <a:cubicBezTo>
                      <a:pt x="35" y="319"/>
                      <a:pt x="33" y="320"/>
                      <a:pt x="32" y="320"/>
                    </a:cubicBezTo>
                    <a:cubicBezTo>
                      <a:pt x="28" y="320"/>
                      <a:pt x="24" y="317"/>
                      <a:pt x="22" y="314"/>
                    </a:cubicBezTo>
                    <a:cubicBezTo>
                      <a:pt x="13" y="293"/>
                      <a:pt x="13" y="293"/>
                      <a:pt x="13" y="293"/>
                    </a:cubicBezTo>
                    <a:cubicBezTo>
                      <a:pt x="3" y="278"/>
                      <a:pt x="0" y="263"/>
                      <a:pt x="5" y="252"/>
                    </a:cubicBezTo>
                    <a:cubicBezTo>
                      <a:pt x="8" y="244"/>
                      <a:pt x="15" y="238"/>
                      <a:pt x="23" y="236"/>
                    </a:cubicBezTo>
                    <a:cubicBezTo>
                      <a:pt x="31" y="233"/>
                      <a:pt x="40" y="234"/>
                      <a:pt x="49" y="239"/>
                    </a:cubicBezTo>
                    <a:cubicBezTo>
                      <a:pt x="56" y="243"/>
                      <a:pt x="61" y="249"/>
                      <a:pt x="67" y="256"/>
                    </a:cubicBezTo>
                    <a:cubicBezTo>
                      <a:pt x="67" y="170"/>
                      <a:pt x="67" y="170"/>
                      <a:pt x="67" y="170"/>
                    </a:cubicBezTo>
                    <a:cubicBezTo>
                      <a:pt x="67" y="153"/>
                      <a:pt x="81" y="138"/>
                      <a:pt x="99" y="138"/>
                    </a:cubicBezTo>
                    <a:cubicBezTo>
                      <a:pt x="116" y="138"/>
                      <a:pt x="131" y="153"/>
                      <a:pt x="131" y="170"/>
                    </a:cubicBezTo>
                    <a:cubicBezTo>
                      <a:pt x="131" y="204"/>
                      <a:pt x="131" y="204"/>
                      <a:pt x="131" y="204"/>
                    </a:cubicBezTo>
                    <a:cubicBezTo>
                      <a:pt x="135" y="203"/>
                      <a:pt x="138" y="202"/>
                      <a:pt x="141" y="202"/>
                    </a:cubicBezTo>
                    <a:cubicBezTo>
                      <a:pt x="156" y="202"/>
                      <a:pt x="168" y="212"/>
                      <a:pt x="172" y="226"/>
                    </a:cubicBezTo>
                    <a:cubicBezTo>
                      <a:pt x="176" y="225"/>
                      <a:pt x="180" y="224"/>
                      <a:pt x="184" y="224"/>
                    </a:cubicBezTo>
                    <a:cubicBezTo>
                      <a:pt x="202" y="224"/>
                      <a:pt x="216" y="238"/>
                      <a:pt x="216" y="256"/>
                    </a:cubicBezTo>
                    <a:close/>
                    <a:moveTo>
                      <a:pt x="24" y="42"/>
                    </a:moveTo>
                    <a:cubicBezTo>
                      <a:pt x="36" y="42"/>
                      <a:pt x="45" y="33"/>
                      <a:pt x="45" y="21"/>
                    </a:cubicBezTo>
                    <a:cubicBezTo>
                      <a:pt x="45" y="9"/>
                      <a:pt x="36" y="0"/>
                      <a:pt x="24" y="0"/>
                    </a:cubicBezTo>
                    <a:cubicBezTo>
                      <a:pt x="12" y="0"/>
                      <a:pt x="3" y="9"/>
                      <a:pt x="3" y="21"/>
                    </a:cubicBezTo>
                    <a:cubicBezTo>
                      <a:pt x="3" y="33"/>
                      <a:pt x="12" y="42"/>
                      <a:pt x="24" y="42"/>
                    </a:cubicBezTo>
                    <a:close/>
                    <a:moveTo>
                      <a:pt x="99" y="42"/>
                    </a:moveTo>
                    <a:cubicBezTo>
                      <a:pt x="110" y="42"/>
                      <a:pt x="120" y="33"/>
                      <a:pt x="120" y="21"/>
                    </a:cubicBezTo>
                    <a:cubicBezTo>
                      <a:pt x="120" y="9"/>
                      <a:pt x="110" y="0"/>
                      <a:pt x="99" y="0"/>
                    </a:cubicBezTo>
                    <a:cubicBezTo>
                      <a:pt x="87" y="0"/>
                      <a:pt x="78" y="9"/>
                      <a:pt x="78" y="21"/>
                    </a:cubicBezTo>
                    <a:cubicBezTo>
                      <a:pt x="78" y="33"/>
                      <a:pt x="87" y="42"/>
                      <a:pt x="99" y="42"/>
                    </a:cubicBezTo>
                    <a:close/>
                    <a:moveTo>
                      <a:pt x="173" y="42"/>
                    </a:moveTo>
                    <a:cubicBezTo>
                      <a:pt x="185" y="42"/>
                      <a:pt x="194" y="33"/>
                      <a:pt x="194" y="21"/>
                    </a:cubicBezTo>
                    <a:cubicBezTo>
                      <a:pt x="194" y="9"/>
                      <a:pt x="185" y="0"/>
                      <a:pt x="173" y="0"/>
                    </a:cubicBezTo>
                    <a:cubicBezTo>
                      <a:pt x="162" y="0"/>
                      <a:pt x="152" y="9"/>
                      <a:pt x="152" y="21"/>
                    </a:cubicBezTo>
                    <a:cubicBezTo>
                      <a:pt x="152" y="33"/>
                      <a:pt x="162" y="42"/>
                      <a:pt x="173" y="42"/>
                    </a:cubicBezTo>
                    <a:close/>
                    <a:moveTo>
                      <a:pt x="24" y="117"/>
                    </a:moveTo>
                    <a:cubicBezTo>
                      <a:pt x="36" y="117"/>
                      <a:pt x="45" y="107"/>
                      <a:pt x="45" y="96"/>
                    </a:cubicBezTo>
                    <a:cubicBezTo>
                      <a:pt x="45" y="84"/>
                      <a:pt x="36" y="75"/>
                      <a:pt x="24" y="75"/>
                    </a:cubicBezTo>
                    <a:cubicBezTo>
                      <a:pt x="12" y="75"/>
                      <a:pt x="3" y="84"/>
                      <a:pt x="3" y="96"/>
                    </a:cubicBezTo>
                    <a:cubicBezTo>
                      <a:pt x="3" y="107"/>
                      <a:pt x="12" y="117"/>
                      <a:pt x="24" y="117"/>
                    </a:cubicBezTo>
                    <a:close/>
                    <a:moveTo>
                      <a:pt x="24" y="191"/>
                    </a:moveTo>
                    <a:cubicBezTo>
                      <a:pt x="36" y="191"/>
                      <a:pt x="45" y="182"/>
                      <a:pt x="45" y="170"/>
                    </a:cubicBezTo>
                    <a:cubicBezTo>
                      <a:pt x="45" y="159"/>
                      <a:pt x="36" y="149"/>
                      <a:pt x="24" y="149"/>
                    </a:cubicBezTo>
                    <a:cubicBezTo>
                      <a:pt x="12" y="149"/>
                      <a:pt x="3" y="159"/>
                      <a:pt x="3" y="170"/>
                    </a:cubicBezTo>
                    <a:cubicBezTo>
                      <a:pt x="3" y="182"/>
                      <a:pt x="12" y="191"/>
                      <a:pt x="24" y="191"/>
                    </a:cubicBezTo>
                    <a:close/>
                    <a:moveTo>
                      <a:pt x="99" y="117"/>
                    </a:moveTo>
                    <a:cubicBezTo>
                      <a:pt x="110" y="117"/>
                      <a:pt x="120" y="107"/>
                      <a:pt x="120" y="96"/>
                    </a:cubicBezTo>
                    <a:cubicBezTo>
                      <a:pt x="120" y="84"/>
                      <a:pt x="110" y="75"/>
                      <a:pt x="99" y="75"/>
                    </a:cubicBezTo>
                    <a:cubicBezTo>
                      <a:pt x="87" y="75"/>
                      <a:pt x="78" y="84"/>
                      <a:pt x="78" y="96"/>
                    </a:cubicBezTo>
                    <a:cubicBezTo>
                      <a:pt x="78" y="107"/>
                      <a:pt x="87" y="117"/>
                      <a:pt x="99" y="117"/>
                    </a:cubicBezTo>
                    <a:close/>
                    <a:moveTo>
                      <a:pt x="173" y="117"/>
                    </a:moveTo>
                    <a:cubicBezTo>
                      <a:pt x="185" y="117"/>
                      <a:pt x="194" y="107"/>
                      <a:pt x="194" y="96"/>
                    </a:cubicBezTo>
                    <a:cubicBezTo>
                      <a:pt x="194" y="84"/>
                      <a:pt x="185" y="75"/>
                      <a:pt x="173" y="75"/>
                    </a:cubicBezTo>
                    <a:cubicBezTo>
                      <a:pt x="162" y="75"/>
                      <a:pt x="152" y="84"/>
                      <a:pt x="152" y="96"/>
                    </a:cubicBezTo>
                    <a:cubicBezTo>
                      <a:pt x="152" y="107"/>
                      <a:pt x="162" y="117"/>
                      <a:pt x="173" y="117"/>
                    </a:cubicBezTo>
                    <a:close/>
                    <a:moveTo>
                      <a:pt x="173" y="191"/>
                    </a:moveTo>
                    <a:cubicBezTo>
                      <a:pt x="185" y="191"/>
                      <a:pt x="194" y="182"/>
                      <a:pt x="194" y="170"/>
                    </a:cubicBezTo>
                    <a:cubicBezTo>
                      <a:pt x="194" y="159"/>
                      <a:pt x="185" y="149"/>
                      <a:pt x="173" y="149"/>
                    </a:cubicBezTo>
                    <a:cubicBezTo>
                      <a:pt x="162" y="149"/>
                      <a:pt x="152" y="159"/>
                      <a:pt x="152" y="170"/>
                    </a:cubicBezTo>
                    <a:cubicBezTo>
                      <a:pt x="152" y="182"/>
                      <a:pt x="162" y="191"/>
                      <a:pt x="173" y="19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6586" tIns="38294" rIns="76586" bIns="38294" numCol="1" anchor="t" anchorCtr="0" compatLnSpc="1">
                <a:prstTxWarp prst="textNoShape">
                  <a:avLst/>
                </a:prstTxWarp>
              </a:bodyPr>
              <a:lstStyle/>
              <a:p>
                <a:pPr marL="0" marR="0" lvl="0" indent="0" algn="l" defTabSz="1018824" rtl="0" eaLnBrk="1" fontAlgn="auto" latinLnBrk="0" hangingPunct="1">
                  <a:lnSpc>
                    <a:spcPct val="100000"/>
                  </a:lnSpc>
                  <a:spcBef>
                    <a:spcPts val="0"/>
                  </a:spcBef>
                  <a:spcAft>
                    <a:spcPts val="0"/>
                  </a:spcAft>
                  <a:buClrTx/>
                  <a:buSzTx/>
                  <a:buFontTx/>
                  <a:buNone/>
                  <a:tabLst/>
                  <a:defRPr/>
                </a:pPr>
                <a:endParaRPr kumimoji="0" lang="en-GB" sz="1719" b="0" i="0" u="none" strike="noStrike" kern="0" cap="none" spc="0" normalizeH="0" baseline="0" noProof="0">
                  <a:ln>
                    <a:noFill/>
                  </a:ln>
                  <a:solidFill>
                    <a:prstClr val="black"/>
                  </a:solidFill>
                  <a:effectLst/>
                  <a:uLnTx/>
                  <a:uFillTx/>
                  <a:latin typeface="Verdana"/>
                  <a:ea typeface="+mn-ea"/>
                  <a:cs typeface="+mn-cs"/>
                </a:endParaRPr>
              </a:p>
            </p:txBody>
          </p:sp>
        </p:grpSp>
        <p:grpSp>
          <p:nvGrpSpPr>
            <p:cNvPr id="11" name="Group 192">
              <a:extLst>
                <a:ext uri="{FF2B5EF4-FFF2-40B4-BE49-F238E27FC236}">
                  <a16:creationId xmlns:a16="http://schemas.microsoft.com/office/drawing/2014/main" id="{1C091631-F4D0-4B09-A285-160C8A02947E}"/>
                </a:ext>
              </a:extLst>
            </p:cNvPr>
            <p:cNvGrpSpPr>
              <a:grpSpLocks noChangeAspect="1"/>
            </p:cNvGrpSpPr>
            <p:nvPr/>
          </p:nvGrpSpPr>
          <p:grpSpPr bwMode="auto">
            <a:xfrm>
              <a:off x="8829629" y="1761736"/>
              <a:ext cx="325723" cy="325723"/>
              <a:chOff x="378" y="713"/>
              <a:chExt cx="340" cy="340"/>
            </a:xfrm>
            <a:solidFill>
              <a:sysClr val="windowText" lastClr="000000"/>
            </a:solidFill>
          </p:grpSpPr>
          <p:sp>
            <p:nvSpPr>
              <p:cNvPr id="28" name="Freeform 193">
                <a:extLst>
                  <a:ext uri="{FF2B5EF4-FFF2-40B4-BE49-F238E27FC236}">
                    <a16:creationId xmlns:a16="http://schemas.microsoft.com/office/drawing/2014/main" id="{8FFB0540-C3BA-4D34-B3A3-1F8AE695336B}"/>
                  </a:ext>
                </a:extLst>
              </p:cNvPr>
              <p:cNvSpPr>
                <a:spLocks noEditPoints="1"/>
              </p:cNvSpPr>
              <p:nvPr/>
            </p:nvSpPr>
            <p:spPr bwMode="auto">
              <a:xfrm>
                <a:off x="378" y="713"/>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6586" tIns="38294" rIns="76586" bIns="38294" numCol="1" anchor="t" anchorCtr="0" compatLnSpc="1">
                <a:prstTxWarp prst="textNoShape">
                  <a:avLst/>
                </a:prstTxWarp>
              </a:bodyPr>
              <a:lstStyle/>
              <a:p>
                <a:pPr marL="0" marR="0" lvl="0" indent="0" algn="l" defTabSz="1018824" rtl="0" eaLnBrk="1" fontAlgn="auto" latinLnBrk="0" hangingPunct="1">
                  <a:lnSpc>
                    <a:spcPct val="100000"/>
                  </a:lnSpc>
                  <a:spcBef>
                    <a:spcPts val="0"/>
                  </a:spcBef>
                  <a:spcAft>
                    <a:spcPts val="0"/>
                  </a:spcAft>
                  <a:buClrTx/>
                  <a:buSzTx/>
                  <a:buFontTx/>
                  <a:buNone/>
                  <a:tabLst/>
                  <a:defRPr/>
                </a:pPr>
                <a:endParaRPr kumimoji="0" lang="en-GB" sz="1719" b="0" i="0" u="none" strike="noStrike" kern="0" cap="none" spc="0" normalizeH="0" baseline="0" noProof="0">
                  <a:ln>
                    <a:noFill/>
                  </a:ln>
                  <a:solidFill>
                    <a:prstClr val="black"/>
                  </a:solidFill>
                  <a:effectLst/>
                  <a:uLnTx/>
                  <a:uFillTx/>
                  <a:latin typeface="Verdana"/>
                  <a:ea typeface="+mn-ea"/>
                  <a:cs typeface="+mn-cs"/>
                </a:endParaRPr>
              </a:p>
            </p:txBody>
          </p:sp>
          <p:sp>
            <p:nvSpPr>
              <p:cNvPr id="29" name="Freeform 194">
                <a:extLst>
                  <a:ext uri="{FF2B5EF4-FFF2-40B4-BE49-F238E27FC236}">
                    <a16:creationId xmlns:a16="http://schemas.microsoft.com/office/drawing/2014/main" id="{FE824DA8-360D-4CC5-A71E-EA010B6C210F}"/>
                  </a:ext>
                </a:extLst>
              </p:cNvPr>
              <p:cNvSpPr>
                <a:spLocks noEditPoints="1"/>
              </p:cNvSpPr>
              <p:nvPr/>
            </p:nvSpPr>
            <p:spPr bwMode="auto">
              <a:xfrm>
                <a:off x="442" y="812"/>
                <a:ext cx="212" cy="157"/>
              </a:xfrm>
              <a:custGeom>
                <a:avLst/>
                <a:gdLst>
                  <a:gd name="T0" fmla="*/ 309 w 320"/>
                  <a:gd name="T1" fmla="*/ 21 h 236"/>
                  <a:gd name="T2" fmla="*/ 309 w 320"/>
                  <a:gd name="T3" fmla="*/ 0 h 236"/>
                  <a:gd name="T4" fmla="*/ 288 w 320"/>
                  <a:gd name="T5" fmla="*/ 11 h 236"/>
                  <a:gd name="T6" fmla="*/ 247 w 320"/>
                  <a:gd name="T7" fmla="*/ 32 h 236"/>
                  <a:gd name="T8" fmla="*/ 165 w 320"/>
                  <a:gd name="T9" fmla="*/ 12 h 236"/>
                  <a:gd name="T10" fmla="*/ 128 w 320"/>
                  <a:gd name="T11" fmla="*/ 32 h 236"/>
                  <a:gd name="T12" fmla="*/ 32 w 320"/>
                  <a:gd name="T13" fmla="*/ 11 h 236"/>
                  <a:gd name="T14" fmla="*/ 10 w 320"/>
                  <a:gd name="T15" fmla="*/ 0 h 236"/>
                  <a:gd name="T16" fmla="*/ 10 w 320"/>
                  <a:gd name="T17" fmla="*/ 21 h 236"/>
                  <a:gd name="T18" fmla="*/ 0 w 320"/>
                  <a:gd name="T19" fmla="*/ 181 h 236"/>
                  <a:gd name="T20" fmla="*/ 21 w 320"/>
                  <a:gd name="T21" fmla="*/ 192 h 236"/>
                  <a:gd name="T22" fmla="*/ 32 w 320"/>
                  <a:gd name="T23" fmla="*/ 171 h 236"/>
                  <a:gd name="T24" fmla="*/ 76 w 320"/>
                  <a:gd name="T25" fmla="*/ 219 h 236"/>
                  <a:gd name="T26" fmla="*/ 121 w 320"/>
                  <a:gd name="T27" fmla="*/ 232 h 236"/>
                  <a:gd name="T28" fmla="*/ 154 w 320"/>
                  <a:gd name="T29" fmla="*/ 235 h 236"/>
                  <a:gd name="T30" fmla="*/ 181 w 320"/>
                  <a:gd name="T31" fmla="*/ 221 h 236"/>
                  <a:gd name="T32" fmla="*/ 222 w 320"/>
                  <a:gd name="T33" fmla="*/ 227 h 236"/>
                  <a:gd name="T34" fmla="*/ 242 w 320"/>
                  <a:gd name="T35" fmla="*/ 210 h 236"/>
                  <a:gd name="T36" fmla="*/ 275 w 320"/>
                  <a:gd name="T37" fmla="*/ 185 h 236"/>
                  <a:gd name="T38" fmla="*/ 288 w 320"/>
                  <a:gd name="T39" fmla="*/ 171 h 236"/>
                  <a:gd name="T40" fmla="*/ 298 w 320"/>
                  <a:gd name="T41" fmla="*/ 192 h 236"/>
                  <a:gd name="T42" fmla="*/ 320 w 320"/>
                  <a:gd name="T43" fmla="*/ 181 h 236"/>
                  <a:gd name="T44" fmla="*/ 254 w 320"/>
                  <a:gd name="T45" fmla="*/ 179 h 236"/>
                  <a:gd name="T46" fmla="*/ 239 w 320"/>
                  <a:gd name="T47" fmla="*/ 188 h 236"/>
                  <a:gd name="T48" fmla="*/ 232 w 320"/>
                  <a:gd name="T49" fmla="*/ 183 h 236"/>
                  <a:gd name="T50" fmla="*/ 198 w 320"/>
                  <a:gd name="T51" fmla="*/ 125 h 236"/>
                  <a:gd name="T52" fmla="*/ 179 w 320"/>
                  <a:gd name="T53" fmla="*/ 135 h 236"/>
                  <a:gd name="T54" fmla="*/ 214 w 320"/>
                  <a:gd name="T55" fmla="*/ 194 h 236"/>
                  <a:gd name="T56" fmla="*/ 194 w 320"/>
                  <a:gd name="T57" fmla="*/ 204 h 236"/>
                  <a:gd name="T58" fmla="*/ 147 w 320"/>
                  <a:gd name="T59" fmla="*/ 147 h 236"/>
                  <a:gd name="T60" fmla="*/ 164 w 320"/>
                  <a:gd name="T61" fmla="*/ 196 h 236"/>
                  <a:gd name="T62" fmla="*/ 160 w 320"/>
                  <a:gd name="T63" fmla="*/ 212 h 236"/>
                  <a:gd name="T64" fmla="*/ 143 w 320"/>
                  <a:gd name="T65" fmla="*/ 208 h 236"/>
                  <a:gd name="T66" fmla="*/ 132 w 320"/>
                  <a:gd name="T67" fmla="*/ 188 h 236"/>
                  <a:gd name="T68" fmla="*/ 124 w 320"/>
                  <a:gd name="T69" fmla="*/ 176 h 236"/>
                  <a:gd name="T70" fmla="*/ 106 w 320"/>
                  <a:gd name="T71" fmla="*/ 188 h 236"/>
                  <a:gd name="T72" fmla="*/ 111 w 320"/>
                  <a:gd name="T73" fmla="*/ 214 h 236"/>
                  <a:gd name="T74" fmla="*/ 62 w 320"/>
                  <a:gd name="T75" fmla="*/ 155 h 236"/>
                  <a:gd name="T76" fmla="*/ 32 w 320"/>
                  <a:gd name="T77" fmla="*/ 149 h 236"/>
                  <a:gd name="T78" fmla="*/ 88 w 320"/>
                  <a:gd name="T79" fmla="*/ 53 h 236"/>
                  <a:gd name="T80" fmla="*/ 64 w 320"/>
                  <a:gd name="T81" fmla="*/ 85 h 236"/>
                  <a:gd name="T82" fmla="*/ 97 w 320"/>
                  <a:gd name="T83" fmla="*/ 117 h 236"/>
                  <a:gd name="T84" fmla="*/ 253 w 320"/>
                  <a:gd name="T85" fmla="*/ 170 h 236"/>
                  <a:gd name="T86" fmla="*/ 288 w 320"/>
                  <a:gd name="T87" fmla="*/ 149 h 236"/>
                  <a:gd name="T88" fmla="*/ 265 w 320"/>
                  <a:gd name="T89" fmla="*/ 150 h 236"/>
                  <a:gd name="T90" fmla="*/ 215 w 320"/>
                  <a:gd name="T91" fmla="*/ 76 h 236"/>
                  <a:gd name="T92" fmla="*/ 88 w 320"/>
                  <a:gd name="T93" fmla="*/ 95 h 236"/>
                  <a:gd name="T94" fmla="*/ 90 w 320"/>
                  <a:gd name="T95" fmla="*/ 77 h 236"/>
                  <a:gd name="T96" fmla="*/ 242 w 320"/>
                  <a:gd name="T97" fmla="*/ 53 h 236"/>
                  <a:gd name="T98" fmla="*/ 288 w 320"/>
                  <a:gd name="T99" fmla="*/ 5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0" h="236">
                    <a:moveTo>
                      <a:pt x="309" y="171"/>
                    </a:moveTo>
                    <a:cubicBezTo>
                      <a:pt x="309" y="21"/>
                      <a:pt x="309" y="21"/>
                      <a:pt x="309" y="21"/>
                    </a:cubicBezTo>
                    <a:cubicBezTo>
                      <a:pt x="315" y="21"/>
                      <a:pt x="320" y="17"/>
                      <a:pt x="320" y="11"/>
                    </a:cubicBezTo>
                    <a:cubicBezTo>
                      <a:pt x="320" y="5"/>
                      <a:pt x="315" y="0"/>
                      <a:pt x="309" y="0"/>
                    </a:cubicBezTo>
                    <a:cubicBezTo>
                      <a:pt x="298" y="0"/>
                      <a:pt x="298" y="0"/>
                      <a:pt x="298" y="0"/>
                    </a:cubicBezTo>
                    <a:cubicBezTo>
                      <a:pt x="292" y="0"/>
                      <a:pt x="288" y="5"/>
                      <a:pt x="288" y="11"/>
                    </a:cubicBezTo>
                    <a:cubicBezTo>
                      <a:pt x="288" y="32"/>
                      <a:pt x="288" y="32"/>
                      <a:pt x="288" y="32"/>
                    </a:cubicBezTo>
                    <a:cubicBezTo>
                      <a:pt x="247" y="32"/>
                      <a:pt x="247" y="32"/>
                      <a:pt x="247" y="32"/>
                    </a:cubicBezTo>
                    <a:cubicBezTo>
                      <a:pt x="173" y="11"/>
                      <a:pt x="173" y="11"/>
                      <a:pt x="173" y="11"/>
                    </a:cubicBezTo>
                    <a:cubicBezTo>
                      <a:pt x="171" y="10"/>
                      <a:pt x="168" y="11"/>
                      <a:pt x="165" y="12"/>
                    </a:cubicBezTo>
                    <a:cubicBezTo>
                      <a:pt x="128" y="32"/>
                      <a:pt x="128" y="32"/>
                      <a:pt x="128" y="32"/>
                    </a:cubicBezTo>
                    <a:cubicBezTo>
                      <a:pt x="128" y="32"/>
                      <a:pt x="128" y="32"/>
                      <a:pt x="128" y="32"/>
                    </a:cubicBezTo>
                    <a:cubicBezTo>
                      <a:pt x="32" y="32"/>
                      <a:pt x="32" y="32"/>
                      <a:pt x="32" y="32"/>
                    </a:cubicBezTo>
                    <a:cubicBezTo>
                      <a:pt x="32" y="11"/>
                      <a:pt x="32" y="11"/>
                      <a:pt x="32" y="11"/>
                    </a:cubicBezTo>
                    <a:cubicBezTo>
                      <a:pt x="32" y="5"/>
                      <a:pt x="27" y="0"/>
                      <a:pt x="21" y="0"/>
                    </a:cubicBezTo>
                    <a:cubicBezTo>
                      <a:pt x="10" y="0"/>
                      <a:pt x="10" y="0"/>
                      <a:pt x="10" y="0"/>
                    </a:cubicBezTo>
                    <a:cubicBezTo>
                      <a:pt x="4" y="0"/>
                      <a:pt x="0" y="5"/>
                      <a:pt x="0" y="11"/>
                    </a:cubicBezTo>
                    <a:cubicBezTo>
                      <a:pt x="0" y="17"/>
                      <a:pt x="4" y="21"/>
                      <a:pt x="10" y="21"/>
                    </a:cubicBezTo>
                    <a:cubicBezTo>
                      <a:pt x="10" y="171"/>
                      <a:pt x="10" y="171"/>
                      <a:pt x="10" y="171"/>
                    </a:cubicBezTo>
                    <a:cubicBezTo>
                      <a:pt x="4" y="171"/>
                      <a:pt x="0" y="175"/>
                      <a:pt x="0" y="181"/>
                    </a:cubicBezTo>
                    <a:cubicBezTo>
                      <a:pt x="0" y="187"/>
                      <a:pt x="4" y="192"/>
                      <a:pt x="10" y="192"/>
                    </a:cubicBezTo>
                    <a:cubicBezTo>
                      <a:pt x="21" y="192"/>
                      <a:pt x="21" y="192"/>
                      <a:pt x="21" y="192"/>
                    </a:cubicBezTo>
                    <a:cubicBezTo>
                      <a:pt x="27" y="192"/>
                      <a:pt x="32" y="187"/>
                      <a:pt x="32" y="181"/>
                    </a:cubicBezTo>
                    <a:cubicBezTo>
                      <a:pt x="32" y="171"/>
                      <a:pt x="32" y="171"/>
                      <a:pt x="32" y="171"/>
                    </a:cubicBezTo>
                    <a:cubicBezTo>
                      <a:pt x="47" y="171"/>
                      <a:pt x="47" y="171"/>
                      <a:pt x="47" y="171"/>
                    </a:cubicBezTo>
                    <a:cubicBezTo>
                      <a:pt x="76" y="219"/>
                      <a:pt x="76" y="219"/>
                      <a:pt x="76" y="219"/>
                    </a:cubicBezTo>
                    <a:cubicBezTo>
                      <a:pt x="82" y="230"/>
                      <a:pt x="94" y="236"/>
                      <a:pt x="106" y="236"/>
                    </a:cubicBezTo>
                    <a:cubicBezTo>
                      <a:pt x="111" y="236"/>
                      <a:pt x="116" y="235"/>
                      <a:pt x="121" y="232"/>
                    </a:cubicBezTo>
                    <a:cubicBezTo>
                      <a:pt x="125" y="230"/>
                      <a:pt x="128" y="227"/>
                      <a:pt x="130" y="225"/>
                    </a:cubicBezTo>
                    <a:cubicBezTo>
                      <a:pt x="136" y="231"/>
                      <a:pt x="145" y="235"/>
                      <a:pt x="154" y="235"/>
                    </a:cubicBezTo>
                    <a:cubicBezTo>
                      <a:pt x="160" y="235"/>
                      <a:pt x="165" y="233"/>
                      <a:pt x="171" y="230"/>
                    </a:cubicBezTo>
                    <a:cubicBezTo>
                      <a:pt x="175" y="228"/>
                      <a:pt x="178" y="225"/>
                      <a:pt x="181" y="221"/>
                    </a:cubicBezTo>
                    <a:cubicBezTo>
                      <a:pt x="187" y="228"/>
                      <a:pt x="196" y="232"/>
                      <a:pt x="205" y="232"/>
                    </a:cubicBezTo>
                    <a:cubicBezTo>
                      <a:pt x="211" y="232"/>
                      <a:pt x="217" y="231"/>
                      <a:pt x="222" y="227"/>
                    </a:cubicBezTo>
                    <a:cubicBezTo>
                      <a:pt x="229" y="223"/>
                      <a:pt x="234" y="216"/>
                      <a:pt x="236" y="209"/>
                    </a:cubicBezTo>
                    <a:cubicBezTo>
                      <a:pt x="238" y="209"/>
                      <a:pt x="240" y="210"/>
                      <a:pt x="242" y="210"/>
                    </a:cubicBezTo>
                    <a:cubicBezTo>
                      <a:pt x="248" y="210"/>
                      <a:pt x="254" y="208"/>
                      <a:pt x="259" y="205"/>
                    </a:cubicBezTo>
                    <a:cubicBezTo>
                      <a:pt x="267" y="201"/>
                      <a:pt x="272" y="193"/>
                      <a:pt x="275" y="185"/>
                    </a:cubicBezTo>
                    <a:cubicBezTo>
                      <a:pt x="276" y="180"/>
                      <a:pt x="276" y="175"/>
                      <a:pt x="275" y="171"/>
                    </a:cubicBezTo>
                    <a:cubicBezTo>
                      <a:pt x="288" y="171"/>
                      <a:pt x="288" y="171"/>
                      <a:pt x="288" y="171"/>
                    </a:cubicBezTo>
                    <a:cubicBezTo>
                      <a:pt x="288" y="181"/>
                      <a:pt x="288" y="181"/>
                      <a:pt x="288" y="181"/>
                    </a:cubicBezTo>
                    <a:cubicBezTo>
                      <a:pt x="288" y="187"/>
                      <a:pt x="292" y="192"/>
                      <a:pt x="298" y="192"/>
                    </a:cubicBezTo>
                    <a:cubicBezTo>
                      <a:pt x="309" y="192"/>
                      <a:pt x="309" y="192"/>
                      <a:pt x="309" y="192"/>
                    </a:cubicBezTo>
                    <a:cubicBezTo>
                      <a:pt x="315" y="192"/>
                      <a:pt x="320" y="187"/>
                      <a:pt x="320" y="181"/>
                    </a:cubicBezTo>
                    <a:cubicBezTo>
                      <a:pt x="320" y="175"/>
                      <a:pt x="315" y="171"/>
                      <a:pt x="309" y="171"/>
                    </a:cubicBezTo>
                    <a:close/>
                    <a:moveTo>
                      <a:pt x="254" y="179"/>
                    </a:moveTo>
                    <a:cubicBezTo>
                      <a:pt x="253" y="183"/>
                      <a:pt x="251" y="185"/>
                      <a:pt x="248" y="187"/>
                    </a:cubicBezTo>
                    <a:cubicBezTo>
                      <a:pt x="246" y="188"/>
                      <a:pt x="242" y="189"/>
                      <a:pt x="239" y="188"/>
                    </a:cubicBezTo>
                    <a:cubicBezTo>
                      <a:pt x="236" y="187"/>
                      <a:pt x="234" y="185"/>
                      <a:pt x="232" y="183"/>
                    </a:cubicBezTo>
                    <a:cubicBezTo>
                      <a:pt x="232" y="183"/>
                      <a:pt x="232" y="183"/>
                      <a:pt x="232" y="183"/>
                    </a:cubicBezTo>
                    <a:cubicBezTo>
                      <a:pt x="232" y="183"/>
                      <a:pt x="232" y="183"/>
                      <a:pt x="232" y="182"/>
                    </a:cubicBezTo>
                    <a:cubicBezTo>
                      <a:pt x="198" y="125"/>
                      <a:pt x="198" y="125"/>
                      <a:pt x="198" y="125"/>
                    </a:cubicBezTo>
                    <a:cubicBezTo>
                      <a:pt x="195" y="119"/>
                      <a:pt x="188" y="118"/>
                      <a:pt x="183" y="121"/>
                    </a:cubicBezTo>
                    <a:cubicBezTo>
                      <a:pt x="178" y="124"/>
                      <a:pt x="176" y="130"/>
                      <a:pt x="179" y="135"/>
                    </a:cubicBezTo>
                    <a:cubicBezTo>
                      <a:pt x="214" y="194"/>
                      <a:pt x="214" y="194"/>
                      <a:pt x="214" y="194"/>
                    </a:cubicBezTo>
                    <a:cubicBezTo>
                      <a:pt x="214" y="194"/>
                      <a:pt x="214" y="194"/>
                      <a:pt x="214" y="194"/>
                    </a:cubicBezTo>
                    <a:cubicBezTo>
                      <a:pt x="217" y="199"/>
                      <a:pt x="217" y="206"/>
                      <a:pt x="211" y="209"/>
                    </a:cubicBezTo>
                    <a:cubicBezTo>
                      <a:pt x="205" y="212"/>
                      <a:pt x="198" y="210"/>
                      <a:pt x="194" y="204"/>
                    </a:cubicBezTo>
                    <a:cubicBezTo>
                      <a:pt x="162" y="151"/>
                      <a:pt x="162" y="151"/>
                      <a:pt x="162" y="151"/>
                    </a:cubicBezTo>
                    <a:cubicBezTo>
                      <a:pt x="159" y="146"/>
                      <a:pt x="153" y="144"/>
                      <a:pt x="147" y="147"/>
                    </a:cubicBezTo>
                    <a:cubicBezTo>
                      <a:pt x="142" y="150"/>
                      <a:pt x="141" y="157"/>
                      <a:pt x="144" y="162"/>
                    </a:cubicBezTo>
                    <a:cubicBezTo>
                      <a:pt x="164" y="196"/>
                      <a:pt x="164" y="196"/>
                      <a:pt x="164" y="196"/>
                    </a:cubicBezTo>
                    <a:cubicBezTo>
                      <a:pt x="166" y="198"/>
                      <a:pt x="166" y="201"/>
                      <a:pt x="165" y="204"/>
                    </a:cubicBezTo>
                    <a:cubicBezTo>
                      <a:pt x="165" y="207"/>
                      <a:pt x="163" y="210"/>
                      <a:pt x="160" y="212"/>
                    </a:cubicBezTo>
                    <a:cubicBezTo>
                      <a:pt x="154" y="215"/>
                      <a:pt x="147" y="213"/>
                      <a:pt x="143" y="208"/>
                    </a:cubicBezTo>
                    <a:cubicBezTo>
                      <a:pt x="143" y="208"/>
                      <a:pt x="143" y="208"/>
                      <a:pt x="143" y="208"/>
                    </a:cubicBezTo>
                    <a:cubicBezTo>
                      <a:pt x="132" y="188"/>
                      <a:pt x="132" y="188"/>
                      <a:pt x="132" y="188"/>
                    </a:cubicBezTo>
                    <a:cubicBezTo>
                      <a:pt x="132" y="188"/>
                      <a:pt x="132" y="188"/>
                      <a:pt x="132" y="188"/>
                    </a:cubicBezTo>
                    <a:cubicBezTo>
                      <a:pt x="132" y="188"/>
                      <a:pt x="132" y="188"/>
                      <a:pt x="132" y="188"/>
                    </a:cubicBezTo>
                    <a:cubicBezTo>
                      <a:pt x="124" y="176"/>
                      <a:pt x="124" y="176"/>
                      <a:pt x="124" y="176"/>
                    </a:cubicBezTo>
                    <a:cubicBezTo>
                      <a:pt x="121" y="171"/>
                      <a:pt x="114" y="170"/>
                      <a:pt x="110" y="173"/>
                    </a:cubicBezTo>
                    <a:cubicBezTo>
                      <a:pt x="105" y="176"/>
                      <a:pt x="103" y="183"/>
                      <a:pt x="106" y="188"/>
                    </a:cubicBezTo>
                    <a:cubicBezTo>
                      <a:pt x="114" y="199"/>
                      <a:pt x="114" y="199"/>
                      <a:pt x="114" y="199"/>
                    </a:cubicBezTo>
                    <a:cubicBezTo>
                      <a:pt x="115" y="201"/>
                      <a:pt x="118" y="209"/>
                      <a:pt x="111" y="214"/>
                    </a:cubicBezTo>
                    <a:cubicBezTo>
                      <a:pt x="105" y="217"/>
                      <a:pt x="97" y="213"/>
                      <a:pt x="94" y="208"/>
                    </a:cubicBezTo>
                    <a:cubicBezTo>
                      <a:pt x="62" y="155"/>
                      <a:pt x="62" y="155"/>
                      <a:pt x="62" y="155"/>
                    </a:cubicBezTo>
                    <a:cubicBezTo>
                      <a:pt x="60" y="151"/>
                      <a:pt x="57" y="149"/>
                      <a:pt x="53" y="149"/>
                    </a:cubicBezTo>
                    <a:cubicBezTo>
                      <a:pt x="32" y="149"/>
                      <a:pt x="32" y="149"/>
                      <a:pt x="32" y="149"/>
                    </a:cubicBezTo>
                    <a:cubicBezTo>
                      <a:pt x="32" y="53"/>
                      <a:pt x="32" y="53"/>
                      <a:pt x="32" y="53"/>
                    </a:cubicBezTo>
                    <a:cubicBezTo>
                      <a:pt x="88" y="53"/>
                      <a:pt x="88" y="53"/>
                      <a:pt x="88" y="53"/>
                    </a:cubicBezTo>
                    <a:cubicBezTo>
                      <a:pt x="80" y="58"/>
                      <a:pt x="80" y="58"/>
                      <a:pt x="80" y="58"/>
                    </a:cubicBezTo>
                    <a:cubicBezTo>
                      <a:pt x="70" y="64"/>
                      <a:pt x="64" y="74"/>
                      <a:pt x="64" y="85"/>
                    </a:cubicBezTo>
                    <a:cubicBezTo>
                      <a:pt x="64" y="95"/>
                      <a:pt x="68" y="105"/>
                      <a:pt x="74" y="111"/>
                    </a:cubicBezTo>
                    <a:cubicBezTo>
                      <a:pt x="81" y="116"/>
                      <a:pt x="89" y="118"/>
                      <a:pt x="97" y="117"/>
                    </a:cubicBezTo>
                    <a:cubicBezTo>
                      <a:pt x="211" y="98"/>
                      <a:pt x="211" y="98"/>
                      <a:pt x="211" y="98"/>
                    </a:cubicBezTo>
                    <a:cubicBezTo>
                      <a:pt x="253" y="170"/>
                      <a:pt x="253" y="170"/>
                      <a:pt x="253" y="170"/>
                    </a:cubicBezTo>
                    <a:cubicBezTo>
                      <a:pt x="254" y="173"/>
                      <a:pt x="255" y="176"/>
                      <a:pt x="254" y="179"/>
                    </a:cubicBezTo>
                    <a:close/>
                    <a:moveTo>
                      <a:pt x="288" y="149"/>
                    </a:moveTo>
                    <a:cubicBezTo>
                      <a:pt x="266" y="149"/>
                      <a:pt x="266" y="149"/>
                      <a:pt x="266" y="149"/>
                    </a:cubicBezTo>
                    <a:cubicBezTo>
                      <a:pt x="266" y="149"/>
                      <a:pt x="266" y="150"/>
                      <a:pt x="265" y="150"/>
                    </a:cubicBezTo>
                    <a:cubicBezTo>
                      <a:pt x="226" y="81"/>
                      <a:pt x="226" y="81"/>
                      <a:pt x="226" y="81"/>
                    </a:cubicBezTo>
                    <a:cubicBezTo>
                      <a:pt x="224" y="77"/>
                      <a:pt x="220" y="75"/>
                      <a:pt x="215" y="76"/>
                    </a:cubicBezTo>
                    <a:cubicBezTo>
                      <a:pt x="94" y="96"/>
                      <a:pt x="94" y="96"/>
                      <a:pt x="94" y="96"/>
                    </a:cubicBezTo>
                    <a:cubicBezTo>
                      <a:pt x="91" y="97"/>
                      <a:pt x="89" y="96"/>
                      <a:pt x="88" y="95"/>
                    </a:cubicBezTo>
                    <a:cubicBezTo>
                      <a:pt x="86" y="93"/>
                      <a:pt x="85" y="89"/>
                      <a:pt x="85" y="85"/>
                    </a:cubicBezTo>
                    <a:cubicBezTo>
                      <a:pt x="85" y="80"/>
                      <a:pt x="88" y="78"/>
                      <a:pt x="90" y="77"/>
                    </a:cubicBezTo>
                    <a:cubicBezTo>
                      <a:pt x="172" y="33"/>
                      <a:pt x="172" y="33"/>
                      <a:pt x="172" y="33"/>
                    </a:cubicBezTo>
                    <a:cubicBezTo>
                      <a:pt x="242" y="53"/>
                      <a:pt x="242" y="53"/>
                      <a:pt x="242" y="53"/>
                    </a:cubicBezTo>
                    <a:cubicBezTo>
                      <a:pt x="243" y="53"/>
                      <a:pt x="244" y="53"/>
                      <a:pt x="245" y="53"/>
                    </a:cubicBezTo>
                    <a:cubicBezTo>
                      <a:pt x="288" y="53"/>
                      <a:pt x="288" y="53"/>
                      <a:pt x="288" y="53"/>
                    </a:cubicBezTo>
                    <a:lnTo>
                      <a:pt x="288" y="14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6586" tIns="38294" rIns="76586" bIns="38294" numCol="1" anchor="t" anchorCtr="0" compatLnSpc="1">
                <a:prstTxWarp prst="textNoShape">
                  <a:avLst/>
                </a:prstTxWarp>
              </a:bodyPr>
              <a:lstStyle/>
              <a:p>
                <a:pPr marL="0" marR="0" lvl="0" indent="0" algn="l" defTabSz="1018824" rtl="0" eaLnBrk="1" fontAlgn="auto" latinLnBrk="0" hangingPunct="1">
                  <a:lnSpc>
                    <a:spcPct val="100000"/>
                  </a:lnSpc>
                  <a:spcBef>
                    <a:spcPts val="0"/>
                  </a:spcBef>
                  <a:spcAft>
                    <a:spcPts val="0"/>
                  </a:spcAft>
                  <a:buClrTx/>
                  <a:buSzTx/>
                  <a:buFontTx/>
                  <a:buNone/>
                  <a:tabLst/>
                  <a:defRPr/>
                </a:pPr>
                <a:endParaRPr kumimoji="0" lang="en-GB" sz="1719" b="0" i="0" u="none" strike="noStrike" kern="0" cap="none" spc="0" normalizeH="0" baseline="0" noProof="0">
                  <a:ln>
                    <a:noFill/>
                  </a:ln>
                  <a:solidFill>
                    <a:prstClr val="black"/>
                  </a:solidFill>
                  <a:effectLst/>
                  <a:uLnTx/>
                  <a:uFillTx/>
                  <a:latin typeface="Verdana"/>
                  <a:ea typeface="+mn-ea"/>
                  <a:cs typeface="+mn-cs"/>
                </a:endParaRPr>
              </a:p>
            </p:txBody>
          </p:sp>
        </p:grpSp>
        <p:grpSp>
          <p:nvGrpSpPr>
            <p:cNvPr id="12" name="Group 892">
              <a:extLst>
                <a:ext uri="{FF2B5EF4-FFF2-40B4-BE49-F238E27FC236}">
                  <a16:creationId xmlns:a16="http://schemas.microsoft.com/office/drawing/2014/main" id="{8F66A24F-DD62-4CB1-9087-5BA3C413331A}"/>
                </a:ext>
              </a:extLst>
            </p:cNvPr>
            <p:cNvGrpSpPr>
              <a:grpSpLocks/>
            </p:cNvGrpSpPr>
            <p:nvPr/>
          </p:nvGrpSpPr>
          <p:grpSpPr bwMode="auto">
            <a:xfrm>
              <a:off x="3258983" y="1761725"/>
              <a:ext cx="328626" cy="325722"/>
              <a:chOff x="4270" y="3457"/>
              <a:chExt cx="340" cy="341"/>
            </a:xfrm>
            <a:solidFill>
              <a:sysClr val="windowText" lastClr="000000"/>
            </a:solidFill>
          </p:grpSpPr>
          <p:sp>
            <p:nvSpPr>
              <p:cNvPr id="26" name="Freeform 893">
                <a:extLst>
                  <a:ext uri="{FF2B5EF4-FFF2-40B4-BE49-F238E27FC236}">
                    <a16:creationId xmlns:a16="http://schemas.microsoft.com/office/drawing/2014/main" id="{7195EAD3-A3E5-459F-AD72-03A0335A974E}"/>
                  </a:ext>
                </a:extLst>
              </p:cNvPr>
              <p:cNvSpPr>
                <a:spLocks noEditPoints="1"/>
              </p:cNvSpPr>
              <p:nvPr/>
            </p:nvSpPr>
            <p:spPr bwMode="auto">
              <a:xfrm>
                <a:off x="4334" y="3521"/>
                <a:ext cx="192" cy="192"/>
              </a:xfrm>
              <a:custGeom>
                <a:avLst/>
                <a:gdLst>
                  <a:gd name="T0" fmla="*/ 285 w 289"/>
                  <a:gd name="T1" fmla="*/ 269 h 288"/>
                  <a:gd name="T2" fmla="*/ 189 w 289"/>
                  <a:gd name="T3" fmla="*/ 174 h 288"/>
                  <a:gd name="T4" fmla="*/ 213 w 289"/>
                  <a:gd name="T5" fmla="*/ 106 h 288"/>
                  <a:gd name="T6" fmla="*/ 106 w 289"/>
                  <a:gd name="T7" fmla="*/ 0 h 288"/>
                  <a:gd name="T8" fmla="*/ 0 w 289"/>
                  <a:gd name="T9" fmla="*/ 106 h 288"/>
                  <a:gd name="T10" fmla="*/ 106 w 289"/>
                  <a:gd name="T11" fmla="*/ 213 h 288"/>
                  <a:gd name="T12" fmla="*/ 174 w 289"/>
                  <a:gd name="T13" fmla="*/ 189 h 288"/>
                  <a:gd name="T14" fmla="*/ 269 w 289"/>
                  <a:gd name="T15" fmla="*/ 285 h 288"/>
                  <a:gd name="T16" fmla="*/ 277 w 289"/>
                  <a:gd name="T17" fmla="*/ 288 h 288"/>
                  <a:gd name="T18" fmla="*/ 285 w 289"/>
                  <a:gd name="T19" fmla="*/ 285 h 288"/>
                  <a:gd name="T20" fmla="*/ 285 w 289"/>
                  <a:gd name="T21" fmla="*/ 269 h 288"/>
                  <a:gd name="T22" fmla="*/ 106 w 289"/>
                  <a:gd name="T23" fmla="*/ 192 h 288"/>
                  <a:gd name="T24" fmla="*/ 21 w 289"/>
                  <a:gd name="T25" fmla="*/ 106 h 288"/>
                  <a:gd name="T26" fmla="*/ 106 w 289"/>
                  <a:gd name="T27" fmla="*/ 21 h 288"/>
                  <a:gd name="T28" fmla="*/ 192 w 289"/>
                  <a:gd name="T29" fmla="*/ 106 h 288"/>
                  <a:gd name="T30" fmla="*/ 106 w 289"/>
                  <a:gd name="T31" fmla="*/ 19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9" h="288">
                    <a:moveTo>
                      <a:pt x="285" y="269"/>
                    </a:moveTo>
                    <a:cubicBezTo>
                      <a:pt x="189" y="174"/>
                      <a:pt x="189" y="174"/>
                      <a:pt x="189" y="174"/>
                    </a:cubicBezTo>
                    <a:cubicBezTo>
                      <a:pt x="204" y="155"/>
                      <a:pt x="213" y="132"/>
                      <a:pt x="213" y="106"/>
                    </a:cubicBezTo>
                    <a:cubicBezTo>
                      <a:pt x="213" y="48"/>
                      <a:pt x="165" y="0"/>
                      <a:pt x="106" y="0"/>
                    </a:cubicBezTo>
                    <a:cubicBezTo>
                      <a:pt x="48" y="0"/>
                      <a:pt x="0" y="48"/>
                      <a:pt x="0" y="106"/>
                    </a:cubicBezTo>
                    <a:cubicBezTo>
                      <a:pt x="0" y="165"/>
                      <a:pt x="48" y="213"/>
                      <a:pt x="106" y="213"/>
                    </a:cubicBezTo>
                    <a:cubicBezTo>
                      <a:pt x="132" y="213"/>
                      <a:pt x="155" y="204"/>
                      <a:pt x="174" y="189"/>
                    </a:cubicBezTo>
                    <a:cubicBezTo>
                      <a:pt x="269" y="285"/>
                      <a:pt x="269" y="285"/>
                      <a:pt x="269" y="285"/>
                    </a:cubicBezTo>
                    <a:cubicBezTo>
                      <a:pt x="272" y="287"/>
                      <a:pt x="274" y="288"/>
                      <a:pt x="277" y="288"/>
                    </a:cubicBezTo>
                    <a:cubicBezTo>
                      <a:pt x="280" y="288"/>
                      <a:pt x="282" y="287"/>
                      <a:pt x="285" y="285"/>
                    </a:cubicBezTo>
                    <a:cubicBezTo>
                      <a:pt x="289" y="280"/>
                      <a:pt x="289" y="274"/>
                      <a:pt x="285" y="269"/>
                    </a:cubicBezTo>
                    <a:close/>
                    <a:moveTo>
                      <a:pt x="106" y="192"/>
                    </a:moveTo>
                    <a:cubicBezTo>
                      <a:pt x="59" y="192"/>
                      <a:pt x="21" y="153"/>
                      <a:pt x="21" y="106"/>
                    </a:cubicBezTo>
                    <a:cubicBezTo>
                      <a:pt x="21" y="59"/>
                      <a:pt x="59" y="21"/>
                      <a:pt x="106" y="21"/>
                    </a:cubicBezTo>
                    <a:cubicBezTo>
                      <a:pt x="153" y="21"/>
                      <a:pt x="192" y="59"/>
                      <a:pt x="192" y="106"/>
                    </a:cubicBezTo>
                    <a:cubicBezTo>
                      <a:pt x="192" y="153"/>
                      <a:pt x="153" y="192"/>
                      <a:pt x="106" y="19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6586" tIns="38294" rIns="76586" bIns="38294" numCol="1" anchor="t" anchorCtr="0" compatLnSpc="1">
                <a:prstTxWarp prst="textNoShape">
                  <a:avLst/>
                </a:prstTxWarp>
              </a:bodyPr>
              <a:lstStyle/>
              <a:p>
                <a:pPr marL="0" marR="0" lvl="0" indent="0" algn="l" defTabSz="1018824" rtl="0" eaLnBrk="1" fontAlgn="auto" latinLnBrk="0" hangingPunct="1">
                  <a:lnSpc>
                    <a:spcPct val="100000"/>
                  </a:lnSpc>
                  <a:spcBef>
                    <a:spcPts val="0"/>
                  </a:spcBef>
                  <a:spcAft>
                    <a:spcPts val="0"/>
                  </a:spcAft>
                  <a:buClrTx/>
                  <a:buSzTx/>
                  <a:buFontTx/>
                  <a:buNone/>
                  <a:tabLst/>
                  <a:defRPr/>
                </a:pPr>
                <a:endParaRPr kumimoji="0" lang="en-GB" sz="1719" b="0" i="0" u="none" strike="noStrike" kern="0" cap="none" spc="0" normalizeH="0" baseline="0" noProof="0">
                  <a:ln>
                    <a:noFill/>
                  </a:ln>
                  <a:solidFill>
                    <a:prstClr val="black"/>
                  </a:solidFill>
                  <a:effectLst/>
                  <a:uLnTx/>
                  <a:uFillTx/>
                  <a:latin typeface="Verdana"/>
                  <a:ea typeface="+mn-ea"/>
                  <a:cs typeface="+mn-cs"/>
                </a:endParaRPr>
              </a:p>
            </p:txBody>
          </p:sp>
          <p:sp>
            <p:nvSpPr>
              <p:cNvPr id="27" name="Freeform 894">
                <a:extLst>
                  <a:ext uri="{FF2B5EF4-FFF2-40B4-BE49-F238E27FC236}">
                    <a16:creationId xmlns:a16="http://schemas.microsoft.com/office/drawing/2014/main" id="{58A107A3-B645-4221-9809-22CC8AF9CD41}"/>
                  </a:ext>
                </a:extLst>
              </p:cNvPr>
              <p:cNvSpPr>
                <a:spLocks noEditPoints="1"/>
              </p:cNvSpPr>
              <p:nvPr/>
            </p:nvSpPr>
            <p:spPr bwMode="auto">
              <a:xfrm>
                <a:off x="4270" y="3457"/>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6586" tIns="38294" rIns="76586" bIns="38294" numCol="1" anchor="t" anchorCtr="0" compatLnSpc="1">
                <a:prstTxWarp prst="textNoShape">
                  <a:avLst/>
                </a:prstTxWarp>
              </a:bodyPr>
              <a:lstStyle/>
              <a:p>
                <a:pPr marL="0" marR="0" lvl="0" indent="0" algn="l" defTabSz="1018824" rtl="0" eaLnBrk="1" fontAlgn="auto" latinLnBrk="0" hangingPunct="1">
                  <a:lnSpc>
                    <a:spcPct val="100000"/>
                  </a:lnSpc>
                  <a:spcBef>
                    <a:spcPts val="0"/>
                  </a:spcBef>
                  <a:spcAft>
                    <a:spcPts val="0"/>
                  </a:spcAft>
                  <a:buClrTx/>
                  <a:buSzTx/>
                  <a:buFontTx/>
                  <a:buNone/>
                  <a:tabLst/>
                  <a:defRPr/>
                </a:pPr>
                <a:endParaRPr kumimoji="0" lang="en-GB" sz="1719" b="0" i="0" u="none" strike="noStrike" kern="0" cap="none" spc="0" normalizeH="0" baseline="0" noProof="0">
                  <a:ln>
                    <a:noFill/>
                  </a:ln>
                  <a:solidFill>
                    <a:prstClr val="black"/>
                  </a:solidFill>
                  <a:effectLst/>
                  <a:uLnTx/>
                  <a:uFillTx/>
                  <a:latin typeface="Verdana"/>
                  <a:ea typeface="+mn-ea"/>
                  <a:cs typeface="+mn-cs"/>
                </a:endParaRPr>
              </a:p>
            </p:txBody>
          </p:sp>
        </p:grpSp>
        <p:sp>
          <p:nvSpPr>
            <p:cNvPr id="13" name="Rectangle 46">
              <a:extLst>
                <a:ext uri="{FF2B5EF4-FFF2-40B4-BE49-F238E27FC236}">
                  <a16:creationId xmlns:a16="http://schemas.microsoft.com/office/drawing/2014/main" id="{BB3F6C9C-7300-4AF1-8E9E-80EF3FE03C0E}"/>
                </a:ext>
              </a:extLst>
            </p:cNvPr>
            <p:cNvSpPr>
              <a:spLocks noChangeArrowheads="1"/>
            </p:cNvSpPr>
            <p:nvPr/>
          </p:nvSpPr>
          <p:spPr bwMode="auto">
            <a:xfrm>
              <a:off x="4699569" y="975172"/>
              <a:ext cx="2457584" cy="247512"/>
            </a:xfrm>
            <a:prstGeom prst="roundRect">
              <a:avLst>
                <a:gd name="adj" fmla="val 50000"/>
              </a:avLst>
            </a:prstGeom>
            <a:noFill/>
            <a:ln w="12700">
              <a:solidFill>
                <a:schemeClr val="tx1"/>
              </a:solidFill>
              <a:miter lim="800000"/>
              <a:headEnd/>
              <a:tailEnd/>
            </a:ln>
          </p:spPr>
          <p:txBody>
            <a:bodyPr wrap="square" lIns="67531" tIns="108000" rIns="67397" bIns="33699" anchor="ctr"/>
            <a:lstStyle>
              <a:defPPr>
                <a:defRPr lang="en-US"/>
              </a:defPPr>
              <a:lvl1pPr marL="0" algn="l" defTabSz="1042873" rtl="0" eaLnBrk="1" latinLnBrk="0" hangingPunct="1">
                <a:defRPr sz="2100" kern="1200">
                  <a:solidFill>
                    <a:schemeClr val="tx1"/>
                  </a:solidFill>
                  <a:latin typeface="+mn-lt"/>
                  <a:ea typeface="+mn-ea"/>
                  <a:cs typeface="+mn-cs"/>
                </a:defRPr>
              </a:lvl1pPr>
              <a:lvl2pPr marL="521437" algn="l" defTabSz="1042873" rtl="0" eaLnBrk="1" latinLnBrk="0" hangingPunct="1">
                <a:defRPr sz="2100" kern="1200">
                  <a:solidFill>
                    <a:schemeClr val="tx1"/>
                  </a:solidFill>
                  <a:latin typeface="+mn-lt"/>
                  <a:ea typeface="+mn-ea"/>
                  <a:cs typeface="+mn-cs"/>
                </a:defRPr>
              </a:lvl2pPr>
              <a:lvl3pPr marL="1042873" algn="l" defTabSz="1042873" rtl="0" eaLnBrk="1" latinLnBrk="0" hangingPunct="1">
                <a:defRPr sz="2100" kern="1200">
                  <a:solidFill>
                    <a:schemeClr val="tx1"/>
                  </a:solidFill>
                  <a:latin typeface="+mn-lt"/>
                  <a:ea typeface="+mn-ea"/>
                  <a:cs typeface="+mn-cs"/>
                </a:defRPr>
              </a:lvl3pPr>
              <a:lvl4pPr marL="1564310" algn="l" defTabSz="1042873" rtl="0" eaLnBrk="1" latinLnBrk="0" hangingPunct="1">
                <a:defRPr sz="2100" kern="1200">
                  <a:solidFill>
                    <a:schemeClr val="tx1"/>
                  </a:solidFill>
                  <a:latin typeface="+mn-lt"/>
                  <a:ea typeface="+mn-ea"/>
                  <a:cs typeface="+mn-cs"/>
                </a:defRPr>
              </a:lvl4pPr>
              <a:lvl5pPr marL="2085746" algn="l" defTabSz="1042873" rtl="0" eaLnBrk="1" latinLnBrk="0" hangingPunct="1">
                <a:defRPr sz="2100" kern="1200">
                  <a:solidFill>
                    <a:schemeClr val="tx1"/>
                  </a:solidFill>
                  <a:latin typeface="+mn-lt"/>
                  <a:ea typeface="+mn-ea"/>
                  <a:cs typeface="+mn-cs"/>
                </a:defRPr>
              </a:lvl5pPr>
              <a:lvl6pPr marL="2607183" algn="l" defTabSz="1042873" rtl="0" eaLnBrk="1" latinLnBrk="0" hangingPunct="1">
                <a:defRPr sz="2100" kern="1200">
                  <a:solidFill>
                    <a:schemeClr val="tx1"/>
                  </a:solidFill>
                  <a:latin typeface="+mn-lt"/>
                  <a:ea typeface="+mn-ea"/>
                  <a:cs typeface="+mn-cs"/>
                </a:defRPr>
              </a:lvl6pPr>
              <a:lvl7pPr marL="3128620" algn="l" defTabSz="1042873" rtl="0" eaLnBrk="1" latinLnBrk="0" hangingPunct="1">
                <a:defRPr sz="2100" kern="1200">
                  <a:solidFill>
                    <a:schemeClr val="tx1"/>
                  </a:solidFill>
                  <a:latin typeface="+mn-lt"/>
                  <a:ea typeface="+mn-ea"/>
                  <a:cs typeface="+mn-cs"/>
                </a:defRPr>
              </a:lvl7pPr>
              <a:lvl8pPr marL="3650056" algn="l" defTabSz="1042873" rtl="0" eaLnBrk="1" latinLnBrk="0" hangingPunct="1">
                <a:defRPr sz="2100" kern="1200">
                  <a:solidFill>
                    <a:schemeClr val="tx1"/>
                  </a:solidFill>
                  <a:latin typeface="+mn-lt"/>
                  <a:ea typeface="+mn-ea"/>
                  <a:cs typeface="+mn-cs"/>
                </a:defRPr>
              </a:lvl8pPr>
              <a:lvl9pPr marL="4171493" algn="l" defTabSz="1042873" rtl="0" eaLnBrk="1" latinLnBrk="0" hangingPunct="1">
                <a:defRPr sz="2100" kern="1200">
                  <a:solidFill>
                    <a:schemeClr val="tx1"/>
                  </a:solidFill>
                  <a:latin typeface="+mn-lt"/>
                  <a:ea typeface="+mn-ea"/>
                  <a:cs typeface="+mn-cs"/>
                </a:defRPr>
              </a:lvl9pPr>
            </a:lstStyle>
            <a:p>
              <a:pPr marL="0" marR="0" lvl="0" indent="0" algn="ctr" defTabSz="1042873" rtl="0" eaLnBrk="1" fontAlgn="auto" latinLnBrk="0" hangingPunct="1">
                <a:lnSpc>
                  <a:spcPts val="1089"/>
                </a:lnSpc>
                <a:spcBef>
                  <a:spcPts val="0"/>
                </a:spcBef>
                <a:spcAft>
                  <a:spcPts val="0"/>
                </a:spcAft>
                <a:buClrTx/>
                <a:buSzTx/>
                <a:buFontTx/>
                <a:buNone/>
                <a:tabLst/>
                <a:defRPr/>
              </a:pPr>
              <a:r>
                <a:rPr kumimoji="0" lang="en-GB" sz="1400" b="1" i="0" u="none" strike="noStrike" kern="1200" cap="none" spc="0" normalizeH="0" baseline="0" noProof="0">
                  <a:ln>
                    <a:noFill/>
                  </a:ln>
                  <a:effectLst/>
                  <a:uLnTx/>
                  <a:uFillTx/>
                  <a:latin typeface="Verdana"/>
                  <a:ea typeface="+mn-ea"/>
                  <a:cs typeface="+mn-cs"/>
                </a:rPr>
                <a:t>Deloitte Service Lines</a:t>
              </a:r>
            </a:p>
          </p:txBody>
        </p:sp>
        <p:cxnSp>
          <p:nvCxnSpPr>
            <p:cNvPr id="14" name="Elbow Connector 50">
              <a:extLst>
                <a:ext uri="{FF2B5EF4-FFF2-40B4-BE49-F238E27FC236}">
                  <a16:creationId xmlns:a16="http://schemas.microsoft.com/office/drawing/2014/main" id="{8CEC5271-305E-4B23-BD9C-74D7852A2A93}"/>
                </a:ext>
              </a:extLst>
            </p:cNvPr>
            <p:cNvCxnSpPr>
              <a:stCxn id="13" idx="2"/>
              <a:endCxn id="38" idx="0"/>
            </p:cNvCxnSpPr>
            <p:nvPr/>
          </p:nvCxnSpPr>
          <p:spPr>
            <a:xfrm rot="5400000">
              <a:off x="3828444" y="-369339"/>
              <a:ext cx="507895" cy="3691940"/>
            </a:xfrm>
            <a:prstGeom prst="bentConnector3">
              <a:avLst/>
            </a:prstGeom>
            <a:noFill/>
            <a:ln w="9525" cap="flat" cmpd="sng" algn="ctr">
              <a:solidFill>
                <a:srgbClr val="53565A"/>
              </a:solidFill>
              <a:prstDash val="solid"/>
            </a:ln>
            <a:effectLst/>
          </p:spPr>
        </p:cxnSp>
        <p:cxnSp>
          <p:nvCxnSpPr>
            <p:cNvPr id="15" name="Elbow Connector 51">
              <a:extLst>
                <a:ext uri="{FF2B5EF4-FFF2-40B4-BE49-F238E27FC236}">
                  <a16:creationId xmlns:a16="http://schemas.microsoft.com/office/drawing/2014/main" id="{186F0420-C8E4-4519-B19D-50EEB86DE1A8}"/>
                </a:ext>
              </a:extLst>
            </p:cNvPr>
            <p:cNvCxnSpPr>
              <a:stCxn id="13" idx="2"/>
              <a:endCxn id="46" idx="0"/>
            </p:cNvCxnSpPr>
            <p:nvPr/>
          </p:nvCxnSpPr>
          <p:spPr>
            <a:xfrm rot="16200000" flipH="1">
              <a:off x="7538977" y="-387933"/>
              <a:ext cx="507896" cy="3729129"/>
            </a:xfrm>
            <a:prstGeom prst="bentConnector3">
              <a:avLst/>
            </a:prstGeom>
            <a:noFill/>
            <a:ln w="9525" cap="flat" cmpd="sng" algn="ctr">
              <a:solidFill>
                <a:srgbClr val="53565A"/>
              </a:solidFill>
              <a:prstDash val="solid"/>
            </a:ln>
            <a:effectLst/>
          </p:spPr>
        </p:cxnSp>
        <p:cxnSp>
          <p:nvCxnSpPr>
            <p:cNvPr id="16" name="Elbow Connector 52">
              <a:extLst>
                <a:ext uri="{FF2B5EF4-FFF2-40B4-BE49-F238E27FC236}">
                  <a16:creationId xmlns:a16="http://schemas.microsoft.com/office/drawing/2014/main" id="{818DC772-4795-4A46-AEA4-F6EF5D70B57F}"/>
                </a:ext>
              </a:extLst>
            </p:cNvPr>
            <p:cNvCxnSpPr>
              <a:stCxn id="13" idx="2"/>
              <a:endCxn id="40" idx="0"/>
            </p:cNvCxnSpPr>
            <p:nvPr/>
          </p:nvCxnSpPr>
          <p:spPr>
            <a:xfrm rot="5400000">
              <a:off x="4756077" y="558296"/>
              <a:ext cx="507896" cy="1836672"/>
            </a:xfrm>
            <a:prstGeom prst="bentConnector3">
              <a:avLst/>
            </a:prstGeom>
            <a:noFill/>
            <a:ln w="9525" cap="flat" cmpd="sng" algn="ctr">
              <a:solidFill>
                <a:srgbClr val="53565A"/>
              </a:solidFill>
              <a:prstDash val="solid"/>
            </a:ln>
            <a:effectLst/>
          </p:spPr>
        </p:cxnSp>
        <p:cxnSp>
          <p:nvCxnSpPr>
            <p:cNvPr id="17" name="Elbow Connector 53">
              <a:extLst>
                <a:ext uri="{FF2B5EF4-FFF2-40B4-BE49-F238E27FC236}">
                  <a16:creationId xmlns:a16="http://schemas.microsoft.com/office/drawing/2014/main" id="{32107733-D647-4F3C-9A5A-66FEC66E2092}"/>
                </a:ext>
              </a:extLst>
            </p:cNvPr>
            <p:cNvCxnSpPr>
              <a:stCxn id="13" idx="2"/>
              <a:endCxn id="44" idx="0"/>
            </p:cNvCxnSpPr>
            <p:nvPr/>
          </p:nvCxnSpPr>
          <p:spPr>
            <a:xfrm rot="16200000" flipH="1">
              <a:off x="6611344" y="539701"/>
              <a:ext cx="507896" cy="1873862"/>
            </a:xfrm>
            <a:prstGeom prst="bentConnector3">
              <a:avLst/>
            </a:prstGeom>
            <a:noFill/>
            <a:ln w="9525" cap="flat" cmpd="sng" algn="ctr">
              <a:solidFill>
                <a:srgbClr val="53565A"/>
              </a:solidFill>
              <a:prstDash val="solid"/>
            </a:ln>
            <a:effectLst/>
          </p:spPr>
        </p:cxnSp>
        <p:sp>
          <p:nvSpPr>
            <p:cNvPr id="18" name="Rounded Rectangle 1">
              <a:extLst>
                <a:ext uri="{FF2B5EF4-FFF2-40B4-BE49-F238E27FC236}">
                  <a16:creationId xmlns:a16="http://schemas.microsoft.com/office/drawing/2014/main" id="{904D0DE2-1FAF-4321-B7B5-365D6D12D50D}"/>
                </a:ext>
              </a:extLst>
            </p:cNvPr>
            <p:cNvSpPr/>
            <p:nvPr/>
          </p:nvSpPr>
          <p:spPr bwMode="gray">
            <a:xfrm>
              <a:off x="1394941" y="5063092"/>
              <a:ext cx="1138696" cy="589265"/>
            </a:xfrm>
            <a:prstGeom prst="round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a:solidFill>
                    <a:schemeClr val="bg1"/>
                  </a:solidFill>
                </a:rPr>
                <a:t>Energy &amp; Resources</a:t>
              </a:r>
              <a:endParaRPr lang="en-IN" sz="900" b="1">
                <a:solidFill>
                  <a:schemeClr val="bg1"/>
                </a:solidFill>
              </a:endParaRPr>
            </a:p>
          </p:txBody>
        </p:sp>
        <p:sp>
          <p:nvSpPr>
            <p:cNvPr id="19" name="Rounded Rectangle 54">
              <a:extLst>
                <a:ext uri="{FF2B5EF4-FFF2-40B4-BE49-F238E27FC236}">
                  <a16:creationId xmlns:a16="http://schemas.microsoft.com/office/drawing/2014/main" id="{4AA3416B-12D6-4890-B28A-635721D33CF0}"/>
                </a:ext>
              </a:extLst>
            </p:cNvPr>
            <p:cNvSpPr/>
            <p:nvPr/>
          </p:nvSpPr>
          <p:spPr bwMode="gray">
            <a:xfrm>
              <a:off x="2666910" y="5063092"/>
              <a:ext cx="1138696" cy="589265"/>
            </a:xfrm>
            <a:prstGeom prst="round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a:solidFill>
                    <a:schemeClr val="bg1"/>
                  </a:solidFill>
                </a:rPr>
                <a:t>Financial Services</a:t>
              </a:r>
              <a:endParaRPr lang="en-IN" sz="900" b="1">
                <a:solidFill>
                  <a:schemeClr val="bg1"/>
                </a:solidFill>
              </a:endParaRPr>
            </a:p>
          </p:txBody>
        </p:sp>
        <p:sp>
          <p:nvSpPr>
            <p:cNvPr id="20" name="Rounded Rectangle 55">
              <a:extLst>
                <a:ext uri="{FF2B5EF4-FFF2-40B4-BE49-F238E27FC236}">
                  <a16:creationId xmlns:a16="http://schemas.microsoft.com/office/drawing/2014/main" id="{D5B2986E-1B80-4659-B926-C082F07FEA0E}"/>
                </a:ext>
              </a:extLst>
            </p:cNvPr>
            <p:cNvSpPr/>
            <p:nvPr/>
          </p:nvSpPr>
          <p:spPr bwMode="gray">
            <a:xfrm>
              <a:off x="3938879" y="5063092"/>
              <a:ext cx="1138696" cy="589265"/>
            </a:xfrm>
            <a:prstGeom prst="round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a:solidFill>
                    <a:schemeClr val="bg1"/>
                  </a:solidFill>
                </a:rPr>
                <a:t>Life Sciences &amp; Healthcare</a:t>
              </a:r>
              <a:endParaRPr lang="en-IN" sz="900" b="1">
                <a:solidFill>
                  <a:schemeClr val="bg1"/>
                </a:solidFill>
              </a:endParaRPr>
            </a:p>
          </p:txBody>
        </p:sp>
        <p:sp>
          <p:nvSpPr>
            <p:cNvPr id="21" name="Rounded Rectangle 56">
              <a:extLst>
                <a:ext uri="{FF2B5EF4-FFF2-40B4-BE49-F238E27FC236}">
                  <a16:creationId xmlns:a16="http://schemas.microsoft.com/office/drawing/2014/main" id="{F3336FDD-017D-4A0C-A4F7-8998BD24BA64}"/>
                </a:ext>
              </a:extLst>
            </p:cNvPr>
            <p:cNvSpPr/>
            <p:nvPr/>
          </p:nvSpPr>
          <p:spPr bwMode="gray">
            <a:xfrm>
              <a:off x="5210848" y="5063092"/>
              <a:ext cx="1138696" cy="589265"/>
            </a:xfrm>
            <a:prstGeom prst="round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a:solidFill>
                    <a:schemeClr val="bg1"/>
                  </a:solidFill>
                </a:rPr>
                <a:t>Public Sector</a:t>
              </a:r>
              <a:endParaRPr lang="en-IN" sz="900" b="1">
                <a:solidFill>
                  <a:schemeClr val="bg1"/>
                </a:solidFill>
              </a:endParaRPr>
            </a:p>
          </p:txBody>
        </p:sp>
        <p:sp>
          <p:nvSpPr>
            <p:cNvPr id="22" name="Rounded Rectangle 57">
              <a:extLst>
                <a:ext uri="{FF2B5EF4-FFF2-40B4-BE49-F238E27FC236}">
                  <a16:creationId xmlns:a16="http://schemas.microsoft.com/office/drawing/2014/main" id="{09409D94-070D-4871-8831-5F8B8D3BCAC7}"/>
                </a:ext>
              </a:extLst>
            </p:cNvPr>
            <p:cNvSpPr/>
            <p:nvPr/>
          </p:nvSpPr>
          <p:spPr bwMode="gray">
            <a:xfrm>
              <a:off x="6464057" y="5063092"/>
              <a:ext cx="1138696" cy="589265"/>
            </a:xfrm>
            <a:prstGeom prst="round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a:solidFill>
                    <a:schemeClr val="bg1"/>
                  </a:solidFill>
                </a:rPr>
                <a:t>Consumer Business &amp; Transportation</a:t>
              </a:r>
              <a:endParaRPr lang="en-IN" sz="900" b="1">
                <a:solidFill>
                  <a:schemeClr val="bg1"/>
                </a:solidFill>
              </a:endParaRPr>
            </a:p>
          </p:txBody>
        </p:sp>
        <p:sp>
          <p:nvSpPr>
            <p:cNvPr id="23" name="Rounded Rectangle 59">
              <a:extLst>
                <a:ext uri="{FF2B5EF4-FFF2-40B4-BE49-F238E27FC236}">
                  <a16:creationId xmlns:a16="http://schemas.microsoft.com/office/drawing/2014/main" id="{6CC41C18-296F-491F-B822-C0CEDD75A7FF}"/>
                </a:ext>
              </a:extLst>
            </p:cNvPr>
            <p:cNvSpPr/>
            <p:nvPr/>
          </p:nvSpPr>
          <p:spPr bwMode="gray">
            <a:xfrm>
              <a:off x="7746919" y="5063092"/>
              <a:ext cx="1138696" cy="589265"/>
            </a:xfrm>
            <a:prstGeom prst="round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a:solidFill>
                    <a:schemeClr val="bg1"/>
                  </a:solidFill>
                </a:rPr>
                <a:t>Manufacturing</a:t>
              </a:r>
              <a:endParaRPr lang="en-IN" sz="900" b="1">
                <a:solidFill>
                  <a:schemeClr val="bg1"/>
                </a:solidFill>
              </a:endParaRPr>
            </a:p>
          </p:txBody>
        </p:sp>
        <p:sp>
          <p:nvSpPr>
            <p:cNvPr id="24" name="Rounded Rectangle 60">
              <a:extLst>
                <a:ext uri="{FF2B5EF4-FFF2-40B4-BE49-F238E27FC236}">
                  <a16:creationId xmlns:a16="http://schemas.microsoft.com/office/drawing/2014/main" id="{746B88F9-2F7E-4D8B-8BEC-B7FB26063186}"/>
                </a:ext>
              </a:extLst>
            </p:cNvPr>
            <p:cNvSpPr/>
            <p:nvPr/>
          </p:nvSpPr>
          <p:spPr bwMode="gray">
            <a:xfrm>
              <a:off x="9026754" y="5063092"/>
              <a:ext cx="1528200" cy="589265"/>
            </a:xfrm>
            <a:prstGeom prst="round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a:solidFill>
                    <a:schemeClr val="bg1"/>
                  </a:solidFill>
                </a:rPr>
                <a:t>Technology, Media &amp; Telecommunications</a:t>
              </a:r>
              <a:endParaRPr lang="en-IN" sz="900" b="1">
                <a:solidFill>
                  <a:schemeClr val="bg1"/>
                </a:solidFill>
              </a:endParaRPr>
            </a:p>
          </p:txBody>
        </p:sp>
        <p:sp>
          <p:nvSpPr>
            <p:cNvPr id="25" name="Isosceles Triangle 24">
              <a:extLst>
                <a:ext uri="{FF2B5EF4-FFF2-40B4-BE49-F238E27FC236}">
                  <a16:creationId xmlns:a16="http://schemas.microsoft.com/office/drawing/2014/main" id="{A4A48098-185E-44A0-B5AD-DD7BF5C1534E}"/>
                </a:ext>
              </a:extLst>
            </p:cNvPr>
            <p:cNvSpPr/>
            <p:nvPr/>
          </p:nvSpPr>
          <p:spPr bwMode="gray">
            <a:xfrm rot="10800000">
              <a:off x="1338955" y="4706792"/>
              <a:ext cx="9216000" cy="280069"/>
            </a:xfrm>
            <a:prstGeom prst="triangle">
              <a:avLst/>
            </a:prstGeom>
            <a:solidFill>
              <a:schemeClr val="accent3">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grpSp>
      <p:sp>
        <p:nvSpPr>
          <p:cNvPr id="47" name="Rectangle 46">
            <a:extLst>
              <a:ext uri="{FF2B5EF4-FFF2-40B4-BE49-F238E27FC236}">
                <a16:creationId xmlns:a16="http://schemas.microsoft.com/office/drawing/2014/main" id="{D7AD8DA9-BE00-42C6-BDB4-18628CA49F1F}"/>
              </a:ext>
            </a:extLst>
          </p:cNvPr>
          <p:cNvSpPr/>
          <p:nvPr/>
        </p:nvSpPr>
        <p:spPr bwMode="gray">
          <a:xfrm>
            <a:off x="8544138" y="1780018"/>
            <a:ext cx="1873864" cy="3182268"/>
          </a:xfrm>
          <a:prstGeom prst="rect">
            <a:avLst/>
          </a:prstGeom>
          <a:noFill/>
          <a:ln w="19050" algn="ctr">
            <a:solidFill>
              <a:srgbClr val="012169"/>
            </a:solidFill>
            <a:prstDash val="sysDash"/>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sp>
        <p:nvSpPr>
          <p:cNvPr id="48" name="Rectangle 47">
            <a:extLst>
              <a:ext uri="{FF2B5EF4-FFF2-40B4-BE49-F238E27FC236}">
                <a16:creationId xmlns:a16="http://schemas.microsoft.com/office/drawing/2014/main" id="{B5A57BBD-7593-4624-ADB9-7E809DC29BCA}"/>
              </a:ext>
            </a:extLst>
          </p:cNvPr>
          <p:cNvSpPr/>
          <p:nvPr/>
        </p:nvSpPr>
        <p:spPr bwMode="gray">
          <a:xfrm>
            <a:off x="4973215" y="5336048"/>
            <a:ext cx="1170715" cy="630062"/>
          </a:xfrm>
          <a:prstGeom prst="rect">
            <a:avLst/>
          </a:prstGeom>
          <a:noFill/>
          <a:ln w="19050" algn="ctr">
            <a:solidFill>
              <a:srgbClr val="012169"/>
            </a:solidFill>
            <a:prstDash val="sysDash"/>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sp>
        <p:nvSpPr>
          <p:cNvPr id="2" name="Rectangle 1">
            <a:extLst>
              <a:ext uri="{FF2B5EF4-FFF2-40B4-BE49-F238E27FC236}">
                <a16:creationId xmlns:a16="http://schemas.microsoft.com/office/drawing/2014/main" id="{60C6D3F7-7C42-7DDA-4475-E84FC5F3BEB5}"/>
              </a:ext>
            </a:extLst>
          </p:cNvPr>
          <p:cNvSpPr/>
          <p:nvPr/>
        </p:nvSpPr>
        <p:spPr bwMode="gray">
          <a:xfrm>
            <a:off x="333466" y="121358"/>
            <a:ext cx="11811080" cy="370522"/>
          </a:xfrm>
          <a:prstGeom prst="rect">
            <a:avLst/>
          </a:prstGeom>
          <a:noFill/>
          <a:ln w="19050" algn="ctr">
            <a:noFill/>
            <a:miter lim="800000"/>
            <a:headEnd/>
            <a:tailEnd/>
          </a:ln>
        </p:spPr>
        <p:txBody>
          <a:bodyPr wrap="square" lIns="88900" tIns="88900" rIns="88900" bIns="88900" rtlCol="0" anchor="ctr"/>
          <a:lstStyle/>
          <a:p>
            <a:r>
              <a:rPr lang="en-US" sz="1800" b="1">
                <a:latin typeface="+mj-lt"/>
              </a:rPr>
              <a:t>Information on the consultant’s core business and years in business</a:t>
            </a:r>
          </a:p>
        </p:txBody>
      </p:sp>
      <p:cxnSp>
        <p:nvCxnSpPr>
          <p:cNvPr id="3" name="Straight Arrow Connector 2">
            <a:extLst>
              <a:ext uri="{FF2B5EF4-FFF2-40B4-BE49-F238E27FC236}">
                <a16:creationId xmlns:a16="http://schemas.microsoft.com/office/drawing/2014/main" id="{94E546F8-5806-FC2C-BF70-8BA71C751860}"/>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8480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F3666179-8F8D-4193-A336-B1312ABBC4E3}"/>
              </a:ext>
            </a:extLst>
          </p:cNvPr>
          <p:cNvSpPr txBox="1">
            <a:spLocks/>
          </p:cNvSpPr>
          <p:nvPr/>
        </p:nvSpPr>
        <p:spPr>
          <a:xfrm>
            <a:off x="322384" y="982420"/>
            <a:ext cx="11252200" cy="757255"/>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SzPct val="100000"/>
              <a:buFont typeface="Arial" panose="020B0604020202020204" pitchFamily="34" charset="0"/>
              <a:buNone/>
              <a:defRPr sz="16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600" b="0" i="0" u="none" strike="noStrike" kern="1200" cap="none" spc="0" normalizeH="0" baseline="0" noProof="0">
                <a:ln>
                  <a:noFill/>
                </a:ln>
                <a:solidFill>
                  <a:schemeClr val="tx1"/>
                </a:solidFill>
                <a:effectLst/>
                <a:uLnTx/>
                <a:uFillTx/>
                <a:latin typeface="Verdana"/>
                <a:ea typeface="+mn-ea"/>
                <a:cs typeface="+mn-cs"/>
              </a:rPr>
              <a:t>Deloitte focuses on 7 core industries and 27 sectors in the global marketplace, and serves a range of sectors within each industry</a:t>
            </a:r>
          </a:p>
        </p:txBody>
      </p:sp>
      <p:grpSp>
        <p:nvGrpSpPr>
          <p:cNvPr id="5" name="Group 4">
            <a:extLst>
              <a:ext uri="{FF2B5EF4-FFF2-40B4-BE49-F238E27FC236}">
                <a16:creationId xmlns:a16="http://schemas.microsoft.com/office/drawing/2014/main" id="{758030AE-A0FB-4857-BC4C-1DC9BE704B97}"/>
              </a:ext>
            </a:extLst>
          </p:cNvPr>
          <p:cNvGrpSpPr/>
          <p:nvPr/>
        </p:nvGrpSpPr>
        <p:grpSpPr>
          <a:xfrm>
            <a:off x="3860800" y="1816563"/>
            <a:ext cx="7712658" cy="4382957"/>
            <a:chOff x="163077" y="1735141"/>
            <a:chExt cx="6191575" cy="4633913"/>
          </a:xfrm>
        </p:grpSpPr>
        <p:sp>
          <p:nvSpPr>
            <p:cNvPr id="6" name="Freeform 14">
              <a:extLst>
                <a:ext uri="{FF2B5EF4-FFF2-40B4-BE49-F238E27FC236}">
                  <a16:creationId xmlns:a16="http://schemas.microsoft.com/office/drawing/2014/main" id="{D00E99FF-75BA-4AD2-9F6A-872D2C43689C}"/>
                </a:ext>
              </a:extLst>
            </p:cNvPr>
            <p:cNvSpPr/>
            <p:nvPr/>
          </p:nvSpPr>
          <p:spPr bwMode="gray">
            <a:xfrm>
              <a:off x="163077" y="5324025"/>
              <a:ext cx="1122222" cy="1045029"/>
            </a:xfrm>
            <a:custGeom>
              <a:avLst/>
              <a:gdLst>
                <a:gd name="connsiteX0" fmla="*/ 547688 w 876300"/>
                <a:gd name="connsiteY0" fmla="*/ 4762 h 790575"/>
                <a:gd name="connsiteX1" fmla="*/ 876300 w 876300"/>
                <a:gd name="connsiteY1" fmla="*/ 0 h 790575"/>
                <a:gd name="connsiteX2" fmla="*/ 871538 w 876300"/>
                <a:gd name="connsiteY2" fmla="*/ 790575 h 790575"/>
                <a:gd name="connsiteX3" fmla="*/ 0 w 876300"/>
                <a:gd name="connsiteY3" fmla="*/ 781050 h 790575"/>
                <a:gd name="connsiteX4" fmla="*/ 547688 w 876300"/>
                <a:gd name="connsiteY4" fmla="*/ 4762 h 790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6300" h="790575">
                  <a:moveTo>
                    <a:pt x="547688" y="4762"/>
                  </a:moveTo>
                  <a:lnTo>
                    <a:pt x="876300" y="0"/>
                  </a:lnTo>
                  <a:cubicBezTo>
                    <a:pt x="874713" y="263525"/>
                    <a:pt x="873125" y="527050"/>
                    <a:pt x="871538" y="790575"/>
                  </a:cubicBezTo>
                  <a:lnTo>
                    <a:pt x="0" y="781050"/>
                  </a:lnTo>
                  <a:lnTo>
                    <a:pt x="547688" y="4762"/>
                  </a:lnTo>
                  <a:close/>
                </a:path>
              </a:pathLst>
            </a:custGeom>
            <a:solidFill>
              <a:schemeClr val="accent3">
                <a:lumMod val="60000"/>
                <a:lumOff val="40000"/>
              </a:schemeClr>
            </a:solidFill>
            <a:ln w="19050" algn="ctr">
              <a:noFill/>
              <a:miter lim="800000"/>
              <a:headEnd/>
              <a:tailEnd/>
            </a:ln>
          </p:spPr>
          <p:txBody>
            <a:bodyPr wrap="square" lIns="88900" tIns="88900" rIns="88900" bIns="88900" rtlCol="0" anchor="b"/>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0" cap="none" spc="0" normalizeH="0" baseline="0" noProof="0">
                  <a:ln>
                    <a:noFill/>
                  </a:ln>
                  <a:solidFill>
                    <a:prstClr val="white"/>
                  </a:solidFill>
                  <a:effectLst/>
                  <a:uLnTx/>
                  <a:uFillTx/>
                  <a:latin typeface="Verdana"/>
                  <a:ea typeface="+mn-ea"/>
                  <a:cs typeface="+mn-cs"/>
                </a:rPr>
                <a:t>Strategy</a:t>
              </a:r>
            </a:p>
          </p:txBody>
        </p:sp>
        <p:sp>
          <p:nvSpPr>
            <p:cNvPr id="7" name="Freeform 15">
              <a:extLst>
                <a:ext uri="{FF2B5EF4-FFF2-40B4-BE49-F238E27FC236}">
                  <a16:creationId xmlns:a16="http://schemas.microsoft.com/office/drawing/2014/main" id="{F7A08C89-78E7-41AC-A9A0-4BCF7D7BAFA3}"/>
                </a:ext>
              </a:extLst>
            </p:cNvPr>
            <p:cNvSpPr/>
            <p:nvPr/>
          </p:nvSpPr>
          <p:spPr bwMode="gray">
            <a:xfrm flipH="1">
              <a:off x="5232430" y="5324025"/>
              <a:ext cx="1122222" cy="1045029"/>
            </a:xfrm>
            <a:custGeom>
              <a:avLst/>
              <a:gdLst>
                <a:gd name="connsiteX0" fmla="*/ 547688 w 876300"/>
                <a:gd name="connsiteY0" fmla="*/ 4762 h 790575"/>
                <a:gd name="connsiteX1" fmla="*/ 876300 w 876300"/>
                <a:gd name="connsiteY1" fmla="*/ 0 h 790575"/>
                <a:gd name="connsiteX2" fmla="*/ 871538 w 876300"/>
                <a:gd name="connsiteY2" fmla="*/ 790575 h 790575"/>
                <a:gd name="connsiteX3" fmla="*/ 0 w 876300"/>
                <a:gd name="connsiteY3" fmla="*/ 781050 h 790575"/>
                <a:gd name="connsiteX4" fmla="*/ 547688 w 876300"/>
                <a:gd name="connsiteY4" fmla="*/ 4762 h 790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6300" h="790575">
                  <a:moveTo>
                    <a:pt x="547688" y="4762"/>
                  </a:moveTo>
                  <a:lnTo>
                    <a:pt x="876300" y="0"/>
                  </a:lnTo>
                  <a:cubicBezTo>
                    <a:pt x="874713" y="263525"/>
                    <a:pt x="873125" y="527050"/>
                    <a:pt x="871538" y="790575"/>
                  </a:cubicBezTo>
                  <a:lnTo>
                    <a:pt x="0" y="781050"/>
                  </a:lnTo>
                  <a:lnTo>
                    <a:pt x="547688" y="4762"/>
                  </a:lnTo>
                  <a:close/>
                </a:path>
              </a:pathLst>
            </a:custGeom>
            <a:solidFill>
              <a:schemeClr val="accent3">
                <a:lumMod val="60000"/>
                <a:lumOff val="40000"/>
              </a:schemeClr>
            </a:solidFill>
            <a:ln w="19050" algn="ctr">
              <a:noFill/>
              <a:miter lim="800000"/>
              <a:headEnd/>
              <a:tailEnd/>
            </a:ln>
          </p:spPr>
          <p:txBody>
            <a:bodyPr wrap="square" lIns="88900" tIns="88900" rIns="88900" bIns="88900" rtlCol="0" anchor="b"/>
            <a:lstStyle/>
            <a:p>
              <a:pPr marL="0" marR="0" lvl="0" indent="0" algn="l"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0" cap="none" spc="0" normalizeH="0" baseline="0" noProof="0">
                  <a:ln>
                    <a:noFill/>
                  </a:ln>
                  <a:solidFill>
                    <a:prstClr val="white"/>
                  </a:solidFill>
                  <a:effectLst/>
                  <a:uLnTx/>
                  <a:uFillTx/>
                  <a:latin typeface="Verdana"/>
                  <a:ea typeface="+mn-ea"/>
                  <a:cs typeface="+mn-cs"/>
                </a:rPr>
                <a:t>Outsourcing</a:t>
              </a:r>
            </a:p>
          </p:txBody>
        </p:sp>
        <p:sp>
          <p:nvSpPr>
            <p:cNvPr id="8" name="Rectangle 7">
              <a:extLst>
                <a:ext uri="{FF2B5EF4-FFF2-40B4-BE49-F238E27FC236}">
                  <a16:creationId xmlns:a16="http://schemas.microsoft.com/office/drawing/2014/main" id="{A585218E-E4A5-4C34-85C1-2692C0135096}"/>
                </a:ext>
              </a:extLst>
            </p:cNvPr>
            <p:cNvSpPr/>
            <p:nvPr/>
          </p:nvSpPr>
          <p:spPr bwMode="gray">
            <a:xfrm>
              <a:off x="1322382" y="5324025"/>
              <a:ext cx="942216" cy="504000"/>
            </a:xfrm>
            <a:prstGeom prst="rect">
              <a:avLst/>
            </a:prstGeom>
            <a:solidFill>
              <a:schemeClr val="accent3">
                <a:lumMod val="60000"/>
                <a:lumOff val="40000"/>
              </a:schemeClr>
            </a:solidFill>
            <a:ln w="19050" algn="ctr">
              <a:noFill/>
              <a:miter lim="800000"/>
              <a:headEnd/>
              <a:tailEnd/>
            </a:ln>
          </p:spPr>
          <p:txBody>
            <a:bodyPr wrap="square" lIns="88900" tIns="88900" rIns="88900" bIns="88900" rtlCol="0" anchor="ctr"/>
            <a:lstStyle/>
            <a:p>
              <a:pPr marL="0" marR="0" lvl="0" indent="0" algn="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0" cap="none" spc="0" normalizeH="0" baseline="0" noProof="0">
                  <a:ln>
                    <a:noFill/>
                  </a:ln>
                  <a:solidFill>
                    <a:prstClr val="white"/>
                  </a:solidFill>
                  <a:effectLst/>
                  <a:uLnTx/>
                  <a:uFillTx/>
                  <a:latin typeface="Verdana"/>
                  <a:ea typeface="+mn-ea"/>
                  <a:cs typeface="+mn-cs"/>
                </a:rPr>
                <a:t>Human </a:t>
              </a:r>
            </a:p>
            <a:p>
              <a:pPr marL="0" marR="0" lvl="0" indent="0" algn="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0" cap="none" spc="0" normalizeH="0" baseline="0" noProof="0">
                  <a:ln>
                    <a:noFill/>
                  </a:ln>
                  <a:solidFill>
                    <a:prstClr val="white"/>
                  </a:solidFill>
                  <a:effectLst/>
                  <a:uLnTx/>
                  <a:uFillTx/>
                  <a:latin typeface="Verdana"/>
                  <a:ea typeface="+mn-ea"/>
                  <a:cs typeface="+mn-cs"/>
                </a:rPr>
                <a:t>Capital</a:t>
              </a:r>
            </a:p>
          </p:txBody>
        </p:sp>
        <p:sp>
          <p:nvSpPr>
            <p:cNvPr id="9" name="Rectangle 8">
              <a:extLst>
                <a:ext uri="{FF2B5EF4-FFF2-40B4-BE49-F238E27FC236}">
                  <a16:creationId xmlns:a16="http://schemas.microsoft.com/office/drawing/2014/main" id="{55C382FE-8E74-4170-8141-895BB0A959D2}"/>
                </a:ext>
              </a:extLst>
            </p:cNvPr>
            <p:cNvSpPr/>
            <p:nvPr/>
          </p:nvSpPr>
          <p:spPr bwMode="gray">
            <a:xfrm>
              <a:off x="1322382" y="5865054"/>
              <a:ext cx="942216" cy="504000"/>
            </a:xfrm>
            <a:prstGeom prst="rect">
              <a:avLst/>
            </a:prstGeom>
            <a:solidFill>
              <a:schemeClr val="accent3">
                <a:lumMod val="60000"/>
                <a:lumOff val="40000"/>
              </a:schemeClr>
            </a:solidFill>
            <a:ln w="19050" algn="ctr">
              <a:noFill/>
              <a:miter lim="800000"/>
              <a:headEnd/>
              <a:tailEnd/>
            </a:ln>
          </p:spPr>
          <p:txBody>
            <a:bodyPr wrap="square" lIns="88900" tIns="88900" rIns="88900" bIns="88900" rtlCol="0" anchor="ctr"/>
            <a:lstStyle/>
            <a:p>
              <a:pPr marL="0" marR="0" lvl="0" indent="0" algn="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0" cap="none" spc="0" normalizeH="0" baseline="0" noProof="0">
                  <a:ln>
                    <a:noFill/>
                  </a:ln>
                  <a:solidFill>
                    <a:prstClr val="white"/>
                  </a:solidFill>
                  <a:effectLst/>
                  <a:uLnTx/>
                  <a:uFillTx/>
                  <a:latin typeface="Verdana"/>
                  <a:ea typeface="+mn-ea"/>
                  <a:cs typeface="+mn-cs"/>
                </a:rPr>
                <a:t>Assurance</a:t>
              </a:r>
            </a:p>
          </p:txBody>
        </p:sp>
        <p:sp>
          <p:nvSpPr>
            <p:cNvPr id="10" name="Rectangle 9">
              <a:extLst>
                <a:ext uri="{FF2B5EF4-FFF2-40B4-BE49-F238E27FC236}">
                  <a16:creationId xmlns:a16="http://schemas.microsoft.com/office/drawing/2014/main" id="{9A2B98F1-3C4F-4572-851B-83A212ECFEBE}"/>
                </a:ext>
              </a:extLst>
            </p:cNvPr>
            <p:cNvSpPr/>
            <p:nvPr/>
          </p:nvSpPr>
          <p:spPr bwMode="gray">
            <a:xfrm>
              <a:off x="2299894" y="5324025"/>
              <a:ext cx="942216" cy="504000"/>
            </a:xfrm>
            <a:prstGeom prst="rect">
              <a:avLst/>
            </a:prstGeom>
            <a:solidFill>
              <a:schemeClr val="accent3">
                <a:lumMod val="60000"/>
                <a:lumOff val="4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0" cap="none" spc="0" normalizeH="0" baseline="0" noProof="0">
                  <a:ln>
                    <a:noFill/>
                  </a:ln>
                  <a:solidFill>
                    <a:prstClr val="white"/>
                  </a:solidFill>
                  <a:effectLst/>
                  <a:uLnTx/>
                  <a:uFillTx/>
                  <a:latin typeface="Verdana"/>
                  <a:ea typeface="+mn-ea"/>
                  <a:cs typeface="+mn-cs"/>
                </a:rPr>
                <a:t>    Finance</a:t>
              </a:r>
            </a:p>
          </p:txBody>
        </p:sp>
        <p:sp>
          <p:nvSpPr>
            <p:cNvPr id="11" name="Rectangle 10">
              <a:extLst>
                <a:ext uri="{FF2B5EF4-FFF2-40B4-BE49-F238E27FC236}">
                  <a16:creationId xmlns:a16="http://schemas.microsoft.com/office/drawing/2014/main" id="{7C00735E-B834-4926-9C64-13A0480FB8AE}"/>
                </a:ext>
              </a:extLst>
            </p:cNvPr>
            <p:cNvSpPr/>
            <p:nvPr/>
          </p:nvSpPr>
          <p:spPr bwMode="gray">
            <a:xfrm>
              <a:off x="2299894" y="5865054"/>
              <a:ext cx="942216" cy="504000"/>
            </a:xfrm>
            <a:prstGeom prst="rect">
              <a:avLst/>
            </a:prstGeom>
            <a:solidFill>
              <a:schemeClr val="accent3">
                <a:lumMod val="60000"/>
                <a:lumOff val="40000"/>
              </a:schemeClr>
            </a:solidFill>
            <a:ln w="19050" algn="ctr">
              <a:noFill/>
              <a:miter lim="800000"/>
              <a:headEnd/>
              <a:tailEnd/>
            </a:ln>
          </p:spPr>
          <p:txBody>
            <a:bodyPr wrap="square" lIns="88900" tIns="88900" rIns="54000" bIns="88900" rtlCol="0" anchor="ctr"/>
            <a:lstStyle/>
            <a:p>
              <a:pPr marL="0" marR="0" lvl="0" indent="0" algn="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0" cap="none" spc="0" normalizeH="0" baseline="0" noProof="0">
                  <a:ln>
                    <a:noFill/>
                  </a:ln>
                  <a:solidFill>
                    <a:prstClr val="white"/>
                  </a:solidFill>
                  <a:effectLst/>
                  <a:uLnTx/>
                  <a:uFillTx/>
                  <a:latin typeface="Verdana"/>
                  <a:ea typeface="+mn-ea"/>
                  <a:cs typeface="+mn-cs"/>
                </a:rPr>
                <a:t>Operations</a:t>
              </a:r>
            </a:p>
          </p:txBody>
        </p:sp>
        <p:sp>
          <p:nvSpPr>
            <p:cNvPr id="12" name="Rectangle 11">
              <a:extLst>
                <a:ext uri="{FF2B5EF4-FFF2-40B4-BE49-F238E27FC236}">
                  <a16:creationId xmlns:a16="http://schemas.microsoft.com/office/drawing/2014/main" id="{DE8F5C36-6F04-4D04-A3E7-C53AB17D8A79}"/>
                </a:ext>
              </a:extLst>
            </p:cNvPr>
            <p:cNvSpPr/>
            <p:nvPr/>
          </p:nvSpPr>
          <p:spPr bwMode="gray">
            <a:xfrm>
              <a:off x="3277406" y="5324025"/>
              <a:ext cx="942216" cy="504000"/>
            </a:xfrm>
            <a:prstGeom prst="rect">
              <a:avLst/>
            </a:prstGeom>
            <a:solidFill>
              <a:schemeClr val="accent3">
                <a:lumMod val="60000"/>
                <a:lumOff val="4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0" cap="none" spc="0" normalizeH="0" baseline="0" noProof="0">
                  <a:ln>
                    <a:noFill/>
                  </a:ln>
                  <a:solidFill>
                    <a:prstClr val="white"/>
                  </a:solidFill>
                  <a:effectLst/>
                  <a:uLnTx/>
                  <a:uFillTx/>
                  <a:latin typeface="Verdana"/>
                  <a:ea typeface="+mn-ea"/>
                  <a:cs typeface="+mn-cs"/>
                </a:rPr>
                <a:t>    Legal</a:t>
              </a:r>
            </a:p>
          </p:txBody>
        </p:sp>
        <p:sp>
          <p:nvSpPr>
            <p:cNvPr id="13" name="Rectangle 12">
              <a:extLst>
                <a:ext uri="{FF2B5EF4-FFF2-40B4-BE49-F238E27FC236}">
                  <a16:creationId xmlns:a16="http://schemas.microsoft.com/office/drawing/2014/main" id="{B929E1B7-4313-4528-98D6-41095821A926}"/>
                </a:ext>
              </a:extLst>
            </p:cNvPr>
            <p:cNvSpPr/>
            <p:nvPr/>
          </p:nvSpPr>
          <p:spPr bwMode="gray">
            <a:xfrm>
              <a:off x="3277406" y="5865054"/>
              <a:ext cx="942216" cy="504000"/>
            </a:xfrm>
            <a:prstGeom prst="rect">
              <a:avLst/>
            </a:prstGeom>
            <a:solidFill>
              <a:schemeClr val="accent3">
                <a:lumMod val="60000"/>
                <a:lumOff val="4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0" cap="none" spc="0" normalizeH="0" baseline="0" noProof="0">
                  <a:ln>
                    <a:noFill/>
                  </a:ln>
                  <a:solidFill>
                    <a:prstClr val="white"/>
                  </a:solidFill>
                  <a:effectLst/>
                  <a:uLnTx/>
                  <a:uFillTx/>
                  <a:latin typeface="Verdana"/>
                  <a:ea typeface="+mn-ea"/>
                  <a:cs typeface="+mn-cs"/>
                </a:rPr>
                <a:t>    Risk</a:t>
              </a:r>
            </a:p>
          </p:txBody>
        </p:sp>
        <p:sp>
          <p:nvSpPr>
            <p:cNvPr id="14" name="Rectangle 13">
              <a:extLst>
                <a:ext uri="{FF2B5EF4-FFF2-40B4-BE49-F238E27FC236}">
                  <a16:creationId xmlns:a16="http://schemas.microsoft.com/office/drawing/2014/main" id="{05B304AA-1DCE-4B0D-9024-8E5DAF941314}"/>
                </a:ext>
              </a:extLst>
            </p:cNvPr>
            <p:cNvSpPr/>
            <p:nvPr/>
          </p:nvSpPr>
          <p:spPr bwMode="gray">
            <a:xfrm>
              <a:off x="4254918" y="5324025"/>
              <a:ext cx="942216" cy="504000"/>
            </a:xfrm>
            <a:prstGeom prst="rect">
              <a:avLst/>
            </a:prstGeom>
            <a:solidFill>
              <a:schemeClr val="accent3">
                <a:lumMod val="60000"/>
                <a:lumOff val="4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0" cap="none" spc="0" normalizeH="0" baseline="0" noProof="0">
                  <a:ln>
                    <a:noFill/>
                  </a:ln>
                  <a:solidFill>
                    <a:prstClr val="white"/>
                  </a:solidFill>
                  <a:effectLst/>
                  <a:uLnTx/>
                  <a:uFillTx/>
                  <a:latin typeface="Verdana"/>
                  <a:ea typeface="+mn-ea"/>
                  <a:cs typeface="+mn-cs"/>
                </a:rPr>
                <a:t>    Tax</a:t>
              </a:r>
            </a:p>
          </p:txBody>
        </p:sp>
        <p:sp>
          <p:nvSpPr>
            <p:cNvPr id="15" name="Rectangle 14">
              <a:extLst>
                <a:ext uri="{FF2B5EF4-FFF2-40B4-BE49-F238E27FC236}">
                  <a16:creationId xmlns:a16="http://schemas.microsoft.com/office/drawing/2014/main" id="{59F53130-61A1-40F7-AA8B-C80085BFF060}"/>
                </a:ext>
              </a:extLst>
            </p:cNvPr>
            <p:cNvSpPr/>
            <p:nvPr/>
          </p:nvSpPr>
          <p:spPr bwMode="gray">
            <a:xfrm>
              <a:off x="4254918" y="5865054"/>
              <a:ext cx="942216" cy="504000"/>
            </a:xfrm>
            <a:prstGeom prst="rect">
              <a:avLst/>
            </a:prstGeom>
            <a:solidFill>
              <a:schemeClr val="accent3">
                <a:lumMod val="60000"/>
                <a:lumOff val="4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900" b="0" i="0" u="none" strike="noStrike" kern="0" cap="none" spc="0" normalizeH="0" baseline="0" noProof="0">
                  <a:ln>
                    <a:noFill/>
                  </a:ln>
                  <a:solidFill>
                    <a:prstClr val="white"/>
                  </a:solidFill>
                  <a:effectLst/>
                  <a:uLnTx/>
                  <a:uFillTx/>
                  <a:latin typeface="Verdana"/>
                  <a:ea typeface="+mn-ea"/>
                  <a:cs typeface="+mn-cs"/>
                </a:rPr>
                <a:t>    Tech</a:t>
              </a:r>
            </a:p>
          </p:txBody>
        </p:sp>
        <p:sp>
          <p:nvSpPr>
            <p:cNvPr id="16" name="Isosceles Triangle 15">
              <a:extLst>
                <a:ext uri="{FF2B5EF4-FFF2-40B4-BE49-F238E27FC236}">
                  <a16:creationId xmlns:a16="http://schemas.microsoft.com/office/drawing/2014/main" id="{8521A75F-5E46-4537-8100-4D311213AB77}"/>
                </a:ext>
              </a:extLst>
            </p:cNvPr>
            <p:cNvSpPr/>
            <p:nvPr/>
          </p:nvSpPr>
          <p:spPr bwMode="gray">
            <a:xfrm>
              <a:off x="1698699" y="1735141"/>
              <a:ext cx="3113414" cy="2340655"/>
            </a:xfrm>
            <a:prstGeom prst="triangle">
              <a:avLst/>
            </a:prstGeom>
            <a:solidFill>
              <a:sysClr val="window" lastClr="FFFFFF">
                <a:lumMod val="50000"/>
              </a:sysClr>
            </a:solidFill>
            <a:ln w="19050" algn="ctr">
              <a:noFill/>
              <a:miter lim="800000"/>
              <a:headEnd/>
              <a:tailEnd/>
            </a:ln>
          </p:spPr>
          <p:txBody>
            <a:bodyPr wrap="square" lIns="0" tIns="88900" rIns="0" bIns="88900" rtlCol="0" anchor="b" anchorCtr="0"/>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100" b="0" i="0" u="none" strike="noStrike" kern="0" cap="none" spc="0" normalizeH="0" baseline="0" noProof="0">
                  <a:ln>
                    <a:noFill/>
                  </a:ln>
                  <a:solidFill>
                    <a:prstClr val="white"/>
                  </a:solidFill>
                  <a:effectLst/>
                  <a:uLnTx/>
                  <a:uFillTx/>
                  <a:latin typeface="Verdana"/>
                  <a:ea typeface="+mn-ea"/>
                  <a:cs typeface="+mn-cs"/>
                </a:rPr>
                <a:t>A LEADING GLOBAL PROFESSIONAL SERVICES ORGANIZATION</a:t>
              </a:r>
            </a:p>
          </p:txBody>
        </p:sp>
        <p:sp>
          <p:nvSpPr>
            <p:cNvPr id="17" name="Freeform 30">
              <a:extLst>
                <a:ext uri="{FF2B5EF4-FFF2-40B4-BE49-F238E27FC236}">
                  <a16:creationId xmlns:a16="http://schemas.microsoft.com/office/drawing/2014/main" id="{5F112722-BFF5-4191-AADD-6748197E72B1}"/>
                </a:ext>
              </a:extLst>
            </p:cNvPr>
            <p:cNvSpPr/>
            <p:nvPr/>
          </p:nvSpPr>
          <p:spPr bwMode="gray">
            <a:xfrm>
              <a:off x="2816648" y="4112825"/>
              <a:ext cx="2798749" cy="1176729"/>
            </a:xfrm>
            <a:custGeom>
              <a:avLst/>
              <a:gdLst>
                <a:gd name="connsiteX0" fmla="*/ 2331720 w 3208020"/>
                <a:gd name="connsiteY0" fmla="*/ 15240 h 1165860"/>
                <a:gd name="connsiteX1" fmla="*/ 3208020 w 3208020"/>
                <a:gd name="connsiteY1" fmla="*/ 1165860 h 1165860"/>
                <a:gd name="connsiteX2" fmla="*/ 762000 w 3208020"/>
                <a:gd name="connsiteY2" fmla="*/ 1158240 h 1165860"/>
                <a:gd name="connsiteX3" fmla="*/ 0 w 3208020"/>
                <a:gd name="connsiteY3" fmla="*/ 0 h 1165860"/>
                <a:gd name="connsiteX4" fmla="*/ 2331720 w 3208020"/>
                <a:gd name="connsiteY4" fmla="*/ 15240 h 1165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020" h="1165860">
                  <a:moveTo>
                    <a:pt x="2331720" y="15240"/>
                  </a:moveTo>
                  <a:lnTo>
                    <a:pt x="3208020" y="1165860"/>
                  </a:lnTo>
                  <a:lnTo>
                    <a:pt x="762000" y="1158240"/>
                  </a:lnTo>
                  <a:lnTo>
                    <a:pt x="0" y="0"/>
                  </a:lnTo>
                  <a:lnTo>
                    <a:pt x="2331720" y="15240"/>
                  </a:lnTo>
                  <a:close/>
                </a:path>
              </a:pathLst>
            </a:custGeom>
            <a:solidFill>
              <a:schemeClr val="accent5"/>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050" b="0" i="0" u="none" strike="noStrike" kern="0" cap="none" spc="0" normalizeH="0" baseline="0" noProof="0">
                  <a:ln>
                    <a:noFill/>
                  </a:ln>
                  <a:solidFill>
                    <a:prstClr val="white"/>
                  </a:solidFill>
                  <a:effectLst/>
                  <a:uLnTx/>
                  <a:uFillTx/>
                  <a:latin typeface="Verdana"/>
                  <a:ea typeface="+mn-ea"/>
                  <a:cs typeface="+mn-cs"/>
                </a:rPr>
                <a:t>Consulting, Advisory </a:t>
              </a:r>
            </a:p>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050" b="0" i="0" u="none" strike="noStrike" kern="0" cap="none" spc="0" normalizeH="0" baseline="0" noProof="0">
                  <a:ln>
                    <a:noFill/>
                  </a:ln>
                  <a:solidFill>
                    <a:prstClr val="white"/>
                  </a:solidFill>
                  <a:effectLst/>
                  <a:uLnTx/>
                  <a:uFillTx/>
                  <a:latin typeface="Verdana"/>
                  <a:ea typeface="+mn-ea"/>
                  <a:cs typeface="+mn-cs"/>
                </a:rPr>
                <a:t>&amp; Implementation</a:t>
              </a:r>
            </a:p>
          </p:txBody>
        </p:sp>
        <p:sp>
          <p:nvSpPr>
            <p:cNvPr id="18" name="Freeform 31">
              <a:extLst>
                <a:ext uri="{FF2B5EF4-FFF2-40B4-BE49-F238E27FC236}">
                  <a16:creationId xmlns:a16="http://schemas.microsoft.com/office/drawing/2014/main" id="{DD7BE7D7-ACD6-44A6-A3EF-B0BE18AE1AEB}"/>
                </a:ext>
              </a:extLst>
            </p:cNvPr>
            <p:cNvSpPr/>
            <p:nvPr/>
          </p:nvSpPr>
          <p:spPr bwMode="gray">
            <a:xfrm>
              <a:off x="895416" y="4108454"/>
              <a:ext cx="2548346" cy="1187450"/>
            </a:xfrm>
            <a:custGeom>
              <a:avLst/>
              <a:gdLst>
                <a:gd name="connsiteX0" fmla="*/ 2159000 w 2933700"/>
                <a:gd name="connsiteY0" fmla="*/ 12700 h 1187450"/>
                <a:gd name="connsiteX1" fmla="*/ 908050 w 2933700"/>
                <a:gd name="connsiteY1" fmla="*/ 0 h 1187450"/>
                <a:gd name="connsiteX2" fmla="*/ 0 w 2933700"/>
                <a:gd name="connsiteY2" fmla="*/ 1187450 h 1187450"/>
                <a:gd name="connsiteX3" fmla="*/ 2933700 w 2933700"/>
                <a:gd name="connsiteY3" fmla="*/ 1174750 h 1187450"/>
                <a:gd name="connsiteX4" fmla="*/ 2159000 w 2933700"/>
                <a:gd name="connsiteY4" fmla="*/ 12700 h 1187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3700" h="1187450">
                  <a:moveTo>
                    <a:pt x="2159000" y="12700"/>
                  </a:moveTo>
                  <a:lnTo>
                    <a:pt x="908050" y="0"/>
                  </a:lnTo>
                  <a:lnTo>
                    <a:pt x="0" y="1187450"/>
                  </a:lnTo>
                  <a:lnTo>
                    <a:pt x="2933700" y="1174750"/>
                  </a:lnTo>
                  <a:lnTo>
                    <a:pt x="2159000" y="12700"/>
                  </a:lnTo>
                  <a:close/>
                </a:path>
              </a:pathLst>
            </a:custGeom>
            <a:solidFill>
              <a:schemeClr val="accent5"/>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050" b="0" i="0" u="none" strike="noStrike" kern="0" cap="none" spc="0" normalizeH="0" baseline="0" noProof="0">
                  <a:ln>
                    <a:noFill/>
                  </a:ln>
                  <a:solidFill>
                    <a:prstClr val="white"/>
                  </a:solidFill>
                  <a:effectLst/>
                  <a:uLnTx/>
                  <a:uFillTx/>
                  <a:latin typeface="Verdana"/>
                  <a:ea typeface="+mn-ea"/>
                  <a:cs typeface="+mn-cs"/>
                </a:rPr>
                <a:t>Assurance and </a:t>
              </a:r>
            </a:p>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050" b="0" i="0" u="none" strike="noStrike" kern="0" cap="none" spc="0" normalizeH="0" baseline="0" noProof="0">
                  <a:ln>
                    <a:noFill/>
                  </a:ln>
                  <a:solidFill>
                    <a:prstClr val="white"/>
                  </a:solidFill>
                  <a:effectLst/>
                  <a:uLnTx/>
                  <a:uFillTx/>
                  <a:latin typeface="Verdana"/>
                  <a:ea typeface="+mn-ea"/>
                  <a:cs typeface="+mn-cs"/>
                </a:rPr>
                <a:t>Compliance</a:t>
              </a:r>
            </a:p>
          </p:txBody>
        </p:sp>
        <p:grpSp>
          <p:nvGrpSpPr>
            <p:cNvPr id="19" name="Group 18">
              <a:extLst>
                <a:ext uri="{FF2B5EF4-FFF2-40B4-BE49-F238E27FC236}">
                  <a16:creationId xmlns:a16="http://schemas.microsoft.com/office/drawing/2014/main" id="{622E395E-770F-47BE-A32B-0F12E7DA7F48}"/>
                </a:ext>
              </a:extLst>
            </p:cNvPr>
            <p:cNvGrpSpPr/>
            <p:nvPr/>
          </p:nvGrpSpPr>
          <p:grpSpPr>
            <a:xfrm>
              <a:off x="3055345" y="2467628"/>
              <a:ext cx="400122" cy="554824"/>
              <a:chOff x="4334501" y="2600534"/>
              <a:chExt cx="175828" cy="243120"/>
            </a:xfrm>
            <a:solidFill>
              <a:sysClr val="window" lastClr="FFFFFF"/>
            </a:solidFill>
          </p:grpSpPr>
          <p:sp>
            <p:nvSpPr>
              <p:cNvPr id="50" name="Freeform 677">
                <a:extLst>
                  <a:ext uri="{FF2B5EF4-FFF2-40B4-BE49-F238E27FC236}">
                    <a16:creationId xmlns:a16="http://schemas.microsoft.com/office/drawing/2014/main" id="{6CC77EF7-4A58-4D4F-AD4D-2583F67DD15B}"/>
                  </a:ext>
                </a:extLst>
              </p:cNvPr>
              <p:cNvSpPr>
                <a:spLocks noEditPoints="1"/>
              </p:cNvSpPr>
              <p:nvPr/>
            </p:nvSpPr>
            <p:spPr bwMode="auto">
              <a:xfrm>
                <a:off x="4334501" y="2600534"/>
                <a:ext cx="175828" cy="243120"/>
              </a:xfrm>
              <a:custGeom>
                <a:avLst/>
                <a:gdLst>
                  <a:gd name="T0" fmla="*/ 233 w 244"/>
                  <a:gd name="T1" fmla="*/ 122 h 336"/>
                  <a:gd name="T2" fmla="*/ 241 w 244"/>
                  <a:gd name="T3" fmla="*/ 90 h 336"/>
                  <a:gd name="T4" fmla="*/ 218 w 244"/>
                  <a:gd name="T5" fmla="*/ 67 h 336"/>
                  <a:gd name="T6" fmla="*/ 209 w 244"/>
                  <a:gd name="T7" fmla="*/ 35 h 336"/>
                  <a:gd name="T8" fmla="*/ 177 w 244"/>
                  <a:gd name="T9" fmla="*/ 26 h 336"/>
                  <a:gd name="T10" fmla="*/ 154 w 244"/>
                  <a:gd name="T11" fmla="*/ 2 h 336"/>
                  <a:gd name="T12" fmla="*/ 122 w 244"/>
                  <a:gd name="T13" fmla="*/ 11 h 336"/>
                  <a:gd name="T14" fmla="*/ 90 w 244"/>
                  <a:gd name="T15" fmla="*/ 2 h 336"/>
                  <a:gd name="T16" fmla="*/ 66 w 244"/>
                  <a:gd name="T17" fmla="*/ 26 h 336"/>
                  <a:gd name="T18" fmla="*/ 34 w 244"/>
                  <a:gd name="T19" fmla="*/ 35 h 336"/>
                  <a:gd name="T20" fmla="*/ 26 w 244"/>
                  <a:gd name="T21" fmla="*/ 67 h 336"/>
                  <a:gd name="T22" fmla="*/ 2 w 244"/>
                  <a:gd name="T23" fmla="*/ 90 h 336"/>
                  <a:gd name="T24" fmla="*/ 11 w 244"/>
                  <a:gd name="T25" fmla="*/ 122 h 336"/>
                  <a:gd name="T26" fmla="*/ 2 w 244"/>
                  <a:gd name="T27" fmla="*/ 154 h 336"/>
                  <a:gd name="T28" fmla="*/ 26 w 244"/>
                  <a:gd name="T29" fmla="*/ 177 h 336"/>
                  <a:gd name="T30" fmla="*/ 34 w 244"/>
                  <a:gd name="T31" fmla="*/ 209 h 336"/>
                  <a:gd name="T32" fmla="*/ 58 w 244"/>
                  <a:gd name="T33" fmla="*/ 217 h 336"/>
                  <a:gd name="T34" fmla="*/ 63 w 244"/>
                  <a:gd name="T35" fmla="*/ 334 h 336"/>
                  <a:gd name="T36" fmla="*/ 122 w 244"/>
                  <a:gd name="T37" fmla="*/ 305 h 336"/>
                  <a:gd name="T38" fmla="*/ 175 w 244"/>
                  <a:gd name="T39" fmla="*/ 335 h 336"/>
                  <a:gd name="T40" fmla="*/ 186 w 244"/>
                  <a:gd name="T41" fmla="*/ 325 h 336"/>
                  <a:gd name="T42" fmla="*/ 186 w 244"/>
                  <a:gd name="T43" fmla="*/ 217 h 336"/>
                  <a:gd name="T44" fmla="*/ 217 w 244"/>
                  <a:gd name="T45" fmla="*/ 187 h 336"/>
                  <a:gd name="T46" fmla="*/ 225 w 244"/>
                  <a:gd name="T47" fmla="*/ 172 h 336"/>
                  <a:gd name="T48" fmla="*/ 236 w 244"/>
                  <a:gd name="T49" fmla="*/ 131 h 336"/>
                  <a:gd name="T50" fmla="*/ 116 w 244"/>
                  <a:gd name="T51" fmla="*/ 284 h 336"/>
                  <a:gd name="T52" fmla="*/ 79 w 244"/>
                  <a:gd name="T53" fmla="*/ 235 h 336"/>
                  <a:gd name="T54" fmla="*/ 95 w 244"/>
                  <a:gd name="T55" fmla="*/ 242 h 336"/>
                  <a:gd name="T56" fmla="*/ 122 w 244"/>
                  <a:gd name="T57" fmla="*/ 233 h 336"/>
                  <a:gd name="T58" fmla="*/ 154 w 244"/>
                  <a:gd name="T59" fmla="*/ 242 h 336"/>
                  <a:gd name="T60" fmla="*/ 164 w 244"/>
                  <a:gd name="T61" fmla="*/ 306 h 336"/>
                  <a:gd name="T62" fmla="*/ 213 w 244"/>
                  <a:gd name="T63" fmla="*/ 154 h 336"/>
                  <a:gd name="T64" fmla="*/ 195 w 244"/>
                  <a:gd name="T65" fmla="*/ 185 h 336"/>
                  <a:gd name="T66" fmla="*/ 185 w 244"/>
                  <a:gd name="T67" fmla="*/ 195 h 336"/>
                  <a:gd name="T68" fmla="*/ 154 w 244"/>
                  <a:gd name="T69" fmla="*/ 212 h 336"/>
                  <a:gd name="T70" fmla="*/ 148 w 244"/>
                  <a:gd name="T71" fmla="*/ 218 h 336"/>
                  <a:gd name="T72" fmla="*/ 122 w 244"/>
                  <a:gd name="T73" fmla="*/ 212 h 336"/>
                  <a:gd name="T74" fmla="*/ 95 w 244"/>
                  <a:gd name="T75" fmla="*/ 221 h 336"/>
                  <a:gd name="T76" fmla="*/ 77 w 244"/>
                  <a:gd name="T77" fmla="*/ 200 h 336"/>
                  <a:gd name="T78" fmla="*/ 49 w 244"/>
                  <a:gd name="T79" fmla="*/ 195 h 336"/>
                  <a:gd name="T80" fmla="*/ 44 w 244"/>
                  <a:gd name="T81" fmla="*/ 167 h 336"/>
                  <a:gd name="T82" fmla="*/ 23 w 244"/>
                  <a:gd name="T83" fmla="*/ 149 h 336"/>
                  <a:gd name="T84" fmla="*/ 32 w 244"/>
                  <a:gd name="T85" fmla="*/ 122 h 336"/>
                  <a:gd name="T86" fmla="*/ 23 w 244"/>
                  <a:gd name="T87" fmla="*/ 96 h 336"/>
                  <a:gd name="T88" fmla="*/ 44 w 244"/>
                  <a:gd name="T89" fmla="*/ 77 h 336"/>
                  <a:gd name="T90" fmla="*/ 49 w 244"/>
                  <a:gd name="T91" fmla="*/ 50 h 336"/>
                  <a:gd name="T92" fmla="*/ 77 w 244"/>
                  <a:gd name="T93" fmla="*/ 45 h 336"/>
                  <a:gd name="T94" fmla="*/ 95 w 244"/>
                  <a:gd name="T95" fmla="*/ 26 h 336"/>
                  <a:gd name="T96" fmla="*/ 103 w 244"/>
                  <a:gd name="T97" fmla="*/ 28 h 336"/>
                  <a:gd name="T98" fmla="*/ 140 w 244"/>
                  <a:gd name="T99" fmla="*/ 27 h 336"/>
                  <a:gd name="T100" fmla="*/ 154 w 244"/>
                  <a:gd name="T101" fmla="*/ 30 h 336"/>
                  <a:gd name="T102" fmla="*/ 185 w 244"/>
                  <a:gd name="T103" fmla="*/ 48 h 336"/>
                  <a:gd name="T104" fmla="*/ 195 w 244"/>
                  <a:gd name="T105" fmla="*/ 59 h 336"/>
                  <a:gd name="T106" fmla="*/ 213 w 244"/>
                  <a:gd name="T107" fmla="*/ 90 h 336"/>
                  <a:gd name="T108" fmla="*/ 217 w 244"/>
                  <a:gd name="T109" fmla="*/ 104 h 336"/>
                  <a:gd name="T110" fmla="*/ 217 w 244"/>
                  <a:gd name="T111" fmla="*/ 140 h 336"/>
                  <a:gd name="T112" fmla="*/ 213 w 244"/>
                  <a:gd name="T113" fmla="*/ 154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44" h="336">
                    <a:moveTo>
                      <a:pt x="236" y="131"/>
                    </a:moveTo>
                    <a:cubicBezTo>
                      <a:pt x="235" y="128"/>
                      <a:pt x="233" y="124"/>
                      <a:pt x="233" y="122"/>
                    </a:cubicBezTo>
                    <a:cubicBezTo>
                      <a:pt x="233" y="120"/>
                      <a:pt x="235" y="116"/>
                      <a:pt x="236" y="113"/>
                    </a:cubicBezTo>
                    <a:cubicBezTo>
                      <a:pt x="239" y="107"/>
                      <a:pt x="244" y="99"/>
                      <a:pt x="241" y="90"/>
                    </a:cubicBezTo>
                    <a:cubicBezTo>
                      <a:pt x="239" y="81"/>
                      <a:pt x="231" y="76"/>
                      <a:pt x="225" y="72"/>
                    </a:cubicBezTo>
                    <a:cubicBezTo>
                      <a:pt x="222" y="70"/>
                      <a:pt x="219" y="68"/>
                      <a:pt x="218" y="67"/>
                    </a:cubicBezTo>
                    <a:cubicBezTo>
                      <a:pt x="217" y="65"/>
                      <a:pt x="217" y="61"/>
                      <a:pt x="217" y="57"/>
                    </a:cubicBezTo>
                    <a:cubicBezTo>
                      <a:pt x="216" y="50"/>
                      <a:pt x="216" y="41"/>
                      <a:pt x="209" y="35"/>
                    </a:cubicBezTo>
                    <a:cubicBezTo>
                      <a:pt x="203" y="28"/>
                      <a:pt x="194" y="28"/>
                      <a:pt x="186" y="27"/>
                    </a:cubicBezTo>
                    <a:cubicBezTo>
                      <a:pt x="183" y="27"/>
                      <a:pt x="179" y="27"/>
                      <a:pt x="177" y="26"/>
                    </a:cubicBezTo>
                    <a:cubicBezTo>
                      <a:pt x="176" y="25"/>
                      <a:pt x="173" y="21"/>
                      <a:pt x="172" y="19"/>
                    </a:cubicBezTo>
                    <a:cubicBezTo>
                      <a:pt x="168" y="13"/>
                      <a:pt x="163" y="5"/>
                      <a:pt x="154" y="2"/>
                    </a:cubicBezTo>
                    <a:cubicBezTo>
                      <a:pt x="145" y="0"/>
                      <a:pt x="137" y="4"/>
                      <a:pt x="130" y="8"/>
                    </a:cubicBezTo>
                    <a:cubicBezTo>
                      <a:pt x="128" y="9"/>
                      <a:pt x="123" y="11"/>
                      <a:pt x="122" y="11"/>
                    </a:cubicBezTo>
                    <a:cubicBezTo>
                      <a:pt x="120" y="11"/>
                      <a:pt x="116" y="9"/>
                      <a:pt x="113" y="8"/>
                    </a:cubicBezTo>
                    <a:cubicBezTo>
                      <a:pt x="106" y="4"/>
                      <a:pt x="98" y="0"/>
                      <a:pt x="90" y="2"/>
                    </a:cubicBezTo>
                    <a:cubicBezTo>
                      <a:pt x="81" y="5"/>
                      <a:pt x="76" y="13"/>
                      <a:pt x="72" y="19"/>
                    </a:cubicBezTo>
                    <a:cubicBezTo>
                      <a:pt x="70" y="21"/>
                      <a:pt x="68" y="25"/>
                      <a:pt x="66" y="26"/>
                    </a:cubicBezTo>
                    <a:cubicBezTo>
                      <a:pt x="65" y="27"/>
                      <a:pt x="60" y="27"/>
                      <a:pt x="57" y="27"/>
                    </a:cubicBezTo>
                    <a:cubicBezTo>
                      <a:pt x="50" y="28"/>
                      <a:pt x="41" y="28"/>
                      <a:pt x="34" y="35"/>
                    </a:cubicBezTo>
                    <a:cubicBezTo>
                      <a:pt x="28" y="41"/>
                      <a:pt x="27" y="50"/>
                      <a:pt x="27" y="57"/>
                    </a:cubicBezTo>
                    <a:cubicBezTo>
                      <a:pt x="27" y="61"/>
                      <a:pt x="26" y="65"/>
                      <a:pt x="26" y="67"/>
                    </a:cubicBezTo>
                    <a:cubicBezTo>
                      <a:pt x="25" y="68"/>
                      <a:pt x="21" y="70"/>
                      <a:pt x="18" y="72"/>
                    </a:cubicBezTo>
                    <a:cubicBezTo>
                      <a:pt x="12" y="76"/>
                      <a:pt x="5" y="81"/>
                      <a:pt x="2" y="90"/>
                    </a:cubicBezTo>
                    <a:cubicBezTo>
                      <a:pt x="0" y="99"/>
                      <a:pt x="4" y="107"/>
                      <a:pt x="7" y="113"/>
                    </a:cubicBezTo>
                    <a:cubicBezTo>
                      <a:pt x="9" y="116"/>
                      <a:pt x="11" y="120"/>
                      <a:pt x="11" y="122"/>
                    </a:cubicBezTo>
                    <a:cubicBezTo>
                      <a:pt x="11" y="124"/>
                      <a:pt x="9" y="128"/>
                      <a:pt x="7" y="131"/>
                    </a:cubicBezTo>
                    <a:cubicBezTo>
                      <a:pt x="4" y="137"/>
                      <a:pt x="0" y="145"/>
                      <a:pt x="2" y="154"/>
                    </a:cubicBezTo>
                    <a:cubicBezTo>
                      <a:pt x="5" y="163"/>
                      <a:pt x="12" y="168"/>
                      <a:pt x="18" y="172"/>
                    </a:cubicBezTo>
                    <a:cubicBezTo>
                      <a:pt x="21" y="174"/>
                      <a:pt x="25" y="176"/>
                      <a:pt x="26" y="177"/>
                    </a:cubicBezTo>
                    <a:cubicBezTo>
                      <a:pt x="26" y="179"/>
                      <a:pt x="27" y="183"/>
                      <a:pt x="27" y="187"/>
                    </a:cubicBezTo>
                    <a:cubicBezTo>
                      <a:pt x="27" y="194"/>
                      <a:pt x="28" y="203"/>
                      <a:pt x="34" y="209"/>
                    </a:cubicBezTo>
                    <a:cubicBezTo>
                      <a:pt x="41" y="216"/>
                      <a:pt x="50" y="216"/>
                      <a:pt x="57" y="217"/>
                    </a:cubicBezTo>
                    <a:cubicBezTo>
                      <a:pt x="57" y="217"/>
                      <a:pt x="57" y="217"/>
                      <a:pt x="58" y="217"/>
                    </a:cubicBezTo>
                    <a:cubicBezTo>
                      <a:pt x="58" y="325"/>
                      <a:pt x="58" y="325"/>
                      <a:pt x="58" y="325"/>
                    </a:cubicBezTo>
                    <a:cubicBezTo>
                      <a:pt x="58" y="329"/>
                      <a:pt x="60" y="332"/>
                      <a:pt x="63" y="334"/>
                    </a:cubicBezTo>
                    <a:cubicBezTo>
                      <a:pt x="66" y="336"/>
                      <a:pt x="71" y="336"/>
                      <a:pt x="74" y="334"/>
                    </a:cubicBezTo>
                    <a:cubicBezTo>
                      <a:pt x="122" y="305"/>
                      <a:pt x="122" y="305"/>
                      <a:pt x="122" y="305"/>
                    </a:cubicBezTo>
                    <a:cubicBezTo>
                      <a:pt x="170" y="334"/>
                      <a:pt x="170" y="334"/>
                      <a:pt x="170" y="334"/>
                    </a:cubicBezTo>
                    <a:cubicBezTo>
                      <a:pt x="171" y="335"/>
                      <a:pt x="173" y="335"/>
                      <a:pt x="175" y="335"/>
                    </a:cubicBezTo>
                    <a:cubicBezTo>
                      <a:pt x="177" y="335"/>
                      <a:pt x="179" y="335"/>
                      <a:pt x="180" y="334"/>
                    </a:cubicBezTo>
                    <a:cubicBezTo>
                      <a:pt x="184" y="332"/>
                      <a:pt x="186" y="329"/>
                      <a:pt x="186" y="325"/>
                    </a:cubicBezTo>
                    <a:cubicBezTo>
                      <a:pt x="186" y="217"/>
                      <a:pt x="186" y="217"/>
                      <a:pt x="186" y="217"/>
                    </a:cubicBezTo>
                    <a:cubicBezTo>
                      <a:pt x="186" y="217"/>
                      <a:pt x="186" y="217"/>
                      <a:pt x="186" y="217"/>
                    </a:cubicBezTo>
                    <a:cubicBezTo>
                      <a:pt x="194" y="216"/>
                      <a:pt x="203" y="216"/>
                      <a:pt x="209" y="209"/>
                    </a:cubicBezTo>
                    <a:cubicBezTo>
                      <a:pt x="216" y="203"/>
                      <a:pt x="216" y="194"/>
                      <a:pt x="217" y="187"/>
                    </a:cubicBezTo>
                    <a:cubicBezTo>
                      <a:pt x="217" y="183"/>
                      <a:pt x="217" y="179"/>
                      <a:pt x="218" y="177"/>
                    </a:cubicBezTo>
                    <a:cubicBezTo>
                      <a:pt x="219" y="176"/>
                      <a:pt x="222" y="174"/>
                      <a:pt x="225" y="172"/>
                    </a:cubicBezTo>
                    <a:cubicBezTo>
                      <a:pt x="231" y="168"/>
                      <a:pt x="239" y="163"/>
                      <a:pt x="241" y="154"/>
                    </a:cubicBezTo>
                    <a:cubicBezTo>
                      <a:pt x="244" y="145"/>
                      <a:pt x="239" y="137"/>
                      <a:pt x="236" y="131"/>
                    </a:cubicBezTo>
                    <a:close/>
                    <a:moveTo>
                      <a:pt x="127" y="284"/>
                    </a:moveTo>
                    <a:cubicBezTo>
                      <a:pt x="124" y="282"/>
                      <a:pt x="120" y="282"/>
                      <a:pt x="116" y="284"/>
                    </a:cubicBezTo>
                    <a:cubicBezTo>
                      <a:pt x="79" y="306"/>
                      <a:pt x="79" y="306"/>
                      <a:pt x="79" y="306"/>
                    </a:cubicBezTo>
                    <a:cubicBezTo>
                      <a:pt x="79" y="235"/>
                      <a:pt x="79" y="235"/>
                      <a:pt x="79" y="235"/>
                    </a:cubicBezTo>
                    <a:cubicBezTo>
                      <a:pt x="82" y="238"/>
                      <a:pt x="85" y="240"/>
                      <a:pt x="90" y="242"/>
                    </a:cubicBezTo>
                    <a:cubicBezTo>
                      <a:pt x="91" y="242"/>
                      <a:pt x="93" y="242"/>
                      <a:pt x="95" y="242"/>
                    </a:cubicBezTo>
                    <a:cubicBezTo>
                      <a:pt x="102" y="242"/>
                      <a:pt x="108" y="239"/>
                      <a:pt x="113" y="236"/>
                    </a:cubicBezTo>
                    <a:cubicBezTo>
                      <a:pt x="116" y="235"/>
                      <a:pt x="120" y="233"/>
                      <a:pt x="122" y="233"/>
                    </a:cubicBezTo>
                    <a:cubicBezTo>
                      <a:pt x="123" y="233"/>
                      <a:pt x="128" y="235"/>
                      <a:pt x="130" y="236"/>
                    </a:cubicBezTo>
                    <a:cubicBezTo>
                      <a:pt x="137" y="240"/>
                      <a:pt x="145" y="244"/>
                      <a:pt x="154" y="242"/>
                    </a:cubicBezTo>
                    <a:cubicBezTo>
                      <a:pt x="158" y="240"/>
                      <a:pt x="161" y="238"/>
                      <a:pt x="164" y="235"/>
                    </a:cubicBezTo>
                    <a:cubicBezTo>
                      <a:pt x="164" y="306"/>
                      <a:pt x="164" y="306"/>
                      <a:pt x="164" y="306"/>
                    </a:cubicBezTo>
                    <a:lnTo>
                      <a:pt x="127" y="284"/>
                    </a:lnTo>
                    <a:close/>
                    <a:moveTo>
                      <a:pt x="213" y="154"/>
                    </a:moveTo>
                    <a:cubicBezTo>
                      <a:pt x="208" y="157"/>
                      <a:pt x="203" y="161"/>
                      <a:pt x="199" y="167"/>
                    </a:cubicBezTo>
                    <a:cubicBezTo>
                      <a:pt x="196" y="173"/>
                      <a:pt x="196" y="179"/>
                      <a:pt x="195" y="185"/>
                    </a:cubicBezTo>
                    <a:cubicBezTo>
                      <a:pt x="195" y="188"/>
                      <a:pt x="195" y="193"/>
                      <a:pt x="194" y="194"/>
                    </a:cubicBezTo>
                    <a:cubicBezTo>
                      <a:pt x="193" y="195"/>
                      <a:pt x="188" y="195"/>
                      <a:pt x="185" y="195"/>
                    </a:cubicBezTo>
                    <a:cubicBezTo>
                      <a:pt x="179" y="195"/>
                      <a:pt x="172" y="195"/>
                      <a:pt x="166" y="199"/>
                    </a:cubicBezTo>
                    <a:cubicBezTo>
                      <a:pt x="161" y="202"/>
                      <a:pt x="157" y="207"/>
                      <a:pt x="154" y="212"/>
                    </a:cubicBezTo>
                    <a:cubicBezTo>
                      <a:pt x="152" y="215"/>
                      <a:pt x="149" y="218"/>
                      <a:pt x="148" y="218"/>
                    </a:cubicBezTo>
                    <a:cubicBezTo>
                      <a:pt x="148" y="218"/>
                      <a:pt x="148" y="218"/>
                      <a:pt x="148" y="218"/>
                    </a:cubicBezTo>
                    <a:cubicBezTo>
                      <a:pt x="147" y="218"/>
                      <a:pt x="143" y="217"/>
                      <a:pt x="140" y="216"/>
                    </a:cubicBezTo>
                    <a:cubicBezTo>
                      <a:pt x="135" y="213"/>
                      <a:pt x="129" y="212"/>
                      <a:pt x="122" y="212"/>
                    </a:cubicBezTo>
                    <a:cubicBezTo>
                      <a:pt x="115" y="212"/>
                      <a:pt x="109" y="215"/>
                      <a:pt x="103" y="217"/>
                    </a:cubicBezTo>
                    <a:cubicBezTo>
                      <a:pt x="101" y="219"/>
                      <a:pt x="96" y="221"/>
                      <a:pt x="95" y="221"/>
                    </a:cubicBezTo>
                    <a:cubicBezTo>
                      <a:pt x="94" y="220"/>
                      <a:pt x="91" y="216"/>
                      <a:pt x="90" y="214"/>
                    </a:cubicBezTo>
                    <a:cubicBezTo>
                      <a:pt x="86" y="209"/>
                      <a:pt x="83" y="203"/>
                      <a:pt x="77" y="200"/>
                    </a:cubicBezTo>
                    <a:cubicBezTo>
                      <a:pt x="71" y="196"/>
                      <a:pt x="64" y="196"/>
                      <a:pt x="58" y="196"/>
                    </a:cubicBezTo>
                    <a:cubicBezTo>
                      <a:pt x="55" y="195"/>
                      <a:pt x="50" y="195"/>
                      <a:pt x="49" y="195"/>
                    </a:cubicBezTo>
                    <a:cubicBezTo>
                      <a:pt x="49" y="193"/>
                      <a:pt x="48" y="188"/>
                      <a:pt x="48" y="185"/>
                    </a:cubicBezTo>
                    <a:cubicBezTo>
                      <a:pt x="48" y="179"/>
                      <a:pt x="47" y="173"/>
                      <a:pt x="44" y="167"/>
                    </a:cubicBezTo>
                    <a:cubicBezTo>
                      <a:pt x="41" y="161"/>
                      <a:pt x="35" y="157"/>
                      <a:pt x="30" y="154"/>
                    </a:cubicBezTo>
                    <a:cubicBezTo>
                      <a:pt x="28" y="152"/>
                      <a:pt x="23" y="150"/>
                      <a:pt x="23" y="149"/>
                    </a:cubicBezTo>
                    <a:cubicBezTo>
                      <a:pt x="23" y="147"/>
                      <a:pt x="25" y="143"/>
                      <a:pt x="26" y="140"/>
                    </a:cubicBezTo>
                    <a:cubicBezTo>
                      <a:pt x="29" y="135"/>
                      <a:pt x="32" y="129"/>
                      <a:pt x="32" y="122"/>
                    </a:cubicBezTo>
                    <a:cubicBezTo>
                      <a:pt x="32" y="115"/>
                      <a:pt x="29" y="109"/>
                      <a:pt x="26" y="104"/>
                    </a:cubicBezTo>
                    <a:cubicBezTo>
                      <a:pt x="25" y="101"/>
                      <a:pt x="23" y="97"/>
                      <a:pt x="23" y="96"/>
                    </a:cubicBezTo>
                    <a:cubicBezTo>
                      <a:pt x="23" y="94"/>
                      <a:pt x="28" y="92"/>
                      <a:pt x="30" y="90"/>
                    </a:cubicBezTo>
                    <a:cubicBezTo>
                      <a:pt x="35" y="87"/>
                      <a:pt x="41" y="83"/>
                      <a:pt x="44" y="77"/>
                    </a:cubicBezTo>
                    <a:cubicBezTo>
                      <a:pt x="47" y="71"/>
                      <a:pt x="48" y="65"/>
                      <a:pt x="48" y="59"/>
                    </a:cubicBezTo>
                    <a:cubicBezTo>
                      <a:pt x="48" y="56"/>
                      <a:pt x="49" y="51"/>
                      <a:pt x="49" y="50"/>
                    </a:cubicBezTo>
                    <a:cubicBezTo>
                      <a:pt x="50" y="49"/>
                      <a:pt x="55" y="49"/>
                      <a:pt x="58" y="49"/>
                    </a:cubicBezTo>
                    <a:cubicBezTo>
                      <a:pt x="64" y="49"/>
                      <a:pt x="71" y="49"/>
                      <a:pt x="77" y="45"/>
                    </a:cubicBezTo>
                    <a:cubicBezTo>
                      <a:pt x="83" y="42"/>
                      <a:pt x="86" y="37"/>
                      <a:pt x="90" y="32"/>
                    </a:cubicBezTo>
                    <a:cubicBezTo>
                      <a:pt x="91" y="29"/>
                      <a:pt x="94" y="26"/>
                      <a:pt x="95" y="26"/>
                    </a:cubicBezTo>
                    <a:cubicBezTo>
                      <a:pt x="95" y="26"/>
                      <a:pt x="95" y="26"/>
                      <a:pt x="95" y="26"/>
                    </a:cubicBezTo>
                    <a:cubicBezTo>
                      <a:pt x="96" y="26"/>
                      <a:pt x="101" y="27"/>
                      <a:pt x="103" y="28"/>
                    </a:cubicBezTo>
                    <a:cubicBezTo>
                      <a:pt x="109" y="31"/>
                      <a:pt x="115" y="32"/>
                      <a:pt x="122" y="32"/>
                    </a:cubicBezTo>
                    <a:cubicBezTo>
                      <a:pt x="129" y="32"/>
                      <a:pt x="135" y="29"/>
                      <a:pt x="140" y="27"/>
                    </a:cubicBezTo>
                    <a:cubicBezTo>
                      <a:pt x="143" y="25"/>
                      <a:pt x="147" y="23"/>
                      <a:pt x="148" y="23"/>
                    </a:cubicBezTo>
                    <a:cubicBezTo>
                      <a:pt x="149" y="24"/>
                      <a:pt x="152" y="28"/>
                      <a:pt x="154" y="30"/>
                    </a:cubicBezTo>
                    <a:cubicBezTo>
                      <a:pt x="157" y="35"/>
                      <a:pt x="161" y="41"/>
                      <a:pt x="166" y="44"/>
                    </a:cubicBezTo>
                    <a:cubicBezTo>
                      <a:pt x="172" y="48"/>
                      <a:pt x="179" y="48"/>
                      <a:pt x="185" y="48"/>
                    </a:cubicBezTo>
                    <a:cubicBezTo>
                      <a:pt x="188" y="49"/>
                      <a:pt x="193" y="49"/>
                      <a:pt x="194" y="49"/>
                    </a:cubicBezTo>
                    <a:cubicBezTo>
                      <a:pt x="195" y="51"/>
                      <a:pt x="195" y="56"/>
                      <a:pt x="195" y="59"/>
                    </a:cubicBezTo>
                    <a:cubicBezTo>
                      <a:pt x="196" y="65"/>
                      <a:pt x="196" y="71"/>
                      <a:pt x="199" y="77"/>
                    </a:cubicBezTo>
                    <a:cubicBezTo>
                      <a:pt x="203" y="83"/>
                      <a:pt x="208" y="87"/>
                      <a:pt x="213" y="90"/>
                    </a:cubicBezTo>
                    <a:cubicBezTo>
                      <a:pt x="216" y="92"/>
                      <a:pt x="220" y="94"/>
                      <a:pt x="221" y="95"/>
                    </a:cubicBezTo>
                    <a:cubicBezTo>
                      <a:pt x="221" y="97"/>
                      <a:pt x="218" y="101"/>
                      <a:pt x="217" y="104"/>
                    </a:cubicBezTo>
                    <a:cubicBezTo>
                      <a:pt x="214" y="109"/>
                      <a:pt x="211" y="115"/>
                      <a:pt x="211" y="122"/>
                    </a:cubicBezTo>
                    <a:cubicBezTo>
                      <a:pt x="211" y="129"/>
                      <a:pt x="214" y="135"/>
                      <a:pt x="217" y="140"/>
                    </a:cubicBezTo>
                    <a:cubicBezTo>
                      <a:pt x="218" y="143"/>
                      <a:pt x="221" y="147"/>
                      <a:pt x="221" y="148"/>
                    </a:cubicBezTo>
                    <a:cubicBezTo>
                      <a:pt x="220" y="150"/>
                      <a:pt x="216" y="152"/>
                      <a:pt x="213" y="15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Verdana"/>
                  <a:ea typeface="+mn-ea"/>
                  <a:cs typeface="+mn-cs"/>
                </a:endParaRPr>
              </a:p>
            </p:txBody>
          </p:sp>
          <p:sp>
            <p:nvSpPr>
              <p:cNvPr id="51" name="Freeform 678">
                <a:extLst>
                  <a:ext uri="{FF2B5EF4-FFF2-40B4-BE49-F238E27FC236}">
                    <a16:creationId xmlns:a16="http://schemas.microsoft.com/office/drawing/2014/main" id="{5DD0A773-219F-4462-9126-19A40D42F66F}"/>
                  </a:ext>
                </a:extLst>
              </p:cNvPr>
              <p:cNvSpPr>
                <a:spLocks noEditPoints="1"/>
              </p:cNvSpPr>
              <p:nvPr/>
            </p:nvSpPr>
            <p:spPr bwMode="auto">
              <a:xfrm>
                <a:off x="4383342" y="2650461"/>
                <a:ext cx="77060" cy="77060"/>
              </a:xfrm>
              <a:custGeom>
                <a:avLst/>
                <a:gdLst>
                  <a:gd name="T0" fmla="*/ 54 w 107"/>
                  <a:gd name="T1" fmla="*/ 0 h 106"/>
                  <a:gd name="T2" fmla="*/ 0 w 107"/>
                  <a:gd name="T3" fmla="*/ 53 h 106"/>
                  <a:gd name="T4" fmla="*/ 54 w 107"/>
                  <a:gd name="T5" fmla="*/ 106 h 106"/>
                  <a:gd name="T6" fmla="*/ 107 w 107"/>
                  <a:gd name="T7" fmla="*/ 53 h 106"/>
                  <a:gd name="T8" fmla="*/ 54 w 107"/>
                  <a:gd name="T9" fmla="*/ 0 h 106"/>
                  <a:gd name="T10" fmla="*/ 54 w 107"/>
                  <a:gd name="T11" fmla="*/ 85 h 106"/>
                  <a:gd name="T12" fmla="*/ 22 w 107"/>
                  <a:gd name="T13" fmla="*/ 53 h 106"/>
                  <a:gd name="T14" fmla="*/ 54 w 107"/>
                  <a:gd name="T15" fmla="*/ 21 h 106"/>
                  <a:gd name="T16" fmla="*/ 86 w 107"/>
                  <a:gd name="T17" fmla="*/ 53 h 106"/>
                  <a:gd name="T18" fmla="*/ 54 w 107"/>
                  <a:gd name="T19" fmla="*/ 85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7" h="106">
                    <a:moveTo>
                      <a:pt x="54" y="0"/>
                    </a:moveTo>
                    <a:cubicBezTo>
                      <a:pt x="24" y="0"/>
                      <a:pt x="0" y="24"/>
                      <a:pt x="0" y="53"/>
                    </a:cubicBezTo>
                    <a:cubicBezTo>
                      <a:pt x="0" y="82"/>
                      <a:pt x="24" y="106"/>
                      <a:pt x="54" y="106"/>
                    </a:cubicBezTo>
                    <a:cubicBezTo>
                      <a:pt x="83" y="106"/>
                      <a:pt x="107" y="82"/>
                      <a:pt x="107" y="53"/>
                    </a:cubicBezTo>
                    <a:cubicBezTo>
                      <a:pt x="107" y="24"/>
                      <a:pt x="83" y="0"/>
                      <a:pt x="54" y="0"/>
                    </a:cubicBezTo>
                    <a:close/>
                    <a:moveTo>
                      <a:pt x="54" y="85"/>
                    </a:moveTo>
                    <a:cubicBezTo>
                      <a:pt x="36" y="85"/>
                      <a:pt x="22" y="71"/>
                      <a:pt x="22" y="53"/>
                    </a:cubicBezTo>
                    <a:cubicBezTo>
                      <a:pt x="22" y="35"/>
                      <a:pt x="36" y="21"/>
                      <a:pt x="54" y="21"/>
                    </a:cubicBezTo>
                    <a:cubicBezTo>
                      <a:pt x="71" y="21"/>
                      <a:pt x="86" y="35"/>
                      <a:pt x="86" y="53"/>
                    </a:cubicBezTo>
                    <a:cubicBezTo>
                      <a:pt x="86" y="71"/>
                      <a:pt x="71" y="85"/>
                      <a:pt x="54" y="8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Verdana"/>
                  <a:ea typeface="+mn-ea"/>
                  <a:cs typeface="+mn-cs"/>
                </a:endParaRPr>
              </a:p>
            </p:txBody>
          </p:sp>
        </p:grpSp>
        <p:grpSp>
          <p:nvGrpSpPr>
            <p:cNvPr id="20" name="Group 380">
              <a:extLst>
                <a:ext uri="{FF2B5EF4-FFF2-40B4-BE49-F238E27FC236}">
                  <a16:creationId xmlns:a16="http://schemas.microsoft.com/office/drawing/2014/main" id="{CA6DF409-2596-4C7E-B3C1-6CBD207423CE}"/>
                </a:ext>
              </a:extLst>
            </p:cNvPr>
            <p:cNvGrpSpPr>
              <a:grpSpLocks noChangeAspect="1"/>
            </p:cNvGrpSpPr>
            <p:nvPr/>
          </p:nvGrpSpPr>
          <p:grpSpPr bwMode="auto">
            <a:xfrm>
              <a:off x="2337012" y="5446312"/>
              <a:ext cx="234102" cy="268335"/>
              <a:chOff x="7362" y="1207"/>
              <a:chExt cx="340" cy="340"/>
            </a:xfrm>
            <a:solidFill>
              <a:sysClr val="window" lastClr="FFFFFF"/>
            </a:solidFill>
          </p:grpSpPr>
          <p:sp>
            <p:nvSpPr>
              <p:cNvPr id="48" name="Freeform 381">
                <a:extLst>
                  <a:ext uri="{FF2B5EF4-FFF2-40B4-BE49-F238E27FC236}">
                    <a16:creationId xmlns:a16="http://schemas.microsoft.com/office/drawing/2014/main" id="{8A132B81-4CD6-4453-95C8-02B6BA661D14}"/>
                  </a:ext>
                </a:extLst>
              </p:cNvPr>
              <p:cNvSpPr>
                <a:spLocks noEditPoints="1"/>
              </p:cNvSpPr>
              <p:nvPr/>
            </p:nvSpPr>
            <p:spPr bwMode="auto">
              <a:xfrm>
                <a:off x="7482" y="1271"/>
                <a:ext cx="99" cy="219"/>
              </a:xfrm>
              <a:custGeom>
                <a:avLst/>
                <a:gdLst>
                  <a:gd name="T0" fmla="*/ 149 w 149"/>
                  <a:gd name="T1" fmla="*/ 224 h 330"/>
                  <a:gd name="T2" fmla="*/ 85 w 149"/>
                  <a:gd name="T3" fmla="*/ 150 h 330"/>
                  <a:gd name="T4" fmla="*/ 85 w 149"/>
                  <a:gd name="T5" fmla="*/ 44 h 330"/>
                  <a:gd name="T6" fmla="*/ 121 w 149"/>
                  <a:gd name="T7" fmla="*/ 69 h 330"/>
                  <a:gd name="T8" fmla="*/ 135 w 149"/>
                  <a:gd name="T9" fmla="*/ 73 h 330"/>
                  <a:gd name="T10" fmla="*/ 139 w 149"/>
                  <a:gd name="T11" fmla="*/ 58 h 330"/>
                  <a:gd name="T12" fmla="*/ 85 w 149"/>
                  <a:gd name="T13" fmla="*/ 22 h 330"/>
                  <a:gd name="T14" fmla="*/ 85 w 149"/>
                  <a:gd name="T15" fmla="*/ 10 h 330"/>
                  <a:gd name="T16" fmla="*/ 75 w 149"/>
                  <a:gd name="T17" fmla="*/ 0 h 330"/>
                  <a:gd name="T18" fmla="*/ 64 w 149"/>
                  <a:gd name="T19" fmla="*/ 10 h 330"/>
                  <a:gd name="T20" fmla="*/ 64 w 149"/>
                  <a:gd name="T21" fmla="*/ 22 h 330"/>
                  <a:gd name="T22" fmla="*/ 0 w 149"/>
                  <a:gd name="T23" fmla="*/ 96 h 330"/>
                  <a:gd name="T24" fmla="*/ 64 w 149"/>
                  <a:gd name="T25" fmla="*/ 169 h 330"/>
                  <a:gd name="T26" fmla="*/ 64 w 149"/>
                  <a:gd name="T27" fmla="*/ 276 h 330"/>
                  <a:gd name="T28" fmla="*/ 24 w 149"/>
                  <a:gd name="T29" fmla="*/ 241 h 330"/>
                  <a:gd name="T30" fmla="*/ 11 w 149"/>
                  <a:gd name="T31" fmla="*/ 235 h 330"/>
                  <a:gd name="T32" fmla="*/ 4 w 149"/>
                  <a:gd name="T33" fmla="*/ 249 h 330"/>
                  <a:gd name="T34" fmla="*/ 64 w 149"/>
                  <a:gd name="T35" fmla="*/ 297 h 330"/>
                  <a:gd name="T36" fmla="*/ 64 w 149"/>
                  <a:gd name="T37" fmla="*/ 320 h 330"/>
                  <a:gd name="T38" fmla="*/ 75 w 149"/>
                  <a:gd name="T39" fmla="*/ 330 h 330"/>
                  <a:gd name="T40" fmla="*/ 85 w 149"/>
                  <a:gd name="T41" fmla="*/ 320 h 330"/>
                  <a:gd name="T42" fmla="*/ 85 w 149"/>
                  <a:gd name="T43" fmla="*/ 297 h 330"/>
                  <a:gd name="T44" fmla="*/ 149 w 149"/>
                  <a:gd name="T45" fmla="*/ 224 h 330"/>
                  <a:gd name="T46" fmla="*/ 21 w 149"/>
                  <a:gd name="T47" fmla="*/ 96 h 330"/>
                  <a:gd name="T48" fmla="*/ 64 w 149"/>
                  <a:gd name="T49" fmla="*/ 43 h 330"/>
                  <a:gd name="T50" fmla="*/ 64 w 149"/>
                  <a:gd name="T51" fmla="*/ 148 h 330"/>
                  <a:gd name="T52" fmla="*/ 21 w 149"/>
                  <a:gd name="T53" fmla="*/ 96 h 330"/>
                  <a:gd name="T54" fmla="*/ 85 w 149"/>
                  <a:gd name="T55" fmla="*/ 276 h 330"/>
                  <a:gd name="T56" fmla="*/ 85 w 149"/>
                  <a:gd name="T57" fmla="*/ 171 h 330"/>
                  <a:gd name="T58" fmla="*/ 128 w 149"/>
                  <a:gd name="T59" fmla="*/ 224 h 330"/>
                  <a:gd name="T60" fmla="*/ 85 w 149"/>
                  <a:gd name="T61" fmla="*/ 276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49" h="330">
                    <a:moveTo>
                      <a:pt x="149" y="224"/>
                    </a:moveTo>
                    <a:cubicBezTo>
                      <a:pt x="149" y="186"/>
                      <a:pt x="121" y="155"/>
                      <a:pt x="85" y="150"/>
                    </a:cubicBezTo>
                    <a:cubicBezTo>
                      <a:pt x="85" y="44"/>
                      <a:pt x="85" y="44"/>
                      <a:pt x="85" y="44"/>
                    </a:cubicBezTo>
                    <a:cubicBezTo>
                      <a:pt x="100" y="47"/>
                      <a:pt x="113" y="56"/>
                      <a:pt x="121" y="69"/>
                    </a:cubicBezTo>
                    <a:cubicBezTo>
                      <a:pt x="124" y="74"/>
                      <a:pt x="130" y="76"/>
                      <a:pt x="135" y="73"/>
                    </a:cubicBezTo>
                    <a:cubicBezTo>
                      <a:pt x="141" y="70"/>
                      <a:pt x="142" y="63"/>
                      <a:pt x="139" y="58"/>
                    </a:cubicBezTo>
                    <a:cubicBezTo>
                      <a:pt x="128" y="38"/>
                      <a:pt x="108" y="25"/>
                      <a:pt x="85" y="22"/>
                    </a:cubicBezTo>
                    <a:cubicBezTo>
                      <a:pt x="85" y="10"/>
                      <a:pt x="85" y="10"/>
                      <a:pt x="85" y="10"/>
                    </a:cubicBezTo>
                    <a:cubicBezTo>
                      <a:pt x="85" y="4"/>
                      <a:pt x="81" y="0"/>
                      <a:pt x="75" y="0"/>
                    </a:cubicBezTo>
                    <a:cubicBezTo>
                      <a:pt x="69" y="0"/>
                      <a:pt x="64" y="4"/>
                      <a:pt x="64" y="10"/>
                    </a:cubicBezTo>
                    <a:cubicBezTo>
                      <a:pt x="64" y="22"/>
                      <a:pt x="64" y="22"/>
                      <a:pt x="64" y="22"/>
                    </a:cubicBezTo>
                    <a:cubicBezTo>
                      <a:pt x="28" y="27"/>
                      <a:pt x="0" y="58"/>
                      <a:pt x="0" y="96"/>
                    </a:cubicBezTo>
                    <a:cubicBezTo>
                      <a:pt x="0" y="133"/>
                      <a:pt x="28" y="164"/>
                      <a:pt x="64" y="169"/>
                    </a:cubicBezTo>
                    <a:cubicBezTo>
                      <a:pt x="64" y="276"/>
                      <a:pt x="64" y="276"/>
                      <a:pt x="64" y="276"/>
                    </a:cubicBezTo>
                    <a:cubicBezTo>
                      <a:pt x="46" y="272"/>
                      <a:pt x="31" y="259"/>
                      <a:pt x="24" y="241"/>
                    </a:cubicBezTo>
                    <a:cubicBezTo>
                      <a:pt x="22" y="236"/>
                      <a:pt x="16" y="233"/>
                      <a:pt x="11" y="235"/>
                    </a:cubicBezTo>
                    <a:cubicBezTo>
                      <a:pt x="5" y="237"/>
                      <a:pt x="2" y="243"/>
                      <a:pt x="4" y="249"/>
                    </a:cubicBezTo>
                    <a:cubicBezTo>
                      <a:pt x="14" y="275"/>
                      <a:pt x="37" y="294"/>
                      <a:pt x="64" y="297"/>
                    </a:cubicBezTo>
                    <a:cubicBezTo>
                      <a:pt x="64" y="320"/>
                      <a:pt x="64" y="320"/>
                      <a:pt x="64" y="320"/>
                    </a:cubicBezTo>
                    <a:cubicBezTo>
                      <a:pt x="64" y="326"/>
                      <a:pt x="69" y="330"/>
                      <a:pt x="75" y="330"/>
                    </a:cubicBezTo>
                    <a:cubicBezTo>
                      <a:pt x="81" y="330"/>
                      <a:pt x="85" y="326"/>
                      <a:pt x="85" y="320"/>
                    </a:cubicBezTo>
                    <a:cubicBezTo>
                      <a:pt x="85" y="297"/>
                      <a:pt x="85" y="297"/>
                      <a:pt x="85" y="297"/>
                    </a:cubicBezTo>
                    <a:cubicBezTo>
                      <a:pt x="121" y="292"/>
                      <a:pt x="149" y="261"/>
                      <a:pt x="149" y="224"/>
                    </a:cubicBezTo>
                    <a:close/>
                    <a:moveTo>
                      <a:pt x="21" y="96"/>
                    </a:moveTo>
                    <a:cubicBezTo>
                      <a:pt x="21" y="70"/>
                      <a:pt x="40" y="48"/>
                      <a:pt x="64" y="43"/>
                    </a:cubicBezTo>
                    <a:cubicBezTo>
                      <a:pt x="64" y="148"/>
                      <a:pt x="64" y="148"/>
                      <a:pt x="64" y="148"/>
                    </a:cubicBezTo>
                    <a:cubicBezTo>
                      <a:pt x="40" y="143"/>
                      <a:pt x="21" y="121"/>
                      <a:pt x="21" y="96"/>
                    </a:cubicBezTo>
                    <a:close/>
                    <a:moveTo>
                      <a:pt x="85" y="276"/>
                    </a:moveTo>
                    <a:cubicBezTo>
                      <a:pt x="85" y="171"/>
                      <a:pt x="85" y="171"/>
                      <a:pt x="85" y="171"/>
                    </a:cubicBezTo>
                    <a:cubicBezTo>
                      <a:pt x="110" y="176"/>
                      <a:pt x="128" y="198"/>
                      <a:pt x="128" y="224"/>
                    </a:cubicBezTo>
                    <a:cubicBezTo>
                      <a:pt x="128" y="249"/>
                      <a:pt x="110" y="271"/>
                      <a:pt x="85" y="27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Verdana"/>
                  <a:ea typeface="+mn-ea"/>
                  <a:cs typeface="+mn-cs"/>
                </a:endParaRPr>
              </a:p>
            </p:txBody>
          </p:sp>
          <p:sp>
            <p:nvSpPr>
              <p:cNvPr id="49" name="Freeform 382">
                <a:extLst>
                  <a:ext uri="{FF2B5EF4-FFF2-40B4-BE49-F238E27FC236}">
                    <a16:creationId xmlns:a16="http://schemas.microsoft.com/office/drawing/2014/main" id="{ADD6948E-FA83-419B-963E-F0867DD6C08A}"/>
                  </a:ext>
                </a:extLst>
              </p:cNvPr>
              <p:cNvSpPr>
                <a:spLocks noEditPoints="1"/>
              </p:cNvSpPr>
              <p:nvPr/>
            </p:nvSpPr>
            <p:spPr bwMode="auto">
              <a:xfrm>
                <a:off x="7362" y="1207"/>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Verdana"/>
                  <a:ea typeface="+mn-ea"/>
                  <a:cs typeface="+mn-cs"/>
                </a:endParaRPr>
              </a:p>
            </p:txBody>
          </p:sp>
        </p:grpSp>
        <p:grpSp>
          <p:nvGrpSpPr>
            <p:cNvPr id="21" name="Group 20">
              <a:extLst>
                <a:ext uri="{FF2B5EF4-FFF2-40B4-BE49-F238E27FC236}">
                  <a16:creationId xmlns:a16="http://schemas.microsoft.com/office/drawing/2014/main" id="{EDBD6D52-3E07-4B34-8E70-710F997B28B5}"/>
                </a:ext>
              </a:extLst>
            </p:cNvPr>
            <p:cNvGrpSpPr/>
            <p:nvPr/>
          </p:nvGrpSpPr>
          <p:grpSpPr>
            <a:xfrm>
              <a:off x="2354050" y="5985162"/>
              <a:ext cx="199985" cy="230310"/>
              <a:chOff x="2929525" y="5930459"/>
              <a:chExt cx="229229" cy="230310"/>
            </a:xfrm>
          </p:grpSpPr>
          <p:sp>
            <p:nvSpPr>
              <p:cNvPr id="46" name="Freeform 30">
                <a:extLst>
                  <a:ext uri="{FF2B5EF4-FFF2-40B4-BE49-F238E27FC236}">
                    <a16:creationId xmlns:a16="http://schemas.microsoft.com/office/drawing/2014/main" id="{E52AB341-6051-4B9B-A803-60D51853380D}"/>
                  </a:ext>
                </a:extLst>
              </p:cNvPr>
              <p:cNvSpPr>
                <a:spLocks noEditPoints="1"/>
              </p:cNvSpPr>
              <p:nvPr/>
            </p:nvSpPr>
            <p:spPr bwMode="auto">
              <a:xfrm>
                <a:off x="2929525" y="5930459"/>
                <a:ext cx="229229" cy="230310"/>
              </a:xfrm>
              <a:custGeom>
                <a:avLst/>
                <a:gdLst>
                  <a:gd name="T0" fmla="*/ 316 w 320"/>
                  <a:gd name="T1" fmla="*/ 126 h 321"/>
                  <a:gd name="T2" fmla="*/ 275 w 320"/>
                  <a:gd name="T3" fmla="*/ 105 h 321"/>
                  <a:gd name="T4" fmla="*/ 289 w 320"/>
                  <a:gd name="T5" fmla="*/ 66 h 321"/>
                  <a:gd name="T6" fmla="*/ 287 w 320"/>
                  <a:gd name="T7" fmla="*/ 63 h 321"/>
                  <a:gd name="T8" fmla="*/ 254 w 320"/>
                  <a:gd name="T9" fmla="*/ 31 h 321"/>
                  <a:gd name="T10" fmla="*/ 215 w 320"/>
                  <a:gd name="T11" fmla="*/ 45 h 321"/>
                  <a:gd name="T12" fmla="*/ 194 w 320"/>
                  <a:gd name="T13" fmla="*/ 4 h 321"/>
                  <a:gd name="T14" fmla="*/ 125 w 320"/>
                  <a:gd name="T15" fmla="*/ 4 h 321"/>
                  <a:gd name="T16" fmla="*/ 105 w 320"/>
                  <a:gd name="T17" fmla="*/ 45 h 321"/>
                  <a:gd name="T18" fmla="*/ 64 w 320"/>
                  <a:gd name="T19" fmla="*/ 32 h 321"/>
                  <a:gd name="T20" fmla="*/ 26 w 320"/>
                  <a:gd name="T21" fmla="*/ 87 h 321"/>
                  <a:gd name="T22" fmla="*/ 14 w 320"/>
                  <a:gd name="T23" fmla="*/ 118 h 321"/>
                  <a:gd name="T24" fmla="*/ 0 w 320"/>
                  <a:gd name="T25" fmla="*/ 147 h 321"/>
                  <a:gd name="T26" fmla="*/ 0 w 320"/>
                  <a:gd name="T27" fmla="*/ 156 h 321"/>
                  <a:gd name="T28" fmla="*/ 0 w 320"/>
                  <a:gd name="T29" fmla="*/ 160 h 321"/>
                  <a:gd name="T30" fmla="*/ 3 w 320"/>
                  <a:gd name="T31" fmla="*/ 195 h 321"/>
                  <a:gd name="T32" fmla="*/ 44 w 320"/>
                  <a:gd name="T33" fmla="*/ 215 h 321"/>
                  <a:gd name="T34" fmla="*/ 31 w 320"/>
                  <a:gd name="T35" fmla="*/ 254 h 321"/>
                  <a:gd name="T36" fmla="*/ 33 w 320"/>
                  <a:gd name="T37" fmla="*/ 257 h 321"/>
                  <a:gd name="T38" fmla="*/ 65 w 320"/>
                  <a:gd name="T39" fmla="*/ 289 h 321"/>
                  <a:gd name="T40" fmla="*/ 105 w 320"/>
                  <a:gd name="T41" fmla="*/ 275 h 321"/>
                  <a:gd name="T42" fmla="*/ 125 w 320"/>
                  <a:gd name="T43" fmla="*/ 317 h 321"/>
                  <a:gd name="T44" fmla="*/ 147 w 320"/>
                  <a:gd name="T45" fmla="*/ 321 h 321"/>
                  <a:gd name="T46" fmla="*/ 160 w 320"/>
                  <a:gd name="T47" fmla="*/ 321 h 321"/>
                  <a:gd name="T48" fmla="*/ 168 w 320"/>
                  <a:gd name="T49" fmla="*/ 321 h 321"/>
                  <a:gd name="T50" fmla="*/ 173 w 320"/>
                  <a:gd name="T51" fmla="*/ 321 h 321"/>
                  <a:gd name="T52" fmla="*/ 202 w 320"/>
                  <a:gd name="T53" fmla="*/ 306 h 321"/>
                  <a:gd name="T54" fmla="*/ 233 w 320"/>
                  <a:gd name="T55" fmla="*/ 293 h 321"/>
                  <a:gd name="T56" fmla="*/ 288 w 320"/>
                  <a:gd name="T57" fmla="*/ 256 h 321"/>
                  <a:gd name="T58" fmla="*/ 275 w 320"/>
                  <a:gd name="T59" fmla="*/ 215 h 321"/>
                  <a:gd name="T60" fmla="*/ 316 w 320"/>
                  <a:gd name="T61" fmla="*/ 195 h 321"/>
                  <a:gd name="T62" fmla="*/ 320 w 320"/>
                  <a:gd name="T63" fmla="*/ 147 h 321"/>
                  <a:gd name="T64" fmla="*/ 272 w 320"/>
                  <a:gd name="T65" fmla="*/ 182 h 321"/>
                  <a:gd name="T66" fmla="*/ 255 w 320"/>
                  <a:gd name="T67" fmla="*/ 225 h 321"/>
                  <a:gd name="T68" fmla="*/ 243 w 320"/>
                  <a:gd name="T69" fmla="*/ 271 h 321"/>
                  <a:gd name="T70" fmla="*/ 212 w 320"/>
                  <a:gd name="T71" fmla="*/ 253 h 321"/>
                  <a:gd name="T72" fmla="*/ 181 w 320"/>
                  <a:gd name="T73" fmla="*/ 297 h 321"/>
                  <a:gd name="T74" fmla="*/ 149 w 320"/>
                  <a:gd name="T75" fmla="*/ 299 h 321"/>
                  <a:gd name="T76" fmla="*/ 138 w 320"/>
                  <a:gd name="T77" fmla="*/ 297 h 321"/>
                  <a:gd name="T78" fmla="*/ 108 w 320"/>
                  <a:gd name="T79" fmla="*/ 253 h 321"/>
                  <a:gd name="T80" fmla="*/ 77 w 320"/>
                  <a:gd name="T81" fmla="*/ 271 h 321"/>
                  <a:gd name="T82" fmla="*/ 50 w 320"/>
                  <a:gd name="T83" fmla="*/ 244 h 321"/>
                  <a:gd name="T84" fmla="*/ 48 w 320"/>
                  <a:gd name="T85" fmla="*/ 242 h 321"/>
                  <a:gd name="T86" fmla="*/ 57 w 320"/>
                  <a:gd name="T87" fmla="*/ 189 h 321"/>
                  <a:gd name="T88" fmla="*/ 22 w 320"/>
                  <a:gd name="T89" fmla="*/ 171 h 321"/>
                  <a:gd name="T90" fmla="*/ 23 w 320"/>
                  <a:gd name="T91" fmla="*/ 139 h 321"/>
                  <a:gd name="T92" fmla="*/ 67 w 320"/>
                  <a:gd name="T93" fmla="*/ 108 h 321"/>
                  <a:gd name="T94" fmla="*/ 49 w 320"/>
                  <a:gd name="T95" fmla="*/ 77 h 321"/>
                  <a:gd name="T96" fmla="*/ 95 w 320"/>
                  <a:gd name="T97" fmla="*/ 65 h 321"/>
                  <a:gd name="T98" fmla="*/ 138 w 320"/>
                  <a:gd name="T99" fmla="*/ 47 h 321"/>
                  <a:gd name="T100" fmla="*/ 171 w 320"/>
                  <a:gd name="T101" fmla="*/ 22 h 321"/>
                  <a:gd name="T102" fmla="*/ 189 w 320"/>
                  <a:gd name="T103" fmla="*/ 58 h 321"/>
                  <a:gd name="T104" fmla="*/ 241 w 320"/>
                  <a:gd name="T105" fmla="*/ 48 h 321"/>
                  <a:gd name="T106" fmla="*/ 244 w 320"/>
                  <a:gd name="T107" fmla="*/ 50 h 321"/>
                  <a:gd name="T108" fmla="*/ 270 w 320"/>
                  <a:gd name="T109" fmla="*/ 77 h 321"/>
                  <a:gd name="T110" fmla="*/ 253 w 320"/>
                  <a:gd name="T111" fmla="*/ 108 h 321"/>
                  <a:gd name="T112" fmla="*/ 297 w 320"/>
                  <a:gd name="T113" fmla="*/ 139 h 321"/>
                  <a:gd name="T114" fmla="*/ 298 w 320"/>
                  <a:gd name="T115" fmla="*/ 171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20" h="321">
                    <a:moveTo>
                      <a:pt x="320" y="147"/>
                    </a:moveTo>
                    <a:cubicBezTo>
                      <a:pt x="320" y="147"/>
                      <a:pt x="320" y="147"/>
                      <a:pt x="320" y="147"/>
                    </a:cubicBezTo>
                    <a:cubicBezTo>
                      <a:pt x="318" y="140"/>
                      <a:pt x="318" y="133"/>
                      <a:pt x="316" y="126"/>
                    </a:cubicBezTo>
                    <a:cubicBezTo>
                      <a:pt x="315" y="121"/>
                      <a:pt x="310" y="118"/>
                      <a:pt x="305" y="118"/>
                    </a:cubicBezTo>
                    <a:cubicBezTo>
                      <a:pt x="280" y="118"/>
                      <a:pt x="280" y="118"/>
                      <a:pt x="280" y="118"/>
                    </a:cubicBezTo>
                    <a:cubicBezTo>
                      <a:pt x="279" y="113"/>
                      <a:pt x="277" y="109"/>
                      <a:pt x="275" y="105"/>
                    </a:cubicBezTo>
                    <a:cubicBezTo>
                      <a:pt x="293" y="87"/>
                      <a:pt x="293" y="87"/>
                      <a:pt x="293" y="87"/>
                    </a:cubicBezTo>
                    <a:cubicBezTo>
                      <a:pt x="296" y="84"/>
                      <a:pt x="297" y="78"/>
                      <a:pt x="294" y="74"/>
                    </a:cubicBezTo>
                    <a:cubicBezTo>
                      <a:pt x="293" y="71"/>
                      <a:pt x="291" y="68"/>
                      <a:pt x="289" y="66"/>
                    </a:cubicBezTo>
                    <a:cubicBezTo>
                      <a:pt x="289" y="66"/>
                      <a:pt x="289" y="66"/>
                      <a:pt x="289" y="66"/>
                    </a:cubicBezTo>
                    <a:cubicBezTo>
                      <a:pt x="288" y="65"/>
                      <a:pt x="288" y="65"/>
                      <a:pt x="288" y="64"/>
                    </a:cubicBezTo>
                    <a:cubicBezTo>
                      <a:pt x="287" y="64"/>
                      <a:pt x="287" y="63"/>
                      <a:pt x="287" y="63"/>
                    </a:cubicBezTo>
                    <a:cubicBezTo>
                      <a:pt x="278" y="52"/>
                      <a:pt x="268" y="42"/>
                      <a:pt x="257" y="33"/>
                    </a:cubicBezTo>
                    <a:cubicBezTo>
                      <a:pt x="257" y="33"/>
                      <a:pt x="256" y="32"/>
                      <a:pt x="255" y="32"/>
                    </a:cubicBezTo>
                    <a:cubicBezTo>
                      <a:pt x="255" y="32"/>
                      <a:pt x="254" y="31"/>
                      <a:pt x="254" y="31"/>
                    </a:cubicBezTo>
                    <a:cubicBezTo>
                      <a:pt x="251" y="29"/>
                      <a:pt x="249" y="27"/>
                      <a:pt x="246" y="25"/>
                    </a:cubicBezTo>
                    <a:cubicBezTo>
                      <a:pt x="242" y="23"/>
                      <a:pt x="236" y="23"/>
                      <a:pt x="233" y="27"/>
                    </a:cubicBezTo>
                    <a:cubicBezTo>
                      <a:pt x="215" y="45"/>
                      <a:pt x="215" y="45"/>
                      <a:pt x="215" y="45"/>
                    </a:cubicBezTo>
                    <a:cubicBezTo>
                      <a:pt x="211" y="43"/>
                      <a:pt x="207" y="41"/>
                      <a:pt x="202" y="39"/>
                    </a:cubicBezTo>
                    <a:cubicBezTo>
                      <a:pt x="202" y="14"/>
                      <a:pt x="202" y="14"/>
                      <a:pt x="202" y="14"/>
                    </a:cubicBezTo>
                    <a:cubicBezTo>
                      <a:pt x="202" y="9"/>
                      <a:pt x="199" y="5"/>
                      <a:pt x="194" y="4"/>
                    </a:cubicBezTo>
                    <a:cubicBezTo>
                      <a:pt x="187" y="2"/>
                      <a:pt x="180" y="1"/>
                      <a:pt x="172" y="1"/>
                    </a:cubicBezTo>
                    <a:cubicBezTo>
                      <a:pt x="164" y="0"/>
                      <a:pt x="155" y="0"/>
                      <a:pt x="147" y="1"/>
                    </a:cubicBezTo>
                    <a:cubicBezTo>
                      <a:pt x="140" y="1"/>
                      <a:pt x="132" y="2"/>
                      <a:pt x="125" y="4"/>
                    </a:cubicBezTo>
                    <a:cubicBezTo>
                      <a:pt x="120" y="5"/>
                      <a:pt x="117" y="9"/>
                      <a:pt x="117" y="14"/>
                    </a:cubicBezTo>
                    <a:cubicBezTo>
                      <a:pt x="117" y="39"/>
                      <a:pt x="117" y="39"/>
                      <a:pt x="117" y="39"/>
                    </a:cubicBezTo>
                    <a:cubicBezTo>
                      <a:pt x="113" y="41"/>
                      <a:pt x="109" y="43"/>
                      <a:pt x="105" y="45"/>
                    </a:cubicBezTo>
                    <a:cubicBezTo>
                      <a:pt x="87" y="27"/>
                      <a:pt x="87" y="27"/>
                      <a:pt x="87" y="27"/>
                    </a:cubicBezTo>
                    <a:cubicBezTo>
                      <a:pt x="83" y="23"/>
                      <a:pt x="78" y="23"/>
                      <a:pt x="73" y="25"/>
                    </a:cubicBezTo>
                    <a:cubicBezTo>
                      <a:pt x="70" y="27"/>
                      <a:pt x="67" y="30"/>
                      <a:pt x="64" y="32"/>
                    </a:cubicBezTo>
                    <a:cubicBezTo>
                      <a:pt x="52" y="41"/>
                      <a:pt x="41" y="52"/>
                      <a:pt x="32" y="64"/>
                    </a:cubicBezTo>
                    <a:cubicBezTo>
                      <a:pt x="29" y="67"/>
                      <a:pt x="27" y="71"/>
                      <a:pt x="25" y="74"/>
                    </a:cubicBezTo>
                    <a:cubicBezTo>
                      <a:pt x="22" y="78"/>
                      <a:pt x="23" y="84"/>
                      <a:pt x="26" y="87"/>
                    </a:cubicBezTo>
                    <a:cubicBezTo>
                      <a:pt x="44" y="105"/>
                      <a:pt x="44" y="105"/>
                      <a:pt x="44" y="105"/>
                    </a:cubicBezTo>
                    <a:cubicBezTo>
                      <a:pt x="42" y="109"/>
                      <a:pt x="41" y="113"/>
                      <a:pt x="39" y="118"/>
                    </a:cubicBezTo>
                    <a:cubicBezTo>
                      <a:pt x="14" y="118"/>
                      <a:pt x="14" y="118"/>
                      <a:pt x="14" y="118"/>
                    </a:cubicBezTo>
                    <a:cubicBezTo>
                      <a:pt x="9" y="118"/>
                      <a:pt x="4" y="121"/>
                      <a:pt x="3" y="126"/>
                    </a:cubicBezTo>
                    <a:cubicBezTo>
                      <a:pt x="2" y="133"/>
                      <a:pt x="1" y="140"/>
                      <a:pt x="0" y="147"/>
                    </a:cubicBezTo>
                    <a:cubicBezTo>
                      <a:pt x="0" y="147"/>
                      <a:pt x="0" y="147"/>
                      <a:pt x="0" y="147"/>
                    </a:cubicBezTo>
                    <a:cubicBezTo>
                      <a:pt x="0" y="147"/>
                      <a:pt x="0" y="147"/>
                      <a:pt x="0" y="147"/>
                    </a:cubicBezTo>
                    <a:cubicBezTo>
                      <a:pt x="0" y="147"/>
                      <a:pt x="0" y="147"/>
                      <a:pt x="0" y="147"/>
                    </a:cubicBezTo>
                    <a:cubicBezTo>
                      <a:pt x="0" y="150"/>
                      <a:pt x="0" y="153"/>
                      <a:pt x="0" y="156"/>
                    </a:cubicBezTo>
                    <a:cubicBezTo>
                      <a:pt x="0" y="157"/>
                      <a:pt x="0" y="159"/>
                      <a:pt x="0" y="160"/>
                    </a:cubicBezTo>
                    <a:cubicBezTo>
                      <a:pt x="0" y="160"/>
                      <a:pt x="0" y="160"/>
                      <a:pt x="0" y="160"/>
                    </a:cubicBezTo>
                    <a:cubicBezTo>
                      <a:pt x="0" y="160"/>
                      <a:pt x="0" y="160"/>
                      <a:pt x="0" y="160"/>
                    </a:cubicBezTo>
                    <a:cubicBezTo>
                      <a:pt x="0" y="161"/>
                      <a:pt x="0" y="163"/>
                      <a:pt x="0" y="164"/>
                    </a:cubicBezTo>
                    <a:cubicBezTo>
                      <a:pt x="0" y="167"/>
                      <a:pt x="0" y="170"/>
                      <a:pt x="0" y="173"/>
                    </a:cubicBezTo>
                    <a:cubicBezTo>
                      <a:pt x="1" y="180"/>
                      <a:pt x="2" y="188"/>
                      <a:pt x="3" y="195"/>
                    </a:cubicBezTo>
                    <a:cubicBezTo>
                      <a:pt x="4" y="200"/>
                      <a:pt x="9" y="203"/>
                      <a:pt x="14" y="203"/>
                    </a:cubicBezTo>
                    <a:cubicBezTo>
                      <a:pt x="39" y="203"/>
                      <a:pt x="39" y="203"/>
                      <a:pt x="39" y="203"/>
                    </a:cubicBezTo>
                    <a:cubicBezTo>
                      <a:pt x="41" y="207"/>
                      <a:pt x="42" y="211"/>
                      <a:pt x="44" y="215"/>
                    </a:cubicBezTo>
                    <a:cubicBezTo>
                      <a:pt x="26" y="233"/>
                      <a:pt x="26" y="233"/>
                      <a:pt x="26" y="233"/>
                    </a:cubicBezTo>
                    <a:cubicBezTo>
                      <a:pt x="23" y="237"/>
                      <a:pt x="22" y="242"/>
                      <a:pt x="25" y="246"/>
                    </a:cubicBezTo>
                    <a:cubicBezTo>
                      <a:pt x="27" y="249"/>
                      <a:pt x="29" y="252"/>
                      <a:pt x="31" y="254"/>
                    </a:cubicBezTo>
                    <a:cubicBezTo>
                      <a:pt x="31" y="254"/>
                      <a:pt x="31" y="254"/>
                      <a:pt x="31" y="254"/>
                    </a:cubicBezTo>
                    <a:cubicBezTo>
                      <a:pt x="31" y="255"/>
                      <a:pt x="31" y="255"/>
                      <a:pt x="32" y="256"/>
                    </a:cubicBezTo>
                    <a:cubicBezTo>
                      <a:pt x="32" y="256"/>
                      <a:pt x="32" y="257"/>
                      <a:pt x="33" y="257"/>
                    </a:cubicBezTo>
                    <a:cubicBezTo>
                      <a:pt x="41" y="268"/>
                      <a:pt x="51" y="278"/>
                      <a:pt x="62" y="287"/>
                    </a:cubicBezTo>
                    <a:cubicBezTo>
                      <a:pt x="63" y="287"/>
                      <a:pt x="64" y="288"/>
                      <a:pt x="64" y="288"/>
                    </a:cubicBezTo>
                    <a:cubicBezTo>
                      <a:pt x="64" y="288"/>
                      <a:pt x="65" y="289"/>
                      <a:pt x="65" y="289"/>
                    </a:cubicBezTo>
                    <a:cubicBezTo>
                      <a:pt x="68" y="291"/>
                      <a:pt x="71" y="293"/>
                      <a:pt x="73" y="295"/>
                    </a:cubicBezTo>
                    <a:cubicBezTo>
                      <a:pt x="78" y="297"/>
                      <a:pt x="83" y="297"/>
                      <a:pt x="87" y="293"/>
                    </a:cubicBezTo>
                    <a:cubicBezTo>
                      <a:pt x="105" y="275"/>
                      <a:pt x="105" y="275"/>
                      <a:pt x="105" y="275"/>
                    </a:cubicBezTo>
                    <a:cubicBezTo>
                      <a:pt x="109" y="277"/>
                      <a:pt x="113" y="279"/>
                      <a:pt x="117" y="281"/>
                    </a:cubicBezTo>
                    <a:cubicBezTo>
                      <a:pt x="117" y="306"/>
                      <a:pt x="117" y="306"/>
                      <a:pt x="117" y="306"/>
                    </a:cubicBezTo>
                    <a:cubicBezTo>
                      <a:pt x="117" y="311"/>
                      <a:pt x="120" y="316"/>
                      <a:pt x="125" y="317"/>
                    </a:cubicBezTo>
                    <a:cubicBezTo>
                      <a:pt x="132" y="318"/>
                      <a:pt x="139" y="321"/>
                      <a:pt x="147" y="321"/>
                    </a:cubicBezTo>
                    <a:cubicBezTo>
                      <a:pt x="147" y="321"/>
                      <a:pt x="147" y="321"/>
                      <a:pt x="147" y="321"/>
                    </a:cubicBezTo>
                    <a:cubicBezTo>
                      <a:pt x="147" y="321"/>
                      <a:pt x="147" y="321"/>
                      <a:pt x="147" y="321"/>
                    </a:cubicBezTo>
                    <a:cubicBezTo>
                      <a:pt x="147" y="321"/>
                      <a:pt x="147" y="321"/>
                      <a:pt x="147" y="321"/>
                    </a:cubicBezTo>
                    <a:cubicBezTo>
                      <a:pt x="149" y="321"/>
                      <a:pt x="151" y="321"/>
                      <a:pt x="153" y="321"/>
                    </a:cubicBezTo>
                    <a:cubicBezTo>
                      <a:pt x="155" y="321"/>
                      <a:pt x="157" y="321"/>
                      <a:pt x="160" y="321"/>
                    </a:cubicBezTo>
                    <a:cubicBezTo>
                      <a:pt x="160" y="321"/>
                      <a:pt x="160" y="321"/>
                      <a:pt x="160" y="321"/>
                    </a:cubicBezTo>
                    <a:cubicBezTo>
                      <a:pt x="160" y="321"/>
                      <a:pt x="160" y="321"/>
                      <a:pt x="160" y="321"/>
                    </a:cubicBezTo>
                    <a:cubicBezTo>
                      <a:pt x="162" y="321"/>
                      <a:pt x="165" y="321"/>
                      <a:pt x="168" y="321"/>
                    </a:cubicBezTo>
                    <a:cubicBezTo>
                      <a:pt x="169" y="320"/>
                      <a:pt x="171" y="321"/>
                      <a:pt x="172" y="321"/>
                    </a:cubicBezTo>
                    <a:cubicBezTo>
                      <a:pt x="172" y="321"/>
                      <a:pt x="172" y="321"/>
                      <a:pt x="172" y="321"/>
                    </a:cubicBezTo>
                    <a:cubicBezTo>
                      <a:pt x="172" y="321"/>
                      <a:pt x="172" y="321"/>
                      <a:pt x="173" y="321"/>
                    </a:cubicBezTo>
                    <a:cubicBezTo>
                      <a:pt x="173" y="321"/>
                      <a:pt x="173" y="320"/>
                      <a:pt x="173" y="320"/>
                    </a:cubicBezTo>
                    <a:cubicBezTo>
                      <a:pt x="180" y="319"/>
                      <a:pt x="187" y="318"/>
                      <a:pt x="194" y="317"/>
                    </a:cubicBezTo>
                    <a:cubicBezTo>
                      <a:pt x="199" y="315"/>
                      <a:pt x="202" y="311"/>
                      <a:pt x="202" y="306"/>
                    </a:cubicBezTo>
                    <a:cubicBezTo>
                      <a:pt x="202" y="281"/>
                      <a:pt x="202" y="281"/>
                      <a:pt x="202" y="281"/>
                    </a:cubicBezTo>
                    <a:cubicBezTo>
                      <a:pt x="207" y="279"/>
                      <a:pt x="211" y="277"/>
                      <a:pt x="215" y="275"/>
                    </a:cubicBezTo>
                    <a:cubicBezTo>
                      <a:pt x="233" y="293"/>
                      <a:pt x="233" y="293"/>
                      <a:pt x="233" y="293"/>
                    </a:cubicBezTo>
                    <a:cubicBezTo>
                      <a:pt x="236" y="297"/>
                      <a:pt x="242" y="297"/>
                      <a:pt x="246" y="295"/>
                    </a:cubicBezTo>
                    <a:cubicBezTo>
                      <a:pt x="249" y="293"/>
                      <a:pt x="252" y="290"/>
                      <a:pt x="255" y="288"/>
                    </a:cubicBezTo>
                    <a:cubicBezTo>
                      <a:pt x="268" y="279"/>
                      <a:pt x="279" y="268"/>
                      <a:pt x="288" y="256"/>
                    </a:cubicBezTo>
                    <a:cubicBezTo>
                      <a:pt x="290" y="253"/>
                      <a:pt x="292" y="249"/>
                      <a:pt x="294" y="246"/>
                    </a:cubicBezTo>
                    <a:cubicBezTo>
                      <a:pt x="297" y="242"/>
                      <a:pt x="296" y="236"/>
                      <a:pt x="293" y="233"/>
                    </a:cubicBezTo>
                    <a:cubicBezTo>
                      <a:pt x="275" y="215"/>
                      <a:pt x="275" y="215"/>
                      <a:pt x="275" y="215"/>
                    </a:cubicBezTo>
                    <a:cubicBezTo>
                      <a:pt x="277" y="211"/>
                      <a:pt x="279" y="207"/>
                      <a:pt x="280" y="203"/>
                    </a:cubicBezTo>
                    <a:cubicBezTo>
                      <a:pt x="305" y="203"/>
                      <a:pt x="305" y="203"/>
                      <a:pt x="305" y="203"/>
                    </a:cubicBezTo>
                    <a:cubicBezTo>
                      <a:pt x="310" y="203"/>
                      <a:pt x="315" y="200"/>
                      <a:pt x="316" y="195"/>
                    </a:cubicBezTo>
                    <a:cubicBezTo>
                      <a:pt x="317" y="188"/>
                      <a:pt x="318" y="180"/>
                      <a:pt x="319" y="173"/>
                    </a:cubicBezTo>
                    <a:cubicBezTo>
                      <a:pt x="319" y="169"/>
                      <a:pt x="320" y="164"/>
                      <a:pt x="320" y="160"/>
                    </a:cubicBezTo>
                    <a:cubicBezTo>
                      <a:pt x="320" y="156"/>
                      <a:pt x="320" y="152"/>
                      <a:pt x="320" y="147"/>
                    </a:cubicBezTo>
                    <a:close/>
                    <a:moveTo>
                      <a:pt x="298" y="171"/>
                    </a:moveTo>
                    <a:cubicBezTo>
                      <a:pt x="297" y="175"/>
                      <a:pt x="297" y="178"/>
                      <a:pt x="297" y="182"/>
                    </a:cubicBezTo>
                    <a:cubicBezTo>
                      <a:pt x="272" y="182"/>
                      <a:pt x="272" y="182"/>
                      <a:pt x="272" y="182"/>
                    </a:cubicBezTo>
                    <a:cubicBezTo>
                      <a:pt x="268" y="182"/>
                      <a:pt x="263" y="185"/>
                      <a:pt x="262" y="189"/>
                    </a:cubicBezTo>
                    <a:cubicBezTo>
                      <a:pt x="260" y="197"/>
                      <a:pt x="257" y="205"/>
                      <a:pt x="253" y="212"/>
                    </a:cubicBezTo>
                    <a:cubicBezTo>
                      <a:pt x="250" y="216"/>
                      <a:pt x="251" y="221"/>
                      <a:pt x="255" y="225"/>
                    </a:cubicBezTo>
                    <a:cubicBezTo>
                      <a:pt x="272" y="242"/>
                      <a:pt x="272" y="242"/>
                      <a:pt x="272" y="242"/>
                    </a:cubicBezTo>
                    <a:cubicBezTo>
                      <a:pt x="271" y="242"/>
                      <a:pt x="271" y="243"/>
                      <a:pt x="271" y="243"/>
                    </a:cubicBezTo>
                    <a:cubicBezTo>
                      <a:pt x="263" y="254"/>
                      <a:pt x="253" y="263"/>
                      <a:pt x="243" y="271"/>
                    </a:cubicBezTo>
                    <a:cubicBezTo>
                      <a:pt x="242" y="271"/>
                      <a:pt x="242" y="272"/>
                      <a:pt x="241" y="272"/>
                    </a:cubicBezTo>
                    <a:cubicBezTo>
                      <a:pt x="224" y="255"/>
                      <a:pt x="224" y="255"/>
                      <a:pt x="224" y="255"/>
                    </a:cubicBezTo>
                    <a:cubicBezTo>
                      <a:pt x="221" y="251"/>
                      <a:pt x="216" y="251"/>
                      <a:pt x="212" y="253"/>
                    </a:cubicBezTo>
                    <a:cubicBezTo>
                      <a:pt x="204" y="257"/>
                      <a:pt x="197" y="260"/>
                      <a:pt x="189" y="262"/>
                    </a:cubicBezTo>
                    <a:cubicBezTo>
                      <a:pt x="184" y="264"/>
                      <a:pt x="181" y="268"/>
                      <a:pt x="181" y="273"/>
                    </a:cubicBezTo>
                    <a:cubicBezTo>
                      <a:pt x="181" y="297"/>
                      <a:pt x="181" y="297"/>
                      <a:pt x="181" y="297"/>
                    </a:cubicBezTo>
                    <a:cubicBezTo>
                      <a:pt x="178" y="297"/>
                      <a:pt x="174" y="298"/>
                      <a:pt x="171" y="299"/>
                    </a:cubicBezTo>
                    <a:cubicBezTo>
                      <a:pt x="163" y="299"/>
                      <a:pt x="156" y="299"/>
                      <a:pt x="149" y="299"/>
                    </a:cubicBezTo>
                    <a:cubicBezTo>
                      <a:pt x="149" y="299"/>
                      <a:pt x="149" y="299"/>
                      <a:pt x="149" y="299"/>
                    </a:cubicBezTo>
                    <a:cubicBezTo>
                      <a:pt x="149" y="299"/>
                      <a:pt x="149" y="299"/>
                      <a:pt x="149" y="299"/>
                    </a:cubicBezTo>
                    <a:cubicBezTo>
                      <a:pt x="149" y="299"/>
                      <a:pt x="149" y="299"/>
                      <a:pt x="149" y="299"/>
                    </a:cubicBezTo>
                    <a:cubicBezTo>
                      <a:pt x="145" y="299"/>
                      <a:pt x="142" y="297"/>
                      <a:pt x="138" y="297"/>
                    </a:cubicBezTo>
                    <a:cubicBezTo>
                      <a:pt x="138" y="273"/>
                      <a:pt x="138" y="273"/>
                      <a:pt x="138" y="273"/>
                    </a:cubicBezTo>
                    <a:cubicBezTo>
                      <a:pt x="138" y="268"/>
                      <a:pt x="135" y="264"/>
                      <a:pt x="131" y="262"/>
                    </a:cubicBezTo>
                    <a:cubicBezTo>
                      <a:pt x="123" y="260"/>
                      <a:pt x="115" y="257"/>
                      <a:pt x="108" y="253"/>
                    </a:cubicBezTo>
                    <a:cubicBezTo>
                      <a:pt x="104" y="251"/>
                      <a:pt x="98" y="251"/>
                      <a:pt x="95" y="255"/>
                    </a:cubicBezTo>
                    <a:cubicBezTo>
                      <a:pt x="78" y="272"/>
                      <a:pt x="78" y="272"/>
                      <a:pt x="78" y="272"/>
                    </a:cubicBezTo>
                    <a:cubicBezTo>
                      <a:pt x="77" y="271"/>
                      <a:pt x="77" y="271"/>
                      <a:pt x="77" y="271"/>
                    </a:cubicBezTo>
                    <a:cubicBezTo>
                      <a:pt x="77" y="271"/>
                      <a:pt x="76" y="270"/>
                      <a:pt x="76" y="270"/>
                    </a:cubicBezTo>
                    <a:cubicBezTo>
                      <a:pt x="76" y="270"/>
                      <a:pt x="76" y="270"/>
                      <a:pt x="76" y="270"/>
                    </a:cubicBezTo>
                    <a:cubicBezTo>
                      <a:pt x="66" y="262"/>
                      <a:pt x="57" y="254"/>
                      <a:pt x="50" y="244"/>
                    </a:cubicBezTo>
                    <a:cubicBezTo>
                      <a:pt x="50" y="244"/>
                      <a:pt x="49" y="244"/>
                      <a:pt x="49" y="244"/>
                    </a:cubicBezTo>
                    <a:cubicBezTo>
                      <a:pt x="49" y="243"/>
                      <a:pt x="49" y="243"/>
                      <a:pt x="49" y="243"/>
                    </a:cubicBezTo>
                    <a:cubicBezTo>
                      <a:pt x="48" y="242"/>
                      <a:pt x="48" y="242"/>
                      <a:pt x="48" y="242"/>
                    </a:cubicBezTo>
                    <a:cubicBezTo>
                      <a:pt x="65" y="225"/>
                      <a:pt x="65" y="225"/>
                      <a:pt x="65" y="225"/>
                    </a:cubicBezTo>
                    <a:cubicBezTo>
                      <a:pt x="68" y="221"/>
                      <a:pt x="69" y="216"/>
                      <a:pt x="67" y="212"/>
                    </a:cubicBezTo>
                    <a:cubicBezTo>
                      <a:pt x="63" y="205"/>
                      <a:pt x="59" y="197"/>
                      <a:pt x="57" y="189"/>
                    </a:cubicBezTo>
                    <a:cubicBezTo>
                      <a:pt x="56" y="185"/>
                      <a:pt x="52" y="182"/>
                      <a:pt x="47" y="182"/>
                    </a:cubicBezTo>
                    <a:cubicBezTo>
                      <a:pt x="23" y="182"/>
                      <a:pt x="23" y="182"/>
                      <a:pt x="23" y="182"/>
                    </a:cubicBezTo>
                    <a:cubicBezTo>
                      <a:pt x="22" y="178"/>
                      <a:pt x="22" y="175"/>
                      <a:pt x="22" y="171"/>
                    </a:cubicBezTo>
                    <a:cubicBezTo>
                      <a:pt x="21" y="168"/>
                      <a:pt x="21" y="164"/>
                      <a:pt x="21" y="160"/>
                    </a:cubicBezTo>
                    <a:cubicBezTo>
                      <a:pt x="21" y="156"/>
                      <a:pt x="21" y="153"/>
                      <a:pt x="22" y="149"/>
                    </a:cubicBezTo>
                    <a:cubicBezTo>
                      <a:pt x="22" y="146"/>
                      <a:pt x="22" y="142"/>
                      <a:pt x="23" y="139"/>
                    </a:cubicBezTo>
                    <a:cubicBezTo>
                      <a:pt x="47" y="139"/>
                      <a:pt x="47" y="139"/>
                      <a:pt x="47" y="139"/>
                    </a:cubicBezTo>
                    <a:cubicBezTo>
                      <a:pt x="52" y="139"/>
                      <a:pt x="56" y="136"/>
                      <a:pt x="57" y="131"/>
                    </a:cubicBezTo>
                    <a:cubicBezTo>
                      <a:pt x="59" y="123"/>
                      <a:pt x="63" y="115"/>
                      <a:pt x="67" y="108"/>
                    </a:cubicBezTo>
                    <a:cubicBezTo>
                      <a:pt x="69" y="104"/>
                      <a:pt x="68" y="99"/>
                      <a:pt x="65" y="95"/>
                    </a:cubicBezTo>
                    <a:cubicBezTo>
                      <a:pt x="48" y="78"/>
                      <a:pt x="48" y="78"/>
                      <a:pt x="48" y="78"/>
                    </a:cubicBezTo>
                    <a:cubicBezTo>
                      <a:pt x="48" y="78"/>
                      <a:pt x="48" y="78"/>
                      <a:pt x="49" y="77"/>
                    </a:cubicBezTo>
                    <a:cubicBezTo>
                      <a:pt x="57" y="66"/>
                      <a:pt x="66" y="57"/>
                      <a:pt x="77" y="49"/>
                    </a:cubicBezTo>
                    <a:cubicBezTo>
                      <a:pt x="77" y="49"/>
                      <a:pt x="78" y="48"/>
                      <a:pt x="78" y="48"/>
                    </a:cubicBezTo>
                    <a:cubicBezTo>
                      <a:pt x="95" y="65"/>
                      <a:pt x="95" y="65"/>
                      <a:pt x="95" y="65"/>
                    </a:cubicBezTo>
                    <a:cubicBezTo>
                      <a:pt x="98" y="69"/>
                      <a:pt x="104" y="69"/>
                      <a:pt x="108" y="67"/>
                    </a:cubicBezTo>
                    <a:cubicBezTo>
                      <a:pt x="115" y="63"/>
                      <a:pt x="123" y="60"/>
                      <a:pt x="131" y="58"/>
                    </a:cubicBezTo>
                    <a:cubicBezTo>
                      <a:pt x="135" y="56"/>
                      <a:pt x="138" y="52"/>
                      <a:pt x="138" y="47"/>
                    </a:cubicBezTo>
                    <a:cubicBezTo>
                      <a:pt x="138" y="23"/>
                      <a:pt x="138" y="23"/>
                      <a:pt x="138" y="23"/>
                    </a:cubicBezTo>
                    <a:cubicBezTo>
                      <a:pt x="142" y="23"/>
                      <a:pt x="145" y="22"/>
                      <a:pt x="149" y="22"/>
                    </a:cubicBezTo>
                    <a:cubicBezTo>
                      <a:pt x="156" y="21"/>
                      <a:pt x="163" y="21"/>
                      <a:pt x="171" y="22"/>
                    </a:cubicBezTo>
                    <a:cubicBezTo>
                      <a:pt x="174" y="22"/>
                      <a:pt x="178" y="23"/>
                      <a:pt x="181" y="23"/>
                    </a:cubicBezTo>
                    <a:cubicBezTo>
                      <a:pt x="181" y="47"/>
                      <a:pt x="181" y="47"/>
                      <a:pt x="181" y="47"/>
                    </a:cubicBezTo>
                    <a:cubicBezTo>
                      <a:pt x="181" y="52"/>
                      <a:pt x="184" y="56"/>
                      <a:pt x="189" y="58"/>
                    </a:cubicBezTo>
                    <a:cubicBezTo>
                      <a:pt x="197" y="60"/>
                      <a:pt x="204" y="63"/>
                      <a:pt x="212" y="67"/>
                    </a:cubicBezTo>
                    <a:cubicBezTo>
                      <a:pt x="216" y="69"/>
                      <a:pt x="221" y="69"/>
                      <a:pt x="224" y="65"/>
                    </a:cubicBezTo>
                    <a:cubicBezTo>
                      <a:pt x="241" y="48"/>
                      <a:pt x="241" y="48"/>
                      <a:pt x="241" y="48"/>
                    </a:cubicBezTo>
                    <a:cubicBezTo>
                      <a:pt x="242" y="49"/>
                      <a:pt x="242" y="49"/>
                      <a:pt x="242" y="49"/>
                    </a:cubicBezTo>
                    <a:cubicBezTo>
                      <a:pt x="243" y="49"/>
                      <a:pt x="243" y="50"/>
                      <a:pt x="243" y="50"/>
                    </a:cubicBezTo>
                    <a:cubicBezTo>
                      <a:pt x="244" y="50"/>
                      <a:pt x="244" y="50"/>
                      <a:pt x="244" y="50"/>
                    </a:cubicBezTo>
                    <a:cubicBezTo>
                      <a:pt x="253" y="58"/>
                      <a:pt x="262" y="66"/>
                      <a:pt x="270" y="76"/>
                    </a:cubicBezTo>
                    <a:cubicBezTo>
                      <a:pt x="270" y="76"/>
                      <a:pt x="270" y="76"/>
                      <a:pt x="270" y="76"/>
                    </a:cubicBezTo>
                    <a:cubicBezTo>
                      <a:pt x="270" y="77"/>
                      <a:pt x="270" y="77"/>
                      <a:pt x="270" y="77"/>
                    </a:cubicBezTo>
                    <a:cubicBezTo>
                      <a:pt x="271" y="78"/>
                      <a:pt x="271" y="78"/>
                      <a:pt x="271" y="78"/>
                    </a:cubicBezTo>
                    <a:cubicBezTo>
                      <a:pt x="255" y="95"/>
                      <a:pt x="255" y="95"/>
                      <a:pt x="255" y="95"/>
                    </a:cubicBezTo>
                    <a:cubicBezTo>
                      <a:pt x="251" y="99"/>
                      <a:pt x="250" y="104"/>
                      <a:pt x="253" y="108"/>
                    </a:cubicBezTo>
                    <a:cubicBezTo>
                      <a:pt x="257" y="115"/>
                      <a:pt x="260" y="123"/>
                      <a:pt x="262" y="131"/>
                    </a:cubicBezTo>
                    <a:cubicBezTo>
                      <a:pt x="263" y="136"/>
                      <a:pt x="268" y="139"/>
                      <a:pt x="272" y="139"/>
                    </a:cubicBezTo>
                    <a:cubicBezTo>
                      <a:pt x="297" y="139"/>
                      <a:pt x="297" y="139"/>
                      <a:pt x="297" y="139"/>
                    </a:cubicBezTo>
                    <a:cubicBezTo>
                      <a:pt x="297" y="142"/>
                      <a:pt x="297" y="146"/>
                      <a:pt x="298" y="149"/>
                    </a:cubicBezTo>
                    <a:cubicBezTo>
                      <a:pt x="298" y="153"/>
                      <a:pt x="298" y="157"/>
                      <a:pt x="298" y="160"/>
                    </a:cubicBezTo>
                    <a:cubicBezTo>
                      <a:pt x="298" y="164"/>
                      <a:pt x="298" y="168"/>
                      <a:pt x="298" y="171"/>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Verdana"/>
                  <a:ea typeface="+mn-ea"/>
                  <a:cs typeface="+mn-cs"/>
                </a:endParaRPr>
              </a:p>
            </p:txBody>
          </p:sp>
          <p:sp>
            <p:nvSpPr>
              <p:cNvPr id="47" name="Freeform 31">
                <a:extLst>
                  <a:ext uri="{FF2B5EF4-FFF2-40B4-BE49-F238E27FC236}">
                    <a16:creationId xmlns:a16="http://schemas.microsoft.com/office/drawing/2014/main" id="{D0A485C2-CE6A-413D-B6A9-37502CAF3187}"/>
                  </a:ext>
                </a:extLst>
              </p:cNvPr>
              <p:cNvSpPr>
                <a:spLocks noEditPoints="1"/>
              </p:cNvSpPr>
              <p:nvPr/>
            </p:nvSpPr>
            <p:spPr bwMode="auto">
              <a:xfrm>
                <a:off x="2997645" y="5999660"/>
                <a:ext cx="91908" cy="91908"/>
              </a:xfrm>
              <a:custGeom>
                <a:avLst/>
                <a:gdLst>
                  <a:gd name="T0" fmla="*/ 64 w 128"/>
                  <a:gd name="T1" fmla="*/ 0 h 128"/>
                  <a:gd name="T2" fmla="*/ 0 w 128"/>
                  <a:gd name="T3" fmla="*/ 64 h 128"/>
                  <a:gd name="T4" fmla="*/ 64 w 128"/>
                  <a:gd name="T5" fmla="*/ 128 h 128"/>
                  <a:gd name="T6" fmla="*/ 128 w 128"/>
                  <a:gd name="T7" fmla="*/ 64 h 128"/>
                  <a:gd name="T8" fmla="*/ 64 w 128"/>
                  <a:gd name="T9" fmla="*/ 0 h 128"/>
                  <a:gd name="T10" fmla="*/ 64 w 128"/>
                  <a:gd name="T11" fmla="*/ 107 h 128"/>
                  <a:gd name="T12" fmla="*/ 21 w 128"/>
                  <a:gd name="T13" fmla="*/ 64 h 128"/>
                  <a:gd name="T14" fmla="*/ 64 w 128"/>
                  <a:gd name="T15" fmla="*/ 21 h 128"/>
                  <a:gd name="T16" fmla="*/ 106 w 128"/>
                  <a:gd name="T17" fmla="*/ 64 h 128"/>
                  <a:gd name="T18" fmla="*/ 64 w 128"/>
                  <a:gd name="T19" fmla="*/ 107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8">
                    <a:moveTo>
                      <a:pt x="64" y="0"/>
                    </a:moveTo>
                    <a:cubicBezTo>
                      <a:pt x="28" y="0"/>
                      <a:pt x="0" y="29"/>
                      <a:pt x="0" y="64"/>
                    </a:cubicBezTo>
                    <a:cubicBezTo>
                      <a:pt x="0" y="99"/>
                      <a:pt x="28" y="128"/>
                      <a:pt x="64" y="128"/>
                    </a:cubicBezTo>
                    <a:cubicBezTo>
                      <a:pt x="99" y="128"/>
                      <a:pt x="128" y="99"/>
                      <a:pt x="128" y="64"/>
                    </a:cubicBezTo>
                    <a:cubicBezTo>
                      <a:pt x="128" y="29"/>
                      <a:pt x="99" y="0"/>
                      <a:pt x="64" y="0"/>
                    </a:cubicBezTo>
                    <a:close/>
                    <a:moveTo>
                      <a:pt x="64" y="107"/>
                    </a:moveTo>
                    <a:cubicBezTo>
                      <a:pt x="40" y="107"/>
                      <a:pt x="21" y="88"/>
                      <a:pt x="21" y="64"/>
                    </a:cubicBezTo>
                    <a:cubicBezTo>
                      <a:pt x="21" y="40"/>
                      <a:pt x="40" y="21"/>
                      <a:pt x="64" y="21"/>
                    </a:cubicBezTo>
                    <a:cubicBezTo>
                      <a:pt x="87" y="21"/>
                      <a:pt x="106" y="40"/>
                      <a:pt x="106" y="64"/>
                    </a:cubicBezTo>
                    <a:cubicBezTo>
                      <a:pt x="106" y="88"/>
                      <a:pt x="87" y="107"/>
                      <a:pt x="64" y="107"/>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Verdana"/>
                  <a:ea typeface="+mn-ea"/>
                  <a:cs typeface="+mn-cs"/>
                </a:endParaRPr>
              </a:p>
            </p:txBody>
          </p:sp>
        </p:grpSp>
        <p:grpSp>
          <p:nvGrpSpPr>
            <p:cNvPr id="22" name="Group 21">
              <a:extLst>
                <a:ext uri="{FF2B5EF4-FFF2-40B4-BE49-F238E27FC236}">
                  <a16:creationId xmlns:a16="http://schemas.microsoft.com/office/drawing/2014/main" id="{B64AE89B-6CA3-42CF-96A6-2159E356682E}"/>
                </a:ext>
              </a:extLst>
            </p:cNvPr>
            <p:cNvGrpSpPr/>
            <p:nvPr/>
          </p:nvGrpSpPr>
          <p:grpSpPr>
            <a:xfrm>
              <a:off x="1396018" y="5428362"/>
              <a:ext cx="212774" cy="304234"/>
              <a:chOff x="1839989" y="5430930"/>
              <a:chExt cx="185925" cy="230504"/>
            </a:xfrm>
          </p:grpSpPr>
          <p:sp>
            <p:nvSpPr>
              <p:cNvPr id="42" name="Freeform 829">
                <a:extLst>
                  <a:ext uri="{FF2B5EF4-FFF2-40B4-BE49-F238E27FC236}">
                    <a16:creationId xmlns:a16="http://schemas.microsoft.com/office/drawing/2014/main" id="{793963CC-309E-4AB8-B91C-14EA479E60F0}"/>
                  </a:ext>
                </a:extLst>
              </p:cNvPr>
              <p:cNvSpPr>
                <a:spLocks noEditPoints="1"/>
              </p:cNvSpPr>
              <p:nvPr/>
            </p:nvSpPr>
            <p:spPr bwMode="auto">
              <a:xfrm>
                <a:off x="1947630" y="5491818"/>
                <a:ext cx="78284" cy="169616"/>
              </a:xfrm>
              <a:custGeom>
                <a:avLst/>
                <a:gdLst>
                  <a:gd name="T0" fmla="*/ 74 w 107"/>
                  <a:gd name="T1" fmla="*/ 8 h 235"/>
                  <a:gd name="T2" fmla="*/ 64 w 107"/>
                  <a:gd name="T3" fmla="*/ 0 h 235"/>
                  <a:gd name="T4" fmla="*/ 43 w 107"/>
                  <a:gd name="T5" fmla="*/ 0 h 235"/>
                  <a:gd name="T6" fmla="*/ 32 w 107"/>
                  <a:gd name="T7" fmla="*/ 8 h 235"/>
                  <a:gd name="T8" fmla="*/ 0 w 107"/>
                  <a:gd name="T9" fmla="*/ 136 h 235"/>
                  <a:gd name="T10" fmla="*/ 2 w 107"/>
                  <a:gd name="T11" fmla="*/ 145 h 235"/>
                  <a:gd name="T12" fmla="*/ 11 w 107"/>
                  <a:gd name="T13" fmla="*/ 149 h 235"/>
                  <a:gd name="T14" fmla="*/ 21 w 107"/>
                  <a:gd name="T15" fmla="*/ 149 h 235"/>
                  <a:gd name="T16" fmla="*/ 21 w 107"/>
                  <a:gd name="T17" fmla="*/ 224 h 235"/>
                  <a:gd name="T18" fmla="*/ 32 w 107"/>
                  <a:gd name="T19" fmla="*/ 235 h 235"/>
                  <a:gd name="T20" fmla="*/ 43 w 107"/>
                  <a:gd name="T21" fmla="*/ 224 h 235"/>
                  <a:gd name="T22" fmla="*/ 43 w 107"/>
                  <a:gd name="T23" fmla="*/ 149 h 235"/>
                  <a:gd name="T24" fmla="*/ 64 w 107"/>
                  <a:gd name="T25" fmla="*/ 149 h 235"/>
                  <a:gd name="T26" fmla="*/ 64 w 107"/>
                  <a:gd name="T27" fmla="*/ 224 h 235"/>
                  <a:gd name="T28" fmla="*/ 75 w 107"/>
                  <a:gd name="T29" fmla="*/ 235 h 235"/>
                  <a:gd name="T30" fmla="*/ 85 w 107"/>
                  <a:gd name="T31" fmla="*/ 224 h 235"/>
                  <a:gd name="T32" fmla="*/ 85 w 107"/>
                  <a:gd name="T33" fmla="*/ 149 h 235"/>
                  <a:gd name="T34" fmla="*/ 96 w 107"/>
                  <a:gd name="T35" fmla="*/ 149 h 235"/>
                  <a:gd name="T36" fmla="*/ 104 w 107"/>
                  <a:gd name="T37" fmla="*/ 145 h 235"/>
                  <a:gd name="T38" fmla="*/ 106 w 107"/>
                  <a:gd name="T39" fmla="*/ 136 h 235"/>
                  <a:gd name="T40" fmla="*/ 74 w 107"/>
                  <a:gd name="T41" fmla="*/ 8 h 235"/>
                  <a:gd name="T42" fmla="*/ 51 w 107"/>
                  <a:gd name="T43" fmla="*/ 21 h 235"/>
                  <a:gd name="T44" fmla="*/ 56 w 107"/>
                  <a:gd name="T45" fmla="*/ 21 h 235"/>
                  <a:gd name="T46" fmla="*/ 82 w 107"/>
                  <a:gd name="T47" fmla="*/ 128 h 235"/>
                  <a:gd name="T48" fmla="*/ 24 w 107"/>
                  <a:gd name="T49" fmla="*/ 128 h 235"/>
                  <a:gd name="T50" fmla="*/ 51 w 107"/>
                  <a:gd name="T51" fmla="*/ 21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7" h="235">
                    <a:moveTo>
                      <a:pt x="74" y="8"/>
                    </a:moveTo>
                    <a:cubicBezTo>
                      <a:pt x="73" y="3"/>
                      <a:pt x="69" y="0"/>
                      <a:pt x="64" y="0"/>
                    </a:cubicBezTo>
                    <a:cubicBezTo>
                      <a:pt x="43" y="0"/>
                      <a:pt x="43" y="0"/>
                      <a:pt x="43" y="0"/>
                    </a:cubicBezTo>
                    <a:cubicBezTo>
                      <a:pt x="38" y="0"/>
                      <a:pt x="34" y="3"/>
                      <a:pt x="32" y="8"/>
                    </a:cubicBezTo>
                    <a:cubicBezTo>
                      <a:pt x="0" y="136"/>
                      <a:pt x="0" y="136"/>
                      <a:pt x="0" y="136"/>
                    </a:cubicBezTo>
                    <a:cubicBezTo>
                      <a:pt x="0" y="139"/>
                      <a:pt x="0" y="143"/>
                      <a:pt x="2" y="145"/>
                    </a:cubicBezTo>
                    <a:cubicBezTo>
                      <a:pt x="4" y="148"/>
                      <a:pt x="7" y="149"/>
                      <a:pt x="11" y="149"/>
                    </a:cubicBezTo>
                    <a:cubicBezTo>
                      <a:pt x="21" y="149"/>
                      <a:pt x="21" y="149"/>
                      <a:pt x="21" y="149"/>
                    </a:cubicBezTo>
                    <a:cubicBezTo>
                      <a:pt x="21" y="224"/>
                      <a:pt x="21" y="224"/>
                      <a:pt x="21" y="224"/>
                    </a:cubicBezTo>
                    <a:cubicBezTo>
                      <a:pt x="21" y="230"/>
                      <a:pt x="26" y="235"/>
                      <a:pt x="32" y="235"/>
                    </a:cubicBezTo>
                    <a:cubicBezTo>
                      <a:pt x="38" y="235"/>
                      <a:pt x="43" y="230"/>
                      <a:pt x="43" y="224"/>
                    </a:cubicBezTo>
                    <a:cubicBezTo>
                      <a:pt x="43" y="149"/>
                      <a:pt x="43" y="149"/>
                      <a:pt x="43" y="149"/>
                    </a:cubicBezTo>
                    <a:cubicBezTo>
                      <a:pt x="64" y="149"/>
                      <a:pt x="64" y="149"/>
                      <a:pt x="64" y="149"/>
                    </a:cubicBezTo>
                    <a:cubicBezTo>
                      <a:pt x="64" y="224"/>
                      <a:pt x="64" y="224"/>
                      <a:pt x="64" y="224"/>
                    </a:cubicBezTo>
                    <a:cubicBezTo>
                      <a:pt x="64" y="230"/>
                      <a:pt x="69" y="235"/>
                      <a:pt x="75" y="235"/>
                    </a:cubicBezTo>
                    <a:cubicBezTo>
                      <a:pt x="81" y="235"/>
                      <a:pt x="85" y="230"/>
                      <a:pt x="85" y="224"/>
                    </a:cubicBezTo>
                    <a:cubicBezTo>
                      <a:pt x="85" y="149"/>
                      <a:pt x="85" y="149"/>
                      <a:pt x="85" y="149"/>
                    </a:cubicBezTo>
                    <a:cubicBezTo>
                      <a:pt x="96" y="149"/>
                      <a:pt x="96" y="149"/>
                      <a:pt x="96" y="149"/>
                    </a:cubicBezTo>
                    <a:cubicBezTo>
                      <a:pt x="99" y="149"/>
                      <a:pt x="102" y="148"/>
                      <a:pt x="104" y="145"/>
                    </a:cubicBezTo>
                    <a:cubicBezTo>
                      <a:pt x="106" y="143"/>
                      <a:pt x="107" y="139"/>
                      <a:pt x="106" y="136"/>
                    </a:cubicBezTo>
                    <a:lnTo>
                      <a:pt x="74" y="8"/>
                    </a:lnTo>
                    <a:close/>
                    <a:moveTo>
                      <a:pt x="51" y="21"/>
                    </a:moveTo>
                    <a:cubicBezTo>
                      <a:pt x="56" y="21"/>
                      <a:pt x="56" y="21"/>
                      <a:pt x="56" y="21"/>
                    </a:cubicBezTo>
                    <a:cubicBezTo>
                      <a:pt x="82" y="128"/>
                      <a:pt x="82" y="128"/>
                      <a:pt x="82" y="128"/>
                    </a:cubicBezTo>
                    <a:cubicBezTo>
                      <a:pt x="24" y="128"/>
                      <a:pt x="24" y="128"/>
                      <a:pt x="24" y="128"/>
                    </a:cubicBezTo>
                    <a:lnTo>
                      <a:pt x="51" y="21"/>
                    </a:ln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Verdana"/>
                  <a:ea typeface="+mn-ea"/>
                  <a:cs typeface="+mn-cs"/>
                </a:endParaRPr>
              </a:p>
            </p:txBody>
          </p:sp>
          <p:sp>
            <p:nvSpPr>
              <p:cNvPr id="43" name="Freeform 830">
                <a:extLst>
                  <a:ext uri="{FF2B5EF4-FFF2-40B4-BE49-F238E27FC236}">
                    <a16:creationId xmlns:a16="http://schemas.microsoft.com/office/drawing/2014/main" id="{F5A83634-F350-4B35-B7B4-CAEE9E3AEC9B}"/>
                  </a:ext>
                </a:extLst>
              </p:cNvPr>
              <p:cNvSpPr>
                <a:spLocks noEditPoints="1"/>
              </p:cNvSpPr>
              <p:nvPr/>
            </p:nvSpPr>
            <p:spPr bwMode="auto">
              <a:xfrm>
                <a:off x="1962852" y="5430930"/>
                <a:ext cx="46753" cy="45666"/>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3 w 64"/>
                  <a:gd name="T13" fmla="*/ 32 h 64"/>
                  <a:gd name="T14" fmla="*/ 32 w 64"/>
                  <a:gd name="T15" fmla="*/ 42 h 64"/>
                  <a:gd name="T16" fmla="*/ 22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50" y="64"/>
                      <a:pt x="64" y="49"/>
                      <a:pt x="64" y="32"/>
                    </a:cubicBezTo>
                    <a:cubicBezTo>
                      <a:pt x="64" y="14"/>
                      <a:pt x="50" y="0"/>
                      <a:pt x="32" y="0"/>
                    </a:cubicBezTo>
                    <a:cubicBezTo>
                      <a:pt x="15" y="0"/>
                      <a:pt x="0" y="14"/>
                      <a:pt x="0" y="32"/>
                    </a:cubicBezTo>
                    <a:cubicBezTo>
                      <a:pt x="0" y="49"/>
                      <a:pt x="15" y="64"/>
                      <a:pt x="32" y="64"/>
                    </a:cubicBezTo>
                    <a:close/>
                    <a:moveTo>
                      <a:pt x="32" y="21"/>
                    </a:moveTo>
                    <a:cubicBezTo>
                      <a:pt x="38" y="21"/>
                      <a:pt x="43" y="26"/>
                      <a:pt x="43" y="32"/>
                    </a:cubicBezTo>
                    <a:cubicBezTo>
                      <a:pt x="43" y="38"/>
                      <a:pt x="38" y="42"/>
                      <a:pt x="32" y="42"/>
                    </a:cubicBezTo>
                    <a:cubicBezTo>
                      <a:pt x="26" y="42"/>
                      <a:pt x="22" y="38"/>
                      <a:pt x="22" y="32"/>
                    </a:cubicBezTo>
                    <a:cubicBezTo>
                      <a:pt x="22" y="26"/>
                      <a:pt x="26" y="21"/>
                      <a:pt x="32" y="21"/>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Verdana"/>
                  <a:ea typeface="+mn-ea"/>
                  <a:cs typeface="+mn-cs"/>
                </a:endParaRPr>
              </a:p>
            </p:txBody>
          </p:sp>
          <p:sp>
            <p:nvSpPr>
              <p:cNvPr id="44" name="Freeform 831">
                <a:extLst>
                  <a:ext uri="{FF2B5EF4-FFF2-40B4-BE49-F238E27FC236}">
                    <a16:creationId xmlns:a16="http://schemas.microsoft.com/office/drawing/2014/main" id="{FF261D86-96C6-4823-AC8F-D89212A9952C}"/>
                  </a:ext>
                </a:extLst>
              </p:cNvPr>
              <p:cNvSpPr>
                <a:spLocks noEditPoints="1"/>
              </p:cNvSpPr>
              <p:nvPr/>
            </p:nvSpPr>
            <p:spPr bwMode="auto">
              <a:xfrm>
                <a:off x="1839989" y="5491818"/>
                <a:ext cx="77197" cy="169616"/>
              </a:xfrm>
              <a:custGeom>
                <a:avLst/>
                <a:gdLst>
                  <a:gd name="T0" fmla="*/ 96 w 106"/>
                  <a:gd name="T1" fmla="*/ 0 h 235"/>
                  <a:gd name="T2" fmla="*/ 10 w 106"/>
                  <a:gd name="T3" fmla="*/ 0 h 235"/>
                  <a:gd name="T4" fmla="*/ 0 w 106"/>
                  <a:gd name="T5" fmla="*/ 11 h 235"/>
                  <a:gd name="T6" fmla="*/ 0 w 106"/>
                  <a:gd name="T7" fmla="*/ 117 h 235"/>
                  <a:gd name="T8" fmla="*/ 10 w 106"/>
                  <a:gd name="T9" fmla="*/ 128 h 235"/>
                  <a:gd name="T10" fmla="*/ 21 w 106"/>
                  <a:gd name="T11" fmla="*/ 128 h 235"/>
                  <a:gd name="T12" fmla="*/ 21 w 106"/>
                  <a:gd name="T13" fmla="*/ 224 h 235"/>
                  <a:gd name="T14" fmla="*/ 32 w 106"/>
                  <a:gd name="T15" fmla="*/ 235 h 235"/>
                  <a:gd name="T16" fmla="*/ 42 w 106"/>
                  <a:gd name="T17" fmla="*/ 224 h 235"/>
                  <a:gd name="T18" fmla="*/ 42 w 106"/>
                  <a:gd name="T19" fmla="*/ 128 h 235"/>
                  <a:gd name="T20" fmla="*/ 64 w 106"/>
                  <a:gd name="T21" fmla="*/ 128 h 235"/>
                  <a:gd name="T22" fmla="*/ 64 w 106"/>
                  <a:gd name="T23" fmla="*/ 224 h 235"/>
                  <a:gd name="T24" fmla="*/ 74 w 106"/>
                  <a:gd name="T25" fmla="*/ 235 h 235"/>
                  <a:gd name="T26" fmla="*/ 85 w 106"/>
                  <a:gd name="T27" fmla="*/ 224 h 235"/>
                  <a:gd name="T28" fmla="*/ 85 w 106"/>
                  <a:gd name="T29" fmla="*/ 128 h 235"/>
                  <a:gd name="T30" fmla="*/ 96 w 106"/>
                  <a:gd name="T31" fmla="*/ 128 h 235"/>
                  <a:gd name="T32" fmla="*/ 106 w 106"/>
                  <a:gd name="T33" fmla="*/ 117 h 235"/>
                  <a:gd name="T34" fmla="*/ 106 w 106"/>
                  <a:gd name="T35" fmla="*/ 11 h 235"/>
                  <a:gd name="T36" fmla="*/ 96 w 106"/>
                  <a:gd name="T37" fmla="*/ 0 h 235"/>
                  <a:gd name="T38" fmla="*/ 85 w 106"/>
                  <a:gd name="T39" fmla="*/ 107 h 235"/>
                  <a:gd name="T40" fmla="*/ 21 w 106"/>
                  <a:gd name="T41" fmla="*/ 107 h 235"/>
                  <a:gd name="T42" fmla="*/ 21 w 106"/>
                  <a:gd name="T43" fmla="*/ 21 h 235"/>
                  <a:gd name="T44" fmla="*/ 85 w 106"/>
                  <a:gd name="T45" fmla="*/ 21 h 235"/>
                  <a:gd name="T46" fmla="*/ 85 w 106"/>
                  <a:gd name="T47" fmla="*/ 107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6" h="235">
                    <a:moveTo>
                      <a:pt x="96" y="0"/>
                    </a:moveTo>
                    <a:cubicBezTo>
                      <a:pt x="10" y="0"/>
                      <a:pt x="10" y="0"/>
                      <a:pt x="10" y="0"/>
                    </a:cubicBezTo>
                    <a:cubicBezTo>
                      <a:pt x="4" y="0"/>
                      <a:pt x="0" y="5"/>
                      <a:pt x="0" y="11"/>
                    </a:cubicBezTo>
                    <a:cubicBezTo>
                      <a:pt x="0" y="117"/>
                      <a:pt x="0" y="117"/>
                      <a:pt x="0" y="117"/>
                    </a:cubicBezTo>
                    <a:cubicBezTo>
                      <a:pt x="0" y="123"/>
                      <a:pt x="4" y="128"/>
                      <a:pt x="10" y="128"/>
                    </a:cubicBezTo>
                    <a:cubicBezTo>
                      <a:pt x="21" y="128"/>
                      <a:pt x="21" y="128"/>
                      <a:pt x="21" y="128"/>
                    </a:cubicBezTo>
                    <a:cubicBezTo>
                      <a:pt x="21" y="224"/>
                      <a:pt x="21" y="224"/>
                      <a:pt x="21" y="224"/>
                    </a:cubicBezTo>
                    <a:cubicBezTo>
                      <a:pt x="21" y="230"/>
                      <a:pt x="26" y="235"/>
                      <a:pt x="32" y="235"/>
                    </a:cubicBezTo>
                    <a:cubicBezTo>
                      <a:pt x="38" y="235"/>
                      <a:pt x="42" y="230"/>
                      <a:pt x="42" y="224"/>
                    </a:cubicBezTo>
                    <a:cubicBezTo>
                      <a:pt x="42" y="128"/>
                      <a:pt x="42" y="128"/>
                      <a:pt x="42" y="128"/>
                    </a:cubicBezTo>
                    <a:cubicBezTo>
                      <a:pt x="64" y="128"/>
                      <a:pt x="64" y="128"/>
                      <a:pt x="64" y="128"/>
                    </a:cubicBezTo>
                    <a:cubicBezTo>
                      <a:pt x="64" y="224"/>
                      <a:pt x="64" y="224"/>
                      <a:pt x="64" y="224"/>
                    </a:cubicBezTo>
                    <a:cubicBezTo>
                      <a:pt x="64" y="230"/>
                      <a:pt x="68" y="235"/>
                      <a:pt x="74" y="235"/>
                    </a:cubicBezTo>
                    <a:cubicBezTo>
                      <a:pt x="80" y="235"/>
                      <a:pt x="85" y="230"/>
                      <a:pt x="85" y="224"/>
                    </a:cubicBezTo>
                    <a:cubicBezTo>
                      <a:pt x="85" y="128"/>
                      <a:pt x="85" y="128"/>
                      <a:pt x="85" y="128"/>
                    </a:cubicBezTo>
                    <a:cubicBezTo>
                      <a:pt x="96" y="128"/>
                      <a:pt x="96" y="128"/>
                      <a:pt x="96" y="128"/>
                    </a:cubicBezTo>
                    <a:cubicBezTo>
                      <a:pt x="102" y="128"/>
                      <a:pt x="106" y="123"/>
                      <a:pt x="106" y="117"/>
                    </a:cubicBezTo>
                    <a:cubicBezTo>
                      <a:pt x="106" y="11"/>
                      <a:pt x="106" y="11"/>
                      <a:pt x="106" y="11"/>
                    </a:cubicBezTo>
                    <a:cubicBezTo>
                      <a:pt x="106" y="5"/>
                      <a:pt x="102" y="0"/>
                      <a:pt x="96" y="0"/>
                    </a:cubicBezTo>
                    <a:close/>
                    <a:moveTo>
                      <a:pt x="85" y="107"/>
                    </a:moveTo>
                    <a:cubicBezTo>
                      <a:pt x="21" y="107"/>
                      <a:pt x="21" y="107"/>
                      <a:pt x="21" y="107"/>
                    </a:cubicBezTo>
                    <a:cubicBezTo>
                      <a:pt x="21" y="21"/>
                      <a:pt x="21" y="21"/>
                      <a:pt x="21" y="21"/>
                    </a:cubicBezTo>
                    <a:cubicBezTo>
                      <a:pt x="85" y="21"/>
                      <a:pt x="85" y="21"/>
                      <a:pt x="85" y="21"/>
                    </a:cubicBezTo>
                    <a:lnTo>
                      <a:pt x="85" y="107"/>
                    </a:ln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Verdana"/>
                  <a:ea typeface="+mn-ea"/>
                  <a:cs typeface="+mn-cs"/>
                </a:endParaRPr>
              </a:p>
            </p:txBody>
          </p:sp>
          <p:sp>
            <p:nvSpPr>
              <p:cNvPr id="45" name="Freeform 832">
                <a:extLst>
                  <a:ext uri="{FF2B5EF4-FFF2-40B4-BE49-F238E27FC236}">
                    <a16:creationId xmlns:a16="http://schemas.microsoft.com/office/drawing/2014/main" id="{F662FA41-1961-490D-9C62-3C3D58CAF8EC}"/>
                  </a:ext>
                </a:extLst>
              </p:cNvPr>
              <p:cNvSpPr>
                <a:spLocks noEditPoints="1"/>
              </p:cNvSpPr>
              <p:nvPr/>
            </p:nvSpPr>
            <p:spPr bwMode="auto">
              <a:xfrm>
                <a:off x="1855211" y="5430930"/>
                <a:ext cx="46753" cy="45666"/>
              </a:xfrm>
              <a:custGeom>
                <a:avLst/>
                <a:gdLst>
                  <a:gd name="T0" fmla="*/ 32 w 64"/>
                  <a:gd name="T1" fmla="*/ 64 h 64"/>
                  <a:gd name="T2" fmla="*/ 64 w 64"/>
                  <a:gd name="T3" fmla="*/ 32 h 64"/>
                  <a:gd name="T4" fmla="*/ 32 w 64"/>
                  <a:gd name="T5" fmla="*/ 0 h 64"/>
                  <a:gd name="T6" fmla="*/ 0 w 64"/>
                  <a:gd name="T7" fmla="*/ 32 h 64"/>
                  <a:gd name="T8" fmla="*/ 32 w 64"/>
                  <a:gd name="T9" fmla="*/ 64 h 64"/>
                  <a:gd name="T10" fmla="*/ 32 w 64"/>
                  <a:gd name="T11" fmla="*/ 21 h 64"/>
                  <a:gd name="T12" fmla="*/ 43 w 64"/>
                  <a:gd name="T13" fmla="*/ 32 h 64"/>
                  <a:gd name="T14" fmla="*/ 32 w 64"/>
                  <a:gd name="T15" fmla="*/ 42 h 64"/>
                  <a:gd name="T16" fmla="*/ 21 w 64"/>
                  <a:gd name="T17" fmla="*/ 32 h 64"/>
                  <a:gd name="T18" fmla="*/ 32 w 64"/>
                  <a:gd name="T19"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64"/>
                    </a:moveTo>
                    <a:cubicBezTo>
                      <a:pt x="50" y="64"/>
                      <a:pt x="64" y="49"/>
                      <a:pt x="64" y="32"/>
                    </a:cubicBezTo>
                    <a:cubicBezTo>
                      <a:pt x="64" y="14"/>
                      <a:pt x="50" y="0"/>
                      <a:pt x="32" y="0"/>
                    </a:cubicBezTo>
                    <a:cubicBezTo>
                      <a:pt x="14" y="0"/>
                      <a:pt x="0" y="14"/>
                      <a:pt x="0" y="32"/>
                    </a:cubicBezTo>
                    <a:cubicBezTo>
                      <a:pt x="0" y="49"/>
                      <a:pt x="14" y="64"/>
                      <a:pt x="32" y="64"/>
                    </a:cubicBezTo>
                    <a:close/>
                    <a:moveTo>
                      <a:pt x="32" y="21"/>
                    </a:moveTo>
                    <a:cubicBezTo>
                      <a:pt x="38" y="21"/>
                      <a:pt x="43" y="26"/>
                      <a:pt x="43" y="32"/>
                    </a:cubicBezTo>
                    <a:cubicBezTo>
                      <a:pt x="43" y="38"/>
                      <a:pt x="38" y="42"/>
                      <a:pt x="32" y="42"/>
                    </a:cubicBezTo>
                    <a:cubicBezTo>
                      <a:pt x="26" y="42"/>
                      <a:pt x="21" y="38"/>
                      <a:pt x="21" y="32"/>
                    </a:cubicBezTo>
                    <a:cubicBezTo>
                      <a:pt x="21" y="26"/>
                      <a:pt x="26" y="21"/>
                      <a:pt x="32" y="21"/>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Verdana"/>
                  <a:ea typeface="+mn-ea"/>
                  <a:cs typeface="+mn-cs"/>
                </a:endParaRPr>
              </a:p>
            </p:txBody>
          </p:sp>
        </p:grpSp>
        <p:grpSp>
          <p:nvGrpSpPr>
            <p:cNvPr id="23" name="Group 22">
              <a:extLst>
                <a:ext uri="{FF2B5EF4-FFF2-40B4-BE49-F238E27FC236}">
                  <a16:creationId xmlns:a16="http://schemas.microsoft.com/office/drawing/2014/main" id="{CB49FC54-AAA1-487B-9556-52E367C172E8}"/>
                </a:ext>
              </a:extLst>
            </p:cNvPr>
            <p:cNvGrpSpPr/>
            <p:nvPr/>
          </p:nvGrpSpPr>
          <p:grpSpPr>
            <a:xfrm>
              <a:off x="3378789" y="5446293"/>
              <a:ext cx="220349" cy="268002"/>
              <a:chOff x="4185221" y="5416943"/>
              <a:chExt cx="198953" cy="178409"/>
            </a:xfrm>
          </p:grpSpPr>
          <p:sp>
            <p:nvSpPr>
              <p:cNvPr id="40" name="Freeform 981">
                <a:extLst>
                  <a:ext uri="{FF2B5EF4-FFF2-40B4-BE49-F238E27FC236}">
                    <a16:creationId xmlns:a16="http://schemas.microsoft.com/office/drawing/2014/main" id="{05DC6506-02CC-4830-9C64-00DB3C353ED5}"/>
                  </a:ext>
                </a:extLst>
              </p:cNvPr>
              <p:cNvSpPr>
                <a:spLocks/>
              </p:cNvSpPr>
              <p:nvPr/>
            </p:nvSpPr>
            <p:spPr bwMode="auto">
              <a:xfrm>
                <a:off x="4185221" y="5580214"/>
                <a:ext cx="107045" cy="15138"/>
              </a:xfrm>
              <a:custGeom>
                <a:avLst/>
                <a:gdLst>
                  <a:gd name="T0" fmla="*/ 139 w 149"/>
                  <a:gd name="T1" fmla="*/ 0 h 21"/>
                  <a:gd name="T2" fmla="*/ 11 w 149"/>
                  <a:gd name="T3" fmla="*/ 0 h 21"/>
                  <a:gd name="T4" fmla="*/ 0 w 149"/>
                  <a:gd name="T5" fmla="*/ 10 h 21"/>
                  <a:gd name="T6" fmla="*/ 11 w 149"/>
                  <a:gd name="T7" fmla="*/ 21 h 21"/>
                  <a:gd name="T8" fmla="*/ 139 w 149"/>
                  <a:gd name="T9" fmla="*/ 21 h 21"/>
                  <a:gd name="T10" fmla="*/ 149 w 149"/>
                  <a:gd name="T11" fmla="*/ 10 h 21"/>
                  <a:gd name="T12" fmla="*/ 139 w 149"/>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9" h="21">
                    <a:moveTo>
                      <a:pt x="139" y="0"/>
                    </a:moveTo>
                    <a:cubicBezTo>
                      <a:pt x="11" y="0"/>
                      <a:pt x="11" y="0"/>
                      <a:pt x="11" y="0"/>
                    </a:cubicBezTo>
                    <a:cubicBezTo>
                      <a:pt x="5" y="0"/>
                      <a:pt x="0" y="4"/>
                      <a:pt x="0" y="10"/>
                    </a:cubicBezTo>
                    <a:cubicBezTo>
                      <a:pt x="0" y="16"/>
                      <a:pt x="5" y="21"/>
                      <a:pt x="11" y="21"/>
                    </a:cubicBezTo>
                    <a:cubicBezTo>
                      <a:pt x="139" y="21"/>
                      <a:pt x="139" y="21"/>
                      <a:pt x="139" y="21"/>
                    </a:cubicBezTo>
                    <a:cubicBezTo>
                      <a:pt x="145" y="21"/>
                      <a:pt x="149" y="16"/>
                      <a:pt x="149" y="10"/>
                    </a:cubicBezTo>
                    <a:cubicBezTo>
                      <a:pt x="149" y="4"/>
                      <a:pt x="145" y="0"/>
                      <a:pt x="139" y="0"/>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Verdana"/>
                  <a:ea typeface="+mn-ea"/>
                  <a:cs typeface="+mn-cs"/>
                </a:endParaRPr>
              </a:p>
            </p:txBody>
          </p:sp>
          <p:sp>
            <p:nvSpPr>
              <p:cNvPr id="41" name="Freeform 982">
                <a:extLst>
                  <a:ext uri="{FF2B5EF4-FFF2-40B4-BE49-F238E27FC236}">
                    <a16:creationId xmlns:a16="http://schemas.microsoft.com/office/drawing/2014/main" id="{0C320229-D900-48BF-8389-6ABFEE441C04}"/>
                  </a:ext>
                </a:extLst>
              </p:cNvPr>
              <p:cNvSpPr>
                <a:spLocks noEditPoints="1"/>
              </p:cNvSpPr>
              <p:nvPr/>
            </p:nvSpPr>
            <p:spPr bwMode="auto">
              <a:xfrm>
                <a:off x="4206846" y="5416943"/>
                <a:ext cx="177328" cy="178409"/>
              </a:xfrm>
              <a:custGeom>
                <a:avLst/>
                <a:gdLst>
                  <a:gd name="T0" fmla="*/ 244 w 248"/>
                  <a:gd name="T1" fmla="*/ 230 h 248"/>
                  <a:gd name="T2" fmla="*/ 148 w 248"/>
                  <a:gd name="T3" fmla="*/ 132 h 248"/>
                  <a:gd name="T4" fmla="*/ 148 w 248"/>
                  <a:gd name="T5" fmla="*/ 132 h 248"/>
                  <a:gd name="T6" fmla="*/ 185 w 248"/>
                  <a:gd name="T7" fmla="*/ 95 h 248"/>
                  <a:gd name="T8" fmla="*/ 193 w 248"/>
                  <a:gd name="T9" fmla="*/ 98 h 248"/>
                  <a:gd name="T10" fmla="*/ 200 w 248"/>
                  <a:gd name="T11" fmla="*/ 95 h 248"/>
                  <a:gd name="T12" fmla="*/ 200 w 248"/>
                  <a:gd name="T13" fmla="*/ 79 h 248"/>
                  <a:gd name="T14" fmla="*/ 125 w 248"/>
                  <a:gd name="T15" fmla="*/ 4 h 248"/>
                  <a:gd name="T16" fmla="*/ 110 w 248"/>
                  <a:gd name="T17" fmla="*/ 4 h 248"/>
                  <a:gd name="T18" fmla="*/ 110 w 248"/>
                  <a:gd name="T19" fmla="*/ 19 h 248"/>
                  <a:gd name="T20" fmla="*/ 19 w 248"/>
                  <a:gd name="T21" fmla="*/ 110 h 248"/>
                  <a:gd name="T22" fmla="*/ 4 w 248"/>
                  <a:gd name="T23" fmla="*/ 110 h 248"/>
                  <a:gd name="T24" fmla="*/ 4 w 248"/>
                  <a:gd name="T25" fmla="*/ 125 h 248"/>
                  <a:gd name="T26" fmla="*/ 80 w 248"/>
                  <a:gd name="T27" fmla="*/ 200 h 248"/>
                  <a:gd name="T28" fmla="*/ 87 w 248"/>
                  <a:gd name="T29" fmla="*/ 203 h 248"/>
                  <a:gd name="T30" fmla="*/ 95 w 248"/>
                  <a:gd name="T31" fmla="*/ 200 h 248"/>
                  <a:gd name="T32" fmla="*/ 95 w 248"/>
                  <a:gd name="T33" fmla="*/ 185 h 248"/>
                  <a:gd name="T34" fmla="*/ 95 w 248"/>
                  <a:gd name="T35" fmla="*/ 185 h 248"/>
                  <a:gd name="T36" fmla="*/ 132 w 248"/>
                  <a:gd name="T37" fmla="*/ 147 h 248"/>
                  <a:gd name="T38" fmla="*/ 229 w 248"/>
                  <a:gd name="T39" fmla="*/ 245 h 248"/>
                  <a:gd name="T40" fmla="*/ 237 w 248"/>
                  <a:gd name="T41" fmla="*/ 248 h 248"/>
                  <a:gd name="T42" fmla="*/ 244 w 248"/>
                  <a:gd name="T43" fmla="*/ 245 h 248"/>
                  <a:gd name="T44" fmla="*/ 244 w 248"/>
                  <a:gd name="T45" fmla="*/ 230 h 248"/>
                  <a:gd name="T46" fmla="*/ 34 w 248"/>
                  <a:gd name="T47" fmla="*/ 125 h 248"/>
                  <a:gd name="T48" fmla="*/ 125 w 248"/>
                  <a:gd name="T49" fmla="*/ 34 h 248"/>
                  <a:gd name="T50" fmla="*/ 170 w 248"/>
                  <a:gd name="T51" fmla="*/ 79 h 248"/>
                  <a:gd name="T52" fmla="*/ 80 w 248"/>
                  <a:gd name="T53" fmla="*/ 170 h 248"/>
                  <a:gd name="T54" fmla="*/ 34 w 248"/>
                  <a:gd name="T55" fmla="*/ 125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8" h="248">
                    <a:moveTo>
                      <a:pt x="244" y="230"/>
                    </a:moveTo>
                    <a:cubicBezTo>
                      <a:pt x="148" y="132"/>
                      <a:pt x="148" y="132"/>
                      <a:pt x="148" y="132"/>
                    </a:cubicBezTo>
                    <a:cubicBezTo>
                      <a:pt x="148" y="132"/>
                      <a:pt x="148" y="132"/>
                      <a:pt x="148" y="132"/>
                    </a:cubicBezTo>
                    <a:cubicBezTo>
                      <a:pt x="185" y="95"/>
                      <a:pt x="185" y="95"/>
                      <a:pt x="185" y="95"/>
                    </a:cubicBezTo>
                    <a:cubicBezTo>
                      <a:pt x="187" y="97"/>
                      <a:pt x="190" y="98"/>
                      <a:pt x="193" y="98"/>
                    </a:cubicBezTo>
                    <a:cubicBezTo>
                      <a:pt x="196" y="98"/>
                      <a:pt x="198" y="97"/>
                      <a:pt x="200" y="95"/>
                    </a:cubicBezTo>
                    <a:cubicBezTo>
                      <a:pt x="205" y="90"/>
                      <a:pt x="205" y="84"/>
                      <a:pt x="200" y="79"/>
                    </a:cubicBezTo>
                    <a:cubicBezTo>
                      <a:pt x="125" y="4"/>
                      <a:pt x="125" y="4"/>
                      <a:pt x="125" y="4"/>
                    </a:cubicBezTo>
                    <a:cubicBezTo>
                      <a:pt x="121" y="0"/>
                      <a:pt x="114" y="0"/>
                      <a:pt x="110" y="4"/>
                    </a:cubicBezTo>
                    <a:cubicBezTo>
                      <a:pt x="106" y="8"/>
                      <a:pt x="106" y="15"/>
                      <a:pt x="110" y="19"/>
                    </a:cubicBezTo>
                    <a:cubicBezTo>
                      <a:pt x="19" y="110"/>
                      <a:pt x="19" y="110"/>
                      <a:pt x="19" y="110"/>
                    </a:cubicBezTo>
                    <a:cubicBezTo>
                      <a:pt x="15" y="105"/>
                      <a:pt x="8" y="105"/>
                      <a:pt x="4" y="110"/>
                    </a:cubicBezTo>
                    <a:cubicBezTo>
                      <a:pt x="0" y="114"/>
                      <a:pt x="0" y="121"/>
                      <a:pt x="4" y="125"/>
                    </a:cubicBezTo>
                    <a:cubicBezTo>
                      <a:pt x="80" y="200"/>
                      <a:pt x="80" y="200"/>
                      <a:pt x="80" y="200"/>
                    </a:cubicBezTo>
                    <a:cubicBezTo>
                      <a:pt x="82" y="202"/>
                      <a:pt x="84" y="203"/>
                      <a:pt x="87" y="203"/>
                    </a:cubicBezTo>
                    <a:cubicBezTo>
                      <a:pt x="90" y="203"/>
                      <a:pt x="93" y="202"/>
                      <a:pt x="95" y="200"/>
                    </a:cubicBezTo>
                    <a:cubicBezTo>
                      <a:pt x="99" y="196"/>
                      <a:pt x="99" y="189"/>
                      <a:pt x="95" y="185"/>
                    </a:cubicBezTo>
                    <a:cubicBezTo>
                      <a:pt x="95" y="185"/>
                      <a:pt x="95" y="185"/>
                      <a:pt x="95" y="185"/>
                    </a:cubicBezTo>
                    <a:cubicBezTo>
                      <a:pt x="132" y="147"/>
                      <a:pt x="132" y="147"/>
                      <a:pt x="132" y="147"/>
                    </a:cubicBezTo>
                    <a:cubicBezTo>
                      <a:pt x="229" y="245"/>
                      <a:pt x="229" y="245"/>
                      <a:pt x="229" y="245"/>
                    </a:cubicBezTo>
                    <a:cubicBezTo>
                      <a:pt x="231" y="247"/>
                      <a:pt x="234" y="248"/>
                      <a:pt x="237" y="248"/>
                    </a:cubicBezTo>
                    <a:cubicBezTo>
                      <a:pt x="239" y="248"/>
                      <a:pt x="242" y="247"/>
                      <a:pt x="244" y="245"/>
                    </a:cubicBezTo>
                    <a:cubicBezTo>
                      <a:pt x="248" y="241"/>
                      <a:pt x="248" y="234"/>
                      <a:pt x="244" y="230"/>
                    </a:cubicBezTo>
                    <a:close/>
                    <a:moveTo>
                      <a:pt x="34" y="125"/>
                    </a:moveTo>
                    <a:cubicBezTo>
                      <a:pt x="125" y="34"/>
                      <a:pt x="125" y="34"/>
                      <a:pt x="125" y="34"/>
                    </a:cubicBezTo>
                    <a:cubicBezTo>
                      <a:pt x="170" y="79"/>
                      <a:pt x="170" y="79"/>
                      <a:pt x="170" y="79"/>
                    </a:cubicBezTo>
                    <a:cubicBezTo>
                      <a:pt x="80" y="170"/>
                      <a:pt x="80" y="170"/>
                      <a:pt x="80" y="170"/>
                    </a:cubicBezTo>
                    <a:lnTo>
                      <a:pt x="34" y="125"/>
                    </a:ln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Verdana"/>
                  <a:ea typeface="+mn-ea"/>
                  <a:cs typeface="+mn-cs"/>
                </a:endParaRPr>
              </a:p>
            </p:txBody>
          </p:sp>
        </p:grpSp>
        <p:grpSp>
          <p:nvGrpSpPr>
            <p:cNvPr id="24" name="Group 23">
              <a:extLst>
                <a:ext uri="{FF2B5EF4-FFF2-40B4-BE49-F238E27FC236}">
                  <a16:creationId xmlns:a16="http://schemas.microsoft.com/office/drawing/2014/main" id="{EBA46201-6A2B-42C7-B490-12A15C2319D1}"/>
                </a:ext>
              </a:extLst>
            </p:cNvPr>
            <p:cNvGrpSpPr/>
            <p:nvPr/>
          </p:nvGrpSpPr>
          <p:grpSpPr>
            <a:xfrm>
              <a:off x="5402631" y="5668375"/>
              <a:ext cx="441285" cy="356328"/>
              <a:chOff x="6481540" y="5646242"/>
              <a:chExt cx="233765" cy="148958"/>
            </a:xfrm>
          </p:grpSpPr>
          <p:sp>
            <p:nvSpPr>
              <p:cNvPr id="38" name="Freeform 751">
                <a:extLst>
                  <a:ext uri="{FF2B5EF4-FFF2-40B4-BE49-F238E27FC236}">
                    <a16:creationId xmlns:a16="http://schemas.microsoft.com/office/drawing/2014/main" id="{F20C473C-18C0-4F7D-8EC0-68DBF8D6E2E9}"/>
                  </a:ext>
                </a:extLst>
              </p:cNvPr>
              <p:cNvSpPr>
                <a:spLocks/>
              </p:cNvSpPr>
              <p:nvPr/>
            </p:nvSpPr>
            <p:spPr bwMode="auto">
              <a:xfrm>
                <a:off x="6481540" y="5646242"/>
                <a:ext cx="156569" cy="148958"/>
              </a:xfrm>
              <a:custGeom>
                <a:avLst/>
                <a:gdLst>
                  <a:gd name="T0" fmla="*/ 209 w 216"/>
                  <a:gd name="T1" fmla="*/ 187 h 207"/>
                  <a:gd name="T2" fmla="*/ 171 w 216"/>
                  <a:gd name="T3" fmla="*/ 179 h 207"/>
                  <a:gd name="T4" fmla="*/ 156 w 216"/>
                  <a:gd name="T5" fmla="*/ 177 h 207"/>
                  <a:gd name="T6" fmla="*/ 145 w 216"/>
                  <a:gd name="T7" fmla="*/ 147 h 207"/>
                  <a:gd name="T8" fmla="*/ 167 w 216"/>
                  <a:gd name="T9" fmla="*/ 96 h 207"/>
                  <a:gd name="T10" fmla="*/ 157 w 216"/>
                  <a:gd name="T11" fmla="*/ 22 h 207"/>
                  <a:gd name="T12" fmla="*/ 108 w 216"/>
                  <a:gd name="T13" fmla="*/ 0 h 207"/>
                  <a:gd name="T14" fmla="*/ 59 w 216"/>
                  <a:gd name="T15" fmla="*/ 22 h 207"/>
                  <a:gd name="T16" fmla="*/ 50 w 216"/>
                  <a:gd name="T17" fmla="*/ 96 h 207"/>
                  <a:gd name="T18" fmla="*/ 72 w 216"/>
                  <a:gd name="T19" fmla="*/ 147 h 207"/>
                  <a:gd name="T20" fmla="*/ 61 w 216"/>
                  <a:gd name="T21" fmla="*/ 177 h 207"/>
                  <a:gd name="T22" fmla="*/ 45 w 216"/>
                  <a:gd name="T23" fmla="*/ 179 h 207"/>
                  <a:gd name="T24" fmla="*/ 8 w 216"/>
                  <a:gd name="T25" fmla="*/ 187 h 207"/>
                  <a:gd name="T26" fmla="*/ 3 w 216"/>
                  <a:gd name="T27" fmla="*/ 201 h 207"/>
                  <a:gd name="T28" fmla="*/ 12 w 216"/>
                  <a:gd name="T29" fmla="*/ 207 h 207"/>
                  <a:gd name="T30" fmla="*/ 17 w 216"/>
                  <a:gd name="T31" fmla="*/ 206 h 207"/>
                  <a:gd name="T32" fmla="*/ 46 w 216"/>
                  <a:gd name="T33" fmla="*/ 200 h 207"/>
                  <a:gd name="T34" fmla="*/ 71 w 216"/>
                  <a:gd name="T35" fmla="*/ 195 h 207"/>
                  <a:gd name="T36" fmla="*/ 91 w 216"/>
                  <a:gd name="T37" fmla="*/ 162 h 207"/>
                  <a:gd name="T38" fmla="*/ 90 w 216"/>
                  <a:gd name="T39" fmla="*/ 135 h 207"/>
                  <a:gd name="T40" fmla="*/ 71 w 216"/>
                  <a:gd name="T41" fmla="*/ 91 h 207"/>
                  <a:gd name="T42" fmla="*/ 76 w 216"/>
                  <a:gd name="T43" fmla="*/ 36 h 207"/>
                  <a:gd name="T44" fmla="*/ 108 w 216"/>
                  <a:gd name="T45" fmla="*/ 22 h 207"/>
                  <a:gd name="T46" fmla="*/ 108 w 216"/>
                  <a:gd name="T47" fmla="*/ 21 h 207"/>
                  <a:gd name="T48" fmla="*/ 109 w 216"/>
                  <a:gd name="T49" fmla="*/ 22 h 207"/>
                  <a:gd name="T50" fmla="*/ 141 w 216"/>
                  <a:gd name="T51" fmla="*/ 36 h 207"/>
                  <a:gd name="T52" fmla="*/ 146 w 216"/>
                  <a:gd name="T53" fmla="*/ 91 h 207"/>
                  <a:gd name="T54" fmla="*/ 127 w 216"/>
                  <a:gd name="T55" fmla="*/ 135 h 207"/>
                  <a:gd name="T56" fmla="*/ 125 w 216"/>
                  <a:gd name="T57" fmla="*/ 162 h 207"/>
                  <a:gd name="T58" fmla="*/ 146 w 216"/>
                  <a:gd name="T59" fmla="*/ 195 h 207"/>
                  <a:gd name="T60" fmla="*/ 170 w 216"/>
                  <a:gd name="T61" fmla="*/ 200 h 207"/>
                  <a:gd name="T62" fmla="*/ 200 w 216"/>
                  <a:gd name="T63" fmla="*/ 206 h 207"/>
                  <a:gd name="T64" fmla="*/ 204 w 216"/>
                  <a:gd name="T65" fmla="*/ 207 h 207"/>
                  <a:gd name="T66" fmla="*/ 214 w 216"/>
                  <a:gd name="T67" fmla="*/ 201 h 207"/>
                  <a:gd name="T68" fmla="*/ 209 w 216"/>
                  <a:gd name="T69" fmla="*/ 187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6" h="207">
                    <a:moveTo>
                      <a:pt x="209" y="187"/>
                    </a:moveTo>
                    <a:cubicBezTo>
                      <a:pt x="194" y="180"/>
                      <a:pt x="182" y="180"/>
                      <a:pt x="171" y="179"/>
                    </a:cubicBezTo>
                    <a:cubicBezTo>
                      <a:pt x="165" y="179"/>
                      <a:pt x="159" y="179"/>
                      <a:pt x="156" y="177"/>
                    </a:cubicBezTo>
                    <a:cubicBezTo>
                      <a:pt x="149" y="173"/>
                      <a:pt x="143" y="153"/>
                      <a:pt x="145" y="147"/>
                    </a:cubicBezTo>
                    <a:cubicBezTo>
                      <a:pt x="153" y="134"/>
                      <a:pt x="162" y="114"/>
                      <a:pt x="167" y="96"/>
                    </a:cubicBezTo>
                    <a:cubicBezTo>
                      <a:pt x="174" y="64"/>
                      <a:pt x="171" y="39"/>
                      <a:pt x="157" y="22"/>
                    </a:cubicBezTo>
                    <a:cubicBezTo>
                      <a:pt x="139" y="0"/>
                      <a:pt x="111" y="0"/>
                      <a:pt x="108" y="0"/>
                    </a:cubicBezTo>
                    <a:cubicBezTo>
                      <a:pt x="106" y="0"/>
                      <a:pt x="77" y="0"/>
                      <a:pt x="59" y="22"/>
                    </a:cubicBezTo>
                    <a:cubicBezTo>
                      <a:pt x="45" y="39"/>
                      <a:pt x="42" y="64"/>
                      <a:pt x="50" y="96"/>
                    </a:cubicBezTo>
                    <a:cubicBezTo>
                      <a:pt x="54" y="114"/>
                      <a:pt x="63" y="134"/>
                      <a:pt x="72" y="147"/>
                    </a:cubicBezTo>
                    <a:cubicBezTo>
                      <a:pt x="73" y="153"/>
                      <a:pt x="67" y="173"/>
                      <a:pt x="61" y="177"/>
                    </a:cubicBezTo>
                    <a:cubicBezTo>
                      <a:pt x="57" y="179"/>
                      <a:pt x="52" y="179"/>
                      <a:pt x="45" y="179"/>
                    </a:cubicBezTo>
                    <a:cubicBezTo>
                      <a:pt x="35" y="180"/>
                      <a:pt x="22" y="180"/>
                      <a:pt x="8" y="187"/>
                    </a:cubicBezTo>
                    <a:cubicBezTo>
                      <a:pt x="2" y="189"/>
                      <a:pt x="0" y="196"/>
                      <a:pt x="3" y="201"/>
                    </a:cubicBezTo>
                    <a:cubicBezTo>
                      <a:pt x="4" y="205"/>
                      <a:pt x="8" y="207"/>
                      <a:pt x="12" y="207"/>
                    </a:cubicBezTo>
                    <a:cubicBezTo>
                      <a:pt x="14" y="207"/>
                      <a:pt x="15" y="207"/>
                      <a:pt x="17" y="206"/>
                    </a:cubicBezTo>
                    <a:cubicBezTo>
                      <a:pt x="28" y="201"/>
                      <a:pt x="37" y="201"/>
                      <a:pt x="46" y="200"/>
                    </a:cubicBezTo>
                    <a:cubicBezTo>
                      <a:pt x="55" y="200"/>
                      <a:pt x="63" y="200"/>
                      <a:pt x="71" y="195"/>
                    </a:cubicBezTo>
                    <a:cubicBezTo>
                      <a:pt x="85" y="188"/>
                      <a:pt x="90" y="168"/>
                      <a:pt x="91" y="162"/>
                    </a:cubicBezTo>
                    <a:cubicBezTo>
                      <a:pt x="93" y="153"/>
                      <a:pt x="95" y="142"/>
                      <a:pt x="90" y="135"/>
                    </a:cubicBezTo>
                    <a:cubicBezTo>
                      <a:pt x="82" y="125"/>
                      <a:pt x="74" y="106"/>
                      <a:pt x="71" y="91"/>
                    </a:cubicBezTo>
                    <a:cubicBezTo>
                      <a:pt x="65" y="66"/>
                      <a:pt x="66" y="47"/>
                      <a:pt x="76" y="36"/>
                    </a:cubicBezTo>
                    <a:cubicBezTo>
                      <a:pt x="87" y="21"/>
                      <a:pt x="108" y="22"/>
                      <a:pt x="108" y="22"/>
                    </a:cubicBezTo>
                    <a:cubicBezTo>
                      <a:pt x="108" y="22"/>
                      <a:pt x="108" y="21"/>
                      <a:pt x="108" y="21"/>
                    </a:cubicBezTo>
                    <a:cubicBezTo>
                      <a:pt x="108" y="21"/>
                      <a:pt x="108" y="22"/>
                      <a:pt x="109" y="22"/>
                    </a:cubicBezTo>
                    <a:cubicBezTo>
                      <a:pt x="109" y="22"/>
                      <a:pt x="129" y="21"/>
                      <a:pt x="141" y="36"/>
                    </a:cubicBezTo>
                    <a:cubicBezTo>
                      <a:pt x="150" y="47"/>
                      <a:pt x="152" y="66"/>
                      <a:pt x="146" y="91"/>
                    </a:cubicBezTo>
                    <a:cubicBezTo>
                      <a:pt x="142" y="106"/>
                      <a:pt x="134" y="125"/>
                      <a:pt x="127" y="135"/>
                    </a:cubicBezTo>
                    <a:cubicBezTo>
                      <a:pt x="122" y="142"/>
                      <a:pt x="123" y="153"/>
                      <a:pt x="125" y="162"/>
                    </a:cubicBezTo>
                    <a:cubicBezTo>
                      <a:pt x="126" y="168"/>
                      <a:pt x="132" y="188"/>
                      <a:pt x="146" y="195"/>
                    </a:cubicBezTo>
                    <a:cubicBezTo>
                      <a:pt x="154" y="200"/>
                      <a:pt x="162" y="200"/>
                      <a:pt x="170" y="200"/>
                    </a:cubicBezTo>
                    <a:cubicBezTo>
                      <a:pt x="179" y="201"/>
                      <a:pt x="189" y="201"/>
                      <a:pt x="200" y="206"/>
                    </a:cubicBezTo>
                    <a:cubicBezTo>
                      <a:pt x="201" y="207"/>
                      <a:pt x="203" y="207"/>
                      <a:pt x="204" y="207"/>
                    </a:cubicBezTo>
                    <a:cubicBezTo>
                      <a:pt x="208" y="207"/>
                      <a:pt x="212" y="205"/>
                      <a:pt x="214" y="201"/>
                    </a:cubicBezTo>
                    <a:cubicBezTo>
                      <a:pt x="216" y="196"/>
                      <a:pt x="214" y="189"/>
                      <a:pt x="209" y="187"/>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Verdana"/>
                  <a:ea typeface="+mn-ea"/>
                  <a:cs typeface="+mn-cs"/>
                </a:endParaRPr>
              </a:p>
            </p:txBody>
          </p:sp>
          <p:sp>
            <p:nvSpPr>
              <p:cNvPr id="39" name="Freeform 752">
                <a:extLst>
                  <a:ext uri="{FF2B5EF4-FFF2-40B4-BE49-F238E27FC236}">
                    <a16:creationId xmlns:a16="http://schemas.microsoft.com/office/drawing/2014/main" id="{A30F02C0-728E-48B1-9A21-93AD2D681928}"/>
                  </a:ext>
                </a:extLst>
              </p:cNvPr>
              <p:cNvSpPr>
                <a:spLocks/>
              </p:cNvSpPr>
              <p:nvPr/>
            </p:nvSpPr>
            <p:spPr bwMode="auto">
              <a:xfrm>
                <a:off x="6612013" y="5660377"/>
                <a:ext cx="103292" cy="120688"/>
              </a:xfrm>
              <a:custGeom>
                <a:avLst/>
                <a:gdLst>
                  <a:gd name="T0" fmla="*/ 136 w 143"/>
                  <a:gd name="T1" fmla="*/ 147 h 167"/>
                  <a:gd name="T2" fmla="*/ 109 w 143"/>
                  <a:gd name="T3" fmla="*/ 139 h 167"/>
                  <a:gd name="T4" fmla="*/ 95 w 143"/>
                  <a:gd name="T5" fmla="*/ 136 h 167"/>
                  <a:gd name="T6" fmla="*/ 89 w 143"/>
                  <a:gd name="T7" fmla="*/ 118 h 167"/>
                  <a:gd name="T8" fmla="*/ 106 w 143"/>
                  <a:gd name="T9" fmla="*/ 78 h 167"/>
                  <a:gd name="T10" fmla="*/ 99 w 143"/>
                  <a:gd name="T11" fmla="*/ 20 h 167"/>
                  <a:gd name="T12" fmla="*/ 56 w 143"/>
                  <a:gd name="T13" fmla="*/ 1 h 167"/>
                  <a:gd name="T14" fmla="*/ 14 w 143"/>
                  <a:gd name="T15" fmla="*/ 20 h 167"/>
                  <a:gd name="T16" fmla="*/ 6 w 143"/>
                  <a:gd name="T17" fmla="*/ 78 h 167"/>
                  <a:gd name="T18" fmla="*/ 24 w 143"/>
                  <a:gd name="T19" fmla="*/ 118 h 167"/>
                  <a:gd name="T20" fmla="*/ 18 w 143"/>
                  <a:gd name="T21" fmla="*/ 136 h 167"/>
                  <a:gd name="T22" fmla="*/ 16 w 143"/>
                  <a:gd name="T23" fmla="*/ 151 h 167"/>
                  <a:gd name="T24" fmla="*/ 24 w 143"/>
                  <a:gd name="T25" fmla="*/ 155 h 167"/>
                  <a:gd name="T26" fmla="*/ 31 w 143"/>
                  <a:gd name="T27" fmla="*/ 153 h 167"/>
                  <a:gd name="T28" fmla="*/ 41 w 143"/>
                  <a:gd name="T29" fmla="*/ 107 h 167"/>
                  <a:gd name="T30" fmla="*/ 27 w 143"/>
                  <a:gd name="T31" fmla="*/ 73 h 167"/>
                  <a:gd name="T32" fmla="*/ 31 w 143"/>
                  <a:gd name="T33" fmla="*/ 33 h 167"/>
                  <a:gd name="T34" fmla="*/ 56 w 143"/>
                  <a:gd name="T35" fmla="*/ 22 h 167"/>
                  <a:gd name="T36" fmla="*/ 82 w 143"/>
                  <a:gd name="T37" fmla="*/ 33 h 167"/>
                  <a:gd name="T38" fmla="*/ 86 w 143"/>
                  <a:gd name="T39" fmla="*/ 73 h 167"/>
                  <a:gd name="T40" fmla="*/ 71 w 143"/>
                  <a:gd name="T41" fmla="*/ 107 h 167"/>
                  <a:gd name="T42" fmla="*/ 82 w 143"/>
                  <a:gd name="T43" fmla="*/ 153 h 167"/>
                  <a:gd name="T44" fmla="*/ 83 w 143"/>
                  <a:gd name="T45" fmla="*/ 154 h 167"/>
                  <a:gd name="T46" fmla="*/ 106 w 143"/>
                  <a:gd name="T47" fmla="*/ 160 h 167"/>
                  <a:gd name="T48" fmla="*/ 125 w 143"/>
                  <a:gd name="T49" fmla="*/ 165 h 167"/>
                  <a:gd name="T50" fmla="*/ 131 w 143"/>
                  <a:gd name="T51" fmla="*/ 167 h 167"/>
                  <a:gd name="T52" fmla="*/ 140 w 143"/>
                  <a:gd name="T53" fmla="*/ 162 h 167"/>
                  <a:gd name="T54" fmla="*/ 136 w 143"/>
                  <a:gd name="T55" fmla="*/ 147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3" h="167">
                    <a:moveTo>
                      <a:pt x="136" y="147"/>
                    </a:moveTo>
                    <a:cubicBezTo>
                      <a:pt x="128" y="142"/>
                      <a:pt x="118" y="140"/>
                      <a:pt x="109" y="139"/>
                    </a:cubicBezTo>
                    <a:cubicBezTo>
                      <a:pt x="104" y="138"/>
                      <a:pt x="98" y="137"/>
                      <a:pt x="95" y="136"/>
                    </a:cubicBezTo>
                    <a:cubicBezTo>
                      <a:pt x="89" y="131"/>
                      <a:pt x="88" y="121"/>
                      <a:pt x="89" y="118"/>
                    </a:cubicBezTo>
                    <a:cubicBezTo>
                      <a:pt x="96" y="109"/>
                      <a:pt x="103" y="93"/>
                      <a:pt x="106" y="78"/>
                    </a:cubicBezTo>
                    <a:cubicBezTo>
                      <a:pt x="112" y="53"/>
                      <a:pt x="110" y="34"/>
                      <a:pt x="99" y="20"/>
                    </a:cubicBezTo>
                    <a:cubicBezTo>
                      <a:pt x="83" y="0"/>
                      <a:pt x="58" y="1"/>
                      <a:pt x="56" y="1"/>
                    </a:cubicBezTo>
                    <a:cubicBezTo>
                      <a:pt x="54" y="1"/>
                      <a:pt x="30" y="0"/>
                      <a:pt x="14" y="20"/>
                    </a:cubicBezTo>
                    <a:cubicBezTo>
                      <a:pt x="3" y="34"/>
                      <a:pt x="0" y="53"/>
                      <a:pt x="6" y="78"/>
                    </a:cubicBezTo>
                    <a:cubicBezTo>
                      <a:pt x="10" y="93"/>
                      <a:pt x="17" y="109"/>
                      <a:pt x="24" y="118"/>
                    </a:cubicBezTo>
                    <a:cubicBezTo>
                      <a:pt x="25" y="121"/>
                      <a:pt x="24" y="132"/>
                      <a:pt x="18" y="136"/>
                    </a:cubicBezTo>
                    <a:cubicBezTo>
                      <a:pt x="13" y="140"/>
                      <a:pt x="12" y="146"/>
                      <a:pt x="16" y="151"/>
                    </a:cubicBezTo>
                    <a:cubicBezTo>
                      <a:pt x="18" y="154"/>
                      <a:pt x="21" y="155"/>
                      <a:pt x="24" y="155"/>
                    </a:cubicBezTo>
                    <a:cubicBezTo>
                      <a:pt x="26" y="155"/>
                      <a:pt x="29" y="155"/>
                      <a:pt x="31" y="153"/>
                    </a:cubicBezTo>
                    <a:cubicBezTo>
                      <a:pt x="45" y="142"/>
                      <a:pt x="49" y="118"/>
                      <a:pt x="41" y="107"/>
                    </a:cubicBezTo>
                    <a:cubicBezTo>
                      <a:pt x="36" y="99"/>
                      <a:pt x="30" y="85"/>
                      <a:pt x="27" y="73"/>
                    </a:cubicBezTo>
                    <a:cubicBezTo>
                      <a:pt x="23" y="55"/>
                      <a:pt x="24" y="42"/>
                      <a:pt x="31" y="33"/>
                    </a:cubicBezTo>
                    <a:cubicBezTo>
                      <a:pt x="39" y="22"/>
                      <a:pt x="55" y="22"/>
                      <a:pt x="56" y="22"/>
                    </a:cubicBezTo>
                    <a:cubicBezTo>
                      <a:pt x="58" y="22"/>
                      <a:pt x="73" y="22"/>
                      <a:pt x="82" y="33"/>
                    </a:cubicBezTo>
                    <a:cubicBezTo>
                      <a:pt x="89" y="42"/>
                      <a:pt x="90" y="55"/>
                      <a:pt x="86" y="73"/>
                    </a:cubicBezTo>
                    <a:cubicBezTo>
                      <a:pt x="83" y="85"/>
                      <a:pt x="77" y="99"/>
                      <a:pt x="71" y="107"/>
                    </a:cubicBezTo>
                    <a:cubicBezTo>
                      <a:pt x="63" y="118"/>
                      <a:pt x="67" y="142"/>
                      <a:pt x="82" y="153"/>
                    </a:cubicBezTo>
                    <a:cubicBezTo>
                      <a:pt x="82" y="153"/>
                      <a:pt x="83" y="154"/>
                      <a:pt x="83" y="154"/>
                    </a:cubicBezTo>
                    <a:cubicBezTo>
                      <a:pt x="90" y="158"/>
                      <a:pt x="98" y="159"/>
                      <a:pt x="106" y="160"/>
                    </a:cubicBezTo>
                    <a:cubicBezTo>
                      <a:pt x="113" y="161"/>
                      <a:pt x="121" y="162"/>
                      <a:pt x="125" y="165"/>
                    </a:cubicBezTo>
                    <a:cubicBezTo>
                      <a:pt x="127" y="166"/>
                      <a:pt x="129" y="167"/>
                      <a:pt x="131" y="167"/>
                    </a:cubicBezTo>
                    <a:cubicBezTo>
                      <a:pt x="134" y="167"/>
                      <a:pt x="138" y="165"/>
                      <a:pt x="140" y="162"/>
                    </a:cubicBezTo>
                    <a:cubicBezTo>
                      <a:pt x="143" y="157"/>
                      <a:pt x="141" y="150"/>
                      <a:pt x="136" y="147"/>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Verdana"/>
                  <a:ea typeface="+mn-ea"/>
                  <a:cs typeface="+mn-cs"/>
                </a:endParaRPr>
              </a:p>
            </p:txBody>
          </p:sp>
        </p:grpSp>
        <p:sp>
          <p:nvSpPr>
            <p:cNvPr id="25" name="Freeform 764">
              <a:extLst>
                <a:ext uri="{FF2B5EF4-FFF2-40B4-BE49-F238E27FC236}">
                  <a16:creationId xmlns:a16="http://schemas.microsoft.com/office/drawing/2014/main" id="{82A71C05-4780-4BD2-9E67-284FFE8E9817}"/>
                </a:ext>
              </a:extLst>
            </p:cNvPr>
            <p:cNvSpPr>
              <a:spLocks noEditPoints="1"/>
            </p:cNvSpPr>
            <p:nvPr/>
          </p:nvSpPr>
          <p:spPr bwMode="auto">
            <a:xfrm>
              <a:off x="4372171" y="5434453"/>
              <a:ext cx="196972" cy="292053"/>
            </a:xfrm>
            <a:custGeom>
              <a:avLst/>
              <a:gdLst>
                <a:gd name="T0" fmla="*/ 11 w 235"/>
                <a:gd name="T1" fmla="*/ 0 h 320"/>
                <a:gd name="T2" fmla="*/ 0 w 235"/>
                <a:gd name="T3" fmla="*/ 309 h 320"/>
                <a:gd name="T4" fmla="*/ 224 w 235"/>
                <a:gd name="T5" fmla="*/ 320 h 320"/>
                <a:gd name="T6" fmla="*/ 235 w 235"/>
                <a:gd name="T7" fmla="*/ 10 h 320"/>
                <a:gd name="T8" fmla="*/ 214 w 235"/>
                <a:gd name="T9" fmla="*/ 298 h 320"/>
                <a:gd name="T10" fmla="*/ 22 w 235"/>
                <a:gd name="T11" fmla="*/ 21 h 320"/>
                <a:gd name="T12" fmla="*/ 214 w 235"/>
                <a:gd name="T13" fmla="*/ 298 h 320"/>
                <a:gd name="T14" fmla="*/ 182 w 235"/>
                <a:gd name="T15" fmla="*/ 106 h 320"/>
                <a:gd name="T16" fmla="*/ 192 w 235"/>
                <a:gd name="T17" fmla="*/ 53 h 320"/>
                <a:gd name="T18" fmla="*/ 54 w 235"/>
                <a:gd name="T19" fmla="*/ 42 h 320"/>
                <a:gd name="T20" fmla="*/ 43 w 235"/>
                <a:gd name="T21" fmla="*/ 96 h 320"/>
                <a:gd name="T22" fmla="*/ 64 w 235"/>
                <a:gd name="T23" fmla="*/ 64 h 320"/>
                <a:gd name="T24" fmla="*/ 171 w 235"/>
                <a:gd name="T25" fmla="*/ 85 h 320"/>
                <a:gd name="T26" fmla="*/ 64 w 235"/>
                <a:gd name="T27" fmla="*/ 64 h 320"/>
                <a:gd name="T28" fmla="*/ 54 w 235"/>
                <a:gd name="T29" fmla="*/ 128 h 320"/>
                <a:gd name="T30" fmla="*/ 54 w 235"/>
                <a:gd name="T31" fmla="*/ 149 h 320"/>
                <a:gd name="T32" fmla="*/ 107 w 235"/>
                <a:gd name="T33" fmla="*/ 138 h 320"/>
                <a:gd name="T34" fmla="*/ 86 w 235"/>
                <a:gd name="T35" fmla="*/ 138 h 320"/>
                <a:gd name="T36" fmla="*/ 107 w 235"/>
                <a:gd name="T37" fmla="*/ 138 h 320"/>
                <a:gd name="T38" fmla="*/ 139 w 235"/>
                <a:gd name="T39" fmla="*/ 149 h 320"/>
                <a:gd name="T40" fmla="*/ 139 w 235"/>
                <a:gd name="T41" fmla="*/ 128 h 320"/>
                <a:gd name="T42" fmla="*/ 192 w 235"/>
                <a:gd name="T43" fmla="*/ 138 h 320"/>
                <a:gd name="T44" fmla="*/ 171 w 235"/>
                <a:gd name="T45" fmla="*/ 138 h 320"/>
                <a:gd name="T46" fmla="*/ 192 w 235"/>
                <a:gd name="T47" fmla="*/ 138 h 320"/>
                <a:gd name="T48" fmla="*/ 54 w 235"/>
                <a:gd name="T49" fmla="*/ 170 h 320"/>
                <a:gd name="T50" fmla="*/ 54 w 235"/>
                <a:gd name="T51" fmla="*/ 192 h 320"/>
                <a:gd name="T52" fmla="*/ 107 w 235"/>
                <a:gd name="T53" fmla="*/ 181 h 320"/>
                <a:gd name="T54" fmla="*/ 86 w 235"/>
                <a:gd name="T55" fmla="*/ 181 h 320"/>
                <a:gd name="T56" fmla="*/ 107 w 235"/>
                <a:gd name="T57" fmla="*/ 181 h 320"/>
                <a:gd name="T58" fmla="*/ 139 w 235"/>
                <a:gd name="T59" fmla="*/ 192 h 320"/>
                <a:gd name="T60" fmla="*/ 139 w 235"/>
                <a:gd name="T61" fmla="*/ 170 h 320"/>
                <a:gd name="T62" fmla="*/ 192 w 235"/>
                <a:gd name="T63" fmla="*/ 181 h 320"/>
                <a:gd name="T64" fmla="*/ 171 w 235"/>
                <a:gd name="T65" fmla="*/ 181 h 320"/>
                <a:gd name="T66" fmla="*/ 192 w 235"/>
                <a:gd name="T67" fmla="*/ 181 h 320"/>
                <a:gd name="T68" fmla="*/ 54 w 235"/>
                <a:gd name="T69" fmla="*/ 213 h 320"/>
                <a:gd name="T70" fmla="*/ 54 w 235"/>
                <a:gd name="T71" fmla="*/ 234 h 320"/>
                <a:gd name="T72" fmla="*/ 107 w 235"/>
                <a:gd name="T73" fmla="*/ 224 h 320"/>
                <a:gd name="T74" fmla="*/ 86 w 235"/>
                <a:gd name="T75" fmla="*/ 224 h 320"/>
                <a:gd name="T76" fmla="*/ 107 w 235"/>
                <a:gd name="T77" fmla="*/ 224 h 320"/>
                <a:gd name="T78" fmla="*/ 139 w 235"/>
                <a:gd name="T79" fmla="*/ 234 h 320"/>
                <a:gd name="T80" fmla="*/ 139 w 235"/>
                <a:gd name="T81" fmla="*/ 213 h 320"/>
                <a:gd name="T82" fmla="*/ 192 w 235"/>
                <a:gd name="T83" fmla="*/ 224 h 320"/>
                <a:gd name="T84" fmla="*/ 182 w 235"/>
                <a:gd name="T85" fmla="*/ 277 h 320"/>
                <a:gd name="T86" fmla="*/ 171 w 235"/>
                <a:gd name="T87" fmla="*/ 224 h 320"/>
                <a:gd name="T88" fmla="*/ 192 w 235"/>
                <a:gd name="T89" fmla="*/ 224 h 320"/>
                <a:gd name="T90" fmla="*/ 54 w 235"/>
                <a:gd name="T91" fmla="*/ 256 h 320"/>
                <a:gd name="T92" fmla="*/ 54 w 235"/>
                <a:gd name="T93" fmla="*/ 277 h 320"/>
                <a:gd name="T94" fmla="*/ 107 w 235"/>
                <a:gd name="T95" fmla="*/ 266 h 320"/>
                <a:gd name="T96" fmla="*/ 86 w 235"/>
                <a:gd name="T97" fmla="*/ 266 h 320"/>
                <a:gd name="T98" fmla="*/ 107 w 235"/>
                <a:gd name="T99" fmla="*/ 266 h 320"/>
                <a:gd name="T100" fmla="*/ 139 w 235"/>
                <a:gd name="T101" fmla="*/ 277 h 320"/>
                <a:gd name="T102" fmla="*/ 139 w 235"/>
                <a:gd name="T103" fmla="*/ 25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5" h="320">
                  <a:moveTo>
                    <a:pt x="224" y="0"/>
                  </a:moveTo>
                  <a:cubicBezTo>
                    <a:pt x="11" y="0"/>
                    <a:pt x="11" y="0"/>
                    <a:pt x="11" y="0"/>
                  </a:cubicBezTo>
                  <a:cubicBezTo>
                    <a:pt x="5" y="0"/>
                    <a:pt x="0" y="4"/>
                    <a:pt x="0" y="10"/>
                  </a:cubicBezTo>
                  <a:cubicBezTo>
                    <a:pt x="0" y="309"/>
                    <a:pt x="0" y="309"/>
                    <a:pt x="0" y="309"/>
                  </a:cubicBezTo>
                  <a:cubicBezTo>
                    <a:pt x="0" y="315"/>
                    <a:pt x="5" y="320"/>
                    <a:pt x="11" y="320"/>
                  </a:cubicBezTo>
                  <a:cubicBezTo>
                    <a:pt x="224" y="320"/>
                    <a:pt x="224" y="320"/>
                    <a:pt x="224" y="320"/>
                  </a:cubicBezTo>
                  <a:cubicBezTo>
                    <a:pt x="230" y="320"/>
                    <a:pt x="235" y="315"/>
                    <a:pt x="235" y="309"/>
                  </a:cubicBezTo>
                  <a:cubicBezTo>
                    <a:pt x="235" y="10"/>
                    <a:pt x="235" y="10"/>
                    <a:pt x="235" y="10"/>
                  </a:cubicBezTo>
                  <a:cubicBezTo>
                    <a:pt x="235" y="4"/>
                    <a:pt x="230" y="0"/>
                    <a:pt x="224" y="0"/>
                  </a:cubicBezTo>
                  <a:close/>
                  <a:moveTo>
                    <a:pt x="214" y="298"/>
                  </a:moveTo>
                  <a:cubicBezTo>
                    <a:pt x="22" y="298"/>
                    <a:pt x="22" y="298"/>
                    <a:pt x="22" y="298"/>
                  </a:cubicBezTo>
                  <a:cubicBezTo>
                    <a:pt x="22" y="21"/>
                    <a:pt x="22" y="21"/>
                    <a:pt x="22" y="21"/>
                  </a:cubicBezTo>
                  <a:cubicBezTo>
                    <a:pt x="214" y="21"/>
                    <a:pt x="214" y="21"/>
                    <a:pt x="214" y="21"/>
                  </a:cubicBezTo>
                  <a:lnTo>
                    <a:pt x="214" y="298"/>
                  </a:lnTo>
                  <a:close/>
                  <a:moveTo>
                    <a:pt x="54" y="106"/>
                  </a:moveTo>
                  <a:cubicBezTo>
                    <a:pt x="182" y="106"/>
                    <a:pt x="182" y="106"/>
                    <a:pt x="182" y="106"/>
                  </a:cubicBezTo>
                  <a:cubicBezTo>
                    <a:pt x="188" y="106"/>
                    <a:pt x="192" y="102"/>
                    <a:pt x="192" y="96"/>
                  </a:cubicBezTo>
                  <a:cubicBezTo>
                    <a:pt x="192" y="53"/>
                    <a:pt x="192" y="53"/>
                    <a:pt x="192" y="53"/>
                  </a:cubicBezTo>
                  <a:cubicBezTo>
                    <a:pt x="192" y="47"/>
                    <a:pt x="188" y="42"/>
                    <a:pt x="182" y="42"/>
                  </a:cubicBezTo>
                  <a:cubicBezTo>
                    <a:pt x="54" y="42"/>
                    <a:pt x="54" y="42"/>
                    <a:pt x="54" y="42"/>
                  </a:cubicBezTo>
                  <a:cubicBezTo>
                    <a:pt x="48" y="42"/>
                    <a:pt x="43" y="47"/>
                    <a:pt x="43" y="53"/>
                  </a:cubicBezTo>
                  <a:cubicBezTo>
                    <a:pt x="43" y="96"/>
                    <a:pt x="43" y="96"/>
                    <a:pt x="43" y="96"/>
                  </a:cubicBezTo>
                  <a:cubicBezTo>
                    <a:pt x="43" y="102"/>
                    <a:pt x="48" y="106"/>
                    <a:pt x="54" y="106"/>
                  </a:cubicBezTo>
                  <a:close/>
                  <a:moveTo>
                    <a:pt x="64" y="64"/>
                  </a:moveTo>
                  <a:cubicBezTo>
                    <a:pt x="171" y="64"/>
                    <a:pt x="171" y="64"/>
                    <a:pt x="171" y="64"/>
                  </a:cubicBezTo>
                  <a:cubicBezTo>
                    <a:pt x="171" y="85"/>
                    <a:pt x="171" y="85"/>
                    <a:pt x="171" y="85"/>
                  </a:cubicBezTo>
                  <a:cubicBezTo>
                    <a:pt x="64" y="85"/>
                    <a:pt x="64" y="85"/>
                    <a:pt x="64" y="85"/>
                  </a:cubicBezTo>
                  <a:lnTo>
                    <a:pt x="64" y="64"/>
                  </a:lnTo>
                  <a:close/>
                  <a:moveTo>
                    <a:pt x="43" y="138"/>
                  </a:moveTo>
                  <a:cubicBezTo>
                    <a:pt x="43" y="132"/>
                    <a:pt x="48" y="128"/>
                    <a:pt x="54" y="128"/>
                  </a:cubicBezTo>
                  <a:cubicBezTo>
                    <a:pt x="60" y="128"/>
                    <a:pt x="64" y="132"/>
                    <a:pt x="64" y="138"/>
                  </a:cubicBezTo>
                  <a:cubicBezTo>
                    <a:pt x="64" y="144"/>
                    <a:pt x="60" y="149"/>
                    <a:pt x="54" y="149"/>
                  </a:cubicBezTo>
                  <a:cubicBezTo>
                    <a:pt x="48" y="149"/>
                    <a:pt x="43" y="144"/>
                    <a:pt x="43" y="138"/>
                  </a:cubicBezTo>
                  <a:close/>
                  <a:moveTo>
                    <a:pt x="107" y="138"/>
                  </a:moveTo>
                  <a:cubicBezTo>
                    <a:pt x="107" y="144"/>
                    <a:pt x="102" y="149"/>
                    <a:pt x="96" y="149"/>
                  </a:cubicBezTo>
                  <a:cubicBezTo>
                    <a:pt x="90" y="149"/>
                    <a:pt x="86" y="144"/>
                    <a:pt x="86" y="138"/>
                  </a:cubicBezTo>
                  <a:cubicBezTo>
                    <a:pt x="86" y="132"/>
                    <a:pt x="90" y="128"/>
                    <a:pt x="96" y="128"/>
                  </a:cubicBezTo>
                  <a:cubicBezTo>
                    <a:pt x="102" y="128"/>
                    <a:pt x="107" y="132"/>
                    <a:pt x="107" y="138"/>
                  </a:cubicBezTo>
                  <a:close/>
                  <a:moveTo>
                    <a:pt x="150" y="138"/>
                  </a:moveTo>
                  <a:cubicBezTo>
                    <a:pt x="150" y="144"/>
                    <a:pt x="145" y="149"/>
                    <a:pt x="139" y="149"/>
                  </a:cubicBezTo>
                  <a:cubicBezTo>
                    <a:pt x="133" y="149"/>
                    <a:pt x="128" y="144"/>
                    <a:pt x="128" y="138"/>
                  </a:cubicBezTo>
                  <a:cubicBezTo>
                    <a:pt x="128" y="132"/>
                    <a:pt x="133" y="128"/>
                    <a:pt x="139" y="128"/>
                  </a:cubicBezTo>
                  <a:cubicBezTo>
                    <a:pt x="145" y="128"/>
                    <a:pt x="150" y="132"/>
                    <a:pt x="150" y="138"/>
                  </a:cubicBezTo>
                  <a:close/>
                  <a:moveTo>
                    <a:pt x="192" y="138"/>
                  </a:moveTo>
                  <a:cubicBezTo>
                    <a:pt x="192" y="144"/>
                    <a:pt x="188" y="149"/>
                    <a:pt x="182" y="149"/>
                  </a:cubicBezTo>
                  <a:cubicBezTo>
                    <a:pt x="176" y="149"/>
                    <a:pt x="171" y="144"/>
                    <a:pt x="171" y="138"/>
                  </a:cubicBezTo>
                  <a:cubicBezTo>
                    <a:pt x="171" y="132"/>
                    <a:pt x="176" y="128"/>
                    <a:pt x="182" y="128"/>
                  </a:cubicBezTo>
                  <a:cubicBezTo>
                    <a:pt x="188" y="128"/>
                    <a:pt x="192" y="132"/>
                    <a:pt x="192" y="138"/>
                  </a:cubicBezTo>
                  <a:close/>
                  <a:moveTo>
                    <a:pt x="43" y="181"/>
                  </a:moveTo>
                  <a:cubicBezTo>
                    <a:pt x="43" y="175"/>
                    <a:pt x="48" y="170"/>
                    <a:pt x="54" y="170"/>
                  </a:cubicBezTo>
                  <a:cubicBezTo>
                    <a:pt x="60" y="170"/>
                    <a:pt x="64" y="175"/>
                    <a:pt x="64" y="181"/>
                  </a:cubicBezTo>
                  <a:cubicBezTo>
                    <a:pt x="64" y="187"/>
                    <a:pt x="60" y="192"/>
                    <a:pt x="54" y="192"/>
                  </a:cubicBezTo>
                  <a:cubicBezTo>
                    <a:pt x="48" y="192"/>
                    <a:pt x="43" y="187"/>
                    <a:pt x="43" y="181"/>
                  </a:cubicBezTo>
                  <a:close/>
                  <a:moveTo>
                    <a:pt x="107" y="181"/>
                  </a:moveTo>
                  <a:cubicBezTo>
                    <a:pt x="107" y="187"/>
                    <a:pt x="102" y="192"/>
                    <a:pt x="96" y="192"/>
                  </a:cubicBezTo>
                  <a:cubicBezTo>
                    <a:pt x="90" y="192"/>
                    <a:pt x="86" y="187"/>
                    <a:pt x="86" y="181"/>
                  </a:cubicBezTo>
                  <a:cubicBezTo>
                    <a:pt x="86" y="175"/>
                    <a:pt x="90" y="170"/>
                    <a:pt x="96" y="170"/>
                  </a:cubicBezTo>
                  <a:cubicBezTo>
                    <a:pt x="102" y="170"/>
                    <a:pt x="107" y="175"/>
                    <a:pt x="107" y="181"/>
                  </a:cubicBezTo>
                  <a:close/>
                  <a:moveTo>
                    <a:pt x="150" y="181"/>
                  </a:moveTo>
                  <a:cubicBezTo>
                    <a:pt x="150" y="187"/>
                    <a:pt x="145" y="192"/>
                    <a:pt x="139" y="192"/>
                  </a:cubicBezTo>
                  <a:cubicBezTo>
                    <a:pt x="133" y="192"/>
                    <a:pt x="128" y="187"/>
                    <a:pt x="128" y="181"/>
                  </a:cubicBezTo>
                  <a:cubicBezTo>
                    <a:pt x="128" y="175"/>
                    <a:pt x="133" y="170"/>
                    <a:pt x="139" y="170"/>
                  </a:cubicBezTo>
                  <a:cubicBezTo>
                    <a:pt x="145" y="170"/>
                    <a:pt x="150" y="175"/>
                    <a:pt x="150" y="181"/>
                  </a:cubicBezTo>
                  <a:close/>
                  <a:moveTo>
                    <a:pt x="192" y="181"/>
                  </a:moveTo>
                  <a:cubicBezTo>
                    <a:pt x="192" y="187"/>
                    <a:pt x="188" y="192"/>
                    <a:pt x="182" y="192"/>
                  </a:cubicBezTo>
                  <a:cubicBezTo>
                    <a:pt x="176" y="192"/>
                    <a:pt x="171" y="187"/>
                    <a:pt x="171" y="181"/>
                  </a:cubicBezTo>
                  <a:cubicBezTo>
                    <a:pt x="171" y="175"/>
                    <a:pt x="176" y="170"/>
                    <a:pt x="182" y="170"/>
                  </a:cubicBezTo>
                  <a:cubicBezTo>
                    <a:pt x="188" y="170"/>
                    <a:pt x="192" y="175"/>
                    <a:pt x="192" y="181"/>
                  </a:cubicBezTo>
                  <a:close/>
                  <a:moveTo>
                    <a:pt x="43" y="224"/>
                  </a:moveTo>
                  <a:cubicBezTo>
                    <a:pt x="43" y="218"/>
                    <a:pt x="48" y="213"/>
                    <a:pt x="54" y="213"/>
                  </a:cubicBezTo>
                  <a:cubicBezTo>
                    <a:pt x="60" y="213"/>
                    <a:pt x="64" y="218"/>
                    <a:pt x="64" y="224"/>
                  </a:cubicBezTo>
                  <a:cubicBezTo>
                    <a:pt x="64" y="230"/>
                    <a:pt x="60" y="234"/>
                    <a:pt x="54" y="234"/>
                  </a:cubicBezTo>
                  <a:cubicBezTo>
                    <a:pt x="48" y="234"/>
                    <a:pt x="43" y="230"/>
                    <a:pt x="43" y="224"/>
                  </a:cubicBezTo>
                  <a:close/>
                  <a:moveTo>
                    <a:pt x="107" y="224"/>
                  </a:moveTo>
                  <a:cubicBezTo>
                    <a:pt x="107" y="230"/>
                    <a:pt x="102" y="234"/>
                    <a:pt x="96" y="234"/>
                  </a:cubicBezTo>
                  <a:cubicBezTo>
                    <a:pt x="90" y="234"/>
                    <a:pt x="86" y="230"/>
                    <a:pt x="86" y="224"/>
                  </a:cubicBezTo>
                  <a:cubicBezTo>
                    <a:pt x="86" y="218"/>
                    <a:pt x="90" y="213"/>
                    <a:pt x="96" y="213"/>
                  </a:cubicBezTo>
                  <a:cubicBezTo>
                    <a:pt x="102" y="213"/>
                    <a:pt x="107" y="218"/>
                    <a:pt x="107" y="224"/>
                  </a:cubicBezTo>
                  <a:close/>
                  <a:moveTo>
                    <a:pt x="150" y="224"/>
                  </a:moveTo>
                  <a:cubicBezTo>
                    <a:pt x="150" y="230"/>
                    <a:pt x="145" y="234"/>
                    <a:pt x="139" y="234"/>
                  </a:cubicBezTo>
                  <a:cubicBezTo>
                    <a:pt x="133" y="234"/>
                    <a:pt x="128" y="230"/>
                    <a:pt x="128" y="224"/>
                  </a:cubicBezTo>
                  <a:cubicBezTo>
                    <a:pt x="128" y="218"/>
                    <a:pt x="133" y="213"/>
                    <a:pt x="139" y="213"/>
                  </a:cubicBezTo>
                  <a:cubicBezTo>
                    <a:pt x="145" y="213"/>
                    <a:pt x="150" y="218"/>
                    <a:pt x="150" y="224"/>
                  </a:cubicBezTo>
                  <a:close/>
                  <a:moveTo>
                    <a:pt x="192" y="224"/>
                  </a:moveTo>
                  <a:cubicBezTo>
                    <a:pt x="192" y="266"/>
                    <a:pt x="192" y="266"/>
                    <a:pt x="192" y="266"/>
                  </a:cubicBezTo>
                  <a:cubicBezTo>
                    <a:pt x="192" y="272"/>
                    <a:pt x="188" y="277"/>
                    <a:pt x="182" y="277"/>
                  </a:cubicBezTo>
                  <a:cubicBezTo>
                    <a:pt x="176" y="277"/>
                    <a:pt x="171" y="272"/>
                    <a:pt x="171" y="266"/>
                  </a:cubicBezTo>
                  <a:cubicBezTo>
                    <a:pt x="171" y="224"/>
                    <a:pt x="171" y="224"/>
                    <a:pt x="171" y="224"/>
                  </a:cubicBezTo>
                  <a:cubicBezTo>
                    <a:pt x="171" y="218"/>
                    <a:pt x="176" y="213"/>
                    <a:pt x="182" y="213"/>
                  </a:cubicBezTo>
                  <a:cubicBezTo>
                    <a:pt x="188" y="213"/>
                    <a:pt x="192" y="218"/>
                    <a:pt x="192" y="224"/>
                  </a:cubicBezTo>
                  <a:close/>
                  <a:moveTo>
                    <a:pt x="43" y="266"/>
                  </a:moveTo>
                  <a:cubicBezTo>
                    <a:pt x="43" y="260"/>
                    <a:pt x="48" y="256"/>
                    <a:pt x="54" y="256"/>
                  </a:cubicBezTo>
                  <a:cubicBezTo>
                    <a:pt x="60" y="256"/>
                    <a:pt x="64" y="260"/>
                    <a:pt x="64" y="266"/>
                  </a:cubicBezTo>
                  <a:cubicBezTo>
                    <a:pt x="64" y="272"/>
                    <a:pt x="60" y="277"/>
                    <a:pt x="54" y="277"/>
                  </a:cubicBezTo>
                  <a:cubicBezTo>
                    <a:pt x="48" y="277"/>
                    <a:pt x="43" y="272"/>
                    <a:pt x="43" y="266"/>
                  </a:cubicBezTo>
                  <a:close/>
                  <a:moveTo>
                    <a:pt x="107" y="266"/>
                  </a:moveTo>
                  <a:cubicBezTo>
                    <a:pt x="107" y="272"/>
                    <a:pt x="102" y="277"/>
                    <a:pt x="96" y="277"/>
                  </a:cubicBezTo>
                  <a:cubicBezTo>
                    <a:pt x="90" y="277"/>
                    <a:pt x="86" y="272"/>
                    <a:pt x="86" y="266"/>
                  </a:cubicBezTo>
                  <a:cubicBezTo>
                    <a:pt x="86" y="260"/>
                    <a:pt x="90" y="256"/>
                    <a:pt x="96" y="256"/>
                  </a:cubicBezTo>
                  <a:cubicBezTo>
                    <a:pt x="102" y="256"/>
                    <a:pt x="107" y="260"/>
                    <a:pt x="107" y="266"/>
                  </a:cubicBezTo>
                  <a:close/>
                  <a:moveTo>
                    <a:pt x="150" y="266"/>
                  </a:moveTo>
                  <a:cubicBezTo>
                    <a:pt x="150" y="272"/>
                    <a:pt x="145" y="277"/>
                    <a:pt x="139" y="277"/>
                  </a:cubicBezTo>
                  <a:cubicBezTo>
                    <a:pt x="133" y="277"/>
                    <a:pt x="128" y="272"/>
                    <a:pt x="128" y="266"/>
                  </a:cubicBezTo>
                  <a:cubicBezTo>
                    <a:pt x="128" y="260"/>
                    <a:pt x="133" y="256"/>
                    <a:pt x="139" y="256"/>
                  </a:cubicBezTo>
                  <a:cubicBezTo>
                    <a:pt x="145" y="256"/>
                    <a:pt x="150" y="260"/>
                    <a:pt x="150" y="266"/>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Verdana"/>
                <a:ea typeface="+mn-ea"/>
                <a:cs typeface="+mn-cs"/>
              </a:endParaRPr>
            </a:p>
          </p:txBody>
        </p:sp>
        <p:sp>
          <p:nvSpPr>
            <p:cNvPr id="26" name="Freeform 415">
              <a:extLst>
                <a:ext uri="{FF2B5EF4-FFF2-40B4-BE49-F238E27FC236}">
                  <a16:creationId xmlns:a16="http://schemas.microsoft.com/office/drawing/2014/main" id="{D00EDA41-D54B-453B-A950-BC13DC3B3F58}"/>
                </a:ext>
              </a:extLst>
            </p:cNvPr>
            <p:cNvSpPr>
              <a:spLocks noEditPoints="1"/>
            </p:cNvSpPr>
            <p:nvPr/>
          </p:nvSpPr>
          <p:spPr bwMode="auto">
            <a:xfrm>
              <a:off x="4368763" y="5974157"/>
              <a:ext cx="203790" cy="252321"/>
            </a:xfrm>
            <a:custGeom>
              <a:avLst/>
              <a:gdLst>
                <a:gd name="T0" fmla="*/ 149 w 298"/>
                <a:gd name="T1" fmla="*/ 309 h 309"/>
                <a:gd name="T2" fmla="*/ 0 w 298"/>
                <a:gd name="T3" fmla="*/ 160 h 309"/>
                <a:gd name="T4" fmla="*/ 99 w 298"/>
                <a:gd name="T5" fmla="*/ 20 h 309"/>
                <a:gd name="T6" fmla="*/ 113 w 298"/>
                <a:gd name="T7" fmla="*/ 27 h 309"/>
                <a:gd name="T8" fmla="*/ 106 w 298"/>
                <a:gd name="T9" fmla="*/ 40 h 309"/>
                <a:gd name="T10" fmla="*/ 21 w 298"/>
                <a:gd name="T11" fmla="*/ 160 h 309"/>
                <a:gd name="T12" fmla="*/ 149 w 298"/>
                <a:gd name="T13" fmla="*/ 288 h 309"/>
                <a:gd name="T14" fmla="*/ 276 w 298"/>
                <a:gd name="T15" fmla="*/ 160 h 309"/>
                <a:gd name="T16" fmla="*/ 191 w 298"/>
                <a:gd name="T17" fmla="*/ 40 h 309"/>
                <a:gd name="T18" fmla="*/ 185 w 298"/>
                <a:gd name="T19" fmla="*/ 26 h 309"/>
                <a:gd name="T20" fmla="*/ 198 w 298"/>
                <a:gd name="T21" fmla="*/ 20 h 309"/>
                <a:gd name="T22" fmla="*/ 298 w 298"/>
                <a:gd name="T23" fmla="*/ 160 h 309"/>
                <a:gd name="T24" fmla="*/ 149 w 298"/>
                <a:gd name="T25" fmla="*/ 309 h 309"/>
                <a:gd name="T26" fmla="*/ 159 w 298"/>
                <a:gd name="T27" fmla="*/ 107 h 309"/>
                <a:gd name="T28" fmla="*/ 159 w 298"/>
                <a:gd name="T29" fmla="*/ 11 h 309"/>
                <a:gd name="T30" fmla="*/ 149 w 298"/>
                <a:gd name="T31" fmla="*/ 0 h 309"/>
                <a:gd name="T32" fmla="*/ 138 w 298"/>
                <a:gd name="T33" fmla="*/ 11 h 309"/>
                <a:gd name="T34" fmla="*/ 138 w 298"/>
                <a:gd name="T35" fmla="*/ 107 h 309"/>
                <a:gd name="T36" fmla="*/ 149 w 298"/>
                <a:gd name="T37" fmla="*/ 117 h 309"/>
                <a:gd name="T38" fmla="*/ 159 w 298"/>
                <a:gd name="T39" fmla="*/ 107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8" h="309">
                  <a:moveTo>
                    <a:pt x="149" y="309"/>
                  </a:moveTo>
                  <a:cubicBezTo>
                    <a:pt x="67" y="309"/>
                    <a:pt x="0" y="243"/>
                    <a:pt x="0" y="160"/>
                  </a:cubicBezTo>
                  <a:cubicBezTo>
                    <a:pt x="0" y="97"/>
                    <a:pt x="40" y="41"/>
                    <a:pt x="99" y="20"/>
                  </a:cubicBezTo>
                  <a:cubicBezTo>
                    <a:pt x="105" y="18"/>
                    <a:pt x="111" y="21"/>
                    <a:pt x="113" y="27"/>
                  </a:cubicBezTo>
                  <a:cubicBezTo>
                    <a:pt x="115" y="32"/>
                    <a:pt x="112" y="38"/>
                    <a:pt x="106" y="40"/>
                  </a:cubicBezTo>
                  <a:cubicBezTo>
                    <a:pt x="55" y="58"/>
                    <a:pt x="21" y="106"/>
                    <a:pt x="21" y="160"/>
                  </a:cubicBezTo>
                  <a:cubicBezTo>
                    <a:pt x="21" y="231"/>
                    <a:pt x="78" y="288"/>
                    <a:pt x="149" y="288"/>
                  </a:cubicBezTo>
                  <a:cubicBezTo>
                    <a:pt x="219" y="288"/>
                    <a:pt x="276" y="231"/>
                    <a:pt x="276" y="160"/>
                  </a:cubicBezTo>
                  <a:cubicBezTo>
                    <a:pt x="276" y="106"/>
                    <a:pt x="242" y="58"/>
                    <a:pt x="191" y="40"/>
                  </a:cubicBezTo>
                  <a:cubicBezTo>
                    <a:pt x="186" y="38"/>
                    <a:pt x="183" y="32"/>
                    <a:pt x="185" y="26"/>
                  </a:cubicBezTo>
                  <a:cubicBezTo>
                    <a:pt x="187" y="21"/>
                    <a:pt x="193" y="18"/>
                    <a:pt x="198" y="20"/>
                  </a:cubicBezTo>
                  <a:cubicBezTo>
                    <a:pt x="258" y="41"/>
                    <a:pt x="298" y="97"/>
                    <a:pt x="298" y="160"/>
                  </a:cubicBezTo>
                  <a:cubicBezTo>
                    <a:pt x="298" y="243"/>
                    <a:pt x="231" y="309"/>
                    <a:pt x="149" y="309"/>
                  </a:cubicBezTo>
                  <a:close/>
                  <a:moveTo>
                    <a:pt x="159" y="107"/>
                  </a:moveTo>
                  <a:cubicBezTo>
                    <a:pt x="159" y="11"/>
                    <a:pt x="159" y="11"/>
                    <a:pt x="159" y="11"/>
                  </a:cubicBezTo>
                  <a:cubicBezTo>
                    <a:pt x="159" y="5"/>
                    <a:pt x="155" y="0"/>
                    <a:pt x="149" y="0"/>
                  </a:cubicBezTo>
                  <a:cubicBezTo>
                    <a:pt x="143" y="0"/>
                    <a:pt x="138" y="5"/>
                    <a:pt x="138" y="11"/>
                  </a:cubicBezTo>
                  <a:cubicBezTo>
                    <a:pt x="138" y="107"/>
                    <a:pt x="138" y="107"/>
                    <a:pt x="138" y="107"/>
                  </a:cubicBezTo>
                  <a:cubicBezTo>
                    <a:pt x="138" y="113"/>
                    <a:pt x="143" y="117"/>
                    <a:pt x="149" y="117"/>
                  </a:cubicBezTo>
                  <a:cubicBezTo>
                    <a:pt x="155" y="117"/>
                    <a:pt x="159" y="113"/>
                    <a:pt x="159" y="107"/>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Verdana"/>
                <a:ea typeface="+mn-ea"/>
                <a:cs typeface="+mn-cs"/>
              </a:endParaRPr>
            </a:p>
          </p:txBody>
        </p:sp>
        <p:sp>
          <p:nvSpPr>
            <p:cNvPr id="27" name="Freeform 893">
              <a:extLst>
                <a:ext uri="{FF2B5EF4-FFF2-40B4-BE49-F238E27FC236}">
                  <a16:creationId xmlns:a16="http://schemas.microsoft.com/office/drawing/2014/main" id="{293BD31F-042A-45F3-A574-2721A2714D0B}"/>
                </a:ext>
              </a:extLst>
            </p:cNvPr>
            <p:cNvSpPr>
              <a:spLocks noEditPoints="1"/>
            </p:cNvSpPr>
            <p:nvPr/>
          </p:nvSpPr>
          <p:spPr bwMode="auto">
            <a:xfrm>
              <a:off x="1411504" y="5996123"/>
              <a:ext cx="181802" cy="208388"/>
            </a:xfrm>
            <a:custGeom>
              <a:avLst/>
              <a:gdLst>
                <a:gd name="T0" fmla="*/ 285 w 289"/>
                <a:gd name="T1" fmla="*/ 269 h 288"/>
                <a:gd name="T2" fmla="*/ 189 w 289"/>
                <a:gd name="T3" fmla="*/ 174 h 288"/>
                <a:gd name="T4" fmla="*/ 213 w 289"/>
                <a:gd name="T5" fmla="*/ 106 h 288"/>
                <a:gd name="T6" fmla="*/ 106 w 289"/>
                <a:gd name="T7" fmla="*/ 0 h 288"/>
                <a:gd name="T8" fmla="*/ 0 w 289"/>
                <a:gd name="T9" fmla="*/ 106 h 288"/>
                <a:gd name="T10" fmla="*/ 106 w 289"/>
                <a:gd name="T11" fmla="*/ 213 h 288"/>
                <a:gd name="T12" fmla="*/ 174 w 289"/>
                <a:gd name="T13" fmla="*/ 189 h 288"/>
                <a:gd name="T14" fmla="*/ 269 w 289"/>
                <a:gd name="T15" fmla="*/ 285 h 288"/>
                <a:gd name="T16" fmla="*/ 277 w 289"/>
                <a:gd name="T17" fmla="*/ 288 h 288"/>
                <a:gd name="T18" fmla="*/ 285 w 289"/>
                <a:gd name="T19" fmla="*/ 285 h 288"/>
                <a:gd name="T20" fmla="*/ 285 w 289"/>
                <a:gd name="T21" fmla="*/ 269 h 288"/>
                <a:gd name="T22" fmla="*/ 106 w 289"/>
                <a:gd name="T23" fmla="*/ 192 h 288"/>
                <a:gd name="T24" fmla="*/ 21 w 289"/>
                <a:gd name="T25" fmla="*/ 106 h 288"/>
                <a:gd name="T26" fmla="*/ 106 w 289"/>
                <a:gd name="T27" fmla="*/ 21 h 288"/>
                <a:gd name="T28" fmla="*/ 192 w 289"/>
                <a:gd name="T29" fmla="*/ 106 h 288"/>
                <a:gd name="T30" fmla="*/ 106 w 289"/>
                <a:gd name="T31" fmla="*/ 19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9" h="288">
                  <a:moveTo>
                    <a:pt x="285" y="269"/>
                  </a:moveTo>
                  <a:cubicBezTo>
                    <a:pt x="189" y="174"/>
                    <a:pt x="189" y="174"/>
                    <a:pt x="189" y="174"/>
                  </a:cubicBezTo>
                  <a:cubicBezTo>
                    <a:pt x="204" y="155"/>
                    <a:pt x="213" y="132"/>
                    <a:pt x="213" y="106"/>
                  </a:cubicBezTo>
                  <a:cubicBezTo>
                    <a:pt x="213" y="48"/>
                    <a:pt x="165" y="0"/>
                    <a:pt x="106" y="0"/>
                  </a:cubicBezTo>
                  <a:cubicBezTo>
                    <a:pt x="48" y="0"/>
                    <a:pt x="0" y="48"/>
                    <a:pt x="0" y="106"/>
                  </a:cubicBezTo>
                  <a:cubicBezTo>
                    <a:pt x="0" y="165"/>
                    <a:pt x="48" y="213"/>
                    <a:pt x="106" y="213"/>
                  </a:cubicBezTo>
                  <a:cubicBezTo>
                    <a:pt x="132" y="213"/>
                    <a:pt x="155" y="204"/>
                    <a:pt x="174" y="189"/>
                  </a:cubicBezTo>
                  <a:cubicBezTo>
                    <a:pt x="269" y="285"/>
                    <a:pt x="269" y="285"/>
                    <a:pt x="269" y="285"/>
                  </a:cubicBezTo>
                  <a:cubicBezTo>
                    <a:pt x="272" y="287"/>
                    <a:pt x="274" y="288"/>
                    <a:pt x="277" y="288"/>
                  </a:cubicBezTo>
                  <a:cubicBezTo>
                    <a:pt x="280" y="288"/>
                    <a:pt x="282" y="287"/>
                    <a:pt x="285" y="285"/>
                  </a:cubicBezTo>
                  <a:cubicBezTo>
                    <a:pt x="289" y="280"/>
                    <a:pt x="289" y="274"/>
                    <a:pt x="285" y="269"/>
                  </a:cubicBezTo>
                  <a:close/>
                  <a:moveTo>
                    <a:pt x="106" y="192"/>
                  </a:moveTo>
                  <a:cubicBezTo>
                    <a:pt x="59" y="192"/>
                    <a:pt x="21" y="153"/>
                    <a:pt x="21" y="106"/>
                  </a:cubicBezTo>
                  <a:cubicBezTo>
                    <a:pt x="21" y="59"/>
                    <a:pt x="59" y="21"/>
                    <a:pt x="106" y="21"/>
                  </a:cubicBezTo>
                  <a:cubicBezTo>
                    <a:pt x="153" y="21"/>
                    <a:pt x="192" y="59"/>
                    <a:pt x="192" y="106"/>
                  </a:cubicBezTo>
                  <a:cubicBezTo>
                    <a:pt x="192" y="153"/>
                    <a:pt x="153" y="192"/>
                    <a:pt x="106" y="192"/>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Verdana"/>
                <a:ea typeface="+mn-ea"/>
                <a:cs typeface="+mn-cs"/>
              </a:endParaRPr>
            </a:p>
          </p:txBody>
        </p:sp>
        <p:sp>
          <p:nvSpPr>
            <p:cNvPr id="28" name="Freeform 631">
              <a:extLst>
                <a:ext uri="{FF2B5EF4-FFF2-40B4-BE49-F238E27FC236}">
                  <a16:creationId xmlns:a16="http://schemas.microsoft.com/office/drawing/2014/main" id="{9AA7AD87-386D-473B-B631-3BED93DCFCF6}"/>
                </a:ext>
              </a:extLst>
            </p:cNvPr>
            <p:cNvSpPr>
              <a:spLocks noEditPoints="1"/>
            </p:cNvSpPr>
            <p:nvPr/>
          </p:nvSpPr>
          <p:spPr bwMode="auto">
            <a:xfrm>
              <a:off x="3415502" y="5985887"/>
              <a:ext cx="146922" cy="228861"/>
            </a:xfrm>
            <a:custGeom>
              <a:avLst/>
              <a:gdLst>
                <a:gd name="T0" fmla="*/ 224 w 235"/>
                <a:gd name="T1" fmla="*/ 149 h 320"/>
                <a:gd name="T2" fmla="*/ 214 w 235"/>
                <a:gd name="T3" fmla="*/ 149 h 320"/>
                <a:gd name="T4" fmla="*/ 214 w 235"/>
                <a:gd name="T5" fmla="*/ 96 h 320"/>
                <a:gd name="T6" fmla="*/ 118 w 235"/>
                <a:gd name="T7" fmla="*/ 0 h 320"/>
                <a:gd name="T8" fmla="*/ 22 w 235"/>
                <a:gd name="T9" fmla="*/ 96 h 320"/>
                <a:gd name="T10" fmla="*/ 22 w 235"/>
                <a:gd name="T11" fmla="*/ 149 h 320"/>
                <a:gd name="T12" fmla="*/ 11 w 235"/>
                <a:gd name="T13" fmla="*/ 149 h 320"/>
                <a:gd name="T14" fmla="*/ 0 w 235"/>
                <a:gd name="T15" fmla="*/ 160 h 320"/>
                <a:gd name="T16" fmla="*/ 0 w 235"/>
                <a:gd name="T17" fmla="*/ 309 h 320"/>
                <a:gd name="T18" fmla="*/ 11 w 235"/>
                <a:gd name="T19" fmla="*/ 320 h 320"/>
                <a:gd name="T20" fmla="*/ 224 w 235"/>
                <a:gd name="T21" fmla="*/ 320 h 320"/>
                <a:gd name="T22" fmla="*/ 235 w 235"/>
                <a:gd name="T23" fmla="*/ 309 h 320"/>
                <a:gd name="T24" fmla="*/ 235 w 235"/>
                <a:gd name="T25" fmla="*/ 160 h 320"/>
                <a:gd name="T26" fmla="*/ 224 w 235"/>
                <a:gd name="T27" fmla="*/ 149 h 320"/>
                <a:gd name="T28" fmla="*/ 43 w 235"/>
                <a:gd name="T29" fmla="*/ 96 h 320"/>
                <a:gd name="T30" fmla="*/ 118 w 235"/>
                <a:gd name="T31" fmla="*/ 21 h 320"/>
                <a:gd name="T32" fmla="*/ 192 w 235"/>
                <a:gd name="T33" fmla="*/ 96 h 320"/>
                <a:gd name="T34" fmla="*/ 192 w 235"/>
                <a:gd name="T35" fmla="*/ 149 h 320"/>
                <a:gd name="T36" fmla="*/ 43 w 235"/>
                <a:gd name="T37" fmla="*/ 149 h 320"/>
                <a:gd name="T38" fmla="*/ 43 w 235"/>
                <a:gd name="T39" fmla="*/ 96 h 320"/>
                <a:gd name="T40" fmla="*/ 214 w 235"/>
                <a:gd name="T41" fmla="*/ 298 h 320"/>
                <a:gd name="T42" fmla="*/ 22 w 235"/>
                <a:gd name="T43" fmla="*/ 298 h 320"/>
                <a:gd name="T44" fmla="*/ 22 w 235"/>
                <a:gd name="T45" fmla="*/ 170 h 320"/>
                <a:gd name="T46" fmla="*/ 214 w 235"/>
                <a:gd name="T47" fmla="*/ 170 h 320"/>
                <a:gd name="T48" fmla="*/ 214 w 235"/>
                <a:gd name="T49" fmla="*/ 29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5" h="320">
                  <a:moveTo>
                    <a:pt x="224" y="149"/>
                  </a:moveTo>
                  <a:cubicBezTo>
                    <a:pt x="214" y="149"/>
                    <a:pt x="214" y="149"/>
                    <a:pt x="214" y="149"/>
                  </a:cubicBezTo>
                  <a:cubicBezTo>
                    <a:pt x="214" y="96"/>
                    <a:pt x="214" y="96"/>
                    <a:pt x="214" y="96"/>
                  </a:cubicBezTo>
                  <a:cubicBezTo>
                    <a:pt x="214" y="43"/>
                    <a:pt x="171" y="0"/>
                    <a:pt x="118" y="0"/>
                  </a:cubicBezTo>
                  <a:cubicBezTo>
                    <a:pt x="65" y="0"/>
                    <a:pt x="22" y="43"/>
                    <a:pt x="22" y="96"/>
                  </a:cubicBezTo>
                  <a:cubicBezTo>
                    <a:pt x="22" y="149"/>
                    <a:pt x="22" y="149"/>
                    <a:pt x="22" y="149"/>
                  </a:cubicBezTo>
                  <a:cubicBezTo>
                    <a:pt x="11" y="149"/>
                    <a:pt x="11" y="149"/>
                    <a:pt x="11" y="149"/>
                  </a:cubicBezTo>
                  <a:cubicBezTo>
                    <a:pt x="5" y="149"/>
                    <a:pt x="0" y="154"/>
                    <a:pt x="0" y="160"/>
                  </a:cubicBezTo>
                  <a:cubicBezTo>
                    <a:pt x="0" y="309"/>
                    <a:pt x="0" y="309"/>
                    <a:pt x="0" y="309"/>
                  </a:cubicBezTo>
                  <a:cubicBezTo>
                    <a:pt x="0" y="315"/>
                    <a:pt x="5" y="320"/>
                    <a:pt x="11" y="320"/>
                  </a:cubicBezTo>
                  <a:cubicBezTo>
                    <a:pt x="224" y="320"/>
                    <a:pt x="224" y="320"/>
                    <a:pt x="224" y="320"/>
                  </a:cubicBezTo>
                  <a:cubicBezTo>
                    <a:pt x="230" y="320"/>
                    <a:pt x="235" y="315"/>
                    <a:pt x="235" y="309"/>
                  </a:cubicBezTo>
                  <a:cubicBezTo>
                    <a:pt x="235" y="160"/>
                    <a:pt x="235" y="160"/>
                    <a:pt x="235" y="160"/>
                  </a:cubicBezTo>
                  <a:cubicBezTo>
                    <a:pt x="235" y="154"/>
                    <a:pt x="230" y="149"/>
                    <a:pt x="224" y="149"/>
                  </a:cubicBezTo>
                  <a:close/>
                  <a:moveTo>
                    <a:pt x="43" y="96"/>
                  </a:moveTo>
                  <a:cubicBezTo>
                    <a:pt x="43" y="54"/>
                    <a:pt x="76" y="21"/>
                    <a:pt x="118" y="21"/>
                  </a:cubicBezTo>
                  <a:cubicBezTo>
                    <a:pt x="159" y="21"/>
                    <a:pt x="192" y="54"/>
                    <a:pt x="192" y="96"/>
                  </a:cubicBezTo>
                  <a:cubicBezTo>
                    <a:pt x="192" y="149"/>
                    <a:pt x="192" y="149"/>
                    <a:pt x="192" y="149"/>
                  </a:cubicBezTo>
                  <a:cubicBezTo>
                    <a:pt x="43" y="149"/>
                    <a:pt x="43" y="149"/>
                    <a:pt x="43" y="149"/>
                  </a:cubicBezTo>
                  <a:lnTo>
                    <a:pt x="43" y="96"/>
                  </a:lnTo>
                  <a:close/>
                  <a:moveTo>
                    <a:pt x="214" y="298"/>
                  </a:moveTo>
                  <a:cubicBezTo>
                    <a:pt x="22" y="298"/>
                    <a:pt x="22" y="298"/>
                    <a:pt x="22" y="298"/>
                  </a:cubicBezTo>
                  <a:cubicBezTo>
                    <a:pt x="22" y="170"/>
                    <a:pt x="22" y="170"/>
                    <a:pt x="22" y="170"/>
                  </a:cubicBezTo>
                  <a:cubicBezTo>
                    <a:pt x="214" y="170"/>
                    <a:pt x="214" y="170"/>
                    <a:pt x="214" y="170"/>
                  </a:cubicBezTo>
                  <a:lnTo>
                    <a:pt x="214" y="298"/>
                  </a:ln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Verdana"/>
                <a:ea typeface="+mn-ea"/>
                <a:cs typeface="+mn-cs"/>
              </a:endParaRPr>
            </a:p>
          </p:txBody>
        </p:sp>
        <p:grpSp>
          <p:nvGrpSpPr>
            <p:cNvPr id="29" name="Group 28">
              <a:extLst>
                <a:ext uri="{FF2B5EF4-FFF2-40B4-BE49-F238E27FC236}">
                  <a16:creationId xmlns:a16="http://schemas.microsoft.com/office/drawing/2014/main" id="{264E2DED-4B98-4854-9376-DF3329963E72}"/>
                </a:ext>
              </a:extLst>
            </p:cNvPr>
            <p:cNvGrpSpPr/>
            <p:nvPr/>
          </p:nvGrpSpPr>
          <p:grpSpPr>
            <a:xfrm>
              <a:off x="672598" y="5630563"/>
              <a:ext cx="444164" cy="431952"/>
              <a:chOff x="1066344" y="5529869"/>
              <a:chExt cx="509117" cy="431952"/>
            </a:xfrm>
          </p:grpSpPr>
          <p:sp>
            <p:nvSpPr>
              <p:cNvPr id="33" name="Flowchart: Connector 32">
                <a:extLst>
                  <a:ext uri="{FF2B5EF4-FFF2-40B4-BE49-F238E27FC236}">
                    <a16:creationId xmlns:a16="http://schemas.microsoft.com/office/drawing/2014/main" id="{713AB30E-5E46-4D98-8B5A-6C8A5C71A95C}"/>
                  </a:ext>
                </a:extLst>
              </p:cNvPr>
              <p:cNvSpPr/>
              <p:nvPr/>
            </p:nvSpPr>
            <p:spPr bwMode="gray">
              <a:xfrm>
                <a:off x="1082452" y="5852883"/>
                <a:ext cx="106279" cy="108938"/>
              </a:xfrm>
              <a:prstGeom prst="flowChartConnector">
                <a:avLst/>
              </a:prstGeom>
              <a:noFill/>
              <a:ln w="19050" algn="ctr">
                <a:solidFill>
                  <a:sysClr val="window" lastClr="FFFFFF"/>
                </a:solid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prstClr val="white"/>
                  </a:solidFill>
                  <a:effectLst/>
                  <a:uLnTx/>
                  <a:uFillTx/>
                  <a:latin typeface="Verdana"/>
                  <a:ea typeface="+mn-ea"/>
                  <a:cs typeface="+mn-cs"/>
                </a:endParaRPr>
              </a:p>
            </p:txBody>
          </p:sp>
          <p:sp>
            <p:nvSpPr>
              <p:cNvPr id="34" name="Flowchart: Connector 33">
                <a:extLst>
                  <a:ext uri="{FF2B5EF4-FFF2-40B4-BE49-F238E27FC236}">
                    <a16:creationId xmlns:a16="http://schemas.microsoft.com/office/drawing/2014/main" id="{B625C2D0-C242-4531-B7A9-AC3677CDFC87}"/>
                  </a:ext>
                </a:extLst>
              </p:cNvPr>
              <p:cNvSpPr/>
              <p:nvPr/>
            </p:nvSpPr>
            <p:spPr bwMode="gray">
              <a:xfrm>
                <a:off x="1469182" y="5569172"/>
                <a:ext cx="106279" cy="108938"/>
              </a:xfrm>
              <a:prstGeom prst="flowChartConnector">
                <a:avLst/>
              </a:prstGeom>
              <a:noFill/>
              <a:ln w="19050" algn="ctr">
                <a:solidFill>
                  <a:sysClr val="window" lastClr="FFFFFF"/>
                </a:solid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prstClr val="white"/>
                  </a:solidFill>
                  <a:effectLst/>
                  <a:uLnTx/>
                  <a:uFillTx/>
                  <a:latin typeface="Verdana"/>
                  <a:ea typeface="+mn-ea"/>
                  <a:cs typeface="+mn-cs"/>
                </a:endParaRPr>
              </a:p>
            </p:txBody>
          </p:sp>
          <p:cxnSp>
            <p:nvCxnSpPr>
              <p:cNvPr id="35" name="Curved Connector 50">
                <a:extLst>
                  <a:ext uri="{FF2B5EF4-FFF2-40B4-BE49-F238E27FC236}">
                    <a16:creationId xmlns:a16="http://schemas.microsoft.com/office/drawing/2014/main" id="{0F4F56F8-B6E1-4FF8-B833-6374E67435A0}"/>
                  </a:ext>
                </a:extLst>
              </p:cNvPr>
              <p:cNvCxnSpPr>
                <a:stCxn id="33" idx="0"/>
                <a:endCxn id="34" idx="2"/>
              </p:cNvCxnSpPr>
              <p:nvPr/>
            </p:nvCxnSpPr>
            <p:spPr>
              <a:xfrm rot="5400000" flipH="1" flipV="1">
                <a:off x="1187766" y="5571467"/>
                <a:ext cx="229242" cy="333590"/>
              </a:xfrm>
              <a:prstGeom prst="curvedConnector2">
                <a:avLst/>
              </a:prstGeom>
              <a:noFill/>
              <a:ln w="19050" cap="flat" cmpd="sng" algn="ctr">
                <a:solidFill>
                  <a:sysClr val="window" lastClr="FFFFFF"/>
                </a:solidFill>
                <a:prstDash val="solid"/>
                <a:tailEnd type="arrow"/>
              </a:ln>
              <a:effectLst/>
            </p:spPr>
          </p:cxnSp>
          <p:sp>
            <p:nvSpPr>
              <p:cNvPr id="36" name="Multiply 51">
                <a:extLst>
                  <a:ext uri="{FF2B5EF4-FFF2-40B4-BE49-F238E27FC236}">
                    <a16:creationId xmlns:a16="http://schemas.microsoft.com/office/drawing/2014/main" id="{CA6245F0-FBA9-4457-953E-AB5E2585D9E9}"/>
                  </a:ext>
                </a:extLst>
              </p:cNvPr>
              <p:cNvSpPr/>
              <p:nvPr/>
            </p:nvSpPr>
            <p:spPr bwMode="gray">
              <a:xfrm>
                <a:off x="1066344" y="5529869"/>
                <a:ext cx="180524" cy="159650"/>
              </a:xfrm>
              <a:prstGeom prst="mathMultiply">
                <a:avLst/>
              </a:prstGeom>
              <a:solidFill>
                <a:sysClr val="window" lastClr="FFFFFF"/>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prstClr val="white"/>
                  </a:solidFill>
                  <a:effectLst/>
                  <a:uLnTx/>
                  <a:uFillTx/>
                  <a:latin typeface="Verdana"/>
                  <a:ea typeface="+mn-ea"/>
                  <a:cs typeface="+mn-cs"/>
                </a:endParaRPr>
              </a:p>
            </p:txBody>
          </p:sp>
          <p:sp>
            <p:nvSpPr>
              <p:cNvPr id="37" name="Multiply 52">
                <a:extLst>
                  <a:ext uri="{FF2B5EF4-FFF2-40B4-BE49-F238E27FC236}">
                    <a16:creationId xmlns:a16="http://schemas.microsoft.com/office/drawing/2014/main" id="{E0DF544F-8BF3-461D-A64C-6C5FDB92688B}"/>
                  </a:ext>
                </a:extLst>
              </p:cNvPr>
              <p:cNvSpPr/>
              <p:nvPr/>
            </p:nvSpPr>
            <p:spPr bwMode="gray">
              <a:xfrm>
                <a:off x="1229188" y="5748218"/>
                <a:ext cx="180524" cy="159650"/>
              </a:xfrm>
              <a:prstGeom prst="mathMultiply">
                <a:avLst/>
              </a:prstGeom>
              <a:solidFill>
                <a:sysClr val="window" lastClr="FFFFFF"/>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0" cap="none" spc="0" normalizeH="0" baseline="0" noProof="0">
                  <a:ln>
                    <a:noFill/>
                  </a:ln>
                  <a:solidFill>
                    <a:prstClr val="white"/>
                  </a:solidFill>
                  <a:effectLst/>
                  <a:uLnTx/>
                  <a:uFillTx/>
                  <a:latin typeface="Verdana"/>
                  <a:ea typeface="+mn-ea"/>
                  <a:cs typeface="+mn-cs"/>
                </a:endParaRPr>
              </a:p>
            </p:txBody>
          </p:sp>
        </p:grpSp>
        <p:sp>
          <p:nvSpPr>
            <p:cNvPr id="30" name="Rectangle 65">
              <a:extLst>
                <a:ext uri="{FF2B5EF4-FFF2-40B4-BE49-F238E27FC236}">
                  <a16:creationId xmlns:a16="http://schemas.microsoft.com/office/drawing/2014/main" id="{1CDE3856-6F1E-4A04-A57C-9DFD0EBE0010}"/>
                </a:ext>
              </a:extLst>
            </p:cNvPr>
            <p:cNvSpPr/>
            <p:nvPr/>
          </p:nvSpPr>
          <p:spPr bwMode="gray">
            <a:xfrm>
              <a:off x="421959" y="2347036"/>
              <a:ext cx="1264959" cy="3512820"/>
            </a:xfrm>
            <a:custGeom>
              <a:avLst/>
              <a:gdLst>
                <a:gd name="connsiteX0" fmla="*/ 0 w 1449939"/>
                <a:gd name="connsiteY0" fmla="*/ 0 h 3506529"/>
                <a:gd name="connsiteX1" fmla="*/ 1449939 w 1449939"/>
                <a:gd name="connsiteY1" fmla="*/ 0 h 3506529"/>
                <a:gd name="connsiteX2" fmla="*/ 1449939 w 1449939"/>
                <a:gd name="connsiteY2" fmla="*/ 3506529 h 3506529"/>
                <a:gd name="connsiteX3" fmla="*/ 0 w 1449939"/>
                <a:gd name="connsiteY3" fmla="*/ 3506529 h 3506529"/>
                <a:gd name="connsiteX4" fmla="*/ 0 w 1449939"/>
                <a:gd name="connsiteY4" fmla="*/ 0 h 3506529"/>
                <a:gd name="connsiteX0" fmla="*/ 0 w 1449939"/>
                <a:gd name="connsiteY0" fmla="*/ 0 h 3506529"/>
                <a:gd name="connsiteX1" fmla="*/ 1449939 w 1449939"/>
                <a:gd name="connsiteY1" fmla="*/ 0 h 3506529"/>
                <a:gd name="connsiteX2" fmla="*/ 1449939 w 1449939"/>
                <a:gd name="connsiteY2" fmla="*/ 3506529 h 3506529"/>
                <a:gd name="connsiteX3" fmla="*/ 0 w 1449939"/>
                <a:gd name="connsiteY3" fmla="*/ 3506529 h 3506529"/>
                <a:gd name="connsiteX4" fmla="*/ 0 w 1449939"/>
                <a:gd name="connsiteY4" fmla="*/ 0 h 3506529"/>
                <a:gd name="connsiteX0" fmla="*/ 0 w 1449939"/>
                <a:gd name="connsiteY0" fmla="*/ 6291 h 3512820"/>
                <a:gd name="connsiteX1" fmla="*/ 1449939 w 1449939"/>
                <a:gd name="connsiteY1" fmla="*/ 6291 h 3512820"/>
                <a:gd name="connsiteX2" fmla="*/ 2139 w 1449939"/>
                <a:gd name="connsiteY2" fmla="*/ 0 h 3512820"/>
                <a:gd name="connsiteX3" fmla="*/ 0 w 1449939"/>
                <a:gd name="connsiteY3" fmla="*/ 3512820 h 3512820"/>
                <a:gd name="connsiteX4" fmla="*/ 0 w 1449939"/>
                <a:gd name="connsiteY4" fmla="*/ 6291 h 3512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939" h="3512820">
                  <a:moveTo>
                    <a:pt x="0" y="6291"/>
                  </a:moveTo>
                  <a:lnTo>
                    <a:pt x="1449939" y="6291"/>
                  </a:lnTo>
                  <a:lnTo>
                    <a:pt x="2139" y="0"/>
                  </a:lnTo>
                  <a:lnTo>
                    <a:pt x="0" y="3512820"/>
                  </a:lnTo>
                  <a:lnTo>
                    <a:pt x="0" y="6291"/>
                  </a:lnTo>
                  <a:close/>
                </a:path>
              </a:pathLst>
            </a:custGeom>
            <a:noFill/>
            <a:ln w="19050" algn="ctr">
              <a:solidFill>
                <a:srgbClr val="D0D0CE"/>
              </a:solidFill>
              <a:miter lim="800000"/>
              <a:headEnd/>
              <a:tailEnd/>
            </a:ln>
          </p:spPr>
          <p:txBody>
            <a:bodyPr wrap="square" lIns="88900" tIns="88900" rIns="88900" bIns="88900" rtlCol="0" anchor="t"/>
            <a:lstStyle/>
            <a:p>
              <a:pPr marL="0" marR="0" lvl="0" indent="0" algn="l"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050" b="0" i="0" u="none" strike="noStrike" kern="0" cap="none" spc="0" normalizeH="0" baseline="0" noProof="0">
                  <a:ln>
                    <a:noFill/>
                  </a:ln>
                  <a:solidFill>
                    <a:srgbClr val="75787B"/>
                  </a:solidFill>
                  <a:effectLst/>
                  <a:uLnTx/>
                  <a:uFillTx/>
                  <a:latin typeface="Verdana"/>
                  <a:ea typeface="+mn-ea"/>
                  <a:cs typeface="+mn-cs"/>
                </a:rPr>
                <a:t>Bringing global, integrated, and cross-/micro- industry perspectives to solve the PIF’s most complex problems</a:t>
              </a:r>
            </a:p>
          </p:txBody>
        </p:sp>
        <p:sp>
          <p:nvSpPr>
            <p:cNvPr id="31" name="Rectangle 65">
              <a:extLst>
                <a:ext uri="{FF2B5EF4-FFF2-40B4-BE49-F238E27FC236}">
                  <a16:creationId xmlns:a16="http://schemas.microsoft.com/office/drawing/2014/main" id="{BC2C8F85-B368-4130-B68F-7B94D424C655}"/>
                </a:ext>
              </a:extLst>
            </p:cNvPr>
            <p:cNvSpPr/>
            <p:nvPr/>
          </p:nvSpPr>
          <p:spPr bwMode="gray">
            <a:xfrm flipH="1">
              <a:off x="4758226" y="3354073"/>
              <a:ext cx="1264959" cy="2408205"/>
            </a:xfrm>
            <a:custGeom>
              <a:avLst/>
              <a:gdLst>
                <a:gd name="connsiteX0" fmla="*/ 0 w 1449939"/>
                <a:gd name="connsiteY0" fmla="*/ 0 h 3506529"/>
                <a:gd name="connsiteX1" fmla="*/ 1449939 w 1449939"/>
                <a:gd name="connsiteY1" fmla="*/ 0 h 3506529"/>
                <a:gd name="connsiteX2" fmla="*/ 1449939 w 1449939"/>
                <a:gd name="connsiteY2" fmla="*/ 3506529 h 3506529"/>
                <a:gd name="connsiteX3" fmla="*/ 0 w 1449939"/>
                <a:gd name="connsiteY3" fmla="*/ 3506529 h 3506529"/>
                <a:gd name="connsiteX4" fmla="*/ 0 w 1449939"/>
                <a:gd name="connsiteY4" fmla="*/ 0 h 3506529"/>
                <a:gd name="connsiteX0" fmla="*/ 0 w 1449939"/>
                <a:gd name="connsiteY0" fmla="*/ 0 h 3506529"/>
                <a:gd name="connsiteX1" fmla="*/ 1449939 w 1449939"/>
                <a:gd name="connsiteY1" fmla="*/ 0 h 3506529"/>
                <a:gd name="connsiteX2" fmla="*/ 1449939 w 1449939"/>
                <a:gd name="connsiteY2" fmla="*/ 3506529 h 3506529"/>
                <a:gd name="connsiteX3" fmla="*/ 0 w 1449939"/>
                <a:gd name="connsiteY3" fmla="*/ 3506529 h 3506529"/>
                <a:gd name="connsiteX4" fmla="*/ 0 w 1449939"/>
                <a:gd name="connsiteY4" fmla="*/ 0 h 3506529"/>
                <a:gd name="connsiteX0" fmla="*/ 0 w 1449939"/>
                <a:gd name="connsiteY0" fmla="*/ 6291 h 3512820"/>
                <a:gd name="connsiteX1" fmla="*/ 1449939 w 1449939"/>
                <a:gd name="connsiteY1" fmla="*/ 6291 h 3512820"/>
                <a:gd name="connsiteX2" fmla="*/ 2139 w 1449939"/>
                <a:gd name="connsiteY2" fmla="*/ 0 h 3512820"/>
                <a:gd name="connsiteX3" fmla="*/ 0 w 1449939"/>
                <a:gd name="connsiteY3" fmla="*/ 3512820 h 3512820"/>
                <a:gd name="connsiteX4" fmla="*/ 0 w 1449939"/>
                <a:gd name="connsiteY4" fmla="*/ 6291 h 3512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939" h="3512820">
                  <a:moveTo>
                    <a:pt x="0" y="6291"/>
                  </a:moveTo>
                  <a:lnTo>
                    <a:pt x="1449939" y="6291"/>
                  </a:lnTo>
                  <a:lnTo>
                    <a:pt x="2139" y="0"/>
                  </a:lnTo>
                  <a:lnTo>
                    <a:pt x="0" y="3512820"/>
                  </a:lnTo>
                  <a:lnTo>
                    <a:pt x="0" y="6291"/>
                  </a:lnTo>
                  <a:close/>
                </a:path>
              </a:pathLst>
            </a:custGeom>
            <a:noFill/>
            <a:ln w="19050" algn="ctr">
              <a:solidFill>
                <a:srgbClr val="D0D0CE"/>
              </a:solidFill>
              <a:miter lim="800000"/>
              <a:headEnd/>
              <a:tailEnd/>
            </a:ln>
          </p:spPr>
          <p:txBody>
            <a:bodyPr wrap="square" lIns="88900" tIns="88900" rIns="88900" bIns="88900" rtlCol="0" anchor="t"/>
            <a:lstStyle/>
            <a:p>
              <a:pPr marL="0" marR="0" lvl="0" indent="0" algn="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050" b="0" i="0" u="none" strike="noStrike" kern="0" cap="none" spc="0" normalizeH="0" baseline="0" noProof="0">
                  <a:ln>
                    <a:noFill/>
                  </a:ln>
                  <a:solidFill>
                    <a:srgbClr val="75787B"/>
                  </a:solidFill>
                  <a:effectLst/>
                  <a:uLnTx/>
                  <a:uFillTx/>
                  <a:latin typeface="Verdana"/>
                  <a:ea typeface="+mn-ea"/>
                  <a:cs typeface="+mn-cs"/>
                </a:rPr>
                <a:t>Unmatched breadth and depth of skills and capabilities</a:t>
              </a:r>
            </a:p>
          </p:txBody>
        </p:sp>
        <p:sp>
          <p:nvSpPr>
            <p:cNvPr id="32" name="Rectangle 65">
              <a:extLst>
                <a:ext uri="{FF2B5EF4-FFF2-40B4-BE49-F238E27FC236}">
                  <a16:creationId xmlns:a16="http://schemas.microsoft.com/office/drawing/2014/main" id="{76B77712-3693-4626-9DE0-BB16D7C8E4CA}"/>
                </a:ext>
              </a:extLst>
            </p:cNvPr>
            <p:cNvSpPr/>
            <p:nvPr/>
          </p:nvSpPr>
          <p:spPr bwMode="gray">
            <a:xfrm rot="5400000">
              <a:off x="3941055" y="1150633"/>
              <a:ext cx="903829" cy="2100972"/>
            </a:xfrm>
            <a:custGeom>
              <a:avLst/>
              <a:gdLst>
                <a:gd name="connsiteX0" fmla="*/ 0 w 1449939"/>
                <a:gd name="connsiteY0" fmla="*/ 0 h 3506529"/>
                <a:gd name="connsiteX1" fmla="*/ 1449939 w 1449939"/>
                <a:gd name="connsiteY1" fmla="*/ 0 h 3506529"/>
                <a:gd name="connsiteX2" fmla="*/ 1449939 w 1449939"/>
                <a:gd name="connsiteY2" fmla="*/ 3506529 h 3506529"/>
                <a:gd name="connsiteX3" fmla="*/ 0 w 1449939"/>
                <a:gd name="connsiteY3" fmla="*/ 3506529 h 3506529"/>
                <a:gd name="connsiteX4" fmla="*/ 0 w 1449939"/>
                <a:gd name="connsiteY4" fmla="*/ 0 h 3506529"/>
                <a:gd name="connsiteX0" fmla="*/ 0 w 1449939"/>
                <a:gd name="connsiteY0" fmla="*/ 0 h 3506529"/>
                <a:gd name="connsiteX1" fmla="*/ 1449939 w 1449939"/>
                <a:gd name="connsiteY1" fmla="*/ 0 h 3506529"/>
                <a:gd name="connsiteX2" fmla="*/ 1449939 w 1449939"/>
                <a:gd name="connsiteY2" fmla="*/ 3506529 h 3506529"/>
                <a:gd name="connsiteX3" fmla="*/ 0 w 1449939"/>
                <a:gd name="connsiteY3" fmla="*/ 3506529 h 3506529"/>
                <a:gd name="connsiteX4" fmla="*/ 0 w 1449939"/>
                <a:gd name="connsiteY4" fmla="*/ 0 h 3506529"/>
                <a:gd name="connsiteX0" fmla="*/ 0 w 1449939"/>
                <a:gd name="connsiteY0" fmla="*/ 6291 h 3512820"/>
                <a:gd name="connsiteX1" fmla="*/ 1449939 w 1449939"/>
                <a:gd name="connsiteY1" fmla="*/ 6291 h 3512820"/>
                <a:gd name="connsiteX2" fmla="*/ 2139 w 1449939"/>
                <a:gd name="connsiteY2" fmla="*/ 0 h 3512820"/>
                <a:gd name="connsiteX3" fmla="*/ 0 w 1449939"/>
                <a:gd name="connsiteY3" fmla="*/ 3512820 h 3512820"/>
                <a:gd name="connsiteX4" fmla="*/ 0 w 1449939"/>
                <a:gd name="connsiteY4" fmla="*/ 6291 h 3512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9939" h="3512820">
                  <a:moveTo>
                    <a:pt x="0" y="6291"/>
                  </a:moveTo>
                  <a:lnTo>
                    <a:pt x="1449939" y="6291"/>
                  </a:lnTo>
                  <a:lnTo>
                    <a:pt x="2139" y="0"/>
                  </a:lnTo>
                  <a:lnTo>
                    <a:pt x="0" y="3512820"/>
                  </a:lnTo>
                  <a:lnTo>
                    <a:pt x="0" y="6291"/>
                  </a:lnTo>
                  <a:close/>
                </a:path>
              </a:pathLst>
            </a:custGeom>
            <a:noFill/>
            <a:ln w="19050" algn="ctr">
              <a:solidFill>
                <a:srgbClr val="D0D0CE"/>
              </a:solidFill>
              <a:miter lim="800000"/>
              <a:headEnd/>
              <a:tailEnd/>
            </a:ln>
          </p:spPr>
          <p:txBody>
            <a:bodyPr vert="vert270" wrap="square" lIns="88900" tIns="88900" rIns="88900" bIns="88900" rtlCol="0" anchor="t"/>
            <a:lstStyle/>
            <a:p>
              <a:pPr marL="0" marR="0" lvl="0" indent="0" algn="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050" b="0" i="0" u="none" strike="noStrike" kern="0" cap="none" spc="0" normalizeH="0" baseline="0" noProof="0">
                  <a:ln>
                    <a:noFill/>
                  </a:ln>
                  <a:solidFill>
                    <a:srgbClr val="75787B"/>
                  </a:solidFill>
                  <a:effectLst/>
                  <a:uLnTx/>
                  <a:uFillTx/>
                  <a:latin typeface="Verdana"/>
                  <a:ea typeface="+mn-ea"/>
                  <a:cs typeface="+mn-cs"/>
                </a:rPr>
                <a:t>Collaboration, innovation, industry insight, advice &amp; implementation</a:t>
              </a:r>
            </a:p>
          </p:txBody>
        </p:sp>
      </p:grpSp>
      <p:sp>
        <p:nvSpPr>
          <p:cNvPr id="52" name="Content Placeholder 3">
            <a:extLst>
              <a:ext uri="{FF2B5EF4-FFF2-40B4-BE49-F238E27FC236}">
                <a16:creationId xmlns:a16="http://schemas.microsoft.com/office/drawing/2014/main" id="{D3A30046-D758-4A9E-AC21-1974EC406E94}"/>
              </a:ext>
            </a:extLst>
          </p:cNvPr>
          <p:cNvSpPr txBox="1">
            <a:spLocks/>
          </p:cNvSpPr>
          <p:nvPr/>
        </p:nvSpPr>
        <p:spPr>
          <a:xfrm>
            <a:off x="317507" y="2431265"/>
            <a:ext cx="2996321" cy="3111595"/>
          </a:xfrm>
          <a:prstGeom prst="rect">
            <a:avLst/>
          </a:prstGeom>
        </p:spPr>
        <p:txBody>
          <a:bodyPr/>
          <a:lstStyle>
            <a:lvl1pPr marL="0" indent="0" algn="l" defTabSz="990571" rtl="0" eaLnBrk="1" latinLnBrk="0" hangingPunct="1">
              <a:spcBef>
                <a:spcPts val="0"/>
              </a:spcBef>
              <a:spcAft>
                <a:spcPts val="1083"/>
              </a:spcAft>
              <a:buSzPct val="100000"/>
              <a:buFont typeface="Arial" panose="020B0604020202020204" pitchFamily="34" charset="0"/>
              <a:buNone/>
              <a:defRPr sz="1000" b="0" kern="1200">
                <a:solidFill>
                  <a:schemeClr val="tx1"/>
                </a:solidFill>
                <a:latin typeface="+mn-lt"/>
                <a:ea typeface="+mn-ea"/>
                <a:cs typeface="+mn-cs"/>
              </a:defRPr>
            </a:lvl1pPr>
            <a:lvl2pPr marL="0" indent="0" algn="l" defTabSz="990571" rtl="0" eaLnBrk="1" latinLnBrk="0" hangingPunct="1">
              <a:spcBef>
                <a:spcPts val="0"/>
              </a:spcBef>
              <a:spcAft>
                <a:spcPts val="1083"/>
              </a:spcAft>
              <a:buClrTx/>
              <a:buSzPct val="100000"/>
              <a:buFont typeface="Arial"/>
              <a:buNone/>
              <a:defRPr lang="en-US" sz="1000" b="1" kern="1200" dirty="0" smtClean="0">
                <a:solidFill>
                  <a:schemeClr val="tx1"/>
                </a:solidFill>
                <a:latin typeface="+mn-lt"/>
                <a:ea typeface="+mn-ea"/>
                <a:cs typeface="+mn-cs"/>
              </a:defRPr>
            </a:lvl2pPr>
            <a:lvl3pPr marL="191094" indent="-191094" algn="l" defTabSz="990571" rtl="0" eaLnBrk="1" latinLnBrk="0" hangingPunct="1">
              <a:spcBef>
                <a:spcPts val="0"/>
              </a:spcBef>
              <a:spcAft>
                <a:spcPts val="1083"/>
              </a:spcAft>
              <a:buClrTx/>
              <a:buSzPct val="100000"/>
              <a:buFont typeface="Arial" panose="020B0604020202020204" pitchFamily="34" charset="0"/>
              <a:buChar char="•"/>
              <a:defRPr lang="en-US" sz="1000" kern="1200" dirty="0" smtClean="0">
                <a:solidFill>
                  <a:schemeClr val="tx1"/>
                </a:solidFill>
                <a:latin typeface="+mn-lt"/>
                <a:ea typeface="+mn-ea"/>
                <a:cs typeface="+mn-cs"/>
              </a:defRPr>
            </a:lvl3pPr>
            <a:lvl4pPr marL="386089" indent="-191094" algn="l" defTabSz="990571" rtl="0" eaLnBrk="1" latinLnBrk="0" hangingPunct="1">
              <a:spcBef>
                <a:spcPts val="0"/>
              </a:spcBef>
              <a:spcAft>
                <a:spcPts val="1083"/>
              </a:spcAft>
              <a:buClrTx/>
              <a:buSzPct val="100000"/>
              <a:buFont typeface="Verdana" panose="020B0604030504040204" pitchFamily="34" charset="0"/>
              <a:buChar char="−"/>
              <a:defRPr lang="en-US" sz="1000" kern="1200" baseline="0" dirty="0" smtClean="0">
                <a:solidFill>
                  <a:schemeClr val="tx1"/>
                </a:solidFill>
                <a:latin typeface="+mn-lt"/>
                <a:ea typeface="+mn-ea"/>
                <a:cs typeface="+mn-cs"/>
              </a:defRPr>
            </a:lvl4pPr>
            <a:lvl5pPr marL="577182" indent="-191094" algn="l" defTabSz="865030" rtl="0" eaLnBrk="1" latinLnBrk="0" hangingPunct="1">
              <a:spcBef>
                <a:spcPts val="0"/>
              </a:spcBef>
              <a:spcAft>
                <a:spcPts val="1083"/>
              </a:spcAft>
              <a:buClrTx/>
              <a:buSzPct val="100000"/>
              <a:buFont typeface="Verdana" panose="020B0604030504040204" pitchFamily="34" charset="0"/>
              <a:buChar char="−"/>
              <a:tabLst/>
              <a:defRPr lang="en-US" sz="1000" kern="1200" baseline="0" dirty="0" smtClean="0">
                <a:solidFill>
                  <a:schemeClr val="tx1"/>
                </a:solidFill>
                <a:latin typeface="+mn-lt"/>
                <a:ea typeface="+mn-ea"/>
                <a:cs typeface="+mn-cs"/>
              </a:defRPr>
            </a:lvl5pPr>
            <a:lvl6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6pPr>
            <a:lvl7pPr marL="577182" indent="-191094" algn="l" defTabSz="990571" rtl="0" eaLnBrk="1" latinLnBrk="0" hangingPunct="1">
              <a:spcBef>
                <a:spcPts val="0"/>
              </a:spcBef>
              <a:spcAft>
                <a:spcPts val="1083"/>
              </a:spcAft>
              <a:buFont typeface="Verdana" panose="020B0604030504040204" pitchFamily="34" charset="0"/>
              <a:buChar char="−"/>
              <a:defRPr sz="1300" kern="1200">
                <a:solidFill>
                  <a:schemeClr val="tx1"/>
                </a:solidFill>
                <a:latin typeface="+mn-lt"/>
                <a:ea typeface="+mn-ea"/>
                <a:cs typeface="+mn-cs"/>
              </a:defRPr>
            </a:lvl7pPr>
            <a:lvl8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8pPr>
            <a:lvl9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9pPr>
          </a:lstStyle>
          <a:p>
            <a:pPr marL="285750" marR="0" lvl="0" indent="-285750" algn="just" defTabSz="990571" rtl="0" eaLnBrk="1" fontAlgn="auto" latinLnBrk="0" hangingPunct="1">
              <a:lnSpc>
                <a:spcPct val="100000"/>
              </a:lnSpc>
              <a:spcBef>
                <a:spcPts val="0"/>
              </a:spcBef>
              <a:spcAft>
                <a:spcPts val="1083"/>
              </a:spcAft>
              <a:buClr>
                <a:srgbClr val="86BC25"/>
              </a:buClr>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Verdana"/>
                <a:ea typeface="+mn-ea"/>
                <a:cs typeface="+mn-cs"/>
              </a:rPr>
              <a:t>Committed to being </a:t>
            </a:r>
            <a:r>
              <a:rPr kumimoji="0" lang="en-US" sz="1100" b="1" i="0" u="none" strike="noStrike" kern="1200" cap="none" spc="0" normalizeH="0" baseline="0" noProof="0">
                <a:ln>
                  <a:noFill/>
                </a:ln>
                <a:solidFill>
                  <a:schemeClr val="accent5"/>
                </a:solidFill>
                <a:effectLst/>
                <a:uLnTx/>
                <a:uFillTx/>
                <a:latin typeface="Verdana"/>
                <a:ea typeface="+mn-ea"/>
                <a:cs typeface="+mn-cs"/>
              </a:rPr>
              <a:t>the best</a:t>
            </a:r>
            <a:r>
              <a:rPr kumimoji="0" lang="en-US" sz="1100" b="0" i="0" u="none" strike="noStrike" kern="1200" cap="none" spc="0" normalizeH="0" baseline="0" noProof="0">
                <a:ln>
                  <a:noFill/>
                </a:ln>
                <a:solidFill>
                  <a:schemeClr val="accent5"/>
                </a:solidFill>
                <a:effectLst/>
                <a:uLnTx/>
                <a:uFillTx/>
                <a:latin typeface="Verdana"/>
                <a:ea typeface="+mn-ea"/>
                <a:cs typeface="+mn-cs"/>
              </a:rPr>
              <a:t>, </a:t>
            </a:r>
            <a:r>
              <a:rPr kumimoji="0" lang="en-US" sz="1100" b="0" i="0" u="none" strike="noStrike" kern="1200" cap="none" spc="0" normalizeH="0" baseline="0" noProof="0">
                <a:ln>
                  <a:noFill/>
                </a:ln>
                <a:solidFill>
                  <a:prstClr val="black"/>
                </a:solidFill>
                <a:effectLst/>
                <a:uLnTx/>
                <a:uFillTx/>
                <a:latin typeface="Verdana"/>
                <a:ea typeface="+mn-ea"/>
                <a:cs typeface="+mn-cs"/>
              </a:rPr>
              <a:t>raising the bar higher and setting the pace for others to follow</a:t>
            </a:r>
          </a:p>
          <a:p>
            <a:pPr marL="285750" marR="0" lvl="0" indent="-285750" algn="just" defTabSz="990571" rtl="0" eaLnBrk="1" fontAlgn="auto" latinLnBrk="0" hangingPunct="1">
              <a:lnSpc>
                <a:spcPct val="100000"/>
              </a:lnSpc>
              <a:spcBef>
                <a:spcPts val="0"/>
              </a:spcBef>
              <a:spcAft>
                <a:spcPts val="1083"/>
              </a:spcAft>
              <a:buClr>
                <a:srgbClr val="86BC25"/>
              </a:buClr>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Verdana"/>
                <a:ea typeface="+mn-ea"/>
                <a:cs typeface="+mn-cs"/>
              </a:rPr>
              <a:t>Delivers against a broad and deep multidisciplinary portfolio of business capabilities that is </a:t>
            </a:r>
            <a:r>
              <a:rPr kumimoji="0" lang="en-US" sz="1100" b="1" i="0" u="none" strike="noStrike" kern="1200" cap="none" spc="0" normalizeH="0" baseline="0" noProof="0">
                <a:ln>
                  <a:noFill/>
                </a:ln>
                <a:solidFill>
                  <a:schemeClr val="accent5"/>
                </a:solidFill>
                <a:effectLst/>
                <a:uLnTx/>
                <a:uFillTx/>
                <a:latin typeface="Verdana"/>
                <a:ea typeface="+mn-ea"/>
                <a:cs typeface="+mn-cs"/>
              </a:rPr>
              <a:t>distinctive in our profession</a:t>
            </a:r>
            <a:endParaRPr kumimoji="0" lang="en-US" sz="1100" b="0" i="0" u="none" strike="noStrike" kern="1200" cap="none" spc="0" normalizeH="0" baseline="0" noProof="0">
              <a:ln>
                <a:noFill/>
              </a:ln>
              <a:solidFill>
                <a:schemeClr val="accent5"/>
              </a:solidFill>
              <a:effectLst/>
              <a:uLnTx/>
              <a:uFillTx/>
              <a:latin typeface="Verdana"/>
              <a:ea typeface="+mn-ea"/>
              <a:cs typeface="+mn-cs"/>
            </a:endParaRPr>
          </a:p>
          <a:p>
            <a:pPr marL="285750" marR="0" lvl="0" indent="-285750" algn="just" defTabSz="990571" rtl="0" eaLnBrk="1" fontAlgn="auto" latinLnBrk="0" hangingPunct="1">
              <a:lnSpc>
                <a:spcPct val="100000"/>
              </a:lnSpc>
              <a:spcBef>
                <a:spcPts val="0"/>
              </a:spcBef>
              <a:spcAft>
                <a:spcPts val="1083"/>
              </a:spcAft>
              <a:buClr>
                <a:srgbClr val="86BC25"/>
              </a:buClr>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Verdana"/>
                <a:ea typeface="+mn-ea"/>
                <a:cs typeface="+mn-cs"/>
              </a:rPr>
              <a:t>Recognized as </a:t>
            </a:r>
            <a:r>
              <a:rPr kumimoji="0" lang="en-US" sz="1100" b="1" i="0" u="none" strike="noStrike" kern="1200" cap="none" spc="0" normalizeH="0" baseline="0" noProof="0">
                <a:ln>
                  <a:noFill/>
                </a:ln>
                <a:solidFill>
                  <a:schemeClr val="accent5"/>
                </a:solidFill>
                <a:effectLst/>
                <a:uLnTx/>
                <a:uFillTx/>
                <a:latin typeface="Verdana"/>
                <a:ea typeface="+mn-ea"/>
                <a:cs typeface="+mn-cs"/>
              </a:rPr>
              <a:t>a leader</a:t>
            </a:r>
            <a:r>
              <a:rPr kumimoji="0" lang="en-US" sz="1100" b="0" i="0" u="none" strike="noStrike" kern="1200" cap="none" spc="0" normalizeH="0" baseline="0" noProof="0">
                <a:ln>
                  <a:noFill/>
                </a:ln>
                <a:solidFill>
                  <a:schemeClr val="accent5"/>
                </a:solidFill>
                <a:effectLst/>
                <a:uLnTx/>
                <a:uFillTx/>
                <a:latin typeface="Verdana"/>
                <a:ea typeface="+mn-ea"/>
                <a:cs typeface="+mn-cs"/>
              </a:rPr>
              <a:t> </a:t>
            </a:r>
            <a:r>
              <a:rPr kumimoji="0" lang="en-US" sz="1100" b="0" i="0" u="none" strike="noStrike" kern="1200" cap="none" spc="0" normalizeH="0" baseline="0" noProof="0">
                <a:ln>
                  <a:noFill/>
                </a:ln>
                <a:solidFill>
                  <a:prstClr val="black"/>
                </a:solidFill>
                <a:effectLst/>
                <a:uLnTx/>
                <a:uFillTx/>
                <a:latin typeface="Verdana"/>
                <a:ea typeface="+mn-ea"/>
                <a:cs typeface="+mn-cs"/>
              </a:rPr>
              <a:t>by independent experts across most capabilities and industries of any professional services provider</a:t>
            </a:r>
          </a:p>
          <a:p>
            <a:pPr marL="285750" marR="0" lvl="0" indent="-285750" algn="just" defTabSz="990571" rtl="0" eaLnBrk="1" fontAlgn="auto" latinLnBrk="0" hangingPunct="1">
              <a:lnSpc>
                <a:spcPct val="100000"/>
              </a:lnSpc>
              <a:spcBef>
                <a:spcPts val="0"/>
              </a:spcBef>
              <a:spcAft>
                <a:spcPts val="1083"/>
              </a:spcAft>
              <a:buClr>
                <a:srgbClr val="86BC25"/>
              </a:buClr>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Verdana"/>
                <a:ea typeface="+mn-ea"/>
                <a:cs typeface="+mn-cs"/>
              </a:rPr>
              <a:t>Redefining how our profession serves the PIF and the public interest by </a:t>
            </a:r>
            <a:r>
              <a:rPr kumimoji="0" lang="en-US" sz="1100" b="1" i="0" u="none" strike="noStrike" kern="1200" cap="none" spc="0" normalizeH="0" baseline="0" noProof="0">
                <a:ln>
                  <a:noFill/>
                </a:ln>
                <a:solidFill>
                  <a:schemeClr val="accent5"/>
                </a:solidFill>
                <a:effectLst/>
                <a:uLnTx/>
                <a:uFillTx/>
                <a:latin typeface="Verdana"/>
                <a:ea typeface="+mn-ea"/>
                <a:cs typeface="+mn-cs"/>
              </a:rPr>
              <a:t>making an impact that matters</a:t>
            </a:r>
            <a:endParaRPr kumimoji="0" lang="en-US" sz="1100" b="0" i="0" u="none" strike="noStrike" kern="1200" cap="none" spc="0" normalizeH="0" baseline="0" noProof="0">
              <a:ln>
                <a:noFill/>
              </a:ln>
              <a:solidFill>
                <a:schemeClr val="accent5"/>
              </a:solidFill>
              <a:effectLst/>
              <a:uLnTx/>
              <a:uFillTx/>
              <a:latin typeface="Verdana"/>
              <a:ea typeface="+mn-ea"/>
              <a:cs typeface="+mn-cs"/>
            </a:endParaRPr>
          </a:p>
        </p:txBody>
      </p:sp>
      <p:sp>
        <p:nvSpPr>
          <p:cNvPr id="53" name="TextBox 52">
            <a:extLst>
              <a:ext uri="{FF2B5EF4-FFF2-40B4-BE49-F238E27FC236}">
                <a16:creationId xmlns:a16="http://schemas.microsoft.com/office/drawing/2014/main" id="{D1E4DDE5-7BE0-4E07-877F-F9874CB273C3}"/>
              </a:ext>
            </a:extLst>
          </p:cNvPr>
          <p:cNvSpPr txBox="1"/>
          <p:nvPr/>
        </p:nvSpPr>
        <p:spPr>
          <a:xfrm>
            <a:off x="317506" y="1928752"/>
            <a:ext cx="2996321" cy="232887"/>
          </a:xfrm>
          <a:prstGeom prst="rect">
            <a:avLst/>
          </a:prstGeom>
          <a:noFill/>
        </p:spPr>
        <p:txBody>
          <a:bodyPr wrap="square" lIns="0" tIns="0" rIns="0" bIns="0" rtlCol="0">
            <a:spAutoFit/>
          </a:bodyPr>
          <a:lstStyle/>
          <a:p>
            <a:pPr marL="0" marR="0" lvl="0" indent="0" algn="ctr" defTabSz="1219170" rtl="0" eaLnBrk="1" fontAlgn="auto" latinLnBrk="0" hangingPunct="1">
              <a:lnSpc>
                <a:spcPct val="100000"/>
              </a:lnSpc>
              <a:spcBef>
                <a:spcPts val="600"/>
              </a:spcBef>
              <a:spcAft>
                <a:spcPts val="0"/>
              </a:spcAft>
              <a:buClrTx/>
              <a:buSzPct val="100000"/>
              <a:buFontTx/>
              <a:buNone/>
              <a:tabLst/>
              <a:defRPr/>
            </a:pPr>
            <a:r>
              <a:rPr kumimoji="0" lang="en-US" sz="1600" b="1" i="0" u="none" strike="noStrike" kern="0" cap="none" spc="0" normalizeH="0" baseline="0" noProof="0">
                <a:ln>
                  <a:noFill/>
                </a:ln>
                <a:solidFill>
                  <a:prstClr val="black"/>
                </a:solidFill>
                <a:effectLst/>
                <a:uLnTx/>
                <a:uFillTx/>
                <a:latin typeface="Verdana"/>
                <a:ea typeface="+mn-ea"/>
                <a:cs typeface="+mn-cs"/>
              </a:rPr>
              <a:t>Deloitte is…</a:t>
            </a:r>
          </a:p>
        </p:txBody>
      </p:sp>
      <p:cxnSp>
        <p:nvCxnSpPr>
          <p:cNvPr id="54" name="Straight Connector 53">
            <a:extLst>
              <a:ext uri="{FF2B5EF4-FFF2-40B4-BE49-F238E27FC236}">
                <a16:creationId xmlns:a16="http://schemas.microsoft.com/office/drawing/2014/main" id="{59FE2621-CC55-42E3-A46D-177FFC66C85D}"/>
              </a:ext>
            </a:extLst>
          </p:cNvPr>
          <p:cNvCxnSpPr/>
          <p:nvPr/>
        </p:nvCxnSpPr>
        <p:spPr>
          <a:xfrm>
            <a:off x="317505" y="2296776"/>
            <a:ext cx="2996321" cy="0"/>
          </a:xfrm>
          <a:prstGeom prst="line">
            <a:avLst/>
          </a:prstGeom>
          <a:noFill/>
          <a:ln w="28575" cap="flat" cmpd="sng" algn="ctr">
            <a:solidFill>
              <a:schemeClr val="accent5"/>
            </a:solidFill>
            <a:prstDash val="solid"/>
          </a:ln>
          <a:effectLst/>
        </p:spPr>
      </p:cxnSp>
      <p:sp>
        <p:nvSpPr>
          <p:cNvPr id="3" name="Rectangle 2">
            <a:extLst>
              <a:ext uri="{FF2B5EF4-FFF2-40B4-BE49-F238E27FC236}">
                <a16:creationId xmlns:a16="http://schemas.microsoft.com/office/drawing/2014/main" id="{B3432BC6-299E-1983-87E6-C6E18C918419}"/>
              </a:ext>
            </a:extLst>
          </p:cNvPr>
          <p:cNvSpPr/>
          <p:nvPr/>
        </p:nvSpPr>
        <p:spPr bwMode="gray">
          <a:xfrm>
            <a:off x="333466" y="121358"/>
            <a:ext cx="11811080" cy="370522"/>
          </a:xfrm>
          <a:prstGeom prst="rect">
            <a:avLst/>
          </a:prstGeom>
          <a:noFill/>
          <a:ln w="19050" algn="ctr">
            <a:noFill/>
            <a:miter lim="800000"/>
            <a:headEnd/>
            <a:tailEnd/>
          </a:ln>
        </p:spPr>
        <p:txBody>
          <a:bodyPr wrap="square" lIns="88900" tIns="88900" rIns="88900" bIns="88900" rtlCol="0" anchor="ctr"/>
          <a:lstStyle/>
          <a:p>
            <a:r>
              <a:rPr lang="en-US" sz="1800" b="1">
                <a:latin typeface="+mj-lt"/>
              </a:rPr>
              <a:t>Information on the consultant’s core business and years in business</a:t>
            </a:r>
          </a:p>
        </p:txBody>
      </p:sp>
      <p:cxnSp>
        <p:nvCxnSpPr>
          <p:cNvPr id="55" name="Straight Arrow Connector 54">
            <a:extLst>
              <a:ext uri="{FF2B5EF4-FFF2-40B4-BE49-F238E27FC236}">
                <a16:creationId xmlns:a16="http://schemas.microsoft.com/office/drawing/2014/main" id="{3FDA1AC6-2493-4B6C-C70C-8D314FF54664}"/>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4803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964C6CF0-127B-4B26-BC7E-016FB26C0685}"/>
              </a:ext>
            </a:extLst>
          </p:cNvPr>
          <p:cNvSpPr/>
          <p:nvPr/>
        </p:nvSpPr>
        <p:spPr bwMode="gray">
          <a:xfrm>
            <a:off x="411118" y="1094942"/>
            <a:ext cx="11476082" cy="467360"/>
          </a:xfrm>
          <a:prstGeom prst="rect">
            <a:avLst/>
          </a:prstGeom>
          <a:solidFill>
            <a:schemeClr val="accent3">
              <a:lumMod val="60000"/>
              <a:lumOff val="4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a:t>Public Sector Consulting &amp; Strategy</a:t>
            </a:r>
            <a:endParaRPr lang="en-IN" sz="1600" b="1"/>
          </a:p>
        </p:txBody>
      </p:sp>
      <p:sp>
        <p:nvSpPr>
          <p:cNvPr id="50" name="Rectangle 49">
            <a:extLst>
              <a:ext uri="{FF2B5EF4-FFF2-40B4-BE49-F238E27FC236}">
                <a16:creationId xmlns:a16="http://schemas.microsoft.com/office/drawing/2014/main" id="{B988B4EC-4B9A-4851-8CA7-E4375733B09B}"/>
              </a:ext>
            </a:extLst>
          </p:cNvPr>
          <p:cNvSpPr/>
          <p:nvPr/>
        </p:nvSpPr>
        <p:spPr bwMode="gray">
          <a:xfrm>
            <a:off x="411118" y="1714702"/>
            <a:ext cx="11476082" cy="3759200"/>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algn="just">
              <a:lnSpc>
                <a:spcPct val="106000"/>
              </a:lnSpc>
              <a:spcAft>
                <a:spcPts val="600"/>
              </a:spcAft>
              <a:buFont typeface="Wingdings 2" pitchFamily="18" charset="2"/>
              <a:buNone/>
            </a:pPr>
            <a:r>
              <a:rPr lang="en-US" sz="1200"/>
              <a:t>Deloitte member forms serve Public Sector clients, including national, provincial, regional, and/or local governments; international and non-profit organizations; and education institutional institutions in North and South America, Europe, the Middle East, Africa, Latin America, and Asia Pacific.</a:t>
            </a:r>
          </a:p>
          <a:p>
            <a:pPr algn="just">
              <a:lnSpc>
                <a:spcPct val="106000"/>
              </a:lnSpc>
              <a:spcAft>
                <a:spcPts val="600"/>
              </a:spcAft>
              <a:buFont typeface="Wingdings 2" pitchFamily="18" charset="2"/>
              <a:buNone/>
            </a:pPr>
            <a:r>
              <a:rPr lang="en-US" sz="1200"/>
              <a:t>Deloitte Member Firms work with: </a:t>
            </a:r>
          </a:p>
          <a:p>
            <a:pPr marL="265113" indent="-265113" algn="just">
              <a:lnSpc>
                <a:spcPct val="106000"/>
              </a:lnSpc>
              <a:spcAft>
                <a:spcPts val="600"/>
              </a:spcAft>
              <a:buFont typeface="Wingdings" panose="05000000000000000000" pitchFamily="2" charset="2"/>
              <a:buChar char="Ø"/>
            </a:pPr>
            <a:r>
              <a:rPr lang="en-US" sz="1200" b="1" i="1">
                <a:solidFill>
                  <a:schemeClr val="accent5"/>
                </a:solidFill>
              </a:rPr>
              <a:t>All</a:t>
            </a:r>
            <a:r>
              <a:rPr lang="en-US" sz="1200"/>
              <a:t> the </a:t>
            </a:r>
            <a:r>
              <a:rPr lang="en-US" sz="1200" b="1" i="1">
                <a:solidFill>
                  <a:schemeClr val="accent5"/>
                </a:solidFill>
              </a:rPr>
              <a:t>members of the G20</a:t>
            </a:r>
          </a:p>
          <a:p>
            <a:pPr marL="265113" indent="-265113" algn="just">
              <a:lnSpc>
                <a:spcPct val="106000"/>
              </a:lnSpc>
              <a:spcAft>
                <a:spcPts val="600"/>
              </a:spcAft>
              <a:buFont typeface="Wingdings" panose="05000000000000000000" pitchFamily="2" charset="2"/>
              <a:buChar char="Ø"/>
            </a:pPr>
            <a:r>
              <a:rPr lang="en-US" sz="1200" b="1" i="1">
                <a:solidFill>
                  <a:schemeClr val="accent5"/>
                </a:solidFill>
              </a:rPr>
              <a:t>World’s largest </a:t>
            </a:r>
            <a:r>
              <a:rPr lang="en-US" sz="1200"/>
              <a:t>global, multilateral, and bilateral </a:t>
            </a:r>
            <a:r>
              <a:rPr lang="en-US" sz="1200" b="1" i="1">
                <a:solidFill>
                  <a:schemeClr val="accent5"/>
                </a:solidFill>
              </a:rPr>
              <a:t>donor institutions, including the World Bank Group</a:t>
            </a:r>
          </a:p>
          <a:p>
            <a:pPr marL="265113" indent="-265113" algn="just">
              <a:lnSpc>
                <a:spcPct val="106000"/>
              </a:lnSpc>
              <a:spcAft>
                <a:spcPts val="600"/>
              </a:spcAft>
              <a:buFont typeface="Wingdings" panose="05000000000000000000" pitchFamily="2" charset="2"/>
              <a:buChar char="Ø"/>
            </a:pPr>
            <a:r>
              <a:rPr lang="en-US" sz="1200"/>
              <a:t>Most </a:t>
            </a:r>
            <a:r>
              <a:rPr lang="en-US" sz="1200" b="1" i="1">
                <a:solidFill>
                  <a:schemeClr val="accent5"/>
                </a:solidFill>
              </a:rPr>
              <a:t>competitive nations </a:t>
            </a:r>
            <a:r>
              <a:rPr lang="en-US" sz="1200"/>
              <a:t>as ranked by World Economic Forum</a:t>
            </a:r>
          </a:p>
          <a:p>
            <a:pPr marL="265113" indent="-265113" algn="just">
              <a:lnSpc>
                <a:spcPct val="106000"/>
              </a:lnSpc>
              <a:spcAft>
                <a:spcPts val="600"/>
              </a:spcAft>
              <a:buFont typeface="Wingdings" panose="05000000000000000000" pitchFamily="2" charset="2"/>
              <a:buChar char="Ø"/>
            </a:pPr>
            <a:r>
              <a:rPr lang="en-US" sz="1200"/>
              <a:t>Most </a:t>
            </a:r>
            <a:r>
              <a:rPr lang="en-US" sz="1200" b="1" i="1">
                <a:solidFill>
                  <a:schemeClr val="accent5"/>
                </a:solidFill>
              </a:rPr>
              <a:t>effective governments according to the World Bank</a:t>
            </a:r>
          </a:p>
          <a:p>
            <a:pPr marL="265113" indent="-265113" algn="just">
              <a:lnSpc>
                <a:spcPct val="106000"/>
              </a:lnSpc>
              <a:spcAft>
                <a:spcPts val="600"/>
              </a:spcAft>
              <a:buFont typeface="Wingdings" panose="05000000000000000000" pitchFamily="2" charset="2"/>
              <a:buChar char="Ø"/>
            </a:pPr>
            <a:r>
              <a:rPr lang="en-US" sz="1200" b="1" i="1">
                <a:solidFill>
                  <a:schemeClr val="accent5"/>
                </a:solidFill>
              </a:rPr>
              <a:t>Largest economics </a:t>
            </a:r>
            <a:r>
              <a:rPr lang="en-US" sz="1200"/>
              <a:t>as measured by GDP</a:t>
            </a:r>
          </a:p>
          <a:p>
            <a:pPr marL="265113" indent="-265113" algn="just">
              <a:lnSpc>
                <a:spcPct val="106000"/>
              </a:lnSpc>
              <a:spcAft>
                <a:spcPts val="600"/>
              </a:spcAft>
              <a:buFont typeface="Wingdings" panose="05000000000000000000" pitchFamily="2" charset="2"/>
              <a:buChar char="Ø"/>
            </a:pPr>
            <a:r>
              <a:rPr lang="en-US" sz="1200" b="1" i="1">
                <a:solidFill>
                  <a:schemeClr val="accent5"/>
                </a:solidFill>
              </a:rPr>
              <a:t>World’s leading nations </a:t>
            </a:r>
            <a:r>
              <a:rPr lang="en-US" sz="1200"/>
              <a:t>in innovation performance according to the Global Innovation Index produced by INSEAD and the World Intellectual Property Organization</a:t>
            </a:r>
          </a:p>
          <a:p>
            <a:pPr marL="265113" indent="-265113" algn="just">
              <a:lnSpc>
                <a:spcPct val="106000"/>
              </a:lnSpc>
              <a:spcAft>
                <a:spcPts val="600"/>
              </a:spcAft>
              <a:buFont typeface="Wingdings" panose="05000000000000000000" pitchFamily="2" charset="2"/>
              <a:buChar char="Ø"/>
            </a:pPr>
            <a:r>
              <a:rPr lang="en-US" sz="1200" b="1" i="1">
                <a:solidFill>
                  <a:schemeClr val="accent5"/>
                </a:solidFill>
              </a:rPr>
              <a:t>Top countries leading in national achievement </a:t>
            </a:r>
            <a:r>
              <a:rPr lang="en-US" sz="1200"/>
              <a:t>of health, education, and income according to the Human Development Report produced by the United Nations Development </a:t>
            </a:r>
            <a:r>
              <a:rPr lang="en-US" sz="1200" err="1"/>
              <a:t>Programme</a:t>
            </a:r>
            <a:r>
              <a:rPr lang="en-US" sz="1200"/>
              <a:t> (UNDP)</a:t>
            </a:r>
          </a:p>
          <a:p>
            <a:pPr algn="just">
              <a:lnSpc>
                <a:spcPct val="106000"/>
              </a:lnSpc>
              <a:spcAft>
                <a:spcPts val="600"/>
              </a:spcAft>
              <a:buFont typeface="Wingdings 2" pitchFamily="18" charset="2"/>
              <a:buNone/>
            </a:pPr>
            <a:endParaRPr lang="en-IN" sz="1200"/>
          </a:p>
        </p:txBody>
      </p:sp>
      <p:sp>
        <p:nvSpPr>
          <p:cNvPr id="2" name="Rectangle 1">
            <a:extLst>
              <a:ext uri="{FF2B5EF4-FFF2-40B4-BE49-F238E27FC236}">
                <a16:creationId xmlns:a16="http://schemas.microsoft.com/office/drawing/2014/main" id="{616C613E-1B56-A227-8588-3A977686EF57}"/>
              </a:ext>
            </a:extLst>
          </p:cNvPr>
          <p:cNvSpPr/>
          <p:nvPr/>
        </p:nvSpPr>
        <p:spPr bwMode="gray">
          <a:xfrm>
            <a:off x="333466" y="121358"/>
            <a:ext cx="11811080" cy="370522"/>
          </a:xfrm>
          <a:prstGeom prst="rect">
            <a:avLst/>
          </a:prstGeom>
          <a:noFill/>
          <a:ln w="19050" algn="ctr">
            <a:noFill/>
            <a:miter lim="800000"/>
            <a:headEnd/>
            <a:tailEnd/>
          </a:ln>
        </p:spPr>
        <p:txBody>
          <a:bodyPr wrap="square" lIns="88900" tIns="88900" rIns="88900" bIns="88900" rtlCol="0" anchor="ctr"/>
          <a:lstStyle/>
          <a:p>
            <a:r>
              <a:rPr lang="en-US" sz="1800" b="1">
                <a:latin typeface="+mj-lt"/>
              </a:rPr>
              <a:t>Information on the consultant’s core business and years in business</a:t>
            </a:r>
          </a:p>
        </p:txBody>
      </p:sp>
      <p:cxnSp>
        <p:nvCxnSpPr>
          <p:cNvPr id="3" name="Straight Arrow Connector 2">
            <a:extLst>
              <a:ext uri="{FF2B5EF4-FFF2-40B4-BE49-F238E27FC236}">
                <a16:creationId xmlns:a16="http://schemas.microsoft.com/office/drawing/2014/main" id="{7A53B8B0-4C11-10DF-ED80-86C6718A2D0B}"/>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42077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F0BC04EE-E98F-4712-B7DF-BA485F24687F}"/>
              </a:ext>
            </a:extLst>
          </p:cNvPr>
          <p:cNvSpPr/>
          <p:nvPr/>
        </p:nvSpPr>
        <p:spPr bwMode="gray">
          <a:xfrm>
            <a:off x="4953871" y="1119395"/>
            <a:ext cx="2090057" cy="709127"/>
          </a:xfrm>
          <a:prstGeom prst="ellipse">
            <a:avLst/>
          </a:prstGeom>
          <a:no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a:t>Strong Industry Focus</a:t>
            </a:r>
            <a:endParaRPr lang="en-IN" sz="1200" b="1"/>
          </a:p>
        </p:txBody>
      </p:sp>
      <p:grpSp>
        <p:nvGrpSpPr>
          <p:cNvPr id="5" name="Group 4">
            <a:extLst>
              <a:ext uri="{FF2B5EF4-FFF2-40B4-BE49-F238E27FC236}">
                <a16:creationId xmlns:a16="http://schemas.microsoft.com/office/drawing/2014/main" id="{C43E82CE-E41B-46FE-8FC7-5551EF5AEE8F}"/>
              </a:ext>
            </a:extLst>
          </p:cNvPr>
          <p:cNvGrpSpPr/>
          <p:nvPr/>
        </p:nvGrpSpPr>
        <p:grpSpPr>
          <a:xfrm>
            <a:off x="9087453" y="1562894"/>
            <a:ext cx="942392" cy="942392"/>
            <a:chOff x="1181205" y="695131"/>
            <a:chExt cx="942392" cy="942392"/>
          </a:xfrm>
        </p:grpSpPr>
        <p:sp>
          <p:nvSpPr>
            <p:cNvPr id="6" name="Oval 5">
              <a:extLst>
                <a:ext uri="{FF2B5EF4-FFF2-40B4-BE49-F238E27FC236}">
                  <a16:creationId xmlns:a16="http://schemas.microsoft.com/office/drawing/2014/main" id="{D6606783-8873-45F2-854D-77A913E543D3}"/>
                </a:ext>
              </a:extLst>
            </p:cNvPr>
            <p:cNvSpPr/>
            <p:nvPr/>
          </p:nvSpPr>
          <p:spPr bwMode="gray">
            <a:xfrm>
              <a:off x="1181205" y="695131"/>
              <a:ext cx="942392" cy="942392"/>
            </a:xfrm>
            <a:prstGeom prst="ellipse">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grpSp>
          <p:nvGrpSpPr>
            <p:cNvPr id="7" name="Group 6">
              <a:extLst>
                <a:ext uri="{FF2B5EF4-FFF2-40B4-BE49-F238E27FC236}">
                  <a16:creationId xmlns:a16="http://schemas.microsoft.com/office/drawing/2014/main" id="{ADD83BCD-4442-4B50-8F44-B98CAF7263C7}"/>
                </a:ext>
              </a:extLst>
            </p:cNvPr>
            <p:cNvGrpSpPr/>
            <p:nvPr/>
          </p:nvGrpSpPr>
          <p:grpSpPr>
            <a:xfrm>
              <a:off x="1392377" y="762716"/>
              <a:ext cx="500679" cy="807222"/>
              <a:chOff x="6707187" y="2516186"/>
              <a:chExt cx="311150" cy="501652"/>
            </a:xfrm>
            <a:solidFill>
              <a:schemeClr val="bg1"/>
            </a:solidFill>
          </p:grpSpPr>
          <p:sp>
            <p:nvSpPr>
              <p:cNvPr id="8" name="Freeform 14">
                <a:extLst>
                  <a:ext uri="{FF2B5EF4-FFF2-40B4-BE49-F238E27FC236}">
                    <a16:creationId xmlns:a16="http://schemas.microsoft.com/office/drawing/2014/main" id="{BF126C9D-BDAE-437E-994C-A51956297820}"/>
                  </a:ext>
                </a:extLst>
              </p:cNvPr>
              <p:cNvSpPr>
                <a:spLocks/>
              </p:cNvSpPr>
              <p:nvPr/>
            </p:nvSpPr>
            <p:spPr bwMode="auto">
              <a:xfrm>
                <a:off x="6832600" y="2998788"/>
                <a:ext cx="60325" cy="19050"/>
              </a:xfrm>
              <a:custGeom>
                <a:avLst/>
                <a:gdLst>
                  <a:gd name="T0" fmla="*/ 0 w 15"/>
                  <a:gd name="T1" fmla="*/ 0 h 5"/>
                  <a:gd name="T2" fmla="*/ 15 w 15"/>
                  <a:gd name="T3" fmla="*/ 0 h 5"/>
                  <a:gd name="T4" fmla="*/ 7 w 15"/>
                  <a:gd name="T5" fmla="*/ 5 h 5"/>
                  <a:gd name="T6" fmla="*/ 0 w 15"/>
                  <a:gd name="T7" fmla="*/ 0 h 5"/>
                </a:gdLst>
                <a:ahLst/>
                <a:cxnLst>
                  <a:cxn ang="0">
                    <a:pos x="T0" y="T1"/>
                  </a:cxn>
                  <a:cxn ang="0">
                    <a:pos x="T2" y="T3"/>
                  </a:cxn>
                  <a:cxn ang="0">
                    <a:pos x="T4" y="T5"/>
                  </a:cxn>
                  <a:cxn ang="0">
                    <a:pos x="T6" y="T7"/>
                  </a:cxn>
                </a:cxnLst>
                <a:rect l="0" t="0" r="r" b="b"/>
                <a:pathLst>
                  <a:path w="15" h="5">
                    <a:moveTo>
                      <a:pt x="0" y="0"/>
                    </a:moveTo>
                    <a:cubicBezTo>
                      <a:pt x="15" y="0"/>
                      <a:pt x="15" y="0"/>
                      <a:pt x="15" y="0"/>
                    </a:cubicBezTo>
                    <a:cubicBezTo>
                      <a:pt x="13" y="4"/>
                      <a:pt x="10" y="5"/>
                      <a:pt x="7" y="5"/>
                    </a:cubicBezTo>
                    <a:cubicBezTo>
                      <a:pt x="4" y="5"/>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0915" tIns="40457" rIns="80915" bIns="40457" numCol="1" anchor="t" anchorCtr="0" compatLnSpc="1">
                <a:prstTxWarp prst="textNoShape">
                  <a:avLst/>
                </a:prstTxWarp>
              </a:bodyPr>
              <a:lstStyle/>
              <a:p>
                <a:pPr marL="0" marR="0" lvl="0" indent="0" algn="l" defTabSz="809153" rtl="0" eaLnBrk="1" fontAlgn="auto" latinLnBrk="0" hangingPunct="1">
                  <a:lnSpc>
                    <a:spcPct val="100000"/>
                  </a:lnSpc>
                  <a:spcBef>
                    <a:spcPts val="0"/>
                  </a:spcBef>
                  <a:spcAft>
                    <a:spcPts val="0"/>
                  </a:spcAft>
                  <a:buClrTx/>
                  <a:buSzTx/>
                  <a:buFontTx/>
                  <a:buNone/>
                  <a:tabLst/>
                  <a:defRPr/>
                </a:pPr>
                <a:endParaRPr kumimoji="0" lang="en-US" sz="1372" b="0" i="0" u="none" strike="noStrike" kern="0" cap="none" spc="0" normalizeH="0" baseline="0" noProof="0">
                  <a:ln>
                    <a:noFill/>
                  </a:ln>
                  <a:solidFill>
                    <a:prstClr val="black"/>
                  </a:solidFill>
                  <a:effectLst/>
                  <a:uLnTx/>
                  <a:uFillTx/>
                  <a:latin typeface="Verdana"/>
                  <a:ea typeface="+mn-ea"/>
                  <a:cs typeface="+mn-cs"/>
                </a:endParaRPr>
              </a:p>
            </p:txBody>
          </p:sp>
          <p:sp>
            <p:nvSpPr>
              <p:cNvPr id="9" name="Freeform 15">
                <a:extLst>
                  <a:ext uri="{FF2B5EF4-FFF2-40B4-BE49-F238E27FC236}">
                    <a16:creationId xmlns:a16="http://schemas.microsoft.com/office/drawing/2014/main" id="{D5D0D2BB-D865-4562-99F4-5B0DF6900A90}"/>
                  </a:ext>
                </a:extLst>
              </p:cNvPr>
              <p:cNvSpPr>
                <a:spLocks noEditPoints="1"/>
              </p:cNvSpPr>
              <p:nvPr/>
            </p:nvSpPr>
            <p:spPr bwMode="auto">
              <a:xfrm>
                <a:off x="6707187" y="2516186"/>
                <a:ext cx="311150" cy="388938"/>
              </a:xfrm>
              <a:custGeom>
                <a:avLst/>
                <a:gdLst>
                  <a:gd name="T0" fmla="*/ 39 w 79"/>
                  <a:gd name="T1" fmla="*/ 100 h 100"/>
                  <a:gd name="T2" fmla="*/ 51 w 79"/>
                  <a:gd name="T3" fmla="*/ 100 h 100"/>
                  <a:gd name="T4" fmla="*/ 57 w 79"/>
                  <a:gd name="T5" fmla="*/ 92 h 100"/>
                  <a:gd name="T6" fmla="*/ 64 w 79"/>
                  <a:gd name="T7" fmla="*/ 74 h 100"/>
                  <a:gd name="T8" fmla="*/ 76 w 79"/>
                  <a:gd name="T9" fmla="*/ 36 h 100"/>
                  <a:gd name="T10" fmla="*/ 73 w 79"/>
                  <a:gd name="T11" fmla="*/ 26 h 100"/>
                  <a:gd name="T12" fmla="*/ 5 w 79"/>
                  <a:gd name="T13" fmla="*/ 26 h 100"/>
                  <a:gd name="T14" fmla="*/ 2 w 79"/>
                  <a:gd name="T15" fmla="*/ 36 h 100"/>
                  <a:gd name="T16" fmla="*/ 14 w 79"/>
                  <a:gd name="T17" fmla="*/ 74 h 100"/>
                  <a:gd name="T18" fmla="*/ 22 w 79"/>
                  <a:gd name="T19" fmla="*/ 92 h 100"/>
                  <a:gd name="T20" fmla="*/ 27 w 79"/>
                  <a:gd name="T21" fmla="*/ 100 h 100"/>
                  <a:gd name="T22" fmla="*/ 39 w 79"/>
                  <a:gd name="T23" fmla="*/ 100 h 100"/>
                  <a:gd name="T24" fmla="*/ 12 w 79"/>
                  <a:gd name="T25" fmla="*/ 44 h 100"/>
                  <a:gd name="T26" fmla="*/ 18 w 79"/>
                  <a:gd name="T27" fmla="*/ 23 h 100"/>
                  <a:gd name="T28" fmla="*/ 21 w 79"/>
                  <a:gd name="T29" fmla="*/ 27 h 100"/>
                  <a:gd name="T30" fmla="*/ 12 w 79"/>
                  <a:gd name="T31" fmla="*/ 44 h 100"/>
                  <a:gd name="T32" fmla="*/ 12 w 79"/>
                  <a:gd name="T33" fmla="*/ 4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9" h="100">
                    <a:moveTo>
                      <a:pt x="39" y="100"/>
                    </a:moveTo>
                    <a:cubicBezTo>
                      <a:pt x="51" y="100"/>
                      <a:pt x="51" y="100"/>
                      <a:pt x="51" y="100"/>
                    </a:cubicBezTo>
                    <a:cubicBezTo>
                      <a:pt x="56" y="100"/>
                      <a:pt x="56" y="95"/>
                      <a:pt x="57" y="92"/>
                    </a:cubicBezTo>
                    <a:cubicBezTo>
                      <a:pt x="58" y="85"/>
                      <a:pt x="61" y="79"/>
                      <a:pt x="64" y="74"/>
                    </a:cubicBezTo>
                    <a:cubicBezTo>
                      <a:pt x="71" y="62"/>
                      <a:pt x="79" y="50"/>
                      <a:pt x="76" y="36"/>
                    </a:cubicBezTo>
                    <a:cubicBezTo>
                      <a:pt x="75" y="32"/>
                      <a:pt x="74" y="29"/>
                      <a:pt x="73" y="26"/>
                    </a:cubicBezTo>
                    <a:cubicBezTo>
                      <a:pt x="60" y="0"/>
                      <a:pt x="18" y="0"/>
                      <a:pt x="5" y="26"/>
                    </a:cubicBezTo>
                    <a:cubicBezTo>
                      <a:pt x="4" y="29"/>
                      <a:pt x="3" y="32"/>
                      <a:pt x="2" y="36"/>
                    </a:cubicBezTo>
                    <a:cubicBezTo>
                      <a:pt x="0" y="50"/>
                      <a:pt x="7" y="62"/>
                      <a:pt x="14" y="74"/>
                    </a:cubicBezTo>
                    <a:cubicBezTo>
                      <a:pt x="18" y="79"/>
                      <a:pt x="20" y="85"/>
                      <a:pt x="22" y="92"/>
                    </a:cubicBezTo>
                    <a:cubicBezTo>
                      <a:pt x="22" y="95"/>
                      <a:pt x="22" y="100"/>
                      <a:pt x="27" y="100"/>
                    </a:cubicBezTo>
                    <a:cubicBezTo>
                      <a:pt x="39" y="100"/>
                      <a:pt x="39" y="100"/>
                      <a:pt x="39" y="100"/>
                    </a:cubicBezTo>
                    <a:close/>
                    <a:moveTo>
                      <a:pt x="12" y="44"/>
                    </a:moveTo>
                    <a:cubicBezTo>
                      <a:pt x="12" y="44"/>
                      <a:pt x="9" y="32"/>
                      <a:pt x="18" y="23"/>
                    </a:cubicBezTo>
                    <a:cubicBezTo>
                      <a:pt x="22" y="20"/>
                      <a:pt x="25" y="24"/>
                      <a:pt x="21" y="27"/>
                    </a:cubicBezTo>
                    <a:cubicBezTo>
                      <a:pt x="12" y="33"/>
                      <a:pt x="13" y="41"/>
                      <a:pt x="12" y="44"/>
                    </a:cubicBezTo>
                    <a:cubicBezTo>
                      <a:pt x="12" y="45"/>
                      <a:pt x="12" y="44"/>
                      <a:pt x="12" y="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0915" tIns="40457" rIns="80915" bIns="40457" numCol="1" anchor="t" anchorCtr="0" compatLnSpc="1">
                <a:prstTxWarp prst="textNoShape">
                  <a:avLst/>
                </a:prstTxWarp>
              </a:bodyPr>
              <a:lstStyle/>
              <a:p>
                <a:pPr marL="0" marR="0" lvl="0" indent="0" algn="l" defTabSz="809153" rtl="0" eaLnBrk="1" fontAlgn="auto" latinLnBrk="0" hangingPunct="1">
                  <a:lnSpc>
                    <a:spcPct val="100000"/>
                  </a:lnSpc>
                  <a:spcBef>
                    <a:spcPts val="0"/>
                  </a:spcBef>
                  <a:spcAft>
                    <a:spcPts val="0"/>
                  </a:spcAft>
                  <a:buClrTx/>
                  <a:buSzTx/>
                  <a:buFontTx/>
                  <a:buNone/>
                  <a:tabLst/>
                  <a:defRPr/>
                </a:pPr>
                <a:endParaRPr kumimoji="0" lang="en-US" sz="1372" b="0" i="0" u="none" strike="noStrike" kern="0" cap="none" spc="0" normalizeH="0" baseline="0" noProof="0">
                  <a:ln>
                    <a:noFill/>
                  </a:ln>
                  <a:solidFill>
                    <a:prstClr val="black"/>
                  </a:solidFill>
                  <a:effectLst/>
                  <a:uLnTx/>
                  <a:uFillTx/>
                  <a:latin typeface="Verdana"/>
                  <a:ea typeface="+mn-ea"/>
                  <a:cs typeface="+mn-cs"/>
                </a:endParaRPr>
              </a:p>
            </p:txBody>
          </p:sp>
          <p:sp>
            <p:nvSpPr>
              <p:cNvPr id="10" name="Freeform 16">
                <a:extLst>
                  <a:ext uri="{FF2B5EF4-FFF2-40B4-BE49-F238E27FC236}">
                    <a16:creationId xmlns:a16="http://schemas.microsoft.com/office/drawing/2014/main" id="{AAA52AAA-7E4A-415B-A0C1-2E19DD7A5593}"/>
                  </a:ext>
                </a:extLst>
              </p:cNvPr>
              <p:cNvSpPr>
                <a:spLocks/>
              </p:cNvSpPr>
              <p:nvPr/>
            </p:nvSpPr>
            <p:spPr bwMode="auto">
              <a:xfrm>
                <a:off x="6797675" y="2913063"/>
                <a:ext cx="125413" cy="80963"/>
              </a:xfrm>
              <a:custGeom>
                <a:avLst/>
                <a:gdLst>
                  <a:gd name="T0" fmla="*/ 32 w 32"/>
                  <a:gd name="T1" fmla="*/ 9 h 21"/>
                  <a:gd name="T2" fmla="*/ 31 w 32"/>
                  <a:gd name="T3" fmla="*/ 8 h 21"/>
                  <a:gd name="T4" fmla="*/ 31 w 32"/>
                  <a:gd name="T5" fmla="*/ 6 h 21"/>
                  <a:gd name="T6" fmla="*/ 32 w 32"/>
                  <a:gd name="T7" fmla="*/ 5 h 21"/>
                  <a:gd name="T8" fmla="*/ 31 w 32"/>
                  <a:gd name="T9" fmla="*/ 3 h 21"/>
                  <a:gd name="T10" fmla="*/ 31 w 32"/>
                  <a:gd name="T11" fmla="*/ 0 h 21"/>
                  <a:gd name="T12" fmla="*/ 16 w 32"/>
                  <a:gd name="T13" fmla="*/ 0 h 21"/>
                  <a:gd name="T14" fmla="*/ 1 w 32"/>
                  <a:gd name="T15" fmla="*/ 0 h 21"/>
                  <a:gd name="T16" fmla="*/ 1 w 32"/>
                  <a:gd name="T17" fmla="*/ 3 h 21"/>
                  <a:gd name="T18" fmla="*/ 0 w 32"/>
                  <a:gd name="T19" fmla="*/ 5 h 21"/>
                  <a:gd name="T20" fmla="*/ 1 w 32"/>
                  <a:gd name="T21" fmla="*/ 6 h 21"/>
                  <a:gd name="T22" fmla="*/ 1 w 32"/>
                  <a:gd name="T23" fmla="*/ 8 h 21"/>
                  <a:gd name="T24" fmla="*/ 0 w 32"/>
                  <a:gd name="T25" fmla="*/ 9 h 21"/>
                  <a:gd name="T26" fmla="*/ 1 w 32"/>
                  <a:gd name="T27" fmla="*/ 11 h 21"/>
                  <a:gd name="T28" fmla="*/ 1 w 32"/>
                  <a:gd name="T29" fmla="*/ 13 h 21"/>
                  <a:gd name="T30" fmla="*/ 0 w 32"/>
                  <a:gd name="T31" fmla="*/ 15 h 21"/>
                  <a:gd name="T32" fmla="*/ 1 w 32"/>
                  <a:gd name="T33" fmla="*/ 16 h 21"/>
                  <a:gd name="T34" fmla="*/ 1 w 32"/>
                  <a:gd name="T35" fmla="*/ 17 h 21"/>
                  <a:gd name="T36" fmla="*/ 5 w 32"/>
                  <a:gd name="T37" fmla="*/ 21 h 21"/>
                  <a:gd name="T38" fmla="*/ 16 w 32"/>
                  <a:gd name="T39" fmla="*/ 21 h 21"/>
                  <a:gd name="T40" fmla="*/ 27 w 32"/>
                  <a:gd name="T41" fmla="*/ 21 h 21"/>
                  <a:gd name="T42" fmla="*/ 31 w 32"/>
                  <a:gd name="T43" fmla="*/ 17 h 21"/>
                  <a:gd name="T44" fmla="*/ 31 w 32"/>
                  <a:gd name="T45" fmla="*/ 16 h 21"/>
                  <a:gd name="T46" fmla="*/ 32 w 32"/>
                  <a:gd name="T47" fmla="*/ 15 h 21"/>
                  <a:gd name="T48" fmla="*/ 31 w 32"/>
                  <a:gd name="T49" fmla="*/ 13 h 21"/>
                  <a:gd name="T50" fmla="*/ 31 w 32"/>
                  <a:gd name="T51" fmla="*/ 11 h 21"/>
                  <a:gd name="T52" fmla="*/ 32 w 32"/>
                  <a:gd name="T53" fmla="*/ 9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 h="21">
                    <a:moveTo>
                      <a:pt x="32" y="9"/>
                    </a:moveTo>
                    <a:cubicBezTo>
                      <a:pt x="32" y="9"/>
                      <a:pt x="32" y="9"/>
                      <a:pt x="31" y="8"/>
                    </a:cubicBezTo>
                    <a:cubicBezTo>
                      <a:pt x="31" y="6"/>
                      <a:pt x="31" y="6"/>
                      <a:pt x="31" y="6"/>
                    </a:cubicBezTo>
                    <a:cubicBezTo>
                      <a:pt x="32" y="5"/>
                      <a:pt x="32" y="5"/>
                      <a:pt x="32" y="5"/>
                    </a:cubicBezTo>
                    <a:cubicBezTo>
                      <a:pt x="32" y="4"/>
                      <a:pt x="32" y="4"/>
                      <a:pt x="31" y="3"/>
                    </a:cubicBezTo>
                    <a:cubicBezTo>
                      <a:pt x="31" y="0"/>
                      <a:pt x="31" y="0"/>
                      <a:pt x="31" y="0"/>
                    </a:cubicBezTo>
                    <a:cubicBezTo>
                      <a:pt x="16" y="0"/>
                      <a:pt x="16" y="0"/>
                      <a:pt x="16" y="0"/>
                    </a:cubicBezTo>
                    <a:cubicBezTo>
                      <a:pt x="1" y="0"/>
                      <a:pt x="1" y="0"/>
                      <a:pt x="1" y="0"/>
                    </a:cubicBezTo>
                    <a:cubicBezTo>
                      <a:pt x="1" y="3"/>
                      <a:pt x="1" y="3"/>
                      <a:pt x="1" y="3"/>
                    </a:cubicBezTo>
                    <a:cubicBezTo>
                      <a:pt x="0" y="4"/>
                      <a:pt x="0" y="4"/>
                      <a:pt x="0" y="5"/>
                    </a:cubicBezTo>
                    <a:cubicBezTo>
                      <a:pt x="0" y="5"/>
                      <a:pt x="0" y="6"/>
                      <a:pt x="1" y="6"/>
                    </a:cubicBezTo>
                    <a:cubicBezTo>
                      <a:pt x="1" y="8"/>
                      <a:pt x="1" y="8"/>
                      <a:pt x="1" y="8"/>
                    </a:cubicBezTo>
                    <a:cubicBezTo>
                      <a:pt x="0" y="8"/>
                      <a:pt x="0" y="9"/>
                      <a:pt x="0" y="9"/>
                    </a:cubicBezTo>
                    <a:cubicBezTo>
                      <a:pt x="0" y="10"/>
                      <a:pt x="0" y="10"/>
                      <a:pt x="1" y="11"/>
                    </a:cubicBezTo>
                    <a:cubicBezTo>
                      <a:pt x="1" y="13"/>
                      <a:pt x="1" y="13"/>
                      <a:pt x="1" y="13"/>
                    </a:cubicBezTo>
                    <a:cubicBezTo>
                      <a:pt x="0" y="14"/>
                      <a:pt x="0" y="14"/>
                      <a:pt x="0" y="15"/>
                    </a:cubicBezTo>
                    <a:cubicBezTo>
                      <a:pt x="0" y="15"/>
                      <a:pt x="0" y="16"/>
                      <a:pt x="1" y="16"/>
                    </a:cubicBezTo>
                    <a:cubicBezTo>
                      <a:pt x="1" y="17"/>
                      <a:pt x="1" y="17"/>
                      <a:pt x="1" y="17"/>
                    </a:cubicBezTo>
                    <a:cubicBezTo>
                      <a:pt x="1" y="19"/>
                      <a:pt x="3" y="21"/>
                      <a:pt x="5" y="21"/>
                    </a:cubicBezTo>
                    <a:cubicBezTo>
                      <a:pt x="16" y="21"/>
                      <a:pt x="16" y="21"/>
                      <a:pt x="16" y="21"/>
                    </a:cubicBezTo>
                    <a:cubicBezTo>
                      <a:pt x="27" y="21"/>
                      <a:pt x="27" y="21"/>
                      <a:pt x="27" y="21"/>
                    </a:cubicBezTo>
                    <a:cubicBezTo>
                      <a:pt x="29" y="21"/>
                      <a:pt x="31" y="19"/>
                      <a:pt x="31" y="17"/>
                    </a:cubicBezTo>
                    <a:cubicBezTo>
                      <a:pt x="31" y="16"/>
                      <a:pt x="31" y="16"/>
                      <a:pt x="31" y="16"/>
                    </a:cubicBezTo>
                    <a:cubicBezTo>
                      <a:pt x="32" y="15"/>
                      <a:pt x="32" y="15"/>
                      <a:pt x="32" y="15"/>
                    </a:cubicBezTo>
                    <a:cubicBezTo>
                      <a:pt x="32" y="14"/>
                      <a:pt x="32" y="14"/>
                      <a:pt x="31" y="13"/>
                    </a:cubicBezTo>
                    <a:cubicBezTo>
                      <a:pt x="31" y="11"/>
                      <a:pt x="31" y="11"/>
                      <a:pt x="31" y="11"/>
                    </a:cubicBezTo>
                    <a:cubicBezTo>
                      <a:pt x="32" y="10"/>
                      <a:pt x="32" y="10"/>
                      <a:pt x="3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0915" tIns="40457" rIns="80915" bIns="40457" numCol="1" anchor="t" anchorCtr="0" compatLnSpc="1">
                <a:prstTxWarp prst="textNoShape">
                  <a:avLst/>
                </a:prstTxWarp>
              </a:bodyPr>
              <a:lstStyle/>
              <a:p>
                <a:pPr marL="0" marR="0" lvl="0" indent="0" algn="l" defTabSz="809153" rtl="0" eaLnBrk="1" fontAlgn="auto" latinLnBrk="0" hangingPunct="1">
                  <a:lnSpc>
                    <a:spcPct val="100000"/>
                  </a:lnSpc>
                  <a:spcBef>
                    <a:spcPts val="0"/>
                  </a:spcBef>
                  <a:spcAft>
                    <a:spcPts val="0"/>
                  </a:spcAft>
                  <a:buClrTx/>
                  <a:buSzTx/>
                  <a:buFontTx/>
                  <a:buNone/>
                  <a:tabLst/>
                  <a:defRPr/>
                </a:pPr>
                <a:endParaRPr kumimoji="0" lang="en-US" sz="1372" b="0" i="0" u="none" strike="noStrike" kern="0" cap="none" spc="0" normalizeH="0" baseline="0" noProof="0">
                  <a:ln>
                    <a:noFill/>
                  </a:ln>
                  <a:solidFill>
                    <a:prstClr val="black"/>
                  </a:solidFill>
                  <a:effectLst/>
                  <a:uLnTx/>
                  <a:uFillTx/>
                  <a:latin typeface="Verdana"/>
                  <a:ea typeface="+mn-ea"/>
                  <a:cs typeface="+mn-cs"/>
                </a:endParaRPr>
              </a:p>
            </p:txBody>
          </p:sp>
        </p:grpSp>
      </p:grpSp>
      <p:grpSp>
        <p:nvGrpSpPr>
          <p:cNvPr id="11" name="Group 10">
            <a:extLst>
              <a:ext uri="{FF2B5EF4-FFF2-40B4-BE49-F238E27FC236}">
                <a16:creationId xmlns:a16="http://schemas.microsoft.com/office/drawing/2014/main" id="{D2D4A554-AD2F-4786-9C67-A70CE2658D1F}"/>
              </a:ext>
            </a:extLst>
          </p:cNvPr>
          <p:cNvGrpSpPr/>
          <p:nvPr/>
        </p:nvGrpSpPr>
        <p:grpSpPr>
          <a:xfrm>
            <a:off x="2628002" y="2410754"/>
            <a:ext cx="942392" cy="942392"/>
            <a:chOff x="2123597" y="1388282"/>
            <a:chExt cx="942392" cy="942392"/>
          </a:xfrm>
        </p:grpSpPr>
        <p:sp>
          <p:nvSpPr>
            <p:cNvPr id="12" name="Oval 11">
              <a:extLst>
                <a:ext uri="{FF2B5EF4-FFF2-40B4-BE49-F238E27FC236}">
                  <a16:creationId xmlns:a16="http://schemas.microsoft.com/office/drawing/2014/main" id="{F746D57D-9570-45F1-BF32-266E5E489C72}"/>
                </a:ext>
              </a:extLst>
            </p:cNvPr>
            <p:cNvSpPr/>
            <p:nvPr/>
          </p:nvSpPr>
          <p:spPr bwMode="gray">
            <a:xfrm>
              <a:off x="2123597" y="1388282"/>
              <a:ext cx="942392" cy="942392"/>
            </a:xfrm>
            <a:prstGeom prst="ellipse">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grpSp>
          <p:nvGrpSpPr>
            <p:cNvPr id="13" name="Group 12">
              <a:extLst>
                <a:ext uri="{FF2B5EF4-FFF2-40B4-BE49-F238E27FC236}">
                  <a16:creationId xmlns:a16="http://schemas.microsoft.com/office/drawing/2014/main" id="{A3200EBC-0362-48ED-8C8C-A7C6E989A365}"/>
                </a:ext>
              </a:extLst>
            </p:cNvPr>
            <p:cNvGrpSpPr/>
            <p:nvPr/>
          </p:nvGrpSpPr>
          <p:grpSpPr>
            <a:xfrm>
              <a:off x="2299903" y="1501026"/>
              <a:ext cx="589779" cy="716904"/>
              <a:chOff x="4295775" y="2489200"/>
              <a:chExt cx="449263" cy="546100"/>
            </a:xfrm>
            <a:solidFill>
              <a:schemeClr val="bg1"/>
            </a:solidFill>
          </p:grpSpPr>
          <p:sp>
            <p:nvSpPr>
              <p:cNvPr id="14" name="Freeform 18">
                <a:extLst>
                  <a:ext uri="{FF2B5EF4-FFF2-40B4-BE49-F238E27FC236}">
                    <a16:creationId xmlns:a16="http://schemas.microsoft.com/office/drawing/2014/main" id="{3E75A935-DF03-4B60-B466-0A17A8E2458C}"/>
                  </a:ext>
                </a:extLst>
              </p:cNvPr>
              <p:cNvSpPr>
                <a:spLocks noEditPoints="1"/>
              </p:cNvSpPr>
              <p:nvPr/>
            </p:nvSpPr>
            <p:spPr bwMode="auto">
              <a:xfrm>
                <a:off x="4295775" y="2489200"/>
                <a:ext cx="311150" cy="307975"/>
              </a:xfrm>
              <a:custGeom>
                <a:avLst/>
                <a:gdLst>
                  <a:gd name="T0" fmla="*/ 69 w 72"/>
                  <a:gd name="T1" fmla="*/ 36 h 71"/>
                  <a:gd name="T2" fmla="*/ 63 w 72"/>
                  <a:gd name="T3" fmla="*/ 30 h 71"/>
                  <a:gd name="T4" fmla="*/ 64 w 72"/>
                  <a:gd name="T5" fmla="*/ 20 h 71"/>
                  <a:gd name="T6" fmla="*/ 64 w 72"/>
                  <a:gd name="T7" fmla="*/ 20 h 71"/>
                  <a:gd name="T8" fmla="*/ 67 w 72"/>
                  <a:gd name="T9" fmla="*/ 17 h 71"/>
                  <a:gd name="T10" fmla="*/ 62 w 72"/>
                  <a:gd name="T11" fmla="*/ 12 h 71"/>
                  <a:gd name="T12" fmla="*/ 59 w 72"/>
                  <a:gd name="T13" fmla="*/ 13 h 71"/>
                  <a:gd name="T14" fmla="*/ 59 w 72"/>
                  <a:gd name="T15" fmla="*/ 13 h 71"/>
                  <a:gd name="T16" fmla="*/ 45 w 72"/>
                  <a:gd name="T17" fmla="*/ 8 h 71"/>
                  <a:gd name="T18" fmla="*/ 44 w 72"/>
                  <a:gd name="T19" fmla="*/ 5 h 71"/>
                  <a:gd name="T20" fmla="*/ 45 w 72"/>
                  <a:gd name="T21" fmla="*/ 4 h 71"/>
                  <a:gd name="T22" fmla="*/ 44 w 72"/>
                  <a:gd name="T23" fmla="*/ 1 h 71"/>
                  <a:gd name="T24" fmla="*/ 37 w 72"/>
                  <a:gd name="T25" fmla="*/ 0 h 71"/>
                  <a:gd name="T26" fmla="*/ 36 w 72"/>
                  <a:gd name="T27" fmla="*/ 4 h 71"/>
                  <a:gd name="T28" fmla="*/ 36 w 72"/>
                  <a:gd name="T29" fmla="*/ 4 h 71"/>
                  <a:gd name="T30" fmla="*/ 30 w 72"/>
                  <a:gd name="T31" fmla="*/ 10 h 71"/>
                  <a:gd name="T32" fmla="*/ 19 w 72"/>
                  <a:gd name="T33" fmla="*/ 8 h 71"/>
                  <a:gd name="T34" fmla="*/ 19 w 72"/>
                  <a:gd name="T35" fmla="*/ 7 h 71"/>
                  <a:gd name="T36" fmla="*/ 17 w 72"/>
                  <a:gd name="T37" fmla="*/ 6 h 71"/>
                  <a:gd name="T38" fmla="*/ 11 w 72"/>
                  <a:gd name="T39" fmla="*/ 10 h 71"/>
                  <a:gd name="T40" fmla="*/ 13 w 72"/>
                  <a:gd name="T41" fmla="*/ 13 h 71"/>
                  <a:gd name="T42" fmla="*/ 13 w 72"/>
                  <a:gd name="T43" fmla="*/ 13 h 71"/>
                  <a:gd name="T44" fmla="*/ 8 w 72"/>
                  <a:gd name="T45" fmla="*/ 27 h 71"/>
                  <a:gd name="T46" fmla="*/ 4 w 72"/>
                  <a:gd name="T47" fmla="*/ 28 h 71"/>
                  <a:gd name="T48" fmla="*/ 1 w 72"/>
                  <a:gd name="T49" fmla="*/ 28 h 71"/>
                  <a:gd name="T50" fmla="*/ 0 w 72"/>
                  <a:gd name="T51" fmla="*/ 35 h 71"/>
                  <a:gd name="T52" fmla="*/ 3 w 72"/>
                  <a:gd name="T53" fmla="*/ 36 h 71"/>
                  <a:gd name="T54" fmla="*/ 10 w 72"/>
                  <a:gd name="T55" fmla="*/ 41 h 71"/>
                  <a:gd name="T56" fmla="*/ 8 w 72"/>
                  <a:gd name="T57" fmla="*/ 52 h 71"/>
                  <a:gd name="T58" fmla="*/ 5 w 72"/>
                  <a:gd name="T59" fmla="*/ 54 h 71"/>
                  <a:gd name="T60" fmla="*/ 10 w 72"/>
                  <a:gd name="T61" fmla="*/ 60 h 71"/>
                  <a:gd name="T62" fmla="*/ 12 w 72"/>
                  <a:gd name="T63" fmla="*/ 59 h 71"/>
                  <a:gd name="T64" fmla="*/ 13 w 72"/>
                  <a:gd name="T65" fmla="*/ 59 h 71"/>
                  <a:gd name="T66" fmla="*/ 13 w 72"/>
                  <a:gd name="T67" fmla="*/ 58 h 71"/>
                  <a:gd name="T68" fmla="*/ 27 w 72"/>
                  <a:gd name="T69" fmla="*/ 64 h 71"/>
                  <a:gd name="T70" fmla="*/ 28 w 72"/>
                  <a:gd name="T71" fmla="*/ 67 h 71"/>
                  <a:gd name="T72" fmla="*/ 28 w 72"/>
                  <a:gd name="T73" fmla="*/ 67 h 71"/>
                  <a:gd name="T74" fmla="*/ 28 w 72"/>
                  <a:gd name="T75" fmla="*/ 70 h 71"/>
                  <a:gd name="T76" fmla="*/ 35 w 72"/>
                  <a:gd name="T77" fmla="*/ 71 h 71"/>
                  <a:gd name="T78" fmla="*/ 36 w 72"/>
                  <a:gd name="T79" fmla="*/ 68 h 71"/>
                  <a:gd name="T80" fmla="*/ 42 w 72"/>
                  <a:gd name="T81" fmla="*/ 62 h 71"/>
                  <a:gd name="T82" fmla="*/ 52 w 72"/>
                  <a:gd name="T83" fmla="*/ 63 h 71"/>
                  <a:gd name="T84" fmla="*/ 55 w 72"/>
                  <a:gd name="T85" fmla="*/ 66 h 71"/>
                  <a:gd name="T86" fmla="*/ 61 w 72"/>
                  <a:gd name="T87" fmla="*/ 61 h 71"/>
                  <a:gd name="T88" fmla="*/ 59 w 72"/>
                  <a:gd name="T89" fmla="*/ 58 h 71"/>
                  <a:gd name="T90" fmla="*/ 59 w 72"/>
                  <a:gd name="T91" fmla="*/ 58 h 71"/>
                  <a:gd name="T92" fmla="*/ 64 w 72"/>
                  <a:gd name="T93" fmla="*/ 45 h 71"/>
                  <a:gd name="T94" fmla="*/ 68 w 72"/>
                  <a:gd name="T95" fmla="*/ 44 h 71"/>
                  <a:gd name="T96" fmla="*/ 71 w 72"/>
                  <a:gd name="T97" fmla="*/ 44 h 71"/>
                  <a:gd name="T98" fmla="*/ 72 w 72"/>
                  <a:gd name="T99" fmla="*/ 37 h 71"/>
                  <a:gd name="T100" fmla="*/ 69 w 72"/>
                  <a:gd name="T101" fmla="*/ 36 h 71"/>
                  <a:gd name="T102" fmla="*/ 48 w 72"/>
                  <a:gd name="T103" fmla="*/ 37 h 71"/>
                  <a:gd name="T104" fmla="*/ 34 w 72"/>
                  <a:gd name="T105" fmla="*/ 48 h 71"/>
                  <a:gd name="T106" fmla="*/ 24 w 72"/>
                  <a:gd name="T107" fmla="*/ 34 h 71"/>
                  <a:gd name="T108" fmla="*/ 38 w 72"/>
                  <a:gd name="T109" fmla="*/ 24 h 71"/>
                  <a:gd name="T110" fmla="*/ 48 w 72"/>
                  <a:gd name="T111" fmla="*/ 37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2" h="71">
                    <a:moveTo>
                      <a:pt x="69" y="36"/>
                    </a:moveTo>
                    <a:cubicBezTo>
                      <a:pt x="66" y="35"/>
                      <a:pt x="64" y="33"/>
                      <a:pt x="63" y="30"/>
                    </a:cubicBezTo>
                    <a:cubicBezTo>
                      <a:pt x="61" y="27"/>
                      <a:pt x="62" y="23"/>
                      <a:pt x="64" y="20"/>
                    </a:cubicBezTo>
                    <a:cubicBezTo>
                      <a:pt x="64" y="20"/>
                      <a:pt x="64" y="20"/>
                      <a:pt x="64" y="20"/>
                    </a:cubicBezTo>
                    <a:cubicBezTo>
                      <a:pt x="67" y="17"/>
                      <a:pt x="67" y="17"/>
                      <a:pt x="67" y="17"/>
                    </a:cubicBezTo>
                    <a:cubicBezTo>
                      <a:pt x="62" y="12"/>
                      <a:pt x="62" y="12"/>
                      <a:pt x="62" y="12"/>
                    </a:cubicBezTo>
                    <a:cubicBezTo>
                      <a:pt x="59" y="13"/>
                      <a:pt x="59" y="13"/>
                      <a:pt x="59" y="13"/>
                    </a:cubicBezTo>
                    <a:cubicBezTo>
                      <a:pt x="59" y="13"/>
                      <a:pt x="59" y="13"/>
                      <a:pt x="59" y="13"/>
                    </a:cubicBezTo>
                    <a:cubicBezTo>
                      <a:pt x="54" y="15"/>
                      <a:pt x="48" y="13"/>
                      <a:pt x="45" y="8"/>
                    </a:cubicBezTo>
                    <a:cubicBezTo>
                      <a:pt x="45" y="7"/>
                      <a:pt x="45" y="6"/>
                      <a:pt x="44" y="5"/>
                    </a:cubicBezTo>
                    <a:cubicBezTo>
                      <a:pt x="45" y="4"/>
                      <a:pt x="45" y="4"/>
                      <a:pt x="45" y="4"/>
                    </a:cubicBezTo>
                    <a:cubicBezTo>
                      <a:pt x="44" y="1"/>
                      <a:pt x="44" y="1"/>
                      <a:pt x="44" y="1"/>
                    </a:cubicBezTo>
                    <a:cubicBezTo>
                      <a:pt x="37" y="0"/>
                      <a:pt x="37" y="0"/>
                      <a:pt x="37" y="0"/>
                    </a:cubicBezTo>
                    <a:cubicBezTo>
                      <a:pt x="36" y="4"/>
                      <a:pt x="36" y="4"/>
                      <a:pt x="36" y="4"/>
                    </a:cubicBezTo>
                    <a:cubicBezTo>
                      <a:pt x="36" y="4"/>
                      <a:pt x="36" y="4"/>
                      <a:pt x="36" y="4"/>
                    </a:cubicBezTo>
                    <a:cubicBezTo>
                      <a:pt x="35" y="6"/>
                      <a:pt x="33" y="9"/>
                      <a:pt x="30" y="10"/>
                    </a:cubicBezTo>
                    <a:cubicBezTo>
                      <a:pt x="27" y="11"/>
                      <a:pt x="22" y="10"/>
                      <a:pt x="19" y="8"/>
                    </a:cubicBezTo>
                    <a:cubicBezTo>
                      <a:pt x="19" y="7"/>
                      <a:pt x="19" y="7"/>
                      <a:pt x="19" y="7"/>
                    </a:cubicBezTo>
                    <a:cubicBezTo>
                      <a:pt x="17" y="6"/>
                      <a:pt x="17" y="6"/>
                      <a:pt x="17" y="6"/>
                    </a:cubicBezTo>
                    <a:cubicBezTo>
                      <a:pt x="11" y="10"/>
                      <a:pt x="11" y="10"/>
                      <a:pt x="11" y="10"/>
                    </a:cubicBezTo>
                    <a:cubicBezTo>
                      <a:pt x="13" y="13"/>
                      <a:pt x="13" y="13"/>
                      <a:pt x="13" y="13"/>
                    </a:cubicBezTo>
                    <a:cubicBezTo>
                      <a:pt x="13" y="13"/>
                      <a:pt x="13" y="13"/>
                      <a:pt x="13" y="13"/>
                    </a:cubicBezTo>
                    <a:cubicBezTo>
                      <a:pt x="15" y="19"/>
                      <a:pt x="13" y="25"/>
                      <a:pt x="8" y="27"/>
                    </a:cubicBezTo>
                    <a:cubicBezTo>
                      <a:pt x="6" y="27"/>
                      <a:pt x="5" y="27"/>
                      <a:pt x="4" y="28"/>
                    </a:cubicBezTo>
                    <a:cubicBezTo>
                      <a:pt x="1" y="28"/>
                      <a:pt x="1" y="28"/>
                      <a:pt x="1" y="28"/>
                    </a:cubicBezTo>
                    <a:cubicBezTo>
                      <a:pt x="0" y="35"/>
                      <a:pt x="0" y="35"/>
                      <a:pt x="0" y="35"/>
                    </a:cubicBezTo>
                    <a:cubicBezTo>
                      <a:pt x="3" y="36"/>
                      <a:pt x="3" y="36"/>
                      <a:pt x="3" y="36"/>
                    </a:cubicBezTo>
                    <a:cubicBezTo>
                      <a:pt x="6" y="36"/>
                      <a:pt x="8" y="38"/>
                      <a:pt x="10" y="41"/>
                    </a:cubicBezTo>
                    <a:cubicBezTo>
                      <a:pt x="11" y="45"/>
                      <a:pt x="10" y="49"/>
                      <a:pt x="8" y="52"/>
                    </a:cubicBezTo>
                    <a:cubicBezTo>
                      <a:pt x="5" y="54"/>
                      <a:pt x="5" y="54"/>
                      <a:pt x="5" y="54"/>
                    </a:cubicBezTo>
                    <a:cubicBezTo>
                      <a:pt x="10" y="60"/>
                      <a:pt x="10" y="60"/>
                      <a:pt x="10" y="60"/>
                    </a:cubicBezTo>
                    <a:cubicBezTo>
                      <a:pt x="12" y="59"/>
                      <a:pt x="12" y="59"/>
                      <a:pt x="12" y="59"/>
                    </a:cubicBezTo>
                    <a:cubicBezTo>
                      <a:pt x="13" y="59"/>
                      <a:pt x="13" y="59"/>
                      <a:pt x="13" y="59"/>
                    </a:cubicBezTo>
                    <a:cubicBezTo>
                      <a:pt x="13" y="58"/>
                      <a:pt x="13" y="58"/>
                      <a:pt x="13" y="58"/>
                    </a:cubicBezTo>
                    <a:cubicBezTo>
                      <a:pt x="19" y="56"/>
                      <a:pt x="25" y="58"/>
                      <a:pt x="27" y="64"/>
                    </a:cubicBezTo>
                    <a:cubicBezTo>
                      <a:pt x="27" y="65"/>
                      <a:pt x="28" y="66"/>
                      <a:pt x="28" y="67"/>
                    </a:cubicBezTo>
                    <a:cubicBezTo>
                      <a:pt x="28" y="67"/>
                      <a:pt x="28" y="67"/>
                      <a:pt x="28" y="67"/>
                    </a:cubicBezTo>
                    <a:cubicBezTo>
                      <a:pt x="28" y="70"/>
                      <a:pt x="28" y="70"/>
                      <a:pt x="28" y="70"/>
                    </a:cubicBezTo>
                    <a:cubicBezTo>
                      <a:pt x="35" y="71"/>
                      <a:pt x="35" y="71"/>
                      <a:pt x="35" y="71"/>
                    </a:cubicBezTo>
                    <a:cubicBezTo>
                      <a:pt x="36" y="68"/>
                      <a:pt x="36" y="68"/>
                      <a:pt x="36" y="68"/>
                    </a:cubicBezTo>
                    <a:cubicBezTo>
                      <a:pt x="37" y="65"/>
                      <a:pt x="39" y="63"/>
                      <a:pt x="42" y="62"/>
                    </a:cubicBezTo>
                    <a:cubicBezTo>
                      <a:pt x="46" y="60"/>
                      <a:pt x="50" y="61"/>
                      <a:pt x="52" y="63"/>
                    </a:cubicBezTo>
                    <a:cubicBezTo>
                      <a:pt x="55" y="66"/>
                      <a:pt x="55" y="66"/>
                      <a:pt x="55" y="66"/>
                    </a:cubicBezTo>
                    <a:cubicBezTo>
                      <a:pt x="61" y="61"/>
                      <a:pt x="61" y="61"/>
                      <a:pt x="61" y="61"/>
                    </a:cubicBezTo>
                    <a:cubicBezTo>
                      <a:pt x="59" y="58"/>
                      <a:pt x="59" y="58"/>
                      <a:pt x="59" y="58"/>
                    </a:cubicBezTo>
                    <a:cubicBezTo>
                      <a:pt x="59" y="58"/>
                      <a:pt x="59" y="58"/>
                      <a:pt x="59" y="58"/>
                    </a:cubicBezTo>
                    <a:cubicBezTo>
                      <a:pt x="57" y="53"/>
                      <a:pt x="59" y="47"/>
                      <a:pt x="64" y="45"/>
                    </a:cubicBezTo>
                    <a:cubicBezTo>
                      <a:pt x="66" y="44"/>
                      <a:pt x="67" y="44"/>
                      <a:pt x="68" y="44"/>
                    </a:cubicBezTo>
                    <a:cubicBezTo>
                      <a:pt x="71" y="44"/>
                      <a:pt x="71" y="44"/>
                      <a:pt x="71" y="44"/>
                    </a:cubicBezTo>
                    <a:cubicBezTo>
                      <a:pt x="72" y="37"/>
                      <a:pt x="72" y="37"/>
                      <a:pt x="72" y="37"/>
                    </a:cubicBezTo>
                    <a:lnTo>
                      <a:pt x="69" y="36"/>
                    </a:lnTo>
                    <a:close/>
                    <a:moveTo>
                      <a:pt x="48" y="37"/>
                    </a:moveTo>
                    <a:cubicBezTo>
                      <a:pt x="47" y="44"/>
                      <a:pt x="41" y="49"/>
                      <a:pt x="34" y="48"/>
                    </a:cubicBezTo>
                    <a:cubicBezTo>
                      <a:pt x="28" y="47"/>
                      <a:pt x="23" y="41"/>
                      <a:pt x="24" y="34"/>
                    </a:cubicBezTo>
                    <a:cubicBezTo>
                      <a:pt x="25" y="28"/>
                      <a:pt x="31" y="23"/>
                      <a:pt x="38" y="24"/>
                    </a:cubicBezTo>
                    <a:cubicBezTo>
                      <a:pt x="44" y="25"/>
                      <a:pt x="49" y="31"/>
                      <a:pt x="48" y="37"/>
                    </a:cubicBezTo>
                    <a:close/>
                  </a:path>
                </a:pathLst>
              </a:custGeom>
              <a:grpFill/>
              <a:ln>
                <a:noFill/>
              </a:ln>
            </p:spPr>
            <p:txBody>
              <a:bodyPr vert="horz" wrap="square" lIns="80915" tIns="40457" rIns="80915" bIns="40457"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372" b="0" i="0" u="none" strike="noStrike" kern="0" cap="none" spc="0" normalizeH="0" baseline="0" noProof="0">
                  <a:ln>
                    <a:noFill/>
                  </a:ln>
                  <a:solidFill>
                    <a:prstClr val="black"/>
                  </a:solidFill>
                  <a:effectLst/>
                  <a:uLnTx/>
                  <a:uFillTx/>
                  <a:latin typeface="Verdana"/>
                  <a:ea typeface="+mn-ea"/>
                  <a:cs typeface="+mn-cs"/>
                </a:endParaRPr>
              </a:p>
            </p:txBody>
          </p:sp>
          <p:sp>
            <p:nvSpPr>
              <p:cNvPr id="15" name="Freeform 19">
                <a:extLst>
                  <a:ext uri="{FF2B5EF4-FFF2-40B4-BE49-F238E27FC236}">
                    <a16:creationId xmlns:a16="http://schemas.microsoft.com/office/drawing/2014/main" id="{11789BFA-2D98-43C6-9201-EDFCFEC0F771}"/>
                  </a:ext>
                </a:extLst>
              </p:cNvPr>
              <p:cNvSpPr>
                <a:spLocks noEditPoints="1"/>
              </p:cNvSpPr>
              <p:nvPr/>
            </p:nvSpPr>
            <p:spPr bwMode="auto">
              <a:xfrm>
                <a:off x="4564063" y="2671763"/>
                <a:ext cx="180975" cy="177800"/>
              </a:xfrm>
              <a:custGeom>
                <a:avLst/>
                <a:gdLst>
                  <a:gd name="T0" fmla="*/ 40 w 42"/>
                  <a:gd name="T1" fmla="*/ 20 h 41"/>
                  <a:gd name="T2" fmla="*/ 37 w 42"/>
                  <a:gd name="T3" fmla="*/ 17 h 41"/>
                  <a:gd name="T4" fmla="*/ 38 w 42"/>
                  <a:gd name="T5" fmla="*/ 11 h 41"/>
                  <a:gd name="T6" fmla="*/ 38 w 42"/>
                  <a:gd name="T7" fmla="*/ 11 h 41"/>
                  <a:gd name="T8" fmla="*/ 39 w 42"/>
                  <a:gd name="T9" fmla="*/ 9 h 41"/>
                  <a:gd name="T10" fmla="*/ 36 w 42"/>
                  <a:gd name="T11" fmla="*/ 6 h 41"/>
                  <a:gd name="T12" fmla="*/ 35 w 42"/>
                  <a:gd name="T13" fmla="*/ 7 h 41"/>
                  <a:gd name="T14" fmla="*/ 34 w 42"/>
                  <a:gd name="T15" fmla="*/ 7 h 41"/>
                  <a:gd name="T16" fmla="*/ 27 w 42"/>
                  <a:gd name="T17" fmla="*/ 4 h 41"/>
                  <a:gd name="T18" fmla="*/ 26 w 42"/>
                  <a:gd name="T19" fmla="*/ 2 h 41"/>
                  <a:gd name="T20" fmla="*/ 26 w 42"/>
                  <a:gd name="T21" fmla="*/ 2 h 41"/>
                  <a:gd name="T22" fmla="*/ 26 w 42"/>
                  <a:gd name="T23" fmla="*/ 0 h 41"/>
                  <a:gd name="T24" fmla="*/ 22 w 42"/>
                  <a:gd name="T25" fmla="*/ 0 h 41"/>
                  <a:gd name="T26" fmla="*/ 21 w 42"/>
                  <a:gd name="T27" fmla="*/ 2 h 41"/>
                  <a:gd name="T28" fmla="*/ 21 w 42"/>
                  <a:gd name="T29" fmla="*/ 2 h 41"/>
                  <a:gd name="T30" fmla="*/ 18 w 42"/>
                  <a:gd name="T31" fmla="*/ 5 h 41"/>
                  <a:gd name="T32" fmla="*/ 11 w 42"/>
                  <a:gd name="T33" fmla="*/ 4 h 41"/>
                  <a:gd name="T34" fmla="*/ 11 w 42"/>
                  <a:gd name="T35" fmla="*/ 4 h 41"/>
                  <a:gd name="T36" fmla="*/ 10 w 42"/>
                  <a:gd name="T37" fmla="*/ 3 h 41"/>
                  <a:gd name="T38" fmla="*/ 7 w 42"/>
                  <a:gd name="T39" fmla="*/ 5 h 41"/>
                  <a:gd name="T40" fmla="*/ 8 w 42"/>
                  <a:gd name="T41" fmla="*/ 7 h 41"/>
                  <a:gd name="T42" fmla="*/ 8 w 42"/>
                  <a:gd name="T43" fmla="*/ 7 h 41"/>
                  <a:gd name="T44" fmla="*/ 5 w 42"/>
                  <a:gd name="T45" fmla="*/ 15 h 41"/>
                  <a:gd name="T46" fmla="*/ 2 w 42"/>
                  <a:gd name="T47" fmla="*/ 15 h 41"/>
                  <a:gd name="T48" fmla="*/ 1 w 42"/>
                  <a:gd name="T49" fmla="*/ 15 h 41"/>
                  <a:gd name="T50" fmla="*/ 0 w 42"/>
                  <a:gd name="T51" fmla="*/ 20 h 41"/>
                  <a:gd name="T52" fmla="*/ 2 w 42"/>
                  <a:gd name="T53" fmla="*/ 20 h 41"/>
                  <a:gd name="T54" fmla="*/ 6 w 42"/>
                  <a:gd name="T55" fmla="*/ 23 h 41"/>
                  <a:gd name="T56" fmla="*/ 5 w 42"/>
                  <a:gd name="T57" fmla="*/ 30 h 41"/>
                  <a:gd name="T58" fmla="*/ 3 w 42"/>
                  <a:gd name="T59" fmla="*/ 31 h 41"/>
                  <a:gd name="T60" fmla="*/ 6 w 42"/>
                  <a:gd name="T61" fmla="*/ 34 h 41"/>
                  <a:gd name="T62" fmla="*/ 7 w 42"/>
                  <a:gd name="T63" fmla="*/ 34 h 41"/>
                  <a:gd name="T64" fmla="*/ 7 w 42"/>
                  <a:gd name="T65" fmla="*/ 34 h 41"/>
                  <a:gd name="T66" fmla="*/ 8 w 42"/>
                  <a:gd name="T67" fmla="*/ 33 h 41"/>
                  <a:gd name="T68" fmla="*/ 16 w 42"/>
                  <a:gd name="T69" fmla="*/ 36 h 41"/>
                  <a:gd name="T70" fmla="*/ 16 w 42"/>
                  <a:gd name="T71" fmla="*/ 39 h 41"/>
                  <a:gd name="T72" fmla="*/ 16 w 42"/>
                  <a:gd name="T73" fmla="*/ 39 h 41"/>
                  <a:gd name="T74" fmla="*/ 16 w 42"/>
                  <a:gd name="T75" fmla="*/ 40 h 41"/>
                  <a:gd name="T76" fmla="*/ 21 w 42"/>
                  <a:gd name="T77" fmla="*/ 41 h 41"/>
                  <a:gd name="T78" fmla="*/ 21 w 42"/>
                  <a:gd name="T79" fmla="*/ 39 h 41"/>
                  <a:gd name="T80" fmla="*/ 24 w 42"/>
                  <a:gd name="T81" fmla="*/ 35 h 41"/>
                  <a:gd name="T82" fmla="*/ 31 w 42"/>
                  <a:gd name="T83" fmla="*/ 36 h 41"/>
                  <a:gd name="T84" fmla="*/ 32 w 42"/>
                  <a:gd name="T85" fmla="*/ 38 h 41"/>
                  <a:gd name="T86" fmla="*/ 36 w 42"/>
                  <a:gd name="T87" fmla="*/ 35 h 41"/>
                  <a:gd name="T88" fmla="*/ 35 w 42"/>
                  <a:gd name="T89" fmla="*/ 33 h 41"/>
                  <a:gd name="T90" fmla="*/ 35 w 42"/>
                  <a:gd name="T91" fmla="*/ 33 h 41"/>
                  <a:gd name="T92" fmla="*/ 38 w 42"/>
                  <a:gd name="T93" fmla="*/ 25 h 41"/>
                  <a:gd name="T94" fmla="*/ 40 w 42"/>
                  <a:gd name="T95" fmla="*/ 25 h 41"/>
                  <a:gd name="T96" fmla="*/ 42 w 42"/>
                  <a:gd name="T97" fmla="*/ 25 h 41"/>
                  <a:gd name="T98" fmla="*/ 42 w 42"/>
                  <a:gd name="T99" fmla="*/ 21 h 41"/>
                  <a:gd name="T100" fmla="*/ 40 w 42"/>
                  <a:gd name="T101" fmla="*/ 20 h 41"/>
                  <a:gd name="T102" fmla="*/ 28 w 42"/>
                  <a:gd name="T103" fmla="*/ 21 h 41"/>
                  <a:gd name="T104" fmla="*/ 20 w 42"/>
                  <a:gd name="T105" fmla="*/ 27 h 41"/>
                  <a:gd name="T106" fmla="*/ 14 w 42"/>
                  <a:gd name="T107" fmla="*/ 19 h 41"/>
                  <a:gd name="T108" fmla="*/ 22 w 42"/>
                  <a:gd name="T109" fmla="*/ 13 h 41"/>
                  <a:gd name="T110" fmla="*/ 28 w 42"/>
                  <a:gd name="T111"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2" h="41">
                    <a:moveTo>
                      <a:pt x="40" y="20"/>
                    </a:moveTo>
                    <a:cubicBezTo>
                      <a:pt x="39" y="20"/>
                      <a:pt x="37" y="19"/>
                      <a:pt x="37" y="17"/>
                    </a:cubicBezTo>
                    <a:cubicBezTo>
                      <a:pt x="36" y="15"/>
                      <a:pt x="36" y="13"/>
                      <a:pt x="38" y="11"/>
                    </a:cubicBezTo>
                    <a:cubicBezTo>
                      <a:pt x="38" y="11"/>
                      <a:pt x="38" y="11"/>
                      <a:pt x="38" y="11"/>
                    </a:cubicBezTo>
                    <a:cubicBezTo>
                      <a:pt x="39" y="9"/>
                      <a:pt x="39" y="9"/>
                      <a:pt x="39" y="9"/>
                    </a:cubicBezTo>
                    <a:cubicBezTo>
                      <a:pt x="36" y="6"/>
                      <a:pt x="36" y="6"/>
                      <a:pt x="36" y="6"/>
                    </a:cubicBezTo>
                    <a:cubicBezTo>
                      <a:pt x="35" y="7"/>
                      <a:pt x="35" y="7"/>
                      <a:pt x="35" y="7"/>
                    </a:cubicBezTo>
                    <a:cubicBezTo>
                      <a:pt x="34" y="7"/>
                      <a:pt x="34" y="7"/>
                      <a:pt x="34" y="7"/>
                    </a:cubicBezTo>
                    <a:cubicBezTo>
                      <a:pt x="31" y="8"/>
                      <a:pt x="28" y="7"/>
                      <a:pt x="27" y="4"/>
                    </a:cubicBezTo>
                    <a:cubicBezTo>
                      <a:pt x="26" y="3"/>
                      <a:pt x="26" y="3"/>
                      <a:pt x="26" y="2"/>
                    </a:cubicBezTo>
                    <a:cubicBezTo>
                      <a:pt x="26" y="2"/>
                      <a:pt x="26" y="2"/>
                      <a:pt x="26" y="2"/>
                    </a:cubicBezTo>
                    <a:cubicBezTo>
                      <a:pt x="26" y="0"/>
                      <a:pt x="26" y="0"/>
                      <a:pt x="26" y="0"/>
                    </a:cubicBezTo>
                    <a:cubicBezTo>
                      <a:pt x="22" y="0"/>
                      <a:pt x="22" y="0"/>
                      <a:pt x="22" y="0"/>
                    </a:cubicBezTo>
                    <a:cubicBezTo>
                      <a:pt x="21" y="2"/>
                      <a:pt x="21" y="2"/>
                      <a:pt x="21" y="2"/>
                    </a:cubicBezTo>
                    <a:cubicBezTo>
                      <a:pt x="21" y="2"/>
                      <a:pt x="21" y="2"/>
                      <a:pt x="21" y="2"/>
                    </a:cubicBezTo>
                    <a:cubicBezTo>
                      <a:pt x="21" y="3"/>
                      <a:pt x="19" y="4"/>
                      <a:pt x="18" y="5"/>
                    </a:cubicBezTo>
                    <a:cubicBezTo>
                      <a:pt x="16" y="6"/>
                      <a:pt x="13" y="5"/>
                      <a:pt x="11" y="4"/>
                    </a:cubicBezTo>
                    <a:cubicBezTo>
                      <a:pt x="11" y="4"/>
                      <a:pt x="11" y="4"/>
                      <a:pt x="11" y="4"/>
                    </a:cubicBezTo>
                    <a:cubicBezTo>
                      <a:pt x="10" y="3"/>
                      <a:pt x="10" y="3"/>
                      <a:pt x="10" y="3"/>
                    </a:cubicBezTo>
                    <a:cubicBezTo>
                      <a:pt x="7" y="5"/>
                      <a:pt x="7" y="5"/>
                      <a:pt x="7" y="5"/>
                    </a:cubicBezTo>
                    <a:cubicBezTo>
                      <a:pt x="8" y="7"/>
                      <a:pt x="8" y="7"/>
                      <a:pt x="8" y="7"/>
                    </a:cubicBezTo>
                    <a:cubicBezTo>
                      <a:pt x="8" y="7"/>
                      <a:pt x="8" y="7"/>
                      <a:pt x="8" y="7"/>
                    </a:cubicBezTo>
                    <a:cubicBezTo>
                      <a:pt x="9" y="10"/>
                      <a:pt x="8" y="14"/>
                      <a:pt x="5" y="15"/>
                    </a:cubicBezTo>
                    <a:cubicBezTo>
                      <a:pt x="4" y="15"/>
                      <a:pt x="3" y="15"/>
                      <a:pt x="2" y="15"/>
                    </a:cubicBezTo>
                    <a:cubicBezTo>
                      <a:pt x="1" y="15"/>
                      <a:pt x="1" y="15"/>
                      <a:pt x="1" y="15"/>
                    </a:cubicBezTo>
                    <a:cubicBezTo>
                      <a:pt x="0" y="20"/>
                      <a:pt x="0" y="20"/>
                      <a:pt x="0" y="20"/>
                    </a:cubicBezTo>
                    <a:cubicBezTo>
                      <a:pt x="2" y="20"/>
                      <a:pt x="2" y="20"/>
                      <a:pt x="2" y="20"/>
                    </a:cubicBezTo>
                    <a:cubicBezTo>
                      <a:pt x="3" y="21"/>
                      <a:pt x="5" y="22"/>
                      <a:pt x="6" y="23"/>
                    </a:cubicBezTo>
                    <a:cubicBezTo>
                      <a:pt x="7" y="26"/>
                      <a:pt x="6" y="28"/>
                      <a:pt x="5" y="30"/>
                    </a:cubicBezTo>
                    <a:cubicBezTo>
                      <a:pt x="3" y="31"/>
                      <a:pt x="3" y="31"/>
                      <a:pt x="3" y="31"/>
                    </a:cubicBezTo>
                    <a:cubicBezTo>
                      <a:pt x="6" y="34"/>
                      <a:pt x="6" y="34"/>
                      <a:pt x="6" y="34"/>
                    </a:cubicBezTo>
                    <a:cubicBezTo>
                      <a:pt x="7" y="34"/>
                      <a:pt x="7" y="34"/>
                      <a:pt x="7" y="34"/>
                    </a:cubicBezTo>
                    <a:cubicBezTo>
                      <a:pt x="7" y="34"/>
                      <a:pt x="7" y="34"/>
                      <a:pt x="7" y="34"/>
                    </a:cubicBezTo>
                    <a:cubicBezTo>
                      <a:pt x="8" y="33"/>
                      <a:pt x="8" y="33"/>
                      <a:pt x="8" y="33"/>
                    </a:cubicBezTo>
                    <a:cubicBezTo>
                      <a:pt x="11" y="32"/>
                      <a:pt x="14" y="33"/>
                      <a:pt x="16" y="36"/>
                    </a:cubicBezTo>
                    <a:cubicBezTo>
                      <a:pt x="16" y="37"/>
                      <a:pt x="16" y="38"/>
                      <a:pt x="16" y="39"/>
                    </a:cubicBezTo>
                    <a:cubicBezTo>
                      <a:pt x="16" y="39"/>
                      <a:pt x="16" y="39"/>
                      <a:pt x="16" y="39"/>
                    </a:cubicBezTo>
                    <a:cubicBezTo>
                      <a:pt x="16" y="40"/>
                      <a:pt x="16" y="40"/>
                      <a:pt x="16" y="40"/>
                    </a:cubicBezTo>
                    <a:cubicBezTo>
                      <a:pt x="21" y="41"/>
                      <a:pt x="21" y="41"/>
                      <a:pt x="21" y="41"/>
                    </a:cubicBezTo>
                    <a:cubicBezTo>
                      <a:pt x="21" y="39"/>
                      <a:pt x="21" y="39"/>
                      <a:pt x="21" y="39"/>
                    </a:cubicBezTo>
                    <a:cubicBezTo>
                      <a:pt x="22" y="38"/>
                      <a:pt x="23" y="36"/>
                      <a:pt x="24" y="35"/>
                    </a:cubicBezTo>
                    <a:cubicBezTo>
                      <a:pt x="27" y="35"/>
                      <a:pt x="29" y="35"/>
                      <a:pt x="31" y="36"/>
                    </a:cubicBezTo>
                    <a:cubicBezTo>
                      <a:pt x="32" y="38"/>
                      <a:pt x="32" y="38"/>
                      <a:pt x="32" y="38"/>
                    </a:cubicBezTo>
                    <a:cubicBezTo>
                      <a:pt x="36" y="35"/>
                      <a:pt x="36" y="35"/>
                      <a:pt x="36" y="35"/>
                    </a:cubicBezTo>
                    <a:cubicBezTo>
                      <a:pt x="35" y="33"/>
                      <a:pt x="35" y="33"/>
                      <a:pt x="35" y="33"/>
                    </a:cubicBezTo>
                    <a:cubicBezTo>
                      <a:pt x="35" y="33"/>
                      <a:pt x="35" y="33"/>
                      <a:pt x="35" y="33"/>
                    </a:cubicBezTo>
                    <a:cubicBezTo>
                      <a:pt x="33" y="30"/>
                      <a:pt x="35" y="27"/>
                      <a:pt x="38" y="25"/>
                    </a:cubicBezTo>
                    <a:cubicBezTo>
                      <a:pt x="38" y="25"/>
                      <a:pt x="39" y="25"/>
                      <a:pt x="40" y="25"/>
                    </a:cubicBezTo>
                    <a:cubicBezTo>
                      <a:pt x="42" y="25"/>
                      <a:pt x="42" y="25"/>
                      <a:pt x="42" y="25"/>
                    </a:cubicBezTo>
                    <a:cubicBezTo>
                      <a:pt x="42" y="21"/>
                      <a:pt x="42" y="21"/>
                      <a:pt x="42" y="21"/>
                    </a:cubicBezTo>
                    <a:lnTo>
                      <a:pt x="40" y="20"/>
                    </a:lnTo>
                    <a:close/>
                    <a:moveTo>
                      <a:pt x="28" y="21"/>
                    </a:moveTo>
                    <a:cubicBezTo>
                      <a:pt x="28" y="25"/>
                      <a:pt x="24" y="28"/>
                      <a:pt x="20" y="27"/>
                    </a:cubicBezTo>
                    <a:cubicBezTo>
                      <a:pt x="16" y="27"/>
                      <a:pt x="14" y="23"/>
                      <a:pt x="14" y="19"/>
                    </a:cubicBezTo>
                    <a:cubicBezTo>
                      <a:pt x="15" y="15"/>
                      <a:pt x="18" y="13"/>
                      <a:pt x="22" y="13"/>
                    </a:cubicBezTo>
                    <a:cubicBezTo>
                      <a:pt x="26" y="14"/>
                      <a:pt x="29" y="17"/>
                      <a:pt x="28" y="21"/>
                    </a:cubicBezTo>
                    <a:close/>
                  </a:path>
                </a:pathLst>
              </a:custGeom>
              <a:grpFill/>
              <a:ln>
                <a:noFill/>
              </a:ln>
            </p:spPr>
            <p:txBody>
              <a:bodyPr vert="horz" wrap="square" lIns="80915" tIns="40457" rIns="80915" bIns="40457"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372" b="0" i="0" u="none" strike="noStrike" kern="0" cap="none" spc="0" normalizeH="0" baseline="0" noProof="0">
                  <a:ln>
                    <a:noFill/>
                  </a:ln>
                  <a:solidFill>
                    <a:prstClr val="black"/>
                  </a:solidFill>
                  <a:effectLst/>
                  <a:uLnTx/>
                  <a:uFillTx/>
                  <a:latin typeface="Verdana"/>
                  <a:ea typeface="+mn-ea"/>
                  <a:cs typeface="+mn-cs"/>
                </a:endParaRPr>
              </a:p>
            </p:txBody>
          </p:sp>
          <p:sp>
            <p:nvSpPr>
              <p:cNvPr id="16" name="Freeform 20">
                <a:extLst>
                  <a:ext uri="{FF2B5EF4-FFF2-40B4-BE49-F238E27FC236}">
                    <a16:creationId xmlns:a16="http://schemas.microsoft.com/office/drawing/2014/main" id="{0BCFD615-9286-432C-B6DF-93D0446D0FF8}"/>
                  </a:ext>
                </a:extLst>
              </p:cNvPr>
              <p:cNvSpPr>
                <a:spLocks noEditPoints="1"/>
              </p:cNvSpPr>
              <p:nvPr/>
            </p:nvSpPr>
            <p:spPr bwMode="auto">
              <a:xfrm>
                <a:off x="4381500" y="2787650"/>
                <a:ext cx="255588" cy="247650"/>
              </a:xfrm>
              <a:custGeom>
                <a:avLst/>
                <a:gdLst>
                  <a:gd name="T0" fmla="*/ 56 w 59"/>
                  <a:gd name="T1" fmla="*/ 29 h 57"/>
                  <a:gd name="T2" fmla="*/ 51 w 59"/>
                  <a:gd name="T3" fmla="*/ 24 h 57"/>
                  <a:gd name="T4" fmla="*/ 52 w 59"/>
                  <a:gd name="T5" fmla="*/ 16 h 57"/>
                  <a:gd name="T6" fmla="*/ 52 w 59"/>
                  <a:gd name="T7" fmla="*/ 16 h 57"/>
                  <a:gd name="T8" fmla="*/ 54 w 59"/>
                  <a:gd name="T9" fmla="*/ 13 h 57"/>
                  <a:gd name="T10" fmla="*/ 51 w 59"/>
                  <a:gd name="T11" fmla="*/ 9 h 57"/>
                  <a:gd name="T12" fmla="*/ 48 w 59"/>
                  <a:gd name="T13" fmla="*/ 10 h 57"/>
                  <a:gd name="T14" fmla="*/ 48 w 59"/>
                  <a:gd name="T15" fmla="*/ 10 h 57"/>
                  <a:gd name="T16" fmla="*/ 37 w 59"/>
                  <a:gd name="T17" fmla="*/ 6 h 57"/>
                  <a:gd name="T18" fmla="*/ 36 w 59"/>
                  <a:gd name="T19" fmla="*/ 3 h 57"/>
                  <a:gd name="T20" fmla="*/ 36 w 59"/>
                  <a:gd name="T21" fmla="*/ 3 h 57"/>
                  <a:gd name="T22" fmla="*/ 36 w 59"/>
                  <a:gd name="T23" fmla="*/ 1 h 57"/>
                  <a:gd name="T24" fmla="*/ 30 w 59"/>
                  <a:gd name="T25" fmla="*/ 0 h 57"/>
                  <a:gd name="T26" fmla="*/ 29 w 59"/>
                  <a:gd name="T27" fmla="*/ 3 h 57"/>
                  <a:gd name="T28" fmla="*/ 29 w 59"/>
                  <a:gd name="T29" fmla="*/ 3 h 57"/>
                  <a:gd name="T30" fmla="*/ 25 w 59"/>
                  <a:gd name="T31" fmla="*/ 7 h 57"/>
                  <a:gd name="T32" fmla="*/ 16 w 59"/>
                  <a:gd name="T33" fmla="*/ 6 h 57"/>
                  <a:gd name="T34" fmla="*/ 15 w 59"/>
                  <a:gd name="T35" fmla="*/ 5 h 57"/>
                  <a:gd name="T36" fmla="*/ 14 w 59"/>
                  <a:gd name="T37" fmla="*/ 4 h 57"/>
                  <a:gd name="T38" fmla="*/ 9 w 59"/>
                  <a:gd name="T39" fmla="*/ 8 h 57"/>
                  <a:gd name="T40" fmla="*/ 11 w 59"/>
                  <a:gd name="T41" fmla="*/ 10 h 57"/>
                  <a:gd name="T42" fmla="*/ 11 w 59"/>
                  <a:gd name="T43" fmla="*/ 10 h 57"/>
                  <a:gd name="T44" fmla="*/ 6 w 59"/>
                  <a:gd name="T45" fmla="*/ 21 h 57"/>
                  <a:gd name="T46" fmla="*/ 3 w 59"/>
                  <a:gd name="T47" fmla="*/ 22 h 57"/>
                  <a:gd name="T48" fmla="*/ 1 w 59"/>
                  <a:gd name="T49" fmla="*/ 22 h 57"/>
                  <a:gd name="T50" fmla="*/ 0 w 59"/>
                  <a:gd name="T51" fmla="*/ 28 h 57"/>
                  <a:gd name="T52" fmla="*/ 3 w 59"/>
                  <a:gd name="T53" fmla="*/ 28 h 57"/>
                  <a:gd name="T54" fmla="*/ 8 w 59"/>
                  <a:gd name="T55" fmla="*/ 33 h 57"/>
                  <a:gd name="T56" fmla="*/ 6 w 59"/>
                  <a:gd name="T57" fmla="*/ 42 h 57"/>
                  <a:gd name="T58" fmla="*/ 4 w 59"/>
                  <a:gd name="T59" fmla="*/ 44 h 57"/>
                  <a:gd name="T60" fmla="*/ 8 w 59"/>
                  <a:gd name="T61" fmla="*/ 48 h 57"/>
                  <a:gd name="T62" fmla="*/ 10 w 59"/>
                  <a:gd name="T63" fmla="*/ 47 h 57"/>
                  <a:gd name="T64" fmla="*/ 10 w 59"/>
                  <a:gd name="T65" fmla="*/ 47 h 57"/>
                  <a:gd name="T66" fmla="*/ 11 w 59"/>
                  <a:gd name="T67" fmla="*/ 47 h 57"/>
                  <a:gd name="T68" fmla="*/ 22 w 59"/>
                  <a:gd name="T69" fmla="*/ 51 h 57"/>
                  <a:gd name="T70" fmla="*/ 22 w 59"/>
                  <a:gd name="T71" fmla="*/ 54 h 57"/>
                  <a:gd name="T72" fmla="*/ 22 w 59"/>
                  <a:gd name="T73" fmla="*/ 54 h 57"/>
                  <a:gd name="T74" fmla="*/ 23 w 59"/>
                  <a:gd name="T75" fmla="*/ 56 h 57"/>
                  <a:gd name="T76" fmla="*/ 28 w 59"/>
                  <a:gd name="T77" fmla="*/ 57 h 57"/>
                  <a:gd name="T78" fmla="*/ 29 w 59"/>
                  <a:gd name="T79" fmla="*/ 55 h 57"/>
                  <a:gd name="T80" fmla="*/ 34 w 59"/>
                  <a:gd name="T81" fmla="*/ 50 h 57"/>
                  <a:gd name="T82" fmla="*/ 43 w 59"/>
                  <a:gd name="T83" fmla="*/ 51 h 57"/>
                  <a:gd name="T84" fmla="*/ 45 w 59"/>
                  <a:gd name="T85" fmla="*/ 53 h 57"/>
                  <a:gd name="T86" fmla="*/ 49 w 59"/>
                  <a:gd name="T87" fmla="*/ 49 h 57"/>
                  <a:gd name="T88" fmla="*/ 48 w 59"/>
                  <a:gd name="T89" fmla="*/ 47 h 57"/>
                  <a:gd name="T90" fmla="*/ 48 w 59"/>
                  <a:gd name="T91" fmla="*/ 47 h 57"/>
                  <a:gd name="T92" fmla="*/ 52 w 59"/>
                  <a:gd name="T93" fmla="*/ 36 h 57"/>
                  <a:gd name="T94" fmla="*/ 55 w 59"/>
                  <a:gd name="T95" fmla="*/ 35 h 57"/>
                  <a:gd name="T96" fmla="*/ 58 w 59"/>
                  <a:gd name="T97" fmla="*/ 35 h 57"/>
                  <a:gd name="T98" fmla="*/ 59 w 59"/>
                  <a:gd name="T99" fmla="*/ 29 h 57"/>
                  <a:gd name="T100" fmla="*/ 56 w 59"/>
                  <a:gd name="T101" fmla="*/ 29 h 57"/>
                  <a:gd name="T102" fmla="*/ 39 w 59"/>
                  <a:gd name="T103" fmla="*/ 30 h 57"/>
                  <a:gd name="T104" fmla="*/ 28 w 59"/>
                  <a:gd name="T105" fmla="*/ 38 h 57"/>
                  <a:gd name="T106" fmla="*/ 19 w 59"/>
                  <a:gd name="T107" fmla="*/ 27 h 57"/>
                  <a:gd name="T108" fmla="*/ 31 w 59"/>
                  <a:gd name="T109" fmla="*/ 19 h 57"/>
                  <a:gd name="T110" fmla="*/ 39 w 59"/>
                  <a:gd name="T111" fmla="*/ 3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9" h="57">
                    <a:moveTo>
                      <a:pt x="56" y="29"/>
                    </a:moveTo>
                    <a:cubicBezTo>
                      <a:pt x="54" y="28"/>
                      <a:pt x="52" y="26"/>
                      <a:pt x="51" y="24"/>
                    </a:cubicBezTo>
                    <a:cubicBezTo>
                      <a:pt x="50" y="21"/>
                      <a:pt x="50" y="18"/>
                      <a:pt x="52" y="16"/>
                    </a:cubicBezTo>
                    <a:cubicBezTo>
                      <a:pt x="52" y="16"/>
                      <a:pt x="52" y="16"/>
                      <a:pt x="52" y="16"/>
                    </a:cubicBezTo>
                    <a:cubicBezTo>
                      <a:pt x="54" y="13"/>
                      <a:pt x="54" y="13"/>
                      <a:pt x="54" y="13"/>
                    </a:cubicBezTo>
                    <a:cubicBezTo>
                      <a:pt x="51" y="9"/>
                      <a:pt x="51" y="9"/>
                      <a:pt x="51" y="9"/>
                    </a:cubicBezTo>
                    <a:cubicBezTo>
                      <a:pt x="48" y="10"/>
                      <a:pt x="48" y="10"/>
                      <a:pt x="48" y="10"/>
                    </a:cubicBezTo>
                    <a:cubicBezTo>
                      <a:pt x="48" y="10"/>
                      <a:pt x="48" y="10"/>
                      <a:pt x="48" y="10"/>
                    </a:cubicBezTo>
                    <a:cubicBezTo>
                      <a:pt x="44" y="12"/>
                      <a:pt x="39" y="10"/>
                      <a:pt x="37" y="6"/>
                    </a:cubicBezTo>
                    <a:cubicBezTo>
                      <a:pt x="36" y="5"/>
                      <a:pt x="36" y="4"/>
                      <a:pt x="36" y="3"/>
                    </a:cubicBezTo>
                    <a:cubicBezTo>
                      <a:pt x="36" y="3"/>
                      <a:pt x="36" y="3"/>
                      <a:pt x="36" y="3"/>
                    </a:cubicBezTo>
                    <a:cubicBezTo>
                      <a:pt x="36" y="1"/>
                      <a:pt x="36" y="1"/>
                      <a:pt x="36" y="1"/>
                    </a:cubicBezTo>
                    <a:cubicBezTo>
                      <a:pt x="30" y="0"/>
                      <a:pt x="30" y="0"/>
                      <a:pt x="30" y="0"/>
                    </a:cubicBezTo>
                    <a:cubicBezTo>
                      <a:pt x="29" y="3"/>
                      <a:pt x="29" y="3"/>
                      <a:pt x="29" y="3"/>
                    </a:cubicBezTo>
                    <a:cubicBezTo>
                      <a:pt x="29" y="3"/>
                      <a:pt x="29" y="3"/>
                      <a:pt x="29" y="3"/>
                    </a:cubicBezTo>
                    <a:cubicBezTo>
                      <a:pt x="28" y="5"/>
                      <a:pt x="27" y="6"/>
                      <a:pt x="25" y="7"/>
                    </a:cubicBezTo>
                    <a:cubicBezTo>
                      <a:pt x="22" y="9"/>
                      <a:pt x="18" y="8"/>
                      <a:pt x="16" y="6"/>
                    </a:cubicBezTo>
                    <a:cubicBezTo>
                      <a:pt x="15" y="5"/>
                      <a:pt x="15" y="5"/>
                      <a:pt x="15" y="5"/>
                    </a:cubicBezTo>
                    <a:cubicBezTo>
                      <a:pt x="14" y="4"/>
                      <a:pt x="14" y="4"/>
                      <a:pt x="14" y="4"/>
                    </a:cubicBezTo>
                    <a:cubicBezTo>
                      <a:pt x="9" y="8"/>
                      <a:pt x="9" y="8"/>
                      <a:pt x="9" y="8"/>
                    </a:cubicBezTo>
                    <a:cubicBezTo>
                      <a:pt x="11" y="10"/>
                      <a:pt x="11" y="10"/>
                      <a:pt x="11" y="10"/>
                    </a:cubicBezTo>
                    <a:cubicBezTo>
                      <a:pt x="11" y="10"/>
                      <a:pt x="11" y="10"/>
                      <a:pt x="11" y="10"/>
                    </a:cubicBezTo>
                    <a:cubicBezTo>
                      <a:pt x="13" y="15"/>
                      <a:pt x="10" y="19"/>
                      <a:pt x="6" y="21"/>
                    </a:cubicBezTo>
                    <a:cubicBezTo>
                      <a:pt x="5" y="22"/>
                      <a:pt x="4" y="22"/>
                      <a:pt x="3" y="22"/>
                    </a:cubicBezTo>
                    <a:cubicBezTo>
                      <a:pt x="1" y="22"/>
                      <a:pt x="1" y="22"/>
                      <a:pt x="1" y="22"/>
                    </a:cubicBezTo>
                    <a:cubicBezTo>
                      <a:pt x="0" y="28"/>
                      <a:pt x="0" y="28"/>
                      <a:pt x="0" y="28"/>
                    </a:cubicBezTo>
                    <a:cubicBezTo>
                      <a:pt x="3" y="28"/>
                      <a:pt x="3" y="28"/>
                      <a:pt x="3" y="28"/>
                    </a:cubicBezTo>
                    <a:cubicBezTo>
                      <a:pt x="5" y="29"/>
                      <a:pt x="7" y="31"/>
                      <a:pt x="8" y="33"/>
                    </a:cubicBezTo>
                    <a:cubicBezTo>
                      <a:pt x="9" y="36"/>
                      <a:pt x="8" y="39"/>
                      <a:pt x="6" y="42"/>
                    </a:cubicBezTo>
                    <a:cubicBezTo>
                      <a:pt x="4" y="44"/>
                      <a:pt x="4" y="44"/>
                      <a:pt x="4" y="44"/>
                    </a:cubicBezTo>
                    <a:cubicBezTo>
                      <a:pt x="8" y="48"/>
                      <a:pt x="8" y="48"/>
                      <a:pt x="8" y="48"/>
                    </a:cubicBezTo>
                    <a:cubicBezTo>
                      <a:pt x="10" y="47"/>
                      <a:pt x="10" y="47"/>
                      <a:pt x="10" y="47"/>
                    </a:cubicBezTo>
                    <a:cubicBezTo>
                      <a:pt x="10" y="47"/>
                      <a:pt x="10" y="47"/>
                      <a:pt x="10" y="47"/>
                    </a:cubicBezTo>
                    <a:cubicBezTo>
                      <a:pt x="11" y="47"/>
                      <a:pt x="10" y="47"/>
                      <a:pt x="11" y="47"/>
                    </a:cubicBezTo>
                    <a:cubicBezTo>
                      <a:pt x="15" y="45"/>
                      <a:pt x="20" y="47"/>
                      <a:pt x="22" y="51"/>
                    </a:cubicBezTo>
                    <a:cubicBezTo>
                      <a:pt x="22" y="52"/>
                      <a:pt x="22" y="53"/>
                      <a:pt x="22" y="54"/>
                    </a:cubicBezTo>
                    <a:cubicBezTo>
                      <a:pt x="22" y="54"/>
                      <a:pt x="22" y="54"/>
                      <a:pt x="22" y="54"/>
                    </a:cubicBezTo>
                    <a:cubicBezTo>
                      <a:pt x="23" y="56"/>
                      <a:pt x="23" y="56"/>
                      <a:pt x="23" y="56"/>
                    </a:cubicBezTo>
                    <a:cubicBezTo>
                      <a:pt x="28" y="57"/>
                      <a:pt x="28" y="57"/>
                      <a:pt x="28" y="57"/>
                    </a:cubicBezTo>
                    <a:cubicBezTo>
                      <a:pt x="29" y="55"/>
                      <a:pt x="29" y="55"/>
                      <a:pt x="29" y="55"/>
                    </a:cubicBezTo>
                    <a:cubicBezTo>
                      <a:pt x="30" y="53"/>
                      <a:pt x="32" y="51"/>
                      <a:pt x="34" y="50"/>
                    </a:cubicBezTo>
                    <a:cubicBezTo>
                      <a:pt x="37" y="49"/>
                      <a:pt x="40" y="49"/>
                      <a:pt x="43" y="51"/>
                    </a:cubicBezTo>
                    <a:cubicBezTo>
                      <a:pt x="45" y="53"/>
                      <a:pt x="45" y="53"/>
                      <a:pt x="45" y="53"/>
                    </a:cubicBezTo>
                    <a:cubicBezTo>
                      <a:pt x="49" y="49"/>
                      <a:pt x="49" y="49"/>
                      <a:pt x="49" y="49"/>
                    </a:cubicBezTo>
                    <a:cubicBezTo>
                      <a:pt x="48" y="47"/>
                      <a:pt x="48" y="47"/>
                      <a:pt x="48" y="47"/>
                    </a:cubicBezTo>
                    <a:cubicBezTo>
                      <a:pt x="48" y="47"/>
                      <a:pt x="48" y="47"/>
                      <a:pt x="48" y="47"/>
                    </a:cubicBezTo>
                    <a:cubicBezTo>
                      <a:pt x="46" y="42"/>
                      <a:pt x="48" y="38"/>
                      <a:pt x="52" y="36"/>
                    </a:cubicBezTo>
                    <a:cubicBezTo>
                      <a:pt x="53" y="36"/>
                      <a:pt x="54" y="35"/>
                      <a:pt x="55" y="35"/>
                    </a:cubicBezTo>
                    <a:cubicBezTo>
                      <a:pt x="58" y="35"/>
                      <a:pt x="58" y="35"/>
                      <a:pt x="58" y="35"/>
                    </a:cubicBezTo>
                    <a:cubicBezTo>
                      <a:pt x="59" y="29"/>
                      <a:pt x="59" y="29"/>
                      <a:pt x="59" y="29"/>
                    </a:cubicBezTo>
                    <a:lnTo>
                      <a:pt x="56" y="29"/>
                    </a:lnTo>
                    <a:close/>
                    <a:moveTo>
                      <a:pt x="39" y="30"/>
                    </a:moveTo>
                    <a:cubicBezTo>
                      <a:pt x="38" y="35"/>
                      <a:pt x="33" y="39"/>
                      <a:pt x="28" y="38"/>
                    </a:cubicBezTo>
                    <a:cubicBezTo>
                      <a:pt x="23" y="38"/>
                      <a:pt x="19" y="33"/>
                      <a:pt x="19" y="27"/>
                    </a:cubicBezTo>
                    <a:cubicBezTo>
                      <a:pt x="20" y="22"/>
                      <a:pt x="25" y="18"/>
                      <a:pt x="31" y="19"/>
                    </a:cubicBezTo>
                    <a:cubicBezTo>
                      <a:pt x="36" y="20"/>
                      <a:pt x="40" y="24"/>
                      <a:pt x="39" y="30"/>
                    </a:cubicBezTo>
                    <a:close/>
                  </a:path>
                </a:pathLst>
              </a:custGeom>
              <a:grpFill/>
              <a:ln>
                <a:noFill/>
              </a:ln>
            </p:spPr>
            <p:txBody>
              <a:bodyPr vert="horz" wrap="square" lIns="80915" tIns="40457" rIns="80915" bIns="40457"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372" b="0" i="0" u="none" strike="noStrike" kern="0" cap="none" spc="0" normalizeH="0" baseline="0" noProof="0">
                  <a:ln>
                    <a:noFill/>
                  </a:ln>
                  <a:solidFill>
                    <a:prstClr val="black"/>
                  </a:solidFill>
                  <a:effectLst/>
                  <a:uLnTx/>
                  <a:uFillTx/>
                  <a:latin typeface="Verdana"/>
                  <a:ea typeface="+mn-ea"/>
                  <a:cs typeface="+mn-cs"/>
                </a:endParaRPr>
              </a:p>
            </p:txBody>
          </p:sp>
        </p:grpSp>
      </p:grpSp>
      <p:grpSp>
        <p:nvGrpSpPr>
          <p:cNvPr id="17" name="Group 16">
            <a:extLst>
              <a:ext uri="{FF2B5EF4-FFF2-40B4-BE49-F238E27FC236}">
                <a16:creationId xmlns:a16="http://schemas.microsoft.com/office/drawing/2014/main" id="{3E1FCE11-DE78-4EBF-A16D-1B6DD948F1BA}"/>
              </a:ext>
            </a:extLst>
          </p:cNvPr>
          <p:cNvGrpSpPr/>
          <p:nvPr/>
        </p:nvGrpSpPr>
        <p:grpSpPr>
          <a:xfrm>
            <a:off x="3954627" y="2918752"/>
            <a:ext cx="942392" cy="942392"/>
            <a:chOff x="3305652" y="1539284"/>
            <a:chExt cx="942392" cy="942392"/>
          </a:xfrm>
        </p:grpSpPr>
        <p:sp>
          <p:nvSpPr>
            <p:cNvPr id="18" name="Oval 17">
              <a:extLst>
                <a:ext uri="{FF2B5EF4-FFF2-40B4-BE49-F238E27FC236}">
                  <a16:creationId xmlns:a16="http://schemas.microsoft.com/office/drawing/2014/main" id="{A243B16B-8B49-4484-90A5-56205800F725}"/>
                </a:ext>
              </a:extLst>
            </p:cNvPr>
            <p:cNvSpPr/>
            <p:nvPr/>
          </p:nvSpPr>
          <p:spPr bwMode="gray">
            <a:xfrm>
              <a:off x="3305652" y="1539284"/>
              <a:ext cx="942392" cy="942392"/>
            </a:xfrm>
            <a:prstGeom prst="ellipse">
              <a:avLst/>
            </a:prstGeom>
            <a:solidFill>
              <a:srgbClr val="005587"/>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sp>
          <p:nvSpPr>
            <p:cNvPr id="19" name="Freeform 30">
              <a:extLst>
                <a:ext uri="{FF2B5EF4-FFF2-40B4-BE49-F238E27FC236}">
                  <a16:creationId xmlns:a16="http://schemas.microsoft.com/office/drawing/2014/main" id="{328B4F0B-5D00-4E4A-8A1D-B90281FC3D6D}"/>
                </a:ext>
              </a:extLst>
            </p:cNvPr>
            <p:cNvSpPr>
              <a:spLocks noEditPoints="1"/>
            </p:cNvSpPr>
            <p:nvPr/>
          </p:nvSpPr>
          <p:spPr bwMode="auto">
            <a:xfrm>
              <a:off x="3516728" y="1727661"/>
              <a:ext cx="522078" cy="562970"/>
            </a:xfrm>
            <a:custGeom>
              <a:avLst/>
              <a:gdLst>
                <a:gd name="T0" fmla="*/ 111 w 118"/>
                <a:gd name="T1" fmla="*/ 80 h 130"/>
                <a:gd name="T2" fmla="*/ 58 w 118"/>
                <a:gd name="T3" fmla="*/ 13 h 130"/>
                <a:gd name="T4" fmla="*/ 48 w 118"/>
                <a:gd name="T5" fmla="*/ 10 h 130"/>
                <a:gd name="T6" fmla="*/ 42 w 118"/>
                <a:gd name="T7" fmla="*/ 9 h 130"/>
                <a:gd name="T8" fmla="*/ 41 w 118"/>
                <a:gd name="T9" fmla="*/ 8 h 130"/>
                <a:gd name="T10" fmla="*/ 24 w 118"/>
                <a:gd name="T11" fmla="*/ 2 h 130"/>
                <a:gd name="T12" fmla="*/ 24 w 118"/>
                <a:gd name="T13" fmla="*/ 2 h 130"/>
                <a:gd name="T14" fmla="*/ 3 w 118"/>
                <a:gd name="T15" fmla="*/ 19 h 130"/>
                <a:gd name="T16" fmla="*/ 5 w 118"/>
                <a:gd name="T17" fmla="*/ 36 h 130"/>
                <a:gd name="T18" fmla="*/ 6 w 118"/>
                <a:gd name="T19" fmla="*/ 38 h 130"/>
                <a:gd name="T20" fmla="*/ 6 w 118"/>
                <a:gd name="T21" fmla="*/ 44 h 130"/>
                <a:gd name="T22" fmla="*/ 7 w 118"/>
                <a:gd name="T23" fmla="*/ 53 h 130"/>
                <a:gd name="T24" fmla="*/ 61 w 118"/>
                <a:gd name="T25" fmla="*/ 122 h 130"/>
                <a:gd name="T26" fmla="*/ 75 w 118"/>
                <a:gd name="T27" fmla="*/ 124 h 130"/>
                <a:gd name="T28" fmla="*/ 112 w 118"/>
                <a:gd name="T29" fmla="*/ 95 h 130"/>
                <a:gd name="T30" fmla="*/ 111 w 118"/>
                <a:gd name="T31" fmla="*/ 80 h 130"/>
                <a:gd name="T32" fmla="*/ 20 w 118"/>
                <a:gd name="T33" fmla="*/ 30 h 130"/>
                <a:gd name="T34" fmla="*/ 21 w 118"/>
                <a:gd name="T35" fmla="*/ 20 h 130"/>
                <a:gd name="T36" fmla="*/ 31 w 118"/>
                <a:gd name="T37" fmla="*/ 21 h 130"/>
                <a:gd name="T38" fmla="*/ 30 w 118"/>
                <a:gd name="T39" fmla="*/ 31 h 130"/>
                <a:gd name="T40" fmla="*/ 20 w 118"/>
                <a:gd name="T41" fmla="*/ 30 h 130"/>
                <a:gd name="T42" fmla="*/ 102 w 118"/>
                <a:gd name="T43" fmla="*/ 91 h 130"/>
                <a:gd name="T44" fmla="*/ 74 w 118"/>
                <a:gd name="T45" fmla="*/ 114 h 130"/>
                <a:gd name="T46" fmla="*/ 63 w 118"/>
                <a:gd name="T47" fmla="*/ 112 h 130"/>
                <a:gd name="T48" fmla="*/ 25 w 118"/>
                <a:gd name="T49" fmla="*/ 63 h 130"/>
                <a:gd name="T50" fmla="*/ 25 w 118"/>
                <a:gd name="T51" fmla="*/ 55 h 130"/>
                <a:gd name="T52" fmla="*/ 29 w 118"/>
                <a:gd name="T53" fmla="*/ 62 h 130"/>
                <a:gd name="T54" fmla="*/ 65 w 118"/>
                <a:gd name="T55" fmla="*/ 107 h 130"/>
                <a:gd name="T56" fmla="*/ 72 w 118"/>
                <a:gd name="T57" fmla="*/ 109 h 130"/>
                <a:gd name="T58" fmla="*/ 99 w 118"/>
                <a:gd name="T59" fmla="*/ 87 h 130"/>
                <a:gd name="T60" fmla="*/ 102 w 118"/>
                <a:gd name="T61" fmla="*/ 82 h 130"/>
                <a:gd name="T62" fmla="*/ 102 w 118"/>
                <a:gd name="T63" fmla="*/ 91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8" h="130">
                  <a:moveTo>
                    <a:pt x="111" y="80"/>
                  </a:moveTo>
                  <a:cubicBezTo>
                    <a:pt x="58" y="13"/>
                    <a:pt x="58" y="13"/>
                    <a:pt x="58" y="13"/>
                  </a:cubicBezTo>
                  <a:cubicBezTo>
                    <a:pt x="56" y="11"/>
                    <a:pt x="53" y="9"/>
                    <a:pt x="48" y="10"/>
                  </a:cubicBezTo>
                  <a:cubicBezTo>
                    <a:pt x="48" y="10"/>
                    <a:pt x="45" y="12"/>
                    <a:pt x="42" y="9"/>
                  </a:cubicBezTo>
                  <a:cubicBezTo>
                    <a:pt x="41" y="8"/>
                    <a:pt x="41" y="8"/>
                    <a:pt x="41" y="8"/>
                  </a:cubicBezTo>
                  <a:cubicBezTo>
                    <a:pt x="35" y="2"/>
                    <a:pt x="30" y="0"/>
                    <a:pt x="24" y="2"/>
                  </a:cubicBezTo>
                  <a:cubicBezTo>
                    <a:pt x="24" y="2"/>
                    <a:pt x="24" y="2"/>
                    <a:pt x="24" y="2"/>
                  </a:cubicBezTo>
                  <a:cubicBezTo>
                    <a:pt x="12" y="10"/>
                    <a:pt x="3" y="19"/>
                    <a:pt x="3" y="19"/>
                  </a:cubicBezTo>
                  <a:cubicBezTo>
                    <a:pt x="0" y="23"/>
                    <a:pt x="0" y="29"/>
                    <a:pt x="5" y="36"/>
                  </a:cubicBezTo>
                  <a:cubicBezTo>
                    <a:pt x="6" y="38"/>
                    <a:pt x="6" y="38"/>
                    <a:pt x="6" y="38"/>
                  </a:cubicBezTo>
                  <a:cubicBezTo>
                    <a:pt x="8" y="41"/>
                    <a:pt x="6" y="44"/>
                    <a:pt x="6" y="44"/>
                  </a:cubicBezTo>
                  <a:cubicBezTo>
                    <a:pt x="3" y="48"/>
                    <a:pt x="5" y="51"/>
                    <a:pt x="7" y="53"/>
                  </a:cubicBezTo>
                  <a:cubicBezTo>
                    <a:pt x="61" y="122"/>
                    <a:pt x="61" y="122"/>
                    <a:pt x="61" y="122"/>
                  </a:cubicBezTo>
                  <a:cubicBezTo>
                    <a:pt x="68" y="130"/>
                    <a:pt x="75" y="124"/>
                    <a:pt x="75" y="124"/>
                  </a:cubicBezTo>
                  <a:cubicBezTo>
                    <a:pt x="112" y="95"/>
                    <a:pt x="112" y="95"/>
                    <a:pt x="112" y="95"/>
                  </a:cubicBezTo>
                  <a:cubicBezTo>
                    <a:pt x="118" y="89"/>
                    <a:pt x="111" y="80"/>
                    <a:pt x="111" y="80"/>
                  </a:cubicBezTo>
                  <a:close/>
                  <a:moveTo>
                    <a:pt x="20" y="30"/>
                  </a:moveTo>
                  <a:cubicBezTo>
                    <a:pt x="17" y="27"/>
                    <a:pt x="18" y="22"/>
                    <a:pt x="21" y="20"/>
                  </a:cubicBezTo>
                  <a:cubicBezTo>
                    <a:pt x="24" y="17"/>
                    <a:pt x="29" y="18"/>
                    <a:pt x="31" y="21"/>
                  </a:cubicBezTo>
                  <a:cubicBezTo>
                    <a:pt x="34" y="24"/>
                    <a:pt x="33" y="29"/>
                    <a:pt x="30" y="31"/>
                  </a:cubicBezTo>
                  <a:cubicBezTo>
                    <a:pt x="27" y="34"/>
                    <a:pt x="22" y="33"/>
                    <a:pt x="20" y="30"/>
                  </a:cubicBezTo>
                  <a:close/>
                  <a:moveTo>
                    <a:pt x="102" y="91"/>
                  </a:moveTo>
                  <a:cubicBezTo>
                    <a:pt x="74" y="114"/>
                    <a:pt x="74" y="114"/>
                    <a:pt x="74" y="114"/>
                  </a:cubicBezTo>
                  <a:cubicBezTo>
                    <a:pt x="74" y="114"/>
                    <a:pt x="69" y="118"/>
                    <a:pt x="63" y="112"/>
                  </a:cubicBezTo>
                  <a:cubicBezTo>
                    <a:pt x="25" y="63"/>
                    <a:pt x="25" y="63"/>
                    <a:pt x="25" y="63"/>
                  </a:cubicBezTo>
                  <a:cubicBezTo>
                    <a:pt x="23" y="62"/>
                    <a:pt x="22" y="58"/>
                    <a:pt x="25" y="55"/>
                  </a:cubicBezTo>
                  <a:cubicBezTo>
                    <a:pt x="26" y="58"/>
                    <a:pt x="28" y="61"/>
                    <a:pt x="29" y="62"/>
                  </a:cubicBezTo>
                  <a:cubicBezTo>
                    <a:pt x="65" y="107"/>
                    <a:pt x="65" y="107"/>
                    <a:pt x="65" y="107"/>
                  </a:cubicBezTo>
                  <a:cubicBezTo>
                    <a:pt x="69" y="111"/>
                    <a:pt x="72" y="109"/>
                    <a:pt x="72" y="109"/>
                  </a:cubicBezTo>
                  <a:cubicBezTo>
                    <a:pt x="99" y="87"/>
                    <a:pt x="99" y="87"/>
                    <a:pt x="99" y="87"/>
                  </a:cubicBezTo>
                  <a:cubicBezTo>
                    <a:pt x="103" y="84"/>
                    <a:pt x="102" y="82"/>
                    <a:pt x="102" y="82"/>
                  </a:cubicBezTo>
                  <a:cubicBezTo>
                    <a:pt x="102" y="82"/>
                    <a:pt x="106" y="88"/>
                    <a:pt x="102" y="91"/>
                  </a:cubicBezTo>
                  <a:close/>
                </a:path>
              </a:pathLst>
            </a:custGeom>
            <a:solidFill>
              <a:schemeClr val="bg1"/>
            </a:solidFill>
            <a:ln>
              <a:noFill/>
            </a:ln>
          </p:spPr>
          <p:txBody>
            <a:bodyPr vert="horz" wrap="square" lIns="80915" tIns="40457" rIns="80915" bIns="40457" numCol="1" anchor="t" anchorCtr="0" compatLnSpc="1">
              <a:prstTxWarp prst="textNoShape">
                <a:avLst/>
              </a:prstTxWarp>
            </a:bodyPr>
            <a:lstStyle/>
            <a:p>
              <a:pPr marL="0" marR="0" lvl="0" indent="0" algn="l" defTabSz="809153" rtl="0" eaLnBrk="1" fontAlgn="auto" latinLnBrk="0" hangingPunct="1">
                <a:lnSpc>
                  <a:spcPct val="100000"/>
                </a:lnSpc>
                <a:spcBef>
                  <a:spcPts val="0"/>
                </a:spcBef>
                <a:spcAft>
                  <a:spcPts val="0"/>
                </a:spcAft>
                <a:buClrTx/>
                <a:buSzTx/>
                <a:buFontTx/>
                <a:buNone/>
                <a:tabLst/>
                <a:defRPr/>
              </a:pPr>
              <a:endParaRPr kumimoji="0" lang="en-US" sz="1372" b="0" i="0" u="none" strike="noStrike" kern="0" cap="none" spc="0" normalizeH="0" baseline="0" noProof="0">
                <a:ln>
                  <a:noFill/>
                </a:ln>
                <a:solidFill>
                  <a:prstClr val="black"/>
                </a:solidFill>
                <a:effectLst/>
                <a:uLnTx/>
                <a:uFillTx/>
                <a:latin typeface="Verdana"/>
                <a:ea typeface="+mn-ea"/>
                <a:cs typeface="+mn-cs"/>
              </a:endParaRPr>
            </a:p>
          </p:txBody>
        </p:sp>
      </p:grpSp>
      <p:grpSp>
        <p:nvGrpSpPr>
          <p:cNvPr id="20" name="Group 19">
            <a:extLst>
              <a:ext uri="{FF2B5EF4-FFF2-40B4-BE49-F238E27FC236}">
                <a16:creationId xmlns:a16="http://schemas.microsoft.com/office/drawing/2014/main" id="{3DD349AB-F43E-4349-A2E9-49FE9CC05324}"/>
              </a:ext>
            </a:extLst>
          </p:cNvPr>
          <p:cNvGrpSpPr/>
          <p:nvPr/>
        </p:nvGrpSpPr>
        <p:grpSpPr>
          <a:xfrm>
            <a:off x="5375068" y="3225276"/>
            <a:ext cx="942392" cy="942392"/>
            <a:chOff x="4567778" y="1740689"/>
            <a:chExt cx="942392" cy="942392"/>
          </a:xfrm>
        </p:grpSpPr>
        <p:sp>
          <p:nvSpPr>
            <p:cNvPr id="21" name="Oval 20">
              <a:extLst>
                <a:ext uri="{FF2B5EF4-FFF2-40B4-BE49-F238E27FC236}">
                  <a16:creationId xmlns:a16="http://schemas.microsoft.com/office/drawing/2014/main" id="{F24B949F-E0DC-424D-8E63-DE7A6440718B}"/>
                </a:ext>
              </a:extLst>
            </p:cNvPr>
            <p:cNvSpPr/>
            <p:nvPr/>
          </p:nvSpPr>
          <p:spPr bwMode="gray">
            <a:xfrm>
              <a:off x="4567778" y="1740689"/>
              <a:ext cx="942392" cy="942392"/>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grpSp>
          <p:nvGrpSpPr>
            <p:cNvPr id="22" name="Group 21">
              <a:extLst>
                <a:ext uri="{FF2B5EF4-FFF2-40B4-BE49-F238E27FC236}">
                  <a16:creationId xmlns:a16="http://schemas.microsoft.com/office/drawing/2014/main" id="{ABE06523-227A-4CD7-A8A8-7E97231DC74E}"/>
                </a:ext>
              </a:extLst>
            </p:cNvPr>
            <p:cNvGrpSpPr/>
            <p:nvPr/>
          </p:nvGrpSpPr>
          <p:grpSpPr>
            <a:xfrm>
              <a:off x="4731613" y="1996333"/>
              <a:ext cx="614721" cy="431103"/>
              <a:chOff x="2906713" y="2641600"/>
              <a:chExt cx="488950" cy="342900"/>
            </a:xfrm>
            <a:solidFill>
              <a:schemeClr val="bg1"/>
            </a:solidFill>
          </p:grpSpPr>
          <p:sp>
            <p:nvSpPr>
              <p:cNvPr id="23" name="Freeform 34">
                <a:extLst>
                  <a:ext uri="{FF2B5EF4-FFF2-40B4-BE49-F238E27FC236}">
                    <a16:creationId xmlns:a16="http://schemas.microsoft.com/office/drawing/2014/main" id="{2863B363-C153-48E8-9C53-8E8987209B79}"/>
                  </a:ext>
                </a:extLst>
              </p:cNvPr>
              <p:cNvSpPr>
                <a:spLocks/>
              </p:cNvSpPr>
              <p:nvPr/>
            </p:nvSpPr>
            <p:spPr bwMode="auto">
              <a:xfrm>
                <a:off x="3124201" y="2781300"/>
                <a:ext cx="53975" cy="58738"/>
              </a:xfrm>
              <a:custGeom>
                <a:avLst/>
                <a:gdLst>
                  <a:gd name="T0" fmla="*/ 12 w 13"/>
                  <a:gd name="T1" fmla="*/ 14 h 14"/>
                  <a:gd name="T2" fmla="*/ 13 w 13"/>
                  <a:gd name="T3" fmla="*/ 12 h 14"/>
                  <a:gd name="T4" fmla="*/ 13 w 13"/>
                  <a:gd name="T5" fmla="*/ 2 h 14"/>
                  <a:gd name="T6" fmla="*/ 12 w 13"/>
                  <a:gd name="T7" fmla="*/ 0 h 14"/>
                  <a:gd name="T8" fmla="*/ 1 w 13"/>
                  <a:gd name="T9" fmla="*/ 0 h 14"/>
                  <a:gd name="T10" fmla="*/ 0 w 13"/>
                  <a:gd name="T11" fmla="*/ 2 h 14"/>
                  <a:gd name="T12" fmla="*/ 0 w 13"/>
                  <a:gd name="T13" fmla="*/ 12 h 14"/>
                  <a:gd name="T14" fmla="*/ 1 w 13"/>
                  <a:gd name="T15" fmla="*/ 14 h 14"/>
                  <a:gd name="T16" fmla="*/ 12 w 13"/>
                  <a:gd name="T17"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14">
                    <a:moveTo>
                      <a:pt x="12" y="14"/>
                    </a:moveTo>
                    <a:cubicBezTo>
                      <a:pt x="13" y="14"/>
                      <a:pt x="13" y="13"/>
                      <a:pt x="13" y="12"/>
                    </a:cubicBezTo>
                    <a:cubicBezTo>
                      <a:pt x="13" y="2"/>
                      <a:pt x="13" y="2"/>
                      <a:pt x="13" y="2"/>
                    </a:cubicBezTo>
                    <a:cubicBezTo>
                      <a:pt x="13" y="1"/>
                      <a:pt x="13" y="0"/>
                      <a:pt x="12" y="0"/>
                    </a:cubicBezTo>
                    <a:cubicBezTo>
                      <a:pt x="1" y="0"/>
                      <a:pt x="1" y="0"/>
                      <a:pt x="1" y="0"/>
                    </a:cubicBezTo>
                    <a:cubicBezTo>
                      <a:pt x="0" y="0"/>
                      <a:pt x="0" y="1"/>
                      <a:pt x="0" y="2"/>
                    </a:cubicBezTo>
                    <a:cubicBezTo>
                      <a:pt x="0" y="12"/>
                      <a:pt x="0" y="12"/>
                      <a:pt x="0" y="12"/>
                    </a:cubicBezTo>
                    <a:cubicBezTo>
                      <a:pt x="0" y="13"/>
                      <a:pt x="0" y="14"/>
                      <a:pt x="1" y="14"/>
                    </a:cubicBez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0915" tIns="40457" rIns="80915" bIns="40457" numCol="1" anchor="t" anchorCtr="0" compatLnSpc="1">
                <a:prstTxWarp prst="textNoShape">
                  <a:avLst/>
                </a:prstTxWarp>
              </a:bodyPr>
              <a:lstStyle/>
              <a:p>
                <a:pPr marL="0" marR="0" lvl="0" indent="0" algn="l" defTabSz="809153" rtl="0" eaLnBrk="1" fontAlgn="auto" latinLnBrk="0" hangingPunct="1">
                  <a:lnSpc>
                    <a:spcPct val="100000"/>
                  </a:lnSpc>
                  <a:spcBef>
                    <a:spcPts val="0"/>
                  </a:spcBef>
                  <a:spcAft>
                    <a:spcPts val="0"/>
                  </a:spcAft>
                  <a:buClrTx/>
                  <a:buSzTx/>
                  <a:buFontTx/>
                  <a:buNone/>
                  <a:tabLst/>
                  <a:defRPr/>
                </a:pPr>
                <a:endParaRPr kumimoji="0" lang="en-US" sz="1372" b="0" i="0" u="none" strike="noStrike" kern="0" cap="none" spc="0" normalizeH="0" baseline="0" noProof="0">
                  <a:ln>
                    <a:noFill/>
                  </a:ln>
                  <a:solidFill>
                    <a:prstClr val="black"/>
                  </a:solidFill>
                  <a:effectLst/>
                  <a:uLnTx/>
                  <a:uFillTx/>
                  <a:latin typeface="Verdana"/>
                  <a:ea typeface="+mn-ea"/>
                  <a:cs typeface="+mn-cs"/>
                </a:endParaRPr>
              </a:p>
            </p:txBody>
          </p:sp>
          <p:sp>
            <p:nvSpPr>
              <p:cNvPr id="24" name="Freeform 35">
                <a:extLst>
                  <a:ext uri="{FF2B5EF4-FFF2-40B4-BE49-F238E27FC236}">
                    <a16:creationId xmlns:a16="http://schemas.microsoft.com/office/drawing/2014/main" id="{E62731FB-1B5C-44FF-8DB7-F0A1EBA38637}"/>
                  </a:ext>
                </a:extLst>
              </p:cNvPr>
              <p:cNvSpPr>
                <a:spLocks noEditPoints="1"/>
              </p:cNvSpPr>
              <p:nvPr/>
            </p:nvSpPr>
            <p:spPr bwMode="auto">
              <a:xfrm>
                <a:off x="2906713" y="2641600"/>
                <a:ext cx="488950" cy="342900"/>
              </a:xfrm>
              <a:custGeom>
                <a:avLst/>
                <a:gdLst>
                  <a:gd name="T0" fmla="*/ 114 w 119"/>
                  <a:gd name="T1" fmla="*/ 36 h 83"/>
                  <a:gd name="T2" fmla="*/ 114 w 119"/>
                  <a:gd name="T3" fmla="*/ 25 h 83"/>
                  <a:gd name="T4" fmla="*/ 102 w 119"/>
                  <a:gd name="T5" fmla="*/ 28 h 83"/>
                  <a:gd name="T6" fmla="*/ 109 w 119"/>
                  <a:gd name="T7" fmla="*/ 15 h 83"/>
                  <a:gd name="T8" fmla="*/ 119 w 119"/>
                  <a:gd name="T9" fmla="*/ 12 h 83"/>
                  <a:gd name="T10" fmla="*/ 109 w 119"/>
                  <a:gd name="T11" fmla="*/ 10 h 83"/>
                  <a:gd name="T12" fmla="*/ 102 w 119"/>
                  <a:gd name="T13" fmla="*/ 10 h 83"/>
                  <a:gd name="T14" fmla="*/ 28 w 119"/>
                  <a:gd name="T15" fmla="*/ 0 h 83"/>
                  <a:gd name="T16" fmla="*/ 17 w 119"/>
                  <a:gd name="T17" fmla="*/ 10 h 83"/>
                  <a:gd name="T18" fmla="*/ 5 w 119"/>
                  <a:gd name="T19" fmla="*/ 7 h 83"/>
                  <a:gd name="T20" fmla="*/ 5 w 119"/>
                  <a:gd name="T21" fmla="*/ 18 h 83"/>
                  <a:gd name="T22" fmla="*/ 17 w 119"/>
                  <a:gd name="T23" fmla="*/ 15 h 83"/>
                  <a:gd name="T24" fmla="*/ 10 w 119"/>
                  <a:gd name="T25" fmla="*/ 28 h 83"/>
                  <a:gd name="T26" fmla="*/ 0 w 119"/>
                  <a:gd name="T27" fmla="*/ 31 h 83"/>
                  <a:gd name="T28" fmla="*/ 10 w 119"/>
                  <a:gd name="T29" fmla="*/ 33 h 83"/>
                  <a:gd name="T30" fmla="*/ 17 w 119"/>
                  <a:gd name="T31" fmla="*/ 47 h 83"/>
                  <a:gd name="T32" fmla="*/ 5 w 119"/>
                  <a:gd name="T33" fmla="*/ 44 h 83"/>
                  <a:gd name="T34" fmla="*/ 5 w 119"/>
                  <a:gd name="T35" fmla="*/ 55 h 83"/>
                  <a:gd name="T36" fmla="*/ 17 w 119"/>
                  <a:gd name="T37" fmla="*/ 52 h 83"/>
                  <a:gd name="T38" fmla="*/ 10 w 119"/>
                  <a:gd name="T39" fmla="*/ 65 h 83"/>
                  <a:gd name="T40" fmla="*/ 0 w 119"/>
                  <a:gd name="T41" fmla="*/ 68 h 83"/>
                  <a:gd name="T42" fmla="*/ 10 w 119"/>
                  <a:gd name="T43" fmla="*/ 70 h 83"/>
                  <a:gd name="T44" fmla="*/ 17 w 119"/>
                  <a:gd name="T45" fmla="*/ 72 h 83"/>
                  <a:gd name="T46" fmla="*/ 44 w 119"/>
                  <a:gd name="T47" fmla="*/ 51 h 83"/>
                  <a:gd name="T48" fmla="*/ 48 w 119"/>
                  <a:gd name="T49" fmla="*/ 26 h 83"/>
                  <a:gd name="T50" fmla="*/ 75 w 119"/>
                  <a:gd name="T51" fmla="*/ 30 h 83"/>
                  <a:gd name="T52" fmla="*/ 71 w 119"/>
                  <a:gd name="T53" fmla="*/ 56 h 83"/>
                  <a:gd name="T54" fmla="*/ 24 w 119"/>
                  <a:gd name="T55" fmla="*/ 82 h 83"/>
                  <a:gd name="T56" fmla="*/ 91 w 119"/>
                  <a:gd name="T57" fmla="*/ 83 h 83"/>
                  <a:gd name="T58" fmla="*/ 102 w 119"/>
                  <a:gd name="T59" fmla="*/ 70 h 83"/>
                  <a:gd name="T60" fmla="*/ 114 w 119"/>
                  <a:gd name="T61" fmla="*/ 74 h 83"/>
                  <a:gd name="T62" fmla="*/ 114 w 119"/>
                  <a:gd name="T63" fmla="*/ 62 h 83"/>
                  <a:gd name="T64" fmla="*/ 102 w 119"/>
                  <a:gd name="T65" fmla="*/ 65 h 83"/>
                  <a:gd name="T66" fmla="*/ 109 w 119"/>
                  <a:gd name="T67" fmla="*/ 52 h 83"/>
                  <a:gd name="T68" fmla="*/ 119 w 119"/>
                  <a:gd name="T69" fmla="*/ 49 h 83"/>
                  <a:gd name="T70" fmla="*/ 109 w 119"/>
                  <a:gd name="T71" fmla="*/ 47 h 83"/>
                  <a:gd name="T72" fmla="*/ 102 w 119"/>
                  <a:gd name="T73" fmla="*/ 33 h 83"/>
                  <a:gd name="T74" fmla="*/ 114 w 119"/>
                  <a:gd name="T75" fmla="*/ 28 h 83"/>
                  <a:gd name="T76" fmla="*/ 114 w 119"/>
                  <a:gd name="T77" fmla="*/ 33 h 83"/>
                  <a:gd name="T78" fmla="*/ 114 w 119"/>
                  <a:gd name="T79" fmla="*/ 28 h 83"/>
                  <a:gd name="T80" fmla="*/ 116 w 119"/>
                  <a:gd name="T81" fmla="*/ 12 h 83"/>
                  <a:gd name="T82" fmla="*/ 111 w 119"/>
                  <a:gd name="T83" fmla="*/ 12 h 83"/>
                  <a:gd name="T84" fmla="*/ 5 w 119"/>
                  <a:gd name="T85" fmla="*/ 15 h 83"/>
                  <a:gd name="T86" fmla="*/ 5 w 119"/>
                  <a:gd name="T87" fmla="*/ 10 h 83"/>
                  <a:gd name="T88" fmla="*/ 5 w 119"/>
                  <a:gd name="T89" fmla="*/ 15 h 83"/>
                  <a:gd name="T90" fmla="*/ 3 w 119"/>
                  <a:gd name="T91" fmla="*/ 31 h 83"/>
                  <a:gd name="T92" fmla="*/ 8 w 119"/>
                  <a:gd name="T93" fmla="*/ 31 h 83"/>
                  <a:gd name="T94" fmla="*/ 5 w 119"/>
                  <a:gd name="T95" fmla="*/ 52 h 83"/>
                  <a:gd name="T96" fmla="*/ 5 w 119"/>
                  <a:gd name="T97" fmla="*/ 47 h 83"/>
                  <a:gd name="T98" fmla="*/ 5 w 119"/>
                  <a:gd name="T99" fmla="*/ 52 h 83"/>
                  <a:gd name="T100" fmla="*/ 3 w 119"/>
                  <a:gd name="T101" fmla="*/ 68 h 83"/>
                  <a:gd name="T102" fmla="*/ 8 w 119"/>
                  <a:gd name="T103" fmla="*/ 68 h 83"/>
                  <a:gd name="T104" fmla="*/ 114 w 119"/>
                  <a:gd name="T105" fmla="*/ 65 h 83"/>
                  <a:gd name="T106" fmla="*/ 114 w 119"/>
                  <a:gd name="T107" fmla="*/ 70 h 83"/>
                  <a:gd name="T108" fmla="*/ 114 w 119"/>
                  <a:gd name="T109" fmla="*/ 65 h 83"/>
                  <a:gd name="T110" fmla="*/ 116 w 119"/>
                  <a:gd name="T111" fmla="*/ 49 h 83"/>
                  <a:gd name="T112" fmla="*/ 111 w 119"/>
                  <a:gd name="T113" fmla="*/ 49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19" h="83">
                    <a:moveTo>
                      <a:pt x="109" y="33"/>
                    </a:moveTo>
                    <a:cubicBezTo>
                      <a:pt x="110" y="35"/>
                      <a:pt x="111" y="36"/>
                      <a:pt x="114" y="36"/>
                    </a:cubicBezTo>
                    <a:cubicBezTo>
                      <a:pt x="117" y="36"/>
                      <a:pt x="119" y="34"/>
                      <a:pt x="119" y="31"/>
                    </a:cubicBezTo>
                    <a:cubicBezTo>
                      <a:pt x="119" y="28"/>
                      <a:pt x="117" y="25"/>
                      <a:pt x="114" y="25"/>
                    </a:cubicBezTo>
                    <a:cubicBezTo>
                      <a:pt x="111" y="25"/>
                      <a:pt x="110" y="26"/>
                      <a:pt x="109" y="28"/>
                    </a:cubicBezTo>
                    <a:cubicBezTo>
                      <a:pt x="102" y="28"/>
                      <a:pt x="102" y="28"/>
                      <a:pt x="102" y="28"/>
                    </a:cubicBezTo>
                    <a:cubicBezTo>
                      <a:pt x="102" y="15"/>
                      <a:pt x="102" y="15"/>
                      <a:pt x="102" y="15"/>
                    </a:cubicBezTo>
                    <a:cubicBezTo>
                      <a:pt x="109" y="15"/>
                      <a:pt x="109" y="15"/>
                      <a:pt x="109" y="15"/>
                    </a:cubicBezTo>
                    <a:cubicBezTo>
                      <a:pt x="110" y="17"/>
                      <a:pt x="111" y="18"/>
                      <a:pt x="114" y="18"/>
                    </a:cubicBezTo>
                    <a:cubicBezTo>
                      <a:pt x="117" y="18"/>
                      <a:pt x="119" y="15"/>
                      <a:pt x="119" y="12"/>
                    </a:cubicBezTo>
                    <a:cubicBezTo>
                      <a:pt x="119" y="9"/>
                      <a:pt x="117" y="7"/>
                      <a:pt x="114" y="7"/>
                    </a:cubicBezTo>
                    <a:cubicBezTo>
                      <a:pt x="111" y="7"/>
                      <a:pt x="110" y="8"/>
                      <a:pt x="109" y="10"/>
                    </a:cubicBezTo>
                    <a:cubicBezTo>
                      <a:pt x="102" y="10"/>
                      <a:pt x="102" y="10"/>
                      <a:pt x="102" y="10"/>
                    </a:cubicBezTo>
                    <a:cubicBezTo>
                      <a:pt x="102" y="10"/>
                      <a:pt x="102" y="10"/>
                      <a:pt x="102" y="10"/>
                    </a:cubicBezTo>
                    <a:cubicBezTo>
                      <a:pt x="102" y="4"/>
                      <a:pt x="97" y="0"/>
                      <a:pt x="91" y="0"/>
                    </a:cubicBezTo>
                    <a:cubicBezTo>
                      <a:pt x="28" y="0"/>
                      <a:pt x="28" y="0"/>
                      <a:pt x="28" y="0"/>
                    </a:cubicBezTo>
                    <a:cubicBezTo>
                      <a:pt x="22" y="0"/>
                      <a:pt x="17" y="4"/>
                      <a:pt x="17" y="10"/>
                    </a:cubicBezTo>
                    <a:cubicBezTo>
                      <a:pt x="17" y="10"/>
                      <a:pt x="17" y="10"/>
                      <a:pt x="17" y="10"/>
                    </a:cubicBezTo>
                    <a:cubicBezTo>
                      <a:pt x="10" y="10"/>
                      <a:pt x="10" y="10"/>
                      <a:pt x="10" y="10"/>
                    </a:cubicBezTo>
                    <a:cubicBezTo>
                      <a:pt x="9" y="8"/>
                      <a:pt x="8" y="7"/>
                      <a:pt x="5" y="7"/>
                    </a:cubicBezTo>
                    <a:cubicBezTo>
                      <a:pt x="2" y="7"/>
                      <a:pt x="0" y="9"/>
                      <a:pt x="0" y="12"/>
                    </a:cubicBezTo>
                    <a:cubicBezTo>
                      <a:pt x="0" y="15"/>
                      <a:pt x="2" y="18"/>
                      <a:pt x="5" y="18"/>
                    </a:cubicBezTo>
                    <a:cubicBezTo>
                      <a:pt x="8" y="18"/>
                      <a:pt x="9" y="17"/>
                      <a:pt x="10" y="15"/>
                    </a:cubicBezTo>
                    <a:cubicBezTo>
                      <a:pt x="17" y="15"/>
                      <a:pt x="17" y="15"/>
                      <a:pt x="17" y="15"/>
                    </a:cubicBezTo>
                    <a:cubicBezTo>
                      <a:pt x="17" y="28"/>
                      <a:pt x="17" y="28"/>
                      <a:pt x="17" y="28"/>
                    </a:cubicBezTo>
                    <a:cubicBezTo>
                      <a:pt x="10" y="28"/>
                      <a:pt x="10" y="28"/>
                      <a:pt x="10" y="28"/>
                    </a:cubicBezTo>
                    <a:cubicBezTo>
                      <a:pt x="9" y="26"/>
                      <a:pt x="8" y="25"/>
                      <a:pt x="5" y="25"/>
                    </a:cubicBezTo>
                    <a:cubicBezTo>
                      <a:pt x="2" y="25"/>
                      <a:pt x="0" y="28"/>
                      <a:pt x="0" y="31"/>
                    </a:cubicBezTo>
                    <a:cubicBezTo>
                      <a:pt x="0" y="34"/>
                      <a:pt x="2" y="36"/>
                      <a:pt x="5" y="36"/>
                    </a:cubicBezTo>
                    <a:cubicBezTo>
                      <a:pt x="8" y="36"/>
                      <a:pt x="9" y="35"/>
                      <a:pt x="10" y="33"/>
                    </a:cubicBezTo>
                    <a:cubicBezTo>
                      <a:pt x="17" y="33"/>
                      <a:pt x="17" y="33"/>
                      <a:pt x="17" y="33"/>
                    </a:cubicBezTo>
                    <a:cubicBezTo>
                      <a:pt x="17" y="47"/>
                      <a:pt x="17" y="47"/>
                      <a:pt x="17" y="47"/>
                    </a:cubicBezTo>
                    <a:cubicBezTo>
                      <a:pt x="10" y="47"/>
                      <a:pt x="10" y="47"/>
                      <a:pt x="10" y="47"/>
                    </a:cubicBezTo>
                    <a:cubicBezTo>
                      <a:pt x="9" y="45"/>
                      <a:pt x="8" y="44"/>
                      <a:pt x="5" y="44"/>
                    </a:cubicBezTo>
                    <a:cubicBezTo>
                      <a:pt x="2" y="44"/>
                      <a:pt x="0" y="46"/>
                      <a:pt x="0" y="49"/>
                    </a:cubicBezTo>
                    <a:cubicBezTo>
                      <a:pt x="0" y="52"/>
                      <a:pt x="2" y="55"/>
                      <a:pt x="5" y="55"/>
                    </a:cubicBezTo>
                    <a:cubicBezTo>
                      <a:pt x="8" y="55"/>
                      <a:pt x="9" y="54"/>
                      <a:pt x="10" y="52"/>
                    </a:cubicBezTo>
                    <a:cubicBezTo>
                      <a:pt x="17" y="52"/>
                      <a:pt x="17" y="52"/>
                      <a:pt x="17" y="52"/>
                    </a:cubicBezTo>
                    <a:cubicBezTo>
                      <a:pt x="17" y="65"/>
                      <a:pt x="17" y="65"/>
                      <a:pt x="17" y="65"/>
                    </a:cubicBezTo>
                    <a:cubicBezTo>
                      <a:pt x="10" y="65"/>
                      <a:pt x="10" y="65"/>
                      <a:pt x="10" y="65"/>
                    </a:cubicBezTo>
                    <a:cubicBezTo>
                      <a:pt x="9" y="64"/>
                      <a:pt x="8" y="62"/>
                      <a:pt x="5" y="62"/>
                    </a:cubicBezTo>
                    <a:cubicBezTo>
                      <a:pt x="2" y="62"/>
                      <a:pt x="0" y="65"/>
                      <a:pt x="0" y="68"/>
                    </a:cubicBezTo>
                    <a:cubicBezTo>
                      <a:pt x="0" y="71"/>
                      <a:pt x="2" y="74"/>
                      <a:pt x="5" y="74"/>
                    </a:cubicBezTo>
                    <a:cubicBezTo>
                      <a:pt x="8" y="74"/>
                      <a:pt x="9" y="72"/>
                      <a:pt x="10" y="70"/>
                    </a:cubicBezTo>
                    <a:cubicBezTo>
                      <a:pt x="17" y="70"/>
                      <a:pt x="17" y="70"/>
                      <a:pt x="17" y="70"/>
                    </a:cubicBezTo>
                    <a:cubicBezTo>
                      <a:pt x="17" y="72"/>
                      <a:pt x="17" y="72"/>
                      <a:pt x="17" y="72"/>
                    </a:cubicBezTo>
                    <a:cubicBezTo>
                      <a:pt x="17" y="74"/>
                      <a:pt x="18" y="76"/>
                      <a:pt x="18" y="77"/>
                    </a:cubicBezTo>
                    <a:cubicBezTo>
                      <a:pt x="44" y="51"/>
                      <a:pt x="44" y="51"/>
                      <a:pt x="44" y="51"/>
                    </a:cubicBezTo>
                    <a:cubicBezTo>
                      <a:pt x="44" y="30"/>
                      <a:pt x="44" y="30"/>
                      <a:pt x="44" y="30"/>
                    </a:cubicBezTo>
                    <a:cubicBezTo>
                      <a:pt x="44" y="28"/>
                      <a:pt x="46" y="26"/>
                      <a:pt x="48" y="26"/>
                    </a:cubicBezTo>
                    <a:cubicBezTo>
                      <a:pt x="71" y="26"/>
                      <a:pt x="71" y="26"/>
                      <a:pt x="71" y="26"/>
                    </a:cubicBezTo>
                    <a:cubicBezTo>
                      <a:pt x="73" y="26"/>
                      <a:pt x="75" y="28"/>
                      <a:pt x="75" y="30"/>
                    </a:cubicBezTo>
                    <a:cubicBezTo>
                      <a:pt x="75" y="52"/>
                      <a:pt x="75" y="52"/>
                      <a:pt x="75" y="52"/>
                    </a:cubicBezTo>
                    <a:cubicBezTo>
                      <a:pt x="75" y="54"/>
                      <a:pt x="73" y="56"/>
                      <a:pt x="71" y="56"/>
                    </a:cubicBezTo>
                    <a:cubicBezTo>
                      <a:pt x="49" y="56"/>
                      <a:pt x="49" y="56"/>
                      <a:pt x="49" y="56"/>
                    </a:cubicBezTo>
                    <a:cubicBezTo>
                      <a:pt x="24" y="82"/>
                      <a:pt x="24" y="82"/>
                      <a:pt x="24" y="82"/>
                    </a:cubicBezTo>
                    <a:cubicBezTo>
                      <a:pt x="25" y="82"/>
                      <a:pt x="26" y="83"/>
                      <a:pt x="28" y="83"/>
                    </a:cubicBezTo>
                    <a:cubicBezTo>
                      <a:pt x="91" y="83"/>
                      <a:pt x="91" y="83"/>
                      <a:pt x="91" y="83"/>
                    </a:cubicBezTo>
                    <a:cubicBezTo>
                      <a:pt x="97" y="83"/>
                      <a:pt x="102" y="78"/>
                      <a:pt x="102" y="72"/>
                    </a:cubicBezTo>
                    <a:cubicBezTo>
                      <a:pt x="102" y="70"/>
                      <a:pt x="102" y="70"/>
                      <a:pt x="102" y="70"/>
                    </a:cubicBezTo>
                    <a:cubicBezTo>
                      <a:pt x="109" y="70"/>
                      <a:pt x="109" y="70"/>
                      <a:pt x="109" y="70"/>
                    </a:cubicBezTo>
                    <a:cubicBezTo>
                      <a:pt x="110" y="72"/>
                      <a:pt x="111" y="74"/>
                      <a:pt x="114" y="74"/>
                    </a:cubicBezTo>
                    <a:cubicBezTo>
                      <a:pt x="117" y="74"/>
                      <a:pt x="119" y="71"/>
                      <a:pt x="119" y="68"/>
                    </a:cubicBezTo>
                    <a:cubicBezTo>
                      <a:pt x="119" y="65"/>
                      <a:pt x="117" y="62"/>
                      <a:pt x="114" y="62"/>
                    </a:cubicBezTo>
                    <a:cubicBezTo>
                      <a:pt x="111" y="62"/>
                      <a:pt x="110" y="64"/>
                      <a:pt x="109" y="65"/>
                    </a:cubicBezTo>
                    <a:cubicBezTo>
                      <a:pt x="102" y="65"/>
                      <a:pt x="102" y="65"/>
                      <a:pt x="102" y="65"/>
                    </a:cubicBezTo>
                    <a:cubicBezTo>
                      <a:pt x="102" y="52"/>
                      <a:pt x="102" y="52"/>
                      <a:pt x="102" y="52"/>
                    </a:cubicBezTo>
                    <a:cubicBezTo>
                      <a:pt x="109" y="52"/>
                      <a:pt x="109" y="52"/>
                      <a:pt x="109" y="52"/>
                    </a:cubicBezTo>
                    <a:cubicBezTo>
                      <a:pt x="110" y="54"/>
                      <a:pt x="111" y="55"/>
                      <a:pt x="114" y="55"/>
                    </a:cubicBezTo>
                    <a:cubicBezTo>
                      <a:pt x="117" y="55"/>
                      <a:pt x="119" y="52"/>
                      <a:pt x="119" y="49"/>
                    </a:cubicBezTo>
                    <a:cubicBezTo>
                      <a:pt x="119" y="46"/>
                      <a:pt x="117" y="44"/>
                      <a:pt x="114" y="44"/>
                    </a:cubicBezTo>
                    <a:cubicBezTo>
                      <a:pt x="111" y="44"/>
                      <a:pt x="110" y="45"/>
                      <a:pt x="109" y="47"/>
                    </a:cubicBezTo>
                    <a:cubicBezTo>
                      <a:pt x="102" y="47"/>
                      <a:pt x="102" y="47"/>
                      <a:pt x="102" y="47"/>
                    </a:cubicBezTo>
                    <a:cubicBezTo>
                      <a:pt x="102" y="33"/>
                      <a:pt x="102" y="33"/>
                      <a:pt x="102" y="33"/>
                    </a:cubicBezTo>
                    <a:lnTo>
                      <a:pt x="109" y="33"/>
                    </a:lnTo>
                    <a:close/>
                    <a:moveTo>
                      <a:pt x="114" y="28"/>
                    </a:moveTo>
                    <a:cubicBezTo>
                      <a:pt x="115" y="28"/>
                      <a:pt x="116" y="29"/>
                      <a:pt x="116" y="31"/>
                    </a:cubicBezTo>
                    <a:cubicBezTo>
                      <a:pt x="116" y="32"/>
                      <a:pt x="115" y="33"/>
                      <a:pt x="114" y="33"/>
                    </a:cubicBezTo>
                    <a:cubicBezTo>
                      <a:pt x="112" y="33"/>
                      <a:pt x="111" y="32"/>
                      <a:pt x="111" y="31"/>
                    </a:cubicBezTo>
                    <a:cubicBezTo>
                      <a:pt x="111" y="29"/>
                      <a:pt x="112" y="28"/>
                      <a:pt x="114" y="28"/>
                    </a:cubicBezTo>
                    <a:close/>
                    <a:moveTo>
                      <a:pt x="114" y="10"/>
                    </a:moveTo>
                    <a:cubicBezTo>
                      <a:pt x="115" y="10"/>
                      <a:pt x="116" y="11"/>
                      <a:pt x="116" y="12"/>
                    </a:cubicBezTo>
                    <a:cubicBezTo>
                      <a:pt x="116" y="14"/>
                      <a:pt x="115" y="15"/>
                      <a:pt x="114" y="15"/>
                    </a:cubicBezTo>
                    <a:cubicBezTo>
                      <a:pt x="112" y="15"/>
                      <a:pt x="111" y="14"/>
                      <a:pt x="111" y="12"/>
                    </a:cubicBezTo>
                    <a:cubicBezTo>
                      <a:pt x="111" y="11"/>
                      <a:pt x="112" y="10"/>
                      <a:pt x="114" y="10"/>
                    </a:cubicBezTo>
                    <a:close/>
                    <a:moveTo>
                      <a:pt x="5" y="15"/>
                    </a:moveTo>
                    <a:cubicBezTo>
                      <a:pt x="4" y="15"/>
                      <a:pt x="3" y="14"/>
                      <a:pt x="3" y="12"/>
                    </a:cubicBezTo>
                    <a:cubicBezTo>
                      <a:pt x="3" y="11"/>
                      <a:pt x="4" y="10"/>
                      <a:pt x="5" y="10"/>
                    </a:cubicBezTo>
                    <a:cubicBezTo>
                      <a:pt x="7" y="10"/>
                      <a:pt x="8" y="11"/>
                      <a:pt x="8" y="12"/>
                    </a:cubicBezTo>
                    <a:cubicBezTo>
                      <a:pt x="8" y="14"/>
                      <a:pt x="7" y="15"/>
                      <a:pt x="5" y="15"/>
                    </a:cubicBezTo>
                    <a:close/>
                    <a:moveTo>
                      <a:pt x="5" y="33"/>
                    </a:moveTo>
                    <a:cubicBezTo>
                      <a:pt x="4" y="33"/>
                      <a:pt x="3" y="32"/>
                      <a:pt x="3" y="31"/>
                    </a:cubicBezTo>
                    <a:cubicBezTo>
                      <a:pt x="3" y="29"/>
                      <a:pt x="4" y="28"/>
                      <a:pt x="5" y="28"/>
                    </a:cubicBezTo>
                    <a:cubicBezTo>
                      <a:pt x="7" y="28"/>
                      <a:pt x="8" y="29"/>
                      <a:pt x="8" y="31"/>
                    </a:cubicBezTo>
                    <a:cubicBezTo>
                      <a:pt x="8" y="32"/>
                      <a:pt x="7" y="33"/>
                      <a:pt x="5" y="33"/>
                    </a:cubicBezTo>
                    <a:close/>
                    <a:moveTo>
                      <a:pt x="5" y="52"/>
                    </a:moveTo>
                    <a:cubicBezTo>
                      <a:pt x="4" y="52"/>
                      <a:pt x="3" y="51"/>
                      <a:pt x="3" y="49"/>
                    </a:cubicBezTo>
                    <a:cubicBezTo>
                      <a:pt x="3" y="48"/>
                      <a:pt x="4" y="47"/>
                      <a:pt x="5" y="47"/>
                    </a:cubicBezTo>
                    <a:cubicBezTo>
                      <a:pt x="7" y="47"/>
                      <a:pt x="8" y="48"/>
                      <a:pt x="8" y="49"/>
                    </a:cubicBezTo>
                    <a:cubicBezTo>
                      <a:pt x="8" y="51"/>
                      <a:pt x="7" y="52"/>
                      <a:pt x="5" y="52"/>
                    </a:cubicBezTo>
                    <a:close/>
                    <a:moveTo>
                      <a:pt x="5" y="70"/>
                    </a:moveTo>
                    <a:cubicBezTo>
                      <a:pt x="4" y="70"/>
                      <a:pt x="3" y="69"/>
                      <a:pt x="3" y="68"/>
                    </a:cubicBezTo>
                    <a:cubicBezTo>
                      <a:pt x="3" y="67"/>
                      <a:pt x="4" y="65"/>
                      <a:pt x="5" y="65"/>
                    </a:cubicBezTo>
                    <a:cubicBezTo>
                      <a:pt x="7" y="65"/>
                      <a:pt x="8" y="67"/>
                      <a:pt x="8" y="68"/>
                    </a:cubicBezTo>
                    <a:cubicBezTo>
                      <a:pt x="8" y="69"/>
                      <a:pt x="7" y="70"/>
                      <a:pt x="5" y="70"/>
                    </a:cubicBezTo>
                    <a:close/>
                    <a:moveTo>
                      <a:pt x="114" y="65"/>
                    </a:moveTo>
                    <a:cubicBezTo>
                      <a:pt x="115" y="65"/>
                      <a:pt x="116" y="67"/>
                      <a:pt x="116" y="68"/>
                    </a:cubicBezTo>
                    <a:cubicBezTo>
                      <a:pt x="116" y="69"/>
                      <a:pt x="115" y="70"/>
                      <a:pt x="114" y="70"/>
                    </a:cubicBezTo>
                    <a:cubicBezTo>
                      <a:pt x="112" y="70"/>
                      <a:pt x="111" y="69"/>
                      <a:pt x="111" y="68"/>
                    </a:cubicBezTo>
                    <a:cubicBezTo>
                      <a:pt x="111" y="67"/>
                      <a:pt x="112" y="65"/>
                      <a:pt x="114" y="65"/>
                    </a:cubicBezTo>
                    <a:close/>
                    <a:moveTo>
                      <a:pt x="114" y="47"/>
                    </a:moveTo>
                    <a:cubicBezTo>
                      <a:pt x="115" y="47"/>
                      <a:pt x="116" y="48"/>
                      <a:pt x="116" y="49"/>
                    </a:cubicBezTo>
                    <a:cubicBezTo>
                      <a:pt x="116" y="51"/>
                      <a:pt x="115" y="52"/>
                      <a:pt x="114" y="52"/>
                    </a:cubicBezTo>
                    <a:cubicBezTo>
                      <a:pt x="112" y="52"/>
                      <a:pt x="111" y="51"/>
                      <a:pt x="111" y="49"/>
                    </a:cubicBezTo>
                    <a:cubicBezTo>
                      <a:pt x="111" y="48"/>
                      <a:pt x="112" y="47"/>
                      <a:pt x="114"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0915" tIns="40457" rIns="80915" bIns="40457" numCol="1" anchor="t" anchorCtr="0" compatLnSpc="1">
                <a:prstTxWarp prst="textNoShape">
                  <a:avLst/>
                </a:prstTxWarp>
              </a:bodyPr>
              <a:lstStyle/>
              <a:p>
                <a:pPr marL="0" marR="0" lvl="0" indent="0" algn="l" defTabSz="809153" rtl="0" eaLnBrk="1" fontAlgn="auto" latinLnBrk="0" hangingPunct="1">
                  <a:lnSpc>
                    <a:spcPct val="100000"/>
                  </a:lnSpc>
                  <a:spcBef>
                    <a:spcPts val="0"/>
                  </a:spcBef>
                  <a:spcAft>
                    <a:spcPts val="0"/>
                  </a:spcAft>
                  <a:buClrTx/>
                  <a:buSzTx/>
                  <a:buFontTx/>
                  <a:buNone/>
                  <a:tabLst/>
                  <a:defRPr/>
                </a:pPr>
                <a:endParaRPr kumimoji="0" lang="en-US" sz="1372" b="0" i="0" u="none" strike="noStrike" kern="0" cap="none" spc="0" normalizeH="0" baseline="0" noProof="0">
                  <a:ln>
                    <a:noFill/>
                  </a:ln>
                  <a:solidFill>
                    <a:prstClr val="black"/>
                  </a:solidFill>
                  <a:effectLst/>
                  <a:uLnTx/>
                  <a:uFillTx/>
                  <a:latin typeface="Verdana"/>
                  <a:ea typeface="+mn-ea"/>
                  <a:cs typeface="+mn-cs"/>
                </a:endParaRPr>
              </a:p>
            </p:txBody>
          </p:sp>
        </p:grpSp>
      </p:grpSp>
      <p:grpSp>
        <p:nvGrpSpPr>
          <p:cNvPr id="25" name="Group 24">
            <a:extLst>
              <a:ext uri="{FF2B5EF4-FFF2-40B4-BE49-F238E27FC236}">
                <a16:creationId xmlns:a16="http://schemas.microsoft.com/office/drawing/2014/main" id="{52CD4AD3-813D-42A8-B1E8-DBF892608E9C}"/>
              </a:ext>
            </a:extLst>
          </p:cNvPr>
          <p:cNvGrpSpPr/>
          <p:nvPr/>
        </p:nvGrpSpPr>
        <p:grpSpPr>
          <a:xfrm>
            <a:off x="6795509" y="2959674"/>
            <a:ext cx="942392" cy="942392"/>
            <a:chOff x="6274594" y="1845571"/>
            <a:chExt cx="942392" cy="942392"/>
          </a:xfrm>
        </p:grpSpPr>
        <p:sp>
          <p:nvSpPr>
            <p:cNvPr id="26" name="Oval 25">
              <a:extLst>
                <a:ext uri="{FF2B5EF4-FFF2-40B4-BE49-F238E27FC236}">
                  <a16:creationId xmlns:a16="http://schemas.microsoft.com/office/drawing/2014/main" id="{8B039928-3DC2-4DD7-8A5D-067F6ADD4DA1}"/>
                </a:ext>
              </a:extLst>
            </p:cNvPr>
            <p:cNvSpPr/>
            <p:nvPr/>
          </p:nvSpPr>
          <p:spPr bwMode="gray">
            <a:xfrm>
              <a:off x="6274594" y="1845571"/>
              <a:ext cx="942392" cy="942392"/>
            </a:xfrm>
            <a:prstGeom prst="ellipse">
              <a:avLst/>
            </a:prstGeom>
            <a:solidFill>
              <a:srgbClr val="0097A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sp>
          <p:nvSpPr>
            <p:cNvPr id="27" name="Freeform 38">
              <a:extLst>
                <a:ext uri="{FF2B5EF4-FFF2-40B4-BE49-F238E27FC236}">
                  <a16:creationId xmlns:a16="http://schemas.microsoft.com/office/drawing/2014/main" id="{F34902B9-95B7-4B5D-8F9B-CA7F4D199D1F}"/>
                </a:ext>
              </a:extLst>
            </p:cNvPr>
            <p:cNvSpPr>
              <a:spLocks noEditPoints="1"/>
            </p:cNvSpPr>
            <p:nvPr/>
          </p:nvSpPr>
          <p:spPr bwMode="auto">
            <a:xfrm>
              <a:off x="6458498" y="2048194"/>
              <a:ext cx="572882" cy="543553"/>
            </a:xfrm>
            <a:custGeom>
              <a:avLst/>
              <a:gdLst>
                <a:gd name="T0" fmla="*/ 96 w 117"/>
                <a:gd name="T1" fmla="*/ 16 h 112"/>
                <a:gd name="T2" fmla="*/ 81 w 117"/>
                <a:gd name="T3" fmla="*/ 16 h 112"/>
                <a:gd name="T4" fmla="*/ 49 w 117"/>
                <a:gd name="T5" fmla="*/ 16 h 112"/>
                <a:gd name="T6" fmla="*/ 33 w 117"/>
                <a:gd name="T7" fmla="*/ 16 h 112"/>
                <a:gd name="T8" fmla="*/ 27 w 117"/>
                <a:gd name="T9" fmla="*/ 9 h 112"/>
                <a:gd name="T10" fmla="*/ 43 w 117"/>
                <a:gd name="T11" fmla="*/ 9 h 112"/>
                <a:gd name="T12" fmla="*/ 74 w 117"/>
                <a:gd name="T13" fmla="*/ 9 h 112"/>
                <a:gd name="T14" fmla="*/ 90 w 117"/>
                <a:gd name="T15" fmla="*/ 9 h 112"/>
                <a:gd name="T16" fmla="*/ 84 w 117"/>
                <a:gd name="T17" fmla="*/ 32 h 112"/>
                <a:gd name="T18" fmla="*/ 52 w 117"/>
                <a:gd name="T19" fmla="*/ 32 h 112"/>
                <a:gd name="T20" fmla="*/ 36 w 117"/>
                <a:gd name="T21" fmla="*/ 32 h 112"/>
                <a:gd name="T22" fmla="*/ 20 w 117"/>
                <a:gd name="T23" fmla="*/ 33 h 112"/>
                <a:gd name="T24" fmla="*/ 36 w 117"/>
                <a:gd name="T25" fmla="*/ 35 h 112"/>
                <a:gd name="T26" fmla="*/ 52 w 117"/>
                <a:gd name="T27" fmla="*/ 35 h 112"/>
                <a:gd name="T28" fmla="*/ 84 w 117"/>
                <a:gd name="T29" fmla="*/ 35 h 112"/>
                <a:gd name="T30" fmla="*/ 90 w 117"/>
                <a:gd name="T31" fmla="*/ 27 h 112"/>
                <a:gd name="T32" fmla="*/ 65 w 117"/>
                <a:gd name="T33" fmla="*/ 50 h 112"/>
                <a:gd name="T34" fmla="*/ 49 w 117"/>
                <a:gd name="T35" fmla="*/ 50 h 112"/>
                <a:gd name="T36" fmla="*/ 33 w 117"/>
                <a:gd name="T37" fmla="*/ 50 h 112"/>
                <a:gd name="T38" fmla="*/ 27 w 117"/>
                <a:gd name="T39" fmla="*/ 58 h 112"/>
                <a:gd name="T40" fmla="*/ 43 w 117"/>
                <a:gd name="T41" fmla="*/ 58 h 112"/>
                <a:gd name="T42" fmla="*/ 58 w 117"/>
                <a:gd name="T43" fmla="*/ 58 h 112"/>
                <a:gd name="T44" fmla="*/ 90 w 117"/>
                <a:gd name="T45" fmla="*/ 58 h 112"/>
                <a:gd name="T46" fmla="*/ 90 w 117"/>
                <a:gd name="T47" fmla="*/ 63 h 112"/>
                <a:gd name="T48" fmla="*/ 74 w 117"/>
                <a:gd name="T49" fmla="*/ 63 h 112"/>
                <a:gd name="T50" fmla="*/ 43 w 117"/>
                <a:gd name="T51" fmla="*/ 63 h 112"/>
                <a:gd name="T52" fmla="*/ 27 w 117"/>
                <a:gd name="T53" fmla="*/ 63 h 112"/>
                <a:gd name="T54" fmla="*/ 33 w 117"/>
                <a:gd name="T55" fmla="*/ 71 h 112"/>
                <a:gd name="T56" fmla="*/ 49 w 117"/>
                <a:gd name="T57" fmla="*/ 71 h 112"/>
                <a:gd name="T58" fmla="*/ 80 w 117"/>
                <a:gd name="T59" fmla="*/ 71 h 112"/>
                <a:gd name="T60" fmla="*/ 96 w 117"/>
                <a:gd name="T61" fmla="*/ 70 h 112"/>
                <a:gd name="T62" fmla="*/ 84 w 117"/>
                <a:gd name="T63" fmla="*/ 87 h 112"/>
                <a:gd name="T64" fmla="*/ 68 w 117"/>
                <a:gd name="T65" fmla="*/ 87 h 112"/>
                <a:gd name="T66" fmla="*/ 52 w 117"/>
                <a:gd name="T67" fmla="*/ 87 h 112"/>
                <a:gd name="T68" fmla="*/ 20 w 117"/>
                <a:gd name="T69" fmla="*/ 88 h 112"/>
                <a:gd name="T70" fmla="*/ 52 w 117"/>
                <a:gd name="T71" fmla="*/ 89 h 112"/>
                <a:gd name="T72" fmla="*/ 68 w 117"/>
                <a:gd name="T73" fmla="*/ 89 h 112"/>
                <a:gd name="T74" fmla="*/ 84 w 117"/>
                <a:gd name="T75" fmla="*/ 89 h 112"/>
                <a:gd name="T76" fmla="*/ 90 w 117"/>
                <a:gd name="T77" fmla="*/ 82 h 112"/>
                <a:gd name="T78" fmla="*/ 113 w 117"/>
                <a:gd name="T79" fmla="*/ 6 h 112"/>
                <a:gd name="T80" fmla="*/ 101 w 117"/>
                <a:gd name="T81" fmla="*/ 6 h 112"/>
                <a:gd name="T82" fmla="*/ 17 w 117"/>
                <a:gd name="T83" fmla="*/ 6 h 112"/>
                <a:gd name="T84" fmla="*/ 5 w 117"/>
                <a:gd name="T85" fmla="*/ 6 h 112"/>
                <a:gd name="T86" fmla="*/ 0 w 117"/>
                <a:gd name="T87" fmla="*/ 105 h 112"/>
                <a:gd name="T88" fmla="*/ 113 w 117"/>
                <a:gd name="T89" fmla="*/ 112 h 112"/>
                <a:gd name="T90" fmla="*/ 113 w 117"/>
                <a:gd name="T91" fmla="*/ 10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17" h="112">
                  <a:moveTo>
                    <a:pt x="96" y="14"/>
                  </a:moveTo>
                  <a:cubicBezTo>
                    <a:pt x="96" y="16"/>
                    <a:pt x="96" y="16"/>
                    <a:pt x="96" y="16"/>
                  </a:cubicBezTo>
                  <a:cubicBezTo>
                    <a:pt x="96" y="16"/>
                    <a:pt x="96" y="16"/>
                    <a:pt x="96" y="16"/>
                  </a:cubicBezTo>
                  <a:cubicBezTo>
                    <a:pt x="95" y="19"/>
                    <a:pt x="93" y="21"/>
                    <a:pt x="90" y="21"/>
                  </a:cubicBezTo>
                  <a:cubicBezTo>
                    <a:pt x="87" y="21"/>
                    <a:pt x="84" y="19"/>
                    <a:pt x="84" y="16"/>
                  </a:cubicBezTo>
                  <a:cubicBezTo>
                    <a:pt x="81" y="16"/>
                    <a:pt x="81" y="16"/>
                    <a:pt x="81" y="16"/>
                  </a:cubicBezTo>
                  <a:cubicBezTo>
                    <a:pt x="80" y="19"/>
                    <a:pt x="77" y="21"/>
                    <a:pt x="74" y="21"/>
                  </a:cubicBezTo>
                  <a:cubicBezTo>
                    <a:pt x="71" y="21"/>
                    <a:pt x="69" y="19"/>
                    <a:pt x="68" y="16"/>
                  </a:cubicBezTo>
                  <a:cubicBezTo>
                    <a:pt x="49" y="16"/>
                    <a:pt x="49" y="16"/>
                    <a:pt x="49" y="16"/>
                  </a:cubicBezTo>
                  <a:cubicBezTo>
                    <a:pt x="48" y="19"/>
                    <a:pt x="46" y="21"/>
                    <a:pt x="43" y="21"/>
                  </a:cubicBezTo>
                  <a:cubicBezTo>
                    <a:pt x="40" y="21"/>
                    <a:pt x="37" y="19"/>
                    <a:pt x="36" y="16"/>
                  </a:cubicBezTo>
                  <a:cubicBezTo>
                    <a:pt x="33" y="16"/>
                    <a:pt x="33" y="16"/>
                    <a:pt x="33" y="16"/>
                  </a:cubicBezTo>
                  <a:cubicBezTo>
                    <a:pt x="32" y="19"/>
                    <a:pt x="30" y="21"/>
                    <a:pt x="27" y="21"/>
                  </a:cubicBezTo>
                  <a:cubicBezTo>
                    <a:pt x="23" y="21"/>
                    <a:pt x="20" y="19"/>
                    <a:pt x="20" y="15"/>
                  </a:cubicBezTo>
                  <a:cubicBezTo>
                    <a:pt x="20" y="12"/>
                    <a:pt x="23" y="9"/>
                    <a:pt x="27" y="9"/>
                  </a:cubicBezTo>
                  <a:cubicBezTo>
                    <a:pt x="30" y="9"/>
                    <a:pt x="32" y="11"/>
                    <a:pt x="33" y="14"/>
                  </a:cubicBezTo>
                  <a:cubicBezTo>
                    <a:pt x="36" y="14"/>
                    <a:pt x="36" y="14"/>
                    <a:pt x="36" y="14"/>
                  </a:cubicBezTo>
                  <a:cubicBezTo>
                    <a:pt x="37" y="11"/>
                    <a:pt x="40" y="9"/>
                    <a:pt x="43" y="9"/>
                  </a:cubicBezTo>
                  <a:cubicBezTo>
                    <a:pt x="46" y="9"/>
                    <a:pt x="48" y="11"/>
                    <a:pt x="49" y="14"/>
                  </a:cubicBezTo>
                  <a:cubicBezTo>
                    <a:pt x="68" y="14"/>
                    <a:pt x="68" y="14"/>
                    <a:pt x="68" y="14"/>
                  </a:cubicBezTo>
                  <a:cubicBezTo>
                    <a:pt x="69" y="11"/>
                    <a:pt x="71" y="9"/>
                    <a:pt x="74" y="9"/>
                  </a:cubicBezTo>
                  <a:cubicBezTo>
                    <a:pt x="77" y="9"/>
                    <a:pt x="80" y="11"/>
                    <a:pt x="81" y="14"/>
                  </a:cubicBezTo>
                  <a:cubicBezTo>
                    <a:pt x="84" y="14"/>
                    <a:pt x="84" y="14"/>
                    <a:pt x="84" y="14"/>
                  </a:cubicBezTo>
                  <a:cubicBezTo>
                    <a:pt x="84" y="11"/>
                    <a:pt x="87" y="9"/>
                    <a:pt x="90" y="9"/>
                  </a:cubicBezTo>
                  <a:cubicBezTo>
                    <a:pt x="93" y="9"/>
                    <a:pt x="95" y="11"/>
                    <a:pt x="96" y="14"/>
                  </a:cubicBezTo>
                  <a:close/>
                  <a:moveTo>
                    <a:pt x="90" y="27"/>
                  </a:moveTo>
                  <a:cubicBezTo>
                    <a:pt x="87" y="27"/>
                    <a:pt x="84" y="29"/>
                    <a:pt x="84" y="32"/>
                  </a:cubicBezTo>
                  <a:cubicBezTo>
                    <a:pt x="65" y="32"/>
                    <a:pt x="65" y="32"/>
                    <a:pt x="65" y="32"/>
                  </a:cubicBezTo>
                  <a:cubicBezTo>
                    <a:pt x="64" y="29"/>
                    <a:pt x="61" y="27"/>
                    <a:pt x="58" y="27"/>
                  </a:cubicBezTo>
                  <a:cubicBezTo>
                    <a:pt x="55" y="27"/>
                    <a:pt x="53" y="29"/>
                    <a:pt x="52" y="32"/>
                  </a:cubicBezTo>
                  <a:cubicBezTo>
                    <a:pt x="49" y="32"/>
                    <a:pt x="49" y="32"/>
                    <a:pt x="49" y="32"/>
                  </a:cubicBezTo>
                  <a:cubicBezTo>
                    <a:pt x="48" y="29"/>
                    <a:pt x="46" y="27"/>
                    <a:pt x="43" y="27"/>
                  </a:cubicBezTo>
                  <a:cubicBezTo>
                    <a:pt x="40" y="27"/>
                    <a:pt x="37" y="29"/>
                    <a:pt x="36" y="32"/>
                  </a:cubicBezTo>
                  <a:cubicBezTo>
                    <a:pt x="33" y="32"/>
                    <a:pt x="33" y="32"/>
                    <a:pt x="33" y="32"/>
                  </a:cubicBezTo>
                  <a:cubicBezTo>
                    <a:pt x="32" y="29"/>
                    <a:pt x="30" y="27"/>
                    <a:pt x="27" y="27"/>
                  </a:cubicBezTo>
                  <a:cubicBezTo>
                    <a:pt x="23" y="27"/>
                    <a:pt x="20" y="30"/>
                    <a:pt x="20" y="33"/>
                  </a:cubicBezTo>
                  <a:cubicBezTo>
                    <a:pt x="20" y="37"/>
                    <a:pt x="23" y="40"/>
                    <a:pt x="27" y="40"/>
                  </a:cubicBezTo>
                  <a:cubicBezTo>
                    <a:pt x="30" y="40"/>
                    <a:pt x="32" y="38"/>
                    <a:pt x="33" y="35"/>
                  </a:cubicBezTo>
                  <a:cubicBezTo>
                    <a:pt x="36" y="35"/>
                    <a:pt x="36" y="35"/>
                    <a:pt x="36" y="35"/>
                  </a:cubicBezTo>
                  <a:cubicBezTo>
                    <a:pt x="37" y="38"/>
                    <a:pt x="40" y="40"/>
                    <a:pt x="43" y="40"/>
                  </a:cubicBezTo>
                  <a:cubicBezTo>
                    <a:pt x="46" y="40"/>
                    <a:pt x="48" y="38"/>
                    <a:pt x="49" y="35"/>
                  </a:cubicBezTo>
                  <a:cubicBezTo>
                    <a:pt x="52" y="35"/>
                    <a:pt x="52" y="35"/>
                    <a:pt x="52" y="35"/>
                  </a:cubicBezTo>
                  <a:cubicBezTo>
                    <a:pt x="53" y="38"/>
                    <a:pt x="55" y="40"/>
                    <a:pt x="58" y="40"/>
                  </a:cubicBezTo>
                  <a:cubicBezTo>
                    <a:pt x="61" y="40"/>
                    <a:pt x="64" y="38"/>
                    <a:pt x="65" y="35"/>
                  </a:cubicBezTo>
                  <a:cubicBezTo>
                    <a:pt x="84" y="35"/>
                    <a:pt x="84" y="35"/>
                    <a:pt x="84" y="35"/>
                  </a:cubicBezTo>
                  <a:cubicBezTo>
                    <a:pt x="84" y="38"/>
                    <a:pt x="87" y="40"/>
                    <a:pt x="90" y="40"/>
                  </a:cubicBezTo>
                  <a:cubicBezTo>
                    <a:pt x="93" y="40"/>
                    <a:pt x="96" y="37"/>
                    <a:pt x="96" y="33"/>
                  </a:cubicBezTo>
                  <a:cubicBezTo>
                    <a:pt x="96" y="30"/>
                    <a:pt x="93" y="27"/>
                    <a:pt x="90" y="27"/>
                  </a:cubicBezTo>
                  <a:close/>
                  <a:moveTo>
                    <a:pt x="90" y="45"/>
                  </a:moveTo>
                  <a:cubicBezTo>
                    <a:pt x="87" y="45"/>
                    <a:pt x="84" y="47"/>
                    <a:pt x="84" y="50"/>
                  </a:cubicBezTo>
                  <a:cubicBezTo>
                    <a:pt x="65" y="50"/>
                    <a:pt x="65" y="50"/>
                    <a:pt x="65" y="50"/>
                  </a:cubicBezTo>
                  <a:cubicBezTo>
                    <a:pt x="64" y="47"/>
                    <a:pt x="61" y="45"/>
                    <a:pt x="58" y="45"/>
                  </a:cubicBezTo>
                  <a:cubicBezTo>
                    <a:pt x="55" y="45"/>
                    <a:pt x="53" y="47"/>
                    <a:pt x="52" y="50"/>
                  </a:cubicBezTo>
                  <a:cubicBezTo>
                    <a:pt x="49" y="50"/>
                    <a:pt x="49" y="50"/>
                    <a:pt x="49" y="50"/>
                  </a:cubicBezTo>
                  <a:cubicBezTo>
                    <a:pt x="48" y="47"/>
                    <a:pt x="46" y="45"/>
                    <a:pt x="43" y="45"/>
                  </a:cubicBezTo>
                  <a:cubicBezTo>
                    <a:pt x="40" y="45"/>
                    <a:pt x="37" y="47"/>
                    <a:pt x="36" y="50"/>
                  </a:cubicBezTo>
                  <a:cubicBezTo>
                    <a:pt x="33" y="50"/>
                    <a:pt x="33" y="50"/>
                    <a:pt x="33" y="50"/>
                  </a:cubicBezTo>
                  <a:cubicBezTo>
                    <a:pt x="32" y="47"/>
                    <a:pt x="30" y="45"/>
                    <a:pt x="27" y="45"/>
                  </a:cubicBezTo>
                  <a:cubicBezTo>
                    <a:pt x="23" y="45"/>
                    <a:pt x="20" y="48"/>
                    <a:pt x="20" y="52"/>
                  </a:cubicBezTo>
                  <a:cubicBezTo>
                    <a:pt x="20" y="55"/>
                    <a:pt x="23" y="58"/>
                    <a:pt x="27" y="58"/>
                  </a:cubicBezTo>
                  <a:cubicBezTo>
                    <a:pt x="30" y="58"/>
                    <a:pt x="32" y="56"/>
                    <a:pt x="33" y="53"/>
                  </a:cubicBezTo>
                  <a:cubicBezTo>
                    <a:pt x="36" y="53"/>
                    <a:pt x="36" y="53"/>
                    <a:pt x="36" y="53"/>
                  </a:cubicBezTo>
                  <a:cubicBezTo>
                    <a:pt x="37" y="56"/>
                    <a:pt x="40" y="58"/>
                    <a:pt x="43" y="58"/>
                  </a:cubicBezTo>
                  <a:cubicBezTo>
                    <a:pt x="46" y="58"/>
                    <a:pt x="48" y="56"/>
                    <a:pt x="49" y="53"/>
                  </a:cubicBezTo>
                  <a:cubicBezTo>
                    <a:pt x="52" y="53"/>
                    <a:pt x="52" y="53"/>
                    <a:pt x="52" y="53"/>
                  </a:cubicBezTo>
                  <a:cubicBezTo>
                    <a:pt x="53" y="56"/>
                    <a:pt x="55" y="58"/>
                    <a:pt x="58" y="58"/>
                  </a:cubicBezTo>
                  <a:cubicBezTo>
                    <a:pt x="61" y="58"/>
                    <a:pt x="64" y="56"/>
                    <a:pt x="65" y="53"/>
                  </a:cubicBezTo>
                  <a:cubicBezTo>
                    <a:pt x="84" y="53"/>
                    <a:pt x="84" y="53"/>
                    <a:pt x="84" y="53"/>
                  </a:cubicBezTo>
                  <a:cubicBezTo>
                    <a:pt x="84" y="56"/>
                    <a:pt x="87" y="58"/>
                    <a:pt x="90" y="58"/>
                  </a:cubicBezTo>
                  <a:cubicBezTo>
                    <a:pt x="93" y="58"/>
                    <a:pt x="96" y="55"/>
                    <a:pt x="96" y="52"/>
                  </a:cubicBezTo>
                  <a:cubicBezTo>
                    <a:pt x="96" y="48"/>
                    <a:pt x="93" y="45"/>
                    <a:pt x="90" y="45"/>
                  </a:cubicBezTo>
                  <a:close/>
                  <a:moveTo>
                    <a:pt x="90" y="63"/>
                  </a:moveTo>
                  <a:cubicBezTo>
                    <a:pt x="87" y="63"/>
                    <a:pt x="84" y="66"/>
                    <a:pt x="84" y="68"/>
                  </a:cubicBezTo>
                  <a:cubicBezTo>
                    <a:pt x="80" y="68"/>
                    <a:pt x="80" y="68"/>
                    <a:pt x="80" y="68"/>
                  </a:cubicBezTo>
                  <a:cubicBezTo>
                    <a:pt x="80" y="66"/>
                    <a:pt x="77" y="63"/>
                    <a:pt x="74" y="63"/>
                  </a:cubicBezTo>
                  <a:cubicBezTo>
                    <a:pt x="71" y="63"/>
                    <a:pt x="69" y="66"/>
                    <a:pt x="68" y="68"/>
                  </a:cubicBezTo>
                  <a:cubicBezTo>
                    <a:pt x="49" y="68"/>
                    <a:pt x="49" y="68"/>
                    <a:pt x="49" y="68"/>
                  </a:cubicBezTo>
                  <a:cubicBezTo>
                    <a:pt x="48" y="66"/>
                    <a:pt x="46" y="63"/>
                    <a:pt x="43" y="63"/>
                  </a:cubicBezTo>
                  <a:cubicBezTo>
                    <a:pt x="40" y="63"/>
                    <a:pt x="37" y="66"/>
                    <a:pt x="36" y="68"/>
                  </a:cubicBezTo>
                  <a:cubicBezTo>
                    <a:pt x="33" y="68"/>
                    <a:pt x="33" y="68"/>
                    <a:pt x="33" y="68"/>
                  </a:cubicBezTo>
                  <a:cubicBezTo>
                    <a:pt x="32" y="66"/>
                    <a:pt x="30" y="63"/>
                    <a:pt x="27" y="63"/>
                  </a:cubicBezTo>
                  <a:cubicBezTo>
                    <a:pt x="23" y="63"/>
                    <a:pt x="20" y="66"/>
                    <a:pt x="20" y="70"/>
                  </a:cubicBezTo>
                  <a:cubicBezTo>
                    <a:pt x="20" y="73"/>
                    <a:pt x="23" y="76"/>
                    <a:pt x="27" y="76"/>
                  </a:cubicBezTo>
                  <a:cubicBezTo>
                    <a:pt x="30" y="76"/>
                    <a:pt x="32" y="74"/>
                    <a:pt x="33" y="71"/>
                  </a:cubicBezTo>
                  <a:cubicBezTo>
                    <a:pt x="36" y="71"/>
                    <a:pt x="36" y="71"/>
                    <a:pt x="36" y="71"/>
                  </a:cubicBezTo>
                  <a:cubicBezTo>
                    <a:pt x="37" y="74"/>
                    <a:pt x="40" y="76"/>
                    <a:pt x="43" y="76"/>
                  </a:cubicBezTo>
                  <a:cubicBezTo>
                    <a:pt x="46" y="76"/>
                    <a:pt x="48" y="74"/>
                    <a:pt x="49" y="71"/>
                  </a:cubicBezTo>
                  <a:cubicBezTo>
                    <a:pt x="68" y="71"/>
                    <a:pt x="68" y="71"/>
                    <a:pt x="68" y="71"/>
                  </a:cubicBezTo>
                  <a:cubicBezTo>
                    <a:pt x="69" y="74"/>
                    <a:pt x="71" y="76"/>
                    <a:pt x="74" y="76"/>
                  </a:cubicBezTo>
                  <a:cubicBezTo>
                    <a:pt x="77" y="76"/>
                    <a:pt x="80" y="74"/>
                    <a:pt x="80" y="71"/>
                  </a:cubicBezTo>
                  <a:cubicBezTo>
                    <a:pt x="84" y="71"/>
                    <a:pt x="84" y="71"/>
                    <a:pt x="84" y="71"/>
                  </a:cubicBezTo>
                  <a:cubicBezTo>
                    <a:pt x="84" y="74"/>
                    <a:pt x="87" y="76"/>
                    <a:pt x="90" y="76"/>
                  </a:cubicBezTo>
                  <a:cubicBezTo>
                    <a:pt x="93" y="76"/>
                    <a:pt x="96" y="73"/>
                    <a:pt x="96" y="70"/>
                  </a:cubicBezTo>
                  <a:cubicBezTo>
                    <a:pt x="96" y="66"/>
                    <a:pt x="93" y="63"/>
                    <a:pt x="90" y="63"/>
                  </a:cubicBezTo>
                  <a:close/>
                  <a:moveTo>
                    <a:pt x="90" y="82"/>
                  </a:moveTo>
                  <a:cubicBezTo>
                    <a:pt x="87" y="82"/>
                    <a:pt x="84" y="84"/>
                    <a:pt x="84" y="87"/>
                  </a:cubicBezTo>
                  <a:cubicBezTo>
                    <a:pt x="80" y="87"/>
                    <a:pt x="80" y="87"/>
                    <a:pt x="80" y="87"/>
                  </a:cubicBezTo>
                  <a:cubicBezTo>
                    <a:pt x="80" y="84"/>
                    <a:pt x="77" y="82"/>
                    <a:pt x="74" y="82"/>
                  </a:cubicBezTo>
                  <a:cubicBezTo>
                    <a:pt x="71" y="82"/>
                    <a:pt x="69" y="84"/>
                    <a:pt x="68" y="87"/>
                  </a:cubicBezTo>
                  <a:cubicBezTo>
                    <a:pt x="65" y="87"/>
                    <a:pt x="65" y="87"/>
                    <a:pt x="65" y="87"/>
                  </a:cubicBezTo>
                  <a:cubicBezTo>
                    <a:pt x="64" y="84"/>
                    <a:pt x="61" y="82"/>
                    <a:pt x="58" y="82"/>
                  </a:cubicBezTo>
                  <a:cubicBezTo>
                    <a:pt x="55" y="82"/>
                    <a:pt x="53" y="84"/>
                    <a:pt x="52" y="87"/>
                  </a:cubicBezTo>
                  <a:cubicBezTo>
                    <a:pt x="33" y="87"/>
                    <a:pt x="33" y="87"/>
                    <a:pt x="33" y="87"/>
                  </a:cubicBezTo>
                  <a:cubicBezTo>
                    <a:pt x="32" y="84"/>
                    <a:pt x="30" y="82"/>
                    <a:pt x="27" y="82"/>
                  </a:cubicBezTo>
                  <a:cubicBezTo>
                    <a:pt x="23" y="82"/>
                    <a:pt x="20" y="84"/>
                    <a:pt x="20" y="88"/>
                  </a:cubicBezTo>
                  <a:cubicBezTo>
                    <a:pt x="20" y="91"/>
                    <a:pt x="23" y="94"/>
                    <a:pt x="27" y="94"/>
                  </a:cubicBezTo>
                  <a:cubicBezTo>
                    <a:pt x="30" y="94"/>
                    <a:pt x="32" y="92"/>
                    <a:pt x="33" y="89"/>
                  </a:cubicBezTo>
                  <a:cubicBezTo>
                    <a:pt x="52" y="89"/>
                    <a:pt x="52" y="89"/>
                    <a:pt x="52" y="89"/>
                  </a:cubicBezTo>
                  <a:cubicBezTo>
                    <a:pt x="53" y="92"/>
                    <a:pt x="55" y="94"/>
                    <a:pt x="58" y="94"/>
                  </a:cubicBezTo>
                  <a:cubicBezTo>
                    <a:pt x="61" y="94"/>
                    <a:pt x="64" y="92"/>
                    <a:pt x="65" y="89"/>
                  </a:cubicBezTo>
                  <a:cubicBezTo>
                    <a:pt x="68" y="89"/>
                    <a:pt x="68" y="89"/>
                    <a:pt x="68" y="89"/>
                  </a:cubicBezTo>
                  <a:cubicBezTo>
                    <a:pt x="69" y="92"/>
                    <a:pt x="71" y="94"/>
                    <a:pt x="74" y="94"/>
                  </a:cubicBezTo>
                  <a:cubicBezTo>
                    <a:pt x="77" y="94"/>
                    <a:pt x="80" y="92"/>
                    <a:pt x="80" y="89"/>
                  </a:cubicBezTo>
                  <a:cubicBezTo>
                    <a:pt x="84" y="89"/>
                    <a:pt x="84" y="89"/>
                    <a:pt x="84" y="89"/>
                  </a:cubicBezTo>
                  <a:cubicBezTo>
                    <a:pt x="84" y="92"/>
                    <a:pt x="87" y="94"/>
                    <a:pt x="90" y="94"/>
                  </a:cubicBezTo>
                  <a:cubicBezTo>
                    <a:pt x="93" y="94"/>
                    <a:pt x="96" y="91"/>
                    <a:pt x="96" y="88"/>
                  </a:cubicBezTo>
                  <a:cubicBezTo>
                    <a:pt x="96" y="84"/>
                    <a:pt x="93" y="82"/>
                    <a:pt x="90" y="82"/>
                  </a:cubicBezTo>
                  <a:close/>
                  <a:moveTo>
                    <a:pt x="113" y="101"/>
                  </a:moveTo>
                  <a:cubicBezTo>
                    <a:pt x="113" y="101"/>
                    <a:pt x="113" y="101"/>
                    <a:pt x="113" y="101"/>
                  </a:cubicBezTo>
                  <a:cubicBezTo>
                    <a:pt x="113" y="6"/>
                    <a:pt x="113" y="6"/>
                    <a:pt x="113" y="6"/>
                  </a:cubicBezTo>
                  <a:cubicBezTo>
                    <a:pt x="113" y="3"/>
                    <a:pt x="110" y="0"/>
                    <a:pt x="107" y="0"/>
                  </a:cubicBezTo>
                  <a:cubicBezTo>
                    <a:pt x="106" y="0"/>
                    <a:pt x="106" y="0"/>
                    <a:pt x="106" y="0"/>
                  </a:cubicBezTo>
                  <a:cubicBezTo>
                    <a:pt x="103" y="0"/>
                    <a:pt x="101" y="3"/>
                    <a:pt x="101" y="6"/>
                  </a:cubicBezTo>
                  <a:cubicBezTo>
                    <a:pt x="101" y="101"/>
                    <a:pt x="101" y="101"/>
                    <a:pt x="101" y="101"/>
                  </a:cubicBezTo>
                  <a:cubicBezTo>
                    <a:pt x="17" y="101"/>
                    <a:pt x="17" y="101"/>
                    <a:pt x="17" y="101"/>
                  </a:cubicBezTo>
                  <a:cubicBezTo>
                    <a:pt x="17" y="6"/>
                    <a:pt x="17" y="6"/>
                    <a:pt x="17" y="6"/>
                  </a:cubicBezTo>
                  <a:cubicBezTo>
                    <a:pt x="17" y="3"/>
                    <a:pt x="14" y="0"/>
                    <a:pt x="11" y="0"/>
                  </a:cubicBezTo>
                  <a:cubicBezTo>
                    <a:pt x="10" y="0"/>
                    <a:pt x="10" y="0"/>
                    <a:pt x="10" y="0"/>
                  </a:cubicBezTo>
                  <a:cubicBezTo>
                    <a:pt x="7" y="0"/>
                    <a:pt x="5" y="3"/>
                    <a:pt x="5" y="6"/>
                  </a:cubicBezTo>
                  <a:cubicBezTo>
                    <a:pt x="5" y="101"/>
                    <a:pt x="5" y="101"/>
                    <a:pt x="5" y="101"/>
                  </a:cubicBezTo>
                  <a:cubicBezTo>
                    <a:pt x="4" y="101"/>
                    <a:pt x="4" y="101"/>
                    <a:pt x="4" y="101"/>
                  </a:cubicBezTo>
                  <a:cubicBezTo>
                    <a:pt x="2" y="101"/>
                    <a:pt x="0" y="103"/>
                    <a:pt x="0" y="105"/>
                  </a:cubicBezTo>
                  <a:cubicBezTo>
                    <a:pt x="0" y="108"/>
                    <a:pt x="0" y="108"/>
                    <a:pt x="0" y="108"/>
                  </a:cubicBezTo>
                  <a:cubicBezTo>
                    <a:pt x="0" y="111"/>
                    <a:pt x="2" y="112"/>
                    <a:pt x="4" y="112"/>
                  </a:cubicBezTo>
                  <a:cubicBezTo>
                    <a:pt x="113" y="112"/>
                    <a:pt x="113" y="112"/>
                    <a:pt x="113" y="112"/>
                  </a:cubicBezTo>
                  <a:cubicBezTo>
                    <a:pt x="116" y="112"/>
                    <a:pt x="117" y="111"/>
                    <a:pt x="117" y="108"/>
                  </a:cubicBezTo>
                  <a:cubicBezTo>
                    <a:pt x="117" y="105"/>
                    <a:pt x="117" y="105"/>
                    <a:pt x="117" y="105"/>
                  </a:cubicBezTo>
                  <a:cubicBezTo>
                    <a:pt x="117" y="103"/>
                    <a:pt x="116" y="101"/>
                    <a:pt x="113" y="101"/>
                  </a:cubicBezTo>
                  <a:close/>
                </a:path>
              </a:pathLst>
            </a:custGeom>
            <a:solidFill>
              <a:schemeClr val="bg1"/>
            </a:solidFill>
            <a:ln>
              <a:noFill/>
            </a:ln>
          </p:spPr>
          <p:txBody>
            <a:bodyPr vert="horz" wrap="square" lIns="80915" tIns="40457" rIns="80915" bIns="40457" numCol="1" anchor="t" anchorCtr="0" compatLnSpc="1">
              <a:prstTxWarp prst="textNoShape">
                <a:avLst/>
              </a:prstTxWarp>
            </a:bodyPr>
            <a:lstStyle/>
            <a:p>
              <a:pPr marL="0" marR="0" lvl="0" indent="0" algn="l" defTabSz="809153" rtl="0" eaLnBrk="1" fontAlgn="auto" latinLnBrk="0" hangingPunct="1">
                <a:lnSpc>
                  <a:spcPct val="100000"/>
                </a:lnSpc>
                <a:spcBef>
                  <a:spcPts val="0"/>
                </a:spcBef>
                <a:spcAft>
                  <a:spcPts val="0"/>
                </a:spcAft>
                <a:buClrTx/>
                <a:buSzTx/>
                <a:buFontTx/>
                <a:buNone/>
                <a:tabLst/>
                <a:defRPr/>
              </a:pPr>
              <a:endParaRPr kumimoji="0" lang="en-US" sz="1372" b="0" i="0" u="none" strike="noStrike" kern="0" cap="none" spc="0" normalizeH="0" baseline="0" noProof="0">
                <a:ln>
                  <a:noFill/>
                </a:ln>
                <a:solidFill>
                  <a:prstClr val="black"/>
                </a:solidFill>
                <a:effectLst/>
                <a:uLnTx/>
                <a:uFillTx/>
                <a:latin typeface="Verdana"/>
                <a:ea typeface="+mn-ea"/>
                <a:cs typeface="+mn-cs"/>
              </a:endParaRPr>
            </a:p>
          </p:txBody>
        </p:sp>
      </p:grpSp>
      <p:grpSp>
        <p:nvGrpSpPr>
          <p:cNvPr id="28" name="Group 27">
            <a:extLst>
              <a:ext uri="{FF2B5EF4-FFF2-40B4-BE49-F238E27FC236}">
                <a16:creationId xmlns:a16="http://schemas.microsoft.com/office/drawing/2014/main" id="{2AA1CDED-ACF0-42F0-869E-9C46DCCBB9FE}"/>
              </a:ext>
            </a:extLst>
          </p:cNvPr>
          <p:cNvGrpSpPr/>
          <p:nvPr/>
        </p:nvGrpSpPr>
        <p:grpSpPr>
          <a:xfrm>
            <a:off x="8221548" y="2410754"/>
            <a:ext cx="942392" cy="942392"/>
            <a:chOff x="7551464" y="1512543"/>
            <a:chExt cx="942392" cy="942392"/>
          </a:xfrm>
        </p:grpSpPr>
        <p:sp>
          <p:nvSpPr>
            <p:cNvPr id="29" name="Oval 28">
              <a:extLst>
                <a:ext uri="{FF2B5EF4-FFF2-40B4-BE49-F238E27FC236}">
                  <a16:creationId xmlns:a16="http://schemas.microsoft.com/office/drawing/2014/main" id="{AC31EC1A-A162-437A-B35F-6B2C19A49EF9}"/>
                </a:ext>
              </a:extLst>
            </p:cNvPr>
            <p:cNvSpPr/>
            <p:nvPr/>
          </p:nvSpPr>
          <p:spPr bwMode="gray">
            <a:xfrm>
              <a:off x="7551464" y="1512543"/>
              <a:ext cx="942392" cy="942392"/>
            </a:xfrm>
            <a:prstGeom prst="ellipse">
              <a:avLst/>
            </a:prstGeom>
            <a:solidFill>
              <a:srgbClr val="0070C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sp>
          <p:nvSpPr>
            <p:cNvPr id="30" name="Freeform 221">
              <a:extLst>
                <a:ext uri="{FF2B5EF4-FFF2-40B4-BE49-F238E27FC236}">
                  <a16:creationId xmlns:a16="http://schemas.microsoft.com/office/drawing/2014/main" id="{D06BF504-EE12-41BF-A6A3-AA096A38A8C0}"/>
                </a:ext>
              </a:extLst>
            </p:cNvPr>
            <p:cNvSpPr>
              <a:spLocks noChangeAspect="1" noEditPoints="1"/>
            </p:cNvSpPr>
            <p:nvPr/>
          </p:nvSpPr>
          <p:spPr bwMode="auto">
            <a:xfrm>
              <a:off x="7763448" y="1576470"/>
              <a:ext cx="505872" cy="728077"/>
            </a:xfrm>
            <a:custGeom>
              <a:avLst/>
              <a:gdLst>
                <a:gd name="T0" fmla="*/ 202 w 428"/>
                <a:gd name="T1" fmla="*/ 364 h 616"/>
                <a:gd name="T2" fmla="*/ 121 w 428"/>
                <a:gd name="T3" fmla="*/ 304 h 616"/>
                <a:gd name="T4" fmla="*/ 105 w 428"/>
                <a:gd name="T5" fmla="*/ 315 h 616"/>
                <a:gd name="T6" fmla="*/ 220 w 428"/>
                <a:gd name="T7" fmla="*/ 263 h 616"/>
                <a:gd name="T8" fmla="*/ 221 w 428"/>
                <a:gd name="T9" fmla="*/ 210 h 616"/>
                <a:gd name="T10" fmla="*/ 278 w 428"/>
                <a:gd name="T11" fmla="*/ 167 h 616"/>
                <a:gd name="T12" fmla="*/ 335 w 428"/>
                <a:gd name="T13" fmla="*/ 112 h 616"/>
                <a:gd name="T14" fmla="*/ 332 w 428"/>
                <a:gd name="T15" fmla="*/ 75 h 616"/>
                <a:gd name="T16" fmla="*/ 348 w 428"/>
                <a:gd name="T17" fmla="*/ 6 h 616"/>
                <a:gd name="T18" fmla="*/ 295 w 428"/>
                <a:gd name="T19" fmla="*/ 53 h 616"/>
                <a:gd name="T20" fmla="*/ 261 w 428"/>
                <a:gd name="T21" fmla="*/ 69 h 616"/>
                <a:gd name="T22" fmla="*/ 140 w 428"/>
                <a:gd name="T23" fmla="*/ 295 h 616"/>
                <a:gd name="T24" fmla="*/ 295 w 428"/>
                <a:gd name="T25" fmla="*/ 61 h 616"/>
                <a:gd name="T26" fmla="*/ 338 w 428"/>
                <a:gd name="T27" fmla="*/ 13 h 616"/>
                <a:gd name="T28" fmla="*/ 283 w 428"/>
                <a:gd name="T29" fmla="*/ 73 h 616"/>
                <a:gd name="T30" fmla="*/ 141 w 428"/>
                <a:gd name="T31" fmla="*/ 298 h 616"/>
                <a:gd name="T32" fmla="*/ 253 w 428"/>
                <a:gd name="T33" fmla="*/ 214 h 616"/>
                <a:gd name="T34" fmla="*/ 253 w 428"/>
                <a:gd name="T35" fmla="*/ 259 h 616"/>
                <a:gd name="T36" fmla="*/ 294 w 428"/>
                <a:gd name="T37" fmla="*/ 276 h 616"/>
                <a:gd name="T38" fmla="*/ 326 w 428"/>
                <a:gd name="T39" fmla="*/ 237 h 616"/>
                <a:gd name="T40" fmla="*/ 301 w 428"/>
                <a:gd name="T41" fmla="*/ 200 h 616"/>
                <a:gd name="T42" fmla="*/ 306 w 428"/>
                <a:gd name="T43" fmla="*/ 458 h 616"/>
                <a:gd name="T44" fmla="*/ 355 w 428"/>
                <a:gd name="T45" fmla="*/ 366 h 616"/>
                <a:gd name="T46" fmla="*/ 336 w 428"/>
                <a:gd name="T47" fmla="*/ 276 h 616"/>
                <a:gd name="T48" fmla="*/ 345 w 428"/>
                <a:gd name="T49" fmla="*/ 212 h 616"/>
                <a:gd name="T50" fmla="*/ 286 w 428"/>
                <a:gd name="T51" fmla="*/ 174 h 616"/>
                <a:gd name="T52" fmla="*/ 224 w 428"/>
                <a:gd name="T53" fmla="*/ 225 h 616"/>
                <a:gd name="T54" fmla="*/ 250 w 428"/>
                <a:gd name="T55" fmla="*/ 290 h 616"/>
                <a:gd name="T56" fmla="*/ 299 w 428"/>
                <a:gd name="T57" fmla="*/ 299 h 616"/>
                <a:gd name="T58" fmla="*/ 310 w 428"/>
                <a:gd name="T59" fmla="*/ 370 h 616"/>
                <a:gd name="T60" fmla="*/ 276 w 428"/>
                <a:gd name="T61" fmla="*/ 428 h 616"/>
                <a:gd name="T62" fmla="*/ 210 w 428"/>
                <a:gd name="T63" fmla="*/ 451 h 616"/>
                <a:gd name="T64" fmla="*/ 177 w 428"/>
                <a:gd name="T65" fmla="*/ 438 h 616"/>
                <a:gd name="T66" fmla="*/ 62 w 428"/>
                <a:gd name="T67" fmla="*/ 356 h 616"/>
                <a:gd name="T68" fmla="*/ 45 w 428"/>
                <a:gd name="T69" fmla="*/ 383 h 616"/>
                <a:gd name="T70" fmla="*/ 87 w 428"/>
                <a:gd name="T71" fmla="*/ 424 h 616"/>
                <a:gd name="T72" fmla="*/ 140 w 428"/>
                <a:gd name="T73" fmla="*/ 477 h 616"/>
                <a:gd name="T74" fmla="*/ 17 w 428"/>
                <a:gd name="T75" fmla="*/ 556 h 616"/>
                <a:gd name="T76" fmla="*/ 0 w 428"/>
                <a:gd name="T77" fmla="*/ 577 h 616"/>
                <a:gd name="T78" fmla="*/ 14 w 428"/>
                <a:gd name="T79" fmla="*/ 596 h 616"/>
                <a:gd name="T80" fmla="*/ 48 w 428"/>
                <a:gd name="T81" fmla="*/ 614 h 616"/>
                <a:gd name="T82" fmla="*/ 395 w 428"/>
                <a:gd name="T83" fmla="*/ 599 h 616"/>
                <a:gd name="T84" fmla="*/ 425 w 428"/>
                <a:gd name="T85" fmla="*/ 588 h 616"/>
                <a:gd name="T86" fmla="*/ 425 w 428"/>
                <a:gd name="T87" fmla="*/ 564 h 616"/>
                <a:gd name="T88" fmla="*/ 286 w 428"/>
                <a:gd name="T89" fmla="*/ 286 h 616"/>
                <a:gd name="T90" fmla="*/ 241 w 428"/>
                <a:gd name="T91" fmla="*/ 256 h 616"/>
                <a:gd name="T92" fmla="*/ 251 w 428"/>
                <a:gd name="T93" fmla="*/ 203 h 616"/>
                <a:gd name="T94" fmla="*/ 305 w 428"/>
                <a:gd name="T95" fmla="*/ 192 h 616"/>
                <a:gd name="T96" fmla="*/ 335 w 428"/>
                <a:gd name="T97" fmla="*/ 237 h 616"/>
                <a:gd name="T98" fmla="*/ 295 w 428"/>
                <a:gd name="T99" fmla="*/ 284 h 616"/>
                <a:gd name="T100" fmla="*/ 107 w 428"/>
                <a:gd name="T101" fmla="*/ 434 h 616"/>
                <a:gd name="T102" fmla="*/ 157 w 428"/>
                <a:gd name="T103" fmla="*/ 466 h 616"/>
                <a:gd name="T104" fmla="*/ 235 w 428"/>
                <a:gd name="T105" fmla="*/ 474 h 616"/>
                <a:gd name="T106" fmla="*/ 309 w 428"/>
                <a:gd name="T107" fmla="*/ 431 h 616"/>
                <a:gd name="T108" fmla="*/ 339 w 428"/>
                <a:gd name="T109" fmla="*/ 349 h 616"/>
                <a:gd name="T110" fmla="*/ 328 w 428"/>
                <a:gd name="T111" fmla="*/ 294 h 616"/>
                <a:gd name="T112" fmla="*/ 345 w 428"/>
                <a:gd name="T113" fmla="*/ 320 h 616"/>
                <a:gd name="T114" fmla="*/ 337 w 428"/>
                <a:gd name="T115" fmla="*/ 402 h 616"/>
                <a:gd name="T116" fmla="*/ 276 w 428"/>
                <a:gd name="T117" fmla="*/ 469 h 616"/>
                <a:gd name="T118" fmla="*/ 195 w 428"/>
                <a:gd name="T119" fmla="*/ 485 h 616"/>
                <a:gd name="T120" fmla="*/ 107 w 428"/>
                <a:gd name="T121" fmla="*/ 441 h 616"/>
                <a:gd name="T122" fmla="*/ 17 w 428"/>
                <a:gd name="T123" fmla="*/ 568 h 616"/>
                <a:gd name="T124" fmla="*/ 411 w 428"/>
                <a:gd name="T125" fmla="*/ 568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28" h="616">
                  <a:moveTo>
                    <a:pt x="110" y="322"/>
                  </a:moveTo>
                  <a:lnTo>
                    <a:pt x="187" y="367"/>
                  </a:lnTo>
                  <a:lnTo>
                    <a:pt x="187" y="367"/>
                  </a:lnTo>
                  <a:lnTo>
                    <a:pt x="192" y="368"/>
                  </a:lnTo>
                  <a:lnTo>
                    <a:pt x="195" y="368"/>
                  </a:lnTo>
                  <a:lnTo>
                    <a:pt x="200" y="367"/>
                  </a:lnTo>
                  <a:lnTo>
                    <a:pt x="202" y="364"/>
                  </a:lnTo>
                  <a:lnTo>
                    <a:pt x="202" y="364"/>
                  </a:lnTo>
                  <a:lnTo>
                    <a:pt x="203" y="359"/>
                  </a:lnTo>
                  <a:lnTo>
                    <a:pt x="203" y="356"/>
                  </a:lnTo>
                  <a:lnTo>
                    <a:pt x="202" y="351"/>
                  </a:lnTo>
                  <a:lnTo>
                    <a:pt x="198" y="349"/>
                  </a:lnTo>
                  <a:lnTo>
                    <a:pt x="121" y="304"/>
                  </a:lnTo>
                  <a:lnTo>
                    <a:pt x="121" y="304"/>
                  </a:lnTo>
                  <a:lnTo>
                    <a:pt x="117" y="302"/>
                  </a:lnTo>
                  <a:lnTo>
                    <a:pt x="113" y="303"/>
                  </a:lnTo>
                  <a:lnTo>
                    <a:pt x="108" y="304"/>
                  </a:lnTo>
                  <a:lnTo>
                    <a:pt x="106" y="307"/>
                  </a:lnTo>
                  <a:lnTo>
                    <a:pt x="106" y="307"/>
                  </a:lnTo>
                  <a:lnTo>
                    <a:pt x="105" y="311"/>
                  </a:lnTo>
                  <a:lnTo>
                    <a:pt x="105" y="315"/>
                  </a:lnTo>
                  <a:lnTo>
                    <a:pt x="107" y="319"/>
                  </a:lnTo>
                  <a:lnTo>
                    <a:pt x="110" y="322"/>
                  </a:lnTo>
                  <a:lnTo>
                    <a:pt x="110" y="322"/>
                  </a:lnTo>
                  <a:close/>
                  <a:moveTo>
                    <a:pt x="234" y="284"/>
                  </a:moveTo>
                  <a:lnTo>
                    <a:pt x="234" y="284"/>
                  </a:lnTo>
                  <a:lnTo>
                    <a:pt x="226" y="274"/>
                  </a:lnTo>
                  <a:lnTo>
                    <a:pt x="220" y="263"/>
                  </a:lnTo>
                  <a:lnTo>
                    <a:pt x="217" y="251"/>
                  </a:lnTo>
                  <a:lnTo>
                    <a:pt x="216" y="237"/>
                  </a:lnTo>
                  <a:lnTo>
                    <a:pt x="216" y="237"/>
                  </a:lnTo>
                  <a:lnTo>
                    <a:pt x="216" y="230"/>
                  </a:lnTo>
                  <a:lnTo>
                    <a:pt x="217" y="223"/>
                  </a:lnTo>
                  <a:lnTo>
                    <a:pt x="219" y="216"/>
                  </a:lnTo>
                  <a:lnTo>
                    <a:pt x="221" y="210"/>
                  </a:lnTo>
                  <a:lnTo>
                    <a:pt x="227" y="198"/>
                  </a:lnTo>
                  <a:lnTo>
                    <a:pt x="236" y="188"/>
                  </a:lnTo>
                  <a:lnTo>
                    <a:pt x="247" y="178"/>
                  </a:lnTo>
                  <a:lnTo>
                    <a:pt x="258" y="173"/>
                  </a:lnTo>
                  <a:lnTo>
                    <a:pt x="265" y="170"/>
                  </a:lnTo>
                  <a:lnTo>
                    <a:pt x="271" y="168"/>
                  </a:lnTo>
                  <a:lnTo>
                    <a:pt x="278" y="167"/>
                  </a:lnTo>
                  <a:lnTo>
                    <a:pt x="286" y="167"/>
                  </a:lnTo>
                  <a:lnTo>
                    <a:pt x="286" y="167"/>
                  </a:lnTo>
                  <a:lnTo>
                    <a:pt x="294" y="168"/>
                  </a:lnTo>
                  <a:lnTo>
                    <a:pt x="302" y="169"/>
                  </a:lnTo>
                  <a:lnTo>
                    <a:pt x="332" y="117"/>
                  </a:lnTo>
                  <a:lnTo>
                    <a:pt x="332" y="117"/>
                  </a:lnTo>
                  <a:lnTo>
                    <a:pt x="335" y="112"/>
                  </a:lnTo>
                  <a:lnTo>
                    <a:pt x="337" y="107"/>
                  </a:lnTo>
                  <a:lnTo>
                    <a:pt x="338" y="101"/>
                  </a:lnTo>
                  <a:lnTo>
                    <a:pt x="338" y="96"/>
                  </a:lnTo>
                  <a:lnTo>
                    <a:pt x="338" y="90"/>
                  </a:lnTo>
                  <a:lnTo>
                    <a:pt x="337" y="84"/>
                  </a:lnTo>
                  <a:lnTo>
                    <a:pt x="336" y="79"/>
                  </a:lnTo>
                  <a:lnTo>
                    <a:pt x="332" y="75"/>
                  </a:lnTo>
                  <a:lnTo>
                    <a:pt x="362" y="24"/>
                  </a:lnTo>
                  <a:lnTo>
                    <a:pt x="362" y="24"/>
                  </a:lnTo>
                  <a:lnTo>
                    <a:pt x="362" y="23"/>
                  </a:lnTo>
                  <a:lnTo>
                    <a:pt x="362" y="21"/>
                  </a:lnTo>
                  <a:lnTo>
                    <a:pt x="360" y="15"/>
                  </a:lnTo>
                  <a:lnTo>
                    <a:pt x="354" y="10"/>
                  </a:lnTo>
                  <a:lnTo>
                    <a:pt x="348" y="6"/>
                  </a:lnTo>
                  <a:lnTo>
                    <a:pt x="340" y="2"/>
                  </a:lnTo>
                  <a:lnTo>
                    <a:pt x="333" y="0"/>
                  </a:lnTo>
                  <a:lnTo>
                    <a:pt x="329" y="0"/>
                  </a:lnTo>
                  <a:lnTo>
                    <a:pt x="326" y="1"/>
                  </a:lnTo>
                  <a:lnTo>
                    <a:pt x="324" y="2"/>
                  </a:lnTo>
                  <a:lnTo>
                    <a:pt x="295" y="53"/>
                  </a:lnTo>
                  <a:lnTo>
                    <a:pt x="295" y="53"/>
                  </a:lnTo>
                  <a:lnTo>
                    <a:pt x="290" y="53"/>
                  </a:lnTo>
                  <a:lnTo>
                    <a:pt x="285" y="54"/>
                  </a:lnTo>
                  <a:lnTo>
                    <a:pt x="279" y="55"/>
                  </a:lnTo>
                  <a:lnTo>
                    <a:pt x="275" y="58"/>
                  </a:lnTo>
                  <a:lnTo>
                    <a:pt x="270" y="61"/>
                  </a:lnTo>
                  <a:lnTo>
                    <a:pt x="265" y="64"/>
                  </a:lnTo>
                  <a:lnTo>
                    <a:pt x="261" y="69"/>
                  </a:lnTo>
                  <a:lnTo>
                    <a:pt x="258" y="74"/>
                  </a:lnTo>
                  <a:lnTo>
                    <a:pt x="126" y="298"/>
                  </a:lnTo>
                  <a:lnTo>
                    <a:pt x="200" y="342"/>
                  </a:lnTo>
                  <a:lnTo>
                    <a:pt x="234" y="284"/>
                  </a:lnTo>
                  <a:close/>
                  <a:moveTo>
                    <a:pt x="141" y="298"/>
                  </a:moveTo>
                  <a:lnTo>
                    <a:pt x="141" y="298"/>
                  </a:lnTo>
                  <a:lnTo>
                    <a:pt x="140" y="295"/>
                  </a:lnTo>
                  <a:lnTo>
                    <a:pt x="140" y="292"/>
                  </a:lnTo>
                  <a:lnTo>
                    <a:pt x="265" y="78"/>
                  </a:lnTo>
                  <a:lnTo>
                    <a:pt x="265" y="78"/>
                  </a:lnTo>
                  <a:lnTo>
                    <a:pt x="271" y="71"/>
                  </a:lnTo>
                  <a:lnTo>
                    <a:pt x="278" y="66"/>
                  </a:lnTo>
                  <a:lnTo>
                    <a:pt x="286" y="62"/>
                  </a:lnTo>
                  <a:lnTo>
                    <a:pt x="295" y="61"/>
                  </a:lnTo>
                  <a:lnTo>
                    <a:pt x="300" y="61"/>
                  </a:lnTo>
                  <a:lnTo>
                    <a:pt x="330" y="12"/>
                  </a:lnTo>
                  <a:lnTo>
                    <a:pt x="330" y="12"/>
                  </a:lnTo>
                  <a:lnTo>
                    <a:pt x="332" y="9"/>
                  </a:lnTo>
                  <a:lnTo>
                    <a:pt x="336" y="10"/>
                  </a:lnTo>
                  <a:lnTo>
                    <a:pt x="336" y="10"/>
                  </a:lnTo>
                  <a:lnTo>
                    <a:pt x="338" y="13"/>
                  </a:lnTo>
                  <a:lnTo>
                    <a:pt x="337" y="16"/>
                  </a:lnTo>
                  <a:lnTo>
                    <a:pt x="306" y="70"/>
                  </a:lnTo>
                  <a:lnTo>
                    <a:pt x="306" y="70"/>
                  </a:lnTo>
                  <a:lnTo>
                    <a:pt x="295" y="70"/>
                  </a:lnTo>
                  <a:lnTo>
                    <a:pt x="295" y="70"/>
                  </a:lnTo>
                  <a:lnTo>
                    <a:pt x="288" y="70"/>
                  </a:lnTo>
                  <a:lnTo>
                    <a:pt x="283" y="73"/>
                  </a:lnTo>
                  <a:lnTo>
                    <a:pt x="277" y="77"/>
                  </a:lnTo>
                  <a:lnTo>
                    <a:pt x="272" y="83"/>
                  </a:lnTo>
                  <a:lnTo>
                    <a:pt x="147" y="296"/>
                  </a:lnTo>
                  <a:lnTo>
                    <a:pt x="147" y="296"/>
                  </a:lnTo>
                  <a:lnTo>
                    <a:pt x="144" y="298"/>
                  </a:lnTo>
                  <a:lnTo>
                    <a:pt x="141" y="298"/>
                  </a:lnTo>
                  <a:lnTo>
                    <a:pt x="141" y="298"/>
                  </a:lnTo>
                  <a:close/>
                  <a:moveTo>
                    <a:pt x="286" y="197"/>
                  </a:moveTo>
                  <a:lnTo>
                    <a:pt x="286" y="197"/>
                  </a:lnTo>
                  <a:lnTo>
                    <a:pt x="278" y="198"/>
                  </a:lnTo>
                  <a:lnTo>
                    <a:pt x="270" y="200"/>
                  </a:lnTo>
                  <a:lnTo>
                    <a:pt x="263" y="204"/>
                  </a:lnTo>
                  <a:lnTo>
                    <a:pt x="257" y="208"/>
                  </a:lnTo>
                  <a:lnTo>
                    <a:pt x="253" y="214"/>
                  </a:lnTo>
                  <a:lnTo>
                    <a:pt x="248" y="221"/>
                  </a:lnTo>
                  <a:lnTo>
                    <a:pt x="246" y="229"/>
                  </a:lnTo>
                  <a:lnTo>
                    <a:pt x="246" y="237"/>
                  </a:lnTo>
                  <a:lnTo>
                    <a:pt x="246" y="237"/>
                  </a:lnTo>
                  <a:lnTo>
                    <a:pt x="246" y="245"/>
                  </a:lnTo>
                  <a:lnTo>
                    <a:pt x="248" y="253"/>
                  </a:lnTo>
                  <a:lnTo>
                    <a:pt x="253" y="259"/>
                  </a:lnTo>
                  <a:lnTo>
                    <a:pt x="257" y="266"/>
                  </a:lnTo>
                  <a:lnTo>
                    <a:pt x="263" y="271"/>
                  </a:lnTo>
                  <a:lnTo>
                    <a:pt x="270" y="274"/>
                  </a:lnTo>
                  <a:lnTo>
                    <a:pt x="278" y="276"/>
                  </a:lnTo>
                  <a:lnTo>
                    <a:pt x="286" y="277"/>
                  </a:lnTo>
                  <a:lnTo>
                    <a:pt x="286" y="277"/>
                  </a:lnTo>
                  <a:lnTo>
                    <a:pt x="294" y="276"/>
                  </a:lnTo>
                  <a:lnTo>
                    <a:pt x="301" y="274"/>
                  </a:lnTo>
                  <a:lnTo>
                    <a:pt x="308" y="271"/>
                  </a:lnTo>
                  <a:lnTo>
                    <a:pt x="314" y="266"/>
                  </a:lnTo>
                  <a:lnTo>
                    <a:pt x="320" y="259"/>
                  </a:lnTo>
                  <a:lnTo>
                    <a:pt x="323" y="253"/>
                  </a:lnTo>
                  <a:lnTo>
                    <a:pt x="325" y="245"/>
                  </a:lnTo>
                  <a:lnTo>
                    <a:pt x="326" y="237"/>
                  </a:lnTo>
                  <a:lnTo>
                    <a:pt x="326" y="237"/>
                  </a:lnTo>
                  <a:lnTo>
                    <a:pt x="325" y="229"/>
                  </a:lnTo>
                  <a:lnTo>
                    <a:pt x="323" y="221"/>
                  </a:lnTo>
                  <a:lnTo>
                    <a:pt x="320" y="214"/>
                  </a:lnTo>
                  <a:lnTo>
                    <a:pt x="314" y="208"/>
                  </a:lnTo>
                  <a:lnTo>
                    <a:pt x="308" y="204"/>
                  </a:lnTo>
                  <a:lnTo>
                    <a:pt x="301" y="200"/>
                  </a:lnTo>
                  <a:lnTo>
                    <a:pt x="294" y="198"/>
                  </a:lnTo>
                  <a:lnTo>
                    <a:pt x="286" y="197"/>
                  </a:lnTo>
                  <a:lnTo>
                    <a:pt x="286" y="197"/>
                  </a:lnTo>
                  <a:close/>
                  <a:moveTo>
                    <a:pt x="407" y="555"/>
                  </a:moveTo>
                  <a:lnTo>
                    <a:pt x="340" y="555"/>
                  </a:lnTo>
                  <a:lnTo>
                    <a:pt x="306" y="458"/>
                  </a:lnTo>
                  <a:lnTo>
                    <a:pt x="306" y="458"/>
                  </a:lnTo>
                  <a:lnTo>
                    <a:pt x="317" y="448"/>
                  </a:lnTo>
                  <a:lnTo>
                    <a:pt x="326" y="436"/>
                  </a:lnTo>
                  <a:lnTo>
                    <a:pt x="336" y="424"/>
                  </a:lnTo>
                  <a:lnTo>
                    <a:pt x="343" y="410"/>
                  </a:lnTo>
                  <a:lnTo>
                    <a:pt x="348" y="396"/>
                  </a:lnTo>
                  <a:lnTo>
                    <a:pt x="352" y="381"/>
                  </a:lnTo>
                  <a:lnTo>
                    <a:pt x="355" y="366"/>
                  </a:lnTo>
                  <a:lnTo>
                    <a:pt x="355" y="350"/>
                  </a:lnTo>
                  <a:lnTo>
                    <a:pt x="355" y="350"/>
                  </a:lnTo>
                  <a:lnTo>
                    <a:pt x="354" y="330"/>
                  </a:lnTo>
                  <a:lnTo>
                    <a:pt x="351" y="311"/>
                  </a:lnTo>
                  <a:lnTo>
                    <a:pt x="344" y="294"/>
                  </a:lnTo>
                  <a:lnTo>
                    <a:pt x="336" y="276"/>
                  </a:lnTo>
                  <a:lnTo>
                    <a:pt x="336" y="276"/>
                  </a:lnTo>
                  <a:lnTo>
                    <a:pt x="341" y="268"/>
                  </a:lnTo>
                  <a:lnTo>
                    <a:pt x="346" y="258"/>
                  </a:lnTo>
                  <a:lnTo>
                    <a:pt x="348" y="248"/>
                  </a:lnTo>
                  <a:lnTo>
                    <a:pt x="350" y="237"/>
                  </a:lnTo>
                  <a:lnTo>
                    <a:pt x="350" y="237"/>
                  </a:lnTo>
                  <a:lnTo>
                    <a:pt x="348" y="225"/>
                  </a:lnTo>
                  <a:lnTo>
                    <a:pt x="345" y="212"/>
                  </a:lnTo>
                  <a:lnTo>
                    <a:pt x="338" y="201"/>
                  </a:lnTo>
                  <a:lnTo>
                    <a:pt x="331" y="192"/>
                  </a:lnTo>
                  <a:lnTo>
                    <a:pt x="322" y="184"/>
                  </a:lnTo>
                  <a:lnTo>
                    <a:pt x="310" y="178"/>
                  </a:lnTo>
                  <a:lnTo>
                    <a:pt x="299" y="175"/>
                  </a:lnTo>
                  <a:lnTo>
                    <a:pt x="286" y="174"/>
                  </a:lnTo>
                  <a:lnTo>
                    <a:pt x="286" y="174"/>
                  </a:lnTo>
                  <a:lnTo>
                    <a:pt x="273" y="175"/>
                  </a:lnTo>
                  <a:lnTo>
                    <a:pt x="261" y="178"/>
                  </a:lnTo>
                  <a:lnTo>
                    <a:pt x="250" y="184"/>
                  </a:lnTo>
                  <a:lnTo>
                    <a:pt x="241" y="192"/>
                  </a:lnTo>
                  <a:lnTo>
                    <a:pt x="233" y="201"/>
                  </a:lnTo>
                  <a:lnTo>
                    <a:pt x="227" y="212"/>
                  </a:lnTo>
                  <a:lnTo>
                    <a:pt x="224" y="225"/>
                  </a:lnTo>
                  <a:lnTo>
                    <a:pt x="221" y="237"/>
                  </a:lnTo>
                  <a:lnTo>
                    <a:pt x="221" y="237"/>
                  </a:lnTo>
                  <a:lnTo>
                    <a:pt x="224" y="250"/>
                  </a:lnTo>
                  <a:lnTo>
                    <a:pt x="227" y="261"/>
                  </a:lnTo>
                  <a:lnTo>
                    <a:pt x="233" y="273"/>
                  </a:lnTo>
                  <a:lnTo>
                    <a:pt x="241" y="282"/>
                  </a:lnTo>
                  <a:lnTo>
                    <a:pt x="250" y="290"/>
                  </a:lnTo>
                  <a:lnTo>
                    <a:pt x="261" y="296"/>
                  </a:lnTo>
                  <a:lnTo>
                    <a:pt x="273" y="299"/>
                  </a:lnTo>
                  <a:lnTo>
                    <a:pt x="286" y="301"/>
                  </a:lnTo>
                  <a:lnTo>
                    <a:pt x="286" y="301"/>
                  </a:lnTo>
                  <a:lnTo>
                    <a:pt x="293" y="301"/>
                  </a:lnTo>
                  <a:lnTo>
                    <a:pt x="299" y="299"/>
                  </a:lnTo>
                  <a:lnTo>
                    <a:pt x="299" y="299"/>
                  </a:lnTo>
                  <a:lnTo>
                    <a:pt x="305" y="311"/>
                  </a:lnTo>
                  <a:lnTo>
                    <a:pt x="309" y="324"/>
                  </a:lnTo>
                  <a:lnTo>
                    <a:pt x="311" y="336"/>
                  </a:lnTo>
                  <a:lnTo>
                    <a:pt x="313" y="350"/>
                  </a:lnTo>
                  <a:lnTo>
                    <a:pt x="313" y="350"/>
                  </a:lnTo>
                  <a:lnTo>
                    <a:pt x="311" y="360"/>
                  </a:lnTo>
                  <a:lnTo>
                    <a:pt x="310" y="370"/>
                  </a:lnTo>
                  <a:lnTo>
                    <a:pt x="308" y="380"/>
                  </a:lnTo>
                  <a:lnTo>
                    <a:pt x="305" y="389"/>
                  </a:lnTo>
                  <a:lnTo>
                    <a:pt x="300" y="398"/>
                  </a:lnTo>
                  <a:lnTo>
                    <a:pt x="295" y="406"/>
                  </a:lnTo>
                  <a:lnTo>
                    <a:pt x="290" y="415"/>
                  </a:lnTo>
                  <a:lnTo>
                    <a:pt x="283" y="421"/>
                  </a:lnTo>
                  <a:lnTo>
                    <a:pt x="276" y="428"/>
                  </a:lnTo>
                  <a:lnTo>
                    <a:pt x="268" y="434"/>
                  </a:lnTo>
                  <a:lnTo>
                    <a:pt x="258" y="440"/>
                  </a:lnTo>
                  <a:lnTo>
                    <a:pt x="250" y="443"/>
                  </a:lnTo>
                  <a:lnTo>
                    <a:pt x="241" y="447"/>
                  </a:lnTo>
                  <a:lnTo>
                    <a:pt x="231" y="449"/>
                  </a:lnTo>
                  <a:lnTo>
                    <a:pt x="220" y="451"/>
                  </a:lnTo>
                  <a:lnTo>
                    <a:pt x="210" y="451"/>
                  </a:lnTo>
                  <a:lnTo>
                    <a:pt x="210" y="451"/>
                  </a:lnTo>
                  <a:lnTo>
                    <a:pt x="201" y="451"/>
                  </a:lnTo>
                  <a:lnTo>
                    <a:pt x="190" y="450"/>
                  </a:lnTo>
                  <a:lnTo>
                    <a:pt x="181" y="448"/>
                  </a:lnTo>
                  <a:lnTo>
                    <a:pt x="172" y="444"/>
                  </a:lnTo>
                  <a:lnTo>
                    <a:pt x="172" y="444"/>
                  </a:lnTo>
                  <a:lnTo>
                    <a:pt x="177" y="438"/>
                  </a:lnTo>
                  <a:lnTo>
                    <a:pt x="179" y="431"/>
                  </a:lnTo>
                  <a:lnTo>
                    <a:pt x="179" y="426"/>
                  </a:lnTo>
                  <a:lnTo>
                    <a:pt x="179" y="424"/>
                  </a:lnTo>
                  <a:lnTo>
                    <a:pt x="177" y="421"/>
                  </a:lnTo>
                  <a:lnTo>
                    <a:pt x="65" y="357"/>
                  </a:lnTo>
                  <a:lnTo>
                    <a:pt x="65" y="357"/>
                  </a:lnTo>
                  <a:lnTo>
                    <a:pt x="62" y="356"/>
                  </a:lnTo>
                  <a:lnTo>
                    <a:pt x="61" y="357"/>
                  </a:lnTo>
                  <a:lnTo>
                    <a:pt x="58" y="359"/>
                  </a:lnTo>
                  <a:lnTo>
                    <a:pt x="53" y="363"/>
                  </a:lnTo>
                  <a:lnTo>
                    <a:pt x="50" y="368"/>
                  </a:lnTo>
                  <a:lnTo>
                    <a:pt x="47" y="374"/>
                  </a:lnTo>
                  <a:lnTo>
                    <a:pt x="45" y="379"/>
                  </a:lnTo>
                  <a:lnTo>
                    <a:pt x="45" y="383"/>
                  </a:lnTo>
                  <a:lnTo>
                    <a:pt x="46" y="386"/>
                  </a:lnTo>
                  <a:lnTo>
                    <a:pt x="47" y="387"/>
                  </a:lnTo>
                  <a:lnTo>
                    <a:pt x="93" y="413"/>
                  </a:lnTo>
                  <a:lnTo>
                    <a:pt x="93" y="413"/>
                  </a:lnTo>
                  <a:lnTo>
                    <a:pt x="90" y="417"/>
                  </a:lnTo>
                  <a:lnTo>
                    <a:pt x="88" y="420"/>
                  </a:lnTo>
                  <a:lnTo>
                    <a:pt x="87" y="424"/>
                  </a:lnTo>
                  <a:lnTo>
                    <a:pt x="87" y="427"/>
                  </a:lnTo>
                  <a:lnTo>
                    <a:pt x="87" y="427"/>
                  </a:lnTo>
                  <a:lnTo>
                    <a:pt x="96" y="439"/>
                  </a:lnTo>
                  <a:lnTo>
                    <a:pt x="105" y="450"/>
                  </a:lnTo>
                  <a:lnTo>
                    <a:pt x="117" y="461"/>
                  </a:lnTo>
                  <a:lnTo>
                    <a:pt x="128" y="470"/>
                  </a:lnTo>
                  <a:lnTo>
                    <a:pt x="140" y="477"/>
                  </a:lnTo>
                  <a:lnTo>
                    <a:pt x="153" y="484"/>
                  </a:lnTo>
                  <a:lnTo>
                    <a:pt x="166" y="488"/>
                  </a:lnTo>
                  <a:lnTo>
                    <a:pt x="181" y="492"/>
                  </a:lnTo>
                  <a:lnTo>
                    <a:pt x="156" y="555"/>
                  </a:lnTo>
                  <a:lnTo>
                    <a:pt x="22" y="555"/>
                  </a:lnTo>
                  <a:lnTo>
                    <a:pt x="22" y="555"/>
                  </a:lnTo>
                  <a:lnTo>
                    <a:pt x="17" y="556"/>
                  </a:lnTo>
                  <a:lnTo>
                    <a:pt x="14" y="557"/>
                  </a:lnTo>
                  <a:lnTo>
                    <a:pt x="10" y="558"/>
                  </a:lnTo>
                  <a:lnTo>
                    <a:pt x="7" y="562"/>
                  </a:lnTo>
                  <a:lnTo>
                    <a:pt x="5" y="564"/>
                  </a:lnTo>
                  <a:lnTo>
                    <a:pt x="2" y="569"/>
                  </a:lnTo>
                  <a:lnTo>
                    <a:pt x="1" y="572"/>
                  </a:lnTo>
                  <a:lnTo>
                    <a:pt x="0" y="577"/>
                  </a:lnTo>
                  <a:lnTo>
                    <a:pt x="0" y="577"/>
                  </a:lnTo>
                  <a:lnTo>
                    <a:pt x="1" y="581"/>
                  </a:lnTo>
                  <a:lnTo>
                    <a:pt x="2" y="585"/>
                  </a:lnTo>
                  <a:lnTo>
                    <a:pt x="5" y="588"/>
                  </a:lnTo>
                  <a:lnTo>
                    <a:pt x="7" y="592"/>
                  </a:lnTo>
                  <a:lnTo>
                    <a:pt x="10" y="594"/>
                  </a:lnTo>
                  <a:lnTo>
                    <a:pt x="14" y="596"/>
                  </a:lnTo>
                  <a:lnTo>
                    <a:pt x="17" y="598"/>
                  </a:lnTo>
                  <a:lnTo>
                    <a:pt x="22" y="599"/>
                  </a:lnTo>
                  <a:lnTo>
                    <a:pt x="35" y="599"/>
                  </a:lnTo>
                  <a:lnTo>
                    <a:pt x="35" y="599"/>
                  </a:lnTo>
                  <a:lnTo>
                    <a:pt x="37" y="606"/>
                  </a:lnTo>
                  <a:lnTo>
                    <a:pt x="42" y="610"/>
                  </a:lnTo>
                  <a:lnTo>
                    <a:pt x="48" y="614"/>
                  </a:lnTo>
                  <a:lnTo>
                    <a:pt x="55" y="616"/>
                  </a:lnTo>
                  <a:lnTo>
                    <a:pt x="373" y="616"/>
                  </a:lnTo>
                  <a:lnTo>
                    <a:pt x="373" y="616"/>
                  </a:lnTo>
                  <a:lnTo>
                    <a:pt x="381" y="614"/>
                  </a:lnTo>
                  <a:lnTo>
                    <a:pt x="386" y="610"/>
                  </a:lnTo>
                  <a:lnTo>
                    <a:pt x="392" y="606"/>
                  </a:lnTo>
                  <a:lnTo>
                    <a:pt x="395" y="599"/>
                  </a:lnTo>
                  <a:lnTo>
                    <a:pt x="407" y="599"/>
                  </a:lnTo>
                  <a:lnTo>
                    <a:pt x="407" y="599"/>
                  </a:lnTo>
                  <a:lnTo>
                    <a:pt x="411" y="598"/>
                  </a:lnTo>
                  <a:lnTo>
                    <a:pt x="415" y="596"/>
                  </a:lnTo>
                  <a:lnTo>
                    <a:pt x="419" y="594"/>
                  </a:lnTo>
                  <a:lnTo>
                    <a:pt x="422" y="592"/>
                  </a:lnTo>
                  <a:lnTo>
                    <a:pt x="425" y="588"/>
                  </a:lnTo>
                  <a:lnTo>
                    <a:pt x="427" y="585"/>
                  </a:lnTo>
                  <a:lnTo>
                    <a:pt x="428" y="581"/>
                  </a:lnTo>
                  <a:lnTo>
                    <a:pt x="428" y="577"/>
                  </a:lnTo>
                  <a:lnTo>
                    <a:pt x="428" y="577"/>
                  </a:lnTo>
                  <a:lnTo>
                    <a:pt x="428" y="572"/>
                  </a:lnTo>
                  <a:lnTo>
                    <a:pt x="427" y="569"/>
                  </a:lnTo>
                  <a:lnTo>
                    <a:pt x="425" y="564"/>
                  </a:lnTo>
                  <a:lnTo>
                    <a:pt x="422" y="562"/>
                  </a:lnTo>
                  <a:lnTo>
                    <a:pt x="419" y="558"/>
                  </a:lnTo>
                  <a:lnTo>
                    <a:pt x="415" y="557"/>
                  </a:lnTo>
                  <a:lnTo>
                    <a:pt x="411" y="556"/>
                  </a:lnTo>
                  <a:lnTo>
                    <a:pt x="407" y="555"/>
                  </a:lnTo>
                  <a:lnTo>
                    <a:pt x="407" y="555"/>
                  </a:lnTo>
                  <a:close/>
                  <a:moveTo>
                    <a:pt x="286" y="286"/>
                  </a:moveTo>
                  <a:lnTo>
                    <a:pt x="286" y="286"/>
                  </a:lnTo>
                  <a:lnTo>
                    <a:pt x="276" y="284"/>
                  </a:lnTo>
                  <a:lnTo>
                    <a:pt x="266" y="282"/>
                  </a:lnTo>
                  <a:lnTo>
                    <a:pt x="258" y="277"/>
                  </a:lnTo>
                  <a:lnTo>
                    <a:pt x="251" y="272"/>
                  </a:lnTo>
                  <a:lnTo>
                    <a:pt x="245" y="265"/>
                  </a:lnTo>
                  <a:lnTo>
                    <a:pt x="241" y="256"/>
                  </a:lnTo>
                  <a:lnTo>
                    <a:pt x="238" y="246"/>
                  </a:lnTo>
                  <a:lnTo>
                    <a:pt x="236" y="237"/>
                  </a:lnTo>
                  <a:lnTo>
                    <a:pt x="236" y="237"/>
                  </a:lnTo>
                  <a:lnTo>
                    <a:pt x="238" y="227"/>
                  </a:lnTo>
                  <a:lnTo>
                    <a:pt x="241" y="218"/>
                  </a:lnTo>
                  <a:lnTo>
                    <a:pt x="245" y="210"/>
                  </a:lnTo>
                  <a:lnTo>
                    <a:pt x="251" y="203"/>
                  </a:lnTo>
                  <a:lnTo>
                    <a:pt x="258" y="197"/>
                  </a:lnTo>
                  <a:lnTo>
                    <a:pt x="266" y="192"/>
                  </a:lnTo>
                  <a:lnTo>
                    <a:pt x="276" y="189"/>
                  </a:lnTo>
                  <a:lnTo>
                    <a:pt x="286" y="188"/>
                  </a:lnTo>
                  <a:lnTo>
                    <a:pt x="286" y="188"/>
                  </a:lnTo>
                  <a:lnTo>
                    <a:pt x="295" y="189"/>
                  </a:lnTo>
                  <a:lnTo>
                    <a:pt x="305" y="192"/>
                  </a:lnTo>
                  <a:lnTo>
                    <a:pt x="313" y="197"/>
                  </a:lnTo>
                  <a:lnTo>
                    <a:pt x="321" y="203"/>
                  </a:lnTo>
                  <a:lnTo>
                    <a:pt x="326" y="210"/>
                  </a:lnTo>
                  <a:lnTo>
                    <a:pt x="331" y="218"/>
                  </a:lnTo>
                  <a:lnTo>
                    <a:pt x="333" y="227"/>
                  </a:lnTo>
                  <a:lnTo>
                    <a:pt x="335" y="237"/>
                  </a:lnTo>
                  <a:lnTo>
                    <a:pt x="335" y="237"/>
                  </a:lnTo>
                  <a:lnTo>
                    <a:pt x="333" y="246"/>
                  </a:lnTo>
                  <a:lnTo>
                    <a:pt x="331" y="256"/>
                  </a:lnTo>
                  <a:lnTo>
                    <a:pt x="326" y="265"/>
                  </a:lnTo>
                  <a:lnTo>
                    <a:pt x="321" y="272"/>
                  </a:lnTo>
                  <a:lnTo>
                    <a:pt x="313" y="277"/>
                  </a:lnTo>
                  <a:lnTo>
                    <a:pt x="305" y="282"/>
                  </a:lnTo>
                  <a:lnTo>
                    <a:pt x="295" y="284"/>
                  </a:lnTo>
                  <a:lnTo>
                    <a:pt x="286" y="286"/>
                  </a:lnTo>
                  <a:lnTo>
                    <a:pt x="286" y="286"/>
                  </a:lnTo>
                  <a:close/>
                  <a:moveTo>
                    <a:pt x="107" y="441"/>
                  </a:moveTo>
                  <a:lnTo>
                    <a:pt x="107" y="441"/>
                  </a:lnTo>
                  <a:lnTo>
                    <a:pt x="106" y="438"/>
                  </a:lnTo>
                  <a:lnTo>
                    <a:pt x="107" y="434"/>
                  </a:lnTo>
                  <a:lnTo>
                    <a:pt x="107" y="434"/>
                  </a:lnTo>
                  <a:lnTo>
                    <a:pt x="110" y="433"/>
                  </a:lnTo>
                  <a:lnTo>
                    <a:pt x="113" y="435"/>
                  </a:lnTo>
                  <a:lnTo>
                    <a:pt x="113" y="435"/>
                  </a:lnTo>
                  <a:lnTo>
                    <a:pt x="122" y="444"/>
                  </a:lnTo>
                  <a:lnTo>
                    <a:pt x="134" y="453"/>
                  </a:lnTo>
                  <a:lnTo>
                    <a:pt x="144" y="459"/>
                  </a:lnTo>
                  <a:lnTo>
                    <a:pt x="157" y="466"/>
                  </a:lnTo>
                  <a:lnTo>
                    <a:pt x="170" y="471"/>
                  </a:lnTo>
                  <a:lnTo>
                    <a:pt x="182" y="474"/>
                  </a:lnTo>
                  <a:lnTo>
                    <a:pt x="196" y="476"/>
                  </a:lnTo>
                  <a:lnTo>
                    <a:pt x="210" y="477"/>
                  </a:lnTo>
                  <a:lnTo>
                    <a:pt x="210" y="477"/>
                  </a:lnTo>
                  <a:lnTo>
                    <a:pt x="223" y="477"/>
                  </a:lnTo>
                  <a:lnTo>
                    <a:pt x="235" y="474"/>
                  </a:lnTo>
                  <a:lnTo>
                    <a:pt x="248" y="471"/>
                  </a:lnTo>
                  <a:lnTo>
                    <a:pt x="260" y="466"/>
                  </a:lnTo>
                  <a:lnTo>
                    <a:pt x="271" y="462"/>
                  </a:lnTo>
                  <a:lnTo>
                    <a:pt x="281" y="455"/>
                  </a:lnTo>
                  <a:lnTo>
                    <a:pt x="292" y="448"/>
                  </a:lnTo>
                  <a:lnTo>
                    <a:pt x="301" y="439"/>
                  </a:lnTo>
                  <a:lnTo>
                    <a:pt x="309" y="431"/>
                  </a:lnTo>
                  <a:lnTo>
                    <a:pt x="317" y="420"/>
                  </a:lnTo>
                  <a:lnTo>
                    <a:pt x="324" y="410"/>
                  </a:lnTo>
                  <a:lnTo>
                    <a:pt x="329" y="398"/>
                  </a:lnTo>
                  <a:lnTo>
                    <a:pt x="333" y="387"/>
                  </a:lnTo>
                  <a:lnTo>
                    <a:pt x="337" y="374"/>
                  </a:lnTo>
                  <a:lnTo>
                    <a:pt x="339" y="362"/>
                  </a:lnTo>
                  <a:lnTo>
                    <a:pt x="339" y="349"/>
                  </a:lnTo>
                  <a:lnTo>
                    <a:pt x="339" y="349"/>
                  </a:lnTo>
                  <a:lnTo>
                    <a:pt x="339" y="335"/>
                  </a:lnTo>
                  <a:lnTo>
                    <a:pt x="337" y="322"/>
                  </a:lnTo>
                  <a:lnTo>
                    <a:pt x="333" y="310"/>
                  </a:lnTo>
                  <a:lnTo>
                    <a:pt x="329" y="297"/>
                  </a:lnTo>
                  <a:lnTo>
                    <a:pt x="329" y="297"/>
                  </a:lnTo>
                  <a:lnTo>
                    <a:pt x="328" y="294"/>
                  </a:lnTo>
                  <a:lnTo>
                    <a:pt x="330" y="291"/>
                  </a:lnTo>
                  <a:lnTo>
                    <a:pt x="330" y="291"/>
                  </a:lnTo>
                  <a:lnTo>
                    <a:pt x="333" y="291"/>
                  </a:lnTo>
                  <a:lnTo>
                    <a:pt x="336" y="294"/>
                  </a:lnTo>
                  <a:lnTo>
                    <a:pt x="336" y="294"/>
                  </a:lnTo>
                  <a:lnTo>
                    <a:pt x="341" y="306"/>
                  </a:lnTo>
                  <a:lnTo>
                    <a:pt x="345" y="320"/>
                  </a:lnTo>
                  <a:lnTo>
                    <a:pt x="347" y="334"/>
                  </a:lnTo>
                  <a:lnTo>
                    <a:pt x="348" y="349"/>
                  </a:lnTo>
                  <a:lnTo>
                    <a:pt x="348" y="349"/>
                  </a:lnTo>
                  <a:lnTo>
                    <a:pt x="347" y="363"/>
                  </a:lnTo>
                  <a:lnTo>
                    <a:pt x="345" y="377"/>
                  </a:lnTo>
                  <a:lnTo>
                    <a:pt x="341" y="389"/>
                  </a:lnTo>
                  <a:lnTo>
                    <a:pt x="337" y="402"/>
                  </a:lnTo>
                  <a:lnTo>
                    <a:pt x="331" y="413"/>
                  </a:lnTo>
                  <a:lnTo>
                    <a:pt x="324" y="425"/>
                  </a:lnTo>
                  <a:lnTo>
                    <a:pt x="316" y="435"/>
                  </a:lnTo>
                  <a:lnTo>
                    <a:pt x="307" y="446"/>
                  </a:lnTo>
                  <a:lnTo>
                    <a:pt x="298" y="454"/>
                  </a:lnTo>
                  <a:lnTo>
                    <a:pt x="287" y="462"/>
                  </a:lnTo>
                  <a:lnTo>
                    <a:pt x="276" y="469"/>
                  </a:lnTo>
                  <a:lnTo>
                    <a:pt x="263" y="474"/>
                  </a:lnTo>
                  <a:lnTo>
                    <a:pt x="250" y="479"/>
                  </a:lnTo>
                  <a:lnTo>
                    <a:pt x="238" y="482"/>
                  </a:lnTo>
                  <a:lnTo>
                    <a:pt x="224" y="485"/>
                  </a:lnTo>
                  <a:lnTo>
                    <a:pt x="210" y="486"/>
                  </a:lnTo>
                  <a:lnTo>
                    <a:pt x="210" y="486"/>
                  </a:lnTo>
                  <a:lnTo>
                    <a:pt x="195" y="485"/>
                  </a:lnTo>
                  <a:lnTo>
                    <a:pt x="181" y="482"/>
                  </a:lnTo>
                  <a:lnTo>
                    <a:pt x="167" y="479"/>
                  </a:lnTo>
                  <a:lnTo>
                    <a:pt x="153" y="473"/>
                  </a:lnTo>
                  <a:lnTo>
                    <a:pt x="141" y="467"/>
                  </a:lnTo>
                  <a:lnTo>
                    <a:pt x="128" y="459"/>
                  </a:lnTo>
                  <a:lnTo>
                    <a:pt x="118" y="450"/>
                  </a:lnTo>
                  <a:lnTo>
                    <a:pt x="107" y="441"/>
                  </a:lnTo>
                  <a:lnTo>
                    <a:pt x="107" y="441"/>
                  </a:lnTo>
                  <a:close/>
                  <a:moveTo>
                    <a:pt x="407" y="572"/>
                  </a:moveTo>
                  <a:lnTo>
                    <a:pt x="22" y="572"/>
                  </a:lnTo>
                  <a:lnTo>
                    <a:pt x="22" y="572"/>
                  </a:lnTo>
                  <a:lnTo>
                    <a:pt x="18" y="571"/>
                  </a:lnTo>
                  <a:lnTo>
                    <a:pt x="17" y="568"/>
                  </a:lnTo>
                  <a:lnTo>
                    <a:pt x="17" y="568"/>
                  </a:lnTo>
                  <a:lnTo>
                    <a:pt x="18" y="565"/>
                  </a:lnTo>
                  <a:lnTo>
                    <a:pt x="22" y="564"/>
                  </a:lnTo>
                  <a:lnTo>
                    <a:pt x="407" y="564"/>
                  </a:lnTo>
                  <a:lnTo>
                    <a:pt x="407" y="564"/>
                  </a:lnTo>
                  <a:lnTo>
                    <a:pt x="410" y="565"/>
                  </a:lnTo>
                  <a:lnTo>
                    <a:pt x="411" y="568"/>
                  </a:lnTo>
                  <a:lnTo>
                    <a:pt x="411" y="568"/>
                  </a:lnTo>
                  <a:lnTo>
                    <a:pt x="410" y="571"/>
                  </a:lnTo>
                  <a:lnTo>
                    <a:pt x="407" y="572"/>
                  </a:lnTo>
                  <a:lnTo>
                    <a:pt x="407" y="572"/>
                  </a:lnTo>
                  <a:close/>
                </a:path>
              </a:pathLst>
            </a:custGeom>
            <a:solidFill>
              <a:schemeClr val="bg1"/>
            </a:solidFill>
            <a:ln>
              <a:noFill/>
            </a:ln>
          </p:spPr>
          <p:txBody>
            <a:bodyPr vert="horz" wrap="square" lIns="100817" tIns="50408" rIns="100817" bIns="50408"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ZA" sz="2205"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31" name="Group 30">
            <a:extLst>
              <a:ext uri="{FF2B5EF4-FFF2-40B4-BE49-F238E27FC236}">
                <a16:creationId xmlns:a16="http://schemas.microsoft.com/office/drawing/2014/main" id="{7E66FCB1-47E4-4320-9004-E800CA775A7E}"/>
              </a:ext>
            </a:extLst>
          </p:cNvPr>
          <p:cNvGrpSpPr/>
          <p:nvPr/>
        </p:nvGrpSpPr>
        <p:grpSpPr>
          <a:xfrm>
            <a:off x="2017157" y="1437219"/>
            <a:ext cx="942392" cy="942392"/>
            <a:chOff x="9355779" y="1746734"/>
            <a:chExt cx="942392" cy="942392"/>
          </a:xfrm>
        </p:grpSpPr>
        <p:sp>
          <p:nvSpPr>
            <p:cNvPr id="32" name="Oval 31">
              <a:extLst>
                <a:ext uri="{FF2B5EF4-FFF2-40B4-BE49-F238E27FC236}">
                  <a16:creationId xmlns:a16="http://schemas.microsoft.com/office/drawing/2014/main" id="{D946D2C8-A157-482B-9AEC-F72FDCC79F33}"/>
                </a:ext>
              </a:extLst>
            </p:cNvPr>
            <p:cNvSpPr/>
            <p:nvPr/>
          </p:nvSpPr>
          <p:spPr bwMode="gray">
            <a:xfrm>
              <a:off x="9355779" y="1746734"/>
              <a:ext cx="942392" cy="942392"/>
            </a:xfrm>
            <a:prstGeom prst="ellipse">
              <a:avLst/>
            </a:prstGeom>
            <a:solidFill>
              <a:schemeClr val="accent1">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sp>
          <p:nvSpPr>
            <p:cNvPr id="33" name="Freeform 44">
              <a:extLst>
                <a:ext uri="{FF2B5EF4-FFF2-40B4-BE49-F238E27FC236}">
                  <a16:creationId xmlns:a16="http://schemas.microsoft.com/office/drawing/2014/main" id="{BDB43027-BF9A-4D06-8CFD-8E4285778F69}"/>
                </a:ext>
              </a:extLst>
            </p:cNvPr>
            <p:cNvSpPr>
              <a:spLocks noEditPoints="1"/>
            </p:cNvSpPr>
            <p:nvPr/>
          </p:nvSpPr>
          <p:spPr bwMode="auto">
            <a:xfrm>
              <a:off x="9494791" y="1845571"/>
              <a:ext cx="664368" cy="572191"/>
            </a:xfrm>
            <a:custGeom>
              <a:avLst/>
              <a:gdLst>
                <a:gd name="T0" fmla="*/ 123 w 127"/>
                <a:gd name="T1" fmla="*/ 96 h 109"/>
                <a:gd name="T2" fmla="*/ 119 w 127"/>
                <a:gd name="T3" fmla="*/ 70 h 109"/>
                <a:gd name="T4" fmla="*/ 121 w 127"/>
                <a:gd name="T5" fmla="*/ 65 h 109"/>
                <a:gd name="T6" fmla="*/ 119 w 127"/>
                <a:gd name="T7" fmla="*/ 65 h 109"/>
                <a:gd name="T8" fmla="*/ 87 w 127"/>
                <a:gd name="T9" fmla="*/ 47 h 109"/>
                <a:gd name="T10" fmla="*/ 89 w 127"/>
                <a:gd name="T11" fmla="*/ 42 h 109"/>
                <a:gd name="T12" fmla="*/ 67 w 127"/>
                <a:gd name="T13" fmla="*/ 21 h 109"/>
                <a:gd name="T14" fmla="*/ 65 w 127"/>
                <a:gd name="T15" fmla="*/ 18 h 109"/>
                <a:gd name="T16" fmla="*/ 62 w 127"/>
                <a:gd name="T17" fmla="*/ 18 h 109"/>
                <a:gd name="T18" fmla="*/ 59 w 127"/>
                <a:gd name="T19" fmla="*/ 21 h 109"/>
                <a:gd name="T20" fmla="*/ 56 w 127"/>
                <a:gd name="T21" fmla="*/ 40 h 109"/>
                <a:gd name="T22" fmla="*/ 56 w 127"/>
                <a:gd name="T23" fmla="*/ 42 h 109"/>
                <a:gd name="T24" fmla="*/ 38 w 127"/>
                <a:gd name="T25" fmla="*/ 47 h 109"/>
                <a:gd name="T26" fmla="*/ 39 w 127"/>
                <a:gd name="T27" fmla="*/ 59 h 109"/>
                <a:gd name="T28" fmla="*/ 5 w 127"/>
                <a:gd name="T29" fmla="*/ 65 h 109"/>
                <a:gd name="T30" fmla="*/ 7 w 127"/>
                <a:gd name="T31" fmla="*/ 70 h 109"/>
                <a:gd name="T32" fmla="*/ 3 w 127"/>
                <a:gd name="T33" fmla="*/ 96 h 109"/>
                <a:gd name="T34" fmla="*/ 0 w 127"/>
                <a:gd name="T35" fmla="*/ 102 h 109"/>
                <a:gd name="T36" fmla="*/ 127 w 127"/>
                <a:gd name="T37" fmla="*/ 109 h 109"/>
                <a:gd name="T38" fmla="*/ 123 w 127"/>
                <a:gd name="T39" fmla="*/ 102 h 109"/>
                <a:gd name="T40" fmla="*/ 78 w 127"/>
                <a:gd name="T41" fmla="*/ 49 h 109"/>
                <a:gd name="T42" fmla="*/ 72 w 127"/>
                <a:gd name="T43" fmla="*/ 57 h 109"/>
                <a:gd name="T44" fmla="*/ 61 w 127"/>
                <a:gd name="T45" fmla="*/ 49 h 109"/>
                <a:gd name="T46" fmla="*/ 67 w 127"/>
                <a:gd name="T47" fmla="*/ 57 h 109"/>
                <a:gd name="T48" fmla="*/ 61 w 127"/>
                <a:gd name="T49" fmla="*/ 49 h 109"/>
                <a:gd name="T50" fmla="*/ 54 w 127"/>
                <a:gd name="T51" fmla="*/ 49 h 109"/>
                <a:gd name="T52" fmla="*/ 48 w 127"/>
                <a:gd name="T53" fmla="*/ 57 h 109"/>
                <a:gd name="T54" fmla="*/ 21 w 127"/>
                <a:gd name="T55" fmla="*/ 98 h 109"/>
                <a:gd name="T56" fmla="*/ 15 w 127"/>
                <a:gd name="T57" fmla="*/ 90 h 109"/>
                <a:gd name="T58" fmla="*/ 21 w 127"/>
                <a:gd name="T59" fmla="*/ 98 h 109"/>
                <a:gd name="T60" fmla="*/ 15 w 127"/>
                <a:gd name="T61" fmla="*/ 82 h 109"/>
                <a:gd name="T62" fmla="*/ 21 w 127"/>
                <a:gd name="T63" fmla="*/ 74 h 109"/>
                <a:gd name="T64" fmla="*/ 33 w 127"/>
                <a:gd name="T65" fmla="*/ 98 h 109"/>
                <a:gd name="T66" fmla="*/ 27 w 127"/>
                <a:gd name="T67" fmla="*/ 90 h 109"/>
                <a:gd name="T68" fmla="*/ 33 w 127"/>
                <a:gd name="T69" fmla="*/ 98 h 109"/>
                <a:gd name="T70" fmla="*/ 27 w 127"/>
                <a:gd name="T71" fmla="*/ 82 h 109"/>
                <a:gd name="T72" fmla="*/ 33 w 127"/>
                <a:gd name="T73" fmla="*/ 74 h 109"/>
                <a:gd name="T74" fmla="*/ 87 w 127"/>
                <a:gd name="T75" fmla="*/ 77 h 109"/>
                <a:gd name="T76" fmla="*/ 83 w 127"/>
                <a:gd name="T77" fmla="*/ 102 h 109"/>
                <a:gd name="T78" fmla="*/ 77 w 127"/>
                <a:gd name="T79" fmla="*/ 77 h 109"/>
                <a:gd name="T80" fmla="*/ 72 w 127"/>
                <a:gd name="T81" fmla="*/ 102 h 109"/>
                <a:gd name="T82" fmla="*/ 66 w 127"/>
                <a:gd name="T83" fmla="*/ 77 h 109"/>
                <a:gd name="T84" fmla="*/ 60 w 127"/>
                <a:gd name="T85" fmla="*/ 102 h 109"/>
                <a:gd name="T86" fmla="*/ 55 w 127"/>
                <a:gd name="T87" fmla="*/ 77 h 109"/>
                <a:gd name="T88" fmla="*/ 49 w 127"/>
                <a:gd name="T89" fmla="*/ 102 h 109"/>
                <a:gd name="T90" fmla="*/ 43 w 127"/>
                <a:gd name="T91" fmla="*/ 77 h 109"/>
                <a:gd name="T92" fmla="*/ 39 w 127"/>
                <a:gd name="T93" fmla="*/ 72 h 109"/>
                <a:gd name="T94" fmla="*/ 87 w 127"/>
                <a:gd name="T95" fmla="*/ 72 h 109"/>
                <a:gd name="T96" fmla="*/ 99 w 127"/>
                <a:gd name="T97" fmla="*/ 98 h 109"/>
                <a:gd name="T98" fmla="*/ 93 w 127"/>
                <a:gd name="T99" fmla="*/ 90 h 109"/>
                <a:gd name="T100" fmla="*/ 99 w 127"/>
                <a:gd name="T101" fmla="*/ 98 h 109"/>
                <a:gd name="T102" fmla="*/ 93 w 127"/>
                <a:gd name="T103" fmla="*/ 82 h 109"/>
                <a:gd name="T104" fmla="*/ 99 w 127"/>
                <a:gd name="T105" fmla="*/ 74 h 109"/>
                <a:gd name="T106" fmla="*/ 111 w 127"/>
                <a:gd name="T107" fmla="*/ 98 h 109"/>
                <a:gd name="T108" fmla="*/ 105 w 127"/>
                <a:gd name="T109" fmla="*/ 90 h 109"/>
                <a:gd name="T110" fmla="*/ 111 w 127"/>
                <a:gd name="T111" fmla="*/ 98 h 109"/>
                <a:gd name="T112" fmla="*/ 105 w 127"/>
                <a:gd name="T113" fmla="*/ 82 h 109"/>
                <a:gd name="T114" fmla="*/ 111 w 127"/>
                <a:gd name="T115" fmla="*/ 74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27" h="109">
                  <a:moveTo>
                    <a:pt x="123" y="102"/>
                  </a:moveTo>
                  <a:cubicBezTo>
                    <a:pt x="123" y="96"/>
                    <a:pt x="123" y="96"/>
                    <a:pt x="123" y="96"/>
                  </a:cubicBezTo>
                  <a:cubicBezTo>
                    <a:pt x="119" y="96"/>
                    <a:pt x="119" y="96"/>
                    <a:pt x="119" y="96"/>
                  </a:cubicBezTo>
                  <a:cubicBezTo>
                    <a:pt x="119" y="70"/>
                    <a:pt x="119" y="70"/>
                    <a:pt x="119" y="70"/>
                  </a:cubicBezTo>
                  <a:cubicBezTo>
                    <a:pt x="121" y="70"/>
                    <a:pt x="121" y="70"/>
                    <a:pt x="121" y="70"/>
                  </a:cubicBezTo>
                  <a:cubicBezTo>
                    <a:pt x="121" y="65"/>
                    <a:pt x="121" y="65"/>
                    <a:pt x="121" y="65"/>
                  </a:cubicBezTo>
                  <a:cubicBezTo>
                    <a:pt x="119" y="65"/>
                    <a:pt x="119" y="65"/>
                    <a:pt x="119" y="65"/>
                  </a:cubicBezTo>
                  <a:cubicBezTo>
                    <a:pt x="119" y="65"/>
                    <a:pt x="119" y="65"/>
                    <a:pt x="119" y="65"/>
                  </a:cubicBezTo>
                  <a:cubicBezTo>
                    <a:pt x="87" y="59"/>
                    <a:pt x="87" y="59"/>
                    <a:pt x="87" y="59"/>
                  </a:cubicBezTo>
                  <a:cubicBezTo>
                    <a:pt x="87" y="47"/>
                    <a:pt x="87" y="47"/>
                    <a:pt x="87" y="47"/>
                  </a:cubicBezTo>
                  <a:cubicBezTo>
                    <a:pt x="89" y="47"/>
                    <a:pt x="89" y="47"/>
                    <a:pt x="89" y="47"/>
                  </a:cubicBezTo>
                  <a:cubicBezTo>
                    <a:pt x="89" y="42"/>
                    <a:pt x="89" y="42"/>
                    <a:pt x="89" y="42"/>
                  </a:cubicBezTo>
                  <a:cubicBezTo>
                    <a:pt x="86" y="42"/>
                    <a:pt x="86" y="42"/>
                    <a:pt x="86" y="42"/>
                  </a:cubicBezTo>
                  <a:cubicBezTo>
                    <a:pt x="85" y="32"/>
                    <a:pt x="77" y="23"/>
                    <a:pt x="67" y="21"/>
                  </a:cubicBezTo>
                  <a:cubicBezTo>
                    <a:pt x="67" y="21"/>
                    <a:pt x="67" y="21"/>
                    <a:pt x="67" y="21"/>
                  </a:cubicBezTo>
                  <a:cubicBezTo>
                    <a:pt x="67" y="19"/>
                    <a:pt x="66" y="18"/>
                    <a:pt x="65" y="18"/>
                  </a:cubicBezTo>
                  <a:cubicBezTo>
                    <a:pt x="65" y="14"/>
                    <a:pt x="63" y="0"/>
                    <a:pt x="63" y="0"/>
                  </a:cubicBezTo>
                  <a:cubicBezTo>
                    <a:pt x="63" y="0"/>
                    <a:pt x="62" y="14"/>
                    <a:pt x="62" y="18"/>
                  </a:cubicBezTo>
                  <a:cubicBezTo>
                    <a:pt x="60" y="18"/>
                    <a:pt x="59" y="19"/>
                    <a:pt x="59" y="21"/>
                  </a:cubicBezTo>
                  <a:cubicBezTo>
                    <a:pt x="59" y="21"/>
                    <a:pt x="59" y="21"/>
                    <a:pt x="59" y="21"/>
                  </a:cubicBezTo>
                  <a:cubicBezTo>
                    <a:pt x="50" y="23"/>
                    <a:pt x="42" y="30"/>
                    <a:pt x="41" y="40"/>
                  </a:cubicBezTo>
                  <a:cubicBezTo>
                    <a:pt x="56" y="40"/>
                    <a:pt x="56" y="40"/>
                    <a:pt x="56" y="40"/>
                  </a:cubicBezTo>
                  <a:cubicBezTo>
                    <a:pt x="57" y="40"/>
                    <a:pt x="57" y="41"/>
                    <a:pt x="57" y="41"/>
                  </a:cubicBezTo>
                  <a:cubicBezTo>
                    <a:pt x="57" y="42"/>
                    <a:pt x="57" y="42"/>
                    <a:pt x="56" y="42"/>
                  </a:cubicBezTo>
                  <a:cubicBezTo>
                    <a:pt x="38" y="42"/>
                    <a:pt x="38" y="42"/>
                    <a:pt x="38" y="42"/>
                  </a:cubicBezTo>
                  <a:cubicBezTo>
                    <a:pt x="38" y="47"/>
                    <a:pt x="38" y="47"/>
                    <a:pt x="38" y="47"/>
                  </a:cubicBezTo>
                  <a:cubicBezTo>
                    <a:pt x="39" y="47"/>
                    <a:pt x="39" y="47"/>
                    <a:pt x="39" y="47"/>
                  </a:cubicBezTo>
                  <a:cubicBezTo>
                    <a:pt x="39" y="59"/>
                    <a:pt x="39" y="59"/>
                    <a:pt x="39" y="59"/>
                  </a:cubicBezTo>
                  <a:cubicBezTo>
                    <a:pt x="7" y="65"/>
                    <a:pt x="7" y="65"/>
                    <a:pt x="7" y="65"/>
                  </a:cubicBezTo>
                  <a:cubicBezTo>
                    <a:pt x="5" y="65"/>
                    <a:pt x="5" y="65"/>
                    <a:pt x="5" y="65"/>
                  </a:cubicBezTo>
                  <a:cubicBezTo>
                    <a:pt x="5" y="70"/>
                    <a:pt x="5" y="70"/>
                    <a:pt x="5" y="70"/>
                  </a:cubicBezTo>
                  <a:cubicBezTo>
                    <a:pt x="7" y="70"/>
                    <a:pt x="7" y="70"/>
                    <a:pt x="7" y="70"/>
                  </a:cubicBezTo>
                  <a:cubicBezTo>
                    <a:pt x="7" y="96"/>
                    <a:pt x="7" y="96"/>
                    <a:pt x="7" y="96"/>
                  </a:cubicBezTo>
                  <a:cubicBezTo>
                    <a:pt x="3" y="96"/>
                    <a:pt x="3" y="96"/>
                    <a:pt x="3" y="96"/>
                  </a:cubicBezTo>
                  <a:cubicBezTo>
                    <a:pt x="3" y="102"/>
                    <a:pt x="3" y="102"/>
                    <a:pt x="3" y="102"/>
                  </a:cubicBezTo>
                  <a:cubicBezTo>
                    <a:pt x="0" y="102"/>
                    <a:pt x="0" y="102"/>
                    <a:pt x="0" y="102"/>
                  </a:cubicBezTo>
                  <a:cubicBezTo>
                    <a:pt x="0" y="109"/>
                    <a:pt x="0" y="109"/>
                    <a:pt x="0" y="109"/>
                  </a:cubicBezTo>
                  <a:cubicBezTo>
                    <a:pt x="127" y="109"/>
                    <a:pt x="127" y="109"/>
                    <a:pt x="127" y="109"/>
                  </a:cubicBezTo>
                  <a:cubicBezTo>
                    <a:pt x="127" y="102"/>
                    <a:pt x="127" y="102"/>
                    <a:pt x="127" y="102"/>
                  </a:cubicBezTo>
                  <a:lnTo>
                    <a:pt x="123" y="102"/>
                  </a:lnTo>
                  <a:close/>
                  <a:moveTo>
                    <a:pt x="72" y="49"/>
                  </a:moveTo>
                  <a:cubicBezTo>
                    <a:pt x="78" y="49"/>
                    <a:pt x="78" y="49"/>
                    <a:pt x="78" y="49"/>
                  </a:cubicBezTo>
                  <a:cubicBezTo>
                    <a:pt x="78" y="57"/>
                    <a:pt x="78" y="57"/>
                    <a:pt x="78" y="57"/>
                  </a:cubicBezTo>
                  <a:cubicBezTo>
                    <a:pt x="72" y="57"/>
                    <a:pt x="72" y="57"/>
                    <a:pt x="72" y="57"/>
                  </a:cubicBezTo>
                  <a:lnTo>
                    <a:pt x="72" y="49"/>
                  </a:lnTo>
                  <a:close/>
                  <a:moveTo>
                    <a:pt x="61" y="49"/>
                  </a:moveTo>
                  <a:cubicBezTo>
                    <a:pt x="67" y="49"/>
                    <a:pt x="67" y="49"/>
                    <a:pt x="67" y="49"/>
                  </a:cubicBezTo>
                  <a:cubicBezTo>
                    <a:pt x="67" y="57"/>
                    <a:pt x="67" y="57"/>
                    <a:pt x="67" y="57"/>
                  </a:cubicBezTo>
                  <a:cubicBezTo>
                    <a:pt x="61" y="57"/>
                    <a:pt x="61" y="57"/>
                    <a:pt x="61" y="57"/>
                  </a:cubicBezTo>
                  <a:lnTo>
                    <a:pt x="61" y="49"/>
                  </a:lnTo>
                  <a:close/>
                  <a:moveTo>
                    <a:pt x="48" y="49"/>
                  </a:moveTo>
                  <a:cubicBezTo>
                    <a:pt x="54" y="49"/>
                    <a:pt x="54" y="49"/>
                    <a:pt x="54" y="49"/>
                  </a:cubicBezTo>
                  <a:cubicBezTo>
                    <a:pt x="54" y="57"/>
                    <a:pt x="54" y="57"/>
                    <a:pt x="54" y="57"/>
                  </a:cubicBezTo>
                  <a:cubicBezTo>
                    <a:pt x="48" y="57"/>
                    <a:pt x="48" y="57"/>
                    <a:pt x="48" y="57"/>
                  </a:cubicBezTo>
                  <a:lnTo>
                    <a:pt x="48" y="49"/>
                  </a:lnTo>
                  <a:close/>
                  <a:moveTo>
                    <a:pt x="21" y="98"/>
                  </a:moveTo>
                  <a:cubicBezTo>
                    <a:pt x="15" y="98"/>
                    <a:pt x="15" y="98"/>
                    <a:pt x="15" y="98"/>
                  </a:cubicBezTo>
                  <a:cubicBezTo>
                    <a:pt x="15" y="90"/>
                    <a:pt x="15" y="90"/>
                    <a:pt x="15" y="90"/>
                  </a:cubicBezTo>
                  <a:cubicBezTo>
                    <a:pt x="21" y="90"/>
                    <a:pt x="21" y="90"/>
                    <a:pt x="21" y="90"/>
                  </a:cubicBezTo>
                  <a:lnTo>
                    <a:pt x="21" y="98"/>
                  </a:lnTo>
                  <a:close/>
                  <a:moveTo>
                    <a:pt x="21" y="82"/>
                  </a:moveTo>
                  <a:cubicBezTo>
                    <a:pt x="15" y="82"/>
                    <a:pt x="15" y="82"/>
                    <a:pt x="15" y="82"/>
                  </a:cubicBezTo>
                  <a:cubicBezTo>
                    <a:pt x="15" y="74"/>
                    <a:pt x="15" y="74"/>
                    <a:pt x="15" y="74"/>
                  </a:cubicBezTo>
                  <a:cubicBezTo>
                    <a:pt x="21" y="74"/>
                    <a:pt x="21" y="74"/>
                    <a:pt x="21" y="74"/>
                  </a:cubicBezTo>
                  <a:lnTo>
                    <a:pt x="21" y="82"/>
                  </a:lnTo>
                  <a:close/>
                  <a:moveTo>
                    <a:pt x="33" y="98"/>
                  </a:moveTo>
                  <a:cubicBezTo>
                    <a:pt x="27" y="98"/>
                    <a:pt x="27" y="98"/>
                    <a:pt x="27" y="98"/>
                  </a:cubicBezTo>
                  <a:cubicBezTo>
                    <a:pt x="27" y="90"/>
                    <a:pt x="27" y="90"/>
                    <a:pt x="27" y="90"/>
                  </a:cubicBezTo>
                  <a:cubicBezTo>
                    <a:pt x="33" y="90"/>
                    <a:pt x="33" y="90"/>
                    <a:pt x="33" y="90"/>
                  </a:cubicBezTo>
                  <a:lnTo>
                    <a:pt x="33" y="98"/>
                  </a:lnTo>
                  <a:close/>
                  <a:moveTo>
                    <a:pt x="33" y="82"/>
                  </a:moveTo>
                  <a:cubicBezTo>
                    <a:pt x="27" y="82"/>
                    <a:pt x="27" y="82"/>
                    <a:pt x="27" y="82"/>
                  </a:cubicBezTo>
                  <a:cubicBezTo>
                    <a:pt x="27" y="74"/>
                    <a:pt x="27" y="74"/>
                    <a:pt x="27" y="74"/>
                  </a:cubicBezTo>
                  <a:cubicBezTo>
                    <a:pt x="33" y="74"/>
                    <a:pt x="33" y="74"/>
                    <a:pt x="33" y="74"/>
                  </a:cubicBezTo>
                  <a:lnTo>
                    <a:pt x="33" y="82"/>
                  </a:lnTo>
                  <a:close/>
                  <a:moveTo>
                    <a:pt x="87" y="77"/>
                  </a:moveTo>
                  <a:cubicBezTo>
                    <a:pt x="83" y="77"/>
                    <a:pt x="83" y="77"/>
                    <a:pt x="83" y="77"/>
                  </a:cubicBezTo>
                  <a:cubicBezTo>
                    <a:pt x="83" y="102"/>
                    <a:pt x="83" y="102"/>
                    <a:pt x="83" y="102"/>
                  </a:cubicBezTo>
                  <a:cubicBezTo>
                    <a:pt x="77" y="102"/>
                    <a:pt x="77" y="102"/>
                    <a:pt x="77" y="102"/>
                  </a:cubicBezTo>
                  <a:cubicBezTo>
                    <a:pt x="77" y="77"/>
                    <a:pt x="77" y="77"/>
                    <a:pt x="77" y="77"/>
                  </a:cubicBezTo>
                  <a:cubicBezTo>
                    <a:pt x="72" y="77"/>
                    <a:pt x="72" y="77"/>
                    <a:pt x="72" y="77"/>
                  </a:cubicBezTo>
                  <a:cubicBezTo>
                    <a:pt x="72" y="102"/>
                    <a:pt x="72" y="102"/>
                    <a:pt x="72" y="102"/>
                  </a:cubicBezTo>
                  <a:cubicBezTo>
                    <a:pt x="66" y="102"/>
                    <a:pt x="66" y="102"/>
                    <a:pt x="66" y="102"/>
                  </a:cubicBezTo>
                  <a:cubicBezTo>
                    <a:pt x="66" y="77"/>
                    <a:pt x="66" y="77"/>
                    <a:pt x="66" y="77"/>
                  </a:cubicBezTo>
                  <a:cubicBezTo>
                    <a:pt x="60" y="77"/>
                    <a:pt x="60" y="77"/>
                    <a:pt x="60" y="77"/>
                  </a:cubicBezTo>
                  <a:cubicBezTo>
                    <a:pt x="60" y="102"/>
                    <a:pt x="60" y="102"/>
                    <a:pt x="60" y="102"/>
                  </a:cubicBezTo>
                  <a:cubicBezTo>
                    <a:pt x="55" y="102"/>
                    <a:pt x="55" y="102"/>
                    <a:pt x="55" y="102"/>
                  </a:cubicBezTo>
                  <a:cubicBezTo>
                    <a:pt x="55" y="77"/>
                    <a:pt x="55" y="77"/>
                    <a:pt x="55" y="77"/>
                  </a:cubicBezTo>
                  <a:cubicBezTo>
                    <a:pt x="49" y="77"/>
                    <a:pt x="49" y="77"/>
                    <a:pt x="49" y="77"/>
                  </a:cubicBezTo>
                  <a:cubicBezTo>
                    <a:pt x="49" y="102"/>
                    <a:pt x="49" y="102"/>
                    <a:pt x="49" y="102"/>
                  </a:cubicBezTo>
                  <a:cubicBezTo>
                    <a:pt x="43" y="102"/>
                    <a:pt x="43" y="102"/>
                    <a:pt x="43" y="102"/>
                  </a:cubicBezTo>
                  <a:cubicBezTo>
                    <a:pt x="43" y="77"/>
                    <a:pt x="43" y="77"/>
                    <a:pt x="43" y="77"/>
                  </a:cubicBezTo>
                  <a:cubicBezTo>
                    <a:pt x="39" y="77"/>
                    <a:pt x="39" y="77"/>
                    <a:pt x="39" y="77"/>
                  </a:cubicBezTo>
                  <a:cubicBezTo>
                    <a:pt x="39" y="72"/>
                    <a:pt x="39" y="72"/>
                    <a:pt x="39" y="72"/>
                  </a:cubicBezTo>
                  <a:cubicBezTo>
                    <a:pt x="63" y="64"/>
                    <a:pt x="63" y="64"/>
                    <a:pt x="63" y="64"/>
                  </a:cubicBezTo>
                  <a:cubicBezTo>
                    <a:pt x="87" y="72"/>
                    <a:pt x="87" y="72"/>
                    <a:pt x="87" y="72"/>
                  </a:cubicBezTo>
                  <a:lnTo>
                    <a:pt x="87" y="77"/>
                  </a:lnTo>
                  <a:close/>
                  <a:moveTo>
                    <a:pt x="99" y="98"/>
                  </a:moveTo>
                  <a:cubicBezTo>
                    <a:pt x="93" y="98"/>
                    <a:pt x="93" y="98"/>
                    <a:pt x="93" y="98"/>
                  </a:cubicBezTo>
                  <a:cubicBezTo>
                    <a:pt x="93" y="90"/>
                    <a:pt x="93" y="90"/>
                    <a:pt x="93" y="90"/>
                  </a:cubicBezTo>
                  <a:cubicBezTo>
                    <a:pt x="99" y="90"/>
                    <a:pt x="99" y="90"/>
                    <a:pt x="99" y="90"/>
                  </a:cubicBezTo>
                  <a:lnTo>
                    <a:pt x="99" y="98"/>
                  </a:lnTo>
                  <a:close/>
                  <a:moveTo>
                    <a:pt x="99" y="82"/>
                  </a:moveTo>
                  <a:cubicBezTo>
                    <a:pt x="93" y="82"/>
                    <a:pt x="93" y="82"/>
                    <a:pt x="93" y="82"/>
                  </a:cubicBezTo>
                  <a:cubicBezTo>
                    <a:pt x="93" y="74"/>
                    <a:pt x="93" y="74"/>
                    <a:pt x="93" y="74"/>
                  </a:cubicBezTo>
                  <a:cubicBezTo>
                    <a:pt x="99" y="74"/>
                    <a:pt x="99" y="74"/>
                    <a:pt x="99" y="74"/>
                  </a:cubicBezTo>
                  <a:lnTo>
                    <a:pt x="99" y="82"/>
                  </a:lnTo>
                  <a:close/>
                  <a:moveTo>
                    <a:pt x="111" y="98"/>
                  </a:moveTo>
                  <a:cubicBezTo>
                    <a:pt x="105" y="98"/>
                    <a:pt x="105" y="98"/>
                    <a:pt x="105" y="98"/>
                  </a:cubicBezTo>
                  <a:cubicBezTo>
                    <a:pt x="105" y="90"/>
                    <a:pt x="105" y="90"/>
                    <a:pt x="105" y="90"/>
                  </a:cubicBezTo>
                  <a:cubicBezTo>
                    <a:pt x="111" y="90"/>
                    <a:pt x="111" y="90"/>
                    <a:pt x="111" y="90"/>
                  </a:cubicBezTo>
                  <a:lnTo>
                    <a:pt x="111" y="98"/>
                  </a:lnTo>
                  <a:close/>
                  <a:moveTo>
                    <a:pt x="111" y="82"/>
                  </a:moveTo>
                  <a:cubicBezTo>
                    <a:pt x="105" y="82"/>
                    <a:pt x="105" y="82"/>
                    <a:pt x="105" y="82"/>
                  </a:cubicBezTo>
                  <a:cubicBezTo>
                    <a:pt x="105" y="74"/>
                    <a:pt x="105" y="74"/>
                    <a:pt x="105" y="74"/>
                  </a:cubicBezTo>
                  <a:cubicBezTo>
                    <a:pt x="111" y="74"/>
                    <a:pt x="111" y="74"/>
                    <a:pt x="111" y="74"/>
                  </a:cubicBezTo>
                  <a:lnTo>
                    <a:pt x="111" y="82"/>
                  </a:lnTo>
                  <a:close/>
                </a:path>
              </a:pathLst>
            </a:custGeom>
            <a:solidFill>
              <a:schemeClr val="bg1"/>
            </a:solidFill>
            <a:ln>
              <a:noFill/>
            </a:ln>
          </p:spPr>
          <p:txBody>
            <a:bodyPr vert="horz" wrap="square" lIns="80915" tIns="40457" rIns="80915" bIns="40457"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372" b="0" i="0" u="none" strike="noStrike" kern="0" cap="none" spc="0" normalizeH="0" baseline="0" noProof="0">
                <a:ln>
                  <a:noFill/>
                </a:ln>
                <a:solidFill>
                  <a:prstClr val="black"/>
                </a:solidFill>
                <a:effectLst/>
                <a:uLnTx/>
                <a:uFillTx/>
                <a:latin typeface="Verdana"/>
                <a:ea typeface="+mn-ea"/>
                <a:cs typeface="+mn-cs"/>
              </a:endParaRPr>
            </a:p>
          </p:txBody>
        </p:sp>
      </p:grpSp>
      <p:sp>
        <p:nvSpPr>
          <p:cNvPr id="34" name="Rectangle 33">
            <a:extLst>
              <a:ext uri="{FF2B5EF4-FFF2-40B4-BE49-F238E27FC236}">
                <a16:creationId xmlns:a16="http://schemas.microsoft.com/office/drawing/2014/main" id="{CBB50F68-2C1C-461B-A7EE-9AA5B6F28CBE}"/>
              </a:ext>
            </a:extLst>
          </p:cNvPr>
          <p:cNvSpPr/>
          <p:nvPr/>
        </p:nvSpPr>
        <p:spPr bwMode="gray">
          <a:xfrm>
            <a:off x="10308272" y="2024204"/>
            <a:ext cx="1415602" cy="1080391"/>
          </a:xfrm>
          <a:prstGeom prst="rect">
            <a:avLst/>
          </a:prstGeom>
          <a:noFill/>
          <a:ln w="19050" algn="ctr">
            <a:solidFill>
              <a:schemeClr val="tx1"/>
            </a:solidFill>
            <a:miter lim="800000"/>
            <a:headEnd/>
            <a:tailEnd/>
          </a:ln>
        </p:spPr>
        <p:txBody>
          <a:bodyPr wrap="square" lIns="88900" tIns="88900" rIns="88900" bIns="88900" rtlCol="0" anchor="ctr"/>
          <a:lstStyle/>
          <a:p>
            <a:pPr marL="92075" indent="-92075" algn="just">
              <a:lnSpc>
                <a:spcPct val="106000"/>
              </a:lnSpc>
              <a:buFont typeface="Arial" panose="020B0604020202020204" pitchFamily="34" charset="0"/>
              <a:buChar char="•"/>
            </a:pPr>
            <a:r>
              <a:rPr lang="en-US" sz="1000"/>
              <a:t>The vertical covers Oil and Gas, Power, Mining Renewal and nuclear Energy</a:t>
            </a:r>
            <a:endParaRPr lang="en-IN" sz="1000"/>
          </a:p>
        </p:txBody>
      </p:sp>
      <p:sp>
        <p:nvSpPr>
          <p:cNvPr id="35" name="Rectangle 34">
            <a:extLst>
              <a:ext uri="{FF2B5EF4-FFF2-40B4-BE49-F238E27FC236}">
                <a16:creationId xmlns:a16="http://schemas.microsoft.com/office/drawing/2014/main" id="{054ADFB6-30E8-45A9-917E-85BE324CD28F}"/>
              </a:ext>
            </a:extLst>
          </p:cNvPr>
          <p:cNvSpPr/>
          <p:nvPr/>
        </p:nvSpPr>
        <p:spPr bwMode="gray">
          <a:xfrm>
            <a:off x="742091" y="3258762"/>
            <a:ext cx="1789394" cy="1315236"/>
          </a:xfrm>
          <a:prstGeom prst="rect">
            <a:avLst/>
          </a:prstGeom>
          <a:noFill/>
          <a:ln w="19050" algn="ctr">
            <a:solidFill>
              <a:schemeClr val="tx1"/>
            </a:solidFill>
            <a:miter lim="800000"/>
            <a:headEnd/>
            <a:tailEnd/>
          </a:ln>
        </p:spPr>
        <p:txBody>
          <a:bodyPr wrap="square" lIns="88900" tIns="88900" rIns="88900" bIns="88900" rtlCol="0" anchor="ctr"/>
          <a:lstStyle/>
          <a:p>
            <a:pPr marL="92075" indent="-92075" algn="just">
              <a:lnSpc>
                <a:spcPct val="106000"/>
              </a:lnSpc>
              <a:buFont typeface="Arial" panose="020B0604020202020204" pitchFamily="34" charset="0"/>
              <a:buChar char="•"/>
            </a:pPr>
            <a:r>
              <a:rPr lang="en-US" sz="1000"/>
              <a:t>The sector includes automotive, aero-space and defense, capital goods, chemical process, metals and consumer product manufacturing</a:t>
            </a:r>
            <a:endParaRPr lang="en-IN" sz="1000"/>
          </a:p>
        </p:txBody>
      </p:sp>
      <p:sp>
        <p:nvSpPr>
          <p:cNvPr id="36" name="Rectangle 35">
            <a:extLst>
              <a:ext uri="{FF2B5EF4-FFF2-40B4-BE49-F238E27FC236}">
                <a16:creationId xmlns:a16="http://schemas.microsoft.com/office/drawing/2014/main" id="{AA3DDFAB-234D-4F46-82CE-9721834C4001}"/>
              </a:ext>
            </a:extLst>
          </p:cNvPr>
          <p:cNvSpPr/>
          <p:nvPr/>
        </p:nvSpPr>
        <p:spPr bwMode="gray">
          <a:xfrm>
            <a:off x="2731743" y="3938756"/>
            <a:ext cx="1677301" cy="1315236"/>
          </a:xfrm>
          <a:prstGeom prst="rect">
            <a:avLst/>
          </a:prstGeom>
          <a:noFill/>
          <a:ln w="19050" algn="ctr">
            <a:solidFill>
              <a:schemeClr val="tx1"/>
            </a:solidFill>
            <a:miter lim="800000"/>
            <a:headEnd/>
            <a:tailEnd/>
          </a:ln>
        </p:spPr>
        <p:txBody>
          <a:bodyPr wrap="square" lIns="88900" tIns="88900" rIns="88900" bIns="88900" rtlCol="0" anchor="ctr"/>
          <a:lstStyle/>
          <a:p>
            <a:pPr marL="92075" indent="-92075" algn="just">
              <a:lnSpc>
                <a:spcPct val="106000"/>
              </a:lnSpc>
              <a:buFont typeface="Arial" panose="020B0604020202020204" pitchFamily="34" charset="0"/>
              <a:buChar char="•"/>
            </a:pPr>
            <a:r>
              <a:rPr lang="en-US" sz="1000"/>
              <a:t>Our specialist teams provide industry specific solutions in the Consumer Products, Retail, THL and Transportation sub-sectors</a:t>
            </a:r>
            <a:endParaRPr lang="en-IN" sz="1000"/>
          </a:p>
        </p:txBody>
      </p:sp>
      <p:sp>
        <p:nvSpPr>
          <p:cNvPr id="37" name="Rectangle 36">
            <a:extLst>
              <a:ext uri="{FF2B5EF4-FFF2-40B4-BE49-F238E27FC236}">
                <a16:creationId xmlns:a16="http://schemas.microsoft.com/office/drawing/2014/main" id="{D6D3C10C-52D8-4F84-8859-632AB6D1F749}"/>
              </a:ext>
            </a:extLst>
          </p:cNvPr>
          <p:cNvSpPr/>
          <p:nvPr/>
        </p:nvSpPr>
        <p:spPr bwMode="gray">
          <a:xfrm>
            <a:off x="4644011" y="4571818"/>
            <a:ext cx="2075611" cy="1918354"/>
          </a:xfrm>
          <a:prstGeom prst="rect">
            <a:avLst/>
          </a:prstGeom>
          <a:noFill/>
          <a:ln w="19050" algn="ctr">
            <a:solidFill>
              <a:schemeClr val="tx1"/>
            </a:solidFill>
            <a:miter lim="800000"/>
            <a:headEnd/>
            <a:tailEnd/>
          </a:ln>
        </p:spPr>
        <p:txBody>
          <a:bodyPr wrap="square" lIns="88900" tIns="88900" rIns="88900" bIns="88900" rtlCol="0" anchor="ctr"/>
          <a:lstStyle/>
          <a:p>
            <a:pPr marL="92075" indent="-92075" algn="just">
              <a:lnSpc>
                <a:spcPct val="106000"/>
              </a:lnSpc>
              <a:buFont typeface="Arial" panose="020B0604020202020204" pitchFamily="34" charset="0"/>
              <a:buChar char="•"/>
            </a:pPr>
            <a:r>
              <a:rPr lang="en-US" sz="1000"/>
              <a:t>The Technology, Media &amp; Telecommunications Industry (TMT) group consists of the practices organized in the various member firms of DTTL and includes member firm partners, directors and senior managers, supported by many other professionals</a:t>
            </a:r>
            <a:endParaRPr lang="en-IN" sz="1000"/>
          </a:p>
        </p:txBody>
      </p:sp>
      <p:sp>
        <p:nvSpPr>
          <p:cNvPr id="38" name="Rectangle 37">
            <a:extLst>
              <a:ext uri="{FF2B5EF4-FFF2-40B4-BE49-F238E27FC236}">
                <a16:creationId xmlns:a16="http://schemas.microsoft.com/office/drawing/2014/main" id="{6C862500-3B61-42E0-BDBC-66FF5C02D497}"/>
              </a:ext>
            </a:extLst>
          </p:cNvPr>
          <p:cNvSpPr/>
          <p:nvPr/>
        </p:nvSpPr>
        <p:spPr bwMode="gray">
          <a:xfrm>
            <a:off x="6905308" y="4265052"/>
            <a:ext cx="1528223" cy="1315236"/>
          </a:xfrm>
          <a:prstGeom prst="rect">
            <a:avLst/>
          </a:prstGeom>
          <a:noFill/>
          <a:ln w="19050" algn="ctr">
            <a:solidFill>
              <a:schemeClr val="tx1"/>
            </a:solidFill>
            <a:miter lim="800000"/>
            <a:headEnd/>
            <a:tailEnd/>
          </a:ln>
        </p:spPr>
        <p:txBody>
          <a:bodyPr wrap="square" lIns="88900" tIns="88900" rIns="88900" bIns="88900" rtlCol="0" anchor="ctr"/>
          <a:lstStyle/>
          <a:p>
            <a:pPr marL="92075" indent="-92075" algn="just">
              <a:lnSpc>
                <a:spcPct val="106000"/>
              </a:lnSpc>
              <a:buFont typeface="Arial" panose="020B0604020202020204" pitchFamily="34" charset="0"/>
              <a:buChar char="•"/>
            </a:pPr>
            <a:r>
              <a:rPr lang="en-US" sz="1000"/>
              <a:t>The segments include banking and securities, insurance, investment management and real estate</a:t>
            </a:r>
            <a:endParaRPr lang="en-IN" sz="1000"/>
          </a:p>
        </p:txBody>
      </p:sp>
      <p:sp>
        <p:nvSpPr>
          <p:cNvPr id="39" name="Rectangle 38">
            <a:extLst>
              <a:ext uri="{FF2B5EF4-FFF2-40B4-BE49-F238E27FC236}">
                <a16:creationId xmlns:a16="http://schemas.microsoft.com/office/drawing/2014/main" id="{A6D172FB-F1D7-45BE-90CC-652D91FBB15F}"/>
              </a:ext>
            </a:extLst>
          </p:cNvPr>
          <p:cNvSpPr/>
          <p:nvPr/>
        </p:nvSpPr>
        <p:spPr bwMode="gray">
          <a:xfrm>
            <a:off x="8664926" y="3507334"/>
            <a:ext cx="1896394" cy="1640738"/>
          </a:xfrm>
          <a:prstGeom prst="rect">
            <a:avLst/>
          </a:prstGeom>
          <a:noFill/>
          <a:ln w="19050" algn="ctr">
            <a:solidFill>
              <a:schemeClr val="tx1"/>
            </a:solidFill>
            <a:miter lim="800000"/>
            <a:headEnd/>
            <a:tailEnd/>
          </a:ln>
        </p:spPr>
        <p:txBody>
          <a:bodyPr wrap="square" lIns="88900" tIns="88900" rIns="88900" bIns="88900" rtlCol="0" anchor="ctr"/>
          <a:lstStyle/>
          <a:p>
            <a:pPr marL="92075" indent="-92075" algn="just">
              <a:lnSpc>
                <a:spcPct val="106000"/>
              </a:lnSpc>
              <a:buFont typeface="Arial" panose="020B0604020202020204" pitchFamily="34" charset="0"/>
              <a:buChar char="•"/>
            </a:pPr>
            <a:r>
              <a:rPr lang="en-US" sz="1000"/>
              <a:t>Focus areas include health reforms, global markets and competitors, regulatory requirements, talent issues, healthcare transformation, reducing product costs, innovation and product value</a:t>
            </a:r>
            <a:endParaRPr lang="en-IN" sz="1000"/>
          </a:p>
        </p:txBody>
      </p:sp>
      <p:sp>
        <p:nvSpPr>
          <p:cNvPr id="40" name="Rectangle 39">
            <a:extLst>
              <a:ext uri="{FF2B5EF4-FFF2-40B4-BE49-F238E27FC236}">
                <a16:creationId xmlns:a16="http://schemas.microsoft.com/office/drawing/2014/main" id="{EC09D76B-D3F8-488B-86BF-942E6D90D0A1}"/>
              </a:ext>
            </a:extLst>
          </p:cNvPr>
          <p:cNvSpPr/>
          <p:nvPr/>
        </p:nvSpPr>
        <p:spPr bwMode="gray">
          <a:xfrm>
            <a:off x="179751" y="1251777"/>
            <a:ext cx="1824120" cy="1450105"/>
          </a:xfrm>
          <a:prstGeom prst="rect">
            <a:avLst/>
          </a:prstGeom>
          <a:noFill/>
          <a:ln w="19050" algn="ctr">
            <a:solidFill>
              <a:schemeClr val="tx1"/>
            </a:solidFill>
            <a:miter lim="800000"/>
            <a:headEnd/>
            <a:tailEnd/>
          </a:ln>
        </p:spPr>
        <p:txBody>
          <a:bodyPr wrap="square" lIns="88900" tIns="88900" rIns="88900" bIns="88900" rtlCol="0" anchor="ctr"/>
          <a:lstStyle/>
          <a:p>
            <a:pPr marL="92075" indent="-92075" algn="just">
              <a:lnSpc>
                <a:spcPct val="106000"/>
              </a:lnSpc>
              <a:buFont typeface="Arial" panose="020B0604020202020204" pitchFamily="34" charset="0"/>
              <a:buChar char="•"/>
            </a:pPr>
            <a:r>
              <a:rPr lang="en-US" sz="1000"/>
              <a:t>The Public Sector group in India team consists of industry specialists in government policies; regulations and governance; transport and infrastructure; and service delivery</a:t>
            </a:r>
            <a:endParaRPr lang="en-IN" sz="1000"/>
          </a:p>
        </p:txBody>
      </p:sp>
      <p:sp>
        <p:nvSpPr>
          <p:cNvPr id="41" name="TextBox 40">
            <a:extLst>
              <a:ext uri="{FF2B5EF4-FFF2-40B4-BE49-F238E27FC236}">
                <a16:creationId xmlns:a16="http://schemas.microsoft.com/office/drawing/2014/main" id="{AE744870-B25C-4E49-979F-454F901604EE}"/>
              </a:ext>
            </a:extLst>
          </p:cNvPr>
          <p:cNvSpPr txBox="1"/>
          <p:nvPr/>
        </p:nvSpPr>
        <p:spPr>
          <a:xfrm>
            <a:off x="326055" y="974778"/>
            <a:ext cx="1677816" cy="169277"/>
          </a:xfrm>
          <a:prstGeom prst="rect">
            <a:avLst/>
          </a:prstGeom>
          <a:noFill/>
        </p:spPr>
        <p:txBody>
          <a:bodyPr wrap="square" lIns="0" tIns="0" rIns="0" bIns="0" rtlCol="0">
            <a:spAutoFit/>
          </a:bodyPr>
          <a:lstStyle/>
          <a:p>
            <a:pPr algn="ctr">
              <a:spcBef>
                <a:spcPts val="600"/>
              </a:spcBef>
              <a:buSzPct val="100000"/>
            </a:pPr>
            <a:r>
              <a:rPr lang="en-US" sz="1100" b="1">
                <a:solidFill>
                  <a:schemeClr val="accent1">
                    <a:lumMod val="50000"/>
                  </a:schemeClr>
                </a:solidFill>
              </a:rPr>
              <a:t>Public Sector</a:t>
            </a:r>
            <a:endParaRPr lang="en-IN" sz="1100" b="1">
              <a:solidFill>
                <a:schemeClr val="accent1">
                  <a:lumMod val="50000"/>
                </a:schemeClr>
              </a:solidFill>
            </a:endParaRPr>
          </a:p>
        </p:txBody>
      </p:sp>
      <p:sp>
        <p:nvSpPr>
          <p:cNvPr id="42" name="TextBox 41">
            <a:extLst>
              <a:ext uri="{FF2B5EF4-FFF2-40B4-BE49-F238E27FC236}">
                <a16:creationId xmlns:a16="http://schemas.microsoft.com/office/drawing/2014/main" id="{32DFD225-D493-41BA-BE44-26A281DC4FF9}"/>
              </a:ext>
            </a:extLst>
          </p:cNvPr>
          <p:cNvSpPr txBox="1"/>
          <p:nvPr/>
        </p:nvSpPr>
        <p:spPr>
          <a:xfrm>
            <a:off x="8948001" y="3151887"/>
            <a:ext cx="1286163" cy="338554"/>
          </a:xfrm>
          <a:prstGeom prst="rect">
            <a:avLst/>
          </a:prstGeom>
          <a:noFill/>
        </p:spPr>
        <p:txBody>
          <a:bodyPr wrap="square" lIns="0" tIns="0" rIns="0" bIns="0" rtlCol="0">
            <a:spAutoFit/>
          </a:bodyPr>
          <a:lstStyle/>
          <a:p>
            <a:pPr algn="ctr">
              <a:spcBef>
                <a:spcPts val="600"/>
              </a:spcBef>
              <a:buSzPct val="100000"/>
            </a:pPr>
            <a:r>
              <a:rPr lang="en-US" sz="1100" b="1">
                <a:solidFill>
                  <a:srgbClr val="0070C0"/>
                </a:solidFill>
              </a:rPr>
              <a:t>Life sciences and Healthcare</a:t>
            </a:r>
            <a:endParaRPr lang="en-IN" sz="1100" b="1">
              <a:solidFill>
                <a:srgbClr val="0070C0"/>
              </a:solidFill>
            </a:endParaRPr>
          </a:p>
        </p:txBody>
      </p:sp>
      <p:sp>
        <p:nvSpPr>
          <p:cNvPr id="43" name="TextBox 42">
            <a:extLst>
              <a:ext uri="{FF2B5EF4-FFF2-40B4-BE49-F238E27FC236}">
                <a16:creationId xmlns:a16="http://schemas.microsoft.com/office/drawing/2014/main" id="{085E2D76-89C1-40DF-BBCA-FC6FFCD790AB}"/>
              </a:ext>
            </a:extLst>
          </p:cNvPr>
          <p:cNvSpPr txBox="1"/>
          <p:nvPr/>
        </p:nvSpPr>
        <p:spPr>
          <a:xfrm>
            <a:off x="6891293" y="4009590"/>
            <a:ext cx="1513184" cy="169277"/>
          </a:xfrm>
          <a:prstGeom prst="rect">
            <a:avLst/>
          </a:prstGeom>
          <a:noFill/>
        </p:spPr>
        <p:txBody>
          <a:bodyPr wrap="square" lIns="0" tIns="0" rIns="0" bIns="0" rtlCol="0">
            <a:spAutoFit/>
          </a:bodyPr>
          <a:lstStyle/>
          <a:p>
            <a:pPr algn="ctr">
              <a:spcBef>
                <a:spcPts val="600"/>
              </a:spcBef>
              <a:buSzPct val="100000"/>
            </a:pPr>
            <a:r>
              <a:rPr lang="en-US" sz="1100" b="1">
                <a:solidFill>
                  <a:srgbClr val="0097A9"/>
                </a:solidFill>
              </a:rPr>
              <a:t>Financial services</a:t>
            </a:r>
            <a:endParaRPr lang="en-IN" sz="1100" b="1">
              <a:solidFill>
                <a:srgbClr val="0097A9"/>
              </a:solidFill>
            </a:endParaRPr>
          </a:p>
        </p:txBody>
      </p:sp>
      <p:sp>
        <p:nvSpPr>
          <p:cNvPr id="44" name="TextBox 43">
            <a:extLst>
              <a:ext uri="{FF2B5EF4-FFF2-40B4-BE49-F238E27FC236}">
                <a16:creationId xmlns:a16="http://schemas.microsoft.com/office/drawing/2014/main" id="{864BC7F0-3A10-4493-98D3-723BAEBDC71A}"/>
              </a:ext>
            </a:extLst>
          </p:cNvPr>
          <p:cNvSpPr txBox="1"/>
          <p:nvPr/>
        </p:nvSpPr>
        <p:spPr>
          <a:xfrm>
            <a:off x="4666021" y="4192251"/>
            <a:ext cx="2075611" cy="338554"/>
          </a:xfrm>
          <a:prstGeom prst="rect">
            <a:avLst/>
          </a:prstGeom>
          <a:noFill/>
        </p:spPr>
        <p:txBody>
          <a:bodyPr wrap="square" lIns="0" tIns="0" rIns="0" bIns="0" rtlCol="0">
            <a:spAutoFit/>
          </a:bodyPr>
          <a:lstStyle/>
          <a:p>
            <a:pPr algn="ctr">
              <a:spcBef>
                <a:spcPts val="600"/>
              </a:spcBef>
              <a:buSzPct val="100000"/>
            </a:pPr>
            <a:r>
              <a:rPr lang="en-US" sz="1100" b="1">
                <a:solidFill>
                  <a:srgbClr val="00A3E0"/>
                </a:solidFill>
              </a:rPr>
              <a:t>Technology, Media and Telecommunications</a:t>
            </a:r>
            <a:endParaRPr lang="en-IN" sz="1100" b="1">
              <a:solidFill>
                <a:srgbClr val="00A3E0"/>
              </a:solidFill>
            </a:endParaRPr>
          </a:p>
        </p:txBody>
      </p:sp>
      <p:sp>
        <p:nvSpPr>
          <p:cNvPr id="45" name="TextBox 44">
            <a:extLst>
              <a:ext uri="{FF2B5EF4-FFF2-40B4-BE49-F238E27FC236}">
                <a16:creationId xmlns:a16="http://schemas.microsoft.com/office/drawing/2014/main" id="{ED0907A9-5593-4495-B5C1-F366390097DF}"/>
              </a:ext>
            </a:extLst>
          </p:cNvPr>
          <p:cNvSpPr txBox="1"/>
          <p:nvPr/>
        </p:nvSpPr>
        <p:spPr>
          <a:xfrm>
            <a:off x="2915294" y="3553442"/>
            <a:ext cx="1086573" cy="338554"/>
          </a:xfrm>
          <a:prstGeom prst="rect">
            <a:avLst/>
          </a:prstGeom>
          <a:noFill/>
        </p:spPr>
        <p:txBody>
          <a:bodyPr wrap="square" lIns="0" tIns="0" rIns="0" bIns="0" rtlCol="0">
            <a:spAutoFit/>
          </a:bodyPr>
          <a:lstStyle/>
          <a:p>
            <a:pPr algn="ctr">
              <a:spcBef>
                <a:spcPts val="600"/>
              </a:spcBef>
              <a:buSzPct val="100000"/>
            </a:pPr>
            <a:r>
              <a:rPr lang="en-US" sz="1100" b="1">
                <a:solidFill>
                  <a:srgbClr val="0076A8"/>
                </a:solidFill>
              </a:rPr>
              <a:t>Consumer Business</a:t>
            </a:r>
            <a:endParaRPr lang="en-IN" sz="1100" b="1">
              <a:solidFill>
                <a:srgbClr val="0076A8"/>
              </a:solidFill>
            </a:endParaRPr>
          </a:p>
        </p:txBody>
      </p:sp>
      <p:sp>
        <p:nvSpPr>
          <p:cNvPr id="46" name="TextBox 45">
            <a:extLst>
              <a:ext uri="{FF2B5EF4-FFF2-40B4-BE49-F238E27FC236}">
                <a16:creationId xmlns:a16="http://schemas.microsoft.com/office/drawing/2014/main" id="{4F4D02DC-DB70-44A0-BEDC-F9641D838B1A}"/>
              </a:ext>
            </a:extLst>
          </p:cNvPr>
          <p:cNvSpPr txBox="1"/>
          <p:nvPr/>
        </p:nvSpPr>
        <p:spPr>
          <a:xfrm>
            <a:off x="724783" y="3031786"/>
            <a:ext cx="1749993" cy="169277"/>
          </a:xfrm>
          <a:prstGeom prst="rect">
            <a:avLst/>
          </a:prstGeom>
          <a:noFill/>
        </p:spPr>
        <p:txBody>
          <a:bodyPr wrap="square" lIns="0" tIns="0" rIns="0" bIns="0" rtlCol="0">
            <a:spAutoFit/>
          </a:bodyPr>
          <a:lstStyle/>
          <a:p>
            <a:pPr algn="ctr">
              <a:spcBef>
                <a:spcPts val="600"/>
              </a:spcBef>
              <a:buSzPct val="100000"/>
            </a:pPr>
            <a:r>
              <a:rPr lang="en-US" sz="1100" b="1">
                <a:solidFill>
                  <a:srgbClr val="C4D600"/>
                </a:solidFill>
              </a:rPr>
              <a:t>Manufacturing</a:t>
            </a:r>
            <a:endParaRPr lang="en-IN" sz="1100" b="1">
              <a:solidFill>
                <a:srgbClr val="C4D600"/>
              </a:solidFill>
            </a:endParaRPr>
          </a:p>
        </p:txBody>
      </p:sp>
      <p:sp>
        <p:nvSpPr>
          <p:cNvPr id="47" name="TextBox 46">
            <a:extLst>
              <a:ext uri="{FF2B5EF4-FFF2-40B4-BE49-F238E27FC236}">
                <a16:creationId xmlns:a16="http://schemas.microsoft.com/office/drawing/2014/main" id="{E8E3093A-33C0-4E6C-911D-CB17DC0103E2}"/>
              </a:ext>
            </a:extLst>
          </p:cNvPr>
          <p:cNvSpPr txBox="1"/>
          <p:nvPr/>
        </p:nvSpPr>
        <p:spPr>
          <a:xfrm>
            <a:off x="10263688" y="1627952"/>
            <a:ext cx="1602257" cy="338554"/>
          </a:xfrm>
          <a:prstGeom prst="rect">
            <a:avLst/>
          </a:prstGeom>
          <a:noFill/>
        </p:spPr>
        <p:txBody>
          <a:bodyPr wrap="square" lIns="0" tIns="0" rIns="0" bIns="0" rtlCol="0">
            <a:spAutoFit/>
          </a:bodyPr>
          <a:lstStyle/>
          <a:p>
            <a:pPr algn="ctr">
              <a:spcBef>
                <a:spcPts val="600"/>
              </a:spcBef>
              <a:buSzPct val="100000"/>
            </a:pPr>
            <a:r>
              <a:rPr lang="en-US" sz="1100" b="1">
                <a:solidFill>
                  <a:srgbClr val="43B02A"/>
                </a:solidFill>
              </a:rPr>
              <a:t>Energy &amp; Resources (E&amp;R)</a:t>
            </a:r>
            <a:endParaRPr lang="en-IN" sz="1100" b="1">
              <a:solidFill>
                <a:srgbClr val="43B02A"/>
              </a:solidFill>
            </a:endParaRPr>
          </a:p>
        </p:txBody>
      </p:sp>
      <p:cxnSp>
        <p:nvCxnSpPr>
          <p:cNvPr id="48" name="Straight Arrow Connector 47">
            <a:extLst>
              <a:ext uri="{FF2B5EF4-FFF2-40B4-BE49-F238E27FC236}">
                <a16:creationId xmlns:a16="http://schemas.microsoft.com/office/drawing/2014/main" id="{F0F2FEEE-9BFE-4DCB-B02C-6BF03BC63E56}"/>
              </a:ext>
            </a:extLst>
          </p:cNvPr>
          <p:cNvCxnSpPr>
            <a:stCxn id="4" idx="2"/>
          </p:cNvCxnSpPr>
          <p:nvPr/>
        </p:nvCxnSpPr>
        <p:spPr>
          <a:xfrm flipH="1">
            <a:off x="2895925" y="1473959"/>
            <a:ext cx="2057946" cy="346211"/>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E86F38DB-1B17-4BE6-AE00-03122F59967A}"/>
              </a:ext>
            </a:extLst>
          </p:cNvPr>
          <p:cNvCxnSpPr>
            <a:endCxn id="12" idx="7"/>
          </p:cNvCxnSpPr>
          <p:nvPr/>
        </p:nvCxnSpPr>
        <p:spPr>
          <a:xfrm flipH="1">
            <a:off x="3432384" y="1681364"/>
            <a:ext cx="1716349" cy="86740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C5D04CEA-C096-49F1-B73B-DEBC31A20301}"/>
              </a:ext>
            </a:extLst>
          </p:cNvPr>
          <p:cNvCxnSpPr>
            <a:endCxn id="18" idx="7"/>
          </p:cNvCxnSpPr>
          <p:nvPr/>
        </p:nvCxnSpPr>
        <p:spPr>
          <a:xfrm flipH="1">
            <a:off x="4759009" y="1820170"/>
            <a:ext cx="791514" cy="1236592"/>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18DA03A5-4753-477D-9632-E7864E2D3609}"/>
              </a:ext>
            </a:extLst>
          </p:cNvPr>
          <p:cNvCxnSpPr>
            <a:stCxn id="4" idx="4"/>
            <a:endCxn id="21" idx="0"/>
          </p:cNvCxnSpPr>
          <p:nvPr/>
        </p:nvCxnSpPr>
        <p:spPr>
          <a:xfrm flipH="1">
            <a:off x="5846264" y="1828522"/>
            <a:ext cx="152636" cy="1396754"/>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34645B9F-B1C7-443A-BF5B-DD9017856684}"/>
              </a:ext>
            </a:extLst>
          </p:cNvPr>
          <p:cNvCxnSpPr/>
          <p:nvPr/>
        </p:nvCxnSpPr>
        <p:spPr>
          <a:xfrm>
            <a:off x="6502594" y="1803729"/>
            <a:ext cx="619206" cy="1192843"/>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F8B5AE9-2D89-4D2D-A90C-EA348F3B07BF}"/>
              </a:ext>
            </a:extLst>
          </p:cNvPr>
          <p:cNvCxnSpPr>
            <a:endCxn id="29" idx="1"/>
          </p:cNvCxnSpPr>
          <p:nvPr/>
        </p:nvCxnSpPr>
        <p:spPr>
          <a:xfrm>
            <a:off x="6934000" y="1647064"/>
            <a:ext cx="1425558" cy="90170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159FCAAA-B8F2-46F5-823A-3F957DF8FF1D}"/>
              </a:ext>
            </a:extLst>
          </p:cNvPr>
          <p:cNvCxnSpPr>
            <a:stCxn id="4" idx="6"/>
          </p:cNvCxnSpPr>
          <p:nvPr/>
        </p:nvCxnSpPr>
        <p:spPr>
          <a:xfrm>
            <a:off x="7043928" y="1473959"/>
            <a:ext cx="2120012" cy="250714"/>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B6262F0D-7637-4906-54BA-9AB6F1910EA8}"/>
              </a:ext>
            </a:extLst>
          </p:cNvPr>
          <p:cNvSpPr/>
          <p:nvPr/>
        </p:nvSpPr>
        <p:spPr bwMode="gray">
          <a:xfrm>
            <a:off x="333466" y="121358"/>
            <a:ext cx="11811080" cy="370522"/>
          </a:xfrm>
          <a:prstGeom prst="rect">
            <a:avLst/>
          </a:prstGeom>
          <a:noFill/>
          <a:ln w="19050" algn="ctr">
            <a:noFill/>
            <a:miter lim="800000"/>
            <a:headEnd/>
            <a:tailEnd/>
          </a:ln>
        </p:spPr>
        <p:txBody>
          <a:bodyPr wrap="square" lIns="88900" tIns="88900" rIns="88900" bIns="88900" rtlCol="0" anchor="ctr"/>
          <a:lstStyle/>
          <a:p>
            <a:r>
              <a:rPr lang="en-US" sz="1800" b="1">
                <a:latin typeface="+mj-lt"/>
              </a:rPr>
              <a:t>Information on the consultant’s core business and years in business</a:t>
            </a:r>
          </a:p>
        </p:txBody>
      </p:sp>
      <p:cxnSp>
        <p:nvCxnSpPr>
          <p:cNvPr id="3" name="Straight Arrow Connector 2">
            <a:extLst>
              <a:ext uri="{FF2B5EF4-FFF2-40B4-BE49-F238E27FC236}">
                <a16:creationId xmlns:a16="http://schemas.microsoft.com/office/drawing/2014/main" id="{ABD4FEDA-A19E-6D74-3E16-814E0DE8A549}"/>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8855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F9317EB7-C56C-4EE9-96CE-301C1BF949DF}"/>
              </a:ext>
            </a:extLst>
          </p:cNvPr>
          <p:cNvGrpSpPr/>
          <p:nvPr/>
        </p:nvGrpSpPr>
        <p:grpSpPr>
          <a:xfrm>
            <a:off x="1465459" y="1485785"/>
            <a:ext cx="9490454" cy="4409881"/>
            <a:chOff x="1420875" y="1779579"/>
            <a:chExt cx="9119110" cy="4237331"/>
          </a:xfrm>
        </p:grpSpPr>
        <p:sp>
          <p:nvSpPr>
            <p:cNvPr id="56" name="Freeform 1">
              <a:extLst>
                <a:ext uri="{FF2B5EF4-FFF2-40B4-BE49-F238E27FC236}">
                  <a16:creationId xmlns:a16="http://schemas.microsoft.com/office/drawing/2014/main" id="{6ABDEBE4-F300-4B56-BAF0-F0FAC0E98B7A}"/>
                </a:ext>
              </a:extLst>
            </p:cNvPr>
            <p:cNvSpPr/>
            <p:nvPr/>
          </p:nvSpPr>
          <p:spPr bwMode="gray">
            <a:xfrm>
              <a:off x="1838960" y="2631440"/>
              <a:ext cx="5842000" cy="3200400"/>
            </a:xfrm>
            <a:custGeom>
              <a:avLst/>
              <a:gdLst>
                <a:gd name="connsiteX0" fmla="*/ 0 w 5842000"/>
                <a:gd name="connsiteY0" fmla="*/ 3200400 h 3200400"/>
                <a:gd name="connsiteX1" fmla="*/ 457200 w 5842000"/>
                <a:gd name="connsiteY1" fmla="*/ 2291080 h 3200400"/>
                <a:gd name="connsiteX2" fmla="*/ 1300480 w 5842000"/>
                <a:gd name="connsiteY2" fmla="*/ 1884680 h 3200400"/>
                <a:gd name="connsiteX3" fmla="*/ 2021840 w 5842000"/>
                <a:gd name="connsiteY3" fmla="*/ 1259840 h 3200400"/>
                <a:gd name="connsiteX4" fmla="*/ 3114040 w 5842000"/>
                <a:gd name="connsiteY4" fmla="*/ 1158240 h 3200400"/>
                <a:gd name="connsiteX5" fmla="*/ 3901440 w 5842000"/>
                <a:gd name="connsiteY5" fmla="*/ 878840 h 3200400"/>
                <a:gd name="connsiteX6" fmla="*/ 4353560 w 5842000"/>
                <a:gd name="connsiteY6" fmla="*/ 284480 h 3200400"/>
                <a:gd name="connsiteX7" fmla="*/ 5842000 w 5842000"/>
                <a:gd name="connsiteY7" fmla="*/ 0 h 3200400"/>
                <a:gd name="connsiteX8" fmla="*/ 5684520 w 5842000"/>
                <a:gd name="connsiteY8" fmla="*/ 81280 h 3200400"/>
                <a:gd name="connsiteX9" fmla="*/ 5633720 w 5842000"/>
                <a:gd name="connsiteY9" fmla="*/ 116840 h 3200400"/>
                <a:gd name="connsiteX10" fmla="*/ 5598160 w 5842000"/>
                <a:gd name="connsiteY10" fmla="*/ 132080 h 3200400"/>
                <a:gd name="connsiteX11" fmla="*/ 5537200 w 5842000"/>
                <a:gd name="connsiteY11" fmla="*/ 157480 h 3200400"/>
                <a:gd name="connsiteX12" fmla="*/ 5430520 w 5842000"/>
                <a:gd name="connsiteY12" fmla="*/ 213360 h 3200400"/>
                <a:gd name="connsiteX13" fmla="*/ 5293360 w 5842000"/>
                <a:gd name="connsiteY13" fmla="*/ 279400 h 3200400"/>
                <a:gd name="connsiteX14" fmla="*/ 5171440 w 5842000"/>
                <a:gd name="connsiteY14" fmla="*/ 320040 h 3200400"/>
                <a:gd name="connsiteX15" fmla="*/ 4892040 w 5842000"/>
                <a:gd name="connsiteY15" fmla="*/ 472440 h 3200400"/>
                <a:gd name="connsiteX16" fmla="*/ 4699000 w 5842000"/>
                <a:gd name="connsiteY16" fmla="*/ 594360 h 3200400"/>
                <a:gd name="connsiteX17" fmla="*/ 4648200 w 5842000"/>
                <a:gd name="connsiteY17" fmla="*/ 614680 h 3200400"/>
                <a:gd name="connsiteX18" fmla="*/ 4607560 w 5842000"/>
                <a:gd name="connsiteY18" fmla="*/ 635000 h 3200400"/>
                <a:gd name="connsiteX19" fmla="*/ 4582160 w 5842000"/>
                <a:gd name="connsiteY19" fmla="*/ 645160 h 3200400"/>
                <a:gd name="connsiteX20" fmla="*/ 4551680 w 5842000"/>
                <a:gd name="connsiteY20" fmla="*/ 665480 h 3200400"/>
                <a:gd name="connsiteX21" fmla="*/ 4531360 w 5842000"/>
                <a:gd name="connsiteY21" fmla="*/ 675640 h 3200400"/>
                <a:gd name="connsiteX22" fmla="*/ 4500880 w 5842000"/>
                <a:gd name="connsiteY22" fmla="*/ 695960 h 320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842000" h="3200400">
                  <a:moveTo>
                    <a:pt x="0" y="3200400"/>
                  </a:moveTo>
                  <a:lnTo>
                    <a:pt x="457200" y="2291080"/>
                  </a:lnTo>
                  <a:lnTo>
                    <a:pt x="1300480" y="1884680"/>
                  </a:lnTo>
                  <a:lnTo>
                    <a:pt x="2021840" y="1259840"/>
                  </a:lnTo>
                  <a:lnTo>
                    <a:pt x="3114040" y="1158240"/>
                  </a:lnTo>
                  <a:lnTo>
                    <a:pt x="3901440" y="878840"/>
                  </a:lnTo>
                  <a:lnTo>
                    <a:pt x="4353560" y="284480"/>
                  </a:lnTo>
                  <a:lnTo>
                    <a:pt x="5842000" y="0"/>
                  </a:lnTo>
                  <a:lnTo>
                    <a:pt x="5684520" y="81280"/>
                  </a:lnTo>
                  <a:cubicBezTo>
                    <a:pt x="5667587" y="93133"/>
                    <a:pt x="5653329" y="110304"/>
                    <a:pt x="5633720" y="116840"/>
                  </a:cubicBezTo>
                  <a:cubicBezTo>
                    <a:pt x="5558031" y="142070"/>
                    <a:pt x="5698598" y="94416"/>
                    <a:pt x="5598160" y="132080"/>
                  </a:cubicBezTo>
                  <a:cubicBezTo>
                    <a:pt x="5534997" y="155766"/>
                    <a:pt x="5645150" y="101644"/>
                    <a:pt x="5537200" y="157480"/>
                  </a:cubicBezTo>
                  <a:lnTo>
                    <a:pt x="5430520" y="213360"/>
                  </a:lnTo>
                  <a:cubicBezTo>
                    <a:pt x="5374919" y="243146"/>
                    <a:pt x="5374213" y="252449"/>
                    <a:pt x="5293360" y="279400"/>
                  </a:cubicBezTo>
                  <a:cubicBezTo>
                    <a:pt x="5252720" y="292947"/>
                    <a:pt x="5210259" y="301924"/>
                    <a:pt x="5171440" y="320040"/>
                  </a:cubicBezTo>
                  <a:cubicBezTo>
                    <a:pt x="5066015" y="369238"/>
                    <a:pt x="5003643" y="395713"/>
                    <a:pt x="4892040" y="472440"/>
                  </a:cubicBezTo>
                  <a:cubicBezTo>
                    <a:pt x="4845773" y="504249"/>
                    <a:pt x="4746058" y="575537"/>
                    <a:pt x="4699000" y="594360"/>
                  </a:cubicBezTo>
                  <a:cubicBezTo>
                    <a:pt x="4682067" y="601133"/>
                    <a:pt x="4664866" y="607273"/>
                    <a:pt x="4648200" y="614680"/>
                  </a:cubicBezTo>
                  <a:cubicBezTo>
                    <a:pt x="4634360" y="620831"/>
                    <a:pt x="4621312" y="628653"/>
                    <a:pt x="4607560" y="635000"/>
                  </a:cubicBezTo>
                  <a:cubicBezTo>
                    <a:pt x="4599280" y="638821"/>
                    <a:pt x="4590165" y="640793"/>
                    <a:pt x="4582160" y="645160"/>
                  </a:cubicBezTo>
                  <a:cubicBezTo>
                    <a:pt x="4571440" y="651007"/>
                    <a:pt x="4562151" y="659198"/>
                    <a:pt x="4551680" y="665480"/>
                  </a:cubicBezTo>
                  <a:cubicBezTo>
                    <a:pt x="4545186" y="669376"/>
                    <a:pt x="4537854" y="671744"/>
                    <a:pt x="4531360" y="675640"/>
                  </a:cubicBezTo>
                  <a:cubicBezTo>
                    <a:pt x="4520889" y="681922"/>
                    <a:pt x="4500880" y="695960"/>
                    <a:pt x="4500880" y="695960"/>
                  </a:cubicBezTo>
                </a:path>
              </a:pathLst>
            </a:custGeom>
            <a:noFill/>
            <a:ln w="19050" algn="ctr">
              <a:noFill/>
              <a:miter lim="800000"/>
              <a:headEnd/>
              <a:tailEnd/>
            </a:ln>
          </p:spPr>
          <p:txBody>
            <a:bodyPr rtlCol="0" anchor="ctr"/>
            <a:lstStyle/>
            <a:p>
              <a:pPr algn="ctr"/>
              <a:endParaRPr lang="en-IN"/>
            </a:p>
          </p:txBody>
        </p:sp>
        <p:sp>
          <p:nvSpPr>
            <p:cNvPr id="57" name="Freeform 2">
              <a:extLst>
                <a:ext uri="{FF2B5EF4-FFF2-40B4-BE49-F238E27FC236}">
                  <a16:creationId xmlns:a16="http://schemas.microsoft.com/office/drawing/2014/main" id="{D3FAB128-A74C-4C46-AFFA-8885A3220C74}"/>
                </a:ext>
              </a:extLst>
            </p:cNvPr>
            <p:cNvSpPr/>
            <p:nvPr/>
          </p:nvSpPr>
          <p:spPr bwMode="gray">
            <a:xfrm>
              <a:off x="1828800" y="2151888"/>
              <a:ext cx="7699248" cy="3694176"/>
            </a:xfrm>
            <a:custGeom>
              <a:avLst/>
              <a:gdLst>
                <a:gd name="connsiteX0" fmla="*/ 0 w 7699248"/>
                <a:gd name="connsiteY0" fmla="*/ 3694176 h 3694176"/>
                <a:gd name="connsiteX1" fmla="*/ 457200 w 7699248"/>
                <a:gd name="connsiteY1" fmla="*/ 2810256 h 3694176"/>
                <a:gd name="connsiteX2" fmla="*/ 1304544 w 7699248"/>
                <a:gd name="connsiteY2" fmla="*/ 2365248 h 3694176"/>
                <a:gd name="connsiteX3" fmla="*/ 2029968 w 7699248"/>
                <a:gd name="connsiteY3" fmla="*/ 1737360 h 3694176"/>
                <a:gd name="connsiteX4" fmla="*/ 3127248 w 7699248"/>
                <a:gd name="connsiteY4" fmla="*/ 1639824 h 3694176"/>
                <a:gd name="connsiteX5" fmla="*/ 3919728 w 7699248"/>
                <a:gd name="connsiteY5" fmla="*/ 1353312 h 3694176"/>
                <a:gd name="connsiteX6" fmla="*/ 4358640 w 7699248"/>
                <a:gd name="connsiteY6" fmla="*/ 749808 h 3694176"/>
                <a:gd name="connsiteX7" fmla="*/ 5852160 w 7699248"/>
                <a:gd name="connsiteY7" fmla="*/ 475488 h 3694176"/>
                <a:gd name="connsiteX8" fmla="*/ 6504432 w 7699248"/>
                <a:gd name="connsiteY8" fmla="*/ 121920 h 3694176"/>
                <a:gd name="connsiteX9" fmla="*/ 7699248 w 7699248"/>
                <a:gd name="connsiteY9" fmla="*/ 0 h 3694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99248" h="3694176">
                  <a:moveTo>
                    <a:pt x="0" y="3694176"/>
                  </a:moveTo>
                  <a:lnTo>
                    <a:pt x="457200" y="2810256"/>
                  </a:lnTo>
                  <a:lnTo>
                    <a:pt x="1304544" y="2365248"/>
                  </a:lnTo>
                  <a:lnTo>
                    <a:pt x="2029968" y="1737360"/>
                  </a:lnTo>
                  <a:lnTo>
                    <a:pt x="3127248" y="1639824"/>
                  </a:lnTo>
                  <a:lnTo>
                    <a:pt x="3919728" y="1353312"/>
                  </a:lnTo>
                  <a:lnTo>
                    <a:pt x="4358640" y="749808"/>
                  </a:lnTo>
                  <a:lnTo>
                    <a:pt x="5852160" y="475488"/>
                  </a:lnTo>
                  <a:lnTo>
                    <a:pt x="6504432" y="121920"/>
                  </a:lnTo>
                  <a:lnTo>
                    <a:pt x="7699248" y="0"/>
                  </a:lnTo>
                </a:path>
              </a:pathLst>
            </a:custGeom>
            <a:noFill/>
            <a:ln w="28575" algn="ctr">
              <a:solidFill>
                <a:srgbClr val="0076A8"/>
              </a:solidFill>
              <a:miter lim="800000"/>
              <a:headEnd/>
              <a:tailEnd/>
            </a:ln>
          </p:spPr>
          <p:txBody>
            <a:bodyPr rtlCol="0" anchor="ctr"/>
            <a:lstStyle/>
            <a:p>
              <a:pPr algn="ctr"/>
              <a:endParaRPr lang="en-IN"/>
            </a:p>
          </p:txBody>
        </p:sp>
        <p:sp>
          <p:nvSpPr>
            <p:cNvPr id="58" name="5-Point Star 3">
              <a:extLst>
                <a:ext uri="{FF2B5EF4-FFF2-40B4-BE49-F238E27FC236}">
                  <a16:creationId xmlns:a16="http://schemas.microsoft.com/office/drawing/2014/main" id="{783A4D9F-8D06-484D-85BF-65CF38887B0B}"/>
                </a:ext>
              </a:extLst>
            </p:cNvPr>
            <p:cNvSpPr/>
            <p:nvPr/>
          </p:nvSpPr>
          <p:spPr bwMode="gray">
            <a:xfrm>
              <a:off x="9427464" y="2051304"/>
              <a:ext cx="201168" cy="201168"/>
            </a:xfrm>
            <a:prstGeom prst="star5">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sp>
          <p:nvSpPr>
            <p:cNvPr id="59" name="5-Point Star 63">
              <a:extLst>
                <a:ext uri="{FF2B5EF4-FFF2-40B4-BE49-F238E27FC236}">
                  <a16:creationId xmlns:a16="http://schemas.microsoft.com/office/drawing/2014/main" id="{92E268CD-5962-47DE-8FFA-8B3E28AD883D}"/>
                </a:ext>
              </a:extLst>
            </p:cNvPr>
            <p:cNvSpPr/>
            <p:nvPr/>
          </p:nvSpPr>
          <p:spPr bwMode="gray">
            <a:xfrm>
              <a:off x="8265215" y="2151888"/>
              <a:ext cx="201168" cy="201168"/>
            </a:xfrm>
            <a:prstGeom prst="star5">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sp>
          <p:nvSpPr>
            <p:cNvPr id="60" name="5-Point Star 64">
              <a:extLst>
                <a:ext uri="{FF2B5EF4-FFF2-40B4-BE49-F238E27FC236}">
                  <a16:creationId xmlns:a16="http://schemas.microsoft.com/office/drawing/2014/main" id="{56BC0C74-172A-434C-AD2E-C15B4CDE56F0}"/>
                </a:ext>
              </a:extLst>
            </p:cNvPr>
            <p:cNvSpPr/>
            <p:nvPr/>
          </p:nvSpPr>
          <p:spPr bwMode="gray">
            <a:xfrm>
              <a:off x="7580376" y="2530856"/>
              <a:ext cx="201168" cy="201168"/>
            </a:xfrm>
            <a:prstGeom prst="star5">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sp>
          <p:nvSpPr>
            <p:cNvPr id="61" name="5-Point Star 65">
              <a:extLst>
                <a:ext uri="{FF2B5EF4-FFF2-40B4-BE49-F238E27FC236}">
                  <a16:creationId xmlns:a16="http://schemas.microsoft.com/office/drawing/2014/main" id="{7C8B9328-7D26-47F6-B870-227F6863173F}"/>
                </a:ext>
              </a:extLst>
            </p:cNvPr>
            <p:cNvSpPr/>
            <p:nvPr/>
          </p:nvSpPr>
          <p:spPr bwMode="gray">
            <a:xfrm>
              <a:off x="6574536" y="2701544"/>
              <a:ext cx="201168" cy="201168"/>
            </a:xfrm>
            <a:prstGeom prst="star5">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sp>
          <p:nvSpPr>
            <p:cNvPr id="62" name="5-Point Star 66">
              <a:extLst>
                <a:ext uri="{FF2B5EF4-FFF2-40B4-BE49-F238E27FC236}">
                  <a16:creationId xmlns:a16="http://schemas.microsoft.com/office/drawing/2014/main" id="{1338B130-DCCF-4FEA-B720-E02D7C5289A8}"/>
                </a:ext>
              </a:extLst>
            </p:cNvPr>
            <p:cNvSpPr/>
            <p:nvPr/>
          </p:nvSpPr>
          <p:spPr bwMode="gray">
            <a:xfrm>
              <a:off x="5944334" y="3012440"/>
              <a:ext cx="201168" cy="201168"/>
            </a:xfrm>
            <a:prstGeom prst="star5">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sp>
          <p:nvSpPr>
            <p:cNvPr id="63" name="5-Point Star 68">
              <a:extLst>
                <a:ext uri="{FF2B5EF4-FFF2-40B4-BE49-F238E27FC236}">
                  <a16:creationId xmlns:a16="http://schemas.microsoft.com/office/drawing/2014/main" id="{59474062-BF83-49BE-86E6-DA374265EAD9}"/>
                </a:ext>
              </a:extLst>
            </p:cNvPr>
            <p:cNvSpPr/>
            <p:nvPr/>
          </p:nvSpPr>
          <p:spPr bwMode="gray">
            <a:xfrm>
              <a:off x="5334734" y="3490983"/>
              <a:ext cx="201168" cy="201168"/>
            </a:xfrm>
            <a:prstGeom prst="star5">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sp>
          <p:nvSpPr>
            <p:cNvPr id="64" name="5-Point Star 70">
              <a:extLst>
                <a:ext uri="{FF2B5EF4-FFF2-40B4-BE49-F238E27FC236}">
                  <a16:creationId xmlns:a16="http://schemas.microsoft.com/office/drawing/2014/main" id="{0DBBF51E-E5D9-4958-81D5-D69CFF6ECD74}"/>
                </a:ext>
              </a:extLst>
            </p:cNvPr>
            <p:cNvSpPr/>
            <p:nvPr/>
          </p:nvSpPr>
          <p:spPr bwMode="gray">
            <a:xfrm>
              <a:off x="3615662" y="3898392"/>
              <a:ext cx="201168" cy="201168"/>
            </a:xfrm>
            <a:prstGeom prst="star5">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sp>
          <p:nvSpPr>
            <p:cNvPr id="65" name="5-Point Star 72">
              <a:extLst>
                <a:ext uri="{FF2B5EF4-FFF2-40B4-BE49-F238E27FC236}">
                  <a16:creationId xmlns:a16="http://schemas.microsoft.com/office/drawing/2014/main" id="{E1E0AE59-E9F0-4236-8CBB-56759F77E1FA}"/>
                </a:ext>
              </a:extLst>
            </p:cNvPr>
            <p:cNvSpPr/>
            <p:nvPr/>
          </p:nvSpPr>
          <p:spPr bwMode="gray">
            <a:xfrm>
              <a:off x="3048734" y="4392168"/>
              <a:ext cx="201168" cy="201168"/>
            </a:xfrm>
            <a:prstGeom prst="star5">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sp>
          <p:nvSpPr>
            <p:cNvPr id="66" name="5-Point Star 74">
              <a:extLst>
                <a:ext uri="{FF2B5EF4-FFF2-40B4-BE49-F238E27FC236}">
                  <a16:creationId xmlns:a16="http://schemas.microsoft.com/office/drawing/2014/main" id="{46183CCC-8FEB-4D56-B021-90025FE651C0}"/>
                </a:ext>
              </a:extLst>
            </p:cNvPr>
            <p:cNvSpPr/>
            <p:nvPr/>
          </p:nvSpPr>
          <p:spPr bwMode="gray">
            <a:xfrm>
              <a:off x="2231870" y="4843272"/>
              <a:ext cx="201168" cy="201168"/>
            </a:xfrm>
            <a:prstGeom prst="star5">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sp>
          <p:nvSpPr>
            <p:cNvPr id="67" name="5-Point Star 75">
              <a:extLst>
                <a:ext uri="{FF2B5EF4-FFF2-40B4-BE49-F238E27FC236}">
                  <a16:creationId xmlns:a16="http://schemas.microsoft.com/office/drawing/2014/main" id="{ADEBC23D-2702-47C5-B8AC-7B1A4AE5CFEA}"/>
                </a:ext>
              </a:extLst>
            </p:cNvPr>
            <p:cNvSpPr/>
            <p:nvPr/>
          </p:nvSpPr>
          <p:spPr bwMode="gray">
            <a:xfrm>
              <a:off x="1969742" y="5251704"/>
              <a:ext cx="201168" cy="201168"/>
            </a:xfrm>
            <a:prstGeom prst="star5">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sp>
          <p:nvSpPr>
            <p:cNvPr id="68" name="5-Point Star 76">
              <a:extLst>
                <a:ext uri="{FF2B5EF4-FFF2-40B4-BE49-F238E27FC236}">
                  <a16:creationId xmlns:a16="http://schemas.microsoft.com/office/drawing/2014/main" id="{DC94C0CA-2A04-4A99-8687-D24C2D686EF1}"/>
                </a:ext>
              </a:extLst>
            </p:cNvPr>
            <p:cNvSpPr/>
            <p:nvPr/>
          </p:nvSpPr>
          <p:spPr bwMode="gray">
            <a:xfrm>
              <a:off x="1738376" y="5731256"/>
              <a:ext cx="201168" cy="201168"/>
            </a:xfrm>
            <a:prstGeom prst="star5">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sp>
          <p:nvSpPr>
            <p:cNvPr id="69" name="TextBox 68">
              <a:extLst>
                <a:ext uri="{FF2B5EF4-FFF2-40B4-BE49-F238E27FC236}">
                  <a16:creationId xmlns:a16="http://schemas.microsoft.com/office/drawing/2014/main" id="{7D5C8ED7-DD45-40D1-9568-4129A67008EA}"/>
                </a:ext>
              </a:extLst>
            </p:cNvPr>
            <p:cNvSpPr txBox="1"/>
            <p:nvPr/>
          </p:nvSpPr>
          <p:spPr>
            <a:xfrm>
              <a:off x="2029968" y="5577316"/>
              <a:ext cx="1767106" cy="369332"/>
            </a:xfrm>
            <a:prstGeom prst="rect">
              <a:avLst/>
            </a:prstGeom>
            <a:noFill/>
          </p:spPr>
          <p:txBody>
            <a:bodyPr wrap="square" lIns="0" tIns="0" rIns="0" bIns="0" rtlCol="0">
              <a:spAutoFit/>
            </a:bodyPr>
            <a:lstStyle/>
            <a:p>
              <a:pPr>
                <a:spcBef>
                  <a:spcPts val="600"/>
                </a:spcBef>
                <a:buSzPct val="100000"/>
              </a:pPr>
              <a:r>
                <a:rPr lang="en-US" sz="1200" b="1">
                  <a:solidFill>
                    <a:srgbClr val="0070C0"/>
                  </a:solidFill>
                </a:rPr>
                <a:t>1893</a:t>
              </a:r>
            </a:p>
            <a:p>
              <a:pPr marL="171450" indent="-171450">
                <a:buSzPct val="100000"/>
                <a:buFont typeface="Arial" panose="020B0604020202020204" pitchFamily="34" charset="0"/>
                <a:buChar char="•"/>
              </a:pPr>
              <a:r>
                <a:rPr lang="en-US" sz="1200">
                  <a:solidFill>
                    <a:srgbClr val="313131"/>
                  </a:solidFill>
                </a:rPr>
                <a:t>AFF formed</a:t>
              </a:r>
              <a:endParaRPr lang="en-IN" sz="1200">
                <a:solidFill>
                  <a:srgbClr val="313131"/>
                </a:solidFill>
              </a:endParaRPr>
            </a:p>
          </p:txBody>
        </p:sp>
        <p:sp>
          <p:nvSpPr>
            <p:cNvPr id="70" name="TextBox 69">
              <a:extLst>
                <a:ext uri="{FF2B5EF4-FFF2-40B4-BE49-F238E27FC236}">
                  <a16:creationId xmlns:a16="http://schemas.microsoft.com/office/drawing/2014/main" id="{D6029A20-3560-4669-A01E-2FD81EDCBCC9}"/>
                </a:ext>
              </a:extLst>
            </p:cNvPr>
            <p:cNvSpPr txBox="1"/>
            <p:nvPr/>
          </p:nvSpPr>
          <p:spPr>
            <a:xfrm>
              <a:off x="2445880" y="5268206"/>
              <a:ext cx="1767106" cy="369332"/>
            </a:xfrm>
            <a:prstGeom prst="rect">
              <a:avLst/>
            </a:prstGeom>
            <a:noFill/>
          </p:spPr>
          <p:txBody>
            <a:bodyPr wrap="square" lIns="0" tIns="0" rIns="0" bIns="0" rtlCol="0">
              <a:spAutoFit/>
            </a:bodyPr>
            <a:lstStyle/>
            <a:p>
              <a:pPr>
                <a:spcBef>
                  <a:spcPts val="600"/>
                </a:spcBef>
                <a:buSzPct val="100000"/>
              </a:pPr>
              <a:r>
                <a:rPr lang="en-US" sz="1200" b="1">
                  <a:solidFill>
                    <a:srgbClr val="0070C0"/>
                  </a:solidFill>
                </a:rPr>
                <a:t>1902</a:t>
              </a:r>
            </a:p>
            <a:p>
              <a:pPr marL="171450" indent="-171450">
                <a:buSzPct val="100000"/>
                <a:buFont typeface="Arial" panose="020B0604020202020204" pitchFamily="34" charset="0"/>
                <a:buChar char="•"/>
              </a:pPr>
              <a:r>
                <a:rPr lang="en-US" sz="1200">
                  <a:solidFill>
                    <a:srgbClr val="313131"/>
                  </a:solidFill>
                </a:rPr>
                <a:t>SBB formed</a:t>
              </a:r>
              <a:endParaRPr lang="en-IN" sz="1200">
                <a:solidFill>
                  <a:srgbClr val="313131"/>
                </a:solidFill>
              </a:endParaRPr>
            </a:p>
          </p:txBody>
        </p:sp>
        <p:sp>
          <p:nvSpPr>
            <p:cNvPr id="71" name="TextBox 70">
              <a:extLst>
                <a:ext uri="{FF2B5EF4-FFF2-40B4-BE49-F238E27FC236}">
                  <a16:creationId xmlns:a16="http://schemas.microsoft.com/office/drawing/2014/main" id="{DBD038FC-DED9-4D3C-9E68-63F6CB86C117}"/>
                </a:ext>
              </a:extLst>
            </p:cNvPr>
            <p:cNvSpPr txBox="1"/>
            <p:nvPr/>
          </p:nvSpPr>
          <p:spPr>
            <a:xfrm>
              <a:off x="2634940" y="4789392"/>
              <a:ext cx="1767106" cy="369332"/>
            </a:xfrm>
            <a:prstGeom prst="rect">
              <a:avLst/>
            </a:prstGeom>
            <a:noFill/>
          </p:spPr>
          <p:txBody>
            <a:bodyPr wrap="square" lIns="0" tIns="0" rIns="0" bIns="0" rtlCol="0">
              <a:spAutoFit/>
            </a:bodyPr>
            <a:lstStyle/>
            <a:p>
              <a:pPr>
                <a:spcBef>
                  <a:spcPts val="600"/>
                </a:spcBef>
                <a:buSzPct val="100000"/>
              </a:pPr>
              <a:r>
                <a:rPr lang="en-US" sz="1200" b="1">
                  <a:solidFill>
                    <a:srgbClr val="0070C0"/>
                  </a:solidFill>
                </a:rPr>
                <a:t>1907</a:t>
              </a:r>
            </a:p>
            <a:p>
              <a:pPr marL="171450" indent="-171450">
                <a:buSzPct val="100000"/>
                <a:buFont typeface="Arial" panose="020B0604020202020204" pitchFamily="34" charset="0"/>
                <a:buChar char="•"/>
              </a:pPr>
              <a:r>
                <a:rPr lang="en-US" sz="1200">
                  <a:solidFill>
                    <a:srgbClr val="313131"/>
                  </a:solidFill>
                </a:rPr>
                <a:t>F&amp;R formed</a:t>
              </a:r>
              <a:endParaRPr lang="en-IN" sz="1200">
                <a:solidFill>
                  <a:srgbClr val="313131"/>
                </a:solidFill>
              </a:endParaRPr>
            </a:p>
          </p:txBody>
        </p:sp>
        <p:sp>
          <p:nvSpPr>
            <p:cNvPr id="72" name="TextBox 71">
              <a:extLst>
                <a:ext uri="{FF2B5EF4-FFF2-40B4-BE49-F238E27FC236}">
                  <a16:creationId xmlns:a16="http://schemas.microsoft.com/office/drawing/2014/main" id="{9B1C5B3B-B51A-48FD-982E-885452DD96D9}"/>
                </a:ext>
              </a:extLst>
            </p:cNvPr>
            <p:cNvSpPr txBox="1"/>
            <p:nvPr/>
          </p:nvSpPr>
          <p:spPr>
            <a:xfrm>
              <a:off x="3341060" y="4405836"/>
              <a:ext cx="1767106" cy="369332"/>
            </a:xfrm>
            <a:prstGeom prst="rect">
              <a:avLst/>
            </a:prstGeom>
            <a:noFill/>
          </p:spPr>
          <p:txBody>
            <a:bodyPr wrap="square" lIns="0" tIns="0" rIns="0" bIns="0" rtlCol="0">
              <a:spAutoFit/>
            </a:bodyPr>
            <a:lstStyle/>
            <a:p>
              <a:pPr>
                <a:spcBef>
                  <a:spcPts val="600"/>
                </a:spcBef>
                <a:buSzPct val="100000"/>
              </a:pPr>
              <a:r>
                <a:rPr lang="en-US" sz="1200" b="1">
                  <a:solidFill>
                    <a:srgbClr val="0070C0"/>
                  </a:solidFill>
                </a:rPr>
                <a:t>1928</a:t>
              </a:r>
            </a:p>
            <a:p>
              <a:pPr marL="171450" indent="-171450">
                <a:buSzPct val="100000"/>
                <a:buFont typeface="Arial" panose="020B0604020202020204" pitchFamily="34" charset="0"/>
                <a:buChar char="•"/>
              </a:pPr>
              <a:r>
                <a:rPr lang="en-US" sz="1200">
                  <a:solidFill>
                    <a:srgbClr val="313131"/>
                  </a:solidFill>
                </a:rPr>
                <a:t>PCH formed</a:t>
              </a:r>
              <a:endParaRPr lang="en-IN" sz="1200">
                <a:solidFill>
                  <a:srgbClr val="313131"/>
                </a:solidFill>
              </a:endParaRPr>
            </a:p>
          </p:txBody>
        </p:sp>
        <p:sp>
          <p:nvSpPr>
            <p:cNvPr id="73" name="TextBox 72">
              <a:extLst>
                <a:ext uri="{FF2B5EF4-FFF2-40B4-BE49-F238E27FC236}">
                  <a16:creationId xmlns:a16="http://schemas.microsoft.com/office/drawing/2014/main" id="{BCAACBC6-5E19-40B6-96D8-FC08238BB7C1}"/>
                </a:ext>
              </a:extLst>
            </p:cNvPr>
            <p:cNvSpPr txBox="1"/>
            <p:nvPr/>
          </p:nvSpPr>
          <p:spPr>
            <a:xfrm>
              <a:off x="5502007" y="3820042"/>
              <a:ext cx="2145058" cy="369332"/>
            </a:xfrm>
            <a:prstGeom prst="rect">
              <a:avLst/>
            </a:prstGeom>
            <a:noFill/>
          </p:spPr>
          <p:txBody>
            <a:bodyPr wrap="square" lIns="0" tIns="0" rIns="0" bIns="0" rtlCol="0">
              <a:spAutoFit/>
            </a:bodyPr>
            <a:lstStyle/>
            <a:p>
              <a:pPr>
                <a:spcBef>
                  <a:spcPts val="600"/>
                </a:spcBef>
                <a:buSzPct val="100000"/>
              </a:pPr>
              <a:r>
                <a:rPr lang="en-US" sz="1200" b="1">
                  <a:solidFill>
                    <a:srgbClr val="0070C0"/>
                  </a:solidFill>
                </a:rPr>
                <a:t>1983</a:t>
              </a:r>
            </a:p>
            <a:p>
              <a:pPr marL="171450" indent="-171450">
                <a:buSzPct val="100000"/>
                <a:buFont typeface="Arial" panose="020B0604020202020204" pitchFamily="34" charset="0"/>
                <a:buChar char="•"/>
              </a:pPr>
              <a:r>
                <a:rPr lang="en-US" sz="1200">
                  <a:solidFill>
                    <a:srgbClr val="313131"/>
                  </a:solidFill>
                </a:rPr>
                <a:t>CCC and F&amp;R= TR &amp;Co.</a:t>
              </a:r>
              <a:endParaRPr lang="en-IN" sz="1200">
                <a:solidFill>
                  <a:srgbClr val="313131"/>
                </a:solidFill>
              </a:endParaRPr>
            </a:p>
          </p:txBody>
        </p:sp>
        <p:sp>
          <p:nvSpPr>
            <p:cNvPr id="74" name="TextBox 73">
              <a:extLst>
                <a:ext uri="{FF2B5EF4-FFF2-40B4-BE49-F238E27FC236}">
                  <a16:creationId xmlns:a16="http://schemas.microsoft.com/office/drawing/2014/main" id="{E821B53C-D451-4B54-A6EF-7F14B70C755E}"/>
                </a:ext>
              </a:extLst>
            </p:cNvPr>
            <p:cNvSpPr txBox="1"/>
            <p:nvPr/>
          </p:nvSpPr>
          <p:spPr>
            <a:xfrm>
              <a:off x="6658723" y="3030603"/>
              <a:ext cx="2145058" cy="369332"/>
            </a:xfrm>
            <a:prstGeom prst="rect">
              <a:avLst/>
            </a:prstGeom>
            <a:noFill/>
          </p:spPr>
          <p:txBody>
            <a:bodyPr wrap="square" lIns="0" tIns="0" rIns="0" bIns="0" rtlCol="0">
              <a:spAutoFit/>
            </a:bodyPr>
            <a:lstStyle/>
            <a:p>
              <a:pPr>
                <a:spcBef>
                  <a:spcPts val="600"/>
                </a:spcBef>
                <a:buSzPct val="100000"/>
              </a:pPr>
              <a:r>
                <a:rPr lang="en-US" sz="1200" b="1">
                  <a:solidFill>
                    <a:srgbClr val="0070C0"/>
                  </a:solidFill>
                </a:rPr>
                <a:t>1997</a:t>
              </a:r>
            </a:p>
            <a:p>
              <a:pPr marL="171450" indent="-171450">
                <a:buSzPct val="100000"/>
                <a:buFont typeface="Arial" panose="020B0604020202020204" pitchFamily="34" charset="0"/>
                <a:buChar char="•"/>
              </a:pPr>
              <a:r>
                <a:rPr lang="en-US" sz="1200">
                  <a:solidFill>
                    <a:srgbClr val="313131"/>
                  </a:solidFill>
                </a:rPr>
                <a:t>PCH Merger</a:t>
              </a:r>
              <a:endParaRPr lang="en-IN" sz="1200">
                <a:solidFill>
                  <a:srgbClr val="313131"/>
                </a:solidFill>
              </a:endParaRPr>
            </a:p>
          </p:txBody>
        </p:sp>
        <p:sp>
          <p:nvSpPr>
            <p:cNvPr id="75" name="TextBox 74">
              <a:extLst>
                <a:ext uri="{FF2B5EF4-FFF2-40B4-BE49-F238E27FC236}">
                  <a16:creationId xmlns:a16="http://schemas.microsoft.com/office/drawing/2014/main" id="{D80A9458-7E8C-4131-B8A6-2CA9EEE75AD6}"/>
                </a:ext>
              </a:extLst>
            </p:cNvPr>
            <p:cNvSpPr txBox="1"/>
            <p:nvPr/>
          </p:nvSpPr>
          <p:spPr>
            <a:xfrm>
              <a:off x="7997349" y="2277024"/>
              <a:ext cx="2145058" cy="369332"/>
            </a:xfrm>
            <a:prstGeom prst="rect">
              <a:avLst/>
            </a:prstGeom>
            <a:noFill/>
          </p:spPr>
          <p:txBody>
            <a:bodyPr wrap="square" lIns="0" tIns="0" rIns="0" bIns="0" rtlCol="0">
              <a:spAutoFit/>
            </a:bodyPr>
            <a:lstStyle/>
            <a:p>
              <a:pPr algn="r">
                <a:spcBef>
                  <a:spcPts val="600"/>
                </a:spcBef>
                <a:buSzPct val="100000"/>
              </a:pPr>
              <a:r>
                <a:rPr lang="en-US" sz="1200" b="1">
                  <a:solidFill>
                    <a:srgbClr val="0070C0"/>
                  </a:solidFill>
                </a:rPr>
                <a:t>2013</a:t>
              </a:r>
            </a:p>
            <a:p>
              <a:pPr marL="171450" indent="-171450" algn="r">
                <a:buSzPct val="100000"/>
                <a:buFont typeface="Arial" panose="020B0604020202020204" pitchFamily="34" charset="0"/>
                <a:buChar char="•"/>
              </a:pPr>
              <a:r>
                <a:rPr lang="en-US" sz="1200">
                  <a:solidFill>
                    <a:srgbClr val="313131"/>
                  </a:solidFill>
                </a:rPr>
                <a:t>Monitor India</a:t>
              </a:r>
              <a:endParaRPr lang="en-IN" sz="1200">
                <a:solidFill>
                  <a:srgbClr val="313131"/>
                </a:solidFill>
              </a:endParaRPr>
            </a:p>
          </p:txBody>
        </p:sp>
        <p:sp>
          <p:nvSpPr>
            <p:cNvPr id="76" name="TextBox 75">
              <a:extLst>
                <a:ext uri="{FF2B5EF4-FFF2-40B4-BE49-F238E27FC236}">
                  <a16:creationId xmlns:a16="http://schemas.microsoft.com/office/drawing/2014/main" id="{216D0DB5-5C45-40D0-BFDF-8CFC357B3FAF}"/>
                </a:ext>
              </a:extLst>
            </p:cNvPr>
            <p:cNvSpPr txBox="1"/>
            <p:nvPr/>
          </p:nvSpPr>
          <p:spPr>
            <a:xfrm>
              <a:off x="6096000" y="1840340"/>
              <a:ext cx="2145058" cy="369332"/>
            </a:xfrm>
            <a:prstGeom prst="rect">
              <a:avLst/>
            </a:prstGeom>
            <a:noFill/>
          </p:spPr>
          <p:txBody>
            <a:bodyPr wrap="square" lIns="0" tIns="0" rIns="0" bIns="0" rtlCol="0">
              <a:spAutoFit/>
            </a:bodyPr>
            <a:lstStyle/>
            <a:p>
              <a:pPr algn="r">
                <a:spcBef>
                  <a:spcPts val="600"/>
                </a:spcBef>
                <a:buSzPct val="100000"/>
              </a:pPr>
              <a:r>
                <a:rPr lang="en-US" sz="1200" b="1">
                  <a:solidFill>
                    <a:srgbClr val="0070C0"/>
                  </a:solidFill>
                </a:rPr>
                <a:t>2004</a:t>
              </a:r>
            </a:p>
            <a:p>
              <a:pPr marL="171450" indent="-171450" algn="r">
                <a:buSzPct val="100000"/>
                <a:buFont typeface="Arial" panose="020B0604020202020204" pitchFamily="34" charset="0"/>
                <a:buChar char="•"/>
              </a:pPr>
              <a:r>
                <a:rPr lang="en-US" sz="1200">
                  <a:solidFill>
                    <a:srgbClr val="313131"/>
                  </a:solidFill>
                </a:rPr>
                <a:t>AFF Merger</a:t>
              </a:r>
              <a:endParaRPr lang="en-IN" sz="1200">
                <a:solidFill>
                  <a:srgbClr val="313131"/>
                </a:solidFill>
              </a:endParaRPr>
            </a:p>
          </p:txBody>
        </p:sp>
        <p:sp>
          <p:nvSpPr>
            <p:cNvPr id="77" name="TextBox 76">
              <a:extLst>
                <a:ext uri="{FF2B5EF4-FFF2-40B4-BE49-F238E27FC236}">
                  <a16:creationId xmlns:a16="http://schemas.microsoft.com/office/drawing/2014/main" id="{9E21F9D7-A7DD-40E1-8679-68EE8347340E}"/>
                </a:ext>
              </a:extLst>
            </p:cNvPr>
            <p:cNvSpPr txBox="1"/>
            <p:nvPr/>
          </p:nvSpPr>
          <p:spPr>
            <a:xfrm>
              <a:off x="5170307" y="2291000"/>
              <a:ext cx="2145058" cy="369332"/>
            </a:xfrm>
            <a:prstGeom prst="rect">
              <a:avLst/>
            </a:prstGeom>
            <a:noFill/>
          </p:spPr>
          <p:txBody>
            <a:bodyPr wrap="square" lIns="0" tIns="0" rIns="0" bIns="0" rtlCol="0">
              <a:spAutoFit/>
            </a:bodyPr>
            <a:lstStyle/>
            <a:p>
              <a:pPr algn="r">
                <a:spcBef>
                  <a:spcPts val="600"/>
                </a:spcBef>
                <a:buSzPct val="100000"/>
              </a:pPr>
              <a:r>
                <a:rPr lang="en-US" sz="1200" b="1">
                  <a:solidFill>
                    <a:srgbClr val="0070C0"/>
                  </a:solidFill>
                </a:rPr>
                <a:t>1999</a:t>
              </a:r>
            </a:p>
            <a:p>
              <a:pPr marL="171450" indent="-171450" algn="r">
                <a:buSzPct val="100000"/>
                <a:buFont typeface="Arial" panose="020B0604020202020204" pitchFamily="34" charset="0"/>
                <a:buChar char="•"/>
              </a:pPr>
              <a:r>
                <a:rPr lang="en-US" sz="1200">
                  <a:solidFill>
                    <a:srgbClr val="313131"/>
                  </a:solidFill>
                </a:rPr>
                <a:t>SBB Merger</a:t>
              </a:r>
              <a:endParaRPr lang="en-IN" sz="1200">
                <a:solidFill>
                  <a:srgbClr val="313131"/>
                </a:solidFill>
              </a:endParaRPr>
            </a:p>
          </p:txBody>
        </p:sp>
        <p:sp>
          <p:nvSpPr>
            <p:cNvPr id="78" name="TextBox 77">
              <a:extLst>
                <a:ext uri="{FF2B5EF4-FFF2-40B4-BE49-F238E27FC236}">
                  <a16:creationId xmlns:a16="http://schemas.microsoft.com/office/drawing/2014/main" id="{7FDFEBEA-3AD5-4586-83C6-33C6BDCDCF1E}"/>
                </a:ext>
              </a:extLst>
            </p:cNvPr>
            <p:cNvSpPr txBox="1"/>
            <p:nvPr/>
          </p:nvSpPr>
          <p:spPr>
            <a:xfrm>
              <a:off x="3755503" y="2710918"/>
              <a:ext cx="2145058" cy="369332"/>
            </a:xfrm>
            <a:prstGeom prst="rect">
              <a:avLst/>
            </a:prstGeom>
            <a:noFill/>
          </p:spPr>
          <p:txBody>
            <a:bodyPr wrap="square" lIns="0" tIns="0" rIns="0" bIns="0" rtlCol="0">
              <a:spAutoFit/>
            </a:bodyPr>
            <a:lstStyle/>
            <a:p>
              <a:pPr algn="r">
                <a:spcBef>
                  <a:spcPts val="600"/>
                </a:spcBef>
                <a:buSzPct val="100000"/>
              </a:pPr>
              <a:r>
                <a:rPr lang="en-US" sz="1200" b="1">
                  <a:solidFill>
                    <a:srgbClr val="0070C0"/>
                  </a:solidFill>
                </a:rPr>
                <a:t>1990</a:t>
              </a:r>
            </a:p>
            <a:p>
              <a:pPr marL="171450" indent="-171450" algn="r">
                <a:buSzPct val="100000"/>
                <a:buFont typeface="Arial" panose="020B0604020202020204" pitchFamily="34" charset="0"/>
                <a:buChar char="•"/>
              </a:pPr>
              <a:r>
                <a:rPr lang="en-US" sz="1200">
                  <a:solidFill>
                    <a:srgbClr val="313131"/>
                  </a:solidFill>
                </a:rPr>
                <a:t>TR&amp; Co. DHS Merger</a:t>
              </a:r>
              <a:endParaRPr lang="en-IN" sz="1200">
                <a:solidFill>
                  <a:srgbClr val="313131"/>
                </a:solidFill>
              </a:endParaRPr>
            </a:p>
          </p:txBody>
        </p:sp>
        <p:sp>
          <p:nvSpPr>
            <p:cNvPr id="79" name="TextBox 78">
              <a:extLst>
                <a:ext uri="{FF2B5EF4-FFF2-40B4-BE49-F238E27FC236}">
                  <a16:creationId xmlns:a16="http://schemas.microsoft.com/office/drawing/2014/main" id="{535AE62E-9688-4252-9892-141179C02A27}"/>
                </a:ext>
              </a:extLst>
            </p:cNvPr>
            <p:cNvSpPr txBox="1"/>
            <p:nvPr/>
          </p:nvSpPr>
          <p:spPr>
            <a:xfrm>
              <a:off x="1420875" y="3635088"/>
              <a:ext cx="2145058" cy="369332"/>
            </a:xfrm>
            <a:prstGeom prst="rect">
              <a:avLst/>
            </a:prstGeom>
            <a:noFill/>
          </p:spPr>
          <p:txBody>
            <a:bodyPr wrap="square" lIns="0" tIns="0" rIns="0" bIns="0" rtlCol="0">
              <a:spAutoFit/>
            </a:bodyPr>
            <a:lstStyle/>
            <a:p>
              <a:pPr algn="r">
                <a:spcBef>
                  <a:spcPts val="600"/>
                </a:spcBef>
                <a:buSzPct val="100000"/>
              </a:pPr>
              <a:r>
                <a:rPr lang="en-US" sz="1200" b="1">
                  <a:solidFill>
                    <a:srgbClr val="0070C0"/>
                  </a:solidFill>
                </a:rPr>
                <a:t>1940</a:t>
              </a:r>
            </a:p>
            <a:p>
              <a:pPr marL="171450" indent="-171450" algn="r">
                <a:buSzPct val="100000"/>
                <a:buFont typeface="Arial" panose="020B0604020202020204" pitchFamily="34" charset="0"/>
                <a:buChar char="•"/>
              </a:pPr>
              <a:r>
                <a:rPr lang="en-US" sz="1200">
                  <a:solidFill>
                    <a:srgbClr val="313131"/>
                  </a:solidFill>
                </a:rPr>
                <a:t>CCC formed</a:t>
              </a:r>
              <a:endParaRPr lang="en-IN" sz="1200">
                <a:solidFill>
                  <a:srgbClr val="313131"/>
                </a:solidFill>
              </a:endParaRPr>
            </a:p>
          </p:txBody>
        </p:sp>
        <p:cxnSp>
          <p:nvCxnSpPr>
            <p:cNvPr id="80" name="Straight Arrow Connector 79">
              <a:extLst>
                <a:ext uri="{FF2B5EF4-FFF2-40B4-BE49-F238E27FC236}">
                  <a16:creationId xmlns:a16="http://schemas.microsoft.com/office/drawing/2014/main" id="{5FFE7482-B461-469C-A9D0-630696A161C1}"/>
                </a:ext>
              </a:extLst>
            </p:cNvPr>
            <p:cNvCxnSpPr/>
            <p:nvPr/>
          </p:nvCxnSpPr>
          <p:spPr>
            <a:xfrm flipV="1">
              <a:off x="1654782" y="1779579"/>
              <a:ext cx="0" cy="4237331"/>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7E5A2040-7E7A-46D9-A5D5-5284C8AA0D13}"/>
                </a:ext>
              </a:extLst>
            </p:cNvPr>
            <p:cNvCxnSpPr/>
            <p:nvPr/>
          </p:nvCxnSpPr>
          <p:spPr>
            <a:xfrm>
              <a:off x="1654782" y="6016910"/>
              <a:ext cx="8885202" cy="0"/>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57CDF558-AD7A-421E-96EF-AB8D6785D3C3}"/>
                </a:ext>
              </a:extLst>
            </p:cNvPr>
            <p:cNvSpPr txBox="1"/>
            <p:nvPr/>
          </p:nvSpPr>
          <p:spPr>
            <a:xfrm>
              <a:off x="1440899" y="3567943"/>
              <a:ext cx="153888" cy="775457"/>
            </a:xfrm>
            <a:prstGeom prst="rect">
              <a:avLst/>
            </a:prstGeom>
            <a:noFill/>
          </p:spPr>
          <p:txBody>
            <a:bodyPr vert="vert270" wrap="square" lIns="0" tIns="0" rIns="0" bIns="0" rtlCol="0">
              <a:spAutoFit/>
            </a:bodyPr>
            <a:lstStyle/>
            <a:p>
              <a:pPr>
                <a:spcBef>
                  <a:spcPts val="600"/>
                </a:spcBef>
                <a:buSzPct val="100000"/>
              </a:pPr>
              <a:r>
                <a:rPr lang="en-US" sz="1000">
                  <a:solidFill>
                    <a:srgbClr val="0076A8"/>
                  </a:solidFill>
                </a:rPr>
                <a:t>Milestones </a:t>
              </a:r>
              <a:endParaRPr lang="en-IN" sz="1000">
                <a:solidFill>
                  <a:srgbClr val="0076A8"/>
                </a:solidFill>
              </a:endParaRPr>
            </a:p>
          </p:txBody>
        </p:sp>
        <p:sp>
          <p:nvSpPr>
            <p:cNvPr id="83" name="TextBox 82">
              <a:extLst>
                <a:ext uri="{FF2B5EF4-FFF2-40B4-BE49-F238E27FC236}">
                  <a16:creationId xmlns:a16="http://schemas.microsoft.com/office/drawing/2014/main" id="{6C065A50-173F-4E88-81C4-480E3A75BD08}"/>
                </a:ext>
              </a:extLst>
            </p:cNvPr>
            <p:cNvSpPr txBox="1"/>
            <p:nvPr/>
          </p:nvSpPr>
          <p:spPr>
            <a:xfrm>
              <a:off x="8096873" y="4319785"/>
              <a:ext cx="2443112" cy="1300356"/>
            </a:xfrm>
            <a:prstGeom prst="rect">
              <a:avLst/>
            </a:prstGeom>
            <a:noFill/>
            <a:ln>
              <a:solidFill>
                <a:schemeClr val="tx1">
                  <a:lumMod val="65000"/>
                  <a:lumOff val="35000"/>
                </a:schemeClr>
              </a:solidFill>
            </a:ln>
          </p:spPr>
          <p:txBody>
            <a:bodyPr wrap="square" lIns="0" tIns="0" rIns="0" bIns="0" rtlCol="0">
              <a:spAutoFit/>
            </a:bodyPr>
            <a:lstStyle/>
            <a:p>
              <a:pPr>
                <a:spcBef>
                  <a:spcPts val="300"/>
                </a:spcBef>
                <a:buSzPct val="100000"/>
              </a:pPr>
              <a:r>
                <a:rPr lang="en-US" sz="1200"/>
                <a:t>AFF: AF Ferguson</a:t>
              </a:r>
            </a:p>
            <a:p>
              <a:pPr>
                <a:spcBef>
                  <a:spcPts val="300"/>
                </a:spcBef>
                <a:buSzPct val="100000"/>
              </a:pPr>
              <a:r>
                <a:rPr lang="en-US" sz="1200"/>
                <a:t>SBB: SB Billimoria</a:t>
              </a:r>
            </a:p>
            <a:p>
              <a:pPr>
                <a:spcBef>
                  <a:spcPts val="300"/>
                </a:spcBef>
                <a:buSzPct val="100000"/>
              </a:pPr>
              <a:r>
                <a:rPr lang="en-US" sz="1200"/>
                <a:t>PCH: P.C. Hansotia</a:t>
              </a:r>
            </a:p>
            <a:p>
              <a:pPr>
                <a:spcBef>
                  <a:spcPts val="300"/>
                </a:spcBef>
                <a:buSzPct val="100000"/>
              </a:pPr>
              <a:r>
                <a:rPr lang="en-US" sz="1200"/>
                <a:t>TR &amp; Co: Touch Ross &amp; Co.</a:t>
              </a:r>
            </a:p>
            <a:p>
              <a:pPr>
                <a:spcBef>
                  <a:spcPts val="300"/>
                </a:spcBef>
                <a:buSzPct val="100000"/>
              </a:pPr>
              <a:r>
                <a:rPr lang="en-US" sz="1200"/>
                <a:t>CCC: CC Choksi</a:t>
              </a:r>
            </a:p>
            <a:p>
              <a:pPr>
                <a:spcBef>
                  <a:spcPts val="300"/>
                </a:spcBef>
                <a:buSzPct val="100000"/>
              </a:pPr>
              <a:r>
                <a:rPr lang="en-US" sz="1200"/>
                <a:t>F&amp;R: Fraser &amp; Ross</a:t>
              </a:r>
              <a:endParaRPr lang="en-IN" sz="1200"/>
            </a:p>
          </p:txBody>
        </p:sp>
      </p:grpSp>
      <p:sp>
        <p:nvSpPr>
          <p:cNvPr id="84" name="TextBox 83">
            <a:extLst>
              <a:ext uri="{FF2B5EF4-FFF2-40B4-BE49-F238E27FC236}">
                <a16:creationId xmlns:a16="http://schemas.microsoft.com/office/drawing/2014/main" id="{3C469336-07E8-47CF-8BDB-766126C4DC37}"/>
              </a:ext>
            </a:extLst>
          </p:cNvPr>
          <p:cNvSpPr txBox="1"/>
          <p:nvPr/>
        </p:nvSpPr>
        <p:spPr>
          <a:xfrm>
            <a:off x="2088169" y="1250091"/>
            <a:ext cx="8570242" cy="184666"/>
          </a:xfrm>
          <a:prstGeom prst="rect">
            <a:avLst/>
          </a:prstGeom>
          <a:noFill/>
        </p:spPr>
        <p:txBody>
          <a:bodyPr wrap="square" lIns="0" tIns="0" rIns="0" bIns="0" rtlCol="0">
            <a:spAutoFit/>
          </a:bodyPr>
          <a:lstStyle/>
          <a:p>
            <a:pPr>
              <a:spcBef>
                <a:spcPts val="600"/>
              </a:spcBef>
              <a:buSzPct val="100000"/>
            </a:pPr>
            <a:r>
              <a:rPr lang="en-US" sz="1200">
                <a:solidFill>
                  <a:srgbClr val="313131"/>
                </a:solidFill>
              </a:rPr>
              <a:t>A series of mergers involving established brand names and strong internal growth has created critical mass</a:t>
            </a:r>
            <a:endParaRPr lang="en-IN" sz="1200">
              <a:solidFill>
                <a:srgbClr val="313131"/>
              </a:solidFill>
            </a:endParaRPr>
          </a:p>
        </p:txBody>
      </p:sp>
      <p:sp>
        <p:nvSpPr>
          <p:cNvPr id="85" name="TextBox 84">
            <a:extLst>
              <a:ext uri="{FF2B5EF4-FFF2-40B4-BE49-F238E27FC236}">
                <a16:creationId xmlns:a16="http://schemas.microsoft.com/office/drawing/2014/main" id="{2DA92E19-AB8D-4C53-A8AE-BD0D669DA0DF}"/>
              </a:ext>
            </a:extLst>
          </p:cNvPr>
          <p:cNvSpPr txBox="1"/>
          <p:nvPr/>
        </p:nvSpPr>
        <p:spPr>
          <a:xfrm>
            <a:off x="5135873" y="1020668"/>
            <a:ext cx="2149627" cy="215444"/>
          </a:xfrm>
          <a:prstGeom prst="rect">
            <a:avLst/>
          </a:prstGeom>
          <a:noFill/>
        </p:spPr>
        <p:txBody>
          <a:bodyPr wrap="none" lIns="0" tIns="0" rIns="0" bIns="0" rtlCol="0">
            <a:spAutoFit/>
          </a:bodyPr>
          <a:lstStyle/>
          <a:p>
            <a:pPr>
              <a:spcBef>
                <a:spcPts val="600"/>
              </a:spcBef>
              <a:buSzPct val="100000"/>
            </a:pPr>
            <a:r>
              <a:rPr lang="en-US" sz="1400" b="1">
                <a:solidFill>
                  <a:schemeClr val="accent5"/>
                </a:solidFill>
              </a:rPr>
              <a:t>Deloitte India Legacy</a:t>
            </a:r>
            <a:endParaRPr lang="en-IN" sz="1400" b="1">
              <a:solidFill>
                <a:schemeClr val="accent5"/>
              </a:solidFill>
            </a:endParaRPr>
          </a:p>
        </p:txBody>
      </p:sp>
      <p:sp>
        <p:nvSpPr>
          <p:cNvPr id="86" name="TextBox 85">
            <a:extLst>
              <a:ext uri="{FF2B5EF4-FFF2-40B4-BE49-F238E27FC236}">
                <a16:creationId xmlns:a16="http://schemas.microsoft.com/office/drawing/2014/main" id="{3871FD34-3913-4C71-A208-D3F949D7B3E1}"/>
              </a:ext>
            </a:extLst>
          </p:cNvPr>
          <p:cNvSpPr txBox="1"/>
          <p:nvPr/>
        </p:nvSpPr>
        <p:spPr>
          <a:xfrm>
            <a:off x="1646453" y="5905565"/>
            <a:ext cx="9484406" cy="553998"/>
          </a:xfrm>
          <a:prstGeom prst="rect">
            <a:avLst/>
          </a:prstGeom>
          <a:noFill/>
        </p:spPr>
        <p:txBody>
          <a:bodyPr wrap="square" lIns="0" tIns="0" rIns="0" bIns="0" rtlCol="0">
            <a:spAutoFit/>
          </a:bodyPr>
          <a:lstStyle/>
          <a:p>
            <a:pPr lvl="0" defTabSz="822068">
              <a:spcBef>
                <a:spcPts val="473"/>
              </a:spcBef>
              <a:buSzPct val="100000"/>
              <a:defRPr/>
            </a:pPr>
            <a:r>
              <a:rPr kumimoji="0" lang="en-US" sz="900" b="1" i="0" u="none" strike="noStrike" kern="0" cap="none" spc="0" normalizeH="0" baseline="0" noProof="0">
                <a:ln>
                  <a:noFill/>
                </a:ln>
                <a:solidFill>
                  <a:schemeClr val="tx1">
                    <a:lumMod val="50000"/>
                    <a:lumOff val="50000"/>
                  </a:schemeClr>
                </a:solidFill>
                <a:effectLst/>
                <a:uLnTx/>
                <a:uFillTx/>
              </a:rPr>
              <a:t>Note: </a:t>
            </a:r>
            <a:br>
              <a:rPr kumimoji="0" lang="en-US" sz="900" b="0" i="0" u="none" strike="noStrike" kern="0" cap="none" spc="0" normalizeH="0" baseline="0" noProof="0">
                <a:ln>
                  <a:noFill/>
                </a:ln>
                <a:solidFill>
                  <a:schemeClr val="tx1">
                    <a:lumMod val="50000"/>
                    <a:lumOff val="50000"/>
                  </a:schemeClr>
                </a:solidFill>
                <a:effectLst/>
                <a:uLnTx/>
                <a:uFillTx/>
              </a:rPr>
            </a:br>
            <a:r>
              <a:rPr lang="en-US" sz="900">
                <a:solidFill>
                  <a:schemeClr val="tx1">
                    <a:lumMod val="50000"/>
                    <a:lumOff val="50000"/>
                  </a:schemeClr>
                </a:solidFill>
              </a:rPr>
              <a:t>Deloitte Touche Tohmatsu India Private Limited (DTTIPL), the consulting arm of Deloitte in India was incorporated in 1995 (around 20 years). DTTIPL has been converted into a Limited Liability Partnership (LLP) with the name Deloitte Touche Tohmatsu India LLP (DTTILLP) under Section 58 of the Limited Liability Partnership Act, 2008 (LLP Act) read with provisions of the Third Schedule of the LLP Act with effect from 1 October 2015 (Effective Date).</a:t>
            </a:r>
            <a:endParaRPr kumimoji="0" lang="en-IN" sz="900" b="0" i="0" u="none" strike="noStrike" kern="0" cap="none" spc="0" normalizeH="0" baseline="0" noProof="0">
              <a:ln>
                <a:noFill/>
              </a:ln>
              <a:solidFill>
                <a:schemeClr val="tx1">
                  <a:lumMod val="50000"/>
                  <a:lumOff val="50000"/>
                </a:schemeClr>
              </a:solidFill>
              <a:effectLst/>
              <a:uLnTx/>
              <a:uFillTx/>
            </a:endParaRPr>
          </a:p>
        </p:txBody>
      </p:sp>
      <p:sp>
        <p:nvSpPr>
          <p:cNvPr id="2" name="Rectangle 1">
            <a:extLst>
              <a:ext uri="{FF2B5EF4-FFF2-40B4-BE49-F238E27FC236}">
                <a16:creationId xmlns:a16="http://schemas.microsoft.com/office/drawing/2014/main" id="{E09ABE39-9897-440D-1390-548E15EDC05E}"/>
              </a:ext>
            </a:extLst>
          </p:cNvPr>
          <p:cNvSpPr/>
          <p:nvPr/>
        </p:nvSpPr>
        <p:spPr bwMode="gray">
          <a:xfrm>
            <a:off x="333466" y="121358"/>
            <a:ext cx="11811080" cy="370522"/>
          </a:xfrm>
          <a:prstGeom prst="rect">
            <a:avLst/>
          </a:prstGeom>
          <a:noFill/>
          <a:ln w="19050" algn="ctr">
            <a:noFill/>
            <a:miter lim="800000"/>
            <a:headEnd/>
            <a:tailEnd/>
          </a:ln>
        </p:spPr>
        <p:txBody>
          <a:bodyPr wrap="square" lIns="88900" tIns="88900" rIns="88900" bIns="88900" rtlCol="0" anchor="ctr"/>
          <a:lstStyle/>
          <a:p>
            <a:r>
              <a:rPr lang="en-US" sz="1800" b="1">
                <a:latin typeface="+mj-lt"/>
              </a:rPr>
              <a:t>Information on the consultant’s core business and years in business</a:t>
            </a:r>
          </a:p>
        </p:txBody>
      </p:sp>
      <p:cxnSp>
        <p:nvCxnSpPr>
          <p:cNvPr id="3" name="Straight Arrow Connector 2">
            <a:extLst>
              <a:ext uri="{FF2B5EF4-FFF2-40B4-BE49-F238E27FC236}">
                <a16:creationId xmlns:a16="http://schemas.microsoft.com/office/drawing/2014/main" id="{C2118D7E-096F-B33A-6F97-6EAE7C1E18F0}"/>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04191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1FEB5E-3735-3A49-CC48-B68988F4C130}"/>
              </a:ext>
            </a:extLst>
          </p:cNvPr>
          <p:cNvSpPr/>
          <p:nvPr/>
        </p:nvSpPr>
        <p:spPr bwMode="gray">
          <a:xfrm>
            <a:off x="333466" y="121358"/>
            <a:ext cx="11811080" cy="370522"/>
          </a:xfrm>
          <a:prstGeom prst="rect">
            <a:avLst/>
          </a:prstGeom>
          <a:noFill/>
          <a:ln w="19050" algn="ctr">
            <a:noFill/>
            <a:miter lim="800000"/>
            <a:headEnd/>
            <a:tailEnd/>
          </a:ln>
        </p:spPr>
        <p:txBody>
          <a:bodyPr wrap="square" lIns="88900" tIns="88900" rIns="88900" bIns="88900" rtlCol="0" anchor="ctr"/>
          <a:lstStyle/>
          <a:p>
            <a:r>
              <a:rPr lang="en-US" b="1">
                <a:latin typeface="+mj-lt"/>
              </a:rPr>
              <a:t>Our Clientele</a:t>
            </a:r>
            <a:endParaRPr lang="en-US" sz="1800" b="1">
              <a:latin typeface="+mj-lt"/>
            </a:endParaRPr>
          </a:p>
        </p:txBody>
      </p:sp>
      <p:cxnSp>
        <p:nvCxnSpPr>
          <p:cNvPr id="3" name="Straight Arrow Connector 2">
            <a:extLst>
              <a:ext uri="{FF2B5EF4-FFF2-40B4-BE49-F238E27FC236}">
                <a16:creationId xmlns:a16="http://schemas.microsoft.com/office/drawing/2014/main" id="{96C11A2A-DC4F-25CF-E7DD-F94485287EB7}"/>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26" name="Picture 25" descr="A screenshot of a computer&#10;&#10;AI-generated content may be incorrect.">
            <a:extLst>
              <a:ext uri="{FF2B5EF4-FFF2-40B4-BE49-F238E27FC236}">
                <a16:creationId xmlns:a16="http://schemas.microsoft.com/office/drawing/2014/main" id="{347E0DA1-B2F8-D03A-A001-239A0709042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3466" y="628560"/>
            <a:ext cx="11525067" cy="5975439"/>
          </a:xfrm>
          <a:prstGeom prst="rect">
            <a:avLst/>
          </a:prstGeom>
          <a:noFill/>
          <a:ln>
            <a:noFill/>
          </a:ln>
        </p:spPr>
      </p:pic>
    </p:spTree>
    <p:extLst>
      <p:ext uri="{BB962C8B-B14F-4D97-AF65-F5344CB8AC3E}">
        <p14:creationId xmlns:p14="http://schemas.microsoft.com/office/powerpoint/2010/main" val="17565214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FF4BA-F69A-4EC6-38EF-CF1253E18304}"/>
            </a:ext>
          </a:extLst>
        </p:cNvPr>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ACCA5DBC-D796-6247-665E-1A9ACBC80B0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7" name="Object 6" hidden="1">
                        <a:extLst>
                          <a:ext uri="{FF2B5EF4-FFF2-40B4-BE49-F238E27FC236}">
                            <a16:creationId xmlns:a16="http://schemas.microsoft.com/office/drawing/2014/main" id="{ACCA5DBC-D796-6247-665E-1A9ACBC80B0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BB8A51A1-E694-7913-7D13-EDFD8CB08E8F}"/>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Chronicle Display Black" pitchFamily="50" charset="0"/>
              <a:ea typeface="+mn-ea"/>
              <a:cs typeface="+mn-cs"/>
              <a:sym typeface="Chronicle Display Black" pitchFamily="50" charset="0"/>
            </a:endParaRPr>
          </a:p>
        </p:txBody>
      </p:sp>
      <p:pic>
        <p:nvPicPr>
          <p:cNvPr id="33" name="Picture 32">
            <a:extLst>
              <a:ext uri="{FF2B5EF4-FFF2-40B4-BE49-F238E27FC236}">
                <a16:creationId xmlns:a16="http://schemas.microsoft.com/office/drawing/2014/main" id="{D1AF74A0-C623-1249-C505-C3C35D0E44F8}"/>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bwMode="gray">
          <a:xfrm>
            <a:off x="0" y="0"/>
            <a:ext cx="12192000" cy="6858000"/>
          </a:xfrm>
          <a:prstGeom prst="rect">
            <a:avLst/>
          </a:prstGeom>
        </p:spPr>
      </p:pic>
      <p:sp>
        <p:nvSpPr>
          <p:cNvPr id="34" name="Flowchart: Process 33">
            <a:extLst>
              <a:ext uri="{FF2B5EF4-FFF2-40B4-BE49-F238E27FC236}">
                <a16:creationId xmlns:a16="http://schemas.microsoft.com/office/drawing/2014/main" id="{800521C2-3641-36FC-6779-EB8FDAC3EC7F}"/>
              </a:ext>
            </a:extLst>
          </p:cNvPr>
          <p:cNvSpPr/>
          <p:nvPr/>
        </p:nvSpPr>
        <p:spPr bwMode="gray">
          <a:xfrm>
            <a:off x="1343139" y="1283297"/>
            <a:ext cx="9512456" cy="4332512"/>
          </a:xfrm>
          <a:prstGeom prst="flowChartProcess">
            <a:avLst/>
          </a:prstGeom>
          <a:solidFill>
            <a:schemeClr val="tx1">
              <a:alpha val="38000"/>
            </a:schemeClr>
          </a:solidFill>
          <a:ln w="19050" algn="ctr">
            <a:noFill/>
            <a:miter lim="800000"/>
            <a:headEnd/>
            <a:tailEnd/>
          </a:ln>
        </p:spPr>
        <p:txBody>
          <a:bodyPr wrap="square" lIns="1080000" tIns="88900" rIns="1080000" bIns="88900" rtlCol="0" anchor="ct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400" b="0" i="0" u="none" strike="noStrike" kern="1200" cap="none" spc="0" normalizeH="0" baseline="0" noProof="0">
                <a:ln>
                  <a:noFill/>
                </a:ln>
                <a:solidFill>
                  <a:srgbClr val="0097A9"/>
                </a:solidFill>
                <a:effectLst/>
                <a:uLnTx/>
                <a:uFillTx/>
                <a:latin typeface="Verdana" panose="020B0604030504040204" pitchFamily="34" charset="0"/>
                <a:ea typeface="Verdana" panose="020B0604030504040204" pitchFamily="34" charset="0"/>
                <a:cs typeface="Calibri" panose="020F0502020204030204" pitchFamily="34" charset="0"/>
              </a:rPr>
              <a:t>Understanding the Scope</a:t>
            </a:r>
          </a:p>
        </p:txBody>
      </p:sp>
      <p:grpSp>
        <p:nvGrpSpPr>
          <p:cNvPr id="35" name="Group 541">
            <a:extLst>
              <a:ext uri="{FF2B5EF4-FFF2-40B4-BE49-F238E27FC236}">
                <a16:creationId xmlns:a16="http://schemas.microsoft.com/office/drawing/2014/main" id="{35E67851-FEF0-3FBB-4B30-8AA73A271A84}"/>
              </a:ext>
            </a:extLst>
          </p:cNvPr>
          <p:cNvGrpSpPr>
            <a:grpSpLocks noChangeAspect="1"/>
          </p:cNvGrpSpPr>
          <p:nvPr/>
        </p:nvGrpSpPr>
        <p:grpSpPr bwMode="gray">
          <a:xfrm>
            <a:off x="2043454" y="743296"/>
            <a:ext cx="1080000" cy="1080000"/>
            <a:chOff x="5326" y="2494"/>
            <a:chExt cx="340" cy="340"/>
          </a:xfrm>
          <a:solidFill>
            <a:srgbClr val="0097A9"/>
          </a:solidFill>
        </p:grpSpPr>
        <p:sp>
          <p:nvSpPr>
            <p:cNvPr id="36" name="Freeform 542">
              <a:extLst>
                <a:ext uri="{FF2B5EF4-FFF2-40B4-BE49-F238E27FC236}">
                  <a16:creationId xmlns:a16="http://schemas.microsoft.com/office/drawing/2014/main" id="{E4CC8E1F-BF32-E77F-9DB7-81E44B7B0247}"/>
                </a:ext>
              </a:extLst>
            </p:cNvPr>
            <p:cNvSpPr>
              <a:spLocks noEditPoints="1"/>
            </p:cNvSpPr>
            <p:nvPr/>
          </p:nvSpPr>
          <p:spPr bwMode="gray">
            <a:xfrm>
              <a:off x="5430" y="2558"/>
              <a:ext cx="132" cy="212"/>
            </a:xfrm>
            <a:custGeom>
              <a:avLst/>
              <a:gdLst>
                <a:gd name="T0" fmla="*/ 99 w 199"/>
                <a:gd name="T1" fmla="*/ 0 h 320"/>
                <a:gd name="T2" fmla="*/ 99 w 199"/>
                <a:gd name="T3" fmla="*/ 0 h 320"/>
                <a:gd name="T4" fmla="*/ 99 w 199"/>
                <a:gd name="T5" fmla="*/ 0 h 320"/>
                <a:gd name="T6" fmla="*/ 99 w 199"/>
                <a:gd name="T7" fmla="*/ 0 h 320"/>
                <a:gd name="T8" fmla="*/ 98 w 199"/>
                <a:gd name="T9" fmla="*/ 0 h 320"/>
                <a:gd name="T10" fmla="*/ 0 w 199"/>
                <a:gd name="T11" fmla="*/ 95 h 320"/>
                <a:gd name="T12" fmla="*/ 19 w 199"/>
                <a:gd name="T13" fmla="*/ 158 h 320"/>
                <a:gd name="T14" fmla="*/ 45 w 199"/>
                <a:gd name="T15" fmla="*/ 213 h 320"/>
                <a:gd name="T16" fmla="*/ 45 w 199"/>
                <a:gd name="T17" fmla="*/ 245 h 320"/>
                <a:gd name="T18" fmla="*/ 46 w 199"/>
                <a:gd name="T19" fmla="*/ 246 h 320"/>
                <a:gd name="T20" fmla="*/ 45 w 199"/>
                <a:gd name="T21" fmla="*/ 247 h 320"/>
                <a:gd name="T22" fmla="*/ 56 w 199"/>
                <a:gd name="T23" fmla="*/ 311 h 320"/>
                <a:gd name="T24" fmla="*/ 67 w 199"/>
                <a:gd name="T25" fmla="*/ 320 h 320"/>
                <a:gd name="T26" fmla="*/ 131 w 199"/>
                <a:gd name="T27" fmla="*/ 320 h 320"/>
                <a:gd name="T28" fmla="*/ 141 w 199"/>
                <a:gd name="T29" fmla="*/ 311 h 320"/>
                <a:gd name="T30" fmla="*/ 152 w 199"/>
                <a:gd name="T31" fmla="*/ 247 h 320"/>
                <a:gd name="T32" fmla="*/ 152 w 199"/>
                <a:gd name="T33" fmla="*/ 246 h 320"/>
                <a:gd name="T34" fmla="*/ 152 w 199"/>
                <a:gd name="T35" fmla="*/ 245 h 320"/>
                <a:gd name="T36" fmla="*/ 152 w 199"/>
                <a:gd name="T37" fmla="*/ 213 h 320"/>
                <a:gd name="T38" fmla="*/ 179 w 199"/>
                <a:gd name="T39" fmla="*/ 158 h 320"/>
                <a:gd name="T40" fmla="*/ 199 w 199"/>
                <a:gd name="T41" fmla="*/ 95 h 320"/>
                <a:gd name="T42" fmla="*/ 99 w 199"/>
                <a:gd name="T43" fmla="*/ 0 h 320"/>
                <a:gd name="T44" fmla="*/ 122 w 199"/>
                <a:gd name="T45" fmla="*/ 298 h 320"/>
                <a:gd name="T46" fmla="*/ 76 w 199"/>
                <a:gd name="T47" fmla="*/ 298 h 320"/>
                <a:gd name="T48" fmla="*/ 69 w 199"/>
                <a:gd name="T49" fmla="*/ 256 h 320"/>
                <a:gd name="T50" fmla="*/ 129 w 199"/>
                <a:gd name="T51" fmla="*/ 256 h 320"/>
                <a:gd name="T52" fmla="*/ 122 w 199"/>
                <a:gd name="T53" fmla="*/ 298 h 320"/>
                <a:gd name="T54" fmla="*/ 161 w 199"/>
                <a:gd name="T55" fmla="*/ 147 h 320"/>
                <a:gd name="T56" fmla="*/ 131 w 199"/>
                <a:gd name="T57" fmla="*/ 213 h 320"/>
                <a:gd name="T58" fmla="*/ 131 w 199"/>
                <a:gd name="T59" fmla="*/ 234 h 320"/>
                <a:gd name="T60" fmla="*/ 109 w 199"/>
                <a:gd name="T61" fmla="*/ 234 h 320"/>
                <a:gd name="T62" fmla="*/ 109 w 199"/>
                <a:gd name="T63" fmla="*/ 153 h 320"/>
                <a:gd name="T64" fmla="*/ 128 w 199"/>
                <a:gd name="T65" fmla="*/ 135 h 320"/>
                <a:gd name="T66" fmla="*/ 128 w 199"/>
                <a:gd name="T67" fmla="*/ 120 h 320"/>
                <a:gd name="T68" fmla="*/ 112 w 199"/>
                <a:gd name="T69" fmla="*/ 120 h 320"/>
                <a:gd name="T70" fmla="*/ 99 w 199"/>
                <a:gd name="T71" fmla="*/ 134 h 320"/>
                <a:gd name="T72" fmla="*/ 85 w 199"/>
                <a:gd name="T73" fmla="*/ 120 h 320"/>
                <a:gd name="T74" fmla="*/ 70 w 199"/>
                <a:gd name="T75" fmla="*/ 120 h 320"/>
                <a:gd name="T76" fmla="*/ 70 w 199"/>
                <a:gd name="T77" fmla="*/ 135 h 320"/>
                <a:gd name="T78" fmla="*/ 88 w 199"/>
                <a:gd name="T79" fmla="*/ 153 h 320"/>
                <a:gd name="T80" fmla="*/ 88 w 199"/>
                <a:gd name="T81" fmla="*/ 234 h 320"/>
                <a:gd name="T82" fmla="*/ 67 w 199"/>
                <a:gd name="T83" fmla="*/ 234 h 320"/>
                <a:gd name="T84" fmla="*/ 67 w 199"/>
                <a:gd name="T85" fmla="*/ 213 h 320"/>
                <a:gd name="T86" fmla="*/ 37 w 199"/>
                <a:gd name="T87" fmla="*/ 146 h 320"/>
                <a:gd name="T88" fmla="*/ 21 w 199"/>
                <a:gd name="T89" fmla="*/ 95 h 320"/>
                <a:gd name="T90" fmla="*/ 99 w 199"/>
                <a:gd name="T91" fmla="*/ 21 h 320"/>
                <a:gd name="T92" fmla="*/ 177 w 199"/>
                <a:gd name="T93" fmla="*/ 95 h 320"/>
                <a:gd name="T94" fmla="*/ 161 w 199"/>
                <a:gd name="T95" fmla="*/ 147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320">
                  <a:moveTo>
                    <a:pt x="99" y="0"/>
                  </a:moveTo>
                  <a:cubicBezTo>
                    <a:pt x="99" y="0"/>
                    <a:pt x="99" y="0"/>
                    <a:pt x="99" y="0"/>
                  </a:cubicBezTo>
                  <a:cubicBezTo>
                    <a:pt x="99" y="0"/>
                    <a:pt x="99" y="0"/>
                    <a:pt x="99" y="0"/>
                  </a:cubicBezTo>
                  <a:cubicBezTo>
                    <a:pt x="99" y="0"/>
                    <a:pt x="99" y="0"/>
                    <a:pt x="99" y="0"/>
                  </a:cubicBezTo>
                  <a:cubicBezTo>
                    <a:pt x="99" y="0"/>
                    <a:pt x="99" y="0"/>
                    <a:pt x="98" y="0"/>
                  </a:cubicBezTo>
                  <a:cubicBezTo>
                    <a:pt x="45" y="0"/>
                    <a:pt x="0" y="44"/>
                    <a:pt x="0" y="95"/>
                  </a:cubicBezTo>
                  <a:cubicBezTo>
                    <a:pt x="0" y="129"/>
                    <a:pt x="18" y="157"/>
                    <a:pt x="19" y="158"/>
                  </a:cubicBezTo>
                  <a:cubicBezTo>
                    <a:pt x="32" y="179"/>
                    <a:pt x="45" y="206"/>
                    <a:pt x="45" y="213"/>
                  </a:cubicBezTo>
                  <a:cubicBezTo>
                    <a:pt x="45" y="245"/>
                    <a:pt x="45" y="245"/>
                    <a:pt x="45" y="245"/>
                  </a:cubicBezTo>
                  <a:cubicBezTo>
                    <a:pt x="45" y="245"/>
                    <a:pt x="45" y="246"/>
                    <a:pt x="46" y="246"/>
                  </a:cubicBezTo>
                  <a:cubicBezTo>
                    <a:pt x="46" y="246"/>
                    <a:pt x="45" y="246"/>
                    <a:pt x="45" y="247"/>
                  </a:cubicBezTo>
                  <a:cubicBezTo>
                    <a:pt x="56" y="311"/>
                    <a:pt x="56" y="311"/>
                    <a:pt x="56" y="311"/>
                  </a:cubicBezTo>
                  <a:cubicBezTo>
                    <a:pt x="57" y="316"/>
                    <a:pt x="61" y="320"/>
                    <a:pt x="67" y="320"/>
                  </a:cubicBezTo>
                  <a:cubicBezTo>
                    <a:pt x="131" y="320"/>
                    <a:pt x="131" y="320"/>
                    <a:pt x="131" y="320"/>
                  </a:cubicBezTo>
                  <a:cubicBezTo>
                    <a:pt x="136" y="320"/>
                    <a:pt x="140" y="316"/>
                    <a:pt x="141" y="311"/>
                  </a:cubicBezTo>
                  <a:cubicBezTo>
                    <a:pt x="152" y="247"/>
                    <a:pt x="152" y="247"/>
                    <a:pt x="152" y="247"/>
                  </a:cubicBezTo>
                  <a:cubicBezTo>
                    <a:pt x="152" y="246"/>
                    <a:pt x="152" y="246"/>
                    <a:pt x="152" y="246"/>
                  </a:cubicBezTo>
                  <a:cubicBezTo>
                    <a:pt x="152" y="246"/>
                    <a:pt x="152" y="245"/>
                    <a:pt x="152" y="245"/>
                  </a:cubicBezTo>
                  <a:cubicBezTo>
                    <a:pt x="152" y="213"/>
                    <a:pt x="152" y="213"/>
                    <a:pt x="152" y="213"/>
                  </a:cubicBezTo>
                  <a:cubicBezTo>
                    <a:pt x="152" y="206"/>
                    <a:pt x="166" y="179"/>
                    <a:pt x="179" y="158"/>
                  </a:cubicBezTo>
                  <a:cubicBezTo>
                    <a:pt x="180" y="157"/>
                    <a:pt x="199" y="129"/>
                    <a:pt x="199" y="95"/>
                  </a:cubicBezTo>
                  <a:cubicBezTo>
                    <a:pt x="199" y="44"/>
                    <a:pt x="153" y="0"/>
                    <a:pt x="99" y="0"/>
                  </a:cubicBezTo>
                  <a:close/>
                  <a:moveTo>
                    <a:pt x="122" y="298"/>
                  </a:moveTo>
                  <a:cubicBezTo>
                    <a:pt x="76" y="298"/>
                    <a:pt x="76" y="298"/>
                    <a:pt x="76" y="298"/>
                  </a:cubicBezTo>
                  <a:cubicBezTo>
                    <a:pt x="69" y="256"/>
                    <a:pt x="69" y="256"/>
                    <a:pt x="69" y="256"/>
                  </a:cubicBezTo>
                  <a:cubicBezTo>
                    <a:pt x="129" y="256"/>
                    <a:pt x="129" y="256"/>
                    <a:pt x="129" y="256"/>
                  </a:cubicBezTo>
                  <a:lnTo>
                    <a:pt x="122" y="298"/>
                  </a:lnTo>
                  <a:close/>
                  <a:moveTo>
                    <a:pt x="161" y="147"/>
                  </a:moveTo>
                  <a:cubicBezTo>
                    <a:pt x="154" y="158"/>
                    <a:pt x="131" y="196"/>
                    <a:pt x="131" y="213"/>
                  </a:cubicBezTo>
                  <a:cubicBezTo>
                    <a:pt x="131" y="234"/>
                    <a:pt x="131" y="234"/>
                    <a:pt x="131" y="234"/>
                  </a:cubicBezTo>
                  <a:cubicBezTo>
                    <a:pt x="109" y="234"/>
                    <a:pt x="109" y="234"/>
                    <a:pt x="109" y="234"/>
                  </a:cubicBezTo>
                  <a:cubicBezTo>
                    <a:pt x="109" y="153"/>
                    <a:pt x="109" y="153"/>
                    <a:pt x="109" y="153"/>
                  </a:cubicBezTo>
                  <a:cubicBezTo>
                    <a:pt x="128" y="135"/>
                    <a:pt x="128" y="135"/>
                    <a:pt x="128" y="135"/>
                  </a:cubicBezTo>
                  <a:cubicBezTo>
                    <a:pt x="132" y="131"/>
                    <a:pt x="132" y="124"/>
                    <a:pt x="128" y="120"/>
                  </a:cubicBezTo>
                  <a:cubicBezTo>
                    <a:pt x="123" y="116"/>
                    <a:pt x="117" y="116"/>
                    <a:pt x="112" y="120"/>
                  </a:cubicBezTo>
                  <a:cubicBezTo>
                    <a:pt x="99" y="134"/>
                    <a:pt x="99" y="134"/>
                    <a:pt x="99" y="134"/>
                  </a:cubicBezTo>
                  <a:cubicBezTo>
                    <a:pt x="85" y="120"/>
                    <a:pt x="85" y="120"/>
                    <a:pt x="85" y="120"/>
                  </a:cubicBezTo>
                  <a:cubicBezTo>
                    <a:pt x="81" y="116"/>
                    <a:pt x="74" y="116"/>
                    <a:pt x="70" y="120"/>
                  </a:cubicBezTo>
                  <a:cubicBezTo>
                    <a:pt x="66" y="124"/>
                    <a:pt x="66" y="131"/>
                    <a:pt x="70" y="135"/>
                  </a:cubicBezTo>
                  <a:cubicBezTo>
                    <a:pt x="88" y="153"/>
                    <a:pt x="88" y="153"/>
                    <a:pt x="88" y="153"/>
                  </a:cubicBezTo>
                  <a:cubicBezTo>
                    <a:pt x="88" y="234"/>
                    <a:pt x="88" y="234"/>
                    <a:pt x="88" y="234"/>
                  </a:cubicBezTo>
                  <a:cubicBezTo>
                    <a:pt x="67" y="234"/>
                    <a:pt x="67" y="234"/>
                    <a:pt x="67" y="234"/>
                  </a:cubicBezTo>
                  <a:cubicBezTo>
                    <a:pt x="67" y="213"/>
                    <a:pt x="67" y="213"/>
                    <a:pt x="67" y="213"/>
                  </a:cubicBezTo>
                  <a:cubicBezTo>
                    <a:pt x="67" y="196"/>
                    <a:pt x="44" y="158"/>
                    <a:pt x="37" y="146"/>
                  </a:cubicBezTo>
                  <a:cubicBezTo>
                    <a:pt x="37" y="146"/>
                    <a:pt x="21" y="123"/>
                    <a:pt x="21" y="95"/>
                  </a:cubicBezTo>
                  <a:cubicBezTo>
                    <a:pt x="21" y="55"/>
                    <a:pt x="57" y="21"/>
                    <a:pt x="99" y="21"/>
                  </a:cubicBezTo>
                  <a:cubicBezTo>
                    <a:pt x="141" y="21"/>
                    <a:pt x="177" y="55"/>
                    <a:pt x="177" y="95"/>
                  </a:cubicBezTo>
                  <a:cubicBezTo>
                    <a:pt x="177" y="122"/>
                    <a:pt x="161" y="146"/>
                    <a:pt x="161" y="14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Freeform 543">
              <a:extLst>
                <a:ext uri="{FF2B5EF4-FFF2-40B4-BE49-F238E27FC236}">
                  <a16:creationId xmlns:a16="http://schemas.microsoft.com/office/drawing/2014/main" id="{4021C173-5FF5-278B-4DDA-75D03CE68945}"/>
                </a:ext>
              </a:extLst>
            </p:cNvPr>
            <p:cNvSpPr>
              <a:spLocks noEditPoints="1"/>
            </p:cNvSpPr>
            <p:nvPr/>
          </p:nvSpPr>
          <p:spPr bwMode="gray">
            <a:xfrm>
              <a:off x="5326" y="249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8" name="Group 37">
            <a:extLst>
              <a:ext uri="{FF2B5EF4-FFF2-40B4-BE49-F238E27FC236}">
                <a16:creationId xmlns:a16="http://schemas.microsoft.com/office/drawing/2014/main" id="{9120161B-873C-DBF2-058C-7AD092C5B565}"/>
              </a:ext>
            </a:extLst>
          </p:cNvPr>
          <p:cNvGrpSpPr/>
          <p:nvPr/>
        </p:nvGrpSpPr>
        <p:grpSpPr bwMode="gray">
          <a:xfrm>
            <a:off x="1332253" y="1283296"/>
            <a:ext cx="9535886" cy="4341335"/>
            <a:chOff x="1332253" y="1283296"/>
            <a:chExt cx="9535886" cy="4341335"/>
          </a:xfrm>
        </p:grpSpPr>
        <p:cxnSp>
          <p:nvCxnSpPr>
            <p:cNvPr id="39" name="Straight Connector 38">
              <a:extLst>
                <a:ext uri="{FF2B5EF4-FFF2-40B4-BE49-F238E27FC236}">
                  <a16:creationId xmlns:a16="http://schemas.microsoft.com/office/drawing/2014/main" id="{5DD073FA-7A5E-47EE-9346-4C82C9B07B3C}"/>
                </a:ext>
              </a:extLst>
            </p:cNvPr>
            <p:cNvCxnSpPr/>
            <p:nvPr/>
          </p:nvCxnSpPr>
          <p:spPr bwMode="gray">
            <a:xfrm flipH="1">
              <a:off x="1332253" y="1283296"/>
              <a:ext cx="551543"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3332148-936C-B77D-5D45-DFA2201FCDB1}"/>
                </a:ext>
              </a:extLst>
            </p:cNvPr>
            <p:cNvCxnSpPr/>
            <p:nvPr/>
          </p:nvCxnSpPr>
          <p:spPr bwMode="gray">
            <a:xfrm flipH="1">
              <a:off x="1332253" y="5615809"/>
              <a:ext cx="551543"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1E1C013-F9B1-17AB-46DB-49F74712017B}"/>
                </a:ext>
              </a:extLst>
            </p:cNvPr>
            <p:cNvCxnSpPr/>
            <p:nvPr/>
          </p:nvCxnSpPr>
          <p:spPr bwMode="gray">
            <a:xfrm>
              <a:off x="1332253" y="1283296"/>
              <a:ext cx="0" cy="4341335"/>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25144A3D-EF11-203B-1850-747795C2412C}"/>
                </a:ext>
              </a:extLst>
            </p:cNvPr>
            <p:cNvCxnSpPr/>
            <p:nvPr/>
          </p:nvCxnSpPr>
          <p:spPr bwMode="gray">
            <a:xfrm>
              <a:off x="10868139" y="1283296"/>
              <a:ext cx="0" cy="4341335"/>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B5FAACE-C3AE-74B2-0AE5-D93EDD75E672}"/>
                </a:ext>
              </a:extLst>
            </p:cNvPr>
            <p:cNvCxnSpPr/>
            <p:nvPr/>
          </p:nvCxnSpPr>
          <p:spPr bwMode="gray">
            <a:xfrm flipH="1">
              <a:off x="3320709" y="1283296"/>
              <a:ext cx="7524000"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DB9B969-770F-A4C0-08EA-C760AA6DB09B}"/>
                </a:ext>
              </a:extLst>
            </p:cNvPr>
            <p:cNvCxnSpPr/>
            <p:nvPr/>
          </p:nvCxnSpPr>
          <p:spPr bwMode="gray">
            <a:xfrm flipH="1">
              <a:off x="1763486" y="5615809"/>
              <a:ext cx="9089909"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6333702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18877-3DAB-2FBE-C0C2-2F10F107B18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3C0B583-1314-F04A-D822-B5674459EF75}"/>
              </a:ext>
            </a:extLst>
          </p:cNvPr>
          <p:cNvSpPr/>
          <p:nvPr/>
        </p:nvSpPr>
        <p:spPr bwMode="gray">
          <a:xfrm>
            <a:off x="349727" y="155152"/>
            <a:ext cx="11811080" cy="370522"/>
          </a:xfrm>
          <a:prstGeom prst="rect">
            <a:avLst/>
          </a:prstGeom>
          <a:noFill/>
          <a:ln w="19050" algn="ctr">
            <a:noFill/>
            <a:miter lim="800000"/>
            <a:headEnd/>
            <a:tailEnd/>
          </a:ln>
        </p:spPr>
        <p:txBody>
          <a:bodyPr wrap="square" lIns="88900" tIns="88900" rIns="88900" bIns="88900" rtlCol="0" anchor="ctr"/>
          <a:lstStyle/>
          <a:p>
            <a:r>
              <a:rPr lang="en-US" b="1" dirty="0">
                <a:latin typeface="+mj-lt"/>
              </a:rPr>
              <a:t>State of State Finances</a:t>
            </a:r>
            <a:endParaRPr lang="en-US" sz="1800" b="1" dirty="0">
              <a:latin typeface="+mj-lt"/>
            </a:endParaRPr>
          </a:p>
        </p:txBody>
      </p:sp>
      <p:cxnSp>
        <p:nvCxnSpPr>
          <p:cNvPr id="6" name="Straight Arrow Connector 5">
            <a:extLst>
              <a:ext uri="{FF2B5EF4-FFF2-40B4-BE49-F238E27FC236}">
                <a16:creationId xmlns:a16="http://schemas.microsoft.com/office/drawing/2014/main" id="{59866660-8668-334E-248F-B6F2492FFA66}"/>
              </a:ext>
            </a:extLst>
          </p:cNvPr>
          <p:cNvCxnSpPr/>
          <p:nvPr/>
        </p:nvCxnSpPr>
        <p:spPr>
          <a:xfrm flipV="1">
            <a:off x="408972" y="720466"/>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Text Placeholder 1">
            <a:extLst>
              <a:ext uri="{FF2B5EF4-FFF2-40B4-BE49-F238E27FC236}">
                <a16:creationId xmlns:a16="http://schemas.microsoft.com/office/drawing/2014/main" id="{7973FF11-25D1-7A7A-A78C-2405C57CAC25}"/>
              </a:ext>
            </a:extLst>
          </p:cNvPr>
          <p:cNvSpPr txBox="1">
            <a:spLocks/>
          </p:cNvSpPr>
          <p:nvPr/>
        </p:nvSpPr>
        <p:spPr>
          <a:xfrm>
            <a:off x="439221" y="517978"/>
            <a:ext cx="11188700" cy="757255"/>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600" b="0" kern="1200">
                <a:solidFill>
                  <a:srgbClr val="575757"/>
                </a:solidFill>
                <a:latin typeface="Calibri" panose="020F0502020204030204" pitchFamily="34" charset="0"/>
                <a:ea typeface="+mn-ea"/>
                <a:cs typeface="Calibri" panose="020F0502020204030204" pitchFamily="34" charset="0"/>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IN" sz="1200" dirty="0">
                <a:latin typeface="+mn-lt"/>
              </a:rPr>
              <a:t>Rising fiscal deficits and subsidy burdens are weakening expenditure quality, while fragmented documentation obscures the underlying drivers.</a:t>
            </a:r>
            <a:endParaRPr lang="en-US" sz="1200" dirty="0">
              <a:latin typeface="+mn-lt"/>
            </a:endParaRPr>
          </a:p>
        </p:txBody>
      </p:sp>
      <p:grpSp>
        <p:nvGrpSpPr>
          <p:cNvPr id="28" name="Group 27">
            <a:extLst>
              <a:ext uri="{FF2B5EF4-FFF2-40B4-BE49-F238E27FC236}">
                <a16:creationId xmlns:a16="http://schemas.microsoft.com/office/drawing/2014/main" id="{7E82F239-4A98-4739-E608-CE30BC1F88E6}"/>
              </a:ext>
            </a:extLst>
          </p:cNvPr>
          <p:cNvGrpSpPr/>
          <p:nvPr/>
        </p:nvGrpSpPr>
        <p:grpSpPr>
          <a:xfrm>
            <a:off x="408972" y="807059"/>
            <a:ext cx="11320272" cy="739951"/>
            <a:chOff x="408972" y="807059"/>
            <a:chExt cx="11320272" cy="736675"/>
          </a:xfrm>
        </p:grpSpPr>
        <p:sp>
          <p:nvSpPr>
            <p:cNvPr id="3" name="Shape 4">
              <a:extLst>
                <a:ext uri="{FF2B5EF4-FFF2-40B4-BE49-F238E27FC236}">
                  <a16:creationId xmlns:a16="http://schemas.microsoft.com/office/drawing/2014/main" id="{0CA0390F-7970-E4E5-D221-BFF266CFEFDC}"/>
                </a:ext>
              </a:extLst>
            </p:cNvPr>
            <p:cNvSpPr/>
            <p:nvPr/>
          </p:nvSpPr>
          <p:spPr>
            <a:xfrm>
              <a:off x="408972" y="807059"/>
              <a:ext cx="3675888" cy="736675"/>
            </a:xfrm>
            <a:prstGeom prst="roundRect">
              <a:avLst>
                <a:gd name="adj" fmla="val 3333"/>
              </a:avLst>
            </a:prstGeom>
            <a:solidFill>
              <a:srgbClr val="FAFAFA"/>
            </a:solidFill>
            <a:ln w="9525">
              <a:solidFill>
                <a:srgbClr val="D9D9D9"/>
              </a:solidFill>
              <a:prstDash val="solid"/>
            </a:ln>
          </p:spPr>
          <p:txBody>
            <a:bodyPr/>
            <a:lstStyle/>
            <a:p>
              <a:endParaRPr lang="en-IN" sz="1000">
                <a:latin typeface="Verdana" panose="020B0604030504040204" pitchFamily="34" charset="0"/>
                <a:ea typeface="Verdana" panose="020B0604030504040204" pitchFamily="34" charset="0"/>
              </a:endParaRPr>
            </a:p>
          </p:txBody>
        </p:sp>
        <p:sp>
          <p:nvSpPr>
            <p:cNvPr id="4" name="Shape 5">
              <a:extLst>
                <a:ext uri="{FF2B5EF4-FFF2-40B4-BE49-F238E27FC236}">
                  <a16:creationId xmlns:a16="http://schemas.microsoft.com/office/drawing/2014/main" id="{9103EEAD-C11F-5373-8C2A-65338F0013CC}"/>
                </a:ext>
              </a:extLst>
            </p:cNvPr>
            <p:cNvSpPr/>
            <p:nvPr/>
          </p:nvSpPr>
          <p:spPr>
            <a:xfrm>
              <a:off x="408972" y="807059"/>
              <a:ext cx="3675888" cy="54864"/>
            </a:xfrm>
            <a:prstGeom prst="rect">
              <a:avLst/>
            </a:prstGeom>
            <a:solidFill>
              <a:schemeClr val="bg2">
                <a:lumMod val="90000"/>
              </a:schemeClr>
            </a:solidFill>
            <a:ln w="12700">
              <a:noFill/>
              <a:prstDash val="solid"/>
            </a:ln>
          </p:spPr>
          <p:txBody>
            <a:bodyPr/>
            <a:lstStyle/>
            <a:p>
              <a:endParaRPr lang="en-IN" sz="1000">
                <a:latin typeface="Verdana" panose="020B0604030504040204" pitchFamily="34" charset="0"/>
                <a:ea typeface="Verdana" panose="020B0604030504040204" pitchFamily="34" charset="0"/>
              </a:endParaRPr>
            </a:p>
          </p:txBody>
        </p:sp>
        <p:sp>
          <p:nvSpPr>
            <p:cNvPr id="7" name="Text 6">
              <a:extLst>
                <a:ext uri="{FF2B5EF4-FFF2-40B4-BE49-F238E27FC236}">
                  <a16:creationId xmlns:a16="http://schemas.microsoft.com/office/drawing/2014/main" id="{E8210996-C389-6B1C-103D-4E07964C2017}"/>
                </a:ext>
              </a:extLst>
            </p:cNvPr>
            <p:cNvSpPr/>
            <p:nvPr/>
          </p:nvSpPr>
          <p:spPr>
            <a:xfrm>
              <a:off x="439221" y="1044803"/>
              <a:ext cx="3383280" cy="402336"/>
            </a:xfrm>
            <a:prstGeom prst="rect">
              <a:avLst/>
            </a:prstGeom>
            <a:noFill/>
            <a:ln/>
          </p:spPr>
          <p:txBody>
            <a:bodyPr wrap="square" lIns="0" tIns="0" rIns="0" bIns="0" rtlCol="0" anchor="ctr"/>
            <a:lstStyle/>
            <a:p>
              <a:r>
                <a:rPr lang="en-US" sz="1000" b="1" dirty="0">
                  <a:solidFill>
                    <a:srgbClr val="DA291C"/>
                  </a:solidFill>
                  <a:latin typeface="Verdana" panose="020B0604030504040204" pitchFamily="34" charset="0"/>
                  <a:ea typeface="Verdana" panose="020B0604030504040204" pitchFamily="34" charset="0"/>
                  <a:cs typeface="Calibri" pitchFamily="34" charset="-120"/>
                </a:rPr>
                <a:t>₹37.93 lakh </a:t>
              </a:r>
              <a:r>
                <a:rPr lang="en-US" sz="1000" b="1" dirty="0" err="1">
                  <a:solidFill>
                    <a:srgbClr val="DA291C"/>
                  </a:solidFill>
                  <a:latin typeface="Verdana" panose="020B0604030504040204" pitchFamily="34" charset="0"/>
                  <a:ea typeface="Verdana" panose="020B0604030504040204" pitchFamily="34" charset="0"/>
                  <a:cs typeface="Calibri" pitchFamily="34" charset="-120"/>
                </a:rPr>
                <a:t>cr</a:t>
              </a:r>
              <a:r>
                <a:rPr lang="en-US" sz="1000" b="1" dirty="0">
                  <a:solidFill>
                    <a:srgbClr val="0A4A4E"/>
                  </a:solidFill>
                  <a:latin typeface="Verdana" panose="020B0604030504040204" pitchFamily="34" charset="0"/>
                  <a:ea typeface="Verdana" panose="020B0604030504040204" pitchFamily="34" charset="0"/>
                  <a:cs typeface="Calibri" pitchFamily="34" charset="-120"/>
                </a:rPr>
                <a:t>: </a:t>
              </a:r>
              <a:r>
                <a:rPr lang="en-US" sz="1000" dirty="0">
                  <a:solidFill>
                    <a:srgbClr val="333333"/>
                  </a:solidFill>
                  <a:latin typeface="Verdana" panose="020B0604030504040204" pitchFamily="34" charset="0"/>
                  <a:ea typeface="Verdana" panose="020B0604030504040204" pitchFamily="34" charset="0"/>
                  <a:cs typeface="Calibri" pitchFamily="34" charset="-120"/>
                </a:rPr>
                <a:t>Combined revenue expenditure of 21 States in 2023-24, up 53.5% from ₹24.71 lakh </a:t>
              </a:r>
              <a:r>
                <a:rPr lang="en-US" sz="1000" dirty="0" err="1">
                  <a:solidFill>
                    <a:srgbClr val="333333"/>
                  </a:solidFill>
                  <a:latin typeface="Verdana" panose="020B0604030504040204" pitchFamily="34" charset="0"/>
                  <a:ea typeface="Verdana" panose="020B0604030504040204" pitchFamily="34" charset="0"/>
                  <a:cs typeface="Calibri" pitchFamily="34" charset="-120"/>
                </a:rPr>
                <a:t>cr</a:t>
              </a:r>
              <a:r>
                <a:rPr lang="en-US" sz="1000" dirty="0">
                  <a:solidFill>
                    <a:srgbClr val="333333"/>
                  </a:solidFill>
                  <a:latin typeface="Verdana" panose="020B0604030504040204" pitchFamily="34" charset="0"/>
                  <a:ea typeface="Verdana" panose="020B0604030504040204" pitchFamily="34" charset="0"/>
                  <a:cs typeface="Calibri" pitchFamily="34" charset="-120"/>
                </a:rPr>
                <a:t> in 2018-19</a:t>
              </a:r>
              <a:endParaRPr lang="en-US" sz="1000" dirty="0">
                <a:latin typeface="Verdana" panose="020B0604030504040204" pitchFamily="34" charset="0"/>
                <a:ea typeface="Verdana" panose="020B0604030504040204" pitchFamily="34" charset="0"/>
              </a:endParaRPr>
            </a:p>
            <a:p>
              <a:pPr marL="0" indent="0">
                <a:buNone/>
              </a:pPr>
              <a:endParaRPr lang="en-US" sz="1000" dirty="0">
                <a:latin typeface="Verdana" panose="020B0604030504040204" pitchFamily="34" charset="0"/>
                <a:ea typeface="Verdana" panose="020B0604030504040204" pitchFamily="34" charset="0"/>
              </a:endParaRPr>
            </a:p>
          </p:txBody>
        </p:sp>
        <p:sp>
          <p:nvSpPr>
            <p:cNvPr id="9" name="Shape 8">
              <a:extLst>
                <a:ext uri="{FF2B5EF4-FFF2-40B4-BE49-F238E27FC236}">
                  <a16:creationId xmlns:a16="http://schemas.microsoft.com/office/drawing/2014/main" id="{5B28ECFE-5C04-DA13-CDD4-FF82F35CB430}"/>
                </a:ext>
              </a:extLst>
            </p:cNvPr>
            <p:cNvSpPr/>
            <p:nvPr/>
          </p:nvSpPr>
          <p:spPr>
            <a:xfrm>
              <a:off x="4231164" y="807059"/>
              <a:ext cx="3675888" cy="736673"/>
            </a:xfrm>
            <a:prstGeom prst="roundRect">
              <a:avLst>
                <a:gd name="adj" fmla="val 3333"/>
              </a:avLst>
            </a:prstGeom>
            <a:solidFill>
              <a:srgbClr val="FAFAFA"/>
            </a:solidFill>
            <a:ln w="9525">
              <a:solidFill>
                <a:srgbClr val="D9D9D9"/>
              </a:solidFill>
              <a:prstDash val="solid"/>
            </a:ln>
          </p:spPr>
          <p:txBody>
            <a:bodyPr/>
            <a:lstStyle/>
            <a:p>
              <a:endParaRPr lang="en-IN" sz="1000">
                <a:latin typeface="Verdana" panose="020B0604030504040204" pitchFamily="34" charset="0"/>
                <a:ea typeface="Verdana" panose="020B0604030504040204" pitchFamily="34" charset="0"/>
              </a:endParaRPr>
            </a:p>
          </p:txBody>
        </p:sp>
        <p:sp>
          <p:nvSpPr>
            <p:cNvPr id="10" name="Shape 9">
              <a:extLst>
                <a:ext uri="{FF2B5EF4-FFF2-40B4-BE49-F238E27FC236}">
                  <a16:creationId xmlns:a16="http://schemas.microsoft.com/office/drawing/2014/main" id="{740E7BF5-C2DC-38CC-4661-83F20789C41A}"/>
                </a:ext>
              </a:extLst>
            </p:cNvPr>
            <p:cNvSpPr/>
            <p:nvPr/>
          </p:nvSpPr>
          <p:spPr>
            <a:xfrm>
              <a:off x="4231164" y="807059"/>
              <a:ext cx="3675888" cy="54864"/>
            </a:xfrm>
            <a:prstGeom prst="rect">
              <a:avLst/>
            </a:prstGeom>
            <a:solidFill>
              <a:schemeClr val="bg2">
                <a:lumMod val="90000"/>
              </a:schemeClr>
            </a:solidFill>
            <a:ln w="12700">
              <a:noFill/>
              <a:prstDash val="solid"/>
            </a:ln>
          </p:spPr>
          <p:txBody>
            <a:bodyPr/>
            <a:lstStyle/>
            <a:p>
              <a:endParaRPr lang="en-IN" sz="1000">
                <a:latin typeface="Verdana" panose="020B0604030504040204" pitchFamily="34" charset="0"/>
                <a:ea typeface="Verdana" panose="020B0604030504040204" pitchFamily="34" charset="0"/>
              </a:endParaRPr>
            </a:p>
          </p:txBody>
        </p:sp>
        <p:sp>
          <p:nvSpPr>
            <p:cNvPr id="11" name="Text 10">
              <a:extLst>
                <a:ext uri="{FF2B5EF4-FFF2-40B4-BE49-F238E27FC236}">
                  <a16:creationId xmlns:a16="http://schemas.microsoft.com/office/drawing/2014/main" id="{5D8408DE-42A7-B69C-0625-6ACED062BF88}"/>
                </a:ext>
              </a:extLst>
            </p:cNvPr>
            <p:cNvSpPr/>
            <p:nvPr/>
          </p:nvSpPr>
          <p:spPr>
            <a:xfrm>
              <a:off x="4302263" y="1061203"/>
              <a:ext cx="3383280" cy="402336"/>
            </a:xfrm>
            <a:prstGeom prst="rect">
              <a:avLst/>
            </a:prstGeom>
            <a:noFill/>
            <a:ln/>
          </p:spPr>
          <p:txBody>
            <a:bodyPr wrap="square" lIns="0" tIns="0" rIns="0" bIns="0" rtlCol="0" anchor="ctr"/>
            <a:lstStyle/>
            <a:p>
              <a:r>
                <a:rPr lang="en-US" sz="1000" b="1" dirty="0">
                  <a:solidFill>
                    <a:srgbClr val="DA291C"/>
                  </a:solidFill>
                  <a:latin typeface="Verdana" panose="020B0604030504040204" pitchFamily="34" charset="0"/>
                  <a:ea typeface="Verdana" panose="020B0604030504040204" pitchFamily="34" charset="0"/>
                  <a:cs typeface="Calibri" pitchFamily="34" charset="-120"/>
                </a:rPr>
                <a:t>20.0%: </a:t>
              </a:r>
              <a:r>
                <a:rPr lang="en-US" sz="1000" dirty="0">
                  <a:solidFill>
                    <a:srgbClr val="333333"/>
                  </a:solidFill>
                  <a:latin typeface="Verdana" panose="020B0604030504040204" pitchFamily="34" charset="0"/>
                  <a:ea typeface="Verdana" panose="020B0604030504040204" pitchFamily="34" charset="0"/>
                  <a:cs typeface="Calibri" pitchFamily="34" charset="-120"/>
                </a:rPr>
                <a:t>Share of that revenue expenditure absorbed by subsidies and transfers - ₹7.59 lakh crore in 2023-24</a:t>
              </a:r>
              <a:endParaRPr lang="en-US" sz="1000" dirty="0">
                <a:latin typeface="Verdana" panose="020B0604030504040204" pitchFamily="34" charset="0"/>
                <a:ea typeface="Verdana" panose="020B0604030504040204" pitchFamily="34" charset="0"/>
              </a:endParaRPr>
            </a:p>
            <a:p>
              <a:pPr marL="0" indent="0">
                <a:buNone/>
              </a:pPr>
              <a:endParaRPr lang="en-US" sz="1000" dirty="0">
                <a:latin typeface="Verdana" panose="020B0604030504040204" pitchFamily="34" charset="0"/>
                <a:ea typeface="Verdana" panose="020B0604030504040204" pitchFamily="34" charset="0"/>
              </a:endParaRPr>
            </a:p>
          </p:txBody>
        </p:sp>
        <p:sp>
          <p:nvSpPr>
            <p:cNvPr id="13" name="Shape 12">
              <a:extLst>
                <a:ext uri="{FF2B5EF4-FFF2-40B4-BE49-F238E27FC236}">
                  <a16:creationId xmlns:a16="http://schemas.microsoft.com/office/drawing/2014/main" id="{1F5B2EA5-C785-DE7E-BC14-60BDA57CEA61}"/>
                </a:ext>
              </a:extLst>
            </p:cNvPr>
            <p:cNvSpPr/>
            <p:nvPr/>
          </p:nvSpPr>
          <p:spPr>
            <a:xfrm>
              <a:off x="8053356" y="807059"/>
              <a:ext cx="3675888" cy="736673"/>
            </a:xfrm>
            <a:prstGeom prst="roundRect">
              <a:avLst>
                <a:gd name="adj" fmla="val 3333"/>
              </a:avLst>
            </a:prstGeom>
            <a:solidFill>
              <a:srgbClr val="FAFAFA"/>
            </a:solidFill>
            <a:ln w="9525">
              <a:solidFill>
                <a:srgbClr val="D9D9D9"/>
              </a:solidFill>
              <a:prstDash val="solid"/>
            </a:ln>
          </p:spPr>
          <p:txBody>
            <a:bodyPr/>
            <a:lstStyle/>
            <a:p>
              <a:endParaRPr lang="en-IN" sz="1000" dirty="0">
                <a:latin typeface="Verdana" panose="020B0604030504040204" pitchFamily="34" charset="0"/>
                <a:ea typeface="Verdana" panose="020B0604030504040204" pitchFamily="34" charset="0"/>
              </a:endParaRPr>
            </a:p>
          </p:txBody>
        </p:sp>
        <p:sp>
          <p:nvSpPr>
            <p:cNvPr id="14" name="Shape 13">
              <a:extLst>
                <a:ext uri="{FF2B5EF4-FFF2-40B4-BE49-F238E27FC236}">
                  <a16:creationId xmlns:a16="http://schemas.microsoft.com/office/drawing/2014/main" id="{2EC1BAA4-AD8D-0C4E-A83C-D5BE96F3388D}"/>
                </a:ext>
              </a:extLst>
            </p:cNvPr>
            <p:cNvSpPr/>
            <p:nvPr/>
          </p:nvSpPr>
          <p:spPr>
            <a:xfrm>
              <a:off x="8053356" y="807059"/>
              <a:ext cx="3675888" cy="54864"/>
            </a:xfrm>
            <a:prstGeom prst="rect">
              <a:avLst/>
            </a:prstGeom>
            <a:solidFill>
              <a:schemeClr val="bg2">
                <a:lumMod val="90000"/>
              </a:schemeClr>
            </a:solidFill>
            <a:ln w="12700">
              <a:noFill/>
              <a:prstDash val="solid"/>
            </a:ln>
          </p:spPr>
          <p:txBody>
            <a:bodyPr/>
            <a:lstStyle/>
            <a:p>
              <a:endParaRPr lang="en-IN" sz="1000">
                <a:latin typeface="Verdana" panose="020B0604030504040204" pitchFamily="34" charset="0"/>
                <a:ea typeface="Verdana" panose="020B0604030504040204" pitchFamily="34" charset="0"/>
              </a:endParaRPr>
            </a:p>
          </p:txBody>
        </p:sp>
        <p:sp>
          <p:nvSpPr>
            <p:cNvPr id="15" name="Text 14">
              <a:extLst>
                <a:ext uri="{FF2B5EF4-FFF2-40B4-BE49-F238E27FC236}">
                  <a16:creationId xmlns:a16="http://schemas.microsoft.com/office/drawing/2014/main" id="{8AA4669C-7681-0E87-C5B3-FCF3118B4EB5}"/>
                </a:ext>
              </a:extLst>
            </p:cNvPr>
            <p:cNvSpPr/>
            <p:nvPr/>
          </p:nvSpPr>
          <p:spPr>
            <a:xfrm>
              <a:off x="8199660" y="1060095"/>
              <a:ext cx="3383280" cy="402336"/>
            </a:xfrm>
            <a:prstGeom prst="rect">
              <a:avLst/>
            </a:prstGeom>
            <a:noFill/>
            <a:ln/>
          </p:spPr>
          <p:txBody>
            <a:bodyPr wrap="square" lIns="0" tIns="0" rIns="0" bIns="0" rtlCol="0" anchor="ctr"/>
            <a:lstStyle/>
            <a:p>
              <a:r>
                <a:rPr lang="en-US" sz="1000" b="1">
                  <a:solidFill>
                    <a:srgbClr val="DA291C"/>
                  </a:solidFill>
                  <a:latin typeface="Verdana" panose="020B0604030504040204" pitchFamily="34" charset="0"/>
                  <a:ea typeface="Verdana" panose="020B0604030504040204" pitchFamily="34" charset="0"/>
                  <a:cs typeface="Calibri" pitchFamily="34" charset="-120"/>
                </a:rPr>
                <a:t>2.2% → 2.7%: </a:t>
              </a:r>
              <a:r>
                <a:rPr lang="en-US" sz="1000">
                  <a:solidFill>
                    <a:srgbClr val="333333"/>
                  </a:solidFill>
                  <a:latin typeface="Verdana" panose="020B0604030504040204" pitchFamily="34" charset="0"/>
                  <a:ea typeface="Verdana" panose="020B0604030504040204" pitchFamily="34" charset="0"/>
                  <a:cs typeface="Calibri" pitchFamily="34" charset="-120"/>
                </a:rPr>
                <a:t>Subsidies and beneficiary-oriented schemes as a share of GSDP, 2018-19 to 2023-24 (16th Finance Commission)</a:t>
              </a:r>
              <a:endParaRPr lang="en-US" sz="1000">
                <a:latin typeface="Verdana" panose="020B0604030504040204" pitchFamily="34" charset="0"/>
                <a:ea typeface="Verdana" panose="020B0604030504040204" pitchFamily="34" charset="0"/>
              </a:endParaRPr>
            </a:p>
            <a:p>
              <a:pPr marL="0" indent="0">
                <a:buNone/>
              </a:pPr>
              <a:endParaRPr lang="en-US" sz="1000">
                <a:latin typeface="Verdana" panose="020B0604030504040204" pitchFamily="34" charset="0"/>
                <a:ea typeface="Verdana" panose="020B0604030504040204" pitchFamily="34" charset="0"/>
              </a:endParaRPr>
            </a:p>
          </p:txBody>
        </p:sp>
      </p:grpSp>
      <p:grpSp>
        <p:nvGrpSpPr>
          <p:cNvPr id="31" name="Group 30">
            <a:extLst>
              <a:ext uri="{FF2B5EF4-FFF2-40B4-BE49-F238E27FC236}">
                <a16:creationId xmlns:a16="http://schemas.microsoft.com/office/drawing/2014/main" id="{53412C2D-A611-8867-3BFE-3ABB227F8EC4}"/>
              </a:ext>
            </a:extLst>
          </p:cNvPr>
          <p:cNvGrpSpPr/>
          <p:nvPr/>
        </p:nvGrpSpPr>
        <p:grpSpPr>
          <a:xfrm>
            <a:off x="262940" y="1906471"/>
            <a:ext cx="11698639" cy="3759454"/>
            <a:chOff x="327924" y="1922547"/>
            <a:chExt cx="11606115" cy="4159814"/>
          </a:xfrm>
        </p:grpSpPr>
        <p:sp>
          <p:nvSpPr>
            <p:cNvPr id="21" name="TextBox 20">
              <a:extLst>
                <a:ext uri="{FF2B5EF4-FFF2-40B4-BE49-F238E27FC236}">
                  <a16:creationId xmlns:a16="http://schemas.microsoft.com/office/drawing/2014/main" id="{5B160465-EA44-A33D-9E6E-493C04445627}"/>
                </a:ext>
              </a:extLst>
            </p:cNvPr>
            <p:cNvSpPr txBox="1"/>
            <p:nvPr/>
          </p:nvSpPr>
          <p:spPr>
            <a:xfrm>
              <a:off x="332392" y="2088022"/>
              <a:ext cx="3751093" cy="3603825"/>
            </a:xfrm>
            <a:prstGeom prst="rect">
              <a:avLst/>
            </a:prstGeom>
            <a:noFill/>
            <a:ln>
              <a:solidFill>
                <a:srgbClr val="97999B"/>
              </a:solidFill>
              <a:prstDash val="dash"/>
            </a:ln>
            <a:effectLst>
              <a:outerShdw blurRad="50800" dist="38100" dir="2700000" algn="tl" rotWithShape="0">
                <a:prstClr val="black">
                  <a:alpha val="40000"/>
                </a:prstClr>
              </a:outerShdw>
            </a:effectLst>
          </p:spPr>
          <p:txBody>
            <a:bodyPr wrap="square" lIns="0" tIns="0" rIns="0" bIns="0" rtlCol="0">
              <a:spAutoFit/>
            </a:bodyPr>
            <a:lstStyle/>
            <a:p>
              <a:pPr marL="203200" indent="-203200">
                <a:spcBef>
                  <a:spcPts val="600"/>
                </a:spcBef>
                <a:buSzPct val="100000"/>
                <a:buFont typeface="Arial"/>
                <a:buChar char="•"/>
              </a:pPr>
              <a:endParaRPr lang="en-IN" dirty="0">
                <a:solidFill>
                  <a:srgbClr val="313131"/>
                </a:solidFill>
              </a:endParaRPr>
            </a:p>
          </p:txBody>
        </p:sp>
        <p:sp>
          <p:nvSpPr>
            <p:cNvPr id="12" name="TextBox 11">
              <a:extLst>
                <a:ext uri="{FF2B5EF4-FFF2-40B4-BE49-F238E27FC236}">
                  <a16:creationId xmlns:a16="http://schemas.microsoft.com/office/drawing/2014/main" id="{5F014513-41C4-0090-3755-F96E9B2E3462}"/>
                </a:ext>
              </a:extLst>
            </p:cNvPr>
            <p:cNvSpPr txBox="1"/>
            <p:nvPr/>
          </p:nvSpPr>
          <p:spPr>
            <a:xfrm>
              <a:off x="4160324" y="2088022"/>
              <a:ext cx="3802671" cy="3603825"/>
            </a:xfrm>
            <a:prstGeom prst="rect">
              <a:avLst/>
            </a:prstGeom>
            <a:noFill/>
            <a:ln>
              <a:solidFill>
                <a:schemeClr val="tx1"/>
              </a:solidFill>
              <a:prstDash val="dash"/>
            </a:ln>
            <a:effectLst>
              <a:outerShdw blurRad="50800" dist="38100" dir="2700000" algn="tl" rotWithShape="0">
                <a:prstClr val="black">
                  <a:alpha val="40000"/>
                </a:prstClr>
              </a:outerShdw>
            </a:effectLst>
          </p:spPr>
          <p:txBody>
            <a:bodyPr wrap="square" lIns="0" tIns="0" rIns="0" bIns="0" rtlCol="0">
              <a:spAutoFit/>
            </a:bodyPr>
            <a:lstStyle/>
            <a:p>
              <a:pPr marL="203200" indent="-203200">
                <a:spcBef>
                  <a:spcPts val="600"/>
                </a:spcBef>
                <a:buSzPct val="100000"/>
                <a:buFont typeface="Arial"/>
                <a:buChar char="•"/>
              </a:pPr>
              <a:endParaRPr lang="en-IN" dirty="0">
                <a:solidFill>
                  <a:srgbClr val="313131"/>
                </a:solidFill>
              </a:endParaRPr>
            </a:p>
          </p:txBody>
        </p:sp>
        <p:graphicFrame>
          <p:nvGraphicFramePr>
            <p:cNvPr id="17" name="Chart 0">
              <a:extLst>
                <a:ext uri="{FF2B5EF4-FFF2-40B4-BE49-F238E27FC236}">
                  <a16:creationId xmlns:a16="http://schemas.microsoft.com/office/drawing/2014/main" id="{60360F81-CC9A-31A5-592B-1CEF1F6B9AB9}"/>
                </a:ext>
              </a:extLst>
            </p:cNvPr>
            <p:cNvGraphicFramePr/>
            <p:nvPr>
              <p:extLst>
                <p:ext uri="{D42A27DB-BD31-4B8C-83A1-F6EECF244321}">
                  <p14:modId xmlns:p14="http://schemas.microsoft.com/office/powerpoint/2010/main" val="2342509731"/>
                </p:ext>
              </p:extLst>
            </p:nvPr>
          </p:nvGraphicFramePr>
          <p:xfrm>
            <a:off x="4223891" y="1922547"/>
            <a:ext cx="3675888" cy="3520440"/>
          </p:xfrm>
          <a:graphic>
            <a:graphicData uri="http://schemas.openxmlformats.org/drawingml/2006/chart">
              <c:chart xmlns:c="http://schemas.openxmlformats.org/drawingml/2006/chart" xmlns:r="http://schemas.openxmlformats.org/officeDocument/2006/relationships" r:id="rId2"/>
            </a:graphicData>
          </a:graphic>
        </p:graphicFrame>
        <p:grpSp>
          <p:nvGrpSpPr>
            <p:cNvPr id="23" name="Group 22">
              <a:extLst>
                <a:ext uri="{FF2B5EF4-FFF2-40B4-BE49-F238E27FC236}">
                  <a16:creationId xmlns:a16="http://schemas.microsoft.com/office/drawing/2014/main" id="{599E6A97-E95C-1F66-5639-6C2E8DF0009A}"/>
                </a:ext>
              </a:extLst>
            </p:cNvPr>
            <p:cNvGrpSpPr/>
            <p:nvPr/>
          </p:nvGrpSpPr>
          <p:grpSpPr>
            <a:xfrm>
              <a:off x="7897822" y="2008427"/>
              <a:ext cx="4036217" cy="3639352"/>
              <a:chOff x="7983820" y="2400785"/>
              <a:chExt cx="4036217" cy="3639352"/>
            </a:xfrm>
          </p:grpSpPr>
          <p:sp>
            <p:nvSpPr>
              <p:cNvPr id="22" name="TextBox 21">
                <a:extLst>
                  <a:ext uri="{FF2B5EF4-FFF2-40B4-BE49-F238E27FC236}">
                    <a16:creationId xmlns:a16="http://schemas.microsoft.com/office/drawing/2014/main" id="{3A252EED-906E-59B3-3BD8-41F5B2A2D45C}"/>
                  </a:ext>
                </a:extLst>
              </p:cNvPr>
              <p:cNvSpPr txBox="1"/>
              <p:nvPr/>
            </p:nvSpPr>
            <p:spPr>
              <a:xfrm>
                <a:off x="8199660" y="2473977"/>
                <a:ext cx="3820377" cy="3566160"/>
              </a:xfrm>
              <a:prstGeom prst="rect">
                <a:avLst/>
              </a:prstGeom>
              <a:noFill/>
              <a:ln>
                <a:solidFill>
                  <a:srgbClr val="97999B"/>
                </a:solidFill>
                <a:prstDash val="dash"/>
              </a:ln>
              <a:effectLst>
                <a:outerShdw blurRad="50800" dist="38100" dir="2700000" algn="tl" rotWithShape="0">
                  <a:prstClr val="black">
                    <a:alpha val="40000"/>
                  </a:prstClr>
                </a:outerShdw>
              </a:effectLst>
            </p:spPr>
            <p:txBody>
              <a:bodyPr wrap="square" lIns="0" tIns="0" rIns="0" bIns="0" rtlCol="0">
                <a:spAutoFit/>
              </a:bodyPr>
              <a:lstStyle/>
              <a:p>
                <a:pPr marL="203200" indent="-203200">
                  <a:spcBef>
                    <a:spcPts val="600"/>
                  </a:spcBef>
                  <a:buSzPct val="100000"/>
                  <a:buFont typeface="Arial"/>
                  <a:buChar char="•"/>
                </a:pPr>
                <a:endParaRPr lang="en-IN" dirty="0">
                  <a:solidFill>
                    <a:srgbClr val="313131"/>
                  </a:solidFill>
                </a:endParaRPr>
              </a:p>
            </p:txBody>
          </p:sp>
          <p:graphicFrame>
            <p:nvGraphicFramePr>
              <p:cNvPr id="18" name="Chart 1">
                <a:extLst>
                  <a:ext uri="{FF2B5EF4-FFF2-40B4-BE49-F238E27FC236}">
                    <a16:creationId xmlns:a16="http://schemas.microsoft.com/office/drawing/2014/main" id="{8CE00CFE-E587-D12C-7418-9177EE9B12FF}"/>
                  </a:ext>
                </a:extLst>
              </p:cNvPr>
              <p:cNvGraphicFramePr/>
              <p:nvPr>
                <p:extLst>
                  <p:ext uri="{D42A27DB-BD31-4B8C-83A1-F6EECF244321}">
                    <p14:modId xmlns:p14="http://schemas.microsoft.com/office/powerpoint/2010/main" val="1210067975"/>
                  </p:ext>
                </p:extLst>
              </p:nvPr>
            </p:nvGraphicFramePr>
            <p:xfrm>
              <a:off x="7983820" y="2400785"/>
              <a:ext cx="3814960" cy="3387810"/>
            </p:xfrm>
            <a:graphic>
              <a:graphicData uri="http://schemas.openxmlformats.org/drawingml/2006/chart">
                <c:chart xmlns:c="http://schemas.openxmlformats.org/drawingml/2006/chart" xmlns:r="http://schemas.openxmlformats.org/officeDocument/2006/relationships" r:id="rId3"/>
              </a:graphicData>
            </a:graphic>
          </p:graphicFrame>
        </p:grpSp>
        <p:graphicFrame>
          <p:nvGraphicFramePr>
            <p:cNvPr id="8" name="Chart 1">
              <a:extLst>
                <a:ext uri="{FF2B5EF4-FFF2-40B4-BE49-F238E27FC236}">
                  <a16:creationId xmlns:a16="http://schemas.microsoft.com/office/drawing/2014/main" id="{9260B5B9-585C-843D-C42B-7D607F43C08F}"/>
                </a:ext>
              </a:extLst>
            </p:cNvPr>
            <p:cNvGraphicFramePr/>
            <p:nvPr>
              <p:extLst>
                <p:ext uri="{D42A27DB-BD31-4B8C-83A1-F6EECF244321}">
                  <p14:modId xmlns:p14="http://schemas.microsoft.com/office/powerpoint/2010/main" val="2509642249"/>
                </p:ext>
              </p:extLst>
            </p:nvPr>
          </p:nvGraphicFramePr>
          <p:xfrm>
            <a:off x="327924" y="1955809"/>
            <a:ext cx="3675888" cy="3054229"/>
          </p:xfrm>
          <a:graphic>
            <a:graphicData uri="http://schemas.openxmlformats.org/drawingml/2006/chart">
              <c:chart xmlns:c="http://schemas.openxmlformats.org/drawingml/2006/chart" xmlns:r="http://schemas.openxmlformats.org/officeDocument/2006/relationships" r:id="rId4"/>
            </a:graphicData>
          </a:graphic>
        </p:graphicFrame>
        <p:sp>
          <p:nvSpPr>
            <p:cNvPr id="16" name="Text 6">
              <a:extLst>
                <a:ext uri="{FF2B5EF4-FFF2-40B4-BE49-F238E27FC236}">
                  <a16:creationId xmlns:a16="http://schemas.microsoft.com/office/drawing/2014/main" id="{1DE17ED1-C3A9-509B-3205-051308A35357}"/>
                </a:ext>
              </a:extLst>
            </p:cNvPr>
            <p:cNvSpPr/>
            <p:nvPr/>
          </p:nvSpPr>
          <p:spPr>
            <a:xfrm>
              <a:off x="349727" y="5751368"/>
              <a:ext cx="11584311" cy="330993"/>
            </a:xfrm>
            <a:prstGeom prst="rect">
              <a:avLst/>
            </a:prstGeom>
            <a:noFill/>
            <a:ln/>
          </p:spPr>
          <p:txBody>
            <a:bodyPr wrap="square" lIns="0" tIns="0" rIns="0" bIns="0" rtlCol="0" anchor="ctr"/>
            <a:lstStyle/>
            <a:p>
              <a:r>
                <a:rPr lang="en-US" sz="800" b="1" dirty="0">
                  <a:solidFill>
                    <a:srgbClr val="575757"/>
                  </a:solidFill>
                  <a:latin typeface="+mj-lt"/>
                  <a:ea typeface="Arial" pitchFamily="34" charset="-122"/>
                  <a:cs typeface="Arial" pitchFamily="34" charset="-120"/>
                </a:rPr>
                <a:t>Source: </a:t>
              </a:r>
              <a:r>
                <a:rPr lang="en-US" sz="800" dirty="0">
                  <a:solidFill>
                    <a:srgbClr val="575757"/>
                  </a:solidFill>
                  <a:latin typeface="+mj-lt"/>
                  <a:ea typeface="Arial" pitchFamily="34" charset="-122"/>
                  <a:cs typeface="Arial" pitchFamily="34" charset="-120"/>
                </a:rPr>
                <a:t>RBI, State Finances: A Study of Budgets (GFD); Report of the 16th Finance Commission, 2026-31 (subsidies and transfers, capital expenditure), 21-State dataset.</a:t>
              </a:r>
              <a:endParaRPr lang="en-US" sz="800" dirty="0">
                <a:latin typeface="+mj-lt"/>
              </a:endParaRPr>
            </a:p>
          </p:txBody>
        </p:sp>
        <p:sp>
          <p:nvSpPr>
            <p:cNvPr id="19" name="TextBox 18">
              <a:extLst>
                <a:ext uri="{FF2B5EF4-FFF2-40B4-BE49-F238E27FC236}">
                  <a16:creationId xmlns:a16="http://schemas.microsoft.com/office/drawing/2014/main" id="{579A3C9F-6037-1252-AA42-12B210E48CDD}"/>
                </a:ext>
              </a:extLst>
            </p:cNvPr>
            <p:cNvSpPr txBox="1"/>
            <p:nvPr/>
          </p:nvSpPr>
          <p:spPr>
            <a:xfrm>
              <a:off x="7037992" y="2710149"/>
              <a:ext cx="802959" cy="2745609"/>
            </a:xfrm>
            <a:prstGeom prst="rect">
              <a:avLst/>
            </a:prstGeom>
            <a:noFill/>
            <a:ln>
              <a:solidFill>
                <a:srgbClr val="DA291C"/>
              </a:solidFill>
              <a:prstDash val="dash"/>
            </a:ln>
          </p:spPr>
          <p:txBody>
            <a:bodyPr wrap="square" lIns="0" tIns="0" rIns="0" bIns="0" rtlCol="0">
              <a:spAutoFit/>
            </a:bodyPr>
            <a:lstStyle/>
            <a:p>
              <a:pPr marL="203200" indent="-203200">
                <a:spcBef>
                  <a:spcPts val="600"/>
                </a:spcBef>
                <a:buSzPct val="100000"/>
                <a:buFont typeface="Arial"/>
                <a:buChar char="•"/>
              </a:pPr>
              <a:endParaRPr lang="en-IN" dirty="0">
                <a:solidFill>
                  <a:srgbClr val="313131"/>
                </a:solidFill>
              </a:endParaRPr>
            </a:p>
          </p:txBody>
        </p:sp>
        <p:sp>
          <p:nvSpPr>
            <p:cNvPr id="25" name="Text 31">
              <a:extLst>
                <a:ext uri="{FF2B5EF4-FFF2-40B4-BE49-F238E27FC236}">
                  <a16:creationId xmlns:a16="http://schemas.microsoft.com/office/drawing/2014/main" id="{4577A8BA-0F7C-80B1-F920-E38511DF2DE2}"/>
                </a:ext>
              </a:extLst>
            </p:cNvPr>
            <p:cNvSpPr/>
            <p:nvPr/>
          </p:nvSpPr>
          <p:spPr>
            <a:xfrm>
              <a:off x="4241387" y="5527255"/>
              <a:ext cx="3721608" cy="164592"/>
            </a:xfrm>
            <a:prstGeom prst="rect">
              <a:avLst/>
            </a:prstGeom>
            <a:noFill/>
            <a:ln/>
          </p:spPr>
          <p:txBody>
            <a:bodyPr wrap="square" lIns="0" tIns="0" rIns="0" bIns="0" rtlCol="0" anchor="ctr"/>
            <a:lstStyle/>
            <a:p>
              <a:pPr marL="0" indent="0" algn="ctr">
                <a:buNone/>
              </a:pPr>
              <a:r>
                <a:rPr lang="en-US" sz="700" dirty="0">
                  <a:solidFill>
                    <a:srgbClr val="DA291C"/>
                  </a:solidFill>
                  <a:ea typeface="Arial" pitchFamily="34" charset="-122"/>
                  <a:cs typeface="Arial" pitchFamily="34" charset="-120"/>
                </a:rPr>
                <a:t>3% FRBM ceiling breached in 2024-25 and 2025-26</a:t>
              </a:r>
              <a:endParaRPr lang="en-US" sz="700" dirty="0"/>
            </a:p>
          </p:txBody>
        </p:sp>
      </p:grpSp>
      <p:sp>
        <p:nvSpPr>
          <p:cNvPr id="30" name="TextBox 29">
            <a:extLst>
              <a:ext uri="{FF2B5EF4-FFF2-40B4-BE49-F238E27FC236}">
                <a16:creationId xmlns:a16="http://schemas.microsoft.com/office/drawing/2014/main" id="{705F485B-66AC-664C-75E4-4614DAC9EC75}"/>
              </a:ext>
            </a:extLst>
          </p:cNvPr>
          <p:cNvSpPr txBox="1"/>
          <p:nvPr/>
        </p:nvSpPr>
        <p:spPr>
          <a:xfrm>
            <a:off x="349727" y="5742398"/>
            <a:ext cx="11769363" cy="738664"/>
          </a:xfrm>
          <a:prstGeom prst="rect">
            <a:avLst/>
          </a:prstGeom>
          <a:solidFill>
            <a:schemeClr val="accent3">
              <a:lumMod val="20000"/>
              <a:lumOff val="80000"/>
            </a:schemeClr>
          </a:solidFill>
        </p:spPr>
        <p:txBody>
          <a:bodyPr wrap="square">
            <a:spAutoFit/>
          </a:bodyPr>
          <a:lstStyle/>
          <a:p>
            <a:r>
              <a:rPr lang="en-US" sz="1050" dirty="0"/>
              <a:t>Rising subsidy commitments is leading to higher pressure on fiscal space and persistent fiscal deficits therefore, is potential crowding-out of capital expenditure leading to weaker quality of public spending.</a:t>
            </a:r>
          </a:p>
          <a:p>
            <a:r>
              <a:rPr lang="en-US" sz="1050" dirty="0"/>
              <a:t>Also, Inter-State comparison is currently unclear: the same intervention is booked under different heads in different States, so ranking or benchmarking States on published subsidy data would mislead.</a:t>
            </a:r>
            <a:endParaRPr lang="en-IN" sz="1050" dirty="0"/>
          </a:p>
        </p:txBody>
      </p:sp>
      <p:grpSp>
        <p:nvGrpSpPr>
          <p:cNvPr id="38" name="Group 37">
            <a:extLst>
              <a:ext uri="{FF2B5EF4-FFF2-40B4-BE49-F238E27FC236}">
                <a16:creationId xmlns:a16="http://schemas.microsoft.com/office/drawing/2014/main" id="{75813D33-F616-1DAD-E7AF-0229D26BF724}"/>
              </a:ext>
            </a:extLst>
          </p:cNvPr>
          <p:cNvGrpSpPr/>
          <p:nvPr/>
        </p:nvGrpSpPr>
        <p:grpSpPr>
          <a:xfrm>
            <a:off x="349727" y="1642860"/>
            <a:ext cx="11525067" cy="363053"/>
            <a:chOff x="501495" y="2263321"/>
            <a:chExt cx="11525067" cy="363053"/>
          </a:xfrm>
        </p:grpSpPr>
        <p:sp>
          <p:nvSpPr>
            <p:cNvPr id="36" name="TextBox 35">
              <a:extLst>
                <a:ext uri="{FF2B5EF4-FFF2-40B4-BE49-F238E27FC236}">
                  <a16:creationId xmlns:a16="http://schemas.microsoft.com/office/drawing/2014/main" id="{949DD006-4DE5-BD11-EEEF-7D557217CC12}"/>
                </a:ext>
              </a:extLst>
            </p:cNvPr>
            <p:cNvSpPr txBox="1"/>
            <p:nvPr/>
          </p:nvSpPr>
          <p:spPr>
            <a:xfrm>
              <a:off x="501495" y="2285600"/>
              <a:ext cx="11525067" cy="276999"/>
            </a:xfrm>
            <a:prstGeom prst="rect">
              <a:avLst/>
            </a:prstGeom>
            <a:solidFill>
              <a:schemeClr val="tx1">
                <a:lumMod val="95000"/>
                <a:lumOff val="5000"/>
              </a:schemeClr>
            </a:solidFill>
          </p:spPr>
          <p:txBody>
            <a:bodyPr wrap="square" lIns="0" tIns="0" rIns="0" bIns="0" rtlCol="0">
              <a:spAutoFit/>
            </a:bodyPr>
            <a:lstStyle/>
            <a:p>
              <a:pPr marL="203200" indent="-203200">
                <a:spcBef>
                  <a:spcPts val="600"/>
                </a:spcBef>
                <a:buSzPct val="100000"/>
                <a:buFont typeface="Arial"/>
                <a:buChar char="•"/>
              </a:pPr>
              <a:endParaRPr lang="en-IN" dirty="0">
                <a:solidFill>
                  <a:schemeClr val="bg1"/>
                </a:solidFill>
              </a:endParaRPr>
            </a:p>
          </p:txBody>
        </p:sp>
        <p:sp>
          <p:nvSpPr>
            <p:cNvPr id="37" name="Text 14">
              <a:extLst>
                <a:ext uri="{FF2B5EF4-FFF2-40B4-BE49-F238E27FC236}">
                  <a16:creationId xmlns:a16="http://schemas.microsoft.com/office/drawing/2014/main" id="{91793150-1D26-2E93-2769-D4B0EB1CD648}"/>
                </a:ext>
              </a:extLst>
            </p:cNvPr>
            <p:cNvSpPr/>
            <p:nvPr/>
          </p:nvSpPr>
          <p:spPr>
            <a:xfrm>
              <a:off x="4536500" y="2263321"/>
              <a:ext cx="3437534" cy="363053"/>
            </a:xfrm>
            <a:prstGeom prst="rect">
              <a:avLst/>
            </a:prstGeom>
            <a:noFill/>
            <a:ln/>
          </p:spPr>
          <p:txBody>
            <a:bodyPr wrap="square" lIns="0" tIns="0" rIns="0" bIns="0" rtlCol="0" anchor="ctr"/>
            <a:lstStyle/>
            <a:p>
              <a:pPr algn="ctr"/>
              <a:r>
                <a:rPr lang="en-US" sz="1000" b="1" dirty="0">
                  <a:solidFill>
                    <a:schemeClr val="bg1"/>
                  </a:solidFill>
                  <a:latin typeface="Verdana" panose="020B0604030504040204" pitchFamily="34" charset="0"/>
                  <a:ea typeface="Verdana" panose="020B0604030504040204" pitchFamily="34" charset="0"/>
                  <a:cs typeface="Calibri" pitchFamily="34" charset="-120"/>
                </a:rPr>
                <a:t>WHY THIS MATTERS FOR FISCAL PRUDENCE</a:t>
              </a:r>
              <a:endParaRPr lang="en-US" sz="1000" dirty="0">
                <a:solidFill>
                  <a:schemeClr val="bg1"/>
                </a:solidFill>
                <a:latin typeface="Verdana" panose="020B0604030504040204" pitchFamily="34" charset="0"/>
                <a:ea typeface="Verdana" panose="020B0604030504040204" pitchFamily="34" charset="0"/>
              </a:endParaRPr>
            </a:p>
          </p:txBody>
        </p:sp>
      </p:grpSp>
    </p:spTree>
    <p:extLst>
      <p:ext uri="{BB962C8B-B14F-4D97-AF65-F5344CB8AC3E}">
        <p14:creationId xmlns:p14="http://schemas.microsoft.com/office/powerpoint/2010/main" val="16965554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C20CFAC-2E8F-3EF3-CA95-80882FA0FD7F}"/>
            </a:ext>
          </a:extLst>
        </p:cNvPr>
        <p:cNvGrpSpPr/>
        <p:nvPr/>
      </p:nvGrpSpPr>
      <p:grpSpPr>
        <a:xfrm>
          <a:off x="0" y="0"/>
          <a:ext cx="0" cy="0"/>
          <a:chOff x="0" y="0"/>
          <a:chExt cx="0" cy="0"/>
        </a:xfrm>
      </p:grpSpPr>
      <p:sp>
        <p:nvSpPr>
          <p:cNvPr id="35" name="TextBox 34">
            <a:extLst>
              <a:ext uri="{FF2B5EF4-FFF2-40B4-BE49-F238E27FC236}">
                <a16:creationId xmlns:a16="http://schemas.microsoft.com/office/drawing/2014/main" id="{D17F7E84-6E0F-52F6-D4FC-5DF68D6C806A}"/>
              </a:ext>
            </a:extLst>
          </p:cNvPr>
          <p:cNvSpPr txBox="1"/>
          <p:nvPr/>
        </p:nvSpPr>
        <p:spPr>
          <a:xfrm>
            <a:off x="333466" y="954006"/>
            <a:ext cx="6127881" cy="3307343"/>
          </a:xfrm>
          <a:prstGeom prst="rect">
            <a:avLst/>
          </a:prstGeom>
          <a:noFill/>
          <a:ln>
            <a:solidFill>
              <a:schemeClr val="tx1"/>
            </a:solidFill>
            <a:prstDash val="dash"/>
          </a:ln>
        </p:spPr>
        <p:txBody>
          <a:bodyPr wrap="square" lIns="0" tIns="0" rIns="0" bIns="0" rtlCol="0">
            <a:spAutoFit/>
          </a:bodyPr>
          <a:lstStyle/>
          <a:p>
            <a:pPr marL="203200" indent="-203200">
              <a:spcBef>
                <a:spcPts val="600"/>
              </a:spcBef>
              <a:buSzPct val="100000"/>
              <a:buFont typeface="Arial"/>
              <a:buChar char="•"/>
            </a:pPr>
            <a:endParaRPr lang="en-IN" dirty="0">
              <a:solidFill>
                <a:srgbClr val="313131"/>
              </a:solidFill>
            </a:endParaRPr>
          </a:p>
        </p:txBody>
      </p:sp>
      <p:sp>
        <p:nvSpPr>
          <p:cNvPr id="5" name="Rectangle 4">
            <a:extLst>
              <a:ext uri="{FF2B5EF4-FFF2-40B4-BE49-F238E27FC236}">
                <a16:creationId xmlns:a16="http://schemas.microsoft.com/office/drawing/2014/main" id="{646F33B5-134E-4401-A7D5-80F231A040F2}"/>
              </a:ext>
            </a:extLst>
          </p:cNvPr>
          <p:cNvSpPr/>
          <p:nvPr/>
        </p:nvSpPr>
        <p:spPr bwMode="gray">
          <a:xfrm>
            <a:off x="333466" y="121358"/>
            <a:ext cx="11811080" cy="370522"/>
          </a:xfrm>
          <a:prstGeom prst="rect">
            <a:avLst/>
          </a:prstGeom>
          <a:noFill/>
          <a:ln w="19050" algn="ctr">
            <a:noFill/>
            <a:miter lim="800000"/>
            <a:headEnd/>
            <a:tailEnd/>
          </a:ln>
        </p:spPr>
        <p:txBody>
          <a:bodyPr wrap="square" lIns="88900" tIns="88900" rIns="88900" bIns="88900" rtlCol="0" anchor="ctr"/>
          <a:lstStyle/>
          <a:p>
            <a:r>
              <a:rPr lang="en-US" b="1" dirty="0">
                <a:latin typeface="+mj-lt"/>
              </a:rPr>
              <a:t>Changing composition of subsidies</a:t>
            </a:r>
            <a:endParaRPr lang="en-US" sz="1800" b="1">
              <a:latin typeface="+mj-lt"/>
            </a:endParaRPr>
          </a:p>
        </p:txBody>
      </p:sp>
      <p:cxnSp>
        <p:nvCxnSpPr>
          <p:cNvPr id="6" name="Straight Arrow Connector 5">
            <a:extLst>
              <a:ext uri="{FF2B5EF4-FFF2-40B4-BE49-F238E27FC236}">
                <a16:creationId xmlns:a16="http://schemas.microsoft.com/office/drawing/2014/main" id="{8C6D506B-36C5-C608-9B79-BEA33A91CF77}"/>
              </a:ext>
            </a:extLst>
          </p:cNvPr>
          <p:cNvCxnSpPr/>
          <p:nvPr/>
        </p:nvCxnSpPr>
        <p:spPr>
          <a:xfrm flipV="1">
            <a:off x="476794" y="753231"/>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Text Placeholder 1">
            <a:extLst>
              <a:ext uri="{FF2B5EF4-FFF2-40B4-BE49-F238E27FC236}">
                <a16:creationId xmlns:a16="http://schemas.microsoft.com/office/drawing/2014/main" id="{1A144E5B-D1A5-1E7F-7F42-1C182B28FD51}"/>
              </a:ext>
            </a:extLst>
          </p:cNvPr>
          <p:cNvSpPr txBox="1">
            <a:spLocks/>
          </p:cNvSpPr>
          <p:nvPr/>
        </p:nvSpPr>
        <p:spPr>
          <a:xfrm>
            <a:off x="476794" y="397381"/>
            <a:ext cx="11188700" cy="757255"/>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600" b="0" kern="1200">
                <a:solidFill>
                  <a:srgbClr val="575757"/>
                </a:solidFill>
                <a:latin typeface="Calibri" panose="020F0502020204030204" pitchFamily="34" charset="0"/>
                <a:ea typeface="+mn-ea"/>
                <a:cs typeface="Calibri" panose="020F0502020204030204" pitchFamily="34" charset="0"/>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1400" dirty="0">
                <a:latin typeface="+mj-lt"/>
              </a:rPr>
              <a:t>The composition of subsidy spending has shifted decisively towards recurring, weak-conditioned transfers</a:t>
            </a:r>
          </a:p>
          <a:p>
            <a:endParaRPr lang="en-US" sz="1400" dirty="0">
              <a:latin typeface="+mj-lt"/>
            </a:endParaRPr>
          </a:p>
        </p:txBody>
      </p:sp>
      <p:grpSp>
        <p:nvGrpSpPr>
          <p:cNvPr id="63" name="Group 62">
            <a:extLst>
              <a:ext uri="{FF2B5EF4-FFF2-40B4-BE49-F238E27FC236}">
                <a16:creationId xmlns:a16="http://schemas.microsoft.com/office/drawing/2014/main" id="{4B427AC3-23BF-687B-D259-F742AD58FCC3}"/>
              </a:ext>
            </a:extLst>
          </p:cNvPr>
          <p:cNvGrpSpPr/>
          <p:nvPr/>
        </p:nvGrpSpPr>
        <p:grpSpPr>
          <a:xfrm>
            <a:off x="165260" y="4555888"/>
            <a:ext cx="5023637" cy="2721997"/>
            <a:chOff x="9074530" y="1548670"/>
            <a:chExt cx="2931756" cy="2509270"/>
          </a:xfrm>
        </p:grpSpPr>
        <p:grpSp>
          <p:nvGrpSpPr>
            <p:cNvPr id="62" name="Group 61">
              <a:extLst>
                <a:ext uri="{FF2B5EF4-FFF2-40B4-BE49-F238E27FC236}">
                  <a16:creationId xmlns:a16="http://schemas.microsoft.com/office/drawing/2014/main" id="{627A4C8E-CE3B-2B6E-0D5B-248AE01BCECA}"/>
                </a:ext>
              </a:extLst>
            </p:cNvPr>
            <p:cNvGrpSpPr/>
            <p:nvPr/>
          </p:nvGrpSpPr>
          <p:grpSpPr>
            <a:xfrm>
              <a:off x="9074530" y="1548670"/>
              <a:ext cx="2931756" cy="2509270"/>
              <a:chOff x="9074530" y="1548670"/>
              <a:chExt cx="2931756" cy="2509270"/>
            </a:xfrm>
          </p:grpSpPr>
          <p:grpSp>
            <p:nvGrpSpPr>
              <p:cNvPr id="45" name="Group 44">
                <a:extLst>
                  <a:ext uri="{FF2B5EF4-FFF2-40B4-BE49-F238E27FC236}">
                    <a16:creationId xmlns:a16="http://schemas.microsoft.com/office/drawing/2014/main" id="{50CC94CE-5B8B-0CFC-BBF0-39A7DA895048}"/>
                  </a:ext>
                </a:extLst>
              </p:cNvPr>
              <p:cNvGrpSpPr/>
              <p:nvPr/>
            </p:nvGrpSpPr>
            <p:grpSpPr>
              <a:xfrm>
                <a:off x="9074530" y="1548670"/>
                <a:ext cx="2931756" cy="763154"/>
                <a:chOff x="16976812" y="2734639"/>
                <a:chExt cx="2060928" cy="1360349"/>
              </a:xfrm>
            </p:grpSpPr>
            <p:sp>
              <p:nvSpPr>
                <p:cNvPr id="46" name="Shape 4">
                  <a:extLst>
                    <a:ext uri="{FF2B5EF4-FFF2-40B4-BE49-F238E27FC236}">
                      <a16:creationId xmlns:a16="http://schemas.microsoft.com/office/drawing/2014/main" id="{80FB0251-1729-4160-336B-4AC9637151BE}"/>
                    </a:ext>
                  </a:extLst>
                </p:cNvPr>
                <p:cNvSpPr/>
                <p:nvPr/>
              </p:nvSpPr>
              <p:spPr>
                <a:xfrm>
                  <a:off x="16976812" y="2734639"/>
                  <a:ext cx="2060928" cy="1360349"/>
                </a:xfrm>
                <a:prstGeom prst="roundRect">
                  <a:avLst>
                    <a:gd name="adj" fmla="val 3226"/>
                  </a:avLst>
                </a:prstGeom>
                <a:solidFill>
                  <a:srgbClr val="FAFAFA"/>
                </a:solidFill>
                <a:ln w="9525">
                  <a:solidFill>
                    <a:srgbClr val="D9D9D9"/>
                  </a:solidFill>
                  <a:prstDash val="solid"/>
                </a:ln>
              </p:spPr>
              <p:txBody>
                <a:bodyPr/>
                <a:lstStyle/>
                <a:p>
                  <a:endParaRPr lang="en-IN" sz="1000">
                    <a:solidFill>
                      <a:prstClr val="black"/>
                    </a:solidFill>
                    <a:latin typeface="Verdana" panose="020B0604030504040204" pitchFamily="34" charset="0"/>
                    <a:ea typeface="Verdana" panose="020B0604030504040204" pitchFamily="34" charset="0"/>
                  </a:endParaRPr>
                </a:p>
              </p:txBody>
            </p:sp>
            <p:sp>
              <p:nvSpPr>
                <p:cNvPr id="47" name="Text 5">
                  <a:extLst>
                    <a:ext uri="{FF2B5EF4-FFF2-40B4-BE49-F238E27FC236}">
                      <a16:creationId xmlns:a16="http://schemas.microsoft.com/office/drawing/2014/main" id="{BE4D21DE-4DD3-DECA-AEB9-0D726645D15C}"/>
                    </a:ext>
                  </a:extLst>
                </p:cNvPr>
                <p:cNvSpPr/>
                <p:nvPr/>
              </p:nvSpPr>
              <p:spPr>
                <a:xfrm>
                  <a:off x="17026904" y="3149019"/>
                  <a:ext cx="1960744" cy="700189"/>
                </a:xfrm>
                <a:prstGeom prst="rect">
                  <a:avLst/>
                </a:prstGeom>
                <a:noFill/>
                <a:ln/>
              </p:spPr>
              <p:txBody>
                <a:bodyPr wrap="square" lIns="0" tIns="0" rIns="0" bIns="0" rtlCol="0" anchor="ctr"/>
                <a:lstStyle/>
                <a:p>
                  <a:r>
                    <a:rPr lang="en-US" sz="1000" b="1" dirty="0">
                      <a:latin typeface="Verdana" panose="020B0604030504040204" pitchFamily="34" charset="0"/>
                      <a:ea typeface="Verdana" panose="020B0604030504040204" pitchFamily="34" charset="0"/>
                      <a:cs typeface="Calibri" pitchFamily="34" charset="-120"/>
                    </a:rPr>
                    <a:t>₹73,099 </a:t>
                  </a:r>
                  <a:r>
                    <a:rPr lang="en-US" sz="1000" b="1" dirty="0" err="1">
                      <a:latin typeface="Verdana" panose="020B0604030504040204" pitchFamily="34" charset="0"/>
                      <a:ea typeface="Verdana" panose="020B0604030504040204" pitchFamily="34" charset="0"/>
                      <a:cs typeface="Calibri" pitchFamily="34" charset="-120"/>
                    </a:rPr>
                    <a:t>cr</a:t>
                  </a:r>
                  <a:r>
                    <a:rPr lang="en-US" sz="1000" b="1" dirty="0">
                      <a:latin typeface="Verdana" panose="020B0604030504040204" pitchFamily="34" charset="0"/>
                      <a:ea typeface="Verdana" panose="020B0604030504040204" pitchFamily="34" charset="0"/>
                      <a:cs typeface="Calibri" pitchFamily="34" charset="-120"/>
                    </a:rPr>
                    <a:t> → ₹2.63 lakh </a:t>
                  </a:r>
                  <a:r>
                    <a:rPr lang="en-US" sz="1000" b="1" dirty="0" err="1">
                      <a:latin typeface="Verdana" panose="020B0604030504040204" pitchFamily="34" charset="0"/>
                      <a:ea typeface="Verdana" panose="020B0604030504040204" pitchFamily="34" charset="0"/>
                      <a:cs typeface="Calibri" pitchFamily="34" charset="-120"/>
                    </a:rPr>
                    <a:t>cr</a:t>
                  </a:r>
                  <a:r>
                    <a:rPr lang="en-US" sz="1000" b="1" dirty="0">
                      <a:latin typeface="Verdana" panose="020B0604030504040204" pitchFamily="34" charset="0"/>
                      <a:ea typeface="Verdana" panose="020B0604030504040204" pitchFamily="34" charset="0"/>
                      <a:cs typeface="Calibri" pitchFamily="34" charset="-120"/>
                    </a:rPr>
                    <a:t>: </a:t>
                  </a:r>
                  <a:r>
                    <a:rPr lang="en-US" sz="1000" dirty="0">
                      <a:solidFill>
                        <a:srgbClr val="333333"/>
                      </a:solidFill>
                      <a:latin typeface="Verdana" panose="020B0604030504040204" pitchFamily="34" charset="0"/>
                      <a:ea typeface="Verdana" panose="020B0604030504040204" pitchFamily="34" charset="0"/>
                      <a:cs typeface="Calibri" pitchFamily="34" charset="-120"/>
                    </a:rPr>
                    <a:t>Cash transfers by States, 2018-19 to 2025-26 BE — a rise from roughly 3% to about 20% of total subsidies</a:t>
                  </a:r>
                  <a:endParaRPr lang="en-US" sz="1000" dirty="0">
                    <a:solidFill>
                      <a:prstClr val="black"/>
                    </a:solidFill>
                    <a:latin typeface="Verdana" panose="020B0604030504040204" pitchFamily="34" charset="0"/>
                    <a:ea typeface="Verdana" panose="020B0604030504040204" pitchFamily="34" charset="0"/>
                  </a:endParaRPr>
                </a:p>
                <a:p>
                  <a:endParaRPr lang="en-US" sz="1000" dirty="0">
                    <a:solidFill>
                      <a:prstClr val="black"/>
                    </a:solidFill>
                    <a:latin typeface="Verdana" panose="020B0604030504040204" pitchFamily="34" charset="0"/>
                    <a:ea typeface="Verdana" panose="020B0604030504040204" pitchFamily="34" charset="0"/>
                  </a:endParaRPr>
                </a:p>
              </p:txBody>
            </p:sp>
          </p:grpSp>
          <p:sp>
            <p:nvSpPr>
              <p:cNvPr id="48" name="Shape 7">
                <a:extLst>
                  <a:ext uri="{FF2B5EF4-FFF2-40B4-BE49-F238E27FC236}">
                    <a16:creationId xmlns:a16="http://schemas.microsoft.com/office/drawing/2014/main" id="{6388051A-2C6C-8E54-881C-6AAA532ADE01}"/>
                  </a:ext>
                </a:extLst>
              </p:cNvPr>
              <p:cNvSpPr/>
              <p:nvPr/>
            </p:nvSpPr>
            <p:spPr>
              <a:xfrm>
                <a:off x="9074530" y="2364625"/>
                <a:ext cx="2931756" cy="831917"/>
              </a:xfrm>
              <a:prstGeom prst="roundRect">
                <a:avLst>
                  <a:gd name="adj" fmla="val 3226"/>
                </a:avLst>
              </a:prstGeom>
              <a:solidFill>
                <a:srgbClr val="FAFAFA"/>
              </a:solidFill>
              <a:ln w="9525">
                <a:solidFill>
                  <a:srgbClr val="D9D9D9"/>
                </a:solidFill>
                <a:prstDash val="solid"/>
              </a:ln>
            </p:spPr>
            <p:txBody>
              <a:bodyPr/>
              <a:lstStyle/>
              <a:p>
                <a:endParaRPr lang="en-IN" sz="1000">
                  <a:solidFill>
                    <a:prstClr val="black"/>
                  </a:solidFill>
                  <a:latin typeface="Verdana" panose="020B0604030504040204" pitchFamily="34" charset="0"/>
                  <a:ea typeface="Verdana" panose="020B0604030504040204" pitchFamily="34" charset="0"/>
                </a:endParaRPr>
              </a:p>
            </p:txBody>
          </p:sp>
          <p:sp>
            <p:nvSpPr>
              <p:cNvPr id="49" name="Text 8">
                <a:extLst>
                  <a:ext uri="{FF2B5EF4-FFF2-40B4-BE49-F238E27FC236}">
                    <a16:creationId xmlns:a16="http://schemas.microsoft.com/office/drawing/2014/main" id="{F852835F-A4DA-F209-DB02-2111FF14E81A}"/>
                  </a:ext>
                </a:extLst>
              </p:cNvPr>
              <p:cNvSpPr/>
              <p:nvPr/>
            </p:nvSpPr>
            <p:spPr>
              <a:xfrm>
                <a:off x="9159898" y="2632181"/>
                <a:ext cx="2798140" cy="365760"/>
              </a:xfrm>
              <a:prstGeom prst="rect">
                <a:avLst/>
              </a:prstGeom>
              <a:noFill/>
              <a:ln/>
            </p:spPr>
            <p:txBody>
              <a:bodyPr wrap="square" lIns="0" tIns="0" rIns="0" bIns="0" rtlCol="0" anchor="ctr"/>
              <a:lstStyle/>
              <a:p>
                <a:r>
                  <a:rPr lang="en-US" sz="1000" b="1" dirty="0">
                    <a:latin typeface="Verdana" panose="020B0604030504040204" pitchFamily="34" charset="0"/>
                    <a:ea typeface="Verdana" panose="020B0604030504040204" pitchFamily="34" charset="0"/>
                    <a:cs typeface="Calibri" pitchFamily="34" charset="-120"/>
                  </a:rPr>
                  <a:t>85.0%:</a:t>
                </a:r>
                <a:r>
                  <a:rPr lang="en-US" sz="1000" dirty="0">
                    <a:solidFill>
                      <a:srgbClr val="333333"/>
                    </a:solidFill>
                    <a:latin typeface="Verdana" panose="020B0604030504040204" pitchFamily="34" charset="0"/>
                    <a:ea typeface="Verdana" panose="020B0604030504040204" pitchFamily="34" charset="0"/>
                    <a:cs typeface="Calibri" pitchFamily="34" charset="-120"/>
                  </a:rPr>
                  <a:t>Share of consumption subsidies and unconditional transfers in the 2023-24 aggregate; above 90% in Punjab, Karnataka, Chhattisgarh and Rajasthan</a:t>
                </a:r>
                <a:endParaRPr lang="en-US" sz="1000" dirty="0">
                  <a:solidFill>
                    <a:prstClr val="black"/>
                  </a:solidFill>
                  <a:latin typeface="Verdana" panose="020B0604030504040204" pitchFamily="34" charset="0"/>
                  <a:ea typeface="Verdana" panose="020B0604030504040204" pitchFamily="34" charset="0"/>
                </a:endParaRPr>
              </a:p>
              <a:p>
                <a:r>
                  <a:rPr lang="en-US" sz="1000" b="1" dirty="0">
                    <a:solidFill>
                      <a:srgbClr val="0A4A4E"/>
                    </a:solidFill>
                    <a:latin typeface="Verdana" panose="020B0604030504040204" pitchFamily="34" charset="0"/>
                    <a:ea typeface="Verdana" panose="020B0604030504040204" pitchFamily="34" charset="0"/>
                    <a:cs typeface="Calibri" pitchFamily="34" charset="-120"/>
                  </a:rPr>
                  <a:t> </a:t>
                </a:r>
                <a:endParaRPr lang="en-US" sz="1000" dirty="0">
                  <a:solidFill>
                    <a:prstClr val="black"/>
                  </a:solidFill>
                  <a:latin typeface="Verdana" panose="020B0604030504040204" pitchFamily="34" charset="0"/>
                  <a:ea typeface="Verdana" panose="020B0604030504040204" pitchFamily="34" charset="0"/>
                </a:endParaRPr>
              </a:p>
            </p:txBody>
          </p:sp>
          <p:sp>
            <p:nvSpPr>
              <p:cNvPr id="50" name="Shape 10">
                <a:extLst>
                  <a:ext uri="{FF2B5EF4-FFF2-40B4-BE49-F238E27FC236}">
                    <a16:creationId xmlns:a16="http://schemas.microsoft.com/office/drawing/2014/main" id="{08A97450-9C1D-6FCB-51D7-F6251BE53F17}"/>
                  </a:ext>
                </a:extLst>
              </p:cNvPr>
              <p:cNvSpPr/>
              <p:nvPr/>
            </p:nvSpPr>
            <p:spPr>
              <a:xfrm>
                <a:off x="9080560" y="3226023"/>
                <a:ext cx="2925726" cy="831917"/>
              </a:xfrm>
              <a:prstGeom prst="roundRect">
                <a:avLst>
                  <a:gd name="adj" fmla="val 3226"/>
                </a:avLst>
              </a:prstGeom>
              <a:solidFill>
                <a:srgbClr val="FAFAFA"/>
              </a:solidFill>
              <a:ln w="9525">
                <a:solidFill>
                  <a:srgbClr val="D9D9D9"/>
                </a:solidFill>
                <a:prstDash val="solid"/>
              </a:ln>
            </p:spPr>
            <p:txBody>
              <a:bodyPr/>
              <a:lstStyle/>
              <a:p>
                <a:endParaRPr lang="en-IN" sz="1000">
                  <a:solidFill>
                    <a:prstClr val="black"/>
                  </a:solidFill>
                  <a:latin typeface="Verdana" panose="020B0604030504040204" pitchFamily="34" charset="0"/>
                  <a:ea typeface="Verdana" panose="020B0604030504040204" pitchFamily="34" charset="0"/>
                </a:endParaRPr>
              </a:p>
            </p:txBody>
          </p:sp>
        </p:grpSp>
        <p:grpSp>
          <p:nvGrpSpPr>
            <p:cNvPr id="51" name="Group 50">
              <a:extLst>
                <a:ext uri="{FF2B5EF4-FFF2-40B4-BE49-F238E27FC236}">
                  <a16:creationId xmlns:a16="http://schemas.microsoft.com/office/drawing/2014/main" id="{6EE534FC-1E0B-64CF-D65D-4D9787E2E5F1}"/>
                </a:ext>
              </a:extLst>
            </p:cNvPr>
            <p:cNvGrpSpPr/>
            <p:nvPr/>
          </p:nvGrpSpPr>
          <p:grpSpPr>
            <a:xfrm>
              <a:off x="9145788" y="3573387"/>
              <a:ext cx="2671757" cy="426407"/>
              <a:chOff x="9290304" y="2954215"/>
              <a:chExt cx="2404872" cy="1636073"/>
            </a:xfrm>
          </p:grpSpPr>
          <p:sp>
            <p:nvSpPr>
              <p:cNvPr id="52" name="Text 11">
                <a:extLst>
                  <a:ext uri="{FF2B5EF4-FFF2-40B4-BE49-F238E27FC236}">
                    <a16:creationId xmlns:a16="http://schemas.microsoft.com/office/drawing/2014/main" id="{22660498-931A-9607-C8F1-1CDE6FC745FB}"/>
                  </a:ext>
                </a:extLst>
              </p:cNvPr>
              <p:cNvSpPr/>
              <p:nvPr/>
            </p:nvSpPr>
            <p:spPr>
              <a:xfrm>
                <a:off x="9290304" y="2954215"/>
                <a:ext cx="2377440" cy="365760"/>
              </a:xfrm>
              <a:prstGeom prst="rect">
                <a:avLst/>
              </a:prstGeom>
              <a:noFill/>
              <a:ln/>
            </p:spPr>
            <p:txBody>
              <a:bodyPr wrap="square" lIns="0" tIns="0" rIns="0" bIns="0" rtlCol="0" anchor="ctr"/>
              <a:lstStyle/>
              <a:p>
                <a:r>
                  <a:rPr lang="en-US" sz="1000" b="1">
                    <a:latin typeface="Verdana" panose="020B0604030504040204" pitchFamily="34" charset="0"/>
                    <a:ea typeface="Verdana" panose="020B0604030504040204" pitchFamily="34" charset="0"/>
                    <a:cs typeface="Calibri" pitchFamily="34" charset="-120"/>
                  </a:rPr>
                  <a:t>34.2% / 15.5%: </a:t>
                </a:r>
                <a:r>
                  <a:rPr lang="en-US" sz="1000">
                    <a:solidFill>
                      <a:srgbClr val="333333"/>
                    </a:solidFill>
                    <a:latin typeface="Verdana" panose="020B0604030504040204" pitchFamily="34" charset="0"/>
                    <a:ea typeface="Verdana" panose="020B0604030504040204" pitchFamily="34" charset="0"/>
                    <a:cs typeface="Calibri" pitchFamily="34" charset="-120"/>
                  </a:rPr>
                  <a:t>Power sector and social-security pensions as shares of the ~₹6 lakh crore spent in 2023-24 (16th FC)</a:t>
                </a:r>
                <a:endParaRPr lang="en-US" sz="1000">
                  <a:solidFill>
                    <a:prstClr val="black"/>
                  </a:solidFill>
                  <a:latin typeface="Verdana" panose="020B0604030504040204" pitchFamily="34" charset="0"/>
                  <a:ea typeface="Verdana" panose="020B0604030504040204" pitchFamily="34" charset="0"/>
                </a:endParaRPr>
              </a:p>
            </p:txBody>
          </p:sp>
          <p:sp>
            <p:nvSpPr>
              <p:cNvPr id="53" name="Text 12">
                <a:extLst>
                  <a:ext uri="{FF2B5EF4-FFF2-40B4-BE49-F238E27FC236}">
                    <a16:creationId xmlns:a16="http://schemas.microsoft.com/office/drawing/2014/main" id="{9BAE8EF3-C550-85D5-277B-C8FE10B54819}"/>
                  </a:ext>
                </a:extLst>
              </p:cNvPr>
              <p:cNvSpPr/>
              <p:nvPr/>
            </p:nvSpPr>
            <p:spPr>
              <a:xfrm>
                <a:off x="9317736" y="3986784"/>
                <a:ext cx="2377440" cy="603504"/>
              </a:xfrm>
              <a:prstGeom prst="rect">
                <a:avLst/>
              </a:prstGeom>
              <a:noFill/>
              <a:ln/>
            </p:spPr>
            <p:txBody>
              <a:bodyPr wrap="square" lIns="0" tIns="0" rIns="0" bIns="0" rtlCol="0" anchor="t"/>
              <a:lstStyle/>
              <a:p>
                <a:endParaRPr lang="en-US" sz="1000">
                  <a:solidFill>
                    <a:prstClr val="black"/>
                  </a:solidFill>
                  <a:latin typeface="Verdana" panose="020B0604030504040204" pitchFamily="34" charset="0"/>
                  <a:ea typeface="Verdana" panose="020B0604030504040204" pitchFamily="34" charset="0"/>
                </a:endParaRPr>
              </a:p>
            </p:txBody>
          </p:sp>
        </p:grpSp>
      </p:grpSp>
      <p:sp>
        <p:nvSpPr>
          <p:cNvPr id="349" name="Text 5">
            <a:extLst>
              <a:ext uri="{FF2B5EF4-FFF2-40B4-BE49-F238E27FC236}">
                <a16:creationId xmlns:a16="http://schemas.microsoft.com/office/drawing/2014/main" id="{EC40E7D6-893E-4773-EED2-404505375B73}"/>
              </a:ext>
            </a:extLst>
          </p:cNvPr>
          <p:cNvSpPr/>
          <p:nvPr/>
        </p:nvSpPr>
        <p:spPr>
          <a:xfrm>
            <a:off x="530319" y="5211975"/>
            <a:ext cx="4673352" cy="426105"/>
          </a:xfrm>
          <a:prstGeom prst="rect">
            <a:avLst/>
          </a:prstGeom>
          <a:solidFill>
            <a:schemeClr val="bg1">
              <a:lumMod val="95000"/>
            </a:schemeClr>
          </a:solidFill>
          <a:ln/>
        </p:spPr>
        <p:txBody>
          <a:bodyPr wrap="square" lIns="0" tIns="0" rIns="0" bIns="0" rtlCol="0" anchor="ctr"/>
          <a:lstStyle/>
          <a:p>
            <a:pPr algn="ctr"/>
            <a:r>
              <a:rPr lang="en-US" sz="900" b="1" dirty="0">
                <a:solidFill>
                  <a:srgbClr val="C00000"/>
                </a:solidFill>
                <a:latin typeface="Verdana" panose="020B0604030504040204" pitchFamily="34" charset="0"/>
                <a:ea typeface="Verdana" panose="020B0604030504040204" pitchFamily="34" charset="0"/>
                <a:cs typeface="Calibri" pitchFamily="34" charset="-120"/>
              </a:rPr>
              <a:t>₹9 states spent &gt;5% of revenue on cash transfers; 6 ran revenue deficits.</a:t>
            </a:r>
            <a:endParaRPr lang="en-US" sz="900" dirty="0">
              <a:solidFill>
                <a:prstClr val="black"/>
              </a:solidFill>
              <a:latin typeface="Verdana" panose="020B0604030504040204" pitchFamily="34" charset="0"/>
              <a:ea typeface="Verdana" panose="020B0604030504040204" pitchFamily="34" charset="0"/>
            </a:endParaRPr>
          </a:p>
        </p:txBody>
      </p:sp>
      <p:sp>
        <p:nvSpPr>
          <p:cNvPr id="350" name="Text 5">
            <a:extLst>
              <a:ext uri="{FF2B5EF4-FFF2-40B4-BE49-F238E27FC236}">
                <a16:creationId xmlns:a16="http://schemas.microsoft.com/office/drawing/2014/main" id="{F1588206-9B39-D3FE-63E1-2446B90A8140}"/>
              </a:ext>
            </a:extLst>
          </p:cNvPr>
          <p:cNvSpPr/>
          <p:nvPr/>
        </p:nvSpPr>
        <p:spPr>
          <a:xfrm>
            <a:off x="2146088" y="4927933"/>
            <a:ext cx="3972457" cy="338214"/>
          </a:xfrm>
          <a:prstGeom prst="rect">
            <a:avLst/>
          </a:prstGeom>
          <a:solidFill>
            <a:schemeClr val="bg1">
              <a:lumMod val="95000"/>
            </a:schemeClr>
          </a:solidFill>
          <a:ln/>
        </p:spPr>
        <p:txBody>
          <a:bodyPr wrap="square" lIns="0" tIns="0" rIns="0" bIns="0" rtlCol="0" anchor="ctr"/>
          <a:lstStyle/>
          <a:p>
            <a:pPr algn="ctr"/>
            <a:r>
              <a:rPr lang="en-US" sz="1000" b="1" dirty="0">
                <a:solidFill>
                  <a:srgbClr val="C00000"/>
                </a:solidFill>
                <a:latin typeface="Verdana" panose="020B0604030504040204" pitchFamily="34" charset="0"/>
                <a:ea typeface="Verdana" panose="020B0604030504040204" pitchFamily="34" charset="0"/>
                <a:cs typeface="Calibri" pitchFamily="34" charset="-120"/>
              </a:rPr>
              <a:t>₹Transfers were largely financed through borrowing or capex cuts.</a:t>
            </a:r>
            <a:endParaRPr lang="en-US" sz="1000" dirty="0">
              <a:solidFill>
                <a:prstClr val="black"/>
              </a:solidFill>
              <a:latin typeface="Verdana" panose="020B0604030504040204" pitchFamily="34" charset="0"/>
              <a:ea typeface="Verdana" panose="020B0604030504040204" pitchFamily="34" charset="0"/>
            </a:endParaRPr>
          </a:p>
          <a:p>
            <a:pPr algn="ctr"/>
            <a:endParaRPr lang="en-US" sz="1000" dirty="0">
              <a:solidFill>
                <a:prstClr val="black"/>
              </a:solidFill>
              <a:latin typeface="Verdana" panose="020B0604030504040204" pitchFamily="34" charset="0"/>
              <a:ea typeface="Verdana" panose="020B0604030504040204" pitchFamily="34" charset="0"/>
            </a:endParaRPr>
          </a:p>
        </p:txBody>
      </p:sp>
      <p:sp>
        <p:nvSpPr>
          <p:cNvPr id="320" name="Rectangle 319">
            <a:extLst>
              <a:ext uri="{FF2B5EF4-FFF2-40B4-BE49-F238E27FC236}">
                <a16:creationId xmlns:a16="http://schemas.microsoft.com/office/drawing/2014/main" id="{16A4260A-9049-EAE2-F8C7-B28DE741E8C1}"/>
              </a:ext>
            </a:extLst>
          </p:cNvPr>
          <p:cNvSpPr/>
          <p:nvPr/>
        </p:nvSpPr>
        <p:spPr>
          <a:xfrm>
            <a:off x="6835698" y="797205"/>
            <a:ext cx="5204147" cy="400110"/>
          </a:xfrm>
          <a:prstGeom prst="rect">
            <a:avLst/>
          </a:prstGeom>
          <a:solidFill>
            <a:schemeClr val="bg1"/>
          </a:solidFill>
        </p:spPr>
        <p:txBody>
          <a:bodyPr wrap="square" lIns="91440" tIns="45720" rIns="91440" bIns="45720">
            <a:spAutoFit/>
          </a:bodyPr>
          <a:lstStyle/>
          <a:p>
            <a:pPr algn="ctr"/>
            <a:r>
              <a:rPr lang="en-US" sz="1000" b="1" i="1" cap="none" spc="0" dirty="0">
                <a:ln w="0"/>
                <a:solidFill>
                  <a:schemeClr val="tx1"/>
                </a:solidFill>
                <a:latin typeface="Verdana" panose="020B0604030504040204" pitchFamily="34" charset="0"/>
                <a:ea typeface="Verdana" panose="020B0604030504040204" pitchFamily="34" charset="0"/>
              </a:rPr>
              <a:t>Three conceptual Challenges compounded by three structural gaps in reporting</a:t>
            </a:r>
          </a:p>
        </p:txBody>
      </p:sp>
      <p:sp>
        <p:nvSpPr>
          <p:cNvPr id="55" name="Text 14">
            <a:extLst>
              <a:ext uri="{FF2B5EF4-FFF2-40B4-BE49-F238E27FC236}">
                <a16:creationId xmlns:a16="http://schemas.microsoft.com/office/drawing/2014/main" id="{C711BE8A-2180-3DC2-9BE3-D2E4A459077B}"/>
              </a:ext>
            </a:extLst>
          </p:cNvPr>
          <p:cNvSpPr/>
          <p:nvPr/>
        </p:nvSpPr>
        <p:spPr>
          <a:xfrm>
            <a:off x="4969927" y="4409721"/>
            <a:ext cx="11319709" cy="340128"/>
          </a:xfrm>
          <a:prstGeom prst="rect">
            <a:avLst/>
          </a:prstGeom>
          <a:noFill/>
          <a:ln/>
        </p:spPr>
        <p:txBody>
          <a:bodyPr wrap="square" lIns="0" tIns="0" rIns="0" bIns="0" rtlCol="0" anchor="ctr"/>
          <a:lstStyle/>
          <a:p>
            <a:pPr algn="ctr"/>
            <a:r>
              <a:rPr lang="en-US" sz="1000" b="1">
                <a:solidFill>
                  <a:srgbClr val="FFFFFF"/>
                </a:solidFill>
                <a:latin typeface="Verdana" panose="020B0604030504040204" pitchFamily="34" charset="0"/>
                <a:ea typeface="Verdana" panose="020B0604030504040204" pitchFamily="34" charset="0"/>
                <a:cs typeface="Calibri" pitchFamily="34" charset="-120"/>
              </a:rPr>
              <a:t>WHY THIS MATTERS FOR FISCAL PRUDENCE</a:t>
            </a:r>
            <a:endParaRPr lang="en-US" sz="1000">
              <a:solidFill>
                <a:prstClr val="black"/>
              </a:solidFill>
              <a:latin typeface="Verdana" panose="020B0604030504040204" pitchFamily="34" charset="0"/>
              <a:ea typeface="Verdana" panose="020B0604030504040204" pitchFamily="34" charset="0"/>
            </a:endParaRPr>
          </a:p>
        </p:txBody>
      </p:sp>
      <p:grpSp>
        <p:nvGrpSpPr>
          <p:cNvPr id="34" name="Group 33">
            <a:extLst>
              <a:ext uri="{FF2B5EF4-FFF2-40B4-BE49-F238E27FC236}">
                <a16:creationId xmlns:a16="http://schemas.microsoft.com/office/drawing/2014/main" id="{A7032F9D-E1A9-4773-07BD-C3519001C821}"/>
              </a:ext>
            </a:extLst>
          </p:cNvPr>
          <p:cNvGrpSpPr/>
          <p:nvPr/>
        </p:nvGrpSpPr>
        <p:grpSpPr>
          <a:xfrm>
            <a:off x="6926032" y="1337316"/>
            <a:ext cx="5023478" cy="2772081"/>
            <a:chOff x="4969927" y="4526680"/>
            <a:chExt cx="5645401" cy="1491475"/>
          </a:xfrm>
        </p:grpSpPr>
        <p:sp>
          <p:nvSpPr>
            <p:cNvPr id="351" name="Text 5">
              <a:extLst>
                <a:ext uri="{FF2B5EF4-FFF2-40B4-BE49-F238E27FC236}">
                  <a16:creationId xmlns:a16="http://schemas.microsoft.com/office/drawing/2014/main" id="{F1588206-9B39-D3FE-63E1-2446B90A8140}"/>
                </a:ext>
              </a:extLst>
            </p:cNvPr>
            <p:cNvSpPr/>
            <p:nvPr/>
          </p:nvSpPr>
          <p:spPr>
            <a:xfrm>
              <a:off x="5272622" y="4663642"/>
              <a:ext cx="2925727" cy="426105"/>
            </a:xfrm>
            <a:prstGeom prst="rect">
              <a:avLst/>
            </a:prstGeom>
            <a:solidFill>
              <a:schemeClr val="bg1">
                <a:lumMod val="95000"/>
              </a:schemeClr>
            </a:solidFill>
            <a:ln/>
          </p:spPr>
          <p:txBody>
            <a:bodyPr wrap="square" lIns="0" tIns="0" rIns="0" bIns="0" rtlCol="0" anchor="ctr"/>
            <a:lstStyle/>
            <a:p>
              <a:r>
                <a:rPr lang="en-US" sz="1050" b="1">
                  <a:solidFill>
                    <a:srgbClr val="C00000"/>
                  </a:solidFill>
                  <a:latin typeface="Verdana" panose="020B0604030504040204" pitchFamily="34" charset="0"/>
                  <a:ea typeface="Verdana" panose="020B0604030504040204" pitchFamily="34" charset="0"/>
                  <a:cs typeface="Calibri" pitchFamily="34" charset="-120"/>
                </a:rPr>
                <a:t>Audits found ineligible beneficiaries and duplication.</a:t>
              </a:r>
              <a:endParaRPr lang="en-US" sz="1050">
                <a:solidFill>
                  <a:prstClr val="black"/>
                </a:solidFill>
                <a:latin typeface="Verdana" panose="020B0604030504040204" pitchFamily="34" charset="0"/>
                <a:ea typeface="Verdana" panose="020B0604030504040204" pitchFamily="34" charset="0"/>
              </a:endParaRPr>
            </a:p>
          </p:txBody>
        </p:sp>
        <p:grpSp>
          <p:nvGrpSpPr>
            <p:cNvPr id="334" name="Group 333">
              <a:extLst>
                <a:ext uri="{FF2B5EF4-FFF2-40B4-BE49-F238E27FC236}">
                  <a16:creationId xmlns:a16="http://schemas.microsoft.com/office/drawing/2014/main" id="{FD38CEF5-B4FD-7644-8D65-522AA9A8C90A}"/>
                </a:ext>
              </a:extLst>
            </p:cNvPr>
            <p:cNvGrpSpPr/>
            <p:nvPr/>
          </p:nvGrpSpPr>
          <p:grpSpPr>
            <a:xfrm>
              <a:off x="4969927" y="4526680"/>
              <a:ext cx="5645401" cy="1491475"/>
              <a:chOff x="6720840" y="1316736"/>
              <a:chExt cx="4983480" cy="2724912"/>
            </a:xfrm>
          </p:grpSpPr>
          <p:sp>
            <p:nvSpPr>
              <p:cNvPr id="335" name="Shape 19">
                <a:extLst>
                  <a:ext uri="{FF2B5EF4-FFF2-40B4-BE49-F238E27FC236}">
                    <a16:creationId xmlns:a16="http://schemas.microsoft.com/office/drawing/2014/main" id="{842369E2-0636-1802-BBD3-F551E2747161}"/>
                  </a:ext>
                </a:extLst>
              </p:cNvPr>
              <p:cNvSpPr/>
              <p:nvPr/>
            </p:nvSpPr>
            <p:spPr>
              <a:xfrm>
                <a:off x="6720840" y="1316736"/>
                <a:ext cx="4983480" cy="859536"/>
              </a:xfrm>
              <a:prstGeom prst="roundRect">
                <a:avLst>
                  <a:gd name="adj" fmla="val 5319"/>
                </a:avLst>
              </a:prstGeom>
              <a:solidFill>
                <a:srgbClr val="FFFFFF"/>
              </a:solidFill>
              <a:ln w="9525">
                <a:solidFill>
                  <a:srgbClr val="D6DEE0"/>
                </a:solidFill>
                <a:prstDash val="solid"/>
              </a:ln>
              <a:effectLst>
                <a:outerShdw blurRad="76200" dist="17780" dir="5400000" algn="bl" rotWithShape="0">
                  <a:srgbClr val="1A1A1A">
                    <a:alpha val="8000"/>
                  </a:srgbClr>
                </a:outerShdw>
              </a:effectLst>
            </p:spPr>
            <p:txBody>
              <a:bodyPr/>
              <a:lstStyle/>
              <a:p>
                <a:endParaRPr lang="en-IN" sz="1050">
                  <a:latin typeface="Verdana" panose="020B0604030504040204" pitchFamily="34" charset="0"/>
                  <a:ea typeface="Verdana" panose="020B0604030504040204" pitchFamily="34" charset="0"/>
                </a:endParaRPr>
              </a:p>
            </p:txBody>
          </p:sp>
          <p:sp>
            <p:nvSpPr>
              <p:cNvPr id="336" name="Shape 20">
                <a:extLst>
                  <a:ext uri="{FF2B5EF4-FFF2-40B4-BE49-F238E27FC236}">
                    <a16:creationId xmlns:a16="http://schemas.microsoft.com/office/drawing/2014/main" id="{F73CC9BC-9E66-5C33-1280-5AD9B0BE04C2}"/>
                  </a:ext>
                </a:extLst>
              </p:cNvPr>
              <p:cNvSpPr/>
              <p:nvPr/>
            </p:nvSpPr>
            <p:spPr>
              <a:xfrm>
                <a:off x="6720840" y="1316736"/>
                <a:ext cx="54864" cy="859536"/>
              </a:xfrm>
              <a:prstGeom prst="rect">
                <a:avLst/>
              </a:prstGeom>
              <a:solidFill>
                <a:schemeClr val="accent1">
                  <a:lumMod val="60000"/>
                  <a:lumOff val="40000"/>
                </a:schemeClr>
              </a:solidFill>
              <a:ln/>
            </p:spPr>
            <p:txBody>
              <a:bodyPr/>
              <a:lstStyle/>
              <a:p>
                <a:endParaRPr lang="en-IN" sz="1050">
                  <a:latin typeface="Verdana" panose="020B0604030504040204" pitchFamily="34" charset="0"/>
                  <a:ea typeface="Verdana" panose="020B0604030504040204" pitchFamily="34" charset="0"/>
                </a:endParaRPr>
              </a:p>
            </p:txBody>
          </p:sp>
          <p:sp>
            <p:nvSpPr>
              <p:cNvPr id="337" name="Text 21">
                <a:extLst>
                  <a:ext uri="{FF2B5EF4-FFF2-40B4-BE49-F238E27FC236}">
                    <a16:creationId xmlns:a16="http://schemas.microsoft.com/office/drawing/2014/main" id="{C4987A86-3D7A-2D6F-83C7-54A5CD2693E3}"/>
                  </a:ext>
                </a:extLst>
              </p:cNvPr>
              <p:cNvSpPr/>
              <p:nvPr/>
            </p:nvSpPr>
            <p:spPr>
              <a:xfrm>
                <a:off x="6896533" y="1661137"/>
                <a:ext cx="4617720" cy="237744"/>
              </a:xfrm>
              <a:prstGeom prst="rect">
                <a:avLst/>
              </a:prstGeom>
              <a:noFill/>
              <a:ln/>
            </p:spPr>
            <p:txBody>
              <a:bodyPr wrap="square" lIns="0" tIns="0" rIns="0" bIns="0" rtlCol="0" anchor="ctr"/>
              <a:lstStyle/>
              <a:p>
                <a:r>
                  <a:rPr lang="en-US" sz="1050" b="1" dirty="0">
                    <a:solidFill>
                      <a:schemeClr val="accent1"/>
                    </a:solidFill>
                    <a:latin typeface="Verdana" panose="020B0604030504040204" pitchFamily="34" charset="0"/>
                    <a:ea typeface="Verdana" panose="020B0604030504040204" pitchFamily="34" charset="0"/>
                    <a:cs typeface="Arial" pitchFamily="34" charset="-120"/>
                  </a:rPr>
                  <a:t>Definitional ambiguity</a:t>
                </a:r>
                <a:r>
                  <a:rPr lang="en-US" sz="1050" b="1" dirty="0">
                    <a:solidFill>
                      <a:srgbClr val="031D41"/>
                    </a:solidFill>
                    <a:latin typeface="Verdana" panose="020B0604030504040204" pitchFamily="34" charset="0"/>
                    <a:ea typeface="Verdana" panose="020B0604030504040204" pitchFamily="34" charset="0"/>
                    <a:cs typeface="Arial" pitchFamily="34" charset="-120"/>
                  </a:rPr>
                  <a:t>: </a:t>
                </a:r>
                <a:r>
                  <a:rPr lang="en-US" sz="1050" dirty="0">
                    <a:solidFill>
                      <a:srgbClr val="1A1A1A"/>
                    </a:solidFill>
                    <a:latin typeface="Verdana" panose="020B0604030504040204" pitchFamily="34" charset="0"/>
                    <a:ea typeface="Verdana" panose="020B0604030504040204" pitchFamily="34" charset="0"/>
                    <a:cs typeface="Calibri" pitchFamily="34" charset="-120"/>
                  </a:rPr>
                  <a:t>No single definition captures every use of the term. International standards focus on transfers to producers; Indian welfare </a:t>
                </a:r>
                <a:r>
                  <a:rPr lang="en-US" sz="1050" dirty="0" err="1">
                    <a:solidFill>
                      <a:srgbClr val="1A1A1A"/>
                    </a:solidFill>
                    <a:latin typeface="Verdana" panose="020B0604030504040204" pitchFamily="34" charset="0"/>
                    <a:ea typeface="Verdana" panose="020B0604030504040204" pitchFamily="34" charset="0"/>
                    <a:cs typeface="Calibri" pitchFamily="34" charset="-120"/>
                  </a:rPr>
                  <a:t>programmes</a:t>
                </a:r>
                <a:r>
                  <a:rPr lang="en-US" sz="1050" dirty="0">
                    <a:solidFill>
                      <a:srgbClr val="1A1A1A"/>
                    </a:solidFill>
                    <a:latin typeface="Verdana" panose="020B0604030504040204" pitchFamily="34" charset="0"/>
                    <a:ea typeface="Verdana" panose="020B0604030504040204" pitchFamily="34" charset="0"/>
                    <a:cs typeface="Calibri" pitchFamily="34" charset="-120"/>
                  </a:rPr>
                  <a:t> also transfer to consumers and households</a:t>
                </a:r>
                <a:endParaRPr lang="en-US" sz="1050" dirty="0">
                  <a:latin typeface="Verdana" panose="020B0604030504040204" pitchFamily="34" charset="0"/>
                  <a:ea typeface="Verdana" panose="020B0604030504040204" pitchFamily="34" charset="0"/>
                </a:endParaRPr>
              </a:p>
            </p:txBody>
          </p:sp>
          <p:sp>
            <p:nvSpPr>
              <p:cNvPr id="338" name="Text 22">
                <a:extLst>
                  <a:ext uri="{FF2B5EF4-FFF2-40B4-BE49-F238E27FC236}">
                    <a16:creationId xmlns:a16="http://schemas.microsoft.com/office/drawing/2014/main" id="{E42C288F-8C1D-16C3-373F-79623D9A39CD}"/>
                  </a:ext>
                </a:extLst>
              </p:cNvPr>
              <p:cNvSpPr/>
              <p:nvPr/>
            </p:nvSpPr>
            <p:spPr>
              <a:xfrm>
                <a:off x="6931152" y="1600200"/>
                <a:ext cx="4617720" cy="530352"/>
              </a:xfrm>
              <a:prstGeom prst="rect">
                <a:avLst/>
              </a:prstGeom>
              <a:noFill/>
              <a:ln/>
            </p:spPr>
            <p:txBody>
              <a:bodyPr wrap="square" lIns="0" tIns="0" rIns="0" bIns="0" rtlCol="0" anchor="t"/>
              <a:lstStyle/>
              <a:p>
                <a:pPr marL="0" indent="0">
                  <a:lnSpc>
                    <a:spcPct val="93000"/>
                  </a:lnSpc>
                  <a:buNone/>
                </a:pPr>
                <a:r>
                  <a:rPr lang="en-US" sz="1050">
                    <a:solidFill>
                      <a:srgbClr val="1A1A1A"/>
                    </a:solidFill>
                    <a:latin typeface="Verdana" panose="020B0604030504040204" pitchFamily="34" charset="0"/>
                    <a:ea typeface="Verdana" panose="020B0604030504040204" pitchFamily="34" charset="0"/>
                    <a:cs typeface="Calibri" pitchFamily="34" charset="-120"/>
                  </a:rPr>
                  <a:t>.</a:t>
                </a:r>
                <a:endParaRPr lang="en-US" sz="1050">
                  <a:latin typeface="Verdana" panose="020B0604030504040204" pitchFamily="34" charset="0"/>
                  <a:ea typeface="Verdana" panose="020B0604030504040204" pitchFamily="34" charset="0"/>
                </a:endParaRPr>
              </a:p>
            </p:txBody>
          </p:sp>
          <p:sp>
            <p:nvSpPr>
              <p:cNvPr id="339" name="Shape 23">
                <a:extLst>
                  <a:ext uri="{FF2B5EF4-FFF2-40B4-BE49-F238E27FC236}">
                    <a16:creationId xmlns:a16="http://schemas.microsoft.com/office/drawing/2014/main" id="{312099B8-86E7-F5B2-F905-38B944F8F2C4}"/>
                  </a:ext>
                </a:extLst>
              </p:cNvPr>
              <p:cNvSpPr/>
              <p:nvPr/>
            </p:nvSpPr>
            <p:spPr>
              <a:xfrm>
                <a:off x="6720840" y="2249424"/>
                <a:ext cx="4983480" cy="859536"/>
              </a:xfrm>
              <a:prstGeom prst="roundRect">
                <a:avLst>
                  <a:gd name="adj" fmla="val 5319"/>
                </a:avLst>
              </a:prstGeom>
              <a:solidFill>
                <a:srgbClr val="FFFFFF"/>
              </a:solidFill>
              <a:ln w="9525">
                <a:solidFill>
                  <a:srgbClr val="D6DEE0"/>
                </a:solidFill>
                <a:prstDash val="solid"/>
              </a:ln>
              <a:effectLst>
                <a:outerShdw blurRad="76200" dist="17780" dir="5400000" algn="bl" rotWithShape="0">
                  <a:srgbClr val="1A1A1A">
                    <a:alpha val="8000"/>
                  </a:srgbClr>
                </a:outerShdw>
              </a:effectLst>
            </p:spPr>
            <p:txBody>
              <a:bodyPr/>
              <a:lstStyle/>
              <a:p>
                <a:endParaRPr lang="en-IN" sz="1050">
                  <a:latin typeface="Verdana" panose="020B0604030504040204" pitchFamily="34" charset="0"/>
                  <a:ea typeface="Verdana" panose="020B0604030504040204" pitchFamily="34" charset="0"/>
                </a:endParaRPr>
              </a:p>
            </p:txBody>
          </p:sp>
          <p:sp>
            <p:nvSpPr>
              <p:cNvPr id="340" name="Shape 24">
                <a:extLst>
                  <a:ext uri="{FF2B5EF4-FFF2-40B4-BE49-F238E27FC236}">
                    <a16:creationId xmlns:a16="http://schemas.microsoft.com/office/drawing/2014/main" id="{D46C06DE-B582-1838-EC93-C0DF4E768006}"/>
                  </a:ext>
                </a:extLst>
              </p:cNvPr>
              <p:cNvSpPr/>
              <p:nvPr/>
            </p:nvSpPr>
            <p:spPr>
              <a:xfrm>
                <a:off x="6720840" y="2249424"/>
                <a:ext cx="54864" cy="859536"/>
              </a:xfrm>
              <a:prstGeom prst="rect">
                <a:avLst/>
              </a:prstGeom>
              <a:solidFill>
                <a:schemeClr val="accent1">
                  <a:lumMod val="60000"/>
                  <a:lumOff val="40000"/>
                </a:schemeClr>
              </a:solidFill>
              <a:ln/>
            </p:spPr>
            <p:txBody>
              <a:bodyPr/>
              <a:lstStyle/>
              <a:p>
                <a:endParaRPr lang="en-IN" sz="1050">
                  <a:latin typeface="Verdana" panose="020B0604030504040204" pitchFamily="34" charset="0"/>
                  <a:ea typeface="Verdana" panose="020B0604030504040204" pitchFamily="34" charset="0"/>
                </a:endParaRPr>
              </a:p>
            </p:txBody>
          </p:sp>
          <p:sp>
            <p:nvSpPr>
              <p:cNvPr id="341" name="Text 25">
                <a:extLst>
                  <a:ext uri="{FF2B5EF4-FFF2-40B4-BE49-F238E27FC236}">
                    <a16:creationId xmlns:a16="http://schemas.microsoft.com/office/drawing/2014/main" id="{78A7EA78-DE0F-07B7-36FD-A89770B82A2B}"/>
                  </a:ext>
                </a:extLst>
              </p:cNvPr>
              <p:cNvSpPr/>
              <p:nvPr/>
            </p:nvSpPr>
            <p:spPr>
              <a:xfrm>
                <a:off x="6850541" y="2520672"/>
                <a:ext cx="4617720" cy="237744"/>
              </a:xfrm>
              <a:prstGeom prst="rect">
                <a:avLst/>
              </a:prstGeom>
              <a:noFill/>
              <a:ln/>
            </p:spPr>
            <p:txBody>
              <a:bodyPr wrap="square" lIns="0" tIns="0" rIns="0" bIns="0" rtlCol="0" anchor="ctr"/>
              <a:lstStyle/>
              <a:p>
                <a:r>
                  <a:rPr lang="en-US" sz="1050" b="1" dirty="0">
                    <a:solidFill>
                      <a:schemeClr val="accent1"/>
                    </a:solidFill>
                    <a:latin typeface="Verdana" panose="020B0604030504040204" pitchFamily="34" charset="0"/>
                    <a:ea typeface="Verdana" panose="020B0604030504040204" pitchFamily="34" charset="0"/>
                    <a:cs typeface="Arial" pitchFamily="34" charset="-120"/>
                  </a:rPr>
                  <a:t>Fragmented reporting</a:t>
                </a:r>
                <a:r>
                  <a:rPr lang="en-US" sz="1050" b="1" dirty="0">
                    <a:solidFill>
                      <a:srgbClr val="004F59"/>
                    </a:solidFill>
                    <a:latin typeface="Verdana" panose="020B0604030504040204" pitchFamily="34" charset="0"/>
                    <a:ea typeface="Verdana" panose="020B0604030504040204" pitchFamily="34" charset="0"/>
                    <a:cs typeface="Arial" pitchFamily="34" charset="-120"/>
                  </a:rPr>
                  <a:t>: </a:t>
                </a:r>
                <a:r>
                  <a:rPr lang="en-US" sz="1050" dirty="0">
                    <a:solidFill>
                      <a:srgbClr val="1A1A1A"/>
                    </a:solidFill>
                    <a:latin typeface="Verdana" panose="020B0604030504040204" pitchFamily="34" charset="0"/>
                    <a:ea typeface="Verdana" panose="020B0604030504040204" pitchFamily="34" charset="0"/>
                    <a:cs typeface="Calibri" pitchFamily="34" charset="-120"/>
                  </a:rPr>
                  <a:t>The same functional item is classified differently across States, departments and object heads. Payments routed through public enterprises may never reach the subsidy statement</a:t>
                </a:r>
                <a:endParaRPr lang="en-US" sz="1050" dirty="0">
                  <a:latin typeface="Verdana" panose="020B0604030504040204" pitchFamily="34" charset="0"/>
                  <a:ea typeface="Verdana" panose="020B0604030504040204" pitchFamily="34" charset="0"/>
                </a:endParaRPr>
              </a:p>
            </p:txBody>
          </p:sp>
          <p:sp>
            <p:nvSpPr>
              <p:cNvPr id="342" name="Text 26">
                <a:extLst>
                  <a:ext uri="{FF2B5EF4-FFF2-40B4-BE49-F238E27FC236}">
                    <a16:creationId xmlns:a16="http://schemas.microsoft.com/office/drawing/2014/main" id="{F4752461-055A-9EB4-97E2-80BDF0766ECF}"/>
                  </a:ext>
                </a:extLst>
              </p:cNvPr>
              <p:cNvSpPr/>
              <p:nvPr/>
            </p:nvSpPr>
            <p:spPr>
              <a:xfrm>
                <a:off x="6931152" y="2532888"/>
                <a:ext cx="4617720" cy="530352"/>
              </a:xfrm>
              <a:prstGeom prst="rect">
                <a:avLst/>
              </a:prstGeom>
              <a:noFill/>
              <a:ln/>
            </p:spPr>
            <p:txBody>
              <a:bodyPr wrap="square" lIns="0" tIns="0" rIns="0" bIns="0" rtlCol="0" anchor="t"/>
              <a:lstStyle/>
              <a:p>
                <a:pPr marL="0" indent="0">
                  <a:lnSpc>
                    <a:spcPct val="93000"/>
                  </a:lnSpc>
                  <a:buNone/>
                </a:pPr>
                <a:r>
                  <a:rPr lang="en-US" sz="1050">
                    <a:solidFill>
                      <a:srgbClr val="1A1A1A"/>
                    </a:solidFill>
                    <a:latin typeface="Verdana" panose="020B0604030504040204" pitchFamily="34" charset="0"/>
                    <a:ea typeface="Verdana" panose="020B0604030504040204" pitchFamily="34" charset="0"/>
                    <a:cs typeface="Calibri" pitchFamily="34" charset="-120"/>
                  </a:rPr>
                  <a:t>.</a:t>
                </a:r>
                <a:endParaRPr lang="en-US" sz="1050">
                  <a:latin typeface="Verdana" panose="020B0604030504040204" pitchFamily="34" charset="0"/>
                  <a:ea typeface="Verdana" panose="020B0604030504040204" pitchFamily="34" charset="0"/>
                </a:endParaRPr>
              </a:p>
            </p:txBody>
          </p:sp>
          <p:sp>
            <p:nvSpPr>
              <p:cNvPr id="345" name="Shape 27">
                <a:extLst>
                  <a:ext uri="{FF2B5EF4-FFF2-40B4-BE49-F238E27FC236}">
                    <a16:creationId xmlns:a16="http://schemas.microsoft.com/office/drawing/2014/main" id="{341E0269-D0B1-F695-E463-64C8A66CF931}"/>
                  </a:ext>
                </a:extLst>
              </p:cNvPr>
              <p:cNvSpPr/>
              <p:nvPr/>
            </p:nvSpPr>
            <p:spPr>
              <a:xfrm>
                <a:off x="6720840" y="3182112"/>
                <a:ext cx="4983480" cy="859536"/>
              </a:xfrm>
              <a:prstGeom prst="roundRect">
                <a:avLst>
                  <a:gd name="adj" fmla="val 5319"/>
                </a:avLst>
              </a:prstGeom>
              <a:solidFill>
                <a:srgbClr val="FFFFFF"/>
              </a:solidFill>
              <a:ln w="9525">
                <a:solidFill>
                  <a:srgbClr val="D6DEE0"/>
                </a:solidFill>
                <a:prstDash val="solid"/>
              </a:ln>
              <a:effectLst>
                <a:outerShdw blurRad="76200" dist="17780" dir="5400000" algn="bl" rotWithShape="0">
                  <a:srgbClr val="1A1A1A">
                    <a:alpha val="8000"/>
                  </a:srgbClr>
                </a:outerShdw>
              </a:effectLst>
            </p:spPr>
            <p:txBody>
              <a:bodyPr/>
              <a:lstStyle/>
              <a:p>
                <a:endParaRPr lang="en-IN" sz="1050">
                  <a:latin typeface="Verdana" panose="020B0604030504040204" pitchFamily="34" charset="0"/>
                  <a:ea typeface="Verdana" panose="020B0604030504040204" pitchFamily="34" charset="0"/>
                </a:endParaRPr>
              </a:p>
            </p:txBody>
          </p:sp>
          <p:sp>
            <p:nvSpPr>
              <p:cNvPr id="346" name="Shape 28">
                <a:extLst>
                  <a:ext uri="{FF2B5EF4-FFF2-40B4-BE49-F238E27FC236}">
                    <a16:creationId xmlns:a16="http://schemas.microsoft.com/office/drawing/2014/main" id="{0EEB798A-5D1A-F60D-C2AA-99D9080CE622}"/>
                  </a:ext>
                </a:extLst>
              </p:cNvPr>
              <p:cNvSpPr/>
              <p:nvPr/>
            </p:nvSpPr>
            <p:spPr>
              <a:xfrm>
                <a:off x="6720840" y="3182112"/>
                <a:ext cx="54864" cy="859536"/>
              </a:xfrm>
              <a:prstGeom prst="rect">
                <a:avLst/>
              </a:prstGeom>
              <a:solidFill>
                <a:schemeClr val="accent1">
                  <a:lumMod val="60000"/>
                  <a:lumOff val="40000"/>
                </a:schemeClr>
              </a:solidFill>
              <a:ln/>
            </p:spPr>
            <p:txBody>
              <a:bodyPr/>
              <a:lstStyle/>
              <a:p>
                <a:endParaRPr lang="en-IN" sz="1050">
                  <a:latin typeface="Verdana" panose="020B0604030504040204" pitchFamily="34" charset="0"/>
                  <a:ea typeface="Verdana" panose="020B0604030504040204" pitchFamily="34" charset="0"/>
                </a:endParaRPr>
              </a:p>
            </p:txBody>
          </p:sp>
          <p:sp>
            <p:nvSpPr>
              <p:cNvPr id="347" name="Text 29">
                <a:extLst>
                  <a:ext uri="{FF2B5EF4-FFF2-40B4-BE49-F238E27FC236}">
                    <a16:creationId xmlns:a16="http://schemas.microsoft.com/office/drawing/2014/main" id="{0BC73EAF-AB5A-E701-C2E3-30BCDE9F5804}"/>
                  </a:ext>
                </a:extLst>
              </p:cNvPr>
              <p:cNvSpPr/>
              <p:nvPr/>
            </p:nvSpPr>
            <p:spPr>
              <a:xfrm>
                <a:off x="6840766" y="3630721"/>
                <a:ext cx="4617720" cy="237744"/>
              </a:xfrm>
              <a:prstGeom prst="rect">
                <a:avLst/>
              </a:prstGeom>
              <a:noFill/>
              <a:ln/>
            </p:spPr>
            <p:txBody>
              <a:bodyPr wrap="square" lIns="0" tIns="0" rIns="0" bIns="0" rtlCol="0" anchor="ctr"/>
              <a:lstStyle/>
              <a:p>
                <a:r>
                  <a:rPr lang="en-US" sz="1050" b="1" dirty="0">
                    <a:solidFill>
                      <a:schemeClr val="accent1"/>
                    </a:solidFill>
                    <a:latin typeface="Verdana" panose="020B0604030504040204" pitchFamily="34" charset="0"/>
                    <a:ea typeface="Verdana" panose="020B0604030504040204" pitchFamily="34" charset="0"/>
                    <a:cs typeface="Arial" pitchFamily="34" charset="-120"/>
                  </a:rPr>
                  <a:t>Expenditure quality: </a:t>
                </a:r>
                <a:r>
                  <a:rPr lang="en-US" sz="1050" dirty="0">
                    <a:solidFill>
                      <a:srgbClr val="1A1A1A"/>
                    </a:solidFill>
                    <a:latin typeface="Verdana" panose="020B0604030504040204" pitchFamily="34" charset="0"/>
                    <a:ea typeface="Verdana" panose="020B0604030504040204" pitchFamily="34" charset="0"/>
                    <a:cs typeface="Calibri" pitchFamily="34" charset="-120"/>
                  </a:rPr>
                  <a:t>A State with high committed expenditure and persistent deficits has less room for new commitments — yet a well-targeted provision cannot be judged on budget cost alone.</a:t>
                </a:r>
                <a:endParaRPr lang="en-US" sz="1050" dirty="0">
                  <a:latin typeface="Verdana" panose="020B0604030504040204" pitchFamily="34" charset="0"/>
                  <a:ea typeface="Verdana" panose="020B0604030504040204" pitchFamily="34" charset="0"/>
                </a:endParaRPr>
              </a:p>
              <a:p>
                <a:pPr marL="0" indent="0">
                  <a:buNone/>
                </a:pPr>
                <a:endParaRPr lang="en-US" sz="1050" dirty="0">
                  <a:latin typeface="Verdana" panose="020B0604030504040204" pitchFamily="34" charset="0"/>
                  <a:ea typeface="Verdana" panose="020B0604030504040204" pitchFamily="34" charset="0"/>
                </a:endParaRPr>
              </a:p>
            </p:txBody>
          </p:sp>
          <p:sp>
            <p:nvSpPr>
              <p:cNvPr id="348" name="Text 30">
                <a:extLst>
                  <a:ext uri="{FF2B5EF4-FFF2-40B4-BE49-F238E27FC236}">
                    <a16:creationId xmlns:a16="http://schemas.microsoft.com/office/drawing/2014/main" id="{E4CC29C9-5001-8185-0A62-B76CB6AA8805}"/>
                  </a:ext>
                </a:extLst>
              </p:cNvPr>
              <p:cNvSpPr/>
              <p:nvPr/>
            </p:nvSpPr>
            <p:spPr>
              <a:xfrm>
                <a:off x="6931152" y="3465576"/>
                <a:ext cx="4617720" cy="530352"/>
              </a:xfrm>
              <a:prstGeom prst="rect">
                <a:avLst/>
              </a:prstGeom>
              <a:noFill/>
              <a:ln/>
            </p:spPr>
            <p:txBody>
              <a:bodyPr wrap="square" lIns="0" tIns="0" rIns="0" bIns="0" rtlCol="0" anchor="t"/>
              <a:lstStyle/>
              <a:p>
                <a:pPr marL="0" indent="0">
                  <a:lnSpc>
                    <a:spcPct val="93000"/>
                  </a:lnSpc>
                  <a:buNone/>
                </a:pPr>
                <a:endParaRPr lang="en-US" sz="1050">
                  <a:latin typeface="Verdana" panose="020B0604030504040204" pitchFamily="34" charset="0"/>
                  <a:ea typeface="Verdana" panose="020B0604030504040204" pitchFamily="34" charset="0"/>
                </a:endParaRPr>
              </a:p>
            </p:txBody>
          </p:sp>
        </p:grpSp>
      </p:grpSp>
      <p:grpSp>
        <p:nvGrpSpPr>
          <p:cNvPr id="36" name="Group 35">
            <a:extLst>
              <a:ext uri="{FF2B5EF4-FFF2-40B4-BE49-F238E27FC236}">
                <a16:creationId xmlns:a16="http://schemas.microsoft.com/office/drawing/2014/main" id="{747E12AD-2501-0754-DF9B-B61ED6ADD1C0}"/>
              </a:ext>
            </a:extLst>
          </p:cNvPr>
          <p:cNvGrpSpPr/>
          <p:nvPr/>
        </p:nvGrpSpPr>
        <p:grpSpPr>
          <a:xfrm>
            <a:off x="6915700" y="4206577"/>
            <a:ext cx="5086161" cy="2468880"/>
            <a:chOff x="10682186" y="4509993"/>
            <a:chExt cx="5874186" cy="1618083"/>
          </a:xfrm>
        </p:grpSpPr>
        <p:grpSp>
          <p:nvGrpSpPr>
            <p:cNvPr id="324" name="Group 323">
              <a:extLst>
                <a:ext uri="{FF2B5EF4-FFF2-40B4-BE49-F238E27FC236}">
                  <a16:creationId xmlns:a16="http://schemas.microsoft.com/office/drawing/2014/main" id="{8566387D-6800-DB15-304A-7C8053576925}"/>
                </a:ext>
              </a:extLst>
            </p:cNvPr>
            <p:cNvGrpSpPr/>
            <p:nvPr/>
          </p:nvGrpSpPr>
          <p:grpSpPr>
            <a:xfrm>
              <a:off x="10776708" y="4551710"/>
              <a:ext cx="5738330" cy="1415634"/>
              <a:chOff x="6720840" y="4480560"/>
              <a:chExt cx="4983480" cy="1298448"/>
            </a:xfrm>
          </p:grpSpPr>
          <p:sp>
            <p:nvSpPr>
              <p:cNvPr id="325" name="Shape 32">
                <a:extLst>
                  <a:ext uri="{FF2B5EF4-FFF2-40B4-BE49-F238E27FC236}">
                    <a16:creationId xmlns:a16="http://schemas.microsoft.com/office/drawing/2014/main" id="{C33DBE1B-6A59-BB2B-A0C5-74A5635585A2}"/>
                  </a:ext>
                </a:extLst>
              </p:cNvPr>
              <p:cNvSpPr/>
              <p:nvPr/>
            </p:nvSpPr>
            <p:spPr>
              <a:xfrm>
                <a:off x="6720840" y="4480560"/>
                <a:ext cx="1572768" cy="384048"/>
              </a:xfrm>
              <a:prstGeom prst="homePlate">
                <a:avLst/>
              </a:prstGeom>
              <a:solidFill>
                <a:schemeClr val="accent1">
                  <a:lumMod val="75000"/>
                </a:schemeClr>
              </a:solidFill>
              <a:ln/>
              <a:effectLst>
                <a:outerShdw blurRad="50800" dist="38100" dir="5400000" algn="t" rotWithShape="0">
                  <a:prstClr val="black">
                    <a:alpha val="40000"/>
                  </a:prstClr>
                </a:outerShdw>
              </a:effectLst>
            </p:spPr>
            <p:txBody>
              <a:bodyPr/>
              <a:lstStyle/>
              <a:p>
                <a:endParaRPr lang="en-IN" sz="1050">
                  <a:latin typeface="Verdana" panose="020B0604030504040204" pitchFamily="34" charset="0"/>
                  <a:ea typeface="Verdana" panose="020B0604030504040204" pitchFamily="34" charset="0"/>
                </a:endParaRPr>
              </a:p>
            </p:txBody>
          </p:sp>
          <p:sp>
            <p:nvSpPr>
              <p:cNvPr id="326" name="Text 33">
                <a:extLst>
                  <a:ext uri="{FF2B5EF4-FFF2-40B4-BE49-F238E27FC236}">
                    <a16:creationId xmlns:a16="http://schemas.microsoft.com/office/drawing/2014/main" id="{40AD136A-B65F-A939-645B-3D5CD0DBF1EA}"/>
                  </a:ext>
                </a:extLst>
              </p:cNvPr>
              <p:cNvSpPr/>
              <p:nvPr/>
            </p:nvSpPr>
            <p:spPr>
              <a:xfrm>
                <a:off x="6784848" y="4480560"/>
                <a:ext cx="1371600" cy="384048"/>
              </a:xfrm>
              <a:prstGeom prst="rect">
                <a:avLst/>
              </a:prstGeom>
              <a:noFill/>
              <a:ln/>
            </p:spPr>
            <p:txBody>
              <a:bodyPr wrap="square" lIns="0" tIns="0" rIns="0" bIns="0" rtlCol="0" anchor="ctr"/>
              <a:lstStyle/>
              <a:p>
                <a:pPr marL="0" indent="0">
                  <a:buNone/>
                </a:pPr>
                <a:r>
                  <a:rPr lang="en-US" sz="1050" b="1">
                    <a:solidFill>
                      <a:srgbClr val="FFFFFF"/>
                    </a:solidFill>
                    <a:latin typeface="Verdana" panose="020B0604030504040204" pitchFamily="34" charset="0"/>
                    <a:ea typeface="Verdana" panose="020B0604030504040204" pitchFamily="34" charset="0"/>
                    <a:cs typeface="Arial" pitchFamily="34" charset="-120"/>
                  </a:rPr>
                  <a:t>Incompleteness</a:t>
                </a:r>
                <a:endParaRPr lang="en-US" sz="1050">
                  <a:latin typeface="Verdana" panose="020B0604030504040204" pitchFamily="34" charset="0"/>
                  <a:ea typeface="Verdana" panose="020B0604030504040204" pitchFamily="34" charset="0"/>
                </a:endParaRPr>
              </a:p>
            </p:txBody>
          </p:sp>
          <p:sp>
            <p:nvSpPr>
              <p:cNvPr id="327" name="Text 34">
                <a:extLst>
                  <a:ext uri="{FF2B5EF4-FFF2-40B4-BE49-F238E27FC236}">
                    <a16:creationId xmlns:a16="http://schemas.microsoft.com/office/drawing/2014/main" id="{ADC9BD48-4601-1C04-C990-ABEACE82E9DA}"/>
                  </a:ext>
                </a:extLst>
              </p:cNvPr>
              <p:cNvSpPr/>
              <p:nvPr/>
            </p:nvSpPr>
            <p:spPr>
              <a:xfrm>
                <a:off x="8412480" y="4480560"/>
                <a:ext cx="3291840" cy="384048"/>
              </a:xfrm>
              <a:prstGeom prst="rect">
                <a:avLst/>
              </a:prstGeom>
              <a:noFill/>
              <a:ln/>
            </p:spPr>
            <p:txBody>
              <a:bodyPr wrap="square" lIns="0" tIns="0" rIns="0" bIns="0" rtlCol="0" anchor="ctr"/>
              <a:lstStyle/>
              <a:p>
                <a:pPr marL="0" indent="0">
                  <a:lnSpc>
                    <a:spcPct val="92000"/>
                  </a:lnSpc>
                  <a:buNone/>
                </a:pPr>
                <a:r>
                  <a:rPr lang="en-US" sz="1050">
                    <a:solidFill>
                      <a:srgbClr val="1A1A1A"/>
                    </a:solidFill>
                    <a:latin typeface="Verdana" panose="020B0604030504040204" pitchFamily="34" charset="0"/>
                    <a:ea typeface="Verdana" panose="020B0604030504040204" pitchFamily="34" charset="0"/>
                    <a:cs typeface="Calibri" pitchFamily="34" charset="-120"/>
                  </a:rPr>
                  <a:t>Cash transfers, PLI, tax expenditures and off-budget financing are excluded from official statements.</a:t>
                </a:r>
                <a:endParaRPr lang="en-US" sz="1050">
                  <a:latin typeface="Verdana" panose="020B0604030504040204" pitchFamily="34" charset="0"/>
                  <a:ea typeface="Verdana" panose="020B0604030504040204" pitchFamily="34" charset="0"/>
                </a:endParaRPr>
              </a:p>
            </p:txBody>
          </p:sp>
          <p:sp>
            <p:nvSpPr>
              <p:cNvPr id="328" name="Shape 35">
                <a:extLst>
                  <a:ext uri="{FF2B5EF4-FFF2-40B4-BE49-F238E27FC236}">
                    <a16:creationId xmlns:a16="http://schemas.microsoft.com/office/drawing/2014/main" id="{C1CA860C-A3ED-A1C7-57F4-221A9233D58C}"/>
                  </a:ext>
                </a:extLst>
              </p:cNvPr>
              <p:cNvSpPr/>
              <p:nvPr/>
            </p:nvSpPr>
            <p:spPr>
              <a:xfrm>
                <a:off x="6720840" y="4937760"/>
                <a:ext cx="1572768" cy="384048"/>
              </a:xfrm>
              <a:prstGeom prst="homePlate">
                <a:avLst/>
              </a:prstGeom>
              <a:solidFill>
                <a:schemeClr val="accent1">
                  <a:lumMod val="75000"/>
                </a:schemeClr>
              </a:solidFill>
              <a:ln/>
              <a:effectLst>
                <a:outerShdw blurRad="50800" dist="38100" dir="5400000" algn="t" rotWithShape="0">
                  <a:prstClr val="black">
                    <a:alpha val="40000"/>
                  </a:prstClr>
                </a:outerShdw>
              </a:effectLst>
            </p:spPr>
            <p:txBody>
              <a:bodyPr/>
              <a:lstStyle/>
              <a:p>
                <a:endParaRPr lang="en-IN" sz="1050">
                  <a:latin typeface="Verdana" panose="020B0604030504040204" pitchFamily="34" charset="0"/>
                  <a:ea typeface="Verdana" panose="020B0604030504040204" pitchFamily="34" charset="0"/>
                </a:endParaRPr>
              </a:p>
            </p:txBody>
          </p:sp>
          <p:sp>
            <p:nvSpPr>
              <p:cNvPr id="329" name="Text 36">
                <a:extLst>
                  <a:ext uri="{FF2B5EF4-FFF2-40B4-BE49-F238E27FC236}">
                    <a16:creationId xmlns:a16="http://schemas.microsoft.com/office/drawing/2014/main" id="{97210F8B-865A-D201-BD39-6DC940AD6C6A}"/>
                  </a:ext>
                </a:extLst>
              </p:cNvPr>
              <p:cNvSpPr/>
              <p:nvPr/>
            </p:nvSpPr>
            <p:spPr>
              <a:xfrm>
                <a:off x="6784848" y="4937760"/>
                <a:ext cx="1371600" cy="384048"/>
              </a:xfrm>
              <a:prstGeom prst="rect">
                <a:avLst/>
              </a:prstGeom>
              <a:noFill/>
              <a:ln/>
            </p:spPr>
            <p:txBody>
              <a:bodyPr wrap="square" lIns="0" tIns="0" rIns="0" bIns="0" rtlCol="0" anchor="ctr"/>
              <a:lstStyle/>
              <a:p>
                <a:pPr marL="0" indent="0">
                  <a:buNone/>
                </a:pPr>
                <a:r>
                  <a:rPr lang="en-US" sz="1050" b="1">
                    <a:solidFill>
                      <a:srgbClr val="FFFFFF"/>
                    </a:solidFill>
                    <a:latin typeface="Verdana" panose="020B0604030504040204" pitchFamily="34" charset="0"/>
                    <a:ea typeface="Verdana" panose="020B0604030504040204" pitchFamily="34" charset="0"/>
                    <a:cs typeface="Arial" pitchFamily="34" charset="-120"/>
                  </a:rPr>
                  <a:t>Inconsistency</a:t>
                </a:r>
                <a:endParaRPr lang="en-US" sz="1050">
                  <a:latin typeface="Verdana" panose="020B0604030504040204" pitchFamily="34" charset="0"/>
                  <a:ea typeface="Verdana" panose="020B0604030504040204" pitchFamily="34" charset="0"/>
                </a:endParaRPr>
              </a:p>
            </p:txBody>
          </p:sp>
          <p:sp>
            <p:nvSpPr>
              <p:cNvPr id="330" name="Text 37">
                <a:extLst>
                  <a:ext uri="{FF2B5EF4-FFF2-40B4-BE49-F238E27FC236}">
                    <a16:creationId xmlns:a16="http://schemas.microsoft.com/office/drawing/2014/main" id="{8FDDB57A-74F7-B178-FBD5-0BFF909D7EA7}"/>
                  </a:ext>
                </a:extLst>
              </p:cNvPr>
              <p:cNvSpPr/>
              <p:nvPr/>
            </p:nvSpPr>
            <p:spPr>
              <a:xfrm>
                <a:off x="8412480" y="4937760"/>
                <a:ext cx="3291840" cy="384048"/>
              </a:xfrm>
              <a:prstGeom prst="rect">
                <a:avLst/>
              </a:prstGeom>
              <a:noFill/>
              <a:ln/>
            </p:spPr>
            <p:txBody>
              <a:bodyPr wrap="square" lIns="0" tIns="0" rIns="0" bIns="0" rtlCol="0" anchor="ctr"/>
              <a:lstStyle/>
              <a:p>
                <a:pPr marL="0" indent="0">
                  <a:lnSpc>
                    <a:spcPct val="92000"/>
                  </a:lnSpc>
                  <a:buNone/>
                </a:pPr>
                <a:r>
                  <a:rPr lang="en-US" sz="1050">
                    <a:solidFill>
                      <a:srgbClr val="1A1A1A"/>
                    </a:solidFill>
                    <a:latin typeface="Verdana" panose="020B0604030504040204" pitchFamily="34" charset="0"/>
                    <a:ea typeface="Verdana" panose="020B0604030504040204" pitchFamily="34" charset="0"/>
                    <a:cs typeface="Calibri" pitchFamily="34" charset="-120"/>
                  </a:rPr>
                  <a:t>Accounting heads shift — urea moved from Agriculture to Industry in 2010 — and bills are deferred irregularly.</a:t>
                </a:r>
                <a:endParaRPr lang="en-US" sz="1050">
                  <a:latin typeface="Verdana" panose="020B0604030504040204" pitchFamily="34" charset="0"/>
                  <a:ea typeface="Verdana" panose="020B0604030504040204" pitchFamily="34" charset="0"/>
                </a:endParaRPr>
              </a:p>
            </p:txBody>
          </p:sp>
          <p:sp>
            <p:nvSpPr>
              <p:cNvPr id="331" name="Shape 38">
                <a:extLst>
                  <a:ext uri="{FF2B5EF4-FFF2-40B4-BE49-F238E27FC236}">
                    <a16:creationId xmlns:a16="http://schemas.microsoft.com/office/drawing/2014/main" id="{BE179D72-8C70-43DE-6346-05999AECD9C2}"/>
                  </a:ext>
                </a:extLst>
              </p:cNvPr>
              <p:cNvSpPr/>
              <p:nvPr/>
            </p:nvSpPr>
            <p:spPr>
              <a:xfrm>
                <a:off x="6720840" y="5394960"/>
                <a:ext cx="1572768" cy="384048"/>
              </a:xfrm>
              <a:prstGeom prst="homePlate">
                <a:avLst/>
              </a:prstGeom>
              <a:solidFill>
                <a:schemeClr val="accent1">
                  <a:lumMod val="75000"/>
                </a:schemeClr>
              </a:solidFill>
              <a:ln/>
              <a:effectLst>
                <a:outerShdw blurRad="50800" dist="38100" dir="5400000" algn="t" rotWithShape="0">
                  <a:prstClr val="black">
                    <a:alpha val="40000"/>
                  </a:prstClr>
                </a:outerShdw>
              </a:effectLst>
            </p:spPr>
            <p:txBody>
              <a:bodyPr/>
              <a:lstStyle/>
              <a:p>
                <a:endParaRPr lang="en-IN" sz="1050">
                  <a:latin typeface="Verdana" panose="020B0604030504040204" pitchFamily="34" charset="0"/>
                  <a:ea typeface="Verdana" panose="020B0604030504040204" pitchFamily="34" charset="0"/>
                </a:endParaRPr>
              </a:p>
            </p:txBody>
          </p:sp>
          <p:sp>
            <p:nvSpPr>
              <p:cNvPr id="332" name="Text 39">
                <a:extLst>
                  <a:ext uri="{FF2B5EF4-FFF2-40B4-BE49-F238E27FC236}">
                    <a16:creationId xmlns:a16="http://schemas.microsoft.com/office/drawing/2014/main" id="{33A71ECC-4EAA-7635-0A7C-C2F1BE424488}"/>
                  </a:ext>
                </a:extLst>
              </p:cNvPr>
              <p:cNvSpPr/>
              <p:nvPr/>
            </p:nvSpPr>
            <p:spPr>
              <a:xfrm>
                <a:off x="6784848" y="5394960"/>
                <a:ext cx="1371600" cy="384048"/>
              </a:xfrm>
              <a:prstGeom prst="rect">
                <a:avLst/>
              </a:prstGeom>
              <a:noFill/>
              <a:ln/>
            </p:spPr>
            <p:txBody>
              <a:bodyPr wrap="square" lIns="0" tIns="0" rIns="0" bIns="0" rtlCol="0" anchor="ctr"/>
              <a:lstStyle/>
              <a:p>
                <a:pPr marL="0" indent="0">
                  <a:buNone/>
                </a:pPr>
                <a:r>
                  <a:rPr lang="en-US" sz="1050" b="1">
                    <a:solidFill>
                      <a:srgbClr val="FFFFFF"/>
                    </a:solidFill>
                    <a:latin typeface="Verdana" panose="020B0604030504040204" pitchFamily="34" charset="0"/>
                    <a:ea typeface="Verdana" panose="020B0604030504040204" pitchFamily="34" charset="0"/>
                    <a:cs typeface="Arial" pitchFamily="34" charset="-120"/>
                  </a:rPr>
                  <a:t>Incomparability</a:t>
                </a:r>
                <a:endParaRPr lang="en-US" sz="1050">
                  <a:latin typeface="Verdana" panose="020B0604030504040204" pitchFamily="34" charset="0"/>
                  <a:ea typeface="Verdana" panose="020B0604030504040204" pitchFamily="34" charset="0"/>
                </a:endParaRPr>
              </a:p>
            </p:txBody>
          </p:sp>
          <p:sp>
            <p:nvSpPr>
              <p:cNvPr id="333" name="Text 40">
                <a:extLst>
                  <a:ext uri="{FF2B5EF4-FFF2-40B4-BE49-F238E27FC236}">
                    <a16:creationId xmlns:a16="http://schemas.microsoft.com/office/drawing/2014/main" id="{F76CF59D-8FB1-6C1E-7CE7-15F2B6DB661B}"/>
                  </a:ext>
                </a:extLst>
              </p:cNvPr>
              <p:cNvSpPr/>
              <p:nvPr/>
            </p:nvSpPr>
            <p:spPr>
              <a:xfrm>
                <a:off x="8412480" y="5394960"/>
                <a:ext cx="3291840" cy="384048"/>
              </a:xfrm>
              <a:prstGeom prst="rect">
                <a:avLst/>
              </a:prstGeom>
              <a:noFill/>
              <a:ln/>
            </p:spPr>
            <p:txBody>
              <a:bodyPr wrap="square" lIns="0" tIns="0" rIns="0" bIns="0" rtlCol="0" anchor="ctr"/>
              <a:lstStyle/>
              <a:p>
                <a:pPr marL="0" indent="0">
                  <a:lnSpc>
                    <a:spcPct val="92000"/>
                  </a:lnSpc>
                  <a:buNone/>
                </a:pPr>
                <a:r>
                  <a:rPr lang="en-US" sz="1050">
                    <a:solidFill>
                      <a:srgbClr val="1A1A1A"/>
                    </a:solidFill>
                    <a:latin typeface="Verdana" panose="020B0604030504040204" pitchFamily="34" charset="0"/>
                    <a:ea typeface="Verdana" panose="020B0604030504040204" pitchFamily="34" charset="0"/>
                    <a:cs typeface="Calibri" pitchFamily="34" charset="-120"/>
                  </a:rPr>
                  <a:t>Power subsidies alone appear under Agriculture, Power or Industry depending on the State.</a:t>
                </a:r>
                <a:endParaRPr lang="en-US" sz="1050">
                  <a:latin typeface="Verdana" panose="020B0604030504040204" pitchFamily="34" charset="0"/>
                  <a:ea typeface="Verdana" panose="020B0604030504040204" pitchFamily="34" charset="0"/>
                </a:endParaRPr>
              </a:p>
            </p:txBody>
          </p:sp>
        </p:grpSp>
        <p:sp>
          <p:nvSpPr>
            <p:cNvPr id="361" name="TextBox 360">
              <a:extLst>
                <a:ext uri="{FF2B5EF4-FFF2-40B4-BE49-F238E27FC236}">
                  <a16:creationId xmlns:a16="http://schemas.microsoft.com/office/drawing/2014/main" id="{3E103300-EA68-5B3D-17C7-26D5A259FDA1}"/>
                </a:ext>
              </a:extLst>
            </p:cNvPr>
            <p:cNvSpPr txBox="1"/>
            <p:nvPr/>
          </p:nvSpPr>
          <p:spPr>
            <a:xfrm>
              <a:off x="10682186" y="4509993"/>
              <a:ext cx="5874186" cy="1618083"/>
            </a:xfrm>
            <a:prstGeom prst="rect">
              <a:avLst/>
            </a:prstGeom>
            <a:noFill/>
            <a:ln>
              <a:solidFill>
                <a:schemeClr val="tx1"/>
              </a:solidFill>
              <a:prstDash val="dash"/>
            </a:ln>
          </p:spPr>
          <p:txBody>
            <a:bodyPr wrap="square" lIns="0" tIns="0" rIns="0" bIns="0" rtlCol="0">
              <a:spAutoFit/>
            </a:bodyPr>
            <a:lstStyle/>
            <a:p>
              <a:pPr marL="203200" indent="-203200">
                <a:spcBef>
                  <a:spcPts val="600"/>
                </a:spcBef>
                <a:buSzPct val="100000"/>
                <a:buFont typeface="Arial"/>
                <a:buChar char="•"/>
              </a:pPr>
              <a:endParaRPr lang="en-IN" sz="1050">
                <a:solidFill>
                  <a:srgbClr val="313131"/>
                </a:solidFill>
              </a:endParaRPr>
            </a:p>
          </p:txBody>
        </p:sp>
      </p:grpSp>
      <p:pic>
        <p:nvPicPr>
          <p:cNvPr id="3" name="Picture 2">
            <a:extLst>
              <a:ext uri="{FF2B5EF4-FFF2-40B4-BE49-F238E27FC236}">
                <a16:creationId xmlns:a16="http://schemas.microsoft.com/office/drawing/2014/main" id="{09C2115A-6416-3272-2BCC-B4C59FFA5C92}"/>
              </a:ext>
            </a:extLst>
          </p:cNvPr>
          <p:cNvPicPr>
            <a:picLocks noChangeAspect="1"/>
          </p:cNvPicPr>
          <p:nvPr/>
        </p:nvPicPr>
        <p:blipFill>
          <a:blip r:embed="rId2"/>
          <a:stretch>
            <a:fillRect/>
          </a:stretch>
        </p:blipFill>
        <p:spPr>
          <a:xfrm>
            <a:off x="429122" y="866275"/>
            <a:ext cx="6017858" cy="3167058"/>
          </a:xfrm>
          <a:prstGeom prst="rect">
            <a:avLst/>
          </a:prstGeom>
        </p:spPr>
      </p:pic>
      <p:sp>
        <p:nvSpPr>
          <p:cNvPr id="33" name="Text 6">
            <a:extLst>
              <a:ext uri="{FF2B5EF4-FFF2-40B4-BE49-F238E27FC236}">
                <a16:creationId xmlns:a16="http://schemas.microsoft.com/office/drawing/2014/main" id="{59539A9F-6253-A2FC-8837-2A2DAA4C0A0D}"/>
              </a:ext>
            </a:extLst>
          </p:cNvPr>
          <p:cNvSpPr/>
          <p:nvPr/>
        </p:nvSpPr>
        <p:spPr>
          <a:xfrm>
            <a:off x="443489" y="3916291"/>
            <a:ext cx="3383280" cy="402336"/>
          </a:xfrm>
          <a:prstGeom prst="rect">
            <a:avLst/>
          </a:prstGeom>
          <a:noFill/>
          <a:ln/>
        </p:spPr>
        <p:txBody>
          <a:bodyPr wrap="square" lIns="0" tIns="0" rIns="0" bIns="0" rtlCol="0" anchor="ctr"/>
          <a:lstStyle/>
          <a:p>
            <a:r>
              <a:rPr lang="en-US" sz="800" b="1" dirty="0">
                <a:latin typeface="Verdana" panose="020B0604030504040204" pitchFamily="34" charset="0"/>
                <a:ea typeface="Verdana" panose="020B0604030504040204" pitchFamily="34" charset="0"/>
                <a:cs typeface="Calibri" pitchFamily="34" charset="-120"/>
              </a:rPr>
              <a:t>Source: 16</a:t>
            </a:r>
            <a:r>
              <a:rPr lang="en-US" sz="800" b="1" baseline="30000" dirty="0">
                <a:latin typeface="Verdana" panose="020B0604030504040204" pitchFamily="34" charset="0"/>
                <a:ea typeface="Verdana" panose="020B0604030504040204" pitchFamily="34" charset="0"/>
                <a:cs typeface="Calibri" pitchFamily="34" charset="-120"/>
              </a:rPr>
              <a:t>th</a:t>
            </a:r>
            <a:r>
              <a:rPr lang="en-US" sz="800" b="1" dirty="0">
                <a:latin typeface="Verdana" panose="020B0604030504040204" pitchFamily="34" charset="0"/>
                <a:ea typeface="Verdana" panose="020B0604030504040204" pitchFamily="34" charset="0"/>
                <a:cs typeface="Calibri" pitchFamily="34" charset="-120"/>
              </a:rPr>
              <a:t> Finance Commission</a:t>
            </a:r>
            <a:endParaRPr lang="en-US" sz="800" b="1" dirty="0">
              <a:solidFill>
                <a:srgbClr val="DA291C"/>
              </a:solidFill>
              <a:latin typeface="Verdana" panose="020B0604030504040204" pitchFamily="34" charset="0"/>
              <a:ea typeface="Verdana" panose="020B0604030504040204" pitchFamily="34" charset="0"/>
              <a:cs typeface="Calibri" pitchFamily="34" charset="-120"/>
            </a:endParaRPr>
          </a:p>
        </p:txBody>
      </p:sp>
      <p:sp>
        <p:nvSpPr>
          <p:cNvPr id="37" name="Isosceles Triangle 36">
            <a:extLst>
              <a:ext uri="{FF2B5EF4-FFF2-40B4-BE49-F238E27FC236}">
                <a16:creationId xmlns:a16="http://schemas.microsoft.com/office/drawing/2014/main" id="{DC262873-C51A-1B76-E0D2-6ADEE22FA704}"/>
              </a:ext>
            </a:extLst>
          </p:cNvPr>
          <p:cNvSpPr/>
          <p:nvPr/>
        </p:nvSpPr>
        <p:spPr>
          <a:xfrm rot="16200000" flipV="1">
            <a:off x="5344256" y="2454400"/>
            <a:ext cx="2698960" cy="162126"/>
          </a:xfrm>
          <a:prstGeom prst="triangle">
            <a:avLst>
              <a:gd name="adj" fmla="val 50000"/>
            </a:avLst>
          </a:prstGeom>
          <a:gradFill flip="none" rotWithShape="1">
            <a:gsLst>
              <a:gs pos="0">
                <a:schemeClr val="bg1"/>
              </a:gs>
              <a:gs pos="31000">
                <a:schemeClr val="bg1">
                  <a:lumMod val="95000"/>
                </a:schemeClr>
              </a:gs>
              <a:gs pos="64000">
                <a:schemeClr val="bg1">
                  <a:lumMod val="85000"/>
                </a:schemeClr>
              </a:gs>
              <a:gs pos="98000">
                <a:schemeClr val="bg1">
                  <a:lumMod val="7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Tree>
    <p:extLst>
      <p:ext uri="{BB962C8B-B14F-4D97-AF65-F5344CB8AC3E}">
        <p14:creationId xmlns:p14="http://schemas.microsoft.com/office/powerpoint/2010/main" val="15981261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40CE7-3C28-7450-50E5-4BCB31D1F639}"/>
            </a:ext>
          </a:extLst>
        </p:cNvPr>
        <p:cNvGrpSpPr/>
        <p:nvPr/>
      </p:nvGrpSpPr>
      <p:grpSpPr>
        <a:xfrm>
          <a:off x="0" y="0"/>
          <a:ext cx="0" cy="0"/>
          <a:chOff x="0" y="0"/>
          <a:chExt cx="0" cy="0"/>
        </a:xfrm>
      </p:grpSpPr>
      <p:sp>
        <p:nvSpPr>
          <p:cNvPr id="35" name="TextBox 34">
            <a:extLst>
              <a:ext uri="{FF2B5EF4-FFF2-40B4-BE49-F238E27FC236}">
                <a16:creationId xmlns:a16="http://schemas.microsoft.com/office/drawing/2014/main" id="{F59FD3D6-301D-8329-151D-01818C4A7C09}"/>
              </a:ext>
            </a:extLst>
          </p:cNvPr>
          <p:cNvSpPr txBox="1"/>
          <p:nvPr/>
        </p:nvSpPr>
        <p:spPr>
          <a:xfrm>
            <a:off x="333466" y="954006"/>
            <a:ext cx="6127881" cy="3307343"/>
          </a:xfrm>
          <a:prstGeom prst="rect">
            <a:avLst/>
          </a:prstGeom>
          <a:noFill/>
          <a:ln>
            <a:solidFill>
              <a:schemeClr val="tx1"/>
            </a:solidFill>
            <a:prstDash val="dash"/>
          </a:ln>
        </p:spPr>
        <p:txBody>
          <a:bodyPr wrap="square" lIns="0" tIns="0" rIns="0" bIns="0" rtlCol="0">
            <a:spAutoFit/>
          </a:bodyPr>
          <a:lstStyle/>
          <a:p>
            <a:pPr marL="203200" indent="-203200">
              <a:spcBef>
                <a:spcPts val="600"/>
              </a:spcBef>
              <a:buSzPct val="100000"/>
              <a:buFont typeface="Arial"/>
              <a:buChar char="•"/>
            </a:pPr>
            <a:endParaRPr lang="en-IN" dirty="0">
              <a:solidFill>
                <a:srgbClr val="313131"/>
              </a:solidFill>
            </a:endParaRPr>
          </a:p>
        </p:txBody>
      </p:sp>
      <p:sp>
        <p:nvSpPr>
          <p:cNvPr id="5" name="Rectangle 4">
            <a:extLst>
              <a:ext uri="{FF2B5EF4-FFF2-40B4-BE49-F238E27FC236}">
                <a16:creationId xmlns:a16="http://schemas.microsoft.com/office/drawing/2014/main" id="{B1BB02D4-AD7A-60FE-50C5-C326443333E1}"/>
              </a:ext>
            </a:extLst>
          </p:cNvPr>
          <p:cNvSpPr/>
          <p:nvPr/>
        </p:nvSpPr>
        <p:spPr bwMode="gray">
          <a:xfrm>
            <a:off x="333466" y="121358"/>
            <a:ext cx="11811080" cy="370522"/>
          </a:xfrm>
          <a:prstGeom prst="rect">
            <a:avLst/>
          </a:prstGeom>
          <a:noFill/>
          <a:ln w="19050" algn="ctr">
            <a:noFill/>
            <a:miter lim="800000"/>
            <a:headEnd/>
            <a:tailEnd/>
          </a:ln>
        </p:spPr>
        <p:txBody>
          <a:bodyPr wrap="square" lIns="88900" tIns="88900" rIns="88900" bIns="88900" rtlCol="0" anchor="ctr"/>
          <a:lstStyle/>
          <a:p>
            <a:r>
              <a:rPr lang="en-US" b="1" dirty="0">
                <a:latin typeface="+mj-lt"/>
              </a:rPr>
              <a:t>Changing composition of subsidies</a:t>
            </a:r>
            <a:endParaRPr lang="en-US" sz="1800" b="1">
              <a:latin typeface="+mj-lt"/>
            </a:endParaRPr>
          </a:p>
        </p:txBody>
      </p:sp>
      <p:cxnSp>
        <p:nvCxnSpPr>
          <p:cNvPr id="6" name="Straight Arrow Connector 5">
            <a:extLst>
              <a:ext uri="{FF2B5EF4-FFF2-40B4-BE49-F238E27FC236}">
                <a16:creationId xmlns:a16="http://schemas.microsoft.com/office/drawing/2014/main" id="{FE219C10-4991-C918-5C84-C2A672CB0094}"/>
              </a:ext>
            </a:extLst>
          </p:cNvPr>
          <p:cNvCxnSpPr/>
          <p:nvPr/>
        </p:nvCxnSpPr>
        <p:spPr>
          <a:xfrm flipV="1">
            <a:off x="476794" y="753231"/>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Text Placeholder 1">
            <a:extLst>
              <a:ext uri="{FF2B5EF4-FFF2-40B4-BE49-F238E27FC236}">
                <a16:creationId xmlns:a16="http://schemas.microsoft.com/office/drawing/2014/main" id="{7E844894-5B88-A730-91AE-15C78D20B573}"/>
              </a:ext>
            </a:extLst>
          </p:cNvPr>
          <p:cNvSpPr txBox="1">
            <a:spLocks/>
          </p:cNvSpPr>
          <p:nvPr/>
        </p:nvSpPr>
        <p:spPr>
          <a:xfrm>
            <a:off x="476794" y="397381"/>
            <a:ext cx="11188700" cy="757255"/>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600" b="0" kern="1200">
                <a:solidFill>
                  <a:srgbClr val="575757"/>
                </a:solidFill>
                <a:latin typeface="Calibri" panose="020F0502020204030204" pitchFamily="34" charset="0"/>
                <a:ea typeface="+mn-ea"/>
                <a:cs typeface="Calibri" panose="020F0502020204030204" pitchFamily="34" charset="0"/>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1400" dirty="0">
                <a:latin typeface="+mj-lt"/>
              </a:rPr>
              <a:t>The composition of subsidy spending has shifted decisively towards recurring, weak-conditioned transfers</a:t>
            </a:r>
          </a:p>
          <a:p>
            <a:endParaRPr lang="en-US" sz="1400" dirty="0">
              <a:latin typeface="+mj-lt"/>
            </a:endParaRPr>
          </a:p>
        </p:txBody>
      </p:sp>
      <p:grpSp>
        <p:nvGrpSpPr>
          <p:cNvPr id="63" name="Group 62">
            <a:extLst>
              <a:ext uri="{FF2B5EF4-FFF2-40B4-BE49-F238E27FC236}">
                <a16:creationId xmlns:a16="http://schemas.microsoft.com/office/drawing/2014/main" id="{F5CAC49F-2EB0-7910-D030-2A169864202A}"/>
              </a:ext>
            </a:extLst>
          </p:cNvPr>
          <p:cNvGrpSpPr/>
          <p:nvPr/>
        </p:nvGrpSpPr>
        <p:grpSpPr>
          <a:xfrm>
            <a:off x="354233" y="4407728"/>
            <a:ext cx="6127881" cy="2022483"/>
            <a:chOff x="9074530" y="1548670"/>
            <a:chExt cx="2931756" cy="2509270"/>
          </a:xfrm>
        </p:grpSpPr>
        <p:grpSp>
          <p:nvGrpSpPr>
            <p:cNvPr id="62" name="Group 61">
              <a:extLst>
                <a:ext uri="{FF2B5EF4-FFF2-40B4-BE49-F238E27FC236}">
                  <a16:creationId xmlns:a16="http://schemas.microsoft.com/office/drawing/2014/main" id="{D006554E-1731-7C4B-1F3B-B1545EF19767}"/>
                </a:ext>
              </a:extLst>
            </p:cNvPr>
            <p:cNvGrpSpPr/>
            <p:nvPr/>
          </p:nvGrpSpPr>
          <p:grpSpPr>
            <a:xfrm>
              <a:off x="9074530" y="1548670"/>
              <a:ext cx="2931756" cy="2509270"/>
              <a:chOff x="9074530" y="1548670"/>
              <a:chExt cx="2931756" cy="2509270"/>
            </a:xfrm>
          </p:grpSpPr>
          <p:grpSp>
            <p:nvGrpSpPr>
              <p:cNvPr id="45" name="Group 44">
                <a:extLst>
                  <a:ext uri="{FF2B5EF4-FFF2-40B4-BE49-F238E27FC236}">
                    <a16:creationId xmlns:a16="http://schemas.microsoft.com/office/drawing/2014/main" id="{DE340B04-81A4-238E-EEA8-BAA54C74E6EC}"/>
                  </a:ext>
                </a:extLst>
              </p:cNvPr>
              <p:cNvGrpSpPr/>
              <p:nvPr/>
            </p:nvGrpSpPr>
            <p:grpSpPr>
              <a:xfrm>
                <a:off x="9074530" y="1548670"/>
                <a:ext cx="2931756" cy="763154"/>
                <a:chOff x="16976812" y="2734639"/>
                <a:chExt cx="2060928" cy="1360349"/>
              </a:xfrm>
            </p:grpSpPr>
            <p:sp>
              <p:nvSpPr>
                <p:cNvPr id="46" name="Shape 4">
                  <a:extLst>
                    <a:ext uri="{FF2B5EF4-FFF2-40B4-BE49-F238E27FC236}">
                      <a16:creationId xmlns:a16="http://schemas.microsoft.com/office/drawing/2014/main" id="{9BFE34D3-EFBE-F00B-BC0B-DD4EF1DC9E7D}"/>
                    </a:ext>
                  </a:extLst>
                </p:cNvPr>
                <p:cNvSpPr/>
                <p:nvPr/>
              </p:nvSpPr>
              <p:spPr>
                <a:xfrm>
                  <a:off x="16976812" y="2734639"/>
                  <a:ext cx="2060928" cy="1360349"/>
                </a:xfrm>
                <a:prstGeom prst="roundRect">
                  <a:avLst>
                    <a:gd name="adj" fmla="val 3226"/>
                  </a:avLst>
                </a:prstGeom>
                <a:solidFill>
                  <a:srgbClr val="FAFAFA"/>
                </a:solidFill>
                <a:ln w="9525">
                  <a:solidFill>
                    <a:srgbClr val="D9D9D9"/>
                  </a:solidFill>
                  <a:prstDash val="solid"/>
                </a:ln>
              </p:spPr>
              <p:txBody>
                <a:bodyPr/>
                <a:lstStyle/>
                <a:p>
                  <a:endParaRPr lang="en-IN" sz="1050">
                    <a:solidFill>
                      <a:prstClr val="black"/>
                    </a:solidFill>
                    <a:latin typeface="Verdana" panose="020B0604030504040204" pitchFamily="34" charset="0"/>
                    <a:ea typeface="Verdana" panose="020B0604030504040204" pitchFamily="34" charset="0"/>
                  </a:endParaRPr>
                </a:p>
              </p:txBody>
            </p:sp>
            <p:sp>
              <p:nvSpPr>
                <p:cNvPr id="47" name="Text 5">
                  <a:extLst>
                    <a:ext uri="{FF2B5EF4-FFF2-40B4-BE49-F238E27FC236}">
                      <a16:creationId xmlns:a16="http://schemas.microsoft.com/office/drawing/2014/main" id="{E0FB430C-EBA3-0082-15AB-78EF1BEC3B76}"/>
                    </a:ext>
                  </a:extLst>
                </p:cNvPr>
                <p:cNvSpPr/>
                <p:nvPr/>
              </p:nvSpPr>
              <p:spPr>
                <a:xfrm>
                  <a:off x="17026904" y="3149019"/>
                  <a:ext cx="1960744" cy="700189"/>
                </a:xfrm>
                <a:prstGeom prst="rect">
                  <a:avLst/>
                </a:prstGeom>
                <a:noFill/>
                <a:ln/>
              </p:spPr>
              <p:txBody>
                <a:bodyPr wrap="square" lIns="0" tIns="0" rIns="0" bIns="0" rtlCol="0" anchor="ctr"/>
                <a:lstStyle/>
                <a:p>
                  <a:r>
                    <a:rPr lang="en-US" sz="1050" b="1" dirty="0">
                      <a:latin typeface="Verdana" panose="020B0604030504040204" pitchFamily="34" charset="0"/>
                      <a:ea typeface="Verdana" panose="020B0604030504040204" pitchFamily="34" charset="0"/>
                      <a:cs typeface="Calibri" pitchFamily="34" charset="-120"/>
                    </a:rPr>
                    <a:t>₹73,099 </a:t>
                  </a:r>
                  <a:r>
                    <a:rPr lang="en-US" sz="1050" b="1" dirty="0" err="1">
                      <a:latin typeface="Verdana" panose="020B0604030504040204" pitchFamily="34" charset="0"/>
                      <a:ea typeface="Verdana" panose="020B0604030504040204" pitchFamily="34" charset="0"/>
                      <a:cs typeface="Calibri" pitchFamily="34" charset="-120"/>
                    </a:rPr>
                    <a:t>cr</a:t>
                  </a:r>
                  <a:r>
                    <a:rPr lang="en-US" sz="1050" b="1" dirty="0">
                      <a:latin typeface="Verdana" panose="020B0604030504040204" pitchFamily="34" charset="0"/>
                      <a:ea typeface="Verdana" panose="020B0604030504040204" pitchFamily="34" charset="0"/>
                      <a:cs typeface="Calibri" pitchFamily="34" charset="-120"/>
                    </a:rPr>
                    <a:t> → ₹2.63 lakh </a:t>
                  </a:r>
                  <a:r>
                    <a:rPr lang="en-US" sz="1050" b="1" dirty="0" err="1">
                      <a:latin typeface="Verdana" panose="020B0604030504040204" pitchFamily="34" charset="0"/>
                      <a:ea typeface="Verdana" panose="020B0604030504040204" pitchFamily="34" charset="0"/>
                      <a:cs typeface="Calibri" pitchFamily="34" charset="-120"/>
                    </a:rPr>
                    <a:t>cr</a:t>
                  </a:r>
                  <a:r>
                    <a:rPr lang="en-US" sz="1050" b="1" dirty="0">
                      <a:latin typeface="Verdana" panose="020B0604030504040204" pitchFamily="34" charset="0"/>
                      <a:ea typeface="Verdana" panose="020B0604030504040204" pitchFamily="34" charset="0"/>
                      <a:cs typeface="Calibri" pitchFamily="34" charset="-120"/>
                    </a:rPr>
                    <a:t>: </a:t>
                  </a:r>
                  <a:r>
                    <a:rPr lang="en-US" sz="1050" dirty="0">
                      <a:solidFill>
                        <a:srgbClr val="333333"/>
                      </a:solidFill>
                      <a:latin typeface="Verdana" panose="020B0604030504040204" pitchFamily="34" charset="0"/>
                      <a:ea typeface="Verdana" panose="020B0604030504040204" pitchFamily="34" charset="0"/>
                      <a:cs typeface="Calibri" pitchFamily="34" charset="-120"/>
                    </a:rPr>
                    <a:t>Cash transfers by States, 2018-19 to 2025-26 BE — a rise from roughly 3% to about 20% of total subsidies</a:t>
                  </a:r>
                  <a:endParaRPr lang="en-US" sz="1050" dirty="0">
                    <a:solidFill>
                      <a:prstClr val="black"/>
                    </a:solidFill>
                    <a:latin typeface="Verdana" panose="020B0604030504040204" pitchFamily="34" charset="0"/>
                    <a:ea typeface="Verdana" panose="020B0604030504040204" pitchFamily="34" charset="0"/>
                  </a:endParaRPr>
                </a:p>
                <a:p>
                  <a:endParaRPr lang="en-US" sz="1050" dirty="0">
                    <a:solidFill>
                      <a:prstClr val="black"/>
                    </a:solidFill>
                    <a:latin typeface="Verdana" panose="020B0604030504040204" pitchFamily="34" charset="0"/>
                    <a:ea typeface="Verdana" panose="020B0604030504040204" pitchFamily="34" charset="0"/>
                  </a:endParaRPr>
                </a:p>
              </p:txBody>
            </p:sp>
          </p:grpSp>
          <p:sp>
            <p:nvSpPr>
              <p:cNvPr id="48" name="Shape 7">
                <a:extLst>
                  <a:ext uri="{FF2B5EF4-FFF2-40B4-BE49-F238E27FC236}">
                    <a16:creationId xmlns:a16="http://schemas.microsoft.com/office/drawing/2014/main" id="{ACA4EBE1-58F3-25A3-71B2-2D170150E18E}"/>
                  </a:ext>
                </a:extLst>
              </p:cNvPr>
              <p:cNvSpPr/>
              <p:nvPr/>
            </p:nvSpPr>
            <p:spPr>
              <a:xfrm>
                <a:off x="9074530" y="2364625"/>
                <a:ext cx="2931756" cy="831917"/>
              </a:xfrm>
              <a:prstGeom prst="roundRect">
                <a:avLst>
                  <a:gd name="adj" fmla="val 3226"/>
                </a:avLst>
              </a:prstGeom>
              <a:solidFill>
                <a:srgbClr val="FAFAFA"/>
              </a:solidFill>
              <a:ln w="9525">
                <a:solidFill>
                  <a:srgbClr val="D9D9D9"/>
                </a:solidFill>
                <a:prstDash val="solid"/>
              </a:ln>
            </p:spPr>
            <p:txBody>
              <a:bodyPr/>
              <a:lstStyle/>
              <a:p>
                <a:endParaRPr lang="en-IN" sz="1050">
                  <a:solidFill>
                    <a:prstClr val="black"/>
                  </a:solidFill>
                  <a:latin typeface="Verdana" panose="020B0604030504040204" pitchFamily="34" charset="0"/>
                  <a:ea typeface="Verdana" panose="020B0604030504040204" pitchFamily="34" charset="0"/>
                </a:endParaRPr>
              </a:p>
            </p:txBody>
          </p:sp>
          <p:sp>
            <p:nvSpPr>
              <p:cNvPr id="49" name="Text 8">
                <a:extLst>
                  <a:ext uri="{FF2B5EF4-FFF2-40B4-BE49-F238E27FC236}">
                    <a16:creationId xmlns:a16="http://schemas.microsoft.com/office/drawing/2014/main" id="{155F9E38-5FBE-FA26-B21B-D486FEF121BE}"/>
                  </a:ext>
                </a:extLst>
              </p:cNvPr>
              <p:cNvSpPr/>
              <p:nvPr/>
            </p:nvSpPr>
            <p:spPr>
              <a:xfrm>
                <a:off x="9159898" y="2632181"/>
                <a:ext cx="2798140" cy="365760"/>
              </a:xfrm>
              <a:prstGeom prst="rect">
                <a:avLst/>
              </a:prstGeom>
              <a:noFill/>
              <a:ln/>
            </p:spPr>
            <p:txBody>
              <a:bodyPr wrap="square" lIns="0" tIns="0" rIns="0" bIns="0" rtlCol="0" anchor="ctr"/>
              <a:lstStyle/>
              <a:p>
                <a:r>
                  <a:rPr lang="en-US" sz="1050" b="1" dirty="0">
                    <a:latin typeface="Verdana" panose="020B0604030504040204" pitchFamily="34" charset="0"/>
                    <a:ea typeface="Verdana" panose="020B0604030504040204" pitchFamily="34" charset="0"/>
                    <a:cs typeface="Calibri" pitchFamily="34" charset="-120"/>
                  </a:rPr>
                  <a:t>85.0%:</a:t>
                </a:r>
                <a:r>
                  <a:rPr lang="en-US" sz="1050" dirty="0">
                    <a:solidFill>
                      <a:srgbClr val="333333"/>
                    </a:solidFill>
                    <a:latin typeface="Verdana" panose="020B0604030504040204" pitchFamily="34" charset="0"/>
                    <a:ea typeface="Verdana" panose="020B0604030504040204" pitchFamily="34" charset="0"/>
                    <a:cs typeface="Calibri" pitchFamily="34" charset="-120"/>
                  </a:rPr>
                  <a:t>Share of </a:t>
                </a:r>
                <a:r>
                  <a:rPr lang="en-US" sz="1050" b="1" dirty="0">
                    <a:solidFill>
                      <a:srgbClr val="DA291C"/>
                    </a:solidFill>
                    <a:latin typeface="Verdana" panose="020B0604030504040204" pitchFamily="34" charset="0"/>
                    <a:ea typeface="Verdana" panose="020B0604030504040204" pitchFamily="34" charset="0"/>
                    <a:cs typeface="Calibri" pitchFamily="34" charset="-120"/>
                  </a:rPr>
                  <a:t>consumption subsidies </a:t>
                </a:r>
                <a:r>
                  <a:rPr lang="en-US" sz="1050" dirty="0">
                    <a:solidFill>
                      <a:srgbClr val="333333"/>
                    </a:solidFill>
                    <a:latin typeface="Verdana" panose="020B0604030504040204" pitchFamily="34" charset="0"/>
                    <a:ea typeface="Verdana" panose="020B0604030504040204" pitchFamily="34" charset="0"/>
                    <a:cs typeface="Calibri" pitchFamily="34" charset="-120"/>
                  </a:rPr>
                  <a:t>and </a:t>
                </a:r>
                <a:r>
                  <a:rPr lang="en-US" sz="1050" b="1" dirty="0">
                    <a:solidFill>
                      <a:srgbClr val="DA291C"/>
                    </a:solidFill>
                    <a:latin typeface="Verdana" panose="020B0604030504040204" pitchFamily="34" charset="0"/>
                    <a:ea typeface="Verdana" panose="020B0604030504040204" pitchFamily="34" charset="0"/>
                    <a:cs typeface="Calibri" pitchFamily="34" charset="-120"/>
                  </a:rPr>
                  <a:t>unconditional transfers </a:t>
                </a:r>
                <a:r>
                  <a:rPr lang="en-US" sz="1050" dirty="0">
                    <a:solidFill>
                      <a:srgbClr val="333333"/>
                    </a:solidFill>
                    <a:latin typeface="Verdana" panose="020B0604030504040204" pitchFamily="34" charset="0"/>
                    <a:ea typeface="Verdana" panose="020B0604030504040204" pitchFamily="34" charset="0"/>
                    <a:cs typeface="Calibri" pitchFamily="34" charset="-120"/>
                  </a:rPr>
                  <a:t>in the 2023-24 aggregate; above 90% in Punjab, Karnataka, Chhattisgarh and Rajasthan</a:t>
                </a:r>
                <a:endParaRPr lang="en-US" sz="1050" dirty="0">
                  <a:solidFill>
                    <a:prstClr val="black"/>
                  </a:solidFill>
                  <a:latin typeface="Verdana" panose="020B0604030504040204" pitchFamily="34" charset="0"/>
                  <a:ea typeface="Verdana" panose="020B0604030504040204" pitchFamily="34" charset="0"/>
                </a:endParaRPr>
              </a:p>
              <a:p>
                <a:r>
                  <a:rPr lang="en-US" sz="1050" b="1" dirty="0">
                    <a:solidFill>
                      <a:srgbClr val="0A4A4E"/>
                    </a:solidFill>
                    <a:latin typeface="Verdana" panose="020B0604030504040204" pitchFamily="34" charset="0"/>
                    <a:ea typeface="Verdana" panose="020B0604030504040204" pitchFamily="34" charset="0"/>
                    <a:cs typeface="Calibri" pitchFamily="34" charset="-120"/>
                  </a:rPr>
                  <a:t> </a:t>
                </a:r>
                <a:endParaRPr lang="en-US" sz="1050" dirty="0">
                  <a:solidFill>
                    <a:prstClr val="black"/>
                  </a:solidFill>
                  <a:latin typeface="Verdana" panose="020B0604030504040204" pitchFamily="34" charset="0"/>
                  <a:ea typeface="Verdana" panose="020B0604030504040204" pitchFamily="34" charset="0"/>
                </a:endParaRPr>
              </a:p>
            </p:txBody>
          </p:sp>
          <p:sp>
            <p:nvSpPr>
              <p:cNvPr id="50" name="Shape 10">
                <a:extLst>
                  <a:ext uri="{FF2B5EF4-FFF2-40B4-BE49-F238E27FC236}">
                    <a16:creationId xmlns:a16="http://schemas.microsoft.com/office/drawing/2014/main" id="{56574BD6-B084-E3D5-D8BB-83E46665D8FA}"/>
                  </a:ext>
                </a:extLst>
              </p:cNvPr>
              <p:cNvSpPr/>
              <p:nvPr/>
            </p:nvSpPr>
            <p:spPr>
              <a:xfrm>
                <a:off x="9080560" y="3226023"/>
                <a:ext cx="2925726" cy="831917"/>
              </a:xfrm>
              <a:prstGeom prst="roundRect">
                <a:avLst>
                  <a:gd name="adj" fmla="val 3226"/>
                </a:avLst>
              </a:prstGeom>
              <a:solidFill>
                <a:srgbClr val="FAFAFA"/>
              </a:solidFill>
              <a:ln w="9525">
                <a:solidFill>
                  <a:srgbClr val="D9D9D9"/>
                </a:solidFill>
                <a:prstDash val="solid"/>
              </a:ln>
            </p:spPr>
            <p:txBody>
              <a:bodyPr/>
              <a:lstStyle/>
              <a:p>
                <a:endParaRPr lang="en-IN" sz="1050">
                  <a:solidFill>
                    <a:prstClr val="black"/>
                  </a:solidFill>
                  <a:latin typeface="Verdana" panose="020B0604030504040204" pitchFamily="34" charset="0"/>
                  <a:ea typeface="Verdana" panose="020B0604030504040204" pitchFamily="34" charset="0"/>
                </a:endParaRPr>
              </a:p>
            </p:txBody>
          </p:sp>
        </p:grpSp>
        <p:grpSp>
          <p:nvGrpSpPr>
            <p:cNvPr id="51" name="Group 50">
              <a:extLst>
                <a:ext uri="{FF2B5EF4-FFF2-40B4-BE49-F238E27FC236}">
                  <a16:creationId xmlns:a16="http://schemas.microsoft.com/office/drawing/2014/main" id="{974AFE7E-2143-7EE3-330C-4FD7B7276BA9}"/>
                </a:ext>
              </a:extLst>
            </p:cNvPr>
            <p:cNvGrpSpPr/>
            <p:nvPr/>
          </p:nvGrpSpPr>
          <p:grpSpPr>
            <a:xfrm>
              <a:off x="9145788" y="3573387"/>
              <a:ext cx="2671757" cy="426407"/>
              <a:chOff x="9290304" y="2954215"/>
              <a:chExt cx="2404872" cy="1636073"/>
            </a:xfrm>
          </p:grpSpPr>
          <p:sp>
            <p:nvSpPr>
              <p:cNvPr id="52" name="Text 11">
                <a:extLst>
                  <a:ext uri="{FF2B5EF4-FFF2-40B4-BE49-F238E27FC236}">
                    <a16:creationId xmlns:a16="http://schemas.microsoft.com/office/drawing/2014/main" id="{8E2B1FBB-E791-04A3-3A71-0C8933E52E39}"/>
                  </a:ext>
                </a:extLst>
              </p:cNvPr>
              <p:cNvSpPr/>
              <p:nvPr/>
            </p:nvSpPr>
            <p:spPr>
              <a:xfrm>
                <a:off x="9290304" y="2954215"/>
                <a:ext cx="2377440" cy="365760"/>
              </a:xfrm>
              <a:prstGeom prst="rect">
                <a:avLst/>
              </a:prstGeom>
              <a:noFill/>
              <a:ln/>
            </p:spPr>
            <p:txBody>
              <a:bodyPr wrap="square" lIns="0" tIns="0" rIns="0" bIns="0" rtlCol="0" anchor="ctr"/>
              <a:lstStyle/>
              <a:p>
                <a:r>
                  <a:rPr lang="en-US" sz="1050" b="1">
                    <a:latin typeface="Verdana" panose="020B0604030504040204" pitchFamily="34" charset="0"/>
                    <a:ea typeface="Verdana" panose="020B0604030504040204" pitchFamily="34" charset="0"/>
                    <a:cs typeface="Calibri" pitchFamily="34" charset="-120"/>
                  </a:rPr>
                  <a:t>34.2% / 15.5%: </a:t>
                </a:r>
                <a:r>
                  <a:rPr lang="en-US" sz="1050">
                    <a:solidFill>
                      <a:srgbClr val="333333"/>
                    </a:solidFill>
                    <a:latin typeface="Verdana" panose="020B0604030504040204" pitchFamily="34" charset="0"/>
                    <a:ea typeface="Verdana" panose="020B0604030504040204" pitchFamily="34" charset="0"/>
                    <a:cs typeface="Calibri" pitchFamily="34" charset="-120"/>
                  </a:rPr>
                  <a:t>Power sector and social-security pensions as shares of the ~₹6 lakh crore spent in 2023-24 (16th FC)</a:t>
                </a:r>
                <a:endParaRPr lang="en-US" sz="1050">
                  <a:solidFill>
                    <a:prstClr val="black"/>
                  </a:solidFill>
                  <a:latin typeface="Verdana" panose="020B0604030504040204" pitchFamily="34" charset="0"/>
                  <a:ea typeface="Verdana" panose="020B0604030504040204" pitchFamily="34" charset="0"/>
                </a:endParaRPr>
              </a:p>
            </p:txBody>
          </p:sp>
          <p:sp>
            <p:nvSpPr>
              <p:cNvPr id="53" name="Text 12">
                <a:extLst>
                  <a:ext uri="{FF2B5EF4-FFF2-40B4-BE49-F238E27FC236}">
                    <a16:creationId xmlns:a16="http://schemas.microsoft.com/office/drawing/2014/main" id="{B41A479E-DEF9-9CCC-74B8-58EAE6403EBF}"/>
                  </a:ext>
                </a:extLst>
              </p:cNvPr>
              <p:cNvSpPr/>
              <p:nvPr/>
            </p:nvSpPr>
            <p:spPr>
              <a:xfrm>
                <a:off x="9317736" y="3986784"/>
                <a:ext cx="2377440" cy="603504"/>
              </a:xfrm>
              <a:prstGeom prst="rect">
                <a:avLst/>
              </a:prstGeom>
              <a:noFill/>
              <a:ln/>
            </p:spPr>
            <p:txBody>
              <a:bodyPr wrap="square" lIns="0" tIns="0" rIns="0" bIns="0" rtlCol="0" anchor="t"/>
              <a:lstStyle/>
              <a:p>
                <a:endParaRPr lang="en-US" sz="1050">
                  <a:solidFill>
                    <a:prstClr val="black"/>
                  </a:solidFill>
                  <a:latin typeface="Verdana" panose="020B0604030504040204" pitchFamily="34" charset="0"/>
                  <a:ea typeface="Verdana" panose="020B0604030504040204" pitchFamily="34" charset="0"/>
                </a:endParaRPr>
              </a:p>
            </p:txBody>
          </p:sp>
        </p:grpSp>
      </p:grpSp>
      <p:sp>
        <p:nvSpPr>
          <p:cNvPr id="320" name="Rectangle 319">
            <a:extLst>
              <a:ext uri="{FF2B5EF4-FFF2-40B4-BE49-F238E27FC236}">
                <a16:creationId xmlns:a16="http://schemas.microsoft.com/office/drawing/2014/main" id="{E4907526-A00F-5245-CA6D-37EA7D761899}"/>
              </a:ext>
            </a:extLst>
          </p:cNvPr>
          <p:cNvSpPr/>
          <p:nvPr/>
        </p:nvSpPr>
        <p:spPr>
          <a:xfrm>
            <a:off x="6835698" y="797205"/>
            <a:ext cx="5204147" cy="400110"/>
          </a:xfrm>
          <a:prstGeom prst="rect">
            <a:avLst/>
          </a:prstGeom>
          <a:solidFill>
            <a:schemeClr val="bg1"/>
          </a:solidFill>
        </p:spPr>
        <p:txBody>
          <a:bodyPr wrap="square" lIns="91440" tIns="45720" rIns="91440" bIns="45720">
            <a:spAutoFit/>
          </a:bodyPr>
          <a:lstStyle/>
          <a:p>
            <a:pPr algn="ctr"/>
            <a:r>
              <a:rPr lang="en-US" sz="1000" b="1" i="1" cap="none" spc="0" dirty="0">
                <a:ln w="0"/>
                <a:solidFill>
                  <a:schemeClr val="tx1"/>
                </a:solidFill>
                <a:latin typeface="Verdana" panose="020B0604030504040204" pitchFamily="34" charset="0"/>
                <a:ea typeface="Verdana" panose="020B0604030504040204" pitchFamily="34" charset="0"/>
              </a:rPr>
              <a:t>Three conceptual Challenges compounded by three structural gaps in reporting</a:t>
            </a:r>
          </a:p>
        </p:txBody>
      </p:sp>
      <p:grpSp>
        <p:nvGrpSpPr>
          <p:cNvPr id="34" name="Group 33">
            <a:extLst>
              <a:ext uri="{FF2B5EF4-FFF2-40B4-BE49-F238E27FC236}">
                <a16:creationId xmlns:a16="http://schemas.microsoft.com/office/drawing/2014/main" id="{9B351236-D6AE-1174-9BB1-C6718AC26EB8}"/>
              </a:ext>
            </a:extLst>
          </p:cNvPr>
          <p:cNvGrpSpPr/>
          <p:nvPr/>
        </p:nvGrpSpPr>
        <p:grpSpPr>
          <a:xfrm>
            <a:off x="6926032" y="1337316"/>
            <a:ext cx="5023478" cy="2772081"/>
            <a:chOff x="4969927" y="4526680"/>
            <a:chExt cx="5645401" cy="1491475"/>
          </a:xfrm>
        </p:grpSpPr>
        <p:sp>
          <p:nvSpPr>
            <p:cNvPr id="351" name="Text 5">
              <a:extLst>
                <a:ext uri="{FF2B5EF4-FFF2-40B4-BE49-F238E27FC236}">
                  <a16:creationId xmlns:a16="http://schemas.microsoft.com/office/drawing/2014/main" id="{9B8A3993-70BE-20D7-229E-FBF92CC086C9}"/>
                </a:ext>
              </a:extLst>
            </p:cNvPr>
            <p:cNvSpPr/>
            <p:nvPr/>
          </p:nvSpPr>
          <p:spPr>
            <a:xfrm>
              <a:off x="5272622" y="4663642"/>
              <a:ext cx="2925727" cy="426105"/>
            </a:xfrm>
            <a:prstGeom prst="rect">
              <a:avLst/>
            </a:prstGeom>
            <a:solidFill>
              <a:schemeClr val="bg1">
                <a:lumMod val="95000"/>
              </a:schemeClr>
            </a:solidFill>
            <a:ln/>
          </p:spPr>
          <p:txBody>
            <a:bodyPr wrap="square" lIns="0" tIns="0" rIns="0" bIns="0" rtlCol="0" anchor="ctr"/>
            <a:lstStyle/>
            <a:p>
              <a:r>
                <a:rPr lang="en-US" sz="1050" b="1">
                  <a:solidFill>
                    <a:srgbClr val="C00000"/>
                  </a:solidFill>
                  <a:latin typeface="Verdana" panose="020B0604030504040204" pitchFamily="34" charset="0"/>
                  <a:ea typeface="Verdana" panose="020B0604030504040204" pitchFamily="34" charset="0"/>
                  <a:cs typeface="Calibri" pitchFamily="34" charset="-120"/>
                </a:rPr>
                <a:t>Audits found ineligible beneficiaries and duplication.</a:t>
              </a:r>
              <a:endParaRPr lang="en-US" sz="1050">
                <a:solidFill>
                  <a:prstClr val="black"/>
                </a:solidFill>
                <a:latin typeface="Verdana" panose="020B0604030504040204" pitchFamily="34" charset="0"/>
                <a:ea typeface="Verdana" panose="020B0604030504040204" pitchFamily="34" charset="0"/>
              </a:endParaRPr>
            </a:p>
          </p:txBody>
        </p:sp>
        <p:grpSp>
          <p:nvGrpSpPr>
            <p:cNvPr id="334" name="Group 333">
              <a:extLst>
                <a:ext uri="{FF2B5EF4-FFF2-40B4-BE49-F238E27FC236}">
                  <a16:creationId xmlns:a16="http://schemas.microsoft.com/office/drawing/2014/main" id="{739A1748-4F09-0ECD-10AB-C45DF5FBA017}"/>
                </a:ext>
              </a:extLst>
            </p:cNvPr>
            <p:cNvGrpSpPr/>
            <p:nvPr/>
          </p:nvGrpSpPr>
          <p:grpSpPr>
            <a:xfrm>
              <a:off x="4969927" y="4526680"/>
              <a:ext cx="5645401" cy="1491475"/>
              <a:chOff x="6720840" y="1316736"/>
              <a:chExt cx="4983480" cy="2724912"/>
            </a:xfrm>
          </p:grpSpPr>
          <p:sp>
            <p:nvSpPr>
              <p:cNvPr id="335" name="Shape 19">
                <a:extLst>
                  <a:ext uri="{FF2B5EF4-FFF2-40B4-BE49-F238E27FC236}">
                    <a16:creationId xmlns:a16="http://schemas.microsoft.com/office/drawing/2014/main" id="{9C70F2F7-06A6-B48E-132F-25065FC21ADB}"/>
                  </a:ext>
                </a:extLst>
              </p:cNvPr>
              <p:cNvSpPr/>
              <p:nvPr/>
            </p:nvSpPr>
            <p:spPr>
              <a:xfrm>
                <a:off x="6720840" y="1316736"/>
                <a:ext cx="4983480" cy="859536"/>
              </a:xfrm>
              <a:prstGeom prst="roundRect">
                <a:avLst>
                  <a:gd name="adj" fmla="val 5319"/>
                </a:avLst>
              </a:prstGeom>
              <a:solidFill>
                <a:srgbClr val="FFFFFF"/>
              </a:solidFill>
              <a:ln w="9525">
                <a:solidFill>
                  <a:srgbClr val="D6DEE0"/>
                </a:solidFill>
                <a:prstDash val="solid"/>
              </a:ln>
              <a:effectLst>
                <a:outerShdw blurRad="76200" dist="17780" dir="5400000" algn="bl" rotWithShape="0">
                  <a:srgbClr val="1A1A1A">
                    <a:alpha val="8000"/>
                  </a:srgbClr>
                </a:outerShdw>
              </a:effectLst>
            </p:spPr>
            <p:txBody>
              <a:bodyPr/>
              <a:lstStyle/>
              <a:p>
                <a:endParaRPr lang="en-IN" sz="1050">
                  <a:latin typeface="Verdana" panose="020B0604030504040204" pitchFamily="34" charset="0"/>
                  <a:ea typeface="Verdana" panose="020B0604030504040204" pitchFamily="34" charset="0"/>
                </a:endParaRPr>
              </a:p>
            </p:txBody>
          </p:sp>
          <p:sp>
            <p:nvSpPr>
              <p:cNvPr id="336" name="Shape 20">
                <a:extLst>
                  <a:ext uri="{FF2B5EF4-FFF2-40B4-BE49-F238E27FC236}">
                    <a16:creationId xmlns:a16="http://schemas.microsoft.com/office/drawing/2014/main" id="{166085C4-F0EE-8622-EC0B-DB8C2453F855}"/>
                  </a:ext>
                </a:extLst>
              </p:cNvPr>
              <p:cNvSpPr/>
              <p:nvPr/>
            </p:nvSpPr>
            <p:spPr>
              <a:xfrm>
                <a:off x="6720840" y="1316736"/>
                <a:ext cx="54864" cy="859536"/>
              </a:xfrm>
              <a:prstGeom prst="rect">
                <a:avLst/>
              </a:prstGeom>
              <a:solidFill>
                <a:schemeClr val="accent1">
                  <a:lumMod val="60000"/>
                  <a:lumOff val="40000"/>
                </a:schemeClr>
              </a:solidFill>
              <a:ln/>
            </p:spPr>
            <p:txBody>
              <a:bodyPr/>
              <a:lstStyle/>
              <a:p>
                <a:endParaRPr lang="en-IN" sz="1050">
                  <a:latin typeface="Verdana" panose="020B0604030504040204" pitchFamily="34" charset="0"/>
                  <a:ea typeface="Verdana" panose="020B0604030504040204" pitchFamily="34" charset="0"/>
                </a:endParaRPr>
              </a:p>
            </p:txBody>
          </p:sp>
          <p:sp>
            <p:nvSpPr>
              <p:cNvPr id="337" name="Text 21">
                <a:extLst>
                  <a:ext uri="{FF2B5EF4-FFF2-40B4-BE49-F238E27FC236}">
                    <a16:creationId xmlns:a16="http://schemas.microsoft.com/office/drawing/2014/main" id="{9020573F-1BF5-01EA-22C6-8696B6AF0A72}"/>
                  </a:ext>
                </a:extLst>
              </p:cNvPr>
              <p:cNvSpPr/>
              <p:nvPr/>
            </p:nvSpPr>
            <p:spPr>
              <a:xfrm>
                <a:off x="6896533" y="1661137"/>
                <a:ext cx="4617720" cy="237744"/>
              </a:xfrm>
              <a:prstGeom prst="rect">
                <a:avLst/>
              </a:prstGeom>
              <a:noFill/>
              <a:ln/>
            </p:spPr>
            <p:txBody>
              <a:bodyPr wrap="square" lIns="0" tIns="0" rIns="0" bIns="0" rtlCol="0" anchor="ctr"/>
              <a:lstStyle/>
              <a:p>
                <a:r>
                  <a:rPr lang="en-US" sz="1050" b="1" dirty="0">
                    <a:solidFill>
                      <a:schemeClr val="accent1"/>
                    </a:solidFill>
                    <a:latin typeface="Verdana" panose="020B0604030504040204" pitchFamily="34" charset="0"/>
                    <a:ea typeface="Verdana" panose="020B0604030504040204" pitchFamily="34" charset="0"/>
                    <a:cs typeface="Arial" pitchFamily="34" charset="-120"/>
                  </a:rPr>
                  <a:t>Definitional ambiguity</a:t>
                </a:r>
                <a:r>
                  <a:rPr lang="en-US" sz="1050" b="1" dirty="0">
                    <a:solidFill>
                      <a:srgbClr val="031D41"/>
                    </a:solidFill>
                    <a:latin typeface="Verdana" panose="020B0604030504040204" pitchFamily="34" charset="0"/>
                    <a:ea typeface="Verdana" panose="020B0604030504040204" pitchFamily="34" charset="0"/>
                    <a:cs typeface="Arial" pitchFamily="34" charset="-120"/>
                  </a:rPr>
                  <a:t>: </a:t>
                </a:r>
                <a:r>
                  <a:rPr lang="en-US" sz="1050" dirty="0">
                    <a:solidFill>
                      <a:srgbClr val="1A1A1A"/>
                    </a:solidFill>
                    <a:latin typeface="Verdana" panose="020B0604030504040204" pitchFamily="34" charset="0"/>
                    <a:ea typeface="Verdana" panose="020B0604030504040204" pitchFamily="34" charset="0"/>
                    <a:cs typeface="Calibri" pitchFamily="34" charset="-120"/>
                  </a:rPr>
                  <a:t>No single definition captures every use of the term. International standards focus on transfers to producers; Indian welfare </a:t>
                </a:r>
                <a:r>
                  <a:rPr lang="en-US" sz="1050" dirty="0" err="1">
                    <a:solidFill>
                      <a:srgbClr val="1A1A1A"/>
                    </a:solidFill>
                    <a:latin typeface="Verdana" panose="020B0604030504040204" pitchFamily="34" charset="0"/>
                    <a:ea typeface="Verdana" panose="020B0604030504040204" pitchFamily="34" charset="0"/>
                    <a:cs typeface="Calibri" pitchFamily="34" charset="-120"/>
                  </a:rPr>
                  <a:t>programmes</a:t>
                </a:r>
                <a:r>
                  <a:rPr lang="en-US" sz="1050" dirty="0">
                    <a:solidFill>
                      <a:srgbClr val="1A1A1A"/>
                    </a:solidFill>
                    <a:latin typeface="Verdana" panose="020B0604030504040204" pitchFamily="34" charset="0"/>
                    <a:ea typeface="Verdana" panose="020B0604030504040204" pitchFamily="34" charset="0"/>
                    <a:cs typeface="Calibri" pitchFamily="34" charset="-120"/>
                  </a:rPr>
                  <a:t> also transfer to consumers and households</a:t>
                </a:r>
                <a:endParaRPr lang="en-US" sz="1050" dirty="0">
                  <a:latin typeface="Verdana" panose="020B0604030504040204" pitchFamily="34" charset="0"/>
                  <a:ea typeface="Verdana" panose="020B0604030504040204" pitchFamily="34" charset="0"/>
                </a:endParaRPr>
              </a:p>
            </p:txBody>
          </p:sp>
          <p:sp>
            <p:nvSpPr>
              <p:cNvPr id="338" name="Text 22">
                <a:extLst>
                  <a:ext uri="{FF2B5EF4-FFF2-40B4-BE49-F238E27FC236}">
                    <a16:creationId xmlns:a16="http://schemas.microsoft.com/office/drawing/2014/main" id="{6FB2E646-25DE-24A2-C2ED-0716B60FE23E}"/>
                  </a:ext>
                </a:extLst>
              </p:cNvPr>
              <p:cNvSpPr/>
              <p:nvPr/>
            </p:nvSpPr>
            <p:spPr>
              <a:xfrm>
                <a:off x="6931152" y="1600200"/>
                <a:ext cx="4617720" cy="530352"/>
              </a:xfrm>
              <a:prstGeom prst="rect">
                <a:avLst/>
              </a:prstGeom>
              <a:noFill/>
              <a:ln/>
            </p:spPr>
            <p:txBody>
              <a:bodyPr wrap="square" lIns="0" tIns="0" rIns="0" bIns="0" rtlCol="0" anchor="t"/>
              <a:lstStyle/>
              <a:p>
                <a:pPr marL="0" indent="0">
                  <a:lnSpc>
                    <a:spcPct val="93000"/>
                  </a:lnSpc>
                  <a:buNone/>
                </a:pPr>
                <a:r>
                  <a:rPr lang="en-US" sz="1050">
                    <a:solidFill>
                      <a:srgbClr val="1A1A1A"/>
                    </a:solidFill>
                    <a:latin typeface="Verdana" panose="020B0604030504040204" pitchFamily="34" charset="0"/>
                    <a:ea typeface="Verdana" panose="020B0604030504040204" pitchFamily="34" charset="0"/>
                    <a:cs typeface="Calibri" pitchFamily="34" charset="-120"/>
                  </a:rPr>
                  <a:t>.</a:t>
                </a:r>
                <a:endParaRPr lang="en-US" sz="1050">
                  <a:latin typeface="Verdana" panose="020B0604030504040204" pitchFamily="34" charset="0"/>
                  <a:ea typeface="Verdana" panose="020B0604030504040204" pitchFamily="34" charset="0"/>
                </a:endParaRPr>
              </a:p>
            </p:txBody>
          </p:sp>
          <p:sp>
            <p:nvSpPr>
              <p:cNvPr id="339" name="Shape 23">
                <a:extLst>
                  <a:ext uri="{FF2B5EF4-FFF2-40B4-BE49-F238E27FC236}">
                    <a16:creationId xmlns:a16="http://schemas.microsoft.com/office/drawing/2014/main" id="{A3753717-DEA2-4B45-2500-B3E0D806FC8E}"/>
                  </a:ext>
                </a:extLst>
              </p:cNvPr>
              <p:cNvSpPr/>
              <p:nvPr/>
            </p:nvSpPr>
            <p:spPr>
              <a:xfrm>
                <a:off x="6720840" y="2249424"/>
                <a:ext cx="4983480" cy="859536"/>
              </a:xfrm>
              <a:prstGeom prst="roundRect">
                <a:avLst>
                  <a:gd name="adj" fmla="val 5319"/>
                </a:avLst>
              </a:prstGeom>
              <a:solidFill>
                <a:srgbClr val="FFFFFF"/>
              </a:solidFill>
              <a:ln w="9525">
                <a:solidFill>
                  <a:srgbClr val="D6DEE0"/>
                </a:solidFill>
                <a:prstDash val="solid"/>
              </a:ln>
              <a:effectLst>
                <a:outerShdw blurRad="76200" dist="17780" dir="5400000" algn="bl" rotWithShape="0">
                  <a:srgbClr val="1A1A1A">
                    <a:alpha val="8000"/>
                  </a:srgbClr>
                </a:outerShdw>
              </a:effectLst>
            </p:spPr>
            <p:txBody>
              <a:bodyPr/>
              <a:lstStyle/>
              <a:p>
                <a:endParaRPr lang="en-IN" sz="1050">
                  <a:latin typeface="Verdana" panose="020B0604030504040204" pitchFamily="34" charset="0"/>
                  <a:ea typeface="Verdana" panose="020B0604030504040204" pitchFamily="34" charset="0"/>
                </a:endParaRPr>
              </a:p>
            </p:txBody>
          </p:sp>
          <p:sp>
            <p:nvSpPr>
              <p:cNvPr id="340" name="Shape 24">
                <a:extLst>
                  <a:ext uri="{FF2B5EF4-FFF2-40B4-BE49-F238E27FC236}">
                    <a16:creationId xmlns:a16="http://schemas.microsoft.com/office/drawing/2014/main" id="{4B79953C-F7CA-52CC-1205-6EFFA68E2E95}"/>
                  </a:ext>
                </a:extLst>
              </p:cNvPr>
              <p:cNvSpPr/>
              <p:nvPr/>
            </p:nvSpPr>
            <p:spPr>
              <a:xfrm>
                <a:off x="6720840" y="2249424"/>
                <a:ext cx="54864" cy="859536"/>
              </a:xfrm>
              <a:prstGeom prst="rect">
                <a:avLst/>
              </a:prstGeom>
              <a:solidFill>
                <a:schemeClr val="accent1">
                  <a:lumMod val="60000"/>
                  <a:lumOff val="40000"/>
                </a:schemeClr>
              </a:solidFill>
              <a:ln/>
            </p:spPr>
            <p:txBody>
              <a:bodyPr/>
              <a:lstStyle/>
              <a:p>
                <a:endParaRPr lang="en-IN" sz="1050">
                  <a:latin typeface="Verdana" panose="020B0604030504040204" pitchFamily="34" charset="0"/>
                  <a:ea typeface="Verdana" panose="020B0604030504040204" pitchFamily="34" charset="0"/>
                </a:endParaRPr>
              </a:p>
            </p:txBody>
          </p:sp>
          <p:sp>
            <p:nvSpPr>
              <p:cNvPr id="341" name="Text 25">
                <a:extLst>
                  <a:ext uri="{FF2B5EF4-FFF2-40B4-BE49-F238E27FC236}">
                    <a16:creationId xmlns:a16="http://schemas.microsoft.com/office/drawing/2014/main" id="{2EF48413-38CF-3289-34B5-AE550C006C31}"/>
                  </a:ext>
                </a:extLst>
              </p:cNvPr>
              <p:cNvSpPr/>
              <p:nvPr/>
            </p:nvSpPr>
            <p:spPr>
              <a:xfrm>
                <a:off x="6850541" y="2520672"/>
                <a:ext cx="4617720" cy="237744"/>
              </a:xfrm>
              <a:prstGeom prst="rect">
                <a:avLst/>
              </a:prstGeom>
              <a:noFill/>
              <a:ln/>
            </p:spPr>
            <p:txBody>
              <a:bodyPr wrap="square" lIns="0" tIns="0" rIns="0" bIns="0" rtlCol="0" anchor="ctr"/>
              <a:lstStyle/>
              <a:p>
                <a:r>
                  <a:rPr lang="en-US" sz="1050" b="1" dirty="0">
                    <a:solidFill>
                      <a:schemeClr val="accent1"/>
                    </a:solidFill>
                    <a:latin typeface="Verdana" panose="020B0604030504040204" pitchFamily="34" charset="0"/>
                    <a:ea typeface="Verdana" panose="020B0604030504040204" pitchFamily="34" charset="0"/>
                    <a:cs typeface="Arial" pitchFamily="34" charset="-120"/>
                  </a:rPr>
                  <a:t>Fragmented reporting</a:t>
                </a:r>
                <a:r>
                  <a:rPr lang="en-US" sz="1050" b="1" dirty="0">
                    <a:solidFill>
                      <a:srgbClr val="004F59"/>
                    </a:solidFill>
                    <a:latin typeface="Verdana" panose="020B0604030504040204" pitchFamily="34" charset="0"/>
                    <a:ea typeface="Verdana" panose="020B0604030504040204" pitchFamily="34" charset="0"/>
                    <a:cs typeface="Arial" pitchFamily="34" charset="-120"/>
                  </a:rPr>
                  <a:t>: </a:t>
                </a:r>
                <a:r>
                  <a:rPr lang="en-US" sz="1050" dirty="0">
                    <a:solidFill>
                      <a:srgbClr val="1A1A1A"/>
                    </a:solidFill>
                    <a:latin typeface="Verdana" panose="020B0604030504040204" pitchFamily="34" charset="0"/>
                    <a:ea typeface="Verdana" panose="020B0604030504040204" pitchFamily="34" charset="0"/>
                    <a:cs typeface="Calibri" pitchFamily="34" charset="-120"/>
                  </a:rPr>
                  <a:t>The same functional item is classified differently across States, departments and object heads. Payments routed through public enterprises may never reach the subsidy statement</a:t>
                </a:r>
                <a:endParaRPr lang="en-US" sz="1050" dirty="0">
                  <a:latin typeface="Verdana" panose="020B0604030504040204" pitchFamily="34" charset="0"/>
                  <a:ea typeface="Verdana" panose="020B0604030504040204" pitchFamily="34" charset="0"/>
                </a:endParaRPr>
              </a:p>
            </p:txBody>
          </p:sp>
          <p:sp>
            <p:nvSpPr>
              <p:cNvPr id="342" name="Text 26">
                <a:extLst>
                  <a:ext uri="{FF2B5EF4-FFF2-40B4-BE49-F238E27FC236}">
                    <a16:creationId xmlns:a16="http://schemas.microsoft.com/office/drawing/2014/main" id="{A7ECDC55-DBDB-D16B-EC5B-F488562AE291}"/>
                  </a:ext>
                </a:extLst>
              </p:cNvPr>
              <p:cNvSpPr/>
              <p:nvPr/>
            </p:nvSpPr>
            <p:spPr>
              <a:xfrm>
                <a:off x="6931152" y="2532888"/>
                <a:ext cx="4617720" cy="530352"/>
              </a:xfrm>
              <a:prstGeom prst="rect">
                <a:avLst/>
              </a:prstGeom>
              <a:noFill/>
              <a:ln/>
            </p:spPr>
            <p:txBody>
              <a:bodyPr wrap="square" lIns="0" tIns="0" rIns="0" bIns="0" rtlCol="0" anchor="t"/>
              <a:lstStyle/>
              <a:p>
                <a:pPr marL="0" indent="0">
                  <a:lnSpc>
                    <a:spcPct val="93000"/>
                  </a:lnSpc>
                  <a:buNone/>
                </a:pPr>
                <a:r>
                  <a:rPr lang="en-US" sz="1050">
                    <a:solidFill>
                      <a:srgbClr val="1A1A1A"/>
                    </a:solidFill>
                    <a:latin typeface="Verdana" panose="020B0604030504040204" pitchFamily="34" charset="0"/>
                    <a:ea typeface="Verdana" panose="020B0604030504040204" pitchFamily="34" charset="0"/>
                    <a:cs typeface="Calibri" pitchFamily="34" charset="-120"/>
                  </a:rPr>
                  <a:t>.</a:t>
                </a:r>
                <a:endParaRPr lang="en-US" sz="1050">
                  <a:latin typeface="Verdana" panose="020B0604030504040204" pitchFamily="34" charset="0"/>
                  <a:ea typeface="Verdana" panose="020B0604030504040204" pitchFamily="34" charset="0"/>
                </a:endParaRPr>
              </a:p>
            </p:txBody>
          </p:sp>
          <p:sp>
            <p:nvSpPr>
              <p:cNvPr id="345" name="Shape 27">
                <a:extLst>
                  <a:ext uri="{FF2B5EF4-FFF2-40B4-BE49-F238E27FC236}">
                    <a16:creationId xmlns:a16="http://schemas.microsoft.com/office/drawing/2014/main" id="{73CE912D-C5B7-A8F2-1376-E31184ADF424}"/>
                  </a:ext>
                </a:extLst>
              </p:cNvPr>
              <p:cNvSpPr/>
              <p:nvPr/>
            </p:nvSpPr>
            <p:spPr>
              <a:xfrm>
                <a:off x="6720840" y="3182112"/>
                <a:ext cx="4983480" cy="859536"/>
              </a:xfrm>
              <a:prstGeom prst="roundRect">
                <a:avLst>
                  <a:gd name="adj" fmla="val 5319"/>
                </a:avLst>
              </a:prstGeom>
              <a:solidFill>
                <a:srgbClr val="FFFFFF"/>
              </a:solidFill>
              <a:ln w="9525">
                <a:solidFill>
                  <a:srgbClr val="D6DEE0"/>
                </a:solidFill>
                <a:prstDash val="solid"/>
              </a:ln>
              <a:effectLst>
                <a:outerShdw blurRad="76200" dist="17780" dir="5400000" algn="bl" rotWithShape="0">
                  <a:srgbClr val="1A1A1A">
                    <a:alpha val="8000"/>
                  </a:srgbClr>
                </a:outerShdw>
              </a:effectLst>
            </p:spPr>
            <p:txBody>
              <a:bodyPr/>
              <a:lstStyle/>
              <a:p>
                <a:endParaRPr lang="en-IN" sz="1050">
                  <a:latin typeface="Verdana" panose="020B0604030504040204" pitchFamily="34" charset="0"/>
                  <a:ea typeface="Verdana" panose="020B0604030504040204" pitchFamily="34" charset="0"/>
                </a:endParaRPr>
              </a:p>
            </p:txBody>
          </p:sp>
          <p:sp>
            <p:nvSpPr>
              <p:cNvPr id="346" name="Shape 28">
                <a:extLst>
                  <a:ext uri="{FF2B5EF4-FFF2-40B4-BE49-F238E27FC236}">
                    <a16:creationId xmlns:a16="http://schemas.microsoft.com/office/drawing/2014/main" id="{80408DC6-1EE8-F9D3-B8A8-AA7EC7BD8FD4}"/>
                  </a:ext>
                </a:extLst>
              </p:cNvPr>
              <p:cNvSpPr/>
              <p:nvPr/>
            </p:nvSpPr>
            <p:spPr>
              <a:xfrm>
                <a:off x="6720840" y="3182112"/>
                <a:ext cx="54864" cy="859536"/>
              </a:xfrm>
              <a:prstGeom prst="rect">
                <a:avLst/>
              </a:prstGeom>
              <a:solidFill>
                <a:schemeClr val="accent1">
                  <a:lumMod val="60000"/>
                  <a:lumOff val="40000"/>
                </a:schemeClr>
              </a:solidFill>
              <a:ln/>
            </p:spPr>
            <p:txBody>
              <a:bodyPr/>
              <a:lstStyle/>
              <a:p>
                <a:endParaRPr lang="en-IN" sz="1050">
                  <a:latin typeface="Verdana" panose="020B0604030504040204" pitchFamily="34" charset="0"/>
                  <a:ea typeface="Verdana" panose="020B0604030504040204" pitchFamily="34" charset="0"/>
                </a:endParaRPr>
              </a:p>
            </p:txBody>
          </p:sp>
          <p:sp>
            <p:nvSpPr>
              <p:cNvPr id="347" name="Text 29">
                <a:extLst>
                  <a:ext uri="{FF2B5EF4-FFF2-40B4-BE49-F238E27FC236}">
                    <a16:creationId xmlns:a16="http://schemas.microsoft.com/office/drawing/2014/main" id="{A38ABBCB-031D-D441-C43E-258621775C37}"/>
                  </a:ext>
                </a:extLst>
              </p:cNvPr>
              <p:cNvSpPr/>
              <p:nvPr/>
            </p:nvSpPr>
            <p:spPr>
              <a:xfrm>
                <a:off x="6850541" y="3548886"/>
                <a:ext cx="4617720" cy="237744"/>
              </a:xfrm>
              <a:prstGeom prst="rect">
                <a:avLst/>
              </a:prstGeom>
              <a:noFill/>
              <a:ln/>
            </p:spPr>
            <p:txBody>
              <a:bodyPr wrap="square" lIns="0" tIns="0" rIns="0" bIns="0" rtlCol="0" anchor="ctr"/>
              <a:lstStyle/>
              <a:p>
                <a:r>
                  <a:rPr lang="en-US" sz="1050" b="1" dirty="0">
                    <a:solidFill>
                      <a:schemeClr val="accent1"/>
                    </a:solidFill>
                    <a:latin typeface="Verdana" panose="020B0604030504040204" pitchFamily="34" charset="0"/>
                    <a:ea typeface="Verdana" panose="020B0604030504040204" pitchFamily="34" charset="0"/>
                    <a:cs typeface="Arial" pitchFamily="34" charset="-120"/>
                  </a:rPr>
                  <a:t>Expenditure quality: </a:t>
                </a:r>
                <a:r>
                  <a:rPr lang="en-US" sz="1050" dirty="0">
                    <a:solidFill>
                      <a:srgbClr val="1A1A1A"/>
                    </a:solidFill>
                    <a:latin typeface="Verdana" panose="020B0604030504040204" pitchFamily="34" charset="0"/>
                    <a:ea typeface="Verdana" panose="020B0604030504040204" pitchFamily="34" charset="0"/>
                    <a:cs typeface="Calibri" pitchFamily="34" charset="-120"/>
                  </a:rPr>
                  <a:t>A State with high committed expenditure and persistent deficits has less room for new commitments — yet a well-targeted provision cannot be judged on budget cost alone.</a:t>
                </a:r>
                <a:endParaRPr lang="en-US" sz="1050" dirty="0">
                  <a:latin typeface="Verdana" panose="020B0604030504040204" pitchFamily="34" charset="0"/>
                  <a:ea typeface="Verdana" panose="020B0604030504040204" pitchFamily="34" charset="0"/>
                </a:endParaRPr>
              </a:p>
              <a:p>
                <a:pPr marL="0" indent="0">
                  <a:buNone/>
                </a:pPr>
                <a:endParaRPr lang="en-US" sz="1050" dirty="0">
                  <a:latin typeface="Verdana" panose="020B0604030504040204" pitchFamily="34" charset="0"/>
                  <a:ea typeface="Verdana" panose="020B0604030504040204" pitchFamily="34" charset="0"/>
                </a:endParaRPr>
              </a:p>
            </p:txBody>
          </p:sp>
          <p:sp>
            <p:nvSpPr>
              <p:cNvPr id="348" name="Text 30">
                <a:extLst>
                  <a:ext uri="{FF2B5EF4-FFF2-40B4-BE49-F238E27FC236}">
                    <a16:creationId xmlns:a16="http://schemas.microsoft.com/office/drawing/2014/main" id="{6904CF9F-1A7A-9EF0-7EB8-5A3588941AB0}"/>
                  </a:ext>
                </a:extLst>
              </p:cNvPr>
              <p:cNvSpPr/>
              <p:nvPr/>
            </p:nvSpPr>
            <p:spPr>
              <a:xfrm>
                <a:off x="6931152" y="3465576"/>
                <a:ext cx="4617720" cy="530352"/>
              </a:xfrm>
              <a:prstGeom prst="rect">
                <a:avLst/>
              </a:prstGeom>
              <a:noFill/>
              <a:ln/>
            </p:spPr>
            <p:txBody>
              <a:bodyPr wrap="square" lIns="0" tIns="0" rIns="0" bIns="0" rtlCol="0" anchor="t"/>
              <a:lstStyle/>
              <a:p>
                <a:pPr marL="0" indent="0">
                  <a:lnSpc>
                    <a:spcPct val="93000"/>
                  </a:lnSpc>
                  <a:buNone/>
                </a:pPr>
                <a:endParaRPr lang="en-US" sz="1050">
                  <a:latin typeface="Verdana" panose="020B0604030504040204" pitchFamily="34" charset="0"/>
                  <a:ea typeface="Verdana" panose="020B0604030504040204" pitchFamily="34" charset="0"/>
                </a:endParaRPr>
              </a:p>
            </p:txBody>
          </p:sp>
        </p:grpSp>
      </p:grpSp>
      <p:grpSp>
        <p:nvGrpSpPr>
          <p:cNvPr id="36" name="Group 35">
            <a:extLst>
              <a:ext uri="{FF2B5EF4-FFF2-40B4-BE49-F238E27FC236}">
                <a16:creationId xmlns:a16="http://schemas.microsoft.com/office/drawing/2014/main" id="{63FA92CE-AAF8-84E3-F08D-811D002A11B1}"/>
              </a:ext>
            </a:extLst>
          </p:cNvPr>
          <p:cNvGrpSpPr/>
          <p:nvPr/>
        </p:nvGrpSpPr>
        <p:grpSpPr>
          <a:xfrm>
            <a:off x="6915700" y="4206577"/>
            <a:ext cx="5086161" cy="2468880"/>
            <a:chOff x="10682186" y="4509993"/>
            <a:chExt cx="5874186" cy="1618083"/>
          </a:xfrm>
        </p:grpSpPr>
        <p:grpSp>
          <p:nvGrpSpPr>
            <p:cNvPr id="324" name="Group 323">
              <a:extLst>
                <a:ext uri="{FF2B5EF4-FFF2-40B4-BE49-F238E27FC236}">
                  <a16:creationId xmlns:a16="http://schemas.microsoft.com/office/drawing/2014/main" id="{698860CD-073C-3147-3998-605604AA9725}"/>
                </a:ext>
              </a:extLst>
            </p:cNvPr>
            <p:cNvGrpSpPr/>
            <p:nvPr/>
          </p:nvGrpSpPr>
          <p:grpSpPr>
            <a:xfrm>
              <a:off x="10776708" y="4551710"/>
              <a:ext cx="5738330" cy="1415634"/>
              <a:chOff x="6720840" y="4480560"/>
              <a:chExt cx="4983480" cy="1298448"/>
            </a:xfrm>
          </p:grpSpPr>
          <p:sp>
            <p:nvSpPr>
              <p:cNvPr id="325" name="Shape 32">
                <a:extLst>
                  <a:ext uri="{FF2B5EF4-FFF2-40B4-BE49-F238E27FC236}">
                    <a16:creationId xmlns:a16="http://schemas.microsoft.com/office/drawing/2014/main" id="{0B0D1AC0-67B1-B95F-F9A8-C7AE60E3234E}"/>
                  </a:ext>
                </a:extLst>
              </p:cNvPr>
              <p:cNvSpPr/>
              <p:nvPr/>
            </p:nvSpPr>
            <p:spPr>
              <a:xfrm>
                <a:off x="6720840" y="4480560"/>
                <a:ext cx="1572768" cy="384048"/>
              </a:xfrm>
              <a:prstGeom prst="homePlate">
                <a:avLst/>
              </a:prstGeom>
              <a:solidFill>
                <a:schemeClr val="accent1">
                  <a:lumMod val="75000"/>
                </a:schemeClr>
              </a:solidFill>
              <a:ln/>
              <a:effectLst>
                <a:outerShdw blurRad="50800" dist="38100" dir="5400000" algn="t" rotWithShape="0">
                  <a:prstClr val="black">
                    <a:alpha val="40000"/>
                  </a:prstClr>
                </a:outerShdw>
              </a:effectLst>
            </p:spPr>
            <p:txBody>
              <a:bodyPr/>
              <a:lstStyle/>
              <a:p>
                <a:endParaRPr lang="en-IN" sz="1050">
                  <a:latin typeface="Verdana" panose="020B0604030504040204" pitchFamily="34" charset="0"/>
                  <a:ea typeface="Verdana" panose="020B0604030504040204" pitchFamily="34" charset="0"/>
                </a:endParaRPr>
              </a:p>
            </p:txBody>
          </p:sp>
          <p:sp>
            <p:nvSpPr>
              <p:cNvPr id="326" name="Text 33">
                <a:extLst>
                  <a:ext uri="{FF2B5EF4-FFF2-40B4-BE49-F238E27FC236}">
                    <a16:creationId xmlns:a16="http://schemas.microsoft.com/office/drawing/2014/main" id="{036D1225-592A-7862-58A6-D65D280114CE}"/>
                  </a:ext>
                </a:extLst>
              </p:cNvPr>
              <p:cNvSpPr/>
              <p:nvPr/>
            </p:nvSpPr>
            <p:spPr>
              <a:xfrm>
                <a:off x="6784848" y="4480560"/>
                <a:ext cx="1371600" cy="384048"/>
              </a:xfrm>
              <a:prstGeom prst="rect">
                <a:avLst/>
              </a:prstGeom>
              <a:noFill/>
              <a:ln/>
            </p:spPr>
            <p:txBody>
              <a:bodyPr wrap="square" lIns="0" tIns="0" rIns="0" bIns="0" rtlCol="0" anchor="ctr"/>
              <a:lstStyle/>
              <a:p>
                <a:pPr marL="0" indent="0">
                  <a:buNone/>
                </a:pPr>
                <a:r>
                  <a:rPr lang="en-US" sz="1050" b="1">
                    <a:solidFill>
                      <a:srgbClr val="FFFFFF"/>
                    </a:solidFill>
                    <a:latin typeface="Verdana" panose="020B0604030504040204" pitchFamily="34" charset="0"/>
                    <a:ea typeface="Verdana" panose="020B0604030504040204" pitchFamily="34" charset="0"/>
                    <a:cs typeface="Arial" pitchFamily="34" charset="-120"/>
                  </a:rPr>
                  <a:t>Incompleteness</a:t>
                </a:r>
                <a:endParaRPr lang="en-US" sz="1050">
                  <a:latin typeface="Verdana" panose="020B0604030504040204" pitchFamily="34" charset="0"/>
                  <a:ea typeface="Verdana" panose="020B0604030504040204" pitchFamily="34" charset="0"/>
                </a:endParaRPr>
              </a:p>
            </p:txBody>
          </p:sp>
          <p:sp>
            <p:nvSpPr>
              <p:cNvPr id="327" name="Text 34">
                <a:extLst>
                  <a:ext uri="{FF2B5EF4-FFF2-40B4-BE49-F238E27FC236}">
                    <a16:creationId xmlns:a16="http://schemas.microsoft.com/office/drawing/2014/main" id="{D7F2E374-EE1C-9E27-8BB3-E5A61CB37503}"/>
                  </a:ext>
                </a:extLst>
              </p:cNvPr>
              <p:cNvSpPr/>
              <p:nvPr/>
            </p:nvSpPr>
            <p:spPr>
              <a:xfrm>
                <a:off x="8412480" y="4480560"/>
                <a:ext cx="3291840" cy="384048"/>
              </a:xfrm>
              <a:prstGeom prst="rect">
                <a:avLst/>
              </a:prstGeom>
              <a:noFill/>
              <a:ln/>
            </p:spPr>
            <p:txBody>
              <a:bodyPr wrap="square" lIns="0" tIns="0" rIns="0" bIns="0" rtlCol="0" anchor="ctr"/>
              <a:lstStyle/>
              <a:p>
                <a:pPr marL="0" indent="0">
                  <a:lnSpc>
                    <a:spcPct val="92000"/>
                  </a:lnSpc>
                  <a:buNone/>
                </a:pPr>
                <a:r>
                  <a:rPr lang="en-US" sz="1050">
                    <a:solidFill>
                      <a:srgbClr val="1A1A1A"/>
                    </a:solidFill>
                    <a:latin typeface="Verdana" panose="020B0604030504040204" pitchFamily="34" charset="0"/>
                    <a:ea typeface="Verdana" panose="020B0604030504040204" pitchFamily="34" charset="0"/>
                    <a:cs typeface="Calibri" pitchFamily="34" charset="-120"/>
                  </a:rPr>
                  <a:t>Cash transfers, PLI, tax expenditures and off-budget financing are excluded from official statements.</a:t>
                </a:r>
                <a:endParaRPr lang="en-US" sz="1050">
                  <a:latin typeface="Verdana" panose="020B0604030504040204" pitchFamily="34" charset="0"/>
                  <a:ea typeface="Verdana" panose="020B0604030504040204" pitchFamily="34" charset="0"/>
                </a:endParaRPr>
              </a:p>
            </p:txBody>
          </p:sp>
          <p:sp>
            <p:nvSpPr>
              <p:cNvPr id="328" name="Shape 35">
                <a:extLst>
                  <a:ext uri="{FF2B5EF4-FFF2-40B4-BE49-F238E27FC236}">
                    <a16:creationId xmlns:a16="http://schemas.microsoft.com/office/drawing/2014/main" id="{20AD81EE-2719-C836-B3AE-CE9E263DF20A}"/>
                  </a:ext>
                </a:extLst>
              </p:cNvPr>
              <p:cNvSpPr/>
              <p:nvPr/>
            </p:nvSpPr>
            <p:spPr>
              <a:xfrm>
                <a:off x="6720840" y="4937760"/>
                <a:ext cx="1572768" cy="384048"/>
              </a:xfrm>
              <a:prstGeom prst="homePlate">
                <a:avLst/>
              </a:prstGeom>
              <a:solidFill>
                <a:schemeClr val="accent1">
                  <a:lumMod val="75000"/>
                </a:schemeClr>
              </a:solidFill>
              <a:ln/>
              <a:effectLst>
                <a:outerShdw blurRad="50800" dist="38100" dir="5400000" algn="t" rotWithShape="0">
                  <a:prstClr val="black">
                    <a:alpha val="40000"/>
                  </a:prstClr>
                </a:outerShdw>
              </a:effectLst>
            </p:spPr>
            <p:txBody>
              <a:bodyPr/>
              <a:lstStyle/>
              <a:p>
                <a:endParaRPr lang="en-IN" sz="1050">
                  <a:latin typeface="Verdana" panose="020B0604030504040204" pitchFamily="34" charset="0"/>
                  <a:ea typeface="Verdana" panose="020B0604030504040204" pitchFamily="34" charset="0"/>
                </a:endParaRPr>
              </a:p>
            </p:txBody>
          </p:sp>
          <p:sp>
            <p:nvSpPr>
              <p:cNvPr id="329" name="Text 36">
                <a:extLst>
                  <a:ext uri="{FF2B5EF4-FFF2-40B4-BE49-F238E27FC236}">
                    <a16:creationId xmlns:a16="http://schemas.microsoft.com/office/drawing/2014/main" id="{77527EB1-CDF4-BE6C-5537-FC8A7052C5B7}"/>
                  </a:ext>
                </a:extLst>
              </p:cNvPr>
              <p:cNvSpPr/>
              <p:nvPr/>
            </p:nvSpPr>
            <p:spPr>
              <a:xfrm>
                <a:off x="6784848" y="4937760"/>
                <a:ext cx="1371600" cy="384048"/>
              </a:xfrm>
              <a:prstGeom prst="rect">
                <a:avLst/>
              </a:prstGeom>
              <a:noFill/>
              <a:ln/>
            </p:spPr>
            <p:txBody>
              <a:bodyPr wrap="square" lIns="0" tIns="0" rIns="0" bIns="0" rtlCol="0" anchor="ctr"/>
              <a:lstStyle/>
              <a:p>
                <a:pPr marL="0" indent="0">
                  <a:buNone/>
                </a:pPr>
                <a:r>
                  <a:rPr lang="en-US" sz="1050" b="1">
                    <a:solidFill>
                      <a:srgbClr val="FFFFFF"/>
                    </a:solidFill>
                    <a:latin typeface="Verdana" panose="020B0604030504040204" pitchFamily="34" charset="0"/>
                    <a:ea typeface="Verdana" panose="020B0604030504040204" pitchFamily="34" charset="0"/>
                    <a:cs typeface="Arial" pitchFamily="34" charset="-120"/>
                  </a:rPr>
                  <a:t>Inconsistency</a:t>
                </a:r>
                <a:endParaRPr lang="en-US" sz="1050">
                  <a:latin typeface="Verdana" panose="020B0604030504040204" pitchFamily="34" charset="0"/>
                  <a:ea typeface="Verdana" panose="020B0604030504040204" pitchFamily="34" charset="0"/>
                </a:endParaRPr>
              </a:p>
            </p:txBody>
          </p:sp>
          <p:sp>
            <p:nvSpPr>
              <p:cNvPr id="330" name="Text 37">
                <a:extLst>
                  <a:ext uri="{FF2B5EF4-FFF2-40B4-BE49-F238E27FC236}">
                    <a16:creationId xmlns:a16="http://schemas.microsoft.com/office/drawing/2014/main" id="{5C16BC2B-7DC1-609D-7B1D-69010B31A755}"/>
                  </a:ext>
                </a:extLst>
              </p:cNvPr>
              <p:cNvSpPr/>
              <p:nvPr/>
            </p:nvSpPr>
            <p:spPr>
              <a:xfrm>
                <a:off x="8412480" y="4937760"/>
                <a:ext cx="3291840" cy="384048"/>
              </a:xfrm>
              <a:prstGeom prst="rect">
                <a:avLst/>
              </a:prstGeom>
              <a:noFill/>
              <a:ln/>
            </p:spPr>
            <p:txBody>
              <a:bodyPr wrap="square" lIns="0" tIns="0" rIns="0" bIns="0" rtlCol="0" anchor="ctr"/>
              <a:lstStyle/>
              <a:p>
                <a:pPr marL="0" indent="0">
                  <a:lnSpc>
                    <a:spcPct val="92000"/>
                  </a:lnSpc>
                  <a:buNone/>
                </a:pPr>
                <a:r>
                  <a:rPr lang="en-US" sz="1050">
                    <a:solidFill>
                      <a:srgbClr val="1A1A1A"/>
                    </a:solidFill>
                    <a:latin typeface="Verdana" panose="020B0604030504040204" pitchFamily="34" charset="0"/>
                    <a:ea typeface="Verdana" panose="020B0604030504040204" pitchFamily="34" charset="0"/>
                    <a:cs typeface="Calibri" pitchFamily="34" charset="-120"/>
                  </a:rPr>
                  <a:t>Accounting heads shift — urea moved from Agriculture to Industry in 2010 — and bills are deferred irregularly.</a:t>
                </a:r>
                <a:endParaRPr lang="en-US" sz="1050">
                  <a:latin typeface="Verdana" panose="020B0604030504040204" pitchFamily="34" charset="0"/>
                  <a:ea typeface="Verdana" panose="020B0604030504040204" pitchFamily="34" charset="0"/>
                </a:endParaRPr>
              </a:p>
            </p:txBody>
          </p:sp>
          <p:sp>
            <p:nvSpPr>
              <p:cNvPr id="331" name="Shape 38">
                <a:extLst>
                  <a:ext uri="{FF2B5EF4-FFF2-40B4-BE49-F238E27FC236}">
                    <a16:creationId xmlns:a16="http://schemas.microsoft.com/office/drawing/2014/main" id="{A41F1F38-8445-EA19-91A9-B8F1C16F9D06}"/>
                  </a:ext>
                </a:extLst>
              </p:cNvPr>
              <p:cNvSpPr/>
              <p:nvPr/>
            </p:nvSpPr>
            <p:spPr>
              <a:xfrm>
                <a:off x="6720840" y="5394960"/>
                <a:ext cx="1572768" cy="384048"/>
              </a:xfrm>
              <a:prstGeom prst="homePlate">
                <a:avLst/>
              </a:prstGeom>
              <a:solidFill>
                <a:schemeClr val="accent1">
                  <a:lumMod val="75000"/>
                </a:schemeClr>
              </a:solidFill>
              <a:ln/>
              <a:effectLst>
                <a:outerShdw blurRad="50800" dist="38100" dir="5400000" algn="t" rotWithShape="0">
                  <a:prstClr val="black">
                    <a:alpha val="40000"/>
                  </a:prstClr>
                </a:outerShdw>
              </a:effectLst>
            </p:spPr>
            <p:txBody>
              <a:bodyPr/>
              <a:lstStyle/>
              <a:p>
                <a:endParaRPr lang="en-IN" sz="1050">
                  <a:latin typeface="Verdana" panose="020B0604030504040204" pitchFamily="34" charset="0"/>
                  <a:ea typeface="Verdana" panose="020B0604030504040204" pitchFamily="34" charset="0"/>
                </a:endParaRPr>
              </a:p>
            </p:txBody>
          </p:sp>
          <p:sp>
            <p:nvSpPr>
              <p:cNvPr id="332" name="Text 39">
                <a:extLst>
                  <a:ext uri="{FF2B5EF4-FFF2-40B4-BE49-F238E27FC236}">
                    <a16:creationId xmlns:a16="http://schemas.microsoft.com/office/drawing/2014/main" id="{A00F6BE1-3BB7-2DA1-0D15-AAC799FA51C7}"/>
                  </a:ext>
                </a:extLst>
              </p:cNvPr>
              <p:cNvSpPr/>
              <p:nvPr/>
            </p:nvSpPr>
            <p:spPr>
              <a:xfrm>
                <a:off x="6784848" y="5394960"/>
                <a:ext cx="1371600" cy="384048"/>
              </a:xfrm>
              <a:prstGeom prst="rect">
                <a:avLst/>
              </a:prstGeom>
              <a:noFill/>
              <a:ln/>
            </p:spPr>
            <p:txBody>
              <a:bodyPr wrap="square" lIns="0" tIns="0" rIns="0" bIns="0" rtlCol="0" anchor="ctr"/>
              <a:lstStyle/>
              <a:p>
                <a:pPr marL="0" indent="0">
                  <a:buNone/>
                </a:pPr>
                <a:r>
                  <a:rPr lang="en-US" sz="1050" b="1">
                    <a:solidFill>
                      <a:srgbClr val="FFFFFF"/>
                    </a:solidFill>
                    <a:latin typeface="Verdana" panose="020B0604030504040204" pitchFamily="34" charset="0"/>
                    <a:ea typeface="Verdana" panose="020B0604030504040204" pitchFamily="34" charset="0"/>
                    <a:cs typeface="Arial" pitchFamily="34" charset="-120"/>
                  </a:rPr>
                  <a:t>Incomparability</a:t>
                </a:r>
                <a:endParaRPr lang="en-US" sz="1050">
                  <a:latin typeface="Verdana" panose="020B0604030504040204" pitchFamily="34" charset="0"/>
                  <a:ea typeface="Verdana" panose="020B0604030504040204" pitchFamily="34" charset="0"/>
                </a:endParaRPr>
              </a:p>
            </p:txBody>
          </p:sp>
          <p:sp>
            <p:nvSpPr>
              <p:cNvPr id="333" name="Text 40">
                <a:extLst>
                  <a:ext uri="{FF2B5EF4-FFF2-40B4-BE49-F238E27FC236}">
                    <a16:creationId xmlns:a16="http://schemas.microsoft.com/office/drawing/2014/main" id="{E5072650-6C1F-3D7F-B6C0-99C19EA3D0C9}"/>
                  </a:ext>
                </a:extLst>
              </p:cNvPr>
              <p:cNvSpPr/>
              <p:nvPr/>
            </p:nvSpPr>
            <p:spPr>
              <a:xfrm>
                <a:off x="8412480" y="5394960"/>
                <a:ext cx="3291840" cy="384048"/>
              </a:xfrm>
              <a:prstGeom prst="rect">
                <a:avLst/>
              </a:prstGeom>
              <a:noFill/>
              <a:ln/>
            </p:spPr>
            <p:txBody>
              <a:bodyPr wrap="square" lIns="0" tIns="0" rIns="0" bIns="0" rtlCol="0" anchor="ctr"/>
              <a:lstStyle/>
              <a:p>
                <a:pPr marL="0" indent="0">
                  <a:lnSpc>
                    <a:spcPct val="92000"/>
                  </a:lnSpc>
                  <a:buNone/>
                </a:pPr>
                <a:r>
                  <a:rPr lang="en-US" sz="1050">
                    <a:solidFill>
                      <a:srgbClr val="1A1A1A"/>
                    </a:solidFill>
                    <a:latin typeface="Verdana" panose="020B0604030504040204" pitchFamily="34" charset="0"/>
                    <a:ea typeface="Verdana" panose="020B0604030504040204" pitchFamily="34" charset="0"/>
                    <a:cs typeface="Calibri" pitchFamily="34" charset="-120"/>
                  </a:rPr>
                  <a:t>Power subsidies alone appear under Agriculture, Power or Industry depending on the State.</a:t>
                </a:r>
                <a:endParaRPr lang="en-US" sz="1050">
                  <a:latin typeface="Verdana" panose="020B0604030504040204" pitchFamily="34" charset="0"/>
                  <a:ea typeface="Verdana" panose="020B0604030504040204" pitchFamily="34" charset="0"/>
                </a:endParaRPr>
              </a:p>
            </p:txBody>
          </p:sp>
        </p:grpSp>
        <p:sp>
          <p:nvSpPr>
            <p:cNvPr id="361" name="TextBox 360">
              <a:extLst>
                <a:ext uri="{FF2B5EF4-FFF2-40B4-BE49-F238E27FC236}">
                  <a16:creationId xmlns:a16="http://schemas.microsoft.com/office/drawing/2014/main" id="{396D443B-12E5-2C9A-B5BB-11D2C8A0091C}"/>
                </a:ext>
              </a:extLst>
            </p:cNvPr>
            <p:cNvSpPr txBox="1"/>
            <p:nvPr/>
          </p:nvSpPr>
          <p:spPr>
            <a:xfrm>
              <a:off x="10682186" y="4509993"/>
              <a:ext cx="5874186" cy="1618083"/>
            </a:xfrm>
            <a:prstGeom prst="rect">
              <a:avLst/>
            </a:prstGeom>
            <a:noFill/>
            <a:ln>
              <a:solidFill>
                <a:schemeClr val="tx1"/>
              </a:solidFill>
              <a:prstDash val="dash"/>
            </a:ln>
          </p:spPr>
          <p:txBody>
            <a:bodyPr wrap="square" lIns="0" tIns="0" rIns="0" bIns="0" rtlCol="0">
              <a:spAutoFit/>
            </a:bodyPr>
            <a:lstStyle/>
            <a:p>
              <a:pPr marL="203200" indent="-203200">
                <a:spcBef>
                  <a:spcPts val="600"/>
                </a:spcBef>
                <a:buSzPct val="100000"/>
                <a:buFont typeface="Arial"/>
                <a:buChar char="•"/>
              </a:pPr>
              <a:endParaRPr lang="en-IN" sz="1050">
                <a:solidFill>
                  <a:srgbClr val="313131"/>
                </a:solidFill>
              </a:endParaRPr>
            </a:p>
          </p:txBody>
        </p:sp>
      </p:grpSp>
      <p:pic>
        <p:nvPicPr>
          <p:cNvPr id="3" name="Picture 2">
            <a:extLst>
              <a:ext uri="{FF2B5EF4-FFF2-40B4-BE49-F238E27FC236}">
                <a16:creationId xmlns:a16="http://schemas.microsoft.com/office/drawing/2014/main" id="{E65E914B-E1E2-30F0-BF53-AD10957F97F2}"/>
              </a:ext>
            </a:extLst>
          </p:cNvPr>
          <p:cNvPicPr>
            <a:picLocks noChangeAspect="1"/>
          </p:cNvPicPr>
          <p:nvPr/>
        </p:nvPicPr>
        <p:blipFill>
          <a:blip r:embed="rId3"/>
          <a:stretch>
            <a:fillRect/>
          </a:stretch>
        </p:blipFill>
        <p:spPr>
          <a:xfrm>
            <a:off x="429122" y="866275"/>
            <a:ext cx="6017858" cy="3167058"/>
          </a:xfrm>
          <a:prstGeom prst="rect">
            <a:avLst/>
          </a:prstGeom>
        </p:spPr>
      </p:pic>
      <p:sp>
        <p:nvSpPr>
          <p:cNvPr id="33" name="Text 6">
            <a:extLst>
              <a:ext uri="{FF2B5EF4-FFF2-40B4-BE49-F238E27FC236}">
                <a16:creationId xmlns:a16="http://schemas.microsoft.com/office/drawing/2014/main" id="{7FA52D4F-7633-2746-E829-2056ADF54045}"/>
              </a:ext>
            </a:extLst>
          </p:cNvPr>
          <p:cNvSpPr/>
          <p:nvPr/>
        </p:nvSpPr>
        <p:spPr>
          <a:xfrm>
            <a:off x="443489" y="3916291"/>
            <a:ext cx="3383280" cy="402336"/>
          </a:xfrm>
          <a:prstGeom prst="rect">
            <a:avLst/>
          </a:prstGeom>
          <a:noFill/>
          <a:ln/>
        </p:spPr>
        <p:txBody>
          <a:bodyPr wrap="square" lIns="0" tIns="0" rIns="0" bIns="0" rtlCol="0" anchor="ctr"/>
          <a:lstStyle/>
          <a:p>
            <a:r>
              <a:rPr lang="en-US" sz="800" b="1" dirty="0">
                <a:latin typeface="Verdana" panose="020B0604030504040204" pitchFamily="34" charset="0"/>
                <a:ea typeface="Verdana" panose="020B0604030504040204" pitchFamily="34" charset="0"/>
                <a:cs typeface="Calibri" pitchFamily="34" charset="-120"/>
              </a:rPr>
              <a:t>Source: 16</a:t>
            </a:r>
            <a:r>
              <a:rPr lang="en-US" sz="800" b="1" baseline="30000" dirty="0">
                <a:latin typeface="Verdana" panose="020B0604030504040204" pitchFamily="34" charset="0"/>
                <a:ea typeface="Verdana" panose="020B0604030504040204" pitchFamily="34" charset="0"/>
                <a:cs typeface="Calibri" pitchFamily="34" charset="-120"/>
              </a:rPr>
              <a:t>th</a:t>
            </a:r>
            <a:r>
              <a:rPr lang="en-US" sz="800" b="1" dirty="0">
                <a:latin typeface="Verdana" panose="020B0604030504040204" pitchFamily="34" charset="0"/>
                <a:ea typeface="Verdana" panose="020B0604030504040204" pitchFamily="34" charset="0"/>
                <a:cs typeface="Calibri" pitchFamily="34" charset="-120"/>
              </a:rPr>
              <a:t> Finance Commission</a:t>
            </a:r>
            <a:endParaRPr lang="en-US" sz="800" b="1" dirty="0">
              <a:solidFill>
                <a:srgbClr val="DA291C"/>
              </a:solidFill>
              <a:latin typeface="Verdana" panose="020B0604030504040204" pitchFamily="34" charset="0"/>
              <a:ea typeface="Verdana" panose="020B0604030504040204" pitchFamily="34" charset="0"/>
              <a:cs typeface="Calibri" pitchFamily="34" charset="-120"/>
            </a:endParaRPr>
          </a:p>
        </p:txBody>
      </p:sp>
      <p:sp>
        <p:nvSpPr>
          <p:cNvPr id="37" name="Isosceles Triangle 36">
            <a:extLst>
              <a:ext uri="{FF2B5EF4-FFF2-40B4-BE49-F238E27FC236}">
                <a16:creationId xmlns:a16="http://schemas.microsoft.com/office/drawing/2014/main" id="{B38A2D7E-1CB9-AD77-0672-5C8B995E3C59}"/>
              </a:ext>
            </a:extLst>
          </p:cNvPr>
          <p:cNvSpPr/>
          <p:nvPr/>
        </p:nvSpPr>
        <p:spPr>
          <a:xfrm rot="16200000" flipV="1">
            <a:off x="4008551" y="3723558"/>
            <a:ext cx="5317721" cy="179877"/>
          </a:xfrm>
          <a:prstGeom prst="triangle">
            <a:avLst>
              <a:gd name="adj" fmla="val 50000"/>
            </a:avLst>
          </a:prstGeom>
          <a:gradFill flip="none" rotWithShape="1">
            <a:gsLst>
              <a:gs pos="0">
                <a:schemeClr val="bg1"/>
              </a:gs>
              <a:gs pos="31000">
                <a:schemeClr val="bg1">
                  <a:lumMod val="95000"/>
                </a:schemeClr>
              </a:gs>
              <a:gs pos="64000">
                <a:schemeClr val="bg1">
                  <a:lumMod val="85000"/>
                </a:schemeClr>
              </a:gs>
              <a:gs pos="98000">
                <a:schemeClr val="bg1">
                  <a:lumMod val="7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10" name="Text 38">
            <a:extLst>
              <a:ext uri="{FF2B5EF4-FFF2-40B4-BE49-F238E27FC236}">
                <a16:creationId xmlns:a16="http://schemas.microsoft.com/office/drawing/2014/main" id="{EB3AEFF3-99B9-B96F-4886-AF3F7A20B459}"/>
              </a:ext>
            </a:extLst>
          </p:cNvPr>
          <p:cNvSpPr/>
          <p:nvPr/>
        </p:nvSpPr>
        <p:spPr>
          <a:xfrm>
            <a:off x="512583" y="4350450"/>
            <a:ext cx="6064890" cy="991424"/>
          </a:xfrm>
          <a:prstGeom prst="rect">
            <a:avLst/>
          </a:prstGeom>
          <a:noFill/>
          <a:ln/>
        </p:spPr>
        <p:txBody>
          <a:bodyPr wrap="square" lIns="0" tIns="0" rIns="0" bIns="0" rtlCol="0" anchor="t"/>
          <a:lstStyle/>
          <a:p>
            <a:pPr marL="0" indent="0">
              <a:buNone/>
            </a:pPr>
            <a:endParaRPr lang="en-US" sz="850" dirty="0"/>
          </a:p>
        </p:txBody>
      </p:sp>
    </p:spTree>
    <p:extLst>
      <p:ext uri="{BB962C8B-B14F-4D97-AF65-F5344CB8AC3E}">
        <p14:creationId xmlns:p14="http://schemas.microsoft.com/office/powerpoint/2010/main" val="17111752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C1709-9E54-9E43-3A43-879D3D1B00C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DFF65E2-9DE8-102C-0E06-BF5957E1F0FC}"/>
              </a:ext>
            </a:extLst>
          </p:cNvPr>
          <p:cNvSpPr/>
          <p:nvPr/>
        </p:nvSpPr>
        <p:spPr bwMode="gray">
          <a:xfrm>
            <a:off x="333466" y="121358"/>
            <a:ext cx="11811080" cy="370522"/>
          </a:xfrm>
          <a:prstGeom prst="rect">
            <a:avLst/>
          </a:prstGeom>
          <a:noFill/>
          <a:ln w="19050" algn="ctr">
            <a:noFill/>
            <a:miter lim="800000"/>
            <a:headEnd/>
            <a:tailEnd/>
          </a:ln>
        </p:spPr>
        <p:txBody>
          <a:bodyPr wrap="square" lIns="88900" tIns="88900" rIns="88900" bIns="88900" rtlCol="0" anchor="ctr"/>
          <a:lstStyle/>
          <a:p>
            <a:r>
              <a:rPr lang="en-US" b="1" dirty="0"/>
              <a:t>Consequences of Definitional ambiguities on subsidies</a:t>
            </a:r>
            <a:endParaRPr lang="en-US" sz="1800" b="1" dirty="0">
              <a:latin typeface="+mj-lt"/>
            </a:endParaRPr>
          </a:p>
        </p:txBody>
      </p:sp>
      <p:cxnSp>
        <p:nvCxnSpPr>
          <p:cNvPr id="6" name="Straight Arrow Connector 5">
            <a:extLst>
              <a:ext uri="{FF2B5EF4-FFF2-40B4-BE49-F238E27FC236}">
                <a16:creationId xmlns:a16="http://schemas.microsoft.com/office/drawing/2014/main" id="{BC3DA474-0251-06FC-E12E-652039F349D6}"/>
              </a:ext>
            </a:extLst>
          </p:cNvPr>
          <p:cNvCxnSpPr/>
          <p:nvPr/>
        </p:nvCxnSpPr>
        <p:spPr>
          <a:xfrm flipV="1">
            <a:off x="444659" y="683039"/>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Text Placeholder 1">
            <a:extLst>
              <a:ext uri="{FF2B5EF4-FFF2-40B4-BE49-F238E27FC236}">
                <a16:creationId xmlns:a16="http://schemas.microsoft.com/office/drawing/2014/main" id="{2EC1DE9C-007C-F828-4517-8025D110F0D3}"/>
              </a:ext>
            </a:extLst>
          </p:cNvPr>
          <p:cNvSpPr txBox="1">
            <a:spLocks/>
          </p:cNvSpPr>
          <p:nvPr/>
        </p:nvSpPr>
        <p:spPr>
          <a:xfrm>
            <a:off x="476794" y="475438"/>
            <a:ext cx="11188700" cy="757255"/>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600" b="0" kern="1200">
                <a:solidFill>
                  <a:srgbClr val="575757"/>
                </a:solidFill>
                <a:latin typeface="Calibri" panose="020F0502020204030204" pitchFamily="34" charset="0"/>
                <a:ea typeface="+mn-ea"/>
                <a:cs typeface="Calibri" panose="020F0502020204030204" pitchFamily="34" charset="0"/>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1400" dirty="0">
                <a:latin typeface="+mj-lt"/>
              </a:rPr>
              <a:t>Some Key Observations</a:t>
            </a:r>
          </a:p>
          <a:p>
            <a:endParaRPr lang="en-US" sz="1400" dirty="0">
              <a:latin typeface="+mj-lt"/>
            </a:endParaRPr>
          </a:p>
        </p:txBody>
      </p:sp>
      <p:graphicFrame>
        <p:nvGraphicFramePr>
          <p:cNvPr id="9" name="Table 8">
            <a:extLst>
              <a:ext uri="{FF2B5EF4-FFF2-40B4-BE49-F238E27FC236}">
                <a16:creationId xmlns:a16="http://schemas.microsoft.com/office/drawing/2014/main" id="{8505CD3B-606D-BFEE-92C8-1FB8173427C4}"/>
              </a:ext>
            </a:extLst>
          </p:cNvPr>
          <p:cNvGraphicFramePr>
            <a:graphicFrameLocks noGrp="1"/>
          </p:cNvGraphicFramePr>
          <p:nvPr>
            <p:extLst>
              <p:ext uri="{D42A27DB-BD31-4B8C-83A1-F6EECF244321}">
                <p14:modId xmlns:p14="http://schemas.microsoft.com/office/powerpoint/2010/main" val="668674639"/>
              </p:ext>
            </p:extLst>
          </p:nvPr>
        </p:nvGraphicFramePr>
        <p:xfrm>
          <a:off x="272325" y="2647026"/>
          <a:ext cx="11729535" cy="4138930"/>
        </p:xfrm>
        <a:graphic>
          <a:graphicData uri="http://schemas.openxmlformats.org/drawingml/2006/table">
            <a:tbl>
              <a:tblPr firstRow="1" firstCol="1" bandRow="1">
                <a:tableStyleId>{5C22544A-7EE6-4342-B048-85BDC9FD1C3A}</a:tableStyleId>
              </a:tblPr>
              <a:tblGrid>
                <a:gridCol w="4176980">
                  <a:extLst>
                    <a:ext uri="{9D8B030D-6E8A-4147-A177-3AD203B41FA5}">
                      <a16:colId xmlns:a16="http://schemas.microsoft.com/office/drawing/2014/main" val="1004513027"/>
                    </a:ext>
                  </a:extLst>
                </a:gridCol>
                <a:gridCol w="1811986">
                  <a:extLst>
                    <a:ext uri="{9D8B030D-6E8A-4147-A177-3AD203B41FA5}">
                      <a16:colId xmlns:a16="http://schemas.microsoft.com/office/drawing/2014/main" val="1253747893"/>
                    </a:ext>
                  </a:extLst>
                </a:gridCol>
                <a:gridCol w="5740569">
                  <a:extLst>
                    <a:ext uri="{9D8B030D-6E8A-4147-A177-3AD203B41FA5}">
                      <a16:colId xmlns:a16="http://schemas.microsoft.com/office/drawing/2014/main" val="3156506932"/>
                    </a:ext>
                  </a:extLst>
                </a:gridCol>
              </a:tblGrid>
              <a:tr h="408540">
                <a:tc>
                  <a:txBody>
                    <a:bodyPr/>
                    <a:lstStyle/>
                    <a:p>
                      <a:pPr algn="ctr">
                        <a:lnSpc>
                          <a:spcPct val="115000"/>
                        </a:lnSpc>
                        <a:spcAft>
                          <a:spcPts val="1200"/>
                        </a:spcAft>
                        <a:buNone/>
                      </a:pPr>
                      <a:r>
                        <a:rPr lang="en-US" sz="1000" dirty="0">
                          <a:solidFill>
                            <a:schemeClr val="tx1"/>
                          </a:solidFill>
                          <a:effectLst/>
                        </a:rPr>
                        <a:t>Purpose</a:t>
                      </a:r>
                      <a:endParaRPr lang="en-IN" sz="1200" dirty="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73025" marR="73025" anchor="ctr">
                    <a:solidFill>
                      <a:schemeClr val="accent6">
                        <a:lumMod val="60000"/>
                        <a:lumOff val="40000"/>
                      </a:schemeClr>
                    </a:solidFill>
                  </a:tcPr>
                </a:tc>
                <a:tc>
                  <a:txBody>
                    <a:bodyPr/>
                    <a:lstStyle/>
                    <a:p>
                      <a:pPr algn="ctr">
                        <a:lnSpc>
                          <a:spcPct val="115000"/>
                        </a:lnSpc>
                        <a:spcAft>
                          <a:spcPts val="1200"/>
                        </a:spcAft>
                        <a:buNone/>
                      </a:pPr>
                      <a:r>
                        <a:rPr lang="en-US" sz="1000" dirty="0">
                          <a:solidFill>
                            <a:schemeClr val="tx1"/>
                          </a:solidFill>
                          <a:effectLst/>
                        </a:rPr>
                        <a:t>Amount not classified as subsidy (2023-24)</a:t>
                      </a:r>
                      <a:endParaRPr lang="en-IN" sz="1200" dirty="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73025" marR="73025" anchor="ctr">
                    <a:solidFill>
                      <a:schemeClr val="accent6">
                        <a:lumMod val="60000"/>
                        <a:lumOff val="40000"/>
                      </a:schemeClr>
                    </a:solidFill>
                  </a:tcPr>
                </a:tc>
                <a:tc>
                  <a:txBody>
                    <a:bodyPr/>
                    <a:lstStyle/>
                    <a:p>
                      <a:pPr algn="ctr">
                        <a:lnSpc>
                          <a:spcPct val="115000"/>
                        </a:lnSpc>
                        <a:spcAft>
                          <a:spcPts val="1200"/>
                        </a:spcAft>
                        <a:buNone/>
                      </a:pPr>
                      <a:r>
                        <a:rPr lang="en-US" sz="1000" dirty="0">
                          <a:solidFill>
                            <a:schemeClr val="tx1"/>
                          </a:solidFill>
                          <a:effectLst/>
                        </a:rPr>
                        <a:t>Illustrative schemes</a:t>
                      </a:r>
                      <a:endParaRPr lang="en-IN" sz="1200" dirty="0">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txBody>
                  <a:tcPr marL="73025" marR="73025" anchor="ctr">
                    <a:solidFill>
                      <a:schemeClr val="accent6">
                        <a:lumMod val="60000"/>
                        <a:lumOff val="40000"/>
                      </a:schemeClr>
                    </a:solidFill>
                  </a:tcPr>
                </a:tc>
                <a:extLst>
                  <a:ext uri="{0D108BD9-81ED-4DB2-BD59-A6C34878D82A}">
                    <a16:rowId xmlns:a16="http://schemas.microsoft.com/office/drawing/2014/main" val="4270336902"/>
                  </a:ext>
                </a:extLst>
              </a:tr>
              <a:tr h="408540">
                <a:tc>
                  <a:txBody>
                    <a:bodyPr/>
                    <a:lstStyle/>
                    <a:p>
                      <a:pPr algn="l">
                        <a:lnSpc>
                          <a:spcPct val="115000"/>
                        </a:lnSpc>
                        <a:spcAft>
                          <a:spcPts val="1200"/>
                        </a:spcAft>
                        <a:buNone/>
                      </a:pPr>
                      <a:r>
                        <a:rPr lang="en-US" sz="1000">
                          <a:effectLst/>
                        </a:rPr>
                        <a:t>Pension and subsistence allowance</a:t>
                      </a:r>
                      <a:endParaRPr lang="en-IN" sz="1200">
                        <a:effectLst/>
                        <a:latin typeface="Aptos" panose="020B0004020202020204" pitchFamily="34" charset="0"/>
                        <a:ea typeface="Times New Roman" panose="02020603050405020304" pitchFamily="18" charset="0"/>
                        <a:cs typeface="Times New Roman" panose="02020603050405020304" pitchFamily="18" charset="0"/>
                      </a:endParaRPr>
                    </a:p>
                  </a:txBody>
                  <a:tcPr marL="73025" marR="73025" anchor="ctr"/>
                </a:tc>
                <a:tc>
                  <a:txBody>
                    <a:bodyPr/>
                    <a:lstStyle/>
                    <a:p>
                      <a:pPr algn="l">
                        <a:lnSpc>
                          <a:spcPct val="115000"/>
                        </a:lnSpc>
                        <a:spcAft>
                          <a:spcPts val="1200"/>
                        </a:spcAft>
                        <a:buNone/>
                      </a:pPr>
                      <a:r>
                        <a:rPr lang="en-US" sz="1000">
                          <a:effectLst/>
                        </a:rPr>
                        <a:t>Rs 77,109 cr</a:t>
                      </a:r>
                      <a:endParaRPr lang="en-IN" sz="1200">
                        <a:effectLst/>
                        <a:latin typeface="Aptos" panose="020B0004020202020204" pitchFamily="34" charset="0"/>
                        <a:ea typeface="Times New Roman" panose="02020603050405020304" pitchFamily="18" charset="0"/>
                        <a:cs typeface="Times New Roman" panose="02020603050405020304" pitchFamily="18" charset="0"/>
                      </a:endParaRPr>
                    </a:p>
                  </a:txBody>
                  <a:tcPr marL="73025" marR="73025" anchor="ctr"/>
                </a:tc>
                <a:tc>
                  <a:txBody>
                    <a:bodyPr/>
                    <a:lstStyle/>
                    <a:p>
                      <a:pPr algn="l">
                        <a:lnSpc>
                          <a:spcPct val="115000"/>
                        </a:lnSpc>
                        <a:spcAft>
                          <a:spcPts val="1200"/>
                        </a:spcAft>
                        <a:buNone/>
                      </a:pPr>
                      <a:r>
                        <a:rPr lang="en-US" sz="1000" dirty="0" err="1">
                          <a:effectLst/>
                        </a:rPr>
                        <a:t>Cheyutha</a:t>
                      </a:r>
                      <a:r>
                        <a:rPr lang="en-US" sz="1000" dirty="0">
                          <a:effectLst/>
                        </a:rPr>
                        <a:t> Pension, Telangana (Rs 7,335 cr.); NTR Bharosa Pension, Andhra Pradesh (Rs 5,680 cr.); Old Age Samman Pension, Haryana (Rs 5,008 cr.)</a:t>
                      </a:r>
                      <a:endParaRPr lang="en-IN" sz="12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73025" marR="73025" anchor="ctr"/>
                </a:tc>
                <a:extLst>
                  <a:ext uri="{0D108BD9-81ED-4DB2-BD59-A6C34878D82A}">
                    <a16:rowId xmlns:a16="http://schemas.microsoft.com/office/drawing/2014/main" val="3042552494"/>
                  </a:ext>
                </a:extLst>
              </a:tr>
              <a:tr h="408540">
                <a:tc>
                  <a:txBody>
                    <a:bodyPr/>
                    <a:lstStyle/>
                    <a:p>
                      <a:pPr algn="l">
                        <a:lnSpc>
                          <a:spcPct val="115000"/>
                        </a:lnSpc>
                        <a:spcAft>
                          <a:spcPts val="1200"/>
                        </a:spcAft>
                        <a:buNone/>
                      </a:pPr>
                      <a:r>
                        <a:rPr lang="en-US" sz="1000" dirty="0">
                          <a:effectLst/>
                        </a:rPr>
                        <a:t>Electricity</a:t>
                      </a:r>
                      <a:endParaRPr lang="en-IN" sz="12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73025" marR="73025" anchor="ctr"/>
                </a:tc>
                <a:tc>
                  <a:txBody>
                    <a:bodyPr/>
                    <a:lstStyle/>
                    <a:p>
                      <a:pPr algn="l">
                        <a:lnSpc>
                          <a:spcPct val="115000"/>
                        </a:lnSpc>
                        <a:spcAft>
                          <a:spcPts val="1200"/>
                        </a:spcAft>
                        <a:buNone/>
                      </a:pPr>
                      <a:r>
                        <a:rPr lang="en-US" sz="1000">
                          <a:effectLst/>
                        </a:rPr>
                        <a:t>Rs 66,471 cr</a:t>
                      </a:r>
                      <a:endParaRPr lang="en-IN" sz="1200">
                        <a:effectLst/>
                        <a:latin typeface="Aptos" panose="020B0004020202020204" pitchFamily="34" charset="0"/>
                        <a:ea typeface="Times New Roman" panose="02020603050405020304" pitchFamily="18" charset="0"/>
                        <a:cs typeface="Times New Roman" panose="02020603050405020304" pitchFamily="18" charset="0"/>
                      </a:endParaRPr>
                    </a:p>
                  </a:txBody>
                  <a:tcPr marL="73025" marR="73025" anchor="ctr"/>
                </a:tc>
                <a:tc>
                  <a:txBody>
                    <a:bodyPr/>
                    <a:lstStyle/>
                    <a:p>
                      <a:pPr algn="l">
                        <a:lnSpc>
                          <a:spcPct val="115000"/>
                        </a:lnSpc>
                        <a:spcAft>
                          <a:spcPts val="1200"/>
                        </a:spcAft>
                        <a:buNone/>
                      </a:pPr>
                      <a:r>
                        <a:rPr lang="en-US" sz="1000">
                          <a:effectLst/>
                        </a:rPr>
                        <a:t>TANGEDCO losses under UDAY, Tamil Nadu (Rs 17,117 cr); discom loss funding under revamp schemes, Uttar Pradesh (Rs 9,700 cr)</a:t>
                      </a:r>
                      <a:endParaRPr lang="en-IN" sz="1200">
                        <a:effectLst/>
                        <a:latin typeface="Aptos" panose="020B0004020202020204" pitchFamily="34" charset="0"/>
                        <a:ea typeface="Times New Roman" panose="02020603050405020304" pitchFamily="18" charset="0"/>
                        <a:cs typeface="Times New Roman" panose="02020603050405020304" pitchFamily="18" charset="0"/>
                      </a:endParaRPr>
                    </a:p>
                  </a:txBody>
                  <a:tcPr marL="73025" marR="73025" anchor="ctr"/>
                </a:tc>
                <a:extLst>
                  <a:ext uri="{0D108BD9-81ED-4DB2-BD59-A6C34878D82A}">
                    <a16:rowId xmlns:a16="http://schemas.microsoft.com/office/drawing/2014/main" val="2306163880"/>
                  </a:ext>
                </a:extLst>
              </a:tr>
              <a:tr h="408540">
                <a:tc>
                  <a:txBody>
                    <a:bodyPr/>
                    <a:lstStyle/>
                    <a:p>
                      <a:pPr algn="l">
                        <a:lnSpc>
                          <a:spcPct val="115000"/>
                        </a:lnSpc>
                        <a:spcAft>
                          <a:spcPts val="1200"/>
                        </a:spcAft>
                        <a:buNone/>
                      </a:pPr>
                      <a:r>
                        <a:rPr lang="en-US" sz="1000">
                          <a:effectLst/>
                        </a:rPr>
                        <a:t>Financial assistance</a:t>
                      </a:r>
                      <a:endParaRPr lang="en-IN" sz="1200">
                        <a:effectLst/>
                        <a:latin typeface="Aptos" panose="020B0004020202020204" pitchFamily="34" charset="0"/>
                        <a:ea typeface="Times New Roman" panose="02020603050405020304" pitchFamily="18" charset="0"/>
                        <a:cs typeface="Times New Roman" panose="02020603050405020304" pitchFamily="18" charset="0"/>
                      </a:endParaRPr>
                    </a:p>
                  </a:txBody>
                  <a:tcPr marL="73025" marR="73025" anchor="ctr"/>
                </a:tc>
                <a:tc>
                  <a:txBody>
                    <a:bodyPr/>
                    <a:lstStyle/>
                    <a:p>
                      <a:pPr algn="l">
                        <a:lnSpc>
                          <a:spcPct val="115000"/>
                        </a:lnSpc>
                        <a:spcAft>
                          <a:spcPts val="1200"/>
                        </a:spcAft>
                        <a:buNone/>
                      </a:pPr>
                      <a:r>
                        <a:rPr lang="en-US" sz="1000">
                          <a:effectLst/>
                        </a:rPr>
                        <a:t>Rs 57,182 cr</a:t>
                      </a:r>
                      <a:endParaRPr lang="en-IN" sz="1200">
                        <a:effectLst/>
                        <a:latin typeface="Aptos" panose="020B0004020202020204" pitchFamily="34" charset="0"/>
                        <a:ea typeface="Times New Roman" panose="02020603050405020304" pitchFamily="18" charset="0"/>
                        <a:cs typeface="Times New Roman" panose="02020603050405020304" pitchFamily="18" charset="0"/>
                      </a:endParaRPr>
                    </a:p>
                  </a:txBody>
                  <a:tcPr marL="73025" marR="73025" anchor="ctr"/>
                </a:tc>
                <a:tc>
                  <a:txBody>
                    <a:bodyPr/>
                    <a:lstStyle/>
                    <a:p>
                      <a:pPr algn="l">
                        <a:lnSpc>
                          <a:spcPct val="115000"/>
                        </a:lnSpc>
                        <a:spcAft>
                          <a:spcPts val="1200"/>
                        </a:spcAft>
                        <a:buNone/>
                      </a:pPr>
                      <a:r>
                        <a:rPr lang="en-US" sz="1000">
                          <a:effectLst/>
                        </a:rPr>
                        <a:t>Gruha Lakshmi, Karnataka (Rs 16,964 cr); Rajiv Gandhi Farmer Justice Scheme, Chhattisgarh (Rs 4,926 cr); Orunodoi, Assam (Rs 3,202 cr)</a:t>
                      </a:r>
                      <a:endParaRPr lang="en-IN" sz="1200">
                        <a:effectLst/>
                        <a:latin typeface="Aptos" panose="020B0004020202020204" pitchFamily="34" charset="0"/>
                        <a:ea typeface="Times New Roman" panose="02020603050405020304" pitchFamily="18" charset="0"/>
                        <a:cs typeface="Times New Roman" panose="02020603050405020304" pitchFamily="18" charset="0"/>
                      </a:endParaRPr>
                    </a:p>
                  </a:txBody>
                  <a:tcPr marL="73025" marR="73025" anchor="ctr"/>
                </a:tc>
                <a:extLst>
                  <a:ext uri="{0D108BD9-81ED-4DB2-BD59-A6C34878D82A}">
                    <a16:rowId xmlns:a16="http://schemas.microsoft.com/office/drawing/2014/main" val="1670428907"/>
                  </a:ext>
                </a:extLst>
              </a:tr>
              <a:tr h="408540">
                <a:tc>
                  <a:txBody>
                    <a:bodyPr/>
                    <a:lstStyle/>
                    <a:p>
                      <a:pPr algn="l">
                        <a:lnSpc>
                          <a:spcPct val="115000"/>
                        </a:lnSpc>
                        <a:spcAft>
                          <a:spcPts val="1200"/>
                        </a:spcAft>
                        <a:buNone/>
                      </a:pPr>
                      <a:r>
                        <a:rPr lang="en-US" sz="1000">
                          <a:effectLst/>
                        </a:rPr>
                        <a:t>Loan waiver</a:t>
                      </a:r>
                      <a:endParaRPr lang="en-IN" sz="1200">
                        <a:effectLst/>
                        <a:latin typeface="Aptos" panose="020B0004020202020204" pitchFamily="34" charset="0"/>
                        <a:ea typeface="Times New Roman" panose="02020603050405020304" pitchFamily="18" charset="0"/>
                        <a:cs typeface="Times New Roman" panose="02020603050405020304" pitchFamily="18" charset="0"/>
                      </a:endParaRPr>
                    </a:p>
                  </a:txBody>
                  <a:tcPr marL="73025" marR="73025" anchor="ctr"/>
                </a:tc>
                <a:tc>
                  <a:txBody>
                    <a:bodyPr/>
                    <a:lstStyle/>
                    <a:p>
                      <a:pPr algn="l">
                        <a:lnSpc>
                          <a:spcPct val="115000"/>
                        </a:lnSpc>
                        <a:spcAft>
                          <a:spcPts val="1200"/>
                        </a:spcAft>
                        <a:buNone/>
                      </a:pPr>
                      <a:r>
                        <a:rPr lang="en-US" sz="1000">
                          <a:effectLst/>
                        </a:rPr>
                        <a:t>Rs 25,315 cr</a:t>
                      </a:r>
                      <a:endParaRPr lang="en-IN" sz="1200">
                        <a:effectLst/>
                        <a:latin typeface="Aptos" panose="020B0004020202020204" pitchFamily="34" charset="0"/>
                        <a:ea typeface="Times New Roman" panose="02020603050405020304" pitchFamily="18" charset="0"/>
                        <a:cs typeface="Times New Roman" panose="02020603050405020304" pitchFamily="18" charset="0"/>
                      </a:endParaRPr>
                    </a:p>
                  </a:txBody>
                  <a:tcPr marL="73025" marR="73025" anchor="ctr"/>
                </a:tc>
                <a:tc>
                  <a:txBody>
                    <a:bodyPr/>
                    <a:lstStyle/>
                    <a:p>
                      <a:pPr algn="l">
                        <a:lnSpc>
                          <a:spcPct val="115000"/>
                        </a:lnSpc>
                        <a:spcAft>
                          <a:spcPts val="1200"/>
                        </a:spcAft>
                        <a:buNone/>
                      </a:pPr>
                      <a:r>
                        <a:rPr lang="en-US" sz="1000">
                          <a:effectLst/>
                        </a:rPr>
                        <a:t>Debt relief to farmers, Telangana (Rs 11,021 cr); waiver of agriculture loans, Tamil Nadu (Rs 2,478 cr)</a:t>
                      </a:r>
                      <a:endParaRPr lang="en-IN" sz="1200">
                        <a:effectLst/>
                        <a:latin typeface="Aptos" panose="020B0004020202020204" pitchFamily="34" charset="0"/>
                        <a:ea typeface="Times New Roman" panose="02020603050405020304" pitchFamily="18" charset="0"/>
                        <a:cs typeface="Times New Roman" panose="02020603050405020304" pitchFamily="18" charset="0"/>
                      </a:endParaRPr>
                    </a:p>
                  </a:txBody>
                  <a:tcPr marL="73025" marR="73025" anchor="ctr"/>
                </a:tc>
                <a:extLst>
                  <a:ext uri="{0D108BD9-81ED-4DB2-BD59-A6C34878D82A}">
                    <a16:rowId xmlns:a16="http://schemas.microsoft.com/office/drawing/2014/main" val="3902295801"/>
                  </a:ext>
                </a:extLst>
              </a:tr>
              <a:tr h="242575">
                <a:tc>
                  <a:txBody>
                    <a:bodyPr/>
                    <a:lstStyle/>
                    <a:p>
                      <a:pPr algn="l">
                        <a:lnSpc>
                          <a:spcPct val="115000"/>
                        </a:lnSpc>
                        <a:spcAft>
                          <a:spcPts val="1200"/>
                        </a:spcAft>
                        <a:buNone/>
                      </a:pPr>
                      <a:r>
                        <a:rPr lang="en-US" sz="1000">
                          <a:effectLst/>
                        </a:rPr>
                        <a:t>Price support</a:t>
                      </a:r>
                      <a:endParaRPr lang="en-IN" sz="1200">
                        <a:effectLst/>
                        <a:latin typeface="Aptos" panose="020B0004020202020204" pitchFamily="34" charset="0"/>
                        <a:ea typeface="Times New Roman" panose="02020603050405020304" pitchFamily="18" charset="0"/>
                        <a:cs typeface="Times New Roman" panose="02020603050405020304" pitchFamily="18" charset="0"/>
                      </a:endParaRPr>
                    </a:p>
                  </a:txBody>
                  <a:tcPr marL="73025" marR="73025" anchor="ctr"/>
                </a:tc>
                <a:tc>
                  <a:txBody>
                    <a:bodyPr/>
                    <a:lstStyle/>
                    <a:p>
                      <a:pPr algn="l">
                        <a:lnSpc>
                          <a:spcPct val="115000"/>
                        </a:lnSpc>
                        <a:spcAft>
                          <a:spcPts val="1200"/>
                        </a:spcAft>
                        <a:buNone/>
                      </a:pPr>
                      <a:r>
                        <a:rPr lang="en-US" sz="1000">
                          <a:effectLst/>
                        </a:rPr>
                        <a:t>Rs 17,416 cr</a:t>
                      </a:r>
                      <a:endParaRPr lang="en-IN" sz="1200">
                        <a:effectLst/>
                        <a:latin typeface="Aptos" panose="020B0004020202020204" pitchFamily="34" charset="0"/>
                        <a:ea typeface="Times New Roman" panose="02020603050405020304" pitchFamily="18" charset="0"/>
                        <a:cs typeface="Times New Roman" panose="02020603050405020304" pitchFamily="18" charset="0"/>
                      </a:endParaRPr>
                    </a:p>
                  </a:txBody>
                  <a:tcPr marL="73025" marR="73025" anchor="ctr"/>
                </a:tc>
                <a:tc>
                  <a:txBody>
                    <a:bodyPr/>
                    <a:lstStyle/>
                    <a:p>
                      <a:pPr algn="l">
                        <a:lnSpc>
                          <a:spcPct val="115000"/>
                        </a:lnSpc>
                        <a:spcAft>
                          <a:spcPts val="1200"/>
                        </a:spcAft>
                        <a:buNone/>
                      </a:pPr>
                      <a:r>
                        <a:rPr lang="en-US" sz="1000">
                          <a:effectLst/>
                        </a:rPr>
                        <a:t>Krishak Unnati, Chhattisgarh (Rs 13,320 cr)</a:t>
                      </a:r>
                      <a:endParaRPr lang="en-IN" sz="1200">
                        <a:effectLst/>
                        <a:latin typeface="Aptos" panose="020B0004020202020204" pitchFamily="34" charset="0"/>
                        <a:ea typeface="Times New Roman" panose="02020603050405020304" pitchFamily="18" charset="0"/>
                        <a:cs typeface="Times New Roman" panose="02020603050405020304" pitchFamily="18" charset="0"/>
                      </a:endParaRPr>
                    </a:p>
                  </a:txBody>
                  <a:tcPr marL="73025" marR="73025" anchor="ctr"/>
                </a:tc>
                <a:extLst>
                  <a:ext uri="{0D108BD9-81ED-4DB2-BD59-A6C34878D82A}">
                    <a16:rowId xmlns:a16="http://schemas.microsoft.com/office/drawing/2014/main" val="3313300789"/>
                  </a:ext>
                </a:extLst>
              </a:tr>
              <a:tr h="408540">
                <a:tc>
                  <a:txBody>
                    <a:bodyPr/>
                    <a:lstStyle/>
                    <a:p>
                      <a:pPr algn="l">
                        <a:lnSpc>
                          <a:spcPct val="115000"/>
                        </a:lnSpc>
                        <a:spcAft>
                          <a:spcPts val="1200"/>
                        </a:spcAft>
                        <a:buNone/>
                      </a:pPr>
                      <a:r>
                        <a:rPr lang="en-US" sz="1000">
                          <a:effectLst/>
                        </a:rPr>
                        <a:t>Housing</a:t>
                      </a:r>
                      <a:endParaRPr lang="en-IN" sz="1200">
                        <a:effectLst/>
                        <a:latin typeface="Aptos" panose="020B0004020202020204" pitchFamily="34" charset="0"/>
                        <a:ea typeface="Times New Roman" panose="02020603050405020304" pitchFamily="18" charset="0"/>
                        <a:cs typeface="Times New Roman" panose="02020603050405020304" pitchFamily="18" charset="0"/>
                      </a:endParaRPr>
                    </a:p>
                  </a:txBody>
                  <a:tcPr marL="73025" marR="73025" anchor="ctr"/>
                </a:tc>
                <a:tc>
                  <a:txBody>
                    <a:bodyPr/>
                    <a:lstStyle/>
                    <a:p>
                      <a:pPr algn="l">
                        <a:lnSpc>
                          <a:spcPct val="115000"/>
                        </a:lnSpc>
                        <a:spcAft>
                          <a:spcPts val="1200"/>
                        </a:spcAft>
                        <a:buNone/>
                      </a:pPr>
                      <a:r>
                        <a:rPr lang="en-US" sz="1000">
                          <a:effectLst/>
                        </a:rPr>
                        <a:t>Rs 15,112 cr</a:t>
                      </a:r>
                      <a:endParaRPr lang="en-IN" sz="1200">
                        <a:effectLst/>
                        <a:latin typeface="Aptos" panose="020B0004020202020204" pitchFamily="34" charset="0"/>
                        <a:ea typeface="Times New Roman" panose="02020603050405020304" pitchFamily="18" charset="0"/>
                        <a:cs typeface="Times New Roman" panose="02020603050405020304" pitchFamily="18" charset="0"/>
                      </a:endParaRPr>
                    </a:p>
                  </a:txBody>
                  <a:tcPr marL="73025" marR="73025" anchor="ctr"/>
                </a:tc>
                <a:tc>
                  <a:txBody>
                    <a:bodyPr/>
                    <a:lstStyle/>
                    <a:p>
                      <a:pPr algn="l">
                        <a:lnSpc>
                          <a:spcPct val="115000"/>
                        </a:lnSpc>
                        <a:spcAft>
                          <a:spcPts val="1200"/>
                        </a:spcAft>
                        <a:buNone/>
                      </a:pPr>
                      <a:r>
                        <a:rPr lang="en-US" sz="1000">
                          <a:effectLst/>
                        </a:rPr>
                        <a:t>PMAY Housing for All, Uttar Pradesh (Rs 2,380 cr); Shabari Tribal Housing, Maharashtra (Rs 1,250 cr)</a:t>
                      </a:r>
                      <a:endParaRPr lang="en-IN" sz="1200">
                        <a:effectLst/>
                        <a:latin typeface="Aptos" panose="020B0004020202020204" pitchFamily="34" charset="0"/>
                        <a:ea typeface="Times New Roman" panose="02020603050405020304" pitchFamily="18" charset="0"/>
                        <a:cs typeface="Times New Roman" panose="02020603050405020304" pitchFamily="18" charset="0"/>
                      </a:endParaRPr>
                    </a:p>
                  </a:txBody>
                  <a:tcPr marL="73025" marR="73025" anchor="ctr"/>
                </a:tc>
                <a:extLst>
                  <a:ext uri="{0D108BD9-81ED-4DB2-BD59-A6C34878D82A}">
                    <a16:rowId xmlns:a16="http://schemas.microsoft.com/office/drawing/2014/main" val="1683638691"/>
                  </a:ext>
                </a:extLst>
              </a:tr>
              <a:tr h="242575">
                <a:tc>
                  <a:txBody>
                    <a:bodyPr/>
                    <a:lstStyle/>
                    <a:p>
                      <a:pPr algn="l">
                        <a:lnSpc>
                          <a:spcPct val="115000"/>
                        </a:lnSpc>
                        <a:spcAft>
                          <a:spcPts val="1200"/>
                        </a:spcAft>
                        <a:buNone/>
                      </a:pPr>
                      <a:r>
                        <a:rPr lang="en-US" sz="1000">
                          <a:effectLst/>
                        </a:rPr>
                        <a:t>Investment promotion</a:t>
                      </a:r>
                      <a:endParaRPr lang="en-IN" sz="1200">
                        <a:effectLst/>
                        <a:latin typeface="Aptos" panose="020B0004020202020204" pitchFamily="34" charset="0"/>
                        <a:ea typeface="Times New Roman" panose="02020603050405020304" pitchFamily="18" charset="0"/>
                        <a:cs typeface="Times New Roman" panose="02020603050405020304" pitchFamily="18" charset="0"/>
                      </a:endParaRPr>
                    </a:p>
                  </a:txBody>
                  <a:tcPr marL="73025" marR="73025" anchor="ctr"/>
                </a:tc>
                <a:tc>
                  <a:txBody>
                    <a:bodyPr/>
                    <a:lstStyle/>
                    <a:p>
                      <a:pPr algn="l">
                        <a:lnSpc>
                          <a:spcPct val="115000"/>
                        </a:lnSpc>
                        <a:spcAft>
                          <a:spcPts val="1200"/>
                        </a:spcAft>
                        <a:buNone/>
                      </a:pPr>
                      <a:r>
                        <a:rPr lang="en-US" sz="1000">
                          <a:effectLst/>
                        </a:rPr>
                        <a:t>Rs 14,898 cr</a:t>
                      </a:r>
                      <a:endParaRPr lang="en-IN" sz="1200">
                        <a:effectLst/>
                        <a:latin typeface="Aptos" panose="020B0004020202020204" pitchFamily="34" charset="0"/>
                        <a:ea typeface="Times New Roman" panose="02020603050405020304" pitchFamily="18" charset="0"/>
                        <a:cs typeface="Times New Roman" panose="02020603050405020304" pitchFamily="18" charset="0"/>
                      </a:endParaRPr>
                    </a:p>
                  </a:txBody>
                  <a:tcPr marL="73025" marR="73025" anchor="ctr"/>
                </a:tc>
                <a:tc>
                  <a:txBody>
                    <a:bodyPr/>
                    <a:lstStyle/>
                    <a:p>
                      <a:pPr algn="l">
                        <a:lnSpc>
                          <a:spcPct val="115000"/>
                        </a:lnSpc>
                        <a:spcAft>
                          <a:spcPts val="1200"/>
                        </a:spcAft>
                        <a:buNone/>
                      </a:pPr>
                      <a:r>
                        <a:rPr lang="en-US" sz="1000">
                          <a:effectLst/>
                        </a:rPr>
                        <a:t>Rythu Bharosa, Telangana (Rs 13,576 cr); assistance to textile mills, Uttar Pradesh (Rs 423 cr)</a:t>
                      </a:r>
                      <a:endParaRPr lang="en-IN" sz="1200">
                        <a:effectLst/>
                        <a:latin typeface="Aptos" panose="020B0004020202020204" pitchFamily="34" charset="0"/>
                        <a:ea typeface="Times New Roman" panose="02020603050405020304" pitchFamily="18" charset="0"/>
                        <a:cs typeface="Times New Roman" panose="02020603050405020304" pitchFamily="18" charset="0"/>
                      </a:endParaRPr>
                    </a:p>
                  </a:txBody>
                  <a:tcPr marL="73025" marR="73025" anchor="ctr"/>
                </a:tc>
                <a:extLst>
                  <a:ext uri="{0D108BD9-81ED-4DB2-BD59-A6C34878D82A}">
                    <a16:rowId xmlns:a16="http://schemas.microsoft.com/office/drawing/2014/main" val="810150349"/>
                  </a:ext>
                </a:extLst>
              </a:tr>
              <a:tr h="408540">
                <a:tc>
                  <a:txBody>
                    <a:bodyPr/>
                    <a:lstStyle/>
                    <a:p>
                      <a:pPr algn="l">
                        <a:lnSpc>
                          <a:spcPct val="115000"/>
                        </a:lnSpc>
                        <a:spcAft>
                          <a:spcPts val="1200"/>
                        </a:spcAft>
                        <a:buNone/>
                      </a:pPr>
                      <a:r>
                        <a:rPr lang="en-US" sz="1000">
                          <a:effectLst/>
                        </a:rPr>
                        <a:t>Food</a:t>
                      </a:r>
                      <a:endParaRPr lang="en-IN" sz="1200">
                        <a:effectLst/>
                        <a:latin typeface="Aptos" panose="020B0004020202020204" pitchFamily="34" charset="0"/>
                        <a:ea typeface="Times New Roman" panose="02020603050405020304" pitchFamily="18" charset="0"/>
                        <a:cs typeface="Times New Roman" panose="02020603050405020304" pitchFamily="18" charset="0"/>
                      </a:endParaRPr>
                    </a:p>
                  </a:txBody>
                  <a:tcPr marL="73025" marR="73025" anchor="ctr"/>
                </a:tc>
                <a:tc>
                  <a:txBody>
                    <a:bodyPr/>
                    <a:lstStyle/>
                    <a:p>
                      <a:pPr algn="l">
                        <a:lnSpc>
                          <a:spcPct val="115000"/>
                        </a:lnSpc>
                        <a:spcAft>
                          <a:spcPts val="1200"/>
                        </a:spcAft>
                        <a:buNone/>
                      </a:pPr>
                      <a:r>
                        <a:rPr lang="en-US" sz="1000">
                          <a:effectLst/>
                        </a:rPr>
                        <a:t>Rs 14,577 cr</a:t>
                      </a:r>
                      <a:endParaRPr lang="en-IN" sz="1200">
                        <a:effectLst/>
                        <a:latin typeface="Aptos" panose="020B0004020202020204" pitchFamily="34" charset="0"/>
                        <a:ea typeface="Times New Roman" panose="02020603050405020304" pitchFamily="18" charset="0"/>
                        <a:cs typeface="Times New Roman" panose="02020603050405020304" pitchFamily="18" charset="0"/>
                      </a:endParaRPr>
                    </a:p>
                  </a:txBody>
                  <a:tcPr marL="73025" marR="73025" anchor="ctr"/>
                </a:tc>
                <a:tc>
                  <a:txBody>
                    <a:bodyPr/>
                    <a:lstStyle/>
                    <a:p>
                      <a:pPr algn="l">
                        <a:lnSpc>
                          <a:spcPct val="115000"/>
                        </a:lnSpc>
                        <a:spcAft>
                          <a:spcPts val="1200"/>
                        </a:spcAft>
                        <a:buNone/>
                      </a:pPr>
                      <a:r>
                        <a:rPr lang="en-US" sz="1000">
                          <a:effectLst/>
                        </a:rPr>
                        <a:t>MSP Scheme, Maharashtra (Rs 4,771 cr); supplementary nutrition under ICDS, Uttar Pradesh (Rs 1,027 cr)</a:t>
                      </a:r>
                      <a:endParaRPr lang="en-IN" sz="1200">
                        <a:effectLst/>
                        <a:latin typeface="Aptos" panose="020B0004020202020204" pitchFamily="34" charset="0"/>
                        <a:ea typeface="Times New Roman" panose="02020603050405020304" pitchFamily="18" charset="0"/>
                        <a:cs typeface="Times New Roman" panose="02020603050405020304" pitchFamily="18" charset="0"/>
                      </a:endParaRPr>
                    </a:p>
                  </a:txBody>
                  <a:tcPr marL="73025" marR="73025" anchor="ctr"/>
                </a:tc>
                <a:extLst>
                  <a:ext uri="{0D108BD9-81ED-4DB2-BD59-A6C34878D82A}">
                    <a16:rowId xmlns:a16="http://schemas.microsoft.com/office/drawing/2014/main" val="335139224"/>
                  </a:ext>
                </a:extLst>
              </a:tr>
              <a:tr h="408540">
                <a:tc>
                  <a:txBody>
                    <a:bodyPr/>
                    <a:lstStyle/>
                    <a:p>
                      <a:pPr algn="l">
                        <a:lnSpc>
                          <a:spcPct val="115000"/>
                        </a:lnSpc>
                        <a:spcAft>
                          <a:spcPts val="1200"/>
                        </a:spcAft>
                        <a:buNone/>
                      </a:pPr>
                      <a:r>
                        <a:rPr lang="en-US" sz="1000" dirty="0">
                          <a:effectLst/>
                        </a:rPr>
                        <a:t>Healthcare</a:t>
                      </a:r>
                      <a:endParaRPr lang="en-IN" sz="12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73025" marR="73025" anchor="ctr"/>
                </a:tc>
                <a:tc>
                  <a:txBody>
                    <a:bodyPr/>
                    <a:lstStyle/>
                    <a:p>
                      <a:pPr algn="l">
                        <a:lnSpc>
                          <a:spcPct val="115000"/>
                        </a:lnSpc>
                        <a:spcAft>
                          <a:spcPts val="1200"/>
                        </a:spcAft>
                        <a:buNone/>
                      </a:pPr>
                      <a:r>
                        <a:rPr lang="en-US" sz="1000">
                          <a:effectLst/>
                        </a:rPr>
                        <a:t>Rs 14,340 cr</a:t>
                      </a:r>
                      <a:endParaRPr lang="en-IN" sz="1200">
                        <a:effectLst/>
                        <a:latin typeface="Aptos" panose="020B0004020202020204" pitchFamily="34" charset="0"/>
                        <a:ea typeface="Times New Roman" panose="02020603050405020304" pitchFamily="18" charset="0"/>
                        <a:cs typeface="Times New Roman" panose="02020603050405020304" pitchFamily="18" charset="0"/>
                      </a:endParaRPr>
                    </a:p>
                  </a:txBody>
                  <a:tcPr marL="73025" marR="73025" anchor="ctr"/>
                </a:tc>
                <a:tc>
                  <a:txBody>
                    <a:bodyPr/>
                    <a:lstStyle/>
                    <a:p>
                      <a:pPr algn="l">
                        <a:lnSpc>
                          <a:spcPct val="115000"/>
                        </a:lnSpc>
                        <a:spcAft>
                          <a:spcPts val="1200"/>
                        </a:spcAft>
                        <a:buNone/>
                      </a:pPr>
                      <a:r>
                        <a:rPr lang="en-US" sz="1000" dirty="0">
                          <a:effectLst/>
                        </a:rPr>
                        <a:t>National Rural Health Mission, Uttar Pradesh (Rs 2,945 </a:t>
                      </a:r>
                      <a:r>
                        <a:rPr lang="en-US" sz="1000" dirty="0" err="1">
                          <a:effectLst/>
                        </a:rPr>
                        <a:t>cr</a:t>
                      </a:r>
                      <a:r>
                        <a:rPr lang="en-US" sz="1000" dirty="0">
                          <a:effectLst/>
                        </a:rPr>
                        <a:t>); Biju </a:t>
                      </a:r>
                      <a:r>
                        <a:rPr lang="en-US" sz="1000" dirty="0" err="1">
                          <a:effectLst/>
                        </a:rPr>
                        <a:t>Swasthya</a:t>
                      </a:r>
                      <a:r>
                        <a:rPr lang="en-US" sz="1000" dirty="0">
                          <a:effectLst/>
                        </a:rPr>
                        <a:t> Kalyana Yojana, Odisha (Rs 1,452 </a:t>
                      </a:r>
                      <a:r>
                        <a:rPr lang="en-US" sz="1000" dirty="0" err="1">
                          <a:effectLst/>
                        </a:rPr>
                        <a:t>cr</a:t>
                      </a:r>
                      <a:r>
                        <a:rPr lang="en-US" sz="1000" dirty="0">
                          <a:effectLst/>
                        </a:rPr>
                        <a:t>)</a:t>
                      </a:r>
                      <a:endParaRPr lang="en-IN" sz="12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73025" marR="73025" anchor="ctr"/>
                </a:tc>
                <a:extLst>
                  <a:ext uri="{0D108BD9-81ED-4DB2-BD59-A6C34878D82A}">
                    <a16:rowId xmlns:a16="http://schemas.microsoft.com/office/drawing/2014/main" val="1129380012"/>
                  </a:ext>
                </a:extLst>
              </a:tr>
            </a:tbl>
          </a:graphicData>
        </a:graphic>
      </p:graphicFrame>
      <p:grpSp>
        <p:nvGrpSpPr>
          <p:cNvPr id="3" name="Group 2">
            <a:extLst>
              <a:ext uri="{FF2B5EF4-FFF2-40B4-BE49-F238E27FC236}">
                <a16:creationId xmlns:a16="http://schemas.microsoft.com/office/drawing/2014/main" id="{537C3C14-9E82-D2C2-CD66-49A252E12B42}"/>
              </a:ext>
            </a:extLst>
          </p:cNvPr>
          <p:cNvGrpSpPr/>
          <p:nvPr/>
        </p:nvGrpSpPr>
        <p:grpSpPr>
          <a:xfrm>
            <a:off x="333466" y="767343"/>
            <a:ext cx="11517744" cy="1879683"/>
            <a:chOff x="286836" y="767343"/>
            <a:chExt cx="11517744" cy="1879683"/>
          </a:xfrm>
        </p:grpSpPr>
        <p:sp>
          <p:nvSpPr>
            <p:cNvPr id="4" name="Text 6">
              <a:extLst>
                <a:ext uri="{FF2B5EF4-FFF2-40B4-BE49-F238E27FC236}">
                  <a16:creationId xmlns:a16="http://schemas.microsoft.com/office/drawing/2014/main" id="{3226EB30-E197-A5BF-45F8-38CE1BB2FF29}"/>
                </a:ext>
              </a:extLst>
            </p:cNvPr>
            <p:cNvSpPr/>
            <p:nvPr/>
          </p:nvSpPr>
          <p:spPr>
            <a:xfrm>
              <a:off x="485593" y="767343"/>
              <a:ext cx="10848382" cy="598460"/>
            </a:xfrm>
            <a:prstGeom prst="rect">
              <a:avLst/>
            </a:prstGeom>
            <a:noFill/>
            <a:ln/>
          </p:spPr>
          <p:txBody>
            <a:bodyPr wrap="square" lIns="0" tIns="0" rIns="0" bIns="0" rtlCol="0" anchor="t"/>
            <a:lstStyle/>
            <a:p>
              <a:pPr algn="just"/>
              <a:r>
                <a:rPr lang="en-US" sz="1050" b="1" dirty="0">
                  <a:solidFill>
                    <a:schemeClr val="accent1">
                      <a:lumMod val="50000"/>
                    </a:schemeClr>
                  </a:solidFill>
                </a:rPr>
                <a:t>16</a:t>
              </a:r>
              <a:r>
                <a:rPr lang="en-US" sz="1050" b="1" baseline="30000" dirty="0">
                  <a:solidFill>
                    <a:schemeClr val="accent1">
                      <a:lumMod val="50000"/>
                    </a:schemeClr>
                  </a:solidFill>
                </a:rPr>
                <a:t>th</a:t>
              </a:r>
              <a:r>
                <a:rPr lang="en-US" sz="1050" b="1" dirty="0">
                  <a:solidFill>
                    <a:schemeClr val="accent1">
                      <a:lumMod val="50000"/>
                    </a:schemeClr>
                  </a:solidFill>
                </a:rPr>
                <a:t> Finance Commission</a:t>
              </a:r>
            </a:p>
            <a:p>
              <a:pPr marL="285750" indent="-285750" algn="just">
                <a:buFont typeface="Arial" panose="020B0604020202020204" pitchFamily="34" charset="0"/>
                <a:buChar char="•"/>
              </a:pPr>
              <a:r>
                <a:rPr lang="en-US" sz="1050" dirty="0"/>
                <a:t>It noted a lack of standardization in defining and accounting for subsidies and transfers across States, which observed that subsidies and transfers are being misclassified as assistance, grants or other expenditure.</a:t>
              </a:r>
              <a:endParaRPr lang="en-IN" sz="1050" dirty="0"/>
            </a:p>
          </p:txBody>
        </p:sp>
        <p:sp>
          <p:nvSpPr>
            <p:cNvPr id="7" name="Text 6">
              <a:extLst>
                <a:ext uri="{FF2B5EF4-FFF2-40B4-BE49-F238E27FC236}">
                  <a16:creationId xmlns:a16="http://schemas.microsoft.com/office/drawing/2014/main" id="{873603FE-528D-05BC-2288-2BDC5768F141}"/>
                </a:ext>
              </a:extLst>
            </p:cNvPr>
            <p:cNvSpPr/>
            <p:nvPr/>
          </p:nvSpPr>
          <p:spPr>
            <a:xfrm>
              <a:off x="476794" y="1370561"/>
              <a:ext cx="11119003" cy="598460"/>
            </a:xfrm>
            <a:prstGeom prst="rect">
              <a:avLst/>
            </a:prstGeom>
            <a:noFill/>
            <a:ln/>
          </p:spPr>
          <p:txBody>
            <a:bodyPr wrap="square" lIns="0" tIns="0" rIns="0" bIns="0" rtlCol="0" anchor="t"/>
            <a:lstStyle/>
            <a:p>
              <a:pPr algn="just"/>
              <a:r>
                <a:rPr lang="en-US" sz="1000" b="1" dirty="0">
                  <a:solidFill>
                    <a:schemeClr val="accent1">
                      <a:lumMod val="50000"/>
                    </a:schemeClr>
                  </a:solidFill>
                </a:rPr>
                <a:t>15</a:t>
              </a:r>
              <a:r>
                <a:rPr lang="en-US" sz="1000" b="1" baseline="30000" dirty="0">
                  <a:solidFill>
                    <a:schemeClr val="accent1">
                      <a:lumMod val="50000"/>
                    </a:schemeClr>
                  </a:solidFill>
                </a:rPr>
                <a:t>th</a:t>
              </a:r>
              <a:r>
                <a:rPr lang="en-US" sz="1000" b="1" dirty="0">
                  <a:solidFill>
                    <a:schemeClr val="accent1">
                      <a:lumMod val="50000"/>
                    </a:schemeClr>
                  </a:solidFill>
                </a:rPr>
                <a:t> Finance Commission</a:t>
              </a:r>
            </a:p>
            <a:p>
              <a:pPr marL="285750" indent="-285750" algn="just">
                <a:buFont typeface="Arial" panose="020B0604020202020204" pitchFamily="34" charset="0"/>
                <a:buChar char="•"/>
              </a:pPr>
              <a:r>
                <a:rPr lang="en-US" sz="1000" dirty="0"/>
                <a:t>Delayed subsidy payments create a cycle of utility debt, deteriorating service quality and increased State contingent liabilities. </a:t>
              </a:r>
            </a:p>
            <a:p>
              <a:pPr marL="285750" indent="-285750" algn="just">
                <a:buFont typeface="Arial" panose="020B0604020202020204" pitchFamily="34" charset="0"/>
                <a:buChar char="•"/>
              </a:pPr>
              <a:r>
                <a:rPr lang="en-US" sz="1000" dirty="0"/>
                <a:t>Example: In Punjab, unpaid power subsidies accumulated to Rs 7,930 crore by 2020-21, effectively converting an explicit subsidy into public debt. </a:t>
              </a:r>
              <a:endParaRPr lang="en-IN" sz="1000" dirty="0"/>
            </a:p>
          </p:txBody>
        </p:sp>
        <p:sp>
          <p:nvSpPr>
            <p:cNvPr id="8" name="Text 6">
              <a:extLst>
                <a:ext uri="{FF2B5EF4-FFF2-40B4-BE49-F238E27FC236}">
                  <a16:creationId xmlns:a16="http://schemas.microsoft.com/office/drawing/2014/main" id="{8C657658-89D2-2FF2-F660-0329F58BEDBF}"/>
                </a:ext>
              </a:extLst>
            </p:cNvPr>
            <p:cNvSpPr/>
            <p:nvPr/>
          </p:nvSpPr>
          <p:spPr>
            <a:xfrm>
              <a:off x="459832" y="1917995"/>
              <a:ext cx="11272336" cy="462174"/>
            </a:xfrm>
            <a:prstGeom prst="rect">
              <a:avLst/>
            </a:prstGeom>
            <a:noFill/>
            <a:ln/>
          </p:spPr>
          <p:txBody>
            <a:bodyPr wrap="square" lIns="0" tIns="0" rIns="0" bIns="0" rtlCol="0" anchor="t"/>
            <a:lstStyle/>
            <a:p>
              <a:pPr algn="just"/>
              <a:r>
                <a:rPr lang="en-US" sz="1000" b="1" dirty="0">
                  <a:solidFill>
                    <a:schemeClr val="accent1">
                      <a:lumMod val="50000"/>
                    </a:schemeClr>
                  </a:solidFill>
                </a:rPr>
                <a:t>CAG Report (2022)</a:t>
              </a:r>
            </a:p>
            <a:p>
              <a:pPr marL="285750" indent="-285750" algn="just">
                <a:buFont typeface="Arial" panose="020B0604020202020204" pitchFamily="34" charset="0"/>
                <a:buChar char="•"/>
              </a:pPr>
              <a:r>
                <a:rPr lang="en-US" sz="1000" dirty="0"/>
                <a:t>For FY2021-22, out of total subsidies of 32,998 cr., 34.3% were implicit in nature and got booked elsewhere (</a:t>
              </a:r>
              <a:r>
                <a:rPr lang="en-US" sz="1000" dirty="0" err="1"/>
                <a:t>i.e</a:t>
              </a:r>
              <a:r>
                <a:rPr lang="en-US" sz="1000" dirty="0"/>
                <a:t> not as subsidies). </a:t>
              </a:r>
              <a:endParaRPr lang="en-IN" sz="1000" dirty="0"/>
            </a:p>
          </p:txBody>
        </p:sp>
        <p:sp>
          <p:nvSpPr>
            <p:cNvPr id="10" name="Text 6">
              <a:extLst>
                <a:ext uri="{FF2B5EF4-FFF2-40B4-BE49-F238E27FC236}">
                  <a16:creationId xmlns:a16="http://schemas.microsoft.com/office/drawing/2014/main" id="{A9DE444F-0D3C-99D1-5C32-A405007D6E26}"/>
                </a:ext>
              </a:extLst>
            </p:cNvPr>
            <p:cNvSpPr/>
            <p:nvPr/>
          </p:nvSpPr>
          <p:spPr>
            <a:xfrm>
              <a:off x="286836" y="2286000"/>
              <a:ext cx="11517744" cy="361026"/>
            </a:xfrm>
            <a:prstGeom prst="rect">
              <a:avLst/>
            </a:prstGeom>
            <a:noFill/>
            <a:ln/>
          </p:spPr>
          <p:txBody>
            <a:bodyPr wrap="square" lIns="0" tIns="0" rIns="0" bIns="0" rtlCol="0" anchor="t"/>
            <a:lstStyle/>
            <a:p>
              <a:pPr algn="just"/>
              <a:r>
                <a:rPr lang="en-US" sz="1000" b="1" dirty="0">
                  <a:solidFill>
                    <a:schemeClr val="accent1">
                      <a:lumMod val="50000"/>
                    </a:schemeClr>
                  </a:solidFill>
                </a:rPr>
                <a:t>    ADB Report (2026) submitted to 16</a:t>
              </a:r>
              <a:r>
                <a:rPr lang="en-US" sz="1000" b="1" baseline="30000" dirty="0">
                  <a:solidFill>
                    <a:schemeClr val="accent1">
                      <a:lumMod val="50000"/>
                    </a:schemeClr>
                  </a:solidFill>
                </a:rPr>
                <a:t>th</a:t>
              </a:r>
              <a:r>
                <a:rPr lang="en-US" sz="1000" b="1" dirty="0">
                  <a:solidFill>
                    <a:schemeClr val="accent1">
                      <a:lumMod val="50000"/>
                    </a:schemeClr>
                  </a:solidFill>
                </a:rPr>
                <a:t> Finance Commission</a:t>
              </a:r>
            </a:p>
            <a:p>
              <a:pPr algn="just"/>
              <a:r>
                <a:rPr lang="en-US" sz="1000" b="1" dirty="0"/>
                <a:t>     </a:t>
              </a:r>
              <a:r>
                <a:rPr lang="en-US" sz="1000" dirty="0"/>
                <a:t>For FY2023-24, a total of INR 3 lakh crores were distributed as subsidies by States which were not classified as subsidies. Some examples below- </a:t>
              </a:r>
              <a:endParaRPr lang="en-IN" sz="1000" dirty="0"/>
            </a:p>
          </p:txBody>
        </p:sp>
      </p:grpSp>
    </p:spTree>
    <p:extLst>
      <p:ext uri="{BB962C8B-B14F-4D97-AF65-F5344CB8AC3E}">
        <p14:creationId xmlns:p14="http://schemas.microsoft.com/office/powerpoint/2010/main" val="3184287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AC970-E90B-CDDA-E567-019B398F79A1}"/>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9C6C0277-E6C7-CA34-D921-52871DD34105}"/>
              </a:ext>
            </a:extLst>
          </p:cNvPr>
          <p:cNvGrpSpPr/>
          <p:nvPr/>
        </p:nvGrpSpPr>
        <p:grpSpPr>
          <a:xfrm>
            <a:off x="380920" y="66871"/>
            <a:ext cx="11811080" cy="6512349"/>
            <a:chOff x="380920" y="66871"/>
            <a:chExt cx="11811080" cy="6512349"/>
          </a:xfrm>
        </p:grpSpPr>
        <p:sp>
          <p:nvSpPr>
            <p:cNvPr id="8" name="Rectangle 7">
              <a:extLst>
                <a:ext uri="{FF2B5EF4-FFF2-40B4-BE49-F238E27FC236}">
                  <a16:creationId xmlns:a16="http://schemas.microsoft.com/office/drawing/2014/main" id="{60344BB2-3B8B-F056-BEA8-250612FF12CC}"/>
                </a:ext>
              </a:extLst>
            </p:cNvPr>
            <p:cNvSpPr/>
            <p:nvPr/>
          </p:nvSpPr>
          <p:spPr bwMode="gray">
            <a:xfrm>
              <a:off x="380920" y="66871"/>
              <a:ext cx="11811080" cy="370522"/>
            </a:xfrm>
            <a:prstGeom prst="rect">
              <a:avLst/>
            </a:prstGeom>
            <a:noFill/>
            <a:ln w="19050" algn="ctr">
              <a:noFill/>
              <a:miter lim="800000"/>
              <a:headEnd/>
              <a:tailEnd/>
            </a:ln>
          </p:spPr>
          <p:txBody>
            <a:bodyPr wrap="square" lIns="88900" tIns="88900" rIns="88900" bIns="88900" rtlCol="0" anchor="ctr"/>
            <a:lstStyle/>
            <a:p>
              <a:r>
                <a:rPr lang="en-US" b="1" dirty="0">
                  <a:latin typeface="+mj-lt"/>
                </a:rPr>
                <a:t>Deloitte’s Point of View-Need for clarity of definition/framework on fully/partially subsidized goods</a:t>
              </a:r>
              <a:endParaRPr lang="en-US" sz="1800" b="1" dirty="0">
                <a:latin typeface="+mj-lt"/>
              </a:endParaRPr>
            </a:p>
          </p:txBody>
        </p:sp>
        <p:grpSp>
          <p:nvGrpSpPr>
            <p:cNvPr id="2" name="Group 1">
              <a:extLst>
                <a:ext uri="{FF2B5EF4-FFF2-40B4-BE49-F238E27FC236}">
                  <a16:creationId xmlns:a16="http://schemas.microsoft.com/office/drawing/2014/main" id="{D5C10B9E-01B3-984C-4C82-F74F7B702751}"/>
                </a:ext>
              </a:extLst>
            </p:cNvPr>
            <p:cNvGrpSpPr/>
            <p:nvPr/>
          </p:nvGrpSpPr>
          <p:grpSpPr>
            <a:xfrm>
              <a:off x="408972" y="547337"/>
              <a:ext cx="11525067" cy="6031883"/>
              <a:chOff x="408972" y="547337"/>
              <a:chExt cx="11525067" cy="6031883"/>
            </a:xfrm>
          </p:grpSpPr>
          <p:cxnSp>
            <p:nvCxnSpPr>
              <p:cNvPr id="6" name="Straight Arrow Connector 5">
                <a:extLst>
                  <a:ext uri="{FF2B5EF4-FFF2-40B4-BE49-F238E27FC236}">
                    <a16:creationId xmlns:a16="http://schemas.microsoft.com/office/drawing/2014/main" id="{0A8D187F-DFE0-93BA-01EA-730FFD285659}"/>
                  </a:ext>
                </a:extLst>
              </p:cNvPr>
              <p:cNvCxnSpPr/>
              <p:nvPr/>
            </p:nvCxnSpPr>
            <p:spPr>
              <a:xfrm flipV="1">
                <a:off x="408972" y="778102"/>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Text Placeholder 1">
                <a:extLst>
                  <a:ext uri="{FF2B5EF4-FFF2-40B4-BE49-F238E27FC236}">
                    <a16:creationId xmlns:a16="http://schemas.microsoft.com/office/drawing/2014/main" id="{A7EB4141-CEE0-43F3-A4DC-86FF162E964F}"/>
                  </a:ext>
                </a:extLst>
              </p:cNvPr>
              <p:cNvSpPr txBox="1">
                <a:spLocks/>
              </p:cNvSpPr>
              <p:nvPr/>
            </p:nvSpPr>
            <p:spPr>
              <a:xfrm>
                <a:off x="439221" y="547337"/>
                <a:ext cx="11365992" cy="757255"/>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600" b="0" kern="1200">
                    <a:solidFill>
                      <a:srgbClr val="575757"/>
                    </a:solidFill>
                    <a:latin typeface="Calibri" panose="020F0502020204030204" pitchFamily="34" charset="0"/>
                    <a:ea typeface="+mn-ea"/>
                    <a:cs typeface="Calibri" panose="020F0502020204030204" pitchFamily="34" charset="0"/>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1400" dirty="0">
                    <a:latin typeface="+mj-lt"/>
                  </a:rPr>
                  <a:t>Steps we believe the study must take - and which shape everything in our methodology</a:t>
                </a:r>
              </a:p>
            </p:txBody>
          </p:sp>
          <p:grpSp>
            <p:nvGrpSpPr>
              <p:cNvPr id="232" name="Group 231">
                <a:extLst>
                  <a:ext uri="{FF2B5EF4-FFF2-40B4-BE49-F238E27FC236}">
                    <a16:creationId xmlns:a16="http://schemas.microsoft.com/office/drawing/2014/main" id="{5FAF14DE-B1D4-76B7-4573-687C2BBB8B32}"/>
                  </a:ext>
                </a:extLst>
              </p:cNvPr>
              <p:cNvGrpSpPr/>
              <p:nvPr/>
            </p:nvGrpSpPr>
            <p:grpSpPr>
              <a:xfrm>
                <a:off x="605360" y="1750546"/>
                <a:ext cx="11109976" cy="4828674"/>
                <a:chOff x="265993" y="1444999"/>
                <a:chExt cx="11668046" cy="4904105"/>
              </a:xfrm>
            </p:grpSpPr>
            <p:sp>
              <p:nvSpPr>
                <p:cNvPr id="101" name="Pentagon 8">
                  <a:extLst>
                    <a:ext uri="{FF2B5EF4-FFF2-40B4-BE49-F238E27FC236}">
                      <a16:creationId xmlns:a16="http://schemas.microsoft.com/office/drawing/2014/main" id="{8D56E255-317B-40B1-35E4-73589C4ECD41}"/>
                    </a:ext>
                  </a:extLst>
                </p:cNvPr>
                <p:cNvSpPr/>
                <p:nvPr/>
              </p:nvSpPr>
              <p:spPr>
                <a:xfrm>
                  <a:off x="950355" y="3646967"/>
                  <a:ext cx="2506993" cy="865597"/>
                </a:xfrm>
                <a:prstGeom prst="homePlate">
                  <a:avLst/>
                </a:prstGeom>
                <a:noFill/>
                <a:ln w="25400" cap="flat" cmpd="sng" algn="ctr">
                  <a:noFill/>
                  <a:prstDash val="solid"/>
                </a:ln>
                <a:effectLst/>
              </p:spPr>
              <p:txBody>
                <a:bodyPr rtlCol="0" anchor="ctr"/>
                <a:lstStyle/>
                <a:p>
                  <a:pPr marL="0" marR="0" lvl="0" indent="0" defTabSz="1042873"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prstClr val="white"/>
                      </a:solidFill>
                      <a:effectLst/>
                      <a:uLnTx/>
                      <a:uFillTx/>
                      <a:latin typeface="Verdana"/>
                    </a:rPr>
                    <a:t>PF provisions in case of IW</a:t>
                  </a:r>
                </a:p>
              </p:txBody>
            </p:sp>
            <p:sp>
              <p:nvSpPr>
                <p:cNvPr id="102" name="Pentagon 9">
                  <a:extLst>
                    <a:ext uri="{FF2B5EF4-FFF2-40B4-BE49-F238E27FC236}">
                      <a16:creationId xmlns:a16="http://schemas.microsoft.com/office/drawing/2014/main" id="{EDCC15DB-3438-8917-E2C0-45429D99DEEF}"/>
                    </a:ext>
                  </a:extLst>
                </p:cNvPr>
                <p:cNvSpPr/>
                <p:nvPr/>
              </p:nvSpPr>
              <p:spPr>
                <a:xfrm>
                  <a:off x="950354" y="5179460"/>
                  <a:ext cx="2701316" cy="865597"/>
                </a:xfrm>
                <a:prstGeom prst="homePlate">
                  <a:avLst/>
                </a:prstGeom>
                <a:noFill/>
                <a:ln w="25400" cap="flat" cmpd="sng" algn="ctr">
                  <a:noFill/>
                  <a:prstDash val="solid"/>
                </a:ln>
                <a:effectLst/>
              </p:spPr>
              <p:txBody>
                <a:bodyPr rtlCol="0" anchor="ctr"/>
                <a:lstStyle/>
                <a:p>
                  <a:pPr marL="0" marR="0" lvl="0" indent="0" defTabSz="1042873"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prstClr val="white"/>
                      </a:solidFill>
                      <a:effectLst/>
                      <a:uLnTx/>
                      <a:uFillTx/>
                      <a:latin typeface="Verdana"/>
                    </a:rPr>
                    <a:t>Labour Code</a:t>
                  </a:r>
                </a:p>
              </p:txBody>
            </p:sp>
            <p:sp>
              <p:nvSpPr>
                <p:cNvPr id="103" name="Pentagon 12">
                  <a:extLst>
                    <a:ext uri="{FF2B5EF4-FFF2-40B4-BE49-F238E27FC236}">
                      <a16:creationId xmlns:a16="http://schemas.microsoft.com/office/drawing/2014/main" id="{29DCD9FC-5BB8-1290-A151-05AA20D69184}"/>
                    </a:ext>
                  </a:extLst>
                </p:cNvPr>
                <p:cNvSpPr/>
                <p:nvPr/>
              </p:nvSpPr>
              <p:spPr>
                <a:xfrm>
                  <a:off x="913007" y="2099133"/>
                  <a:ext cx="3121474" cy="865597"/>
                </a:xfrm>
                <a:prstGeom prst="homePlate">
                  <a:avLst/>
                </a:prstGeom>
                <a:noFill/>
                <a:ln w="25400" cap="flat" cmpd="sng" algn="ctr">
                  <a:noFill/>
                  <a:prstDash val="solid"/>
                </a:ln>
                <a:effectLst/>
              </p:spPr>
              <p:txBody>
                <a:bodyPr rtlCol="0" anchor="ctr"/>
                <a:lstStyle/>
                <a:p>
                  <a:pPr marL="0" marR="0" lvl="0" indent="0" defTabSz="1042873"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prstClr val="white"/>
                      </a:solidFill>
                      <a:effectLst/>
                      <a:uLnTx/>
                      <a:uFillTx/>
                      <a:latin typeface="Verdana"/>
                    </a:rPr>
                    <a:t>Benefits under SSA</a:t>
                  </a:r>
                </a:p>
              </p:txBody>
            </p:sp>
            <p:sp>
              <p:nvSpPr>
                <p:cNvPr id="200" name="Rectangle 199">
                  <a:extLst>
                    <a:ext uri="{FF2B5EF4-FFF2-40B4-BE49-F238E27FC236}">
                      <a16:creationId xmlns:a16="http://schemas.microsoft.com/office/drawing/2014/main" id="{AB8DE25D-6761-7377-C813-1161211AAE60}"/>
                    </a:ext>
                  </a:extLst>
                </p:cNvPr>
                <p:cNvSpPr/>
                <p:nvPr/>
              </p:nvSpPr>
              <p:spPr>
                <a:xfrm>
                  <a:off x="265993" y="4405500"/>
                  <a:ext cx="3098857" cy="1245908"/>
                </a:xfrm>
                <a:prstGeom prst="rect">
                  <a:avLst/>
                </a:prstGeom>
              </p:spPr>
              <p:txBody>
                <a:bodyPr wrap="square" lIns="0" tIns="0" rIns="0" bIns="0">
                  <a:spAutoFit/>
                </a:bodyPr>
                <a:lstStyle/>
                <a:p>
                  <a:pPr defTabSz="1219170" eaLnBrk="0" fontAlgn="base" hangingPunct="0">
                    <a:defRPr/>
                  </a:pPr>
                  <a:r>
                    <a:rPr lang="en-US" sz="1000" b="1" dirty="0"/>
                    <a:t>Focus beyond budgetary transactions</a:t>
                  </a:r>
                </a:p>
                <a:p>
                  <a:pPr marL="112713" indent="-112713" defTabSz="1219170" eaLnBrk="0" fontAlgn="base" hangingPunct="0">
                    <a:buFont typeface="Arial" panose="020B0604020202020204" pitchFamily="34" charset="0"/>
                    <a:buChar char="•"/>
                    <a:defRPr/>
                  </a:pPr>
                  <a:r>
                    <a:rPr lang="en-US" sz="1000" dirty="0"/>
                    <a:t>Improved classification is not a data-hygiene exercise. </a:t>
                  </a:r>
                </a:p>
                <a:p>
                  <a:pPr marL="112713" indent="-112713" defTabSz="1219170" eaLnBrk="0" fontAlgn="base" hangingPunct="0">
                    <a:buFont typeface="Arial" panose="020B0604020202020204" pitchFamily="34" charset="0"/>
                    <a:buChar char="•"/>
                    <a:defRPr/>
                  </a:pPr>
                  <a:r>
                    <a:rPr lang="en-US" sz="1000" dirty="0"/>
                    <a:t>Off-budget exposure and contingent liabilities arising from unclassified subsidies are already a focus for rating agencies and FRBM-linked review, </a:t>
                  </a:r>
                </a:p>
              </p:txBody>
            </p:sp>
            <p:sp>
              <p:nvSpPr>
                <p:cNvPr id="201" name="Freeform 80">
                  <a:extLst>
                    <a:ext uri="{FF2B5EF4-FFF2-40B4-BE49-F238E27FC236}">
                      <a16:creationId xmlns:a16="http://schemas.microsoft.com/office/drawing/2014/main" id="{DC18B184-8E1D-025D-1AD9-D7A499D9CB7A}"/>
                    </a:ext>
                  </a:extLst>
                </p:cNvPr>
                <p:cNvSpPr/>
                <p:nvPr/>
              </p:nvSpPr>
              <p:spPr bwMode="gray">
                <a:xfrm rot="16200000" flipH="1" flipV="1">
                  <a:off x="7443084" y="1228880"/>
                  <a:ext cx="548008" cy="1753754"/>
                </a:xfrm>
                <a:custGeom>
                  <a:avLst/>
                  <a:gdLst>
                    <a:gd name="connsiteX0" fmla="*/ 1575303 w 1575303"/>
                    <a:gd name="connsiteY0" fmla="*/ 1403288 h 1403288"/>
                    <a:gd name="connsiteX1" fmla="*/ 1575303 w 1575303"/>
                    <a:gd name="connsiteY1" fmla="*/ 0 h 1403288"/>
                    <a:gd name="connsiteX2" fmla="*/ 0 w 1575303"/>
                    <a:gd name="connsiteY2" fmla="*/ 0 h 1403288"/>
                  </a:gdLst>
                  <a:ahLst/>
                  <a:cxnLst>
                    <a:cxn ang="0">
                      <a:pos x="connsiteX0" y="connsiteY0"/>
                    </a:cxn>
                    <a:cxn ang="0">
                      <a:pos x="connsiteX1" y="connsiteY1"/>
                    </a:cxn>
                    <a:cxn ang="0">
                      <a:pos x="connsiteX2" y="connsiteY2"/>
                    </a:cxn>
                  </a:cxnLst>
                  <a:rect l="l" t="t" r="r" b="b"/>
                  <a:pathLst>
                    <a:path w="1575303" h="1403288">
                      <a:moveTo>
                        <a:pt x="1575303" y="1403288"/>
                      </a:moveTo>
                      <a:lnTo>
                        <a:pt x="1575303" y="0"/>
                      </a:lnTo>
                      <a:lnTo>
                        <a:pt x="0" y="0"/>
                      </a:lnTo>
                    </a:path>
                  </a:pathLst>
                </a:custGeom>
                <a:noFill/>
                <a:ln w="12700" algn="ctr">
                  <a:solidFill>
                    <a:schemeClr val="accent1"/>
                  </a:solidFill>
                  <a:miter lim="800000"/>
                  <a:headEnd/>
                  <a:tailEnd type="oval"/>
                </a:ln>
              </p:spPr>
              <p:txBody>
                <a:bodyPr anchor="ctr"/>
                <a:lstStyle/>
                <a:p>
                  <a:pPr algn="ctr" defTabSz="1219170" eaLnBrk="0" fontAlgn="base" hangingPunct="0"/>
                  <a:endParaRPr lang="en-US" sz="1000">
                    <a:solidFill>
                      <a:srgbClr val="75787B"/>
                    </a:solidFill>
                  </a:endParaRPr>
                </a:p>
              </p:txBody>
            </p:sp>
            <p:sp>
              <p:nvSpPr>
                <p:cNvPr id="202" name="Freeform 81">
                  <a:extLst>
                    <a:ext uri="{FF2B5EF4-FFF2-40B4-BE49-F238E27FC236}">
                      <a16:creationId xmlns:a16="http://schemas.microsoft.com/office/drawing/2014/main" id="{DABE5766-EBCF-D3E2-1BC0-8E8F52852DBC}"/>
                    </a:ext>
                  </a:extLst>
                </p:cNvPr>
                <p:cNvSpPr/>
                <p:nvPr/>
              </p:nvSpPr>
              <p:spPr bwMode="gray">
                <a:xfrm rot="16200000" flipH="1">
                  <a:off x="3130876" y="2145032"/>
                  <a:ext cx="1466448" cy="986072"/>
                </a:xfrm>
                <a:custGeom>
                  <a:avLst/>
                  <a:gdLst>
                    <a:gd name="connsiteX0" fmla="*/ 1575303 w 1575303"/>
                    <a:gd name="connsiteY0" fmla="*/ 1403288 h 1403288"/>
                    <a:gd name="connsiteX1" fmla="*/ 1575303 w 1575303"/>
                    <a:gd name="connsiteY1" fmla="*/ 0 h 1403288"/>
                    <a:gd name="connsiteX2" fmla="*/ 0 w 1575303"/>
                    <a:gd name="connsiteY2" fmla="*/ 0 h 1403288"/>
                  </a:gdLst>
                  <a:ahLst/>
                  <a:cxnLst>
                    <a:cxn ang="0">
                      <a:pos x="connsiteX0" y="connsiteY0"/>
                    </a:cxn>
                    <a:cxn ang="0">
                      <a:pos x="connsiteX1" y="connsiteY1"/>
                    </a:cxn>
                    <a:cxn ang="0">
                      <a:pos x="connsiteX2" y="connsiteY2"/>
                    </a:cxn>
                  </a:cxnLst>
                  <a:rect l="l" t="t" r="r" b="b"/>
                  <a:pathLst>
                    <a:path w="1575303" h="1403288">
                      <a:moveTo>
                        <a:pt x="1575303" y="1403288"/>
                      </a:moveTo>
                      <a:lnTo>
                        <a:pt x="1575303" y="0"/>
                      </a:lnTo>
                      <a:lnTo>
                        <a:pt x="0" y="0"/>
                      </a:lnTo>
                    </a:path>
                  </a:pathLst>
                </a:custGeom>
                <a:noFill/>
                <a:ln w="12700" algn="ctr">
                  <a:solidFill>
                    <a:srgbClr val="046A38"/>
                  </a:solidFill>
                  <a:miter lim="800000"/>
                  <a:headEnd/>
                  <a:tailEnd type="oval"/>
                </a:ln>
              </p:spPr>
              <p:txBody>
                <a:bodyPr anchor="ctr"/>
                <a:lstStyle/>
                <a:p>
                  <a:pPr algn="ctr" defTabSz="1219170" eaLnBrk="0" fontAlgn="base" hangingPunct="0"/>
                  <a:endParaRPr lang="en-US" sz="1000">
                    <a:solidFill>
                      <a:srgbClr val="75787B"/>
                    </a:solidFill>
                  </a:endParaRPr>
                </a:p>
              </p:txBody>
            </p:sp>
            <p:sp>
              <p:nvSpPr>
                <p:cNvPr id="203" name="Freeform 82">
                  <a:extLst>
                    <a:ext uri="{FF2B5EF4-FFF2-40B4-BE49-F238E27FC236}">
                      <a16:creationId xmlns:a16="http://schemas.microsoft.com/office/drawing/2014/main" id="{451A5865-BA92-8610-C2BD-EFE3AE813BCD}"/>
                    </a:ext>
                  </a:extLst>
                </p:cNvPr>
                <p:cNvSpPr/>
                <p:nvPr/>
              </p:nvSpPr>
              <p:spPr bwMode="gray">
                <a:xfrm rot="16200000" flipH="1">
                  <a:off x="3922635" y="4647167"/>
                  <a:ext cx="1319762" cy="1275812"/>
                </a:xfrm>
                <a:custGeom>
                  <a:avLst/>
                  <a:gdLst>
                    <a:gd name="connsiteX0" fmla="*/ 1575303 w 1575303"/>
                    <a:gd name="connsiteY0" fmla="*/ 1403288 h 1403288"/>
                    <a:gd name="connsiteX1" fmla="*/ 1575303 w 1575303"/>
                    <a:gd name="connsiteY1" fmla="*/ 0 h 1403288"/>
                    <a:gd name="connsiteX2" fmla="*/ 0 w 1575303"/>
                    <a:gd name="connsiteY2" fmla="*/ 0 h 1403288"/>
                  </a:gdLst>
                  <a:ahLst/>
                  <a:cxnLst>
                    <a:cxn ang="0">
                      <a:pos x="connsiteX0" y="connsiteY0"/>
                    </a:cxn>
                    <a:cxn ang="0">
                      <a:pos x="connsiteX1" y="connsiteY1"/>
                    </a:cxn>
                    <a:cxn ang="0">
                      <a:pos x="connsiteX2" y="connsiteY2"/>
                    </a:cxn>
                  </a:cxnLst>
                  <a:rect l="l" t="t" r="r" b="b"/>
                  <a:pathLst>
                    <a:path w="1575303" h="1403288">
                      <a:moveTo>
                        <a:pt x="1575303" y="1403288"/>
                      </a:moveTo>
                      <a:lnTo>
                        <a:pt x="1575303" y="0"/>
                      </a:lnTo>
                      <a:lnTo>
                        <a:pt x="0" y="0"/>
                      </a:lnTo>
                    </a:path>
                  </a:pathLst>
                </a:custGeom>
                <a:noFill/>
                <a:ln w="12700" algn="ctr">
                  <a:solidFill>
                    <a:schemeClr val="accent2"/>
                  </a:solidFill>
                  <a:miter lim="800000"/>
                  <a:headEnd/>
                  <a:tailEnd type="oval"/>
                </a:ln>
              </p:spPr>
              <p:txBody>
                <a:bodyPr anchor="ctr"/>
                <a:lstStyle/>
                <a:p>
                  <a:pPr algn="ctr" defTabSz="1219170" eaLnBrk="0" fontAlgn="base" hangingPunct="0">
                    <a:defRPr/>
                  </a:pPr>
                  <a:endParaRPr lang="en-US" sz="1000">
                    <a:solidFill>
                      <a:srgbClr val="75787B"/>
                    </a:solidFill>
                  </a:endParaRPr>
                </a:p>
              </p:txBody>
            </p:sp>
            <p:sp>
              <p:nvSpPr>
                <p:cNvPr id="204" name="Rectangle 203">
                  <a:extLst>
                    <a:ext uri="{FF2B5EF4-FFF2-40B4-BE49-F238E27FC236}">
                      <a16:creationId xmlns:a16="http://schemas.microsoft.com/office/drawing/2014/main" id="{4E8500E9-99B6-4A82-9DF7-6FA0F04B3E7A}"/>
                    </a:ext>
                  </a:extLst>
                </p:cNvPr>
                <p:cNvSpPr/>
                <p:nvPr/>
              </p:nvSpPr>
              <p:spPr>
                <a:xfrm>
                  <a:off x="8971764" y="1444999"/>
                  <a:ext cx="2962275" cy="1779869"/>
                </a:xfrm>
                <a:prstGeom prst="rect">
                  <a:avLst/>
                </a:prstGeom>
              </p:spPr>
              <p:txBody>
                <a:bodyPr wrap="square" lIns="0" tIns="0" rIns="0" bIns="0">
                  <a:spAutoFit/>
                </a:bodyPr>
                <a:lstStyle/>
                <a:p>
                  <a:pPr defTabSz="1219170" eaLnBrk="0" fontAlgn="base" hangingPunct="0">
                    <a:defRPr/>
                  </a:pPr>
                  <a:r>
                    <a:rPr lang="en-US" sz="1000" b="1" dirty="0"/>
                    <a:t>Framework needs to capture State level complexities</a:t>
                  </a:r>
                </a:p>
                <a:p>
                  <a:pPr marL="112713" indent="-112713" defTabSz="1219170" eaLnBrk="0" fontAlgn="base" hangingPunct="0">
                    <a:buFont typeface="Arial" panose="020B0604020202020204" pitchFamily="34" charset="0"/>
                    <a:buChar char="•"/>
                    <a:defRPr/>
                  </a:pPr>
                  <a:r>
                    <a:rPr lang="en-US" sz="1000" dirty="0"/>
                    <a:t>Primary research must deliberately weight State heterogeneity. </a:t>
                  </a:r>
                </a:p>
                <a:p>
                  <a:pPr marL="112713" indent="-112713" defTabSz="1219170" eaLnBrk="0" fontAlgn="base" hangingPunct="0">
                    <a:buFont typeface="Arial" panose="020B0604020202020204" pitchFamily="34" charset="0"/>
                    <a:buChar char="•"/>
                    <a:defRPr/>
                  </a:pPr>
                  <a:r>
                    <a:rPr lang="en-US" sz="1000" dirty="0"/>
                    <a:t>Major States, NE/Hill States and UTs </a:t>
                  </a:r>
                </a:p>
                <a:p>
                  <a:pPr marL="112713" indent="-112713" defTabSz="1219170" eaLnBrk="0" fontAlgn="base" hangingPunct="0">
                    <a:buFont typeface="Arial" panose="020B0604020202020204" pitchFamily="34" charset="0"/>
                    <a:buChar char="•"/>
                    <a:defRPr/>
                  </a:pPr>
                  <a:r>
                    <a:rPr lang="en-US" sz="1000" dirty="0"/>
                    <a:t>Not only Fiscal scale but in administrative and data-reporting capacity — so sampling and consultation should stratify accordingly</a:t>
                  </a:r>
                </a:p>
              </p:txBody>
            </p:sp>
            <p:sp>
              <p:nvSpPr>
                <p:cNvPr id="205" name="Rectangle 204">
                  <a:extLst>
                    <a:ext uri="{FF2B5EF4-FFF2-40B4-BE49-F238E27FC236}">
                      <a16:creationId xmlns:a16="http://schemas.microsoft.com/office/drawing/2014/main" id="{0D2574B3-F4CC-3888-9BA7-B9B60C04D466}"/>
                    </a:ext>
                  </a:extLst>
                </p:cNvPr>
                <p:cNvSpPr/>
                <p:nvPr/>
              </p:nvSpPr>
              <p:spPr>
                <a:xfrm>
                  <a:off x="9680650" y="3857288"/>
                  <a:ext cx="2253389" cy="2491816"/>
                </a:xfrm>
                <a:prstGeom prst="rect">
                  <a:avLst/>
                </a:prstGeom>
              </p:spPr>
              <p:txBody>
                <a:bodyPr wrap="square" lIns="0" tIns="0" rIns="0" bIns="0">
                  <a:spAutoFit/>
                </a:bodyPr>
                <a:lstStyle/>
                <a:p>
                  <a:pPr defTabSz="1219170" eaLnBrk="0" fontAlgn="base" hangingPunct="0">
                    <a:defRPr/>
                  </a:pPr>
                  <a:r>
                    <a:rPr lang="en-US" sz="1000" b="1" dirty="0"/>
                    <a:t>Need for a practical framework which can be used by States</a:t>
                  </a:r>
                </a:p>
                <a:p>
                  <a:pPr marL="112713" indent="-112713" defTabSz="1219170" eaLnBrk="0" fontAlgn="base" hangingPunct="0">
                    <a:buFont typeface="Arial" panose="020B0604020202020204" pitchFamily="34" charset="0"/>
                    <a:buChar char="•"/>
                    <a:defRPr/>
                  </a:pPr>
                  <a:r>
                    <a:rPr lang="en-US" sz="1000" dirty="0"/>
                    <a:t>The framework must be usable prospectively - designed so NITI Aayog and States can classify new schemes as they are proposed, not only </a:t>
                  </a:r>
                  <a:r>
                    <a:rPr lang="en-US" sz="1000" dirty="0" err="1"/>
                    <a:t>categorise</a:t>
                  </a:r>
                  <a:r>
                    <a:rPr lang="en-US" sz="1000" dirty="0"/>
                    <a:t> existing ones retrospectively. </a:t>
                  </a:r>
                </a:p>
                <a:p>
                  <a:pPr marL="112713" indent="-112713" defTabSz="1219170" eaLnBrk="0" fontAlgn="base" hangingPunct="0">
                    <a:buFont typeface="Arial" panose="020B0604020202020204" pitchFamily="34" charset="0"/>
                    <a:buChar char="•"/>
                    <a:defRPr/>
                  </a:pPr>
                  <a:r>
                    <a:rPr lang="en-US" sz="1000" dirty="0"/>
                    <a:t>This registers definitions decay over time within the same department</a:t>
                  </a:r>
                </a:p>
              </p:txBody>
            </p:sp>
            <p:sp>
              <p:nvSpPr>
                <p:cNvPr id="206" name="Rectangle 205">
                  <a:extLst>
                    <a:ext uri="{FF2B5EF4-FFF2-40B4-BE49-F238E27FC236}">
                      <a16:creationId xmlns:a16="http://schemas.microsoft.com/office/drawing/2014/main" id="{523C787B-41FD-869E-B0E0-7805D7504860}"/>
                    </a:ext>
                  </a:extLst>
                </p:cNvPr>
                <p:cNvSpPr/>
                <p:nvPr/>
              </p:nvSpPr>
              <p:spPr>
                <a:xfrm>
                  <a:off x="303023" y="1556848"/>
                  <a:ext cx="2778557" cy="2135842"/>
                </a:xfrm>
                <a:prstGeom prst="rect">
                  <a:avLst/>
                </a:prstGeom>
              </p:spPr>
              <p:txBody>
                <a:bodyPr wrap="square" lIns="0" tIns="0" rIns="0" bIns="0">
                  <a:spAutoFit/>
                </a:bodyPr>
                <a:lstStyle/>
                <a:p>
                  <a:pPr defTabSz="1219170" eaLnBrk="0" fontAlgn="base" hangingPunct="0">
                    <a:defRPr/>
                  </a:pPr>
                  <a:r>
                    <a:rPr lang="en-US" sz="1000" b="1" dirty="0"/>
                    <a:t>Comprehensive framework capturing multiple dimensions</a:t>
                  </a:r>
                </a:p>
                <a:p>
                  <a:pPr marL="112713" indent="-112713" defTabSz="1219170" eaLnBrk="0" fontAlgn="base" hangingPunct="0">
                    <a:buFont typeface="Arial" panose="020B0604020202020204" pitchFamily="34" charset="0"/>
                    <a:buChar char="•"/>
                    <a:defRPr/>
                  </a:pPr>
                  <a:r>
                    <a:rPr lang="en-US" sz="1000" dirty="0"/>
                    <a:t>A credible framework must triangulate three dimensions at once </a:t>
                  </a:r>
                </a:p>
                <a:p>
                  <a:pPr marL="569913" lvl="1" indent="-112713" defTabSz="1219170" eaLnBrk="0" fontAlgn="base" hangingPunct="0">
                    <a:buFont typeface="Arial" panose="020B0604020202020204" pitchFamily="34" charset="0"/>
                    <a:buChar char="•"/>
                    <a:defRPr/>
                  </a:pPr>
                  <a:r>
                    <a:rPr lang="en-US" sz="1000" dirty="0"/>
                    <a:t>nature of the good</a:t>
                  </a:r>
                </a:p>
                <a:p>
                  <a:pPr marL="569913" lvl="1" indent="-112713" defTabSz="1219170" eaLnBrk="0" fontAlgn="base" hangingPunct="0">
                    <a:buFont typeface="Arial" panose="020B0604020202020204" pitchFamily="34" charset="0"/>
                    <a:buChar char="•"/>
                    <a:defRPr/>
                  </a:pPr>
                  <a:r>
                    <a:rPr lang="en-US" sz="1000" dirty="0"/>
                    <a:t>financing mechanism</a:t>
                  </a:r>
                </a:p>
                <a:p>
                  <a:pPr marL="569913" lvl="1" indent="-112713" defTabSz="1219170" eaLnBrk="0" fontAlgn="base" hangingPunct="0">
                    <a:buFont typeface="Arial" panose="020B0604020202020204" pitchFamily="34" charset="0"/>
                    <a:buChar char="•"/>
                    <a:defRPr/>
                  </a:pPr>
                  <a:r>
                    <a:rPr lang="en-US" sz="1000" dirty="0"/>
                    <a:t>intent/targeting </a:t>
                  </a:r>
                </a:p>
                <a:p>
                  <a:pPr lvl="1" defTabSz="1219170" eaLnBrk="0" fontAlgn="base" hangingPunct="0">
                    <a:defRPr/>
                  </a:pPr>
                  <a:endParaRPr lang="en-US" sz="1000" dirty="0"/>
                </a:p>
                <a:p>
                  <a:pPr lvl="1" defTabSz="1219170" eaLnBrk="0" fontAlgn="base" hangingPunct="0">
                    <a:defRPr/>
                  </a:pPr>
                  <a:r>
                    <a:rPr lang="en-US" sz="1000" dirty="0"/>
                    <a:t>Existing frameworks apply only one lens. That is the gap this study closes</a:t>
                  </a:r>
                </a:p>
              </p:txBody>
            </p:sp>
            <p:grpSp>
              <p:nvGrpSpPr>
                <p:cNvPr id="207" name="Group 206">
                  <a:extLst>
                    <a:ext uri="{FF2B5EF4-FFF2-40B4-BE49-F238E27FC236}">
                      <a16:creationId xmlns:a16="http://schemas.microsoft.com/office/drawing/2014/main" id="{0CB52EEA-80FA-A108-648C-40C01AE303A7}"/>
                    </a:ext>
                  </a:extLst>
                </p:cNvPr>
                <p:cNvGrpSpPr/>
                <p:nvPr/>
              </p:nvGrpSpPr>
              <p:grpSpPr>
                <a:xfrm>
                  <a:off x="4612843" y="2446949"/>
                  <a:ext cx="3364786" cy="3362979"/>
                  <a:chOff x="5358121" y="3458838"/>
                  <a:chExt cx="2170542" cy="2169376"/>
                </a:xfrm>
              </p:grpSpPr>
              <p:grpSp>
                <p:nvGrpSpPr>
                  <p:cNvPr id="208" name="Group 207">
                    <a:extLst>
                      <a:ext uri="{FF2B5EF4-FFF2-40B4-BE49-F238E27FC236}">
                        <a16:creationId xmlns:a16="http://schemas.microsoft.com/office/drawing/2014/main" id="{3EFE1E4F-8BF8-4AE4-2EA3-B6CBD5C34411}"/>
                      </a:ext>
                    </a:extLst>
                  </p:cNvPr>
                  <p:cNvGrpSpPr/>
                  <p:nvPr/>
                </p:nvGrpSpPr>
                <p:grpSpPr>
                  <a:xfrm>
                    <a:off x="5358121" y="3458838"/>
                    <a:ext cx="2170542" cy="2169376"/>
                    <a:chOff x="1630705" y="1855798"/>
                    <a:chExt cx="2268998" cy="2267780"/>
                  </a:xfrm>
                </p:grpSpPr>
                <p:sp>
                  <p:nvSpPr>
                    <p:cNvPr id="217" name="Oval 155">
                      <a:extLst>
                        <a:ext uri="{FF2B5EF4-FFF2-40B4-BE49-F238E27FC236}">
                          <a16:creationId xmlns:a16="http://schemas.microsoft.com/office/drawing/2014/main" id="{D8BC4292-43B3-09BF-7C5A-88A0792D9DD8}"/>
                        </a:ext>
                      </a:extLst>
                    </p:cNvPr>
                    <p:cNvSpPr/>
                    <p:nvPr/>
                  </p:nvSpPr>
                  <p:spPr bwMode="auto">
                    <a:xfrm rot="2700000">
                      <a:off x="2295441" y="1446964"/>
                      <a:ext cx="939526" cy="1757194"/>
                    </a:xfrm>
                    <a:custGeom>
                      <a:avLst/>
                      <a:gdLst/>
                      <a:ahLst/>
                      <a:cxnLst/>
                      <a:rect l="l" t="t" r="r" b="b"/>
                      <a:pathLst>
                        <a:path w="1224136" h="2290176">
                          <a:moveTo>
                            <a:pt x="459315" y="63272"/>
                          </a:moveTo>
                          <a:cubicBezTo>
                            <a:pt x="498408" y="24179"/>
                            <a:pt x="552413" y="0"/>
                            <a:pt x="612067" y="0"/>
                          </a:cubicBezTo>
                          <a:cubicBezTo>
                            <a:pt x="731374" y="0"/>
                            <a:pt x="828091" y="96717"/>
                            <a:pt x="828091" y="216024"/>
                          </a:cubicBezTo>
                          <a:cubicBezTo>
                            <a:pt x="828091" y="299408"/>
                            <a:pt x="780848" y="371757"/>
                            <a:pt x="711216" y="406896"/>
                          </a:cubicBezTo>
                          <a:cubicBezTo>
                            <a:pt x="691916" y="450663"/>
                            <a:pt x="710516" y="496019"/>
                            <a:pt x="737802" y="533019"/>
                          </a:cubicBezTo>
                          <a:lnTo>
                            <a:pt x="1224136" y="533019"/>
                          </a:lnTo>
                          <a:lnTo>
                            <a:pt x="1224136" y="1019520"/>
                          </a:lnTo>
                          <a:cubicBezTo>
                            <a:pt x="1187224" y="1046736"/>
                            <a:pt x="1141992" y="1065189"/>
                            <a:pt x="1098339" y="1045939"/>
                          </a:cubicBezTo>
                          <a:cubicBezTo>
                            <a:pt x="1063200" y="976307"/>
                            <a:pt x="990851" y="929064"/>
                            <a:pt x="907467" y="929064"/>
                          </a:cubicBezTo>
                          <a:cubicBezTo>
                            <a:pt x="788160" y="929064"/>
                            <a:pt x="691443" y="1025781"/>
                            <a:pt x="691443" y="1145088"/>
                          </a:cubicBezTo>
                          <a:cubicBezTo>
                            <a:pt x="691443" y="1204742"/>
                            <a:pt x="715622" y="1258747"/>
                            <a:pt x="754715" y="1297840"/>
                          </a:cubicBezTo>
                          <a:cubicBezTo>
                            <a:pt x="793807" y="1336933"/>
                            <a:pt x="847813" y="1361112"/>
                            <a:pt x="907467" y="1361112"/>
                          </a:cubicBezTo>
                          <a:cubicBezTo>
                            <a:pt x="988927" y="1361112"/>
                            <a:pt x="1059856" y="1316024"/>
                            <a:pt x="1095778" y="1248955"/>
                          </a:cubicBezTo>
                          <a:cubicBezTo>
                            <a:pt x="1141514" y="1226580"/>
                            <a:pt x="1182162" y="1242465"/>
                            <a:pt x="1224136" y="1270694"/>
                          </a:cubicBezTo>
                          <a:lnTo>
                            <a:pt x="1224136" y="1757155"/>
                          </a:lnTo>
                          <a:lnTo>
                            <a:pt x="737829" y="1757155"/>
                          </a:lnTo>
                          <a:cubicBezTo>
                            <a:pt x="709519" y="1799263"/>
                            <a:pt x="693505" y="1839996"/>
                            <a:pt x="715934" y="1885841"/>
                          </a:cubicBezTo>
                          <a:cubicBezTo>
                            <a:pt x="783003" y="1921763"/>
                            <a:pt x="828091" y="1992692"/>
                            <a:pt x="828091" y="2074152"/>
                          </a:cubicBezTo>
                          <a:cubicBezTo>
                            <a:pt x="828091" y="2133806"/>
                            <a:pt x="803912" y="2187812"/>
                            <a:pt x="764819" y="2226904"/>
                          </a:cubicBezTo>
                          <a:cubicBezTo>
                            <a:pt x="725726" y="2265997"/>
                            <a:pt x="671721" y="2290176"/>
                            <a:pt x="612067" y="2290176"/>
                          </a:cubicBezTo>
                          <a:cubicBezTo>
                            <a:pt x="492760" y="2290176"/>
                            <a:pt x="396043" y="2193459"/>
                            <a:pt x="396043" y="2074152"/>
                          </a:cubicBezTo>
                          <a:cubicBezTo>
                            <a:pt x="396043" y="1990768"/>
                            <a:pt x="443286" y="1918419"/>
                            <a:pt x="512918" y="1883280"/>
                          </a:cubicBezTo>
                          <a:cubicBezTo>
                            <a:pt x="532218" y="1839512"/>
                            <a:pt x="513617" y="1794156"/>
                            <a:pt x="486331" y="1757155"/>
                          </a:cubicBezTo>
                          <a:lnTo>
                            <a:pt x="0" y="1757155"/>
                          </a:lnTo>
                          <a:lnTo>
                            <a:pt x="0" y="1267857"/>
                          </a:lnTo>
                          <a:cubicBezTo>
                            <a:pt x="35436" y="1241878"/>
                            <a:pt x="78596" y="1225841"/>
                            <a:pt x="120314" y="1244237"/>
                          </a:cubicBezTo>
                          <a:cubicBezTo>
                            <a:pt x="155453" y="1313869"/>
                            <a:pt x="227802" y="1361112"/>
                            <a:pt x="311186" y="1361112"/>
                          </a:cubicBezTo>
                          <a:cubicBezTo>
                            <a:pt x="430493" y="1361112"/>
                            <a:pt x="527210" y="1264395"/>
                            <a:pt x="527210" y="1145088"/>
                          </a:cubicBezTo>
                          <a:cubicBezTo>
                            <a:pt x="527210" y="1085434"/>
                            <a:pt x="503031" y="1031429"/>
                            <a:pt x="463938" y="992336"/>
                          </a:cubicBezTo>
                          <a:cubicBezTo>
                            <a:pt x="424846" y="953243"/>
                            <a:pt x="370840" y="929064"/>
                            <a:pt x="311186" y="929064"/>
                          </a:cubicBezTo>
                          <a:cubicBezTo>
                            <a:pt x="229726" y="929064"/>
                            <a:pt x="158797" y="974152"/>
                            <a:pt x="122875" y="1041221"/>
                          </a:cubicBezTo>
                          <a:cubicBezTo>
                            <a:pt x="78969" y="1062702"/>
                            <a:pt x="39751" y="1048921"/>
                            <a:pt x="0" y="1022105"/>
                          </a:cubicBezTo>
                          <a:lnTo>
                            <a:pt x="0" y="533019"/>
                          </a:lnTo>
                          <a:lnTo>
                            <a:pt x="486305" y="533019"/>
                          </a:lnTo>
                          <a:cubicBezTo>
                            <a:pt x="514616" y="490912"/>
                            <a:pt x="530628" y="450179"/>
                            <a:pt x="508200" y="404335"/>
                          </a:cubicBezTo>
                          <a:cubicBezTo>
                            <a:pt x="441131" y="368413"/>
                            <a:pt x="396043" y="297484"/>
                            <a:pt x="396043" y="216024"/>
                          </a:cubicBezTo>
                          <a:cubicBezTo>
                            <a:pt x="396043" y="156370"/>
                            <a:pt x="420222" y="102364"/>
                            <a:pt x="459315" y="63272"/>
                          </a:cubicBez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tIns="91440" bIns="91440" anchor="ctr"/>
                    <a:lstStyle/>
                    <a:p>
                      <a:pPr algn="ctr" defTabSz="1219170" eaLnBrk="0" fontAlgn="base" hangingPunct="0">
                        <a:defRPr/>
                      </a:pPr>
                      <a:endParaRPr lang="en-US" sz="1000">
                        <a:solidFill>
                          <a:srgbClr val="44546A"/>
                        </a:solidFill>
                      </a:endParaRPr>
                    </a:p>
                  </p:txBody>
                </p:sp>
                <p:sp>
                  <p:nvSpPr>
                    <p:cNvPr id="218" name="Oval 155">
                      <a:extLst>
                        <a:ext uri="{FF2B5EF4-FFF2-40B4-BE49-F238E27FC236}">
                          <a16:creationId xmlns:a16="http://schemas.microsoft.com/office/drawing/2014/main" id="{AB81B417-DF78-AB90-E946-58B075992C54}"/>
                        </a:ext>
                      </a:extLst>
                    </p:cNvPr>
                    <p:cNvSpPr/>
                    <p:nvPr/>
                  </p:nvSpPr>
                  <p:spPr bwMode="auto">
                    <a:xfrm rot="18900000">
                      <a:off x="2960176" y="2111700"/>
                      <a:ext cx="939527" cy="1755976"/>
                    </a:xfrm>
                    <a:custGeom>
                      <a:avLst/>
                      <a:gdLst/>
                      <a:ahLst/>
                      <a:cxnLst/>
                      <a:rect l="l" t="t" r="r" b="b"/>
                      <a:pathLst>
                        <a:path w="1224136" h="2290176">
                          <a:moveTo>
                            <a:pt x="764820" y="63272"/>
                          </a:moveTo>
                          <a:cubicBezTo>
                            <a:pt x="803913" y="102365"/>
                            <a:pt x="828092" y="156370"/>
                            <a:pt x="828092" y="216024"/>
                          </a:cubicBezTo>
                          <a:cubicBezTo>
                            <a:pt x="828092" y="299408"/>
                            <a:pt x="780849" y="371757"/>
                            <a:pt x="711217" y="406896"/>
                          </a:cubicBezTo>
                          <a:cubicBezTo>
                            <a:pt x="691917" y="450664"/>
                            <a:pt x="710518" y="496020"/>
                            <a:pt x="737803" y="533020"/>
                          </a:cubicBezTo>
                          <a:lnTo>
                            <a:pt x="1224136" y="533020"/>
                          </a:lnTo>
                          <a:lnTo>
                            <a:pt x="1224136" y="1022318"/>
                          </a:lnTo>
                          <a:cubicBezTo>
                            <a:pt x="1188700" y="1048297"/>
                            <a:pt x="1145539" y="1064335"/>
                            <a:pt x="1103821" y="1045938"/>
                          </a:cubicBezTo>
                          <a:cubicBezTo>
                            <a:pt x="1068682" y="976306"/>
                            <a:pt x="996333" y="929063"/>
                            <a:pt x="912949" y="929063"/>
                          </a:cubicBezTo>
                          <a:cubicBezTo>
                            <a:pt x="793642" y="929063"/>
                            <a:pt x="696925" y="1025780"/>
                            <a:pt x="696925" y="1145087"/>
                          </a:cubicBezTo>
                          <a:cubicBezTo>
                            <a:pt x="696925" y="1204741"/>
                            <a:pt x="721104" y="1258746"/>
                            <a:pt x="760197" y="1297839"/>
                          </a:cubicBezTo>
                          <a:cubicBezTo>
                            <a:pt x="799289" y="1336932"/>
                            <a:pt x="853295" y="1361111"/>
                            <a:pt x="912949" y="1361111"/>
                          </a:cubicBezTo>
                          <a:cubicBezTo>
                            <a:pt x="994409" y="1361111"/>
                            <a:pt x="1065338" y="1316024"/>
                            <a:pt x="1101260" y="1248954"/>
                          </a:cubicBezTo>
                          <a:cubicBezTo>
                            <a:pt x="1145167" y="1227474"/>
                            <a:pt x="1184385" y="1241254"/>
                            <a:pt x="1224136" y="1268071"/>
                          </a:cubicBezTo>
                          <a:lnTo>
                            <a:pt x="1224136" y="1757156"/>
                          </a:lnTo>
                          <a:lnTo>
                            <a:pt x="737830" y="1757156"/>
                          </a:lnTo>
                          <a:cubicBezTo>
                            <a:pt x="709520" y="1799264"/>
                            <a:pt x="693507" y="1839997"/>
                            <a:pt x="715935" y="1885841"/>
                          </a:cubicBezTo>
                          <a:cubicBezTo>
                            <a:pt x="783004" y="1921763"/>
                            <a:pt x="828092" y="1992692"/>
                            <a:pt x="828092" y="2074152"/>
                          </a:cubicBezTo>
                          <a:cubicBezTo>
                            <a:pt x="828092" y="2133806"/>
                            <a:pt x="803913" y="2187812"/>
                            <a:pt x="764820" y="2226904"/>
                          </a:cubicBezTo>
                          <a:cubicBezTo>
                            <a:pt x="725727" y="2265997"/>
                            <a:pt x="671722" y="2290176"/>
                            <a:pt x="612068" y="2290176"/>
                          </a:cubicBezTo>
                          <a:cubicBezTo>
                            <a:pt x="492761" y="2290176"/>
                            <a:pt x="396044" y="2193459"/>
                            <a:pt x="396044" y="2074152"/>
                          </a:cubicBezTo>
                          <a:cubicBezTo>
                            <a:pt x="396044" y="1990768"/>
                            <a:pt x="443287" y="1918419"/>
                            <a:pt x="512919" y="1883280"/>
                          </a:cubicBezTo>
                          <a:cubicBezTo>
                            <a:pt x="532219" y="1839512"/>
                            <a:pt x="513618" y="1794157"/>
                            <a:pt x="486333" y="1757156"/>
                          </a:cubicBezTo>
                          <a:lnTo>
                            <a:pt x="0" y="1757156"/>
                          </a:lnTo>
                          <a:lnTo>
                            <a:pt x="0" y="1271295"/>
                          </a:lnTo>
                          <a:cubicBezTo>
                            <a:pt x="37251" y="1243817"/>
                            <a:pt x="82955" y="1224793"/>
                            <a:pt x="127049" y="1244237"/>
                          </a:cubicBezTo>
                          <a:cubicBezTo>
                            <a:pt x="162188" y="1313869"/>
                            <a:pt x="234537" y="1361112"/>
                            <a:pt x="317921" y="1361112"/>
                          </a:cubicBezTo>
                          <a:cubicBezTo>
                            <a:pt x="437228" y="1361112"/>
                            <a:pt x="533945" y="1264395"/>
                            <a:pt x="533945" y="1145088"/>
                          </a:cubicBezTo>
                          <a:cubicBezTo>
                            <a:pt x="533945" y="1085434"/>
                            <a:pt x="509766" y="1031429"/>
                            <a:pt x="470673" y="992336"/>
                          </a:cubicBezTo>
                          <a:cubicBezTo>
                            <a:pt x="431581" y="953243"/>
                            <a:pt x="377575" y="929064"/>
                            <a:pt x="317921" y="929064"/>
                          </a:cubicBezTo>
                          <a:cubicBezTo>
                            <a:pt x="236461" y="929064"/>
                            <a:pt x="165532" y="974152"/>
                            <a:pt x="129610" y="1041221"/>
                          </a:cubicBezTo>
                          <a:cubicBezTo>
                            <a:pt x="83460" y="1063799"/>
                            <a:pt x="42490" y="1047421"/>
                            <a:pt x="0" y="1018884"/>
                          </a:cubicBezTo>
                          <a:lnTo>
                            <a:pt x="0" y="533020"/>
                          </a:lnTo>
                          <a:lnTo>
                            <a:pt x="486306" y="533020"/>
                          </a:lnTo>
                          <a:cubicBezTo>
                            <a:pt x="514616" y="490912"/>
                            <a:pt x="530629" y="450179"/>
                            <a:pt x="508201" y="404335"/>
                          </a:cubicBezTo>
                          <a:cubicBezTo>
                            <a:pt x="441132" y="368413"/>
                            <a:pt x="396044" y="297484"/>
                            <a:pt x="396044" y="216024"/>
                          </a:cubicBezTo>
                          <a:cubicBezTo>
                            <a:pt x="396044" y="156370"/>
                            <a:pt x="420223" y="102364"/>
                            <a:pt x="459316" y="63272"/>
                          </a:cubicBezTo>
                          <a:cubicBezTo>
                            <a:pt x="498409" y="24179"/>
                            <a:pt x="552414" y="0"/>
                            <a:pt x="612068" y="0"/>
                          </a:cubicBezTo>
                          <a:cubicBezTo>
                            <a:pt x="671722" y="0"/>
                            <a:pt x="725728" y="24180"/>
                            <a:pt x="764820" y="63272"/>
                          </a:cubicBezTo>
                          <a:close/>
                        </a:path>
                      </a:pathLst>
                    </a:cu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tIns="91440" bIns="91440" anchor="ctr"/>
                    <a:lstStyle/>
                    <a:p>
                      <a:pPr algn="ctr" defTabSz="1219170" eaLnBrk="0" fontAlgn="base" hangingPunct="0">
                        <a:defRPr/>
                      </a:pPr>
                      <a:endParaRPr lang="en-US" sz="1000" err="1">
                        <a:solidFill>
                          <a:srgbClr val="44546A"/>
                        </a:solidFill>
                      </a:endParaRPr>
                    </a:p>
                  </p:txBody>
                </p:sp>
                <p:sp>
                  <p:nvSpPr>
                    <p:cNvPr id="219" name="Oval 155">
                      <a:extLst>
                        <a:ext uri="{FF2B5EF4-FFF2-40B4-BE49-F238E27FC236}">
                          <a16:creationId xmlns:a16="http://schemas.microsoft.com/office/drawing/2014/main" id="{97039CDC-6F62-0BF4-49BC-5273ACECBC05}"/>
                        </a:ext>
                      </a:extLst>
                    </p:cNvPr>
                    <p:cNvSpPr/>
                    <p:nvPr/>
                  </p:nvSpPr>
                  <p:spPr bwMode="auto">
                    <a:xfrm rot="18900000">
                      <a:off x="1630705" y="2111700"/>
                      <a:ext cx="939526" cy="1755976"/>
                    </a:xfrm>
                    <a:custGeom>
                      <a:avLst/>
                      <a:gdLst/>
                      <a:ahLst/>
                      <a:cxnLst/>
                      <a:rect l="l" t="t" r="r" b="b"/>
                      <a:pathLst>
                        <a:path w="1224136" h="2290177">
                          <a:moveTo>
                            <a:pt x="764821" y="63272"/>
                          </a:moveTo>
                          <a:cubicBezTo>
                            <a:pt x="803914" y="102365"/>
                            <a:pt x="828093" y="156370"/>
                            <a:pt x="828093" y="216024"/>
                          </a:cubicBezTo>
                          <a:cubicBezTo>
                            <a:pt x="828093" y="299408"/>
                            <a:pt x="780850" y="371757"/>
                            <a:pt x="711218" y="406896"/>
                          </a:cubicBezTo>
                          <a:cubicBezTo>
                            <a:pt x="691918" y="450664"/>
                            <a:pt x="710519" y="496020"/>
                            <a:pt x="737804" y="533020"/>
                          </a:cubicBezTo>
                          <a:lnTo>
                            <a:pt x="1224136" y="533020"/>
                          </a:lnTo>
                          <a:lnTo>
                            <a:pt x="1224136" y="1019537"/>
                          </a:lnTo>
                          <a:cubicBezTo>
                            <a:pt x="1187233" y="1046745"/>
                            <a:pt x="1142014" y="1065183"/>
                            <a:pt x="1098373" y="1045938"/>
                          </a:cubicBezTo>
                          <a:cubicBezTo>
                            <a:pt x="1063233" y="976306"/>
                            <a:pt x="990884" y="929063"/>
                            <a:pt x="907500" y="929063"/>
                          </a:cubicBezTo>
                          <a:cubicBezTo>
                            <a:pt x="788193" y="929063"/>
                            <a:pt x="691476" y="1025780"/>
                            <a:pt x="691476" y="1145087"/>
                          </a:cubicBezTo>
                          <a:cubicBezTo>
                            <a:pt x="691476" y="1204741"/>
                            <a:pt x="715655" y="1258747"/>
                            <a:pt x="754748" y="1297839"/>
                          </a:cubicBezTo>
                          <a:cubicBezTo>
                            <a:pt x="793841" y="1336932"/>
                            <a:pt x="847846" y="1361111"/>
                            <a:pt x="907500" y="1361111"/>
                          </a:cubicBezTo>
                          <a:cubicBezTo>
                            <a:pt x="988961" y="1361111"/>
                            <a:pt x="1059890" y="1316024"/>
                            <a:pt x="1095811" y="1248954"/>
                          </a:cubicBezTo>
                          <a:cubicBezTo>
                            <a:pt x="1141537" y="1226584"/>
                            <a:pt x="1182177" y="1242456"/>
                            <a:pt x="1224136" y="1270677"/>
                          </a:cubicBezTo>
                          <a:lnTo>
                            <a:pt x="1224136" y="1757156"/>
                          </a:lnTo>
                          <a:lnTo>
                            <a:pt x="737831" y="1757156"/>
                          </a:lnTo>
                          <a:cubicBezTo>
                            <a:pt x="709521" y="1799265"/>
                            <a:pt x="693508" y="1839998"/>
                            <a:pt x="715937" y="1885842"/>
                          </a:cubicBezTo>
                          <a:cubicBezTo>
                            <a:pt x="783005" y="1921764"/>
                            <a:pt x="828094" y="1992693"/>
                            <a:pt x="828094" y="2074153"/>
                          </a:cubicBezTo>
                          <a:cubicBezTo>
                            <a:pt x="828093" y="2133807"/>
                            <a:pt x="803915" y="2187813"/>
                            <a:pt x="764821" y="2226905"/>
                          </a:cubicBezTo>
                          <a:cubicBezTo>
                            <a:pt x="725728" y="2265998"/>
                            <a:pt x="671723" y="2290177"/>
                            <a:pt x="612070" y="2290177"/>
                          </a:cubicBezTo>
                          <a:cubicBezTo>
                            <a:pt x="492762" y="2290177"/>
                            <a:pt x="396045" y="2193460"/>
                            <a:pt x="396045" y="2074153"/>
                          </a:cubicBezTo>
                          <a:cubicBezTo>
                            <a:pt x="396045" y="1990769"/>
                            <a:pt x="443288" y="1918420"/>
                            <a:pt x="512921" y="1883281"/>
                          </a:cubicBezTo>
                          <a:cubicBezTo>
                            <a:pt x="532220" y="1839513"/>
                            <a:pt x="513619" y="1794157"/>
                            <a:pt x="486333" y="1757155"/>
                          </a:cubicBezTo>
                          <a:lnTo>
                            <a:pt x="1" y="1757156"/>
                          </a:lnTo>
                          <a:lnTo>
                            <a:pt x="1" y="1271298"/>
                          </a:lnTo>
                          <a:cubicBezTo>
                            <a:pt x="37251" y="1243817"/>
                            <a:pt x="82956" y="1224794"/>
                            <a:pt x="127049" y="1244238"/>
                          </a:cubicBezTo>
                          <a:cubicBezTo>
                            <a:pt x="162189" y="1313869"/>
                            <a:pt x="234538" y="1361113"/>
                            <a:pt x="317921" y="1361113"/>
                          </a:cubicBezTo>
                          <a:cubicBezTo>
                            <a:pt x="437228" y="1361113"/>
                            <a:pt x="533945" y="1264396"/>
                            <a:pt x="533945" y="1145089"/>
                          </a:cubicBezTo>
                          <a:cubicBezTo>
                            <a:pt x="533945" y="1085435"/>
                            <a:pt x="509766" y="1031429"/>
                            <a:pt x="470673" y="992337"/>
                          </a:cubicBezTo>
                          <a:cubicBezTo>
                            <a:pt x="431581" y="953244"/>
                            <a:pt x="377575" y="929065"/>
                            <a:pt x="317921" y="929065"/>
                          </a:cubicBezTo>
                          <a:cubicBezTo>
                            <a:pt x="236461" y="929065"/>
                            <a:pt x="165532" y="974153"/>
                            <a:pt x="129610" y="1041222"/>
                          </a:cubicBezTo>
                          <a:cubicBezTo>
                            <a:pt x="83461" y="1063799"/>
                            <a:pt x="42491" y="1047422"/>
                            <a:pt x="0" y="1018884"/>
                          </a:cubicBezTo>
                          <a:lnTo>
                            <a:pt x="0" y="533020"/>
                          </a:lnTo>
                          <a:lnTo>
                            <a:pt x="486307" y="533020"/>
                          </a:lnTo>
                          <a:cubicBezTo>
                            <a:pt x="514617" y="490912"/>
                            <a:pt x="530630" y="450179"/>
                            <a:pt x="508202" y="404335"/>
                          </a:cubicBezTo>
                          <a:cubicBezTo>
                            <a:pt x="441133" y="368413"/>
                            <a:pt x="396045" y="297484"/>
                            <a:pt x="396045" y="216024"/>
                          </a:cubicBezTo>
                          <a:cubicBezTo>
                            <a:pt x="396045" y="156370"/>
                            <a:pt x="420224" y="102364"/>
                            <a:pt x="459317" y="63272"/>
                          </a:cubicBezTo>
                          <a:cubicBezTo>
                            <a:pt x="498410" y="24179"/>
                            <a:pt x="552415" y="0"/>
                            <a:pt x="612069" y="0"/>
                          </a:cubicBezTo>
                          <a:cubicBezTo>
                            <a:pt x="671723" y="0"/>
                            <a:pt x="725728" y="24179"/>
                            <a:pt x="764821" y="63272"/>
                          </a:cubicBezTo>
                          <a:close/>
                        </a:path>
                      </a:pathLst>
                    </a:custGeom>
                    <a:solidFill>
                      <a:srgbClr val="046A38"/>
                    </a:solidFill>
                    <a:ln w="12700">
                      <a:noFill/>
                    </a:ln>
                  </p:spPr>
                  <p:style>
                    <a:lnRef idx="2">
                      <a:schemeClr val="accent1">
                        <a:shade val="50000"/>
                      </a:schemeClr>
                    </a:lnRef>
                    <a:fillRef idx="1">
                      <a:schemeClr val="accent1"/>
                    </a:fillRef>
                    <a:effectRef idx="0">
                      <a:schemeClr val="accent1"/>
                    </a:effectRef>
                    <a:fontRef idx="minor">
                      <a:schemeClr val="lt1"/>
                    </a:fontRef>
                  </p:style>
                  <p:txBody>
                    <a:bodyPr tIns="91440" bIns="91440" anchor="ctr"/>
                    <a:lstStyle/>
                    <a:p>
                      <a:pPr algn="ctr" defTabSz="1219170" eaLnBrk="0" fontAlgn="base" hangingPunct="0">
                        <a:defRPr/>
                      </a:pPr>
                      <a:endParaRPr lang="en-US" sz="1000" err="1">
                        <a:solidFill>
                          <a:srgbClr val="44546A"/>
                        </a:solidFill>
                      </a:endParaRPr>
                    </a:p>
                  </p:txBody>
                </p:sp>
                <p:sp>
                  <p:nvSpPr>
                    <p:cNvPr id="220" name="Rectangle 140">
                      <a:extLst>
                        <a:ext uri="{FF2B5EF4-FFF2-40B4-BE49-F238E27FC236}">
                          <a16:creationId xmlns:a16="http://schemas.microsoft.com/office/drawing/2014/main" id="{7FFDA327-E86D-E20E-A7A5-FB06DCEEC868}"/>
                        </a:ext>
                      </a:extLst>
                    </p:cNvPr>
                    <p:cNvSpPr/>
                    <p:nvPr/>
                  </p:nvSpPr>
                  <p:spPr bwMode="auto">
                    <a:xfrm rot="2700000">
                      <a:off x="2295441" y="2775218"/>
                      <a:ext cx="939526" cy="1757194"/>
                    </a:xfrm>
                    <a:custGeom>
                      <a:avLst/>
                      <a:gdLst/>
                      <a:ahLst/>
                      <a:cxnLst/>
                      <a:rect l="l" t="t" r="r" b="b"/>
                      <a:pathLst>
                        <a:path w="1224136" h="2290176">
                          <a:moveTo>
                            <a:pt x="459315" y="63272"/>
                          </a:moveTo>
                          <a:cubicBezTo>
                            <a:pt x="498408" y="24178"/>
                            <a:pt x="552413" y="-1"/>
                            <a:pt x="612067" y="0"/>
                          </a:cubicBezTo>
                          <a:cubicBezTo>
                            <a:pt x="731374" y="-1"/>
                            <a:pt x="828091" y="96717"/>
                            <a:pt x="828091" y="216024"/>
                          </a:cubicBezTo>
                          <a:cubicBezTo>
                            <a:pt x="828091" y="299408"/>
                            <a:pt x="780848" y="371756"/>
                            <a:pt x="711216" y="406896"/>
                          </a:cubicBezTo>
                          <a:cubicBezTo>
                            <a:pt x="691916" y="450663"/>
                            <a:pt x="710517" y="496019"/>
                            <a:pt x="737802" y="533019"/>
                          </a:cubicBezTo>
                          <a:lnTo>
                            <a:pt x="1224136" y="533019"/>
                          </a:lnTo>
                          <a:lnTo>
                            <a:pt x="1224136" y="1022319"/>
                          </a:lnTo>
                          <a:cubicBezTo>
                            <a:pt x="1188699" y="1048297"/>
                            <a:pt x="1145539" y="1064335"/>
                            <a:pt x="1103821" y="1045939"/>
                          </a:cubicBezTo>
                          <a:cubicBezTo>
                            <a:pt x="1068681" y="976307"/>
                            <a:pt x="996332" y="929064"/>
                            <a:pt x="912948" y="929064"/>
                          </a:cubicBezTo>
                          <a:cubicBezTo>
                            <a:pt x="793641" y="929064"/>
                            <a:pt x="696924" y="1025781"/>
                            <a:pt x="696924" y="1145088"/>
                          </a:cubicBezTo>
                          <a:cubicBezTo>
                            <a:pt x="696924" y="1204742"/>
                            <a:pt x="721103" y="1258747"/>
                            <a:pt x="760196" y="1297840"/>
                          </a:cubicBezTo>
                          <a:cubicBezTo>
                            <a:pt x="799288" y="1336933"/>
                            <a:pt x="853295" y="1361112"/>
                            <a:pt x="912948" y="1361112"/>
                          </a:cubicBezTo>
                          <a:cubicBezTo>
                            <a:pt x="994408" y="1361112"/>
                            <a:pt x="1065338" y="1316024"/>
                            <a:pt x="1101259" y="1248955"/>
                          </a:cubicBezTo>
                          <a:cubicBezTo>
                            <a:pt x="1145166" y="1227475"/>
                            <a:pt x="1184384" y="1241255"/>
                            <a:pt x="1224136" y="1268072"/>
                          </a:cubicBezTo>
                          <a:lnTo>
                            <a:pt x="1224136" y="1757155"/>
                          </a:lnTo>
                          <a:lnTo>
                            <a:pt x="737830" y="1757155"/>
                          </a:lnTo>
                          <a:cubicBezTo>
                            <a:pt x="709519" y="1799263"/>
                            <a:pt x="693506" y="1839996"/>
                            <a:pt x="715934" y="1885841"/>
                          </a:cubicBezTo>
                          <a:cubicBezTo>
                            <a:pt x="783003" y="1921763"/>
                            <a:pt x="828091" y="1992692"/>
                            <a:pt x="828091" y="2074152"/>
                          </a:cubicBezTo>
                          <a:cubicBezTo>
                            <a:pt x="828091" y="2133806"/>
                            <a:pt x="803912" y="2187812"/>
                            <a:pt x="764819" y="2226904"/>
                          </a:cubicBezTo>
                          <a:cubicBezTo>
                            <a:pt x="725726" y="2265997"/>
                            <a:pt x="671721" y="2290176"/>
                            <a:pt x="612067" y="2290176"/>
                          </a:cubicBezTo>
                          <a:cubicBezTo>
                            <a:pt x="492760" y="2290176"/>
                            <a:pt x="396043" y="2193459"/>
                            <a:pt x="396043" y="2074152"/>
                          </a:cubicBezTo>
                          <a:cubicBezTo>
                            <a:pt x="396043" y="1990768"/>
                            <a:pt x="443286" y="1918419"/>
                            <a:pt x="512918" y="1883280"/>
                          </a:cubicBezTo>
                          <a:cubicBezTo>
                            <a:pt x="532219" y="1839511"/>
                            <a:pt x="513617" y="1794156"/>
                            <a:pt x="486332" y="1757155"/>
                          </a:cubicBezTo>
                          <a:lnTo>
                            <a:pt x="0" y="1757155"/>
                          </a:lnTo>
                          <a:lnTo>
                            <a:pt x="0" y="1270658"/>
                          </a:lnTo>
                          <a:cubicBezTo>
                            <a:pt x="36913" y="1243440"/>
                            <a:pt x="82146" y="1224987"/>
                            <a:pt x="125800" y="1244235"/>
                          </a:cubicBezTo>
                          <a:cubicBezTo>
                            <a:pt x="160938" y="1313868"/>
                            <a:pt x="233287" y="1361111"/>
                            <a:pt x="316671" y="1361111"/>
                          </a:cubicBezTo>
                          <a:cubicBezTo>
                            <a:pt x="435979" y="1361111"/>
                            <a:pt x="532696" y="1264394"/>
                            <a:pt x="532695" y="1145087"/>
                          </a:cubicBezTo>
                          <a:cubicBezTo>
                            <a:pt x="532696" y="1085433"/>
                            <a:pt x="508516" y="1031428"/>
                            <a:pt x="469423" y="992335"/>
                          </a:cubicBezTo>
                          <a:cubicBezTo>
                            <a:pt x="430331" y="953241"/>
                            <a:pt x="376325" y="929063"/>
                            <a:pt x="316671" y="929063"/>
                          </a:cubicBezTo>
                          <a:cubicBezTo>
                            <a:pt x="235212" y="929062"/>
                            <a:pt x="164282" y="974151"/>
                            <a:pt x="128360" y="1041219"/>
                          </a:cubicBezTo>
                          <a:cubicBezTo>
                            <a:pt x="82624" y="1063596"/>
                            <a:pt x="41974" y="1047710"/>
                            <a:pt x="0" y="1019480"/>
                          </a:cubicBezTo>
                          <a:lnTo>
                            <a:pt x="0" y="533019"/>
                          </a:lnTo>
                          <a:lnTo>
                            <a:pt x="486306" y="533019"/>
                          </a:lnTo>
                          <a:cubicBezTo>
                            <a:pt x="514616" y="490911"/>
                            <a:pt x="530629" y="450179"/>
                            <a:pt x="508200" y="404335"/>
                          </a:cubicBezTo>
                          <a:cubicBezTo>
                            <a:pt x="441131" y="368413"/>
                            <a:pt x="396043" y="297484"/>
                            <a:pt x="396043" y="216024"/>
                          </a:cubicBezTo>
                          <a:cubicBezTo>
                            <a:pt x="396043" y="156370"/>
                            <a:pt x="420223" y="102364"/>
                            <a:pt x="459315" y="63272"/>
                          </a:cubicBezTo>
                          <a:close/>
                        </a:path>
                      </a:pathLst>
                    </a:cu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tIns="91440" bIns="91440" anchor="ctr"/>
                    <a:lstStyle/>
                    <a:p>
                      <a:pPr algn="ctr" defTabSz="1219170" eaLnBrk="0" fontAlgn="base" hangingPunct="0">
                        <a:defRPr/>
                      </a:pPr>
                      <a:endParaRPr lang="en-US" sz="1000" err="1">
                        <a:solidFill>
                          <a:srgbClr val="44546A"/>
                        </a:solidFill>
                      </a:endParaRPr>
                    </a:p>
                  </p:txBody>
                </p:sp>
              </p:grpSp>
              <p:sp>
                <p:nvSpPr>
                  <p:cNvPr id="209" name="Oval 208">
                    <a:extLst>
                      <a:ext uri="{FF2B5EF4-FFF2-40B4-BE49-F238E27FC236}">
                        <a16:creationId xmlns:a16="http://schemas.microsoft.com/office/drawing/2014/main" id="{52E1FBFB-65E1-81D4-9D85-669FBE666671}"/>
                      </a:ext>
                    </a:extLst>
                  </p:cNvPr>
                  <p:cNvSpPr/>
                  <p:nvPr/>
                </p:nvSpPr>
                <p:spPr bwMode="gray">
                  <a:xfrm>
                    <a:off x="5718065" y="3817615"/>
                    <a:ext cx="1394235" cy="1268829"/>
                  </a:xfrm>
                  <a:prstGeom prst="ellipse">
                    <a:avLst/>
                  </a:prstGeom>
                  <a:solidFill>
                    <a:srgbClr val="000000"/>
                  </a:solidFill>
                  <a:ln w="19050" algn="ctr">
                    <a:noFill/>
                    <a:miter lim="800000"/>
                    <a:headEnd/>
                    <a:tailEnd/>
                  </a:ln>
                </p:spPr>
                <p:txBody>
                  <a:bodyPr wrap="none" lIns="0" tIns="0" rIns="0" bIns="0" anchor="t"/>
                  <a:lstStyle/>
                  <a:p>
                    <a:pPr algn="ctr" defTabSz="1219170" eaLnBrk="0" fontAlgn="base" hangingPunct="0">
                      <a:defRPr/>
                    </a:pPr>
                    <a:r>
                      <a:rPr lang="en-US" sz="1000" b="1" dirty="0">
                        <a:solidFill>
                          <a:prstClr val="white"/>
                        </a:solidFill>
                      </a:rPr>
                      <a:t>Deloitte’s POV</a:t>
                    </a:r>
                    <a:endParaRPr lang="en-US" sz="1000" dirty="0">
                      <a:solidFill>
                        <a:prstClr val="white"/>
                      </a:solidFill>
                    </a:endParaRPr>
                  </a:p>
                </p:txBody>
              </p:sp>
              <p:grpSp>
                <p:nvGrpSpPr>
                  <p:cNvPr id="210" name="Group 209">
                    <a:extLst>
                      <a:ext uri="{FF2B5EF4-FFF2-40B4-BE49-F238E27FC236}">
                        <a16:creationId xmlns:a16="http://schemas.microsoft.com/office/drawing/2014/main" id="{D0F70E38-9ABC-4CBA-D69D-22765D90000C}"/>
                      </a:ext>
                    </a:extLst>
                  </p:cNvPr>
                  <p:cNvGrpSpPr/>
                  <p:nvPr/>
                </p:nvGrpSpPr>
                <p:grpSpPr>
                  <a:xfrm>
                    <a:off x="6235311" y="4407986"/>
                    <a:ext cx="416162" cy="601864"/>
                    <a:chOff x="9294813" y="2922588"/>
                    <a:chExt cx="693737" cy="1003300"/>
                  </a:xfrm>
                  <a:solidFill>
                    <a:schemeClr val="bg1"/>
                  </a:solidFill>
                </p:grpSpPr>
                <p:sp>
                  <p:nvSpPr>
                    <p:cNvPr id="211" name="Freeform 5">
                      <a:extLst>
                        <a:ext uri="{FF2B5EF4-FFF2-40B4-BE49-F238E27FC236}">
                          <a16:creationId xmlns:a16="http://schemas.microsoft.com/office/drawing/2014/main" id="{F9454FFD-31F8-B2FF-1975-B7C357A3BF09}"/>
                        </a:ext>
                      </a:extLst>
                    </p:cNvPr>
                    <p:cNvSpPr>
                      <a:spLocks noEditPoints="1"/>
                    </p:cNvSpPr>
                    <p:nvPr/>
                  </p:nvSpPr>
                  <p:spPr bwMode="auto">
                    <a:xfrm>
                      <a:off x="9294813" y="2922588"/>
                      <a:ext cx="693737" cy="1003300"/>
                    </a:xfrm>
                    <a:custGeom>
                      <a:avLst/>
                      <a:gdLst>
                        <a:gd name="T0" fmla="*/ 170 w 196"/>
                        <a:gd name="T1" fmla="*/ 130 h 284"/>
                        <a:gd name="T2" fmla="*/ 162 w 196"/>
                        <a:gd name="T3" fmla="*/ 130 h 284"/>
                        <a:gd name="T4" fmla="*/ 138 w 196"/>
                        <a:gd name="T5" fmla="*/ 116 h 284"/>
                        <a:gd name="T6" fmla="*/ 162 w 196"/>
                        <a:gd name="T7" fmla="*/ 37 h 284"/>
                        <a:gd name="T8" fmla="*/ 103 w 196"/>
                        <a:gd name="T9" fmla="*/ 5 h 284"/>
                        <a:gd name="T10" fmla="*/ 94 w 196"/>
                        <a:gd name="T11" fmla="*/ 17 h 284"/>
                        <a:gd name="T12" fmla="*/ 35 w 196"/>
                        <a:gd name="T13" fmla="*/ 111 h 284"/>
                        <a:gd name="T14" fmla="*/ 59 w 196"/>
                        <a:gd name="T15" fmla="*/ 126 h 284"/>
                        <a:gd name="T16" fmla="*/ 35 w 196"/>
                        <a:gd name="T17" fmla="*/ 140 h 284"/>
                        <a:gd name="T18" fmla="*/ 22 w 196"/>
                        <a:gd name="T19" fmla="*/ 126 h 284"/>
                        <a:gd name="T20" fmla="*/ 0 w 196"/>
                        <a:gd name="T21" fmla="*/ 224 h 284"/>
                        <a:gd name="T22" fmla="*/ 27 w 196"/>
                        <a:gd name="T23" fmla="*/ 224 h 284"/>
                        <a:gd name="T24" fmla="*/ 35 w 196"/>
                        <a:gd name="T25" fmla="*/ 206 h 284"/>
                        <a:gd name="T26" fmla="*/ 48 w 196"/>
                        <a:gd name="T27" fmla="*/ 253 h 284"/>
                        <a:gd name="T28" fmla="*/ 37 w 196"/>
                        <a:gd name="T29" fmla="*/ 279 h 284"/>
                        <a:gd name="T30" fmla="*/ 86 w 196"/>
                        <a:gd name="T31" fmla="*/ 279 h 284"/>
                        <a:gd name="T32" fmla="*/ 75 w 196"/>
                        <a:gd name="T33" fmla="*/ 253 h 284"/>
                        <a:gd name="T34" fmla="*/ 121 w 196"/>
                        <a:gd name="T35" fmla="*/ 253 h 284"/>
                        <a:gd name="T36" fmla="*/ 111 w 196"/>
                        <a:gd name="T37" fmla="*/ 279 h 284"/>
                        <a:gd name="T38" fmla="*/ 159 w 196"/>
                        <a:gd name="T39" fmla="*/ 279 h 284"/>
                        <a:gd name="T40" fmla="*/ 149 w 196"/>
                        <a:gd name="T41" fmla="*/ 253 h 284"/>
                        <a:gd name="T42" fmla="*/ 162 w 196"/>
                        <a:gd name="T43" fmla="*/ 206 h 284"/>
                        <a:gd name="T44" fmla="*/ 170 w 196"/>
                        <a:gd name="T45" fmla="*/ 224 h 284"/>
                        <a:gd name="T46" fmla="*/ 196 w 196"/>
                        <a:gd name="T47" fmla="*/ 224 h 284"/>
                        <a:gd name="T48" fmla="*/ 18 w 196"/>
                        <a:gd name="T49" fmla="*/ 219 h 284"/>
                        <a:gd name="T50" fmla="*/ 18 w 196"/>
                        <a:gd name="T51" fmla="*/ 135 h 284"/>
                        <a:gd name="T52" fmla="*/ 27 w 196"/>
                        <a:gd name="T53" fmla="*/ 159 h 284"/>
                        <a:gd name="T54" fmla="*/ 35 w 196"/>
                        <a:gd name="T55" fmla="*/ 159 h 284"/>
                        <a:gd name="T56" fmla="*/ 55 w 196"/>
                        <a:gd name="T57" fmla="*/ 26 h 284"/>
                        <a:gd name="T58" fmla="*/ 152 w 196"/>
                        <a:gd name="T59" fmla="*/ 107 h 284"/>
                        <a:gd name="T60" fmla="*/ 128 w 196"/>
                        <a:gd name="T61" fmla="*/ 126 h 284"/>
                        <a:gd name="T62" fmla="*/ 128 w 196"/>
                        <a:gd name="T63" fmla="*/ 116 h 284"/>
                        <a:gd name="T64" fmla="*/ 46 w 196"/>
                        <a:gd name="T65" fmla="*/ 275 h 284"/>
                        <a:gd name="T66" fmla="*/ 57 w 196"/>
                        <a:gd name="T67" fmla="*/ 253 h 284"/>
                        <a:gd name="T68" fmla="*/ 66 w 196"/>
                        <a:gd name="T69" fmla="*/ 253 h 284"/>
                        <a:gd name="T70" fmla="*/ 150 w 196"/>
                        <a:gd name="T71" fmla="*/ 275 h 284"/>
                        <a:gd name="T72" fmla="*/ 150 w 196"/>
                        <a:gd name="T73" fmla="*/ 262 h 284"/>
                        <a:gd name="T74" fmla="*/ 139 w 196"/>
                        <a:gd name="T75" fmla="*/ 211 h 284"/>
                        <a:gd name="T76" fmla="*/ 152 w 196"/>
                        <a:gd name="T77" fmla="*/ 201 h 284"/>
                        <a:gd name="T78" fmla="*/ 152 w 196"/>
                        <a:gd name="T79" fmla="*/ 135 h 284"/>
                        <a:gd name="T80" fmla="*/ 162 w 196"/>
                        <a:gd name="T81" fmla="*/ 159 h 284"/>
                        <a:gd name="T82" fmla="*/ 170 w 196"/>
                        <a:gd name="T83" fmla="*/ 159 h 284"/>
                        <a:gd name="T84" fmla="*/ 179 w 196"/>
                        <a:gd name="T85" fmla="*/ 135 h 284"/>
                        <a:gd name="T86" fmla="*/ 187 w 196"/>
                        <a:gd name="T87" fmla="*/ 219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6" h="284">
                          <a:moveTo>
                            <a:pt x="192" y="126"/>
                          </a:moveTo>
                          <a:cubicBezTo>
                            <a:pt x="174" y="126"/>
                            <a:pt x="174" y="126"/>
                            <a:pt x="174" y="126"/>
                          </a:cubicBezTo>
                          <a:cubicBezTo>
                            <a:pt x="172" y="126"/>
                            <a:pt x="170" y="128"/>
                            <a:pt x="170" y="130"/>
                          </a:cubicBezTo>
                          <a:cubicBezTo>
                            <a:pt x="170" y="140"/>
                            <a:pt x="170" y="140"/>
                            <a:pt x="170" y="140"/>
                          </a:cubicBezTo>
                          <a:cubicBezTo>
                            <a:pt x="162" y="140"/>
                            <a:pt x="162" y="140"/>
                            <a:pt x="162" y="140"/>
                          </a:cubicBezTo>
                          <a:cubicBezTo>
                            <a:pt x="162" y="130"/>
                            <a:pt x="162" y="130"/>
                            <a:pt x="162" y="130"/>
                          </a:cubicBezTo>
                          <a:cubicBezTo>
                            <a:pt x="162" y="128"/>
                            <a:pt x="160" y="126"/>
                            <a:pt x="157" y="126"/>
                          </a:cubicBezTo>
                          <a:cubicBezTo>
                            <a:pt x="138" y="126"/>
                            <a:pt x="138" y="126"/>
                            <a:pt x="138" y="126"/>
                          </a:cubicBezTo>
                          <a:cubicBezTo>
                            <a:pt x="138" y="116"/>
                            <a:pt x="138" y="116"/>
                            <a:pt x="138" y="116"/>
                          </a:cubicBezTo>
                          <a:cubicBezTo>
                            <a:pt x="157" y="116"/>
                            <a:pt x="157" y="116"/>
                            <a:pt x="157" y="116"/>
                          </a:cubicBezTo>
                          <a:cubicBezTo>
                            <a:pt x="160" y="116"/>
                            <a:pt x="162" y="114"/>
                            <a:pt x="162" y="111"/>
                          </a:cubicBezTo>
                          <a:cubicBezTo>
                            <a:pt x="162" y="37"/>
                            <a:pt x="162" y="37"/>
                            <a:pt x="162" y="37"/>
                          </a:cubicBezTo>
                          <a:cubicBezTo>
                            <a:pt x="162" y="26"/>
                            <a:pt x="153" y="17"/>
                            <a:pt x="141" y="17"/>
                          </a:cubicBezTo>
                          <a:cubicBezTo>
                            <a:pt x="103" y="17"/>
                            <a:pt x="103" y="17"/>
                            <a:pt x="103" y="17"/>
                          </a:cubicBezTo>
                          <a:cubicBezTo>
                            <a:pt x="103" y="5"/>
                            <a:pt x="103" y="5"/>
                            <a:pt x="103" y="5"/>
                          </a:cubicBezTo>
                          <a:cubicBezTo>
                            <a:pt x="103" y="2"/>
                            <a:pt x="101" y="0"/>
                            <a:pt x="98" y="0"/>
                          </a:cubicBezTo>
                          <a:cubicBezTo>
                            <a:pt x="96" y="0"/>
                            <a:pt x="94" y="2"/>
                            <a:pt x="94" y="5"/>
                          </a:cubicBezTo>
                          <a:cubicBezTo>
                            <a:pt x="94" y="17"/>
                            <a:pt x="94" y="17"/>
                            <a:pt x="94" y="17"/>
                          </a:cubicBezTo>
                          <a:cubicBezTo>
                            <a:pt x="55" y="17"/>
                            <a:pt x="55" y="17"/>
                            <a:pt x="55" y="17"/>
                          </a:cubicBezTo>
                          <a:cubicBezTo>
                            <a:pt x="44" y="17"/>
                            <a:pt x="35" y="26"/>
                            <a:pt x="35" y="37"/>
                          </a:cubicBezTo>
                          <a:cubicBezTo>
                            <a:pt x="35" y="111"/>
                            <a:pt x="35" y="111"/>
                            <a:pt x="35" y="111"/>
                          </a:cubicBezTo>
                          <a:cubicBezTo>
                            <a:pt x="35" y="114"/>
                            <a:pt x="37" y="116"/>
                            <a:pt x="39" y="116"/>
                          </a:cubicBezTo>
                          <a:cubicBezTo>
                            <a:pt x="59" y="116"/>
                            <a:pt x="59" y="116"/>
                            <a:pt x="59" y="116"/>
                          </a:cubicBezTo>
                          <a:cubicBezTo>
                            <a:pt x="59" y="126"/>
                            <a:pt x="59" y="126"/>
                            <a:pt x="59" y="126"/>
                          </a:cubicBezTo>
                          <a:cubicBezTo>
                            <a:pt x="39" y="126"/>
                            <a:pt x="39" y="126"/>
                            <a:pt x="39" y="126"/>
                          </a:cubicBezTo>
                          <a:cubicBezTo>
                            <a:pt x="37" y="126"/>
                            <a:pt x="35" y="128"/>
                            <a:pt x="35" y="130"/>
                          </a:cubicBezTo>
                          <a:cubicBezTo>
                            <a:pt x="35" y="140"/>
                            <a:pt x="35" y="140"/>
                            <a:pt x="35" y="140"/>
                          </a:cubicBezTo>
                          <a:cubicBezTo>
                            <a:pt x="27" y="140"/>
                            <a:pt x="27" y="140"/>
                            <a:pt x="27" y="140"/>
                          </a:cubicBezTo>
                          <a:cubicBezTo>
                            <a:pt x="27" y="130"/>
                            <a:pt x="27" y="130"/>
                            <a:pt x="27" y="130"/>
                          </a:cubicBezTo>
                          <a:cubicBezTo>
                            <a:pt x="27" y="128"/>
                            <a:pt x="25" y="126"/>
                            <a:pt x="22" y="126"/>
                          </a:cubicBezTo>
                          <a:cubicBezTo>
                            <a:pt x="5" y="126"/>
                            <a:pt x="5" y="126"/>
                            <a:pt x="5" y="126"/>
                          </a:cubicBezTo>
                          <a:cubicBezTo>
                            <a:pt x="2" y="126"/>
                            <a:pt x="0" y="128"/>
                            <a:pt x="0" y="130"/>
                          </a:cubicBezTo>
                          <a:cubicBezTo>
                            <a:pt x="0" y="224"/>
                            <a:pt x="0" y="224"/>
                            <a:pt x="0" y="224"/>
                          </a:cubicBezTo>
                          <a:cubicBezTo>
                            <a:pt x="0" y="227"/>
                            <a:pt x="2" y="229"/>
                            <a:pt x="5" y="229"/>
                          </a:cubicBezTo>
                          <a:cubicBezTo>
                            <a:pt x="22" y="229"/>
                            <a:pt x="22" y="229"/>
                            <a:pt x="22" y="229"/>
                          </a:cubicBezTo>
                          <a:cubicBezTo>
                            <a:pt x="25" y="229"/>
                            <a:pt x="27" y="227"/>
                            <a:pt x="27" y="224"/>
                          </a:cubicBezTo>
                          <a:cubicBezTo>
                            <a:pt x="27" y="168"/>
                            <a:pt x="27" y="168"/>
                            <a:pt x="27" y="168"/>
                          </a:cubicBezTo>
                          <a:cubicBezTo>
                            <a:pt x="35" y="168"/>
                            <a:pt x="35" y="168"/>
                            <a:pt x="35" y="168"/>
                          </a:cubicBezTo>
                          <a:cubicBezTo>
                            <a:pt x="35" y="206"/>
                            <a:pt x="35" y="206"/>
                            <a:pt x="35" y="206"/>
                          </a:cubicBezTo>
                          <a:cubicBezTo>
                            <a:pt x="35" y="209"/>
                            <a:pt x="37" y="211"/>
                            <a:pt x="39" y="211"/>
                          </a:cubicBezTo>
                          <a:cubicBezTo>
                            <a:pt x="48" y="211"/>
                            <a:pt x="48" y="211"/>
                            <a:pt x="48" y="211"/>
                          </a:cubicBezTo>
                          <a:cubicBezTo>
                            <a:pt x="48" y="253"/>
                            <a:pt x="48" y="253"/>
                            <a:pt x="48" y="253"/>
                          </a:cubicBezTo>
                          <a:cubicBezTo>
                            <a:pt x="42" y="253"/>
                            <a:pt x="42" y="253"/>
                            <a:pt x="42" y="253"/>
                          </a:cubicBezTo>
                          <a:cubicBezTo>
                            <a:pt x="39" y="253"/>
                            <a:pt x="37" y="255"/>
                            <a:pt x="37" y="257"/>
                          </a:cubicBezTo>
                          <a:cubicBezTo>
                            <a:pt x="37" y="279"/>
                            <a:pt x="37" y="279"/>
                            <a:pt x="37" y="279"/>
                          </a:cubicBezTo>
                          <a:cubicBezTo>
                            <a:pt x="37" y="282"/>
                            <a:pt x="39" y="284"/>
                            <a:pt x="42" y="284"/>
                          </a:cubicBezTo>
                          <a:cubicBezTo>
                            <a:pt x="81" y="284"/>
                            <a:pt x="81" y="284"/>
                            <a:pt x="81" y="284"/>
                          </a:cubicBezTo>
                          <a:cubicBezTo>
                            <a:pt x="84" y="284"/>
                            <a:pt x="86" y="282"/>
                            <a:pt x="86" y="279"/>
                          </a:cubicBezTo>
                          <a:cubicBezTo>
                            <a:pt x="86" y="257"/>
                            <a:pt x="86" y="257"/>
                            <a:pt x="86" y="257"/>
                          </a:cubicBezTo>
                          <a:cubicBezTo>
                            <a:pt x="86" y="255"/>
                            <a:pt x="84" y="253"/>
                            <a:pt x="81" y="253"/>
                          </a:cubicBezTo>
                          <a:cubicBezTo>
                            <a:pt x="75" y="253"/>
                            <a:pt x="75" y="253"/>
                            <a:pt x="75" y="253"/>
                          </a:cubicBezTo>
                          <a:cubicBezTo>
                            <a:pt x="75" y="211"/>
                            <a:pt x="75" y="211"/>
                            <a:pt x="75" y="211"/>
                          </a:cubicBezTo>
                          <a:cubicBezTo>
                            <a:pt x="121" y="211"/>
                            <a:pt x="121" y="211"/>
                            <a:pt x="121" y="211"/>
                          </a:cubicBezTo>
                          <a:cubicBezTo>
                            <a:pt x="121" y="253"/>
                            <a:pt x="121" y="253"/>
                            <a:pt x="121" y="253"/>
                          </a:cubicBezTo>
                          <a:cubicBezTo>
                            <a:pt x="115" y="253"/>
                            <a:pt x="115" y="253"/>
                            <a:pt x="115" y="253"/>
                          </a:cubicBezTo>
                          <a:cubicBezTo>
                            <a:pt x="113" y="253"/>
                            <a:pt x="111" y="255"/>
                            <a:pt x="111" y="257"/>
                          </a:cubicBezTo>
                          <a:cubicBezTo>
                            <a:pt x="111" y="279"/>
                            <a:pt x="111" y="279"/>
                            <a:pt x="111" y="279"/>
                          </a:cubicBezTo>
                          <a:cubicBezTo>
                            <a:pt x="111" y="282"/>
                            <a:pt x="113" y="284"/>
                            <a:pt x="115" y="284"/>
                          </a:cubicBezTo>
                          <a:cubicBezTo>
                            <a:pt x="155" y="284"/>
                            <a:pt x="155" y="284"/>
                            <a:pt x="155" y="284"/>
                          </a:cubicBezTo>
                          <a:cubicBezTo>
                            <a:pt x="157" y="284"/>
                            <a:pt x="159" y="282"/>
                            <a:pt x="159" y="279"/>
                          </a:cubicBezTo>
                          <a:cubicBezTo>
                            <a:pt x="159" y="257"/>
                            <a:pt x="159" y="257"/>
                            <a:pt x="159" y="257"/>
                          </a:cubicBezTo>
                          <a:cubicBezTo>
                            <a:pt x="159" y="255"/>
                            <a:pt x="157" y="253"/>
                            <a:pt x="155" y="253"/>
                          </a:cubicBezTo>
                          <a:cubicBezTo>
                            <a:pt x="149" y="253"/>
                            <a:pt x="149" y="253"/>
                            <a:pt x="149" y="253"/>
                          </a:cubicBezTo>
                          <a:cubicBezTo>
                            <a:pt x="149" y="211"/>
                            <a:pt x="149" y="211"/>
                            <a:pt x="149" y="211"/>
                          </a:cubicBezTo>
                          <a:cubicBezTo>
                            <a:pt x="157" y="211"/>
                            <a:pt x="157" y="211"/>
                            <a:pt x="157" y="211"/>
                          </a:cubicBezTo>
                          <a:cubicBezTo>
                            <a:pt x="160" y="211"/>
                            <a:pt x="162" y="209"/>
                            <a:pt x="162" y="206"/>
                          </a:cubicBezTo>
                          <a:cubicBezTo>
                            <a:pt x="162" y="168"/>
                            <a:pt x="162" y="168"/>
                            <a:pt x="162" y="168"/>
                          </a:cubicBezTo>
                          <a:cubicBezTo>
                            <a:pt x="170" y="168"/>
                            <a:pt x="170" y="168"/>
                            <a:pt x="170" y="168"/>
                          </a:cubicBezTo>
                          <a:cubicBezTo>
                            <a:pt x="170" y="224"/>
                            <a:pt x="170" y="224"/>
                            <a:pt x="170" y="224"/>
                          </a:cubicBezTo>
                          <a:cubicBezTo>
                            <a:pt x="170" y="227"/>
                            <a:pt x="172" y="229"/>
                            <a:pt x="174" y="229"/>
                          </a:cubicBezTo>
                          <a:cubicBezTo>
                            <a:pt x="192" y="229"/>
                            <a:pt x="192" y="229"/>
                            <a:pt x="192" y="229"/>
                          </a:cubicBezTo>
                          <a:cubicBezTo>
                            <a:pt x="194" y="229"/>
                            <a:pt x="196" y="227"/>
                            <a:pt x="196" y="224"/>
                          </a:cubicBezTo>
                          <a:cubicBezTo>
                            <a:pt x="196" y="130"/>
                            <a:pt x="196" y="130"/>
                            <a:pt x="196" y="130"/>
                          </a:cubicBezTo>
                          <a:cubicBezTo>
                            <a:pt x="196" y="128"/>
                            <a:pt x="194" y="126"/>
                            <a:pt x="192" y="126"/>
                          </a:cubicBezTo>
                          <a:close/>
                          <a:moveTo>
                            <a:pt x="18" y="219"/>
                          </a:moveTo>
                          <a:cubicBezTo>
                            <a:pt x="10" y="219"/>
                            <a:pt x="10" y="219"/>
                            <a:pt x="10" y="219"/>
                          </a:cubicBezTo>
                          <a:cubicBezTo>
                            <a:pt x="10" y="135"/>
                            <a:pt x="10" y="135"/>
                            <a:pt x="10" y="135"/>
                          </a:cubicBezTo>
                          <a:cubicBezTo>
                            <a:pt x="18" y="135"/>
                            <a:pt x="18" y="135"/>
                            <a:pt x="18" y="135"/>
                          </a:cubicBezTo>
                          <a:lnTo>
                            <a:pt x="18" y="219"/>
                          </a:lnTo>
                          <a:close/>
                          <a:moveTo>
                            <a:pt x="35" y="159"/>
                          </a:moveTo>
                          <a:cubicBezTo>
                            <a:pt x="27" y="159"/>
                            <a:pt x="27" y="159"/>
                            <a:pt x="27" y="159"/>
                          </a:cubicBezTo>
                          <a:cubicBezTo>
                            <a:pt x="27" y="149"/>
                            <a:pt x="27" y="149"/>
                            <a:pt x="27" y="149"/>
                          </a:cubicBezTo>
                          <a:cubicBezTo>
                            <a:pt x="35" y="149"/>
                            <a:pt x="35" y="149"/>
                            <a:pt x="35" y="149"/>
                          </a:cubicBezTo>
                          <a:lnTo>
                            <a:pt x="35" y="159"/>
                          </a:lnTo>
                          <a:close/>
                          <a:moveTo>
                            <a:pt x="44" y="107"/>
                          </a:moveTo>
                          <a:cubicBezTo>
                            <a:pt x="44" y="37"/>
                            <a:pt x="44" y="37"/>
                            <a:pt x="44" y="37"/>
                          </a:cubicBezTo>
                          <a:cubicBezTo>
                            <a:pt x="44" y="31"/>
                            <a:pt x="49" y="26"/>
                            <a:pt x="55" y="26"/>
                          </a:cubicBezTo>
                          <a:cubicBezTo>
                            <a:pt x="141" y="26"/>
                            <a:pt x="141" y="26"/>
                            <a:pt x="141" y="26"/>
                          </a:cubicBezTo>
                          <a:cubicBezTo>
                            <a:pt x="147" y="26"/>
                            <a:pt x="152" y="31"/>
                            <a:pt x="152" y="37"/>
                          </a:cubicBezTo>
                          <a:cubicBezTo>
                            <a:pt x="152" y="107"/>
                            <a:pt x="152" y="107"/>
                            <a:pt x="152" y="107"/>
                          </a:cubicBezTo>
                          <a:lnTo>
                            <a:pt x="44" y="107"/>
                          </a:lnTo>
                          <a:close/>
                          <a:moveTo>
                            <a:pt x="128" y="116"/>
                          </a:moveTo>
                          <a:cubicBezTo>
                            <a:pt x="128" y="126"/>
                            <a:pt x="128" y="126"/>
                            <a:pt x="128" y="126"/>
                          </a:cubicBezTo>
                          <a:cubicBezTo>
                            <a:pt x="68" y="126"/>
                            <a:pt x="68" y="126"/>
                            <a:pt x="68" y="126"/>
                          </a:cubicBezTo>
                          <a:cubicBezTo>
                            <a:pt x="68" y="116"/>
                            <a:pt x="68" y="116"/>
                            <a:pt x="68" y="116"/>
                          </a:cubicBezTo>
                          <a:lnTo>
                            <a:pt x="128" y="116"/>
                          </a:lnTo>
                          <a:close/>
                          <a:moveTo>
                            <a:pt x="76" y="262"/>
                          </a:moveTo>
                          <a:cubicBezTo>
                            <a:pt x="76" y="275"/>
                            <a:pt x="76" y="275"/>
                            <a:pt x="76" y="275"/>
                          </a:cubicBezTo>
                          <a:cubicBezTo>
                            <a:pt x="46" y="275"/>
                            <a:pt x="46" y="275"/>
                            <a:pt x="46" y="275"/>
                          </a:cubicBezTo>
                          <a:cubicBezTo>
                            <a:pt x="46" y="262"/>
                            <a:pt x="46" y="262"/>
                            <a:pt x="46" y="262"/>
                          </a:cubicBezTo>
                          <a:lnTo>
                            <a:pt x="76" y="262"/>
                          </a:lnTo>
                          <a:close/>
                          <a:moveTo>
                            <a:pt x="57" y="253"/>
                          </a:moveTo>
                          <a:cubicBezTo>
                            <a:pt x="57" y="211"/>
                            <a:pt x="57" y="211"/>
                            <a:pt x="57" y="211"/>
                          </a:cubicBezTo>
                          <a:cubicBezTo>
                            <a:pt x="66" y="211"/>
                            <a:pt x="66" y="211"/>
                            <a:pt x="66" y="211"/>
                          </a:cubicBezTo>
                          <a:cubicBezTo>
                            <a:pt x="66" y="253"/>
                            <a:pt x="66" y="253"/>
                            <a:pt x="66" y="253"/>
                          </a:cubicBezTo>
                          <a:lnTo>
                            <a:pt x="57" y="253"/>
                          </a:lnTo>
                          <a:close/>
                          <a:moveTo>
                            <a:pt x="150" y="262"/>
                          </a:moveTo>
                          <a:cubicBezTo>
                            <a:pt x="150" y="275"/>
                            <a:pt x="150" y="275"/>
                            <a:pt x="150" y="275"/>
                          </a:cubicBezTo>
                          <a:cubicBezTo>
                            <a:pt x="120" y="275"/>
                            <a:pt x="120" y="275"/>
                            <a:pt x="120" y="275"/>
                          </a:cubicBezTo>
                          <a:cubicBezTo>
                            <a:pt x="120" y="262"/>
                            <a:pt x="120" y="262"/>
                            <a:pt x="120" y="262"/>
                          </a:cubicBezTo>
                          <a:lnTo>
                            <a:pt x="150" y="262"/>
                          </a:lnTo>
                          <a:close/>
                          <a:moveTo>
                            <a:pt x="131" y="253"/>
                          </a:moveTo>
                          <a:cubicBezTo>
                            <a:pt x="131" y="211"/>
                            <a:pt x="131" y="211"/>
                            <a:pt x="131" y="211"/>
                          </a:cubicBezTo>
                          <a:cubicBezTo>
                            <a:pt x="139" y="211"/>
                            <a:pt x="139" y="211"/>
                            <a:pt x="139" y="211"/>
                          </a:cubicBezTo>
                          <a:cubicBezTo>
                            <a:pt x="139" y="253"/>
                            <a:pt x="139" y="253"/>
                            <a:pt x="139" y="253"/>
                          </a:cubicBezTo>
                          <a:lnTo>
                            <a:pt x="131" y="253"/>
                          </a:lnTo>
                          <a:close/>
                          <a:moveTo>
                            <a:pt x="152" y="201"/>
                          </a:moveTo>
                          <a:cubicBezTo>
                            <a:pt x="44" y="201"/>
                            <a:pt x="44" y="201"/>
                            <a:pt x="44" y="201"/>
                          </a:cubicBezTo>
                          <a:cubicBezTo>
                            <a:pt x="44" y="135"/>
                            <a:pt x="44" y="135"/>
                            <a:pt x="44" y="135"/>
                          </a:cubicBezTo>
                          <a:cubicBezTo>
                            <a:pt x="152" y="135"/>
                            <a:pt x="152" y="135"/>
                            <a:pt x="152" y="135"/>
                          </a:cubicBezTo>
                          <a:cubicBezTo>
                            <a:pt x="152" y="201"/>
                            <a:pt x="152" y="201"/>
                            <a:pt x="152" y="201"/>
                          </a:cubicBezTo>
                          <a:close/>
                          <a:moveTo>
                            <a:pt x="170" y="159"/>
                          </a:moveTo>
                          <a:cubicBezTo>
                            <a:pt x="162" y="159"/>
                            <a:pt x="162" y="159"/>
                            <a:pt x="162" y="159"/>
                          </a:cubicBezTo>
                          <a:cubicBezTo>
                            <a:pt x="162" y="149"/>
                            <a:pt x="162" y="149"/>
                            <a:pt x="162" y="149"/>
                          </a:cubicBezTo>
                          <a:cubicBezTo>
                            <a:pt x="170" y="149"/>
                            <a:pt x="170" y="149"/>
                            <a:pt x="170" y="149"/>
                          </a:cubicBezTo>
                          <a:lnTo>
                            <a:pt x="170" y="159"/>
                          </a:lnTo>
                          <a:close/>
                          <a:moveTo>
                            <a:pt x="187" y="219"/>
                          </a:moveTo>
                          <a:cubicBezTo>
                            <a:pt x="179" y="219"/>
                            <a:pt x="179" y="219"/>
                            <a:pt x="179" y="219"/>
                          </a:cubicBezTo>
                          <a:cubicBezTo>
                            <a:pt x="179" y="135"/>
                            <a:pt x="179" y="135"/>
                            <a:pt x="179" y="135"/>
                          </a:cubicBezTo>
                          <a:cubicBezTo>
                            <a:pt x="187" y="135"/>
                            <a:pt x="187" y="135"/>
                            <a:pt x="187" y="135"/>
                          </a:cubicBezTo>
                          <a:lnTo>
                            <a:pt x="187" y="219"/>
                          </a:lnTo>
                          <a:close/>
                          <a:moveTo>
                            <a:pt x="187" y="219"/>
                          </a:moveTo>
                          <a:cubicBezTo>
                            <a:pt x="187" y="219"/>
                            <a:pt x="187" y="219"/>
                            <a:pt x="187" y="219"/>
                          </a:cubicBezTo>
                        </a:path>
                      </a:pathLst>
                    </a:custGeom>
                    <a:grpFill/>
                    <a:ln>
                      <a:noFill/>
                    </a:ln>
                  </p:spPr>
                  <p:txBody>
                    <a:bodyPr vert="horz" wrap="square" lIns="68580" tIns="34290" rIns="68580" bIns="34290" numCol="1" anchor="t" anchorCtr="0" compatLnSpc="1">
                      <a:prstTxWarp prst="textNoShape">
                        <a:avLst/>
                      </a:prstTxWarp>
                    </a:bodyPr>
                    <a:lstStyle/>
                    <a:p>
                      <a:endParaRPr lang="en-GB" sz="1000"/>
                    </a:p>
                  </p:txBody>
                </p:sp>
                <p:sp>
                  <p:nvSpPr>
                    <p:cNvPr id="212" name="Freeform 6">
                      <a:extLst>
                        <a:ext uri="{FF2B5EF4-FFF2-40B4-BE49-F238E27FC236}">
                          <a16:creationId xmlns:a16="http://schemas.microsoft.com/office/drawing/2014/main" id="{DA2F9774-82FE-0538-9B4C-64C184AA2246}"/>
                        </a:ext>
                      </a:extLst>
                    </p:cNvPr>
                    <p:cNvSpPr>
                      <a:spLocks noEditPoints="1"/>
                    </p:cNvSpPr>
                    <p:nvPr/>
                  </p:nvSpPr>
                  <p:spPr bwMode="auto">
                    <a:xfrm>
                      <a:off x="9467850" y="3089276"/>
                      <a:ext cx="146050" cy="147638"/>
                    </a:xfrm>
                    <a:custGeom>
                      <a:avLst/>
                      <a:gdLst>
                        <a:gd name="T0" fmla="*/ 21 w 41"/>
                        <a:gd name="T1" fmla="*/ 0 h 42"/>
                        <a:gd name="T2" fmla="*/ 0 w 41"/>
                        <a:gd name="T3" fmla="*/ 21 h 42"/>
                        <a:gd name="T4" fmla="*/ 21 w 41"/>
                        <a:gd name="T5" fmla="*/ 42 h 42"/>
                        <a:gd name="T6" fmla="*/ 41 w 41"/>
                        <a:gd name="T7" fmla="*/ 21 h 42"/>
                        <a:gd name="T8" fmla="*/ 21 w 41"/>
                        <a:gd name="T9" fmla="*/ 0 h 42"/>
                        <a:gd name="T10" fmla="*/ 21 w 41"/>
                        <a:gd name="T11" fmla="*/ 33 h 42"/>
                        <a:gd name="T12" fmla="*/ 9 w 41"/>
                        <a:gd name="T13" fmla="*/ 21 h 42"/>
                        <a:gd name="T14" fmla="*/ 21 w 41"/>
                        <a:gd name="T15" fmla="*/ 10 h 42"/>
                        <a:gd name="T16" fmla="*/ 32 w 41"/>
                        <a:gd name="T17" fmla="*/ 21 h 42"/>
                        <a:gd name="T18" fmla="*/ 21 w 41"/>
                        <a:gd name="T19" fmla="*/ 33 h 42"/>
                        <a:gd name="T20" fmla="*/ 21 w 41"/>
                        <a:gd name="T21" fmla="*/ 33 h 42"/>
                        <a:gd name="T22" fmla="*/ 21 w 41"/>
                        <a:gd name="T23" fmla="*/ 33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1" h="42">
                          <a:moveTo>
                            <a:pt x="21" y="0"/>
                          </a:moveTo>
                          <a:cubicBezTo>
                            <a:pt x="9" y="0"/>
                            <a:pt x="0" y="10"/>
                            <a:pt x="0" y="21"/>
                          </a:cubicBezTo>
                          <a:cubicBezTo>
                            <a:pt x="0" y="33"/>
                            <a:pt x="9" y="42"/>
                            <a:pt x="21" y="42"/>
                          </a:cubicBezTo>
                          <a:cubicBezTo>
                            <a:pt x="32" y="42"/>
                            <a:pt x="41" y="33"/>
                            <a:pt x="41" y="21"/>
                          </a:cubicBezTo>
                          <a:cubicBezTo>
                            <a:pt x="41" y="10"/>
                            <a:pt x="32" y="0"/>
                            <a:pt x="21" y="0"/>
                          </a:cubicBezTo>
                          <a:close/>
                          <a:moveTo>
                            <a:pt x="21" y="33"/>
                          </a:moveTo>
                          <a:cubicBezTo>
                            <a:pt x="14" y="33"/>
                            <a:pt x="9" y="28"/>
                            <a:pt x="9" y="21"/>
                          </a:cubicBezTo>
                          <a:cubicBezTo>
                            <a:pt x="9" y="15"/>
                            <a:pt x="14" y="10"/>
                            <a:pt x="21" y="10"/>
                          </a:cubicBezTo>
                          <a:cubicBezTo>
                            <a:pt x="27" y="10"/>
                            <a:pt x="32" y="15"/>
                            <a:pt x="32" y="21"/>
                          </a:cubicBezTo>
                          <a:cubicBezTo>
                            <a:pt x="32" y="28"/>
                            <a:pt x="27" y="33"/>
                            <a:pt x="21" y="33"/>
                          </a:cubicBezTo>
                          <a:close/>
                          <a:moveTo>
                            <a:pt x="21" y="33"/>
                          </a:moveTo>
                          <a:cubicBezTo>
                            <a:pt x="21" y="33"/>
                            <a:pt x="21" y="33"/>
                            <a:pt x="21" y="33"/>
                          </a:cubicBezTo>
                        </a:path>
                      </a:pathLst>
                    </a:custGeom>
                    <a:grpFill/>
                    <a:ln>
                      <a:noFill/>
                    </a:ln>
                  </p:spPr>
                  <p:txBody>
                    <a:bodyPr vert="horz" wrap="square" lIns="68580" tIns="34290" rIns="68580" bIns="34290" numCol="1" anchor="t" anchorCtr="0" compatLnSpc="1">
                      <a:prstTxWarp prst="textNoShape">
                        <a:avLst/>
                      </a:prstTxWarp>
                    </a:bodyPr>
                    <a:lstStyle/>
                    <a:p>
                      <a:endParaRPr lang="en-GB" sz="1000"/>
                    </a:p>
                  </p:txBody>
                </p:sp>
                <p:sp>
                  <p:nvSpPr>
                    <p:cNvPr id="213" name="Freeform 7">
                      <a:extLst>
                        <a:ext uri="{FF2B5EF4-FFF2-40B4-BE49-F238E27FC236}">
                          <a16:creationId xmlns:a16="http://schemas.microsoft.com/office/drawing/2014/main" id="{1D3534BC-C093-204B-EB8E-ED2C63E00405}"/>
                        </a:ext>
                      </a:extLst>
                    </p:cNvPr>
                    <p:cNvSpPr>
                      <a:spLocks noEditPoints="1"/>
                    </p:cNvSpPr>
                    <p:nvPr/>
                  </p:nvSpPr>
                  <p:spPr bwMode="auto">
                    <a:xfrm>
                      <a:off x="9669463" y="3089276"/>
                      <a:ext cx="149225" cy="147638"/>
                    </a:xfrm>
                    <a:custGeom>
                      <a:avLst/>
                      <a:gdLst>
                        <a:gd name="T0" fmla="*/ 21 w 42"/>
                        <a:gd name="T1" fmla="*/ 0 h 42"/>
                        <a:gd name="T2" fmla="*/ 0 w 42"/>
                        <a:gd name="T3" fmla="*/ 21 h 42"/>
                        <a:gd name="T4" fmla="*/ 21 w 42"/>
                        <a:gd name="T5" fmla="*/ 42 h 42"/>
                        <a:gd name="T6" fmla="*/ 42 w 42"/>
                        <a:gd name="T7" fmla="*/ 21 h 42"/>
                        <a:gd name="T8" fmla="*/ 21 w 42"/>
                        <a:gd name="T9" fmla="*/ 0 h 42"/>
                        <a:gd name="T10" fmla="*/ 21 w 42"/>
                        <a:gd name="T11" fmla="*/ 33 h 42"/>
                        <a:gd name="T12" fmla="*/ 9 w 42"/>
                        <a:gd name="T13" fmla="*/ 21 h 42"/>
                        <a:gd name="T14" fmla="*/ 21 w 42"/>
                        <a:gd name="T15" fmla="*/ 10 h 42"/>
                        <a:gd name="T16" fmla="*/ 32 w 42"/>
                        <a:gd name="T17" fmla="*/ 21 h 42"/>
                        <a:gd name="T18" fmla="*/ 21 w 42"/>
                        <a:gd name="T19" fmla="*/ 33 h 42"/>
                        <a:gd name="T20" fmla="*/ 21 w 42"/>
                        <a:gd name="T21" fmla="*/ 33 h 42"/>
                        <a:gd name="T22" fmla="*/ 21 w 42"/>
                        <a:gd name="T23" fmla="*/ 33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42">
                          <a:moveTo>
                            <a:pt x="21" y="0"/>
                          </a:moveTo>
                          <a:cubicBezTo>
                            <a:pt x="9" y="0"/>
                            <a:pt x="0" y="10"/>
                            <a:pt x="0" y="21"/>
                          </a:cubicBezTo>
                          <a:cubicBezTo>
                            <a:pt x="0" y="33"/>
                            <a:pt x="9" y="42"/>
                            <a:pt x="21" y="42"/>
                          </a:cubicBezTo>
                          <a:cubicBezTo>
                            <a:pt x="32" y="42"/>
                            <a:pt x="42" y="33"/>
                            <a:pt x="42" y="21"/>
                          </a:cubicBezTo>
                          <a:cubicBezTo>
                            <a:pt x="42" y="10"/>
                            <a:pt x="32" y="0"/>
                            <a:pt x="21" y="0"/>
                          </a:cubicBezTo>
                          <a:close/>
                          <a:moveTo>
                            <a:pt x="21" y="33"/>
                          </a:moveTo>
                          <a:cubicBezTo>
                            <a:pt x="14" y="33"/>
                            <a:pt x="9" y="28"/>
                            <a:pt x="9" y="21"/>
                          </a:cubicBezTo>
                          <a:cubicBezTo>
                            <a:pt x="9" y="15"/>
                            <a:pt x="14" y="10"/>
                            <a:pt x="21" y="10"/>
                          </a:cubicBezTo>
                          <a:cubicBezTo>
                            <a:pt x="27" y="10"/>
                            <a:pt x="32" y="15"/>
                            <a:pt x="32" y="21"/>
                          </a:cubicBezTo>
                          <a:cubicBezTo>
                            <a:pt x="32" y="28"/>
                            <a:pt x="27" y="33"/>
                            <a:pt x="21" y="33"/>
                          </a:cubicBezTo>
                          <a:close/>
                          <a:moveTo>
                            <a:pt x="21" y="33"/>
                          </a:moveTo>
                          <a:cubicBezTo>
                            <a:pt x="21" y="33"/>
                            <a:pt x="21" y="33"/>
                            <a:pt x="21" y="33"/>
                          </a:cubicBezTo>
                        </a:path>
                      </a:pathLst>
                    </a:custGeom>
                    <a:grpFill/>
                    <a:ln>
                      <a:noFill/>
                    </a:ln>
                  </p:spPr>
                  <p:txBody>
                    <a:bodyPr vert="horz" wrap="square" lIns="68580" tIns="34290" rIns="68580" bIns="34290" numCol="1" anchor="t" anchorCtr="0" compatLnSpc="1">
                      <a:prstTxWarp prst="textNoShape">
                        <a:avLst/>
                      </a:prstTxWarp>
                    </a:bodyPr>
                    <a:lstStyle/>
                    <a:p>
                      <a:endParaRPr lang="en-GB" sz="1000"/>
                    </a:p>
                  </p:txBody>
                </p:sp>
                <p:sp>
                  <p:nvSpPr>
                    <p:cNvPr id="214" name="Freeform 8">
                      <a:extLst>
                        <a:ext uri="{FF2B5EF4-FFF2-40B4-BE49-F238E27FC236}">
                          <a16:creationId xmlns:a16="http://schemas.microsoft.com/office/drawing/2014/main" id="{A9E4D3B3-9099-70D0-D6DF-8B6C5E263440}"/>
                        </a:ext>
                      </a:extLst>
                    </p:cNvPr>
                    <p:cNvSpPr>
                      <a:spLocks noEditPoints="1"/>
                    </p:cNvSpPr>
                    <p:nvPr/>
                  </p:nvSpPr>
                  <p:spPr bwMode="auto">
                    <a:xfrm>
                      <a:off x="9536113" y="3452813"/>
                      <a:ext cx="215900" cy="127000"/>
                    </a:xfrm>
                    <a:custGeom>
                      <a:avLst/>
                      <a:gdLst>
                        <a:gd name="T0" fmla="*/ 30 w 61"/>
                        <a:gd name="T1" fmla="*/ 0 h 36"/>
                        <a:gd name="T2" fmla="*/ 0 w 61"/>
                        <a:gd name="T3" fmla="*/ 31 h 36"/>
                        <a:gd name="T4" fmla="*/ 4 w 61"/>
                        <a:gd name="T5" fmla="*/ 36 h 36"/>
                        <a:gd name="T6" fmla="*/ 56 w 61"/>
                        <a:gd name="T7" fmla="*/ 36 h 36"/>
                        <a:gd name="T8" fmla="*/ 61 w 61"/>
                        <a:gd name="T9" fmla="*/ 31 h 36"/>
                        <a:gd name="T10" fmla="*/ 30 w 61"/>
                        <a:gd name="T11" fmla="*/ 0 h 36"/>
                        <a:gd name="T12" fmla="*/ 10 w 61"/>
                        <a:gd name="T13" fmla="*/ 26 h 36"/>
                        <a:gd name="T14" fmla="*/ 30 w 61"/>
                        <a:gd name="T15" fmla="*/ 10 h 36"/>
                        <a:gd name="T16" fmla="*/ 51 w 61"/>
                        <a:gd name="T17" fmla="*/ 26 h 36"/>
                        <a:gd name="T18" fmla="*/ 10 w 61"/>
                        <a:gd name="T19" fmla="*/ 26 h 36"/>
                        <a:gd name="T20" fmla="*/ 10 w 61"/>
                        <a:gd name="T21" fmla="*/ 26 h 36"/>
                        <a:gd name="T22" fmla="*/ 10 w 61"/>
                        <a:gd name="T23" fmla="*/ 2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1" h="36">
                          <a:moveTo>
                            <a:pt x="30" y="0"/>
                          </a:moveTo>
                          <a:cubicBezTo>
                            <a:pt x="13" y="0"/>
                            <a:pt x="0" y="14"/>
                            <a:pt x="0" y="31"/>
                          </a:cubicBezTo>
                          <a:cubicBezTo>
                            <a:pt x="0" y="33"/>
                            <a:pt x="2" y="36"/>
                            <a:pt x="4" y="36"/>
                          </a:cubicBezTo>
                          <a:cubicBezTo>
                            <a:pt x="56" y="36"/>
                            <a:pt x="56" y="36"/>
                            <a:pt x="56" y="36"/>
                          </a:cubicBezTo>
                          <a:cubicBezTo>
                            <a:pt x="59" y="36"/>
                            <a:pt x="61" y="33"/>
                            <a:pt x="61" y="31"/>
                          </a:cubicBezTo>
                          <a:cubicBezTo>
                            <a:pt x="61" y="14"/>
                            <a:pt x="47" y="0"/>
                            <a:pt x="30" y="0"/>
                          </a:cubicBezTo>
                          <a:close/>
                          <a:moveTo>
                            <a:pt x="10" y="26"/>
                          </a:moveTo>
                          <a:cubicBezTo>
                            <a:pt x="12" y="17"/>
                            <a:pt x="20" y="10"/>
                            <a:pt x="30" y="10"/>
                          </a:cubicBezTo>
                          <a:cubicBezTo>
                            <a:pt x="40" y="10"/>
                            <a:pt x="49" y="17"/>
                            <a:pt x="51" y="26"/>
                          </a:cubicBezTo>
                          <a:lnTo>
                            <a:pt x="10" y="26"/>
                          </a:lnTo>
                          <a:close/>
                          <a:moveTo>
                            <a:pt x="10" y="26"/>
                          </a:moveTo>
                          <a:cubicBezTo>
                            <a:pt x="10" y="26"/>
                            <a:pt x="10" y="26"/>
                            <a:pt x="10" y="26"/>
                          </a:cubicBezTo>
                        </a:path>
                      </a:pathLst>
                    </a:custGeom>
                    <a:grpFill/>
                    <a:ln>
                      <a:noFill/>
                    </a:ln>
                  </p:spPr>
                  <p:txBody>
                    <a:bodyPr vert="horz" wrap="square" lIns="68580" tIns="34290" rIns="68580" bIns="34290" numCol="1" anchor="t" anchorCtr="0" compatLnSpc="1">
                      <a:prstTxWarp prst="textNoShape">
                        <a:avLst/>
                      </a:prstTxWarp>
                    </a:bodyPr>
                    <a:lstStyle/>
                    <a:p>
                      <a:endParaRPr lang="en-GB" sz="1000"/>
                    </a:p>
                  </p:txBody>
                </p:sp>
                <p:sp>
                  <p:nvSpPr>
                    <p:cNvPr id="215" name="Freeform 9">
                      <a:extLst>
                        <a:ext uri="{FF2B5EF4-FFF2-40B4-BE49-F238E27FC236}">
                          <a16:creationId xmlns:a16="http://schemas.microsoft.com/office/drawing/2014/main" id="{AC9A99FA-0339-128C-FBE7-414E5BDD4A28}"/>
                        </a:ext>
                      </a:extLst>
                    </p:cNvPr>
                    <p:cNvSpPr>
                      <a:spLocks noEditPoints="1"/>
                    </p:cNvSpPr>
                    <p:nvPr/>
                  </p:nvSpPr>
                  <p:spPr bwMode="auto">
                    <a:xfrm>
                      <a:off x="9766300" y="3430588"/>
                      <a:ext cx="31750" cy="31750"/>
                    </a:xfrm>
                    <a:custGeom>
                      <a:avLst/>
                      <a:gdLst>
                        <a:gd name="T0" fmla="*/ 9 w 9"/>
                        <a:gd name="T1" fmla="*/ 4 h 9"/>
                        <a:gd name="T2" fmla="*/ 4 w 9"/>
                        <a:gd name="T3" fmla="*/ 9 h 9"/>
                        <a:gd name="T4" fmla="*/ 0 w 9"/>
                        <a:gd name="T5" fmla="*/ 4 h 9"/>
                        <a:gd name="T6" fmla="*/ 4 w 9"/>
                        <a:gd name="T7" fmla="*/ 0 h 9"/>
                        <a:gd name="T8" fmla="*/ 9 w 9"/>
                        <a:gd name="T9" fmla="*/ 4 h 9"/>
                        <a:gd name="T10" fmla="*/ 9 w 9"/>
                        <a:gd name="T11" fmla="*/ 4 h 9"/>
                        <a:gd name="T12" fmla="*/ 9 w 9"/>
                        <a:gd name="T13" fmla="*/ 4 h 9"/>
                      </a:gdLst>
                      <a:ahLst/>
                      <a:cxnLst>
                        <a:cxn ang="0">
                          <a:pos x="T0" y="T1"/>
                        </a:cxn>
                        <a:cxn ang="0">
                          <a:pos x="T2" y="T3"/>
                        </a:cxn>
                        <a:cxn ang="0">
                          <a:pos x="T4" y="T5"/>
                        </a:cxn>
                        <a:cxn ang="0">
                          <a:pos x="T6" y="T7"/>
                        </a:cxn>
                        <a:cxn ang="0">
                          <a:pos x="T8" y="T9"/>
                        </a:cxn>
                        <a:cxn ang="0">
                          <a:pos x="T10" y="T11"/>
                        </a:cxn>
                        <a:cxn ang="0">
                          <a:pos x="T12" y="T13"/>
                        </a:cxn>
                      </a:cxnLst>
                      <a:rect l="0" t="0" r="r" b="b"/>
                      <a:pathLst>
                        <a:path w="9" h="9">
                          <a:moveTo>
                            <a:pt x="9" y="4"/>
                          </a:moveTo>
                          <a:cubicBezTo>
                            <a:pt x="9" y="7"/>
                            <a:pt x="7" y="9"/>
                            <a:pt x="4" y="9"/>
                          </a:cubicBezTo>
                          <a:cubicBezTo>
                            <a:pt x="2" y="9"/>
                            <a:pt x="0" y="7"/>
                            <a:pt x="0" y="4"/>
                          </a:cubicBezTo>
                          <a:cubicBezTo>
                            <a:pt x="0" y="2"/>
                            <a:pt x="2" y="0"/>
                            <a:pt x="4" y="0"/>
                          </a:cubicBezTo>
                          <a:cubicBezTo>
                            <a:pt x="7" y="0"/>
                            <a:pt x="9" y="2"/>
                            <a:pt x="9" y="4"/>
                          </a:cubicBezTo>
                          <a:close/>
                          <a:moveTo>
                            <a:pt x="9" y="4"/>
                          </a:moveTo>
                          <a:cubicBezTo>
                            <a:pt x="9" y="4"/>
                            <a:pt x="9" y="4"/>
                            <a:pt x="9" y="4"/>
                          </a:cubicBezTo>
                        </a:path>
                      </a:pathLst>
                    </a:custGeom>
                    <a:grpFill/>
                    <a:ln>
                      <a:noFill/>
                    </a:ln>
                  </p:spPr>
                  <p:txBody>
                    <a:bodyPr vert="horz" wrap="square" lIns="68580" tIns="34290" rIns="68580" bIns="34290" numCol="1" anchor="t" anchorCtr="0" compatLnSpc="1">
                      <a:prstTxWarp prst="textNoShape">
                        <a:avLst/>
                      </a:prstTxWarp>
                    </a:bodyPr>
                    <a:lstStyle/>
                    <a:p>
                      <a:endParaRPr lang="en-GB" sz="1000"/>
                    </a:p>
                  </p:txBody>
                </p:sp>
                <p:sp>
                  <p:nvSpPr>
                    <p:cNvPr id="216" name="Freeform 10">
                      <a:extLst>
                        <a:ext uri="{FF2B5EF4-FFF2-40B4-BE49-F238E27FC236}">
                          <a16:creationId xmlns:a16="http://schemas.microsoft.com/office/drawing/2014/main" id="{33F2279A-3EC6-2853-A38F-711357B86527}"/>
                        </a:ext>
                      </a:extLst>
                    </p:cNvPr>
                    <p:cNvSpPr>
                      <a:spLocks noEditPoints="1"/>
                    </p:cNvSpPr>
                    <p:nvPr/>
                  </p:nvSpPr>
                  <p:spPr bwMode="auto">
                    <a:xfrm>
                      <a:off x="9485313" y="3430588"/>
                      <a:ext cx="36512" cy="31750"/>
                    </a:xfrm>
                    <a:custGeom>
                      <a:avLst/>
                      <a:gdLst>
                        <a:gd name="T0" fmla="*/ 10 w 10"/>
                        <a:gd name="T1" fmla="*/ 4 h 9"/>
                        <a:gd name="T2" fmla="*/ 5 w 10"/>
                        <a:gd name="T3" fmla="*/ 9 h 9"/>
                        <a:gd name="T4" fmla="*/ 0 w 10"/>
                        <a:gd name="T5" fmla="*/ 4 h 9"/>
                        <a:gd name="T6" fmla="*/ 5 w 10"/>
                        <a:gd name="T7" fmla="*/ 0 h 9"/>
                        <a:gd name="T8" fmla="*/ 10 w 10"/>
                        <a:gd name="T9" fmla="*/ 4 h 9"/>
                        <a:gd name="T10" fmla="*/ 10 w 10"/>
                        <a:gd name="T11" fmla="*/ 4 h 9"/>
                        <a:gd name="T12" fmla="*/ 10 w 10"/>
                        <a:gd name="T13" fmla="*/ 4 h 9"/>
                      </a:gdLst>
                      <a:ahLst/>
                      <a:cxnLst>
                        <a:cxn ang="0">
                          <a:pos x="T0" y="T1"/>
                        </a:cxn>
                        <a:cxn ang="0">
                          <a:pos x="T2" y="T3"/>
                        </a:cxn>
                        <a:cxn ang="0">
                          <a:pos x="T4" y="T5"/>
                        </a:cxn>
                        <a:cxn ang="0">
                          <a:pos x="T6" y="T7"/>
                        </a:cxn>
                        <a:cxn ang="0">
                          <a:pos x="T8" y="T9"/>
                        </a:cxn>
                        <a:cxn ang="0">
                          <a:pos x="T10" y="T11"/>
                        </a:cxn>
                        <a:cxn ang="0">
                          <a:pos x="T12" y="T13"/>
                        </a:cxn>
                      </a:cxnLst>
                      <a:rect l="0" t="0" r="r" b="b"/>
                      <a:pathLst>
                        <a:path w="10" h="9">
                          <a:moveTo>
                            <a:pt x="10" y="4"/>
                          </a:moveTo>
                          <a:cubicBezTo>
                            <a:pt x="10" y="7"/>
                            <a:pt x="8" y="9"/>
                            <a:pt x="5" y="9"/>
                          </a:cubicBezTo>
                          <a:cubicBezTo>
                            <a:pt x="2" y="9"/>
                            <a:pt x="0" y="7"/>
                            <a:pt x="0" y="4"/>
                          </a:cubicBezTo>
                          <a:cubicBezTo>
                            <a:pt x="0" y="2"/>
                            <a:pt x="2" y="0"/>
                            <a:pt x="5" y="0"/>
                          </a:cubicBezTo>
                          <a:cubicBezTo>
                            <a:pt x="8" y="0"/>
                            <a:pt x="10" y="2"/>
                            <a:pt x="10" y="4"/>
                          </a:cubicBezTo>
                          <a:close/>
                          <a:moveTo>
                            <a:pt x="10" y="4"/>
                          </a:moveTo>
                          <a:cubicBezTo>
                            <a:pt x="10" y="4"/>
                            <a:pt x="10" y="4"/>
                            <a:pt x="10" y="4"/>
                          </a:cubicBezTo>
                        </a:path>
                      </a:pathLst>
                    </a:custGeom>
                    <a:grpFill/>
                    <a:ln>
                      <a:noFill/>
                    </a:ln>
                  </p:spPr>
                  <p:txBody>
                    <a:bodyPr vert="horz" wrap="square" lIns="68580" tIns="34290" rIns="68580" bIns="34290" numCol="1" anchor="t" anchorCtr="0" compatLnSpc="1">
                      <a:prstTxWarp prst="textNoShape">
                        <a:avLst/>
                      </a:prstTxWarp>
                    </a:bodyPr>
                    <a:lstStyle/>
                    <a:p>
                      <a:endParaRPr lang="en-GB" sz="1000"/>
                    </a:p>
                  </p:txBody>
                </p:sp>
              </p:grpSp>
            </p:grpSp>
            <p:sp>
              <p:nvSpPr>
                <p:cNvPr id="221" name="Freeform 89">
                  <a:extLst>
                    <a:ext uri="{FF2B5EF4-FFF2-40B4-BE49-F238E27FC236}">
                      <a16:creationId xmlns:a16="http://schemas.microsoft.com/office/drawing/2014/main" id="{C0B03477-7FC5-7932-18E3-AAF25326DBF2}"/>
                    </a:ext>
                  </a:extLst>
                </p:cNvPr>
                <p:cNvSpPr/>
                <p:nvPr/>
              </p:nvSpPr>
              <p:spPr bwMode="gray">
                <a:xfrm rot="5400000">
                  <a:off x="8176474" y="3616068"/>
                  <a:ext cx="659883" cy="1849006"/>
                </a:xfrm>
                <a:custGeom>
                  <a:avLst/>
                  <a:gdLst>
                    <a:gd name="connsiteX0" fmla="*/ 1575303 w 1575303"/>
                    <a:gd name="connsiteY0" fmla="*/ 1403288 h 1403288"/>
                    <a:gd name="connsiteX1" fmla="*/ 1575303 w 1575303"/>
                    <a:gd name="connsiteY1" fmla="*/ 0 h 1403288"/>
                    <a:gd name="connsiteX2" fmla="*/ 0 w 1575303"/>
                    <a:gd name="connsiteY2" fmla="*/ 0 h 1403288"/>
                  </a:gdLst>
                  <a:ahLst/>
                  <a:cxnLst>
                    <a:cxn ang="0">
                      <a:pos x="connsiteX0" y="connsiteY0"/>
                    </a:cxn>
                    <a:cxn ang="0">
                      <a:pos x="connsiteX1" y="connsiteY1"/>
                    </a:cxn>
                    <a:cxn ang="0">
                      <a:pos x="connsiteX2" y="connsiteY2"/>
                    </a:cxn>
                  </a:cxnLst>
                  <a:rect l="l" t="t" r="r" b="b"/>
                  <a:pathLst>
                    <a:path w="1575303" h="1403288">
                      <a:moveTo>
                        <a:pt x="1575303" y="1403288"/>
                      </a:moveTo>
                      <a:lnTo>
                        <a:pt x="1575303" y="0"/>
                      </a:lnTo>
                      <a:lnTo>
                        <a:pt x="0" y="0"/>
                      </a:lnTo>
                    </a:path>
                  </a:pathLst>
                </a:custGeom>
                <a:noFill/>
                <a:ln w="12700" algn="ctr">
                  <a:solidFill>
                    <a:schemeClr val="accent3"/>
                  </a:solidFill>
                  <a:miter lim="800000"/>
                  <a:headEnd/>
                  <a:tailEnd type="oval"/>
                </a:ln>
              </p:spPr>
              <p:txBody>
                <a:bodyPr anchor="ctr"/>
                <a:lstStyle/>
                <a:p>
                  <a:pPr algn="ctr" defTabSz="1219170" eaLnBrk="0" fontAlgn="base" hangingPunct="0">
                    <a:defRPr/>
                  </a:pPr>
                  <a:endParaRPr lang="en-US" sz="1000">
                    <a:solidFill>
                      <a:srgbClr val="75787B"/>
                    </a:solidFill>
                  </a:endParaRPr>
                </a:p>
              </p:txBody>
            </p:sp>
            <p:sp>
              <p:nvSpPr>
                <p:cNvPr id="222" name="Freeform 756">
                  <a:extLst>
                    <a:ext uri="{FF2B5EF4-FFF2-40B4-BE49-F238E27FC236}">
                      <a16:creationId xmlns:a16="http://schemas.microsoft.com/office/drawing/2014/main" id="{B7B63C51-352A-4378-1C41-A81019910BDA}"/>
                    </a:ext>
                  </a:extLst>
                </p:cNvPr>
                <p:cNvSpPr>
                  <a:spLocks noChangeAspect="1" noEditPoints="1"/>
                </p:cNvSpPr>
                <p:nvPr/>
              </p:nvSpPr>
              <p:spPr bwMode="auto">
                <a:xfrm>
                  <a:off x="3750020" y="4265597"/>
                  <a:ext cx="369676" cy="369676"/>
                </a:xfrm>
                <a:custGeom>
                  <a:avLst/>
                  <a:gdLst>
                    <a:gd name="T0" fmla="*/ 0 w 512"/>
                    <a:gd name="T1" fmla="*/ 256 h 512"/>
                    <a:gd name="T2" fmla="*/ 512 w 512"/>
                    <a:gd name="T3" fmla="*/ 256 h 512"/>
                    <a:gd name="T4" fmla="*/ 308 w 512"/>
                    <a:gd name="T5" fmla="*/ 356 h 512"/>
                    <a:gd name="T6" fmla="*/ 294 w 512"/>
                    <a:gd name="T7" fmla="*/ 361 h 512"/>
                    <a:gd name="T8" fmla="*/ 240 w 512"/>
                    <a:gd name="T9" fmla="*/ 350 h 512"/>
                    <a:gd name="T10" fmla="*/ 221 w 512"/>
                    <a:gd name="T11" fmla="*/ 290 h 512"/>
                    <a:gd name="T12" fmla="*/ 235 w 512"/>
                    <a:gd name="T13" fmla="*/ 191 h 512"/>
                    <a:gd name="T14" fmla="*/ 202 w 512"/>
                    <a:gd name="T15" fmla="*/ 176 h 512"/>
                    <a:gd name="T16" fmla="*/ 170 w 512"/>
                    <a:gd name="T17" fmla="*/ 191 h 512"/>
                    <a:gd name="T18" fmla="*/ 184 w 512"/>
                    <a:gd name="T19" fmla="*/ 290 h 512"/>
                    <a:gd name="T20" fmla="*/ 165 w 512"/>
                    <a:gd name="T21" fmla="*/ 350 h 512"/>
                    <a:gd name="T22" fmla="*/ 111 w 512"/>
                    <a:gd name="T23" fmla="*/ 361 h 512"/>
                    <a:gd name="T24" fmla="*/ 97 w 512"/>
                    <a:gd name="T25" fmla="*/ 356 h 512"/>
                    <a:gd name="T26" fmla="*/ 139 w 512"/>
                    <a:gd name="T27" fmla="*/ 334 h 512"/>
                    <a:gd name="T28" fmla="*/ 166 w 512"/>
                    <a:gd name="T29" fmla="*/ 302 h 512"/>
                    <a:gd name="T30" fmla="*/ 153 w 512"/>
                    <a:gd name="T31" fmla="*/ 177 h 512"/>
                    <a:gd name="T32" fmla="*/ 251 w 512"/>
                    <a:gd name="T33" fmla="*/ 177 h 512"/>
                    <a:gd name="T34" fmla="*/ 239 w 512"/>
                    <a:gd name="T35" fmla="*/ 302 h 512"/>
                    <a:gd name="T36" fmla="*/ 265 w 512"/>
                    <a:gd name="T37" fmla="*/ 334 h 512"/>
                    <a:gd name="T38" fmla="*/ 308 w 512"/>
                    <a:gd name="T39" fmla="*/ 356 h 512"/>
                    <a:gd name="T40" fmla="*/ 405 w 512"/>
                    <a:gd name="T41" fmla="*/ 342 h 512"/>
                    <a:gd name="T42" fmla="*/ 380 w 512"/>
                    <a:gd name="T43" fmla="*/ 335 h 512"/>
                    <a:gd name="T44" fmla="*/ 356 w 512"/>
                    <a:gd name="T45" fmla="*/ 328 h 512"/>
                    <a:gd name="T46" fmla="*/ 360 w 512"/>
                    <a:gd name="T47" fmla="*/ 248 h 512"/>
                    <a:gd name="T48" fmla="*/ 330 w 512"/>
                    <a:gd name="T49" fmla="*/ 197 h 512"/>
                    <a:gd name="T50" fmla="*/ 301 w 512"/>
                    <a:gd name="T51" fmla="*/ 248 h 512"/>
                    <a:gd name="T52" fmla="*/ 305 w 512"/>
                    <a:gd name="T53" fmla="*/ 328 h 512"/>
                    <a:gd name="T54" fmla="*/ 290 w 512"/>
                    <a:gd name="T55" fmla="*/ 326 h 512"/>
                    <a:gd name="T56" fmla="*/ 298 w 512"/>
                    <a:gd name="T57" fmla="*/ 293 h 512"/>
                    <a:gd name="T58" fmla="*/ 288 w 512"/>
                    <a:gd name="T59" fmla="*/ 195 h 512"/>
                    <a:gd name="T60" fmla="*/ 373 w 512"/>
                    <a:gd name="T61" fmla="*/ 195 h 512"/>
                    <a:gd name="T62" fmla="*/ 363 w 512"/>
                    <a:gd name="T63" fmla="*/ 293 h 512"/>
                    <a:gd name="T64" fmla="*/ 383 w 512"/>
                    <a:gd name="T65" fmla="*/ 314 h 512"/>
                    <a:gd name="T66" fmla="*/ 414 w 512"/>
                    <a:gd name="T67" fmla="*/ 337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08" y="356"/>
                      </a:moveTo>
                      <a:cubicBezTo>
                        <a:pt x="306" y="360"/>
                        <a:pt x="302" y="362"/>
                        <a:pt x="298" y="362"/>
                      </a:cubicBezTo>
                      <a:cubicBezTo>
                        <a:pt x="297" y="362"/>
                        <a:pt x="295" y="362"/>
                        <a:pt x="294" y="361"/>
                      </a:cubicBezTo>
                      <a:cubicBezTo>
                        <a:pt x="283" y="356"/>
                        <a:pt x="273" y="356"/>
                        <a:pt x="264" y="355"/>
                      </a:cubicBezTo>
                      <a:cubicBezTo>
                        <a:pt x="256" y="355"/>
                        <a:pt x="248" y="355"/>
                        <a:pt x="240" y="350"/>
                      </a:cubicBezTo>
                      <a:cubicBezTo>
                        <a:pt x="226" y="343"/>
                        <a:pt x="220" y="323"/>
                        <a:pt x="219" y="317"/>
                      </a:cubicBezTo>
                      <a:cubicBezTo>
                        <a:pt x="217" y="308"/>
                        <a:pt x="216" y="297"/>
                        <a:pt x="221" y="290"/>
                      </a:cubicBezTo>
                      <a:cubicBezTo>
                        <a:pt x="228" y="280"/>
                        <a:pt x="236" y="261"/>
                        <a:pt x="240" y="246"/>
                      </a:cubicBezTo>
                      <a:cubicBezTo>
                        <a:pt x="246" y="221"/>
                        <a:pt x="244" y="202"/>
                        <a:pt x="235" y="191"/>
                      </a:cubicBezTo>
                      <a:cubicBezTo>
                        <a:pt x="223" y="176"/>
                        <a:pt x="203" y="177"/>
                        <a:pt x="203" y="177"/>
                      </a:cubicBezTo>
                      <a:cubicBezTo>
                        <a:pt x="202" y="177"/>
                        <a:pt x="202" y="176"/>
                        <a:pt x="202" y="176"/>
                      </a:cubicBezTo>
                      <a:cubicBezTo>
                        <a:pt x="202" y="176"/>
                        <a:pt x="202" y="177"/>
                        <a:pt x="202" y="177"/>
                      </a:cubicBezTo>
                      <a:cubicBezTo>
                        <a:pt x="202" y="177"/>
                        <a:pt x="181" y="176"/>
                        <a:pt x="170" y="191"/>
                      </a:cubicBezTo>
                      <a:cubicBezTo>
                        <a:pt x="160" y="202"/>
                        <a:pt x="159" y="221"/>
                        <a:pt x="165" y="246"/>
                      </a:cubicBezTo>
                      <a:cubicBezTo>
                        <a:pt x="168" y="261"/>
                        <a:pt x="176" y="280"/>
                        <a:pt x="184" y="290"/>
                      </a:cubicBezTo>
                      <a:cubicBezTo>
                        <a:pt x="189" y="297"/>
                        <a:pt x="187" y="308"/>
                        <a:pt x="185" y="317"/>
                      </a:cubicBezTo>
                      <a:cubicBezTo>
                        <a:pt x="184" y="323"/>
                        <a:pt x="179" y="343"/>
                        <a:pt x="165" y="350"/>
                      </a:cubicBezTo>
                      <a:cubicBezTo>
                        <a:pt x="157" y="355"/>
                        <a:pt x="149" y="355"/>
                        <a:pt x="140" y="355"/>
                      </a:cubicBezTo>
                      <a:cubicBezTo>
                        <a:pt x="131" y="356"/>
                        <a:pt x="122" y="356"/>
                        <a:pt x="111" y="361"/>
                      </a:cubicBezTo>
                      <a:cubicBezTo>
                        <a:pt x="109" y="362"/>
                        <a:pt x="108" y="362"/>
                        <a:pt x="106" y="362"/>
                      </a:cubicBezTo>
                      <a:cubicBezTo>
                        <a:pt x="102" y="362"/>
                        <a:pt x="98" y="360"/>
                        <a:pt x="97" y="356"/>
                      </a:cubicBezTo>
                      <a:cubicBezTo>
                        <a:pt x="94" y="351"/>
                        <a:pt x="96" y="344"/>
                        <a:pt x="102" y="342"/>
                      </a:cubicBezTo>
                      <a:cubicBezTo>
                        <a:pt x="116" y="335"/>
                        <a:pt x="129" y="335"/>
                        <a:pt x="139" y="334"/>
                      </a:cubicBezTo>
                      <a:cubicBezTo>
                        <a:pt x="146" y="334"/>
                        <a:pt x="151" y="334"/>
                        <a:pt x="155" y="332"/>
                      </a:cubicBezTo>
                      <a:cubicBezTo>
                        <a:pt x="161" y="328"/>
                        <a:pt x="167" y="308"/>
                        <a:pt x="166" y="302"/>
                      </a:cubicBezTo>
                      <a:cubicBezTo>
                        <a:pt x="157" y="289"/>
                        <a:pt x="148" y="269"/>
                        <a:pt x="144" y="251"/>
                      </a:cubicBezTo>
                      <a:cubicBezTo>
                        <a:pt x="136" y="219"/>
                        <a:pt x="139" y="194"/>
                        <a:pt x="153" y="177"/>
                      </a:cubicBezTo>
                      <a:cubicBezTo>
                        <a:pt x="171" y="155"/>
                        <a:pt x="200" y="155"/>
                        <a:pt x="202" y="155"/>
                      </a:cubicBezTo>
                      <a:cubicBezTo>
                        <a:pt x="205" y="155"/>
                        <a:pt x="233" y="155"/>
                        <a:pt x="251" y="177"/>
                      </a:cubicBezTo>
                      <a:cubicBezTo>
                        <a:pt x="265" y="194"/>
                        <a:pt x="268" y="219"/>
                        <a:pt x="261" y="251"/>
                      </a:cubicBezTo>
                      <a:cubicBezTo>
                        <a:pt x="256" y="269"/>
                        <a:pt x="247" y="289"/>
                        <a:pt x="239" y="302"/>
                      </a:cubicBezTo>
                      <a:cubicBezTo>
                        <a:pt x="237" y="308"/>
                        <a:pt x="243" y="328"/>
                        <a:pt x="250" y="332"/>
                      </a:cubicBezTo>
                      <a:cubicBezTo>
                        <a:pt x="253" y="334"/>
                        <a:pt x="259" y="334"/>
                        <a:pt x="265" y="334"/>
                      </a:cubicBezTo>
                      <a:cubicBezTo>
                        <a:pt x="276" y="335"/>
                        <a:pt x="288" y="335"/>
                        <a:pt x="303" y="342"/>
                      </a:cubicBezTo>
                      <a:cubicBezTo>
                        <a:pt x="308" y="344"/>
                        <a:pt x="310" y="351"/>
                        <a:pt x="308" y="356"/>
                      </a:cubicBezTo>
                      <a:close/>
                      <a:moveTo>
                        <a:pt x="414" y="337"/>
                      </a:moveTo>
                      <a:cubicBezTo>
                        <a:pt x="412" y="340"/>
                        <a:pt x="408" y="342"/>
                        <a:pt x="405" y="342"/>
                      </a:cubicBezTo>
                      <a:cubicBezTo>
                        <a:pt x="403" y="342"/>
                        <a:pt x="401" y="341"/>
                        <a:pt x="399" y="340"/>
                      </a:cubicBezTo>
                      <a:cubicBezTo>
                        <a:pt x="395" y="337"/>
                        <a:pt x="387" y="336"/>
                        <a:pt x="380" y="335"/>
                      </a:cubicBezTo>
                      <a:cubicBezTo>
                        <a:pt x="372" y="334"/>
                        <a:pt x="364" y="333"/>
                        <a:pt x="357" y="329"/>
                      </a:cubicBezTo>
                      <a:cubicBezTo>
                        <a:pt x="357" y="329"/>
                        <a:pt x="356" y="328"/>
                        <a:pt x="356" y="328"/>
                      </a:cubicBezTo>
                      <a:cubicBezTo>
                        <a:pt x="341" y="317"/>
                        <a:pt x="337" y="293"/>
                        <a:pt x="345" y="282"/>
                      </a:cubicBezTo>
                      <a:cubicBezTo>
                        <a:pt x="351" y="274"/>
                        <a:pt x="357" y="260"/>
                        <a:pt x="360" y="248"/>
                      </a:cubicBezTo>
                      <a:cubicBezTo>
                        <a:pt x="364" y="230"/>
                        <a:pt x="363" y="217"/>
                        <a:pt x="356" y="208"/>
                      </a:cubicBezTo>
                      <a:cubicBezTo>
                        <a:pt x="347" y="197"/>
                        <a:pt x="332" y="197"/>
                        <a:pt x="330" y="197"/>
                      </a:cubicBezTo>
                      <a:cubicBezTo>
                        <a:pt x="329" y="197"/>
                        <a:pt x="313" y="197"/>
                        <a:pt x="305" y="208"/>
                      </a:cubicBezTo>
                      <a:cubicBezTo>
                        <a:pt x="298" y="217"/>
                        <a:pt x="297" y="230"/>
                        <a:pt x="301" y="248"/>
                      </a:cubicBezTo>
                      <a:cubicBezTo>
                        <a:pt x="304" y="260"/>
                        <a:pt x="310" y="274"/>
                        <a:pt x="315" y="282"/>
                      </a:cubicBezTo>
                      <a:cubicBezTo>
                        <a:pt x="323" y="293"/>
                        <a:pt x="319" y="317"/>
                        <a:pt x="305" y="328"/>
                      </a:cubicBezTo>
                      <a:cubicBezTo>
                        <a:pt x="303" y="330"/>
                        <a:pt x="300" y="330"/>
                        <a:pt x="298" y="330"/>
                      </a:cubicBezTo>
                      <a:cubicBezTo>
                        <a:pt x="295" y="330"/>
                        <a:pt x="292" y="329"/>
                        <a:pt x="290" y="326"/>
                      </a:cubicBezTo>
                      <a:cubicBezTo>
                        <a:pt x="286" y="321"/>
                        <a:pt x="287" y="315"/>
                        <a:pt x="292" y="311"/>
                      </a:cubicBezTo>
                      <a:cubicBezTo>
                        <a:pt x="298" y="307"/>
                        <a:pt x="299" y="296"/>
                        <a:pt x="298" y="293"/>
                      </a:cubicBezTo>
                      <a:cubicBezTo>
                        <a:pt x="291" y="284"/>
                        <a:pt x="284" y="268"/>
                        <a:pt x="280" y="253"/>
                      </a:cubicBezTo>
                      <a:cubicBezTo>
                        <a:pt x="274" y="228"/>
                        <a:pt x="277" y="209"/>
                        <a:pt x="288" y="195"/>
                      </a:cubicBezTo>
                      <a:cubicBezTo>
                        <a:pt x="304" y="175"/>
                        <a:pt x="328" y="176"/>
                        <a:pt x="330" y="176"/>
                      </a:cubicBezTo>
                      <a:cubicBezTo>
                        <a:pt x="332" y="176"/>
                        <a:pt x="357" y="175"/>
                        <a:pt x="373" y="195"/>
                      </a:cubicBezTo>
                      <a:cubicBezTo>
                        <a:pt x="384" y="209"/>
                        <a:pt x="386" y="228"/>
                        <a:pt x="380" y="253"/>
                      </a:cubicBezTo>
                      <a:cubicBezTo>
                        <a:pt x="377" y="268"/>
                        <a:pt x="370" y="284"/>
                        <a:pt x="363" y="293"/>
                      </a:cubicBezTo>
                      <a:cubicBezTo>
                        <a:pt x="362" y="296"/>
                        <a:pt x="363" y="306"/>
                        <a:pt x="369" y="311"/>
                      </a:cubicBezTo>
                      <a:cubicBezTo>
                        <a:pt x="372" y="312"/>
                        <a:pt x="378" y="313"/>
                        <a:pt x="383" y="314"/>
                      </a:cubicBezTo>
                      <a:cubicBezTo>
                        <a:pt x="392" y="315"/>
                        <a:pt x="402" y="317"/>
                        <a:pt x="410" y="322"/>
                      </a:cubicBezTo>
                      <a:cubicBezTo>
                        <a:pt x="415" y="325"/>
                        <a:pt x="417" y="332"/>
                        <a:pt x="414" y="33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sz="1000"/>
                </a:p>
              </p:txBody>
            </p:sp>
            <p:sp>
              <p:nvSpPr>
                <p:cNvPr id="223" name="Freeform 259">
                  <a:extLst>
                    <a:ext uri="{FF2B5EF4-FFF2-40B4-BE49-F238E27FC236}">
                      <a16:creationId xmlns:a16="http://schemas.microsoft.com/office/drawing/2014/main" id="{13C84888-635C-FC93-6BC1-A7D4A03B20EF}"/>
                    </a:ext>
                  </a:extLst>
                </p:cNvPr>
                <p:cNvSpPr>
                  <a:spLocks noChangeAspect="1" noEditPoints="1"/>
                </p:cNvSpPr>
                <p:nvPr/>
              </p:nvSpPr>
              <p:spPr bwMode="auto">
                <a:xfrm>
                  <a:off x="3187247" y="1536129"/>
                  <a:ext cx="367631" cy="368712"/>
                </a:xfrm>
                <a:custGeom>
                  <a:avLst/>
                  <a:gdLst>
                    <a:gd name="T0" fmla="*/ 174 w 512"/>
                    <a:gd name="T1" fmla="*/ 245 h 512"/>
                    <a:gd name="T2" fmla="*/ 373 w 512"/>
                    <a:gd name="T3" fmla="*/ 245 h 512"/>
                    <a:gd name="T4" fmla="*/ 373 w 512"/>
                    <a:gd name="T5" fmla="*/ 288 h 512"/>
                    <a:gd name="T6" fmla="*/ 174 w 512"/>
                    <a:gd name="T7" fmla="*/ 288 h 512"/>
                    <a:gd name="T8" fmla="*/ 145 w 512"/>
                    <a:gd name="T9" fmla="*/ 266 h 512"/>
                    <a:gd name="T10" fmla="*/ 174 w 512"/>
                    <a:gd name="T11" fmla="*/ 245 h 512"/>
                    <a:gd name="T12" fmla="*/ 366 w 512"/>
                    <a:gd name="T13" fmla="*/ 160 h 512"/>
                    <a:gd name="T14" fmla="*/ 337 w 512"/>
                    <a:gd name="T15" fmla="*/ 138 h 512"/>
                    <a:gd name="T16" fmla="*/ 138 w 512"/>
                    <a:gd name="T17" fmla="*/ 138 h 512"/>
                    <a:gd name="T18" fmla="*/ 138 w 512"/>
                    <a:gd name="T19" fmla="*/ 181 h 512"/>
                    <a:gd name="T20" fmla="*/ 337 w 512"/>
                    <a:gd name="T21" fmla="*/ 181 h 512"/>
                    <a:gd name="T22" fmla="*/ 366 w 512"/>
                    <a:gd name="T23" fmla="*/ 160 h 512"/>
                    <a:gd name="T24" fmla="*/ 512 w 512"/>
                    <a:gd name="T25" fmla="*/ 256 h 512"/>
                    <a:gd name="T26" fmla="*/ 256 w 512"/>
                    <a:gd name="T27" fmla="*/ 512 h 512"/>
                    <a:gd name="T28" fmla="*/ 0 w 512"/>
                    <a:gd name="T29" fmla="*/ 256 h 512"/>
                    <a:gd name="T30" fmla="*/ 256 w 512"/>
                    <a:gd name="T31" fmla="*/ 0 h 512"/>
                    <a:gd name="T32" fmla="*/ 512 w 512"/>
                    <a:gd name="T33" fmla="*/ 256 h 512"/>
                    <a:gd name="T34" fmla="*/ 266 w 512"/>
                    <a:gd name="T35" fmla="*/ 224 h 512"/>
                    <a:gd name="T36" fmla="*/ 266 w 512"/>
                    <a:gd name="T37" fmla="*/ 202 h 512"/>
                    <a:gd name="T38" fmla="*/ 341 w 512"/>
                    <a:gd name="T39" fmla="*/ 202 h 512"/>
                    <a:gd name="T40" fmla="*/ 347 w 512"/>
                    <a:gd name="T41" fmla="*/ 200 h 512"/>
                    <a:gd name="T42" fmla="*/ 390 w 512"/>
                    <a:gd name="T43" fmla="*/ 168 h 512"/>
                    <a:gd name="T44" fmla="*/ 394 w 512"/>
                    <a:gd name="T45" fmla="*/ 160 h 512"/>
                    <a:gd name="T46" fmla="*/ 390 w 512"/>
                    <a:gd name="T47" fmla="*/ 151 h 512"/>
                    <a:gd name="T48" fmla="*/ 347 w 512"/>
                    <a:gd name="T49" fmla="*/ 119 h 512"/>
                    <a:gd name="T50" fmla="*/ 341 w 512"/>
                    <a:gd name="T51" fmla="*/ 117 h 512"/>
                    <a:gd name="T52" fmla="*/ 266 w 512"/>
                    <a:gd name="T53" fmla="*/ 117 h 512"/>
                    <a:gd name="T54" fmla="*/ 266 w 512"/>
                    <a:gd name="T55" fmla="*/ 106 h 512"/>
                    <a:gd name="T56" fmla="*/ 256 w 512"/>
                    <a:gd name="T57" fmla="*/ 96 h 512"/>
                    <a:gd name="T58" fmla="*/ 245 w 512"/>
                    <a:gd name="T59" fmla="*/ 106 h 512"/>
                    <a:gd name="T60" fmla="*/ 245 w 512"/>
                    <a:gd name="T61" fmla="*/ 117 h 512"/>
                    <a:gd name="T62" fmla="*/ 128 w 512"/>
                    <a:gd name="T63" fmla="*/ 117 h 512"/>
                    <a:gd name="T64" fmla="*/ 117 w 512"/>
                    <a:gd name="T65" fmla="*/ 128 h 512"/>
                    <a:gd name="T66" fmla="*/ 117 w 512"/>
                    <a:gd name="T67" fmla="*/ 192 h 512"/>
                    <a:gd name="T68" fmla="*/ 128 w 512"/>
                    <a:gd name="T69" fmla="*/ 202 h 512"/>
                    <a:gd name="T70" fmla="*/ 245 w 512"/>
                    <a:gd name="T71" fmla="*/ 202 h 512"/>
                    <a:gd name="T72" fmla="*/ 245 w 512"/>
                    <a:gd name="T73" fmla="*/ 224 h 512"/>
                    <a:gd name="T74" fmla="*/ 170 w 512"/>
                    <a:gd name="T75" fmla="*/ 224 h 512"/>
                    <a:gd name="T76" fmla="*/ 164 w 512"/>
                    <a:gd name="T77" fmla="*/ 226 h 512"/>
                    <a:gd name="T78" fmla="*/ 121 w 512"/>
                    <a:gd name="T79" fmla="*/ 258 h 512"/>
                    <a:gd name="T80" fmla="*/ 117 w 512"/>
                    <a:gd name="T81" fmla="*/ 266 h 512"/>
                    <a:gd name="T82" fmla="*/ 121 w 512"/>
                    <a:gd name="T83" fmla="*/ 275 h 512"/>
                    <a:gd name="T84" fmla="*/ 164 w 512"/>
                    <a:gd name="T85" fmla="*/ 307 h 512"/>
                    <a:gd name="T86" fmla="*/ 170 w 512"/>
                    <a:gd name="T87" fmla="*/ 309 h 512"/>
                    <a:gd name="T88" fmla="*/ 245 w 512"/>
                    <a:gd name="T89" fmla="*/ 309 h 512"/>
                    <a:gd name="T90" fmla="*/ 245 w 512"/>
                    <a:gd name="T91" fmla="*/ 405 h 512"/>
                    <a:gd name="T92" fmla="*/ 256 w 512"/>
                    <a:gd name="T93" fmla="*/ 416 h 512"/>
                    <a:gd name="T94" fmla="*/ 266 w 512"/>
                    <a:gd name="T95" fmla="*/ 405 h 512"/>
                    <a:gd name="T96" fmla="*/ 266 w 512"/>
                    <a:gd name="T97" fmla="*/ 309 h 512"/>
                    <a:gd name="T98" fmla="*/ 384 w 512"/>
                    <a:gd name="T99" fmla="*/ 309 h 512"/>
                    <a:gd name="T100" fmla="*/ 394 w 512"/>
                    <a:gd name="T101" fmla="*/ 298 h 512"/>
                    <a:gd name="T102" fmla="*/ 394 w 512"/>
                    <a:gd name="T103" fmla="*/ 234 h 512"/>
                    <a:gd name="T104" fmla="*/ 384 w 512"/>
                    <a:gd name="T105" fmla="*/ 224 h 512"/>
                    <a:gd name="T106" fmla="*/ 266 w 512"/>
                    <a:gd name="T107" fmla="*/ 22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174" y="245"/>
                      </a:moveTo>
                      <a:cubicBezTo>
                        <a:pt x="373" y="245"/>
                        <a:pt x="373" y="245"/>
                        <a:pt x="373" y="245"/>
                      </a:cubicBezTo>
                      <a:cubicBezTo>
                        <a:pt x="373" y="288"/>
                        <a:pt x="373" y="288"/>
                        <a:pt x="373" y="288"/>
                      </a:cubicBezTo>
                      <a:cubicBezTo>
                        <a:pt x="174" y="288"/>
                        <a:pt x="174" y="288"/>
                        <a:pt x="174" y="288"/>
                      </a:cubicBezTo>
                      <a:cubicBezTo>
                        <a:pt x="145" y="266"/>
                        <a:pt x="145" y="266"/>
                        <a:pt x="145" y="266"/>
                      </a:cubicBezTo>
                      <a:lnTo>
                        <a:pt x="174" y="245"/>
                      </a:lnTo>
                      <a:close/>
                      <a:moveTo>
                        <a:pt x="366" y="160"/>
                      </a:moveTo>
                      <a:cubicBezTo>
                        <a:pt x="337" y="138"/>
                        <a:pt x="337" y="138"/>
                        <a:pt x="337" y="138"/>
                      </a:cubicBezTo>
                      <a:cubicBezTo>
                        <a:pt x="138" y="138"/>
                        <a:pt x="138" y="138"/>
                        <a:pt x="138" y="138"/>
                      </a:cubicBezTo>
                      <a:cubicBezTo>
                        <a:pt x="138" y="181"/>
                        <a:pt x="138" y="181"/>
                        <a:pt x="138" y="181"/>
                      </a:cubicBezTo>
                      <a:cubicBezTo>
                        <a:pt x="337" y="181"/>
                        <a:pt x="337" y="181"/>
                        <a:pt x="337" y="181"/>
                      </a:cubicBezTo>
                      <a:lnTo>
                        <a:pt x="366" y="160"/>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266" y="224"/>
                      </a:moveTo>
                      <a:cubicBezTo>
                        <a:pt x="266" y="202"/>
                        <a:pt x="266" y="202"/>
                        <a:pt x="266" y="202"/>
                      </a:cubicBezTo>
                      <a:cubicBezTo>
                        <a:pt x="341" y="202"/>
                        <a:pt x="341" y="202"/>
                        <a:pt x="341" y="202"/>
                      </a:cubicBezTo>
                      <a:cubicBezTo>
                        <a:pt x="343" y="202"/>
                        <a:pt x="346" y="202"/>
                        <a:pt x="347" y="200"/>
                      </a:cubicBezTo>
                      <a:cubicBezTo>
                        <a:pt x="390" y="168"/>
                        <a:pt x="390" y="168"/>
                        <a:pt x="390" y="168"/>
                      </a:cubicBezTo>
                      <a:cubicBezTo>
                        <a:pt x="393" y="166"/>
                        <a:pt x="394" y="163"/>
                        <a:pt x="394" y="160"/>
                      </a:cubicBezTo>
                      <a:cubicBezTo>
                        <a:pt x="394" y="156"/>
                        <a:pt x="393" y="153"/>
                        <a:pt x="390" y="151"/>
                      </a:cubicBezTo>
                      <a:cubicBezTo>
                        <a:pt x="347" y="119"/>
                        <a:pt x="347" y="119"/>
                        <a:pt x="347" y="119"/>
                      </a:cubicBezTo>
                      <a:cubicBezTo>
                        <a:pt x="346" y="118"/>
                        <a:pt x="343" y="117"/>
                        <a:pt x="341" y="117"/>
                      </a:cubicBezTo>
                      <a:cubicBezTo>
                        <a:pt x="266" y="117"/>
                        <a:pt x="266" y="117"/>
                        <a:pt x="266" y="117"/>
                      </a:cubicBezTo>
                      <a:cubicBezTo>
                        <a:pt x="266" y="106"/>
                        <a:pt x="266" y="106"/>
                        <a:pt x="266" y="106"/>
                      </a:cubicBezTo>
                      <a:cubicBezTo>
                        <a:pt x="266" y="100"/>
                        <a:pt x="262" y="96"/>
                        <a:pt x="256" y="96"/>
                      </a:cubicBezTo>
                      <a:cubicBezTo>
                        <a:pt x="250" y="96"/>
                        <a:pt x="245" y="100"/>
                        <a:pt x="245" y="106"/>
                      </a:cubicBezTo>
                      <a:cubicBezTo>
                        <a:pt x="245" y="117"/>
                        <a:pt x="245" y="117"/>
                        <a:pt x="245" y="117"/>
                      </a:cubicBezTo>
                      <a:cubicBezTo>
                        <a:pt x="128" y="117"/>
                        <a:pt x="128" y="117"/>
                        <a:pt x="128" y="117"/>
                      </a:cubicBezTo>
                      <a:cubicBezTo>
                        <a:pt x="122" y="117"/>
                        <a:pt x="117" y="122"/>
                        <a:pt x="117" y="128"/>
                      </a:cubicBezTo>
                      <a:cubicBezTo>
                        <a:pt x="117" y="192"/>
                        <a:pt x="117" y="192"/>
                        <a:pt x="117" y="192"/>
                      </a:cubicBezTo>
                      <a:cubicBezTo>
                        <a:pt x="117" y="198"/>
                        <a:pt x="122" y="202"/>
                        <a:pt x="128" y="202"/>
                      </a:cubicBezTo>
                      <a:cubicBezTo>
                        <a:pt x="245" y="202"/>
                        <a:pt x="245" y="202"/>
                        <a:pt x="245" y="202"/>
                      </a:cubicBezTo>
                      <a:cubicBezTo>
                        <a:pt x="245" y="224"/>
                        <a:pt x="245" y="224"/>
                        <a:pt x="245" y="224"/>
                      </a:cubicBezTo>
                      <a:cubicBezTo>
                        <a:pt x="170" y="224"/>
                        <a:pt x="170" y="224"/>
                        <a:pt x="170" y="224"/>
                      </a:cubicBezTo>
                      <a:cubicBezTo>
                        <a:pt x="168" y="224"/>
                        <a:pt x="166" y="224"/>
                        <a:pt x="164" y="226"/>
                      </a:cubicBezTo>
                      <a:cubicBezTo>
                        <a:pt x="121" y="258"/>
                        <a:pt x="121" y="258"/>
                        <a:pt x="121" y="258"/>
                      </a:cubicBezTo>
                      <a:cubicBezTo>
                        <a:pt x="119" y="260"/>
                        <a:pt x="117" y="263"/>
                        <a:pt x="117" y="266"/>
                      </a:cubicBezTo>
                      <a:cubicBezTo>
                        <a:pt x="117" y="270"/>
                        <a:pt x="119" y="273"/>
                        <a:pt x="121" y="275"/>
                      </a:cubicBezTo>
                      <a:cubicBezTo>
                        <a:pt x="164" y="307"/>
                        <a:pt x="164" y="307"/>
                        <a:pt x="164" y="307"/>
                      </a:cubicBezTo>
                      <a:cubicBezTo>
                        <a:pt x="166" y="308"/>
                        <a:pt x="168" y="309"/>
                        <a:pt x="170" y="309"/>
                      </a:cubicBezTo>
                      <a:cubicBezTo>
                        <a:pt x="245" y="309"/>
                        <a:pt x="245" y="309"/>
                        <a:pt x="245" y="309"/>
                      </a:cubicBezTo>
                      <a:cubicBezTo>
                        <a:pt x="245" y="405"/>
                        <a:pt x="245" y="405"/>
                        <a:pt x="245" y="405"/>
                      </a:cubicBezTo>
                      <a:cubicBezTo>
                        <a:pt x="245" y="411"/>
                        <a:pt x="250" y="416"/>
                        <a:pt x="256" y="416"/>
                      </a:cubicBezTo>
                      <a:cubicBezTo>
                        <a:pt x="262" y="416"/>
                        <a:pt x="266" y="411"/>
                        <a:pt x="266" y="405"/>
                      </a:cubicBezTo>
                      <a:cubicBezTo>
                        <a:pt x="266" y="309"/>
                        <a:pt x="266" y="309"/>
                        <a:pt x="266" y="309"/>
                      </a:cubicBezTo>
                      <a:cubicBezTo>
                        <a:pt x="384" y="309"/>
                        <a:pt x="384" y="309"/>
                        <a:pt x="384" y="309"/>
                      </a:cubicBezTo>
                      <a:cubicBezTo>
                        <a:pt x="390" y="309"/>
                        <a:pt x="394" y="304"/>
                        <a:pt x="394" y="298"/>
                      </a:cubicBezTo>
                      <a:cubicBezTo>
                        <a:pt x="394" y="234"/>
                        <a:pt x="394" y="234"/>
                        <a:pt x="394" y="234"/>
                      </a:cubicBezTo>
                      <a:cubicBezTo>
                        <a:pt x="394" y="228"/>
                        <a:pt x="390" y="224"/>
                        <a:pt x="384" y="224"/>
                      </a:cubicBezTo>
                      <a:lnTo>
                        <a:pt x="266" y="224"/>
                      </a:lnTo>
                      <a:close/>
                    </a:path>
                  </a:pathLst>
                </a:custGeom>
                <a:solidFill>
                  <a:srgbClr val="046A38"/>
                </a:solidFill>
                <a:ln>
                  <a:noFill/>
                </a:ln>
              </p:spPr>
              <p:txBody>
                <a:bodyPr vert="horz" wrap="square" lIns="91440" tIns="45720" rIns="91440" bIns="45720" numCol="1" anchor="t" anchorCtr="0" compatLnSpc="1">
                  <a:prstTxWarp prst="textNoShape">
                    <a:avLst/>
                  </a:prstTxWarp>
                </a:bodyPr>
                <a:lstStyle/>
                <a:p>
                  <a:endParaRPr lang="en-GB" sz="1000"/>
                </a:p>
              </p:txBody>
            </p:sp>
            <p:sp>
              <p:nvSpPr>
                <p:cNvPr id="224" name="Freeform 26">
                  <a:extLst>
                    <a:ext uri="{FF2B5EF4-FFF2-40B4-BE49-F238E27FC236}">
                      <a16:creationId xmlns:a16="http://schemas.microsoft.com/office/drawing/2014/main" id="{47F88958-0652-6D83-12B8-0D16CBE9DB16}"/>
                    </a:ext>
                  </a:extLst>
                </p:cNvPr>
                <p:cNvSpPr>
                  <a:spLocks noChangeAspect="1" noEditPoints="1"/>
                </p:cNvSpPr>
                <p:nvPr/>
              </p:nvSpPr>
              <p:spPr bwMode="auto">
                <a:xfrm>
                  <a:off x="8410149" y="1464122"/>
                  <a:ext cx="367631" cy="367631"/>
                </a:xfrm>
                <a:custGeom>
                  <a:avLst/>
                  <a:gdLst>
                    <a:gd name="T0" fmla="*/ 358 w 512"/>
                    <a:gd name="T1" fmla="*/ 227 h 512"/>
                    <a:gd name="T2" fmla="*/ 367 w 512"/>
                    <a:gd name="T3" fmla="*/ 174 h 512"/>
                    <a:gd name="T4" fmla="*/ 366 w 512"/>
                    <a:gd name="T5" fmla="*/ 172 h 512"/>
                    <a:gd name="T6" fmla="*/ 338 w 512"/>
                    <a:gd name="T7" fmla="*/ 145 h 512"/>
                    <a:gd name="T8" fmla="*/ 308 w 512"/>
                    <a:gd name="T9" fmla="*/ 163 h 512"/>
                    <a:gd name="T10" fmla="*/ 277 w 512"/>
                    <a:gd name="T11" fmla="*/ 119 h 512"/>
                    <a:gd name="T12" fmla="*/ 234 w 512"/>
                    <a:gd name="T13" fmla="*/ 119 h 512"/>
                    <a:gd name="T14" fmla="*/ 204 w 512"/>
                    <a:gd name="T15" fmla="*/ 163 h 512"/>
                    <a:gd name="T16" fmla="*/ 173 w 512"/>
                    <a:gd name="T17" fmla="*/ 145 h 512"/>
                    <a:gd name="T18" fmla="*/ 161 w 512"/>
                    <a:gd name="T19" fmla="*/ 191 h 512"/>
                    <a:gd name="T20" fmla="*/ 143 w 512"/>
                    <a:gd name="T21" fmla="*/ 234 h 512"/>
                    <a:gd name="T22" fmla="*/ 117 w 512"/>
                    <a:gd name="T23" fmla="*/ 256 h 512"/>
                    <a:gd name="T24" fmla="*/ 143 w 512"/>
                    <a:gd name="T25" fmla="*/ 277 h 512"/>
                    <a:gd name="T26" fmla="*/ 161 w 512"/>
                    <a:gd name="T27" fmla="*/ 320 h 512"/>
                    <a:gd name="T28" fmla="*/ 145 w 512"/>
                    <a:gd name="T29" fmla="*/ 339 h 512"/>
                    <a:gd name="T30" fmla="*/ 172 w 512"/>
                    <a:gd name="T31" fmla="*/ 366 h 512"/>
                    <a:gd name="T32" fmla="*/ 191 w 512"/>
                    <a:gd name="T33" fmla="*/ 351 h 512"/>
                    <a:gd name="T34" fmla="*/ 234 w 512"/>
                    <a:gd name="T35" fmla="*/ 368 h 512"/>
                    <a:gd name="T36" fmla="*/ 245 w 512"/>
                    <a:gd name="T37" fmla="*/ 394 h 512"/>
                    <a:gd name="T38" fmla="*/ 267 w 512"/>
                    <a:gd name="T39" fmla="*/ 394 h 512"/>
                    <a:gd name="T40" fmla="*/ 285 w 512"/>
                    <a:gd name="T41" fmla="*/ 358 h 512"/>
                    <a:gd name="T42" fmla="*/ 337 w 512"/>
                    <a:gd name="T43" fmla="*/ 368 h 512"/>
                    <a:gd name="T44" fmla="*/ 368 w 512"/>
                    <a:gd name="T45" fmla="*/ 337 h 512"/>
                    <a:gd name="T46" fmla="*/ 358 w 512"/>
                    <a:gd name="T47" fmla="*/ 285 h 512"/>
                    <a:gd name="T48" fmla="*/ 394 w 512"/>
                    <a:gd name="T49" fmla="*/ 267 h 512"/>
                    <a:gd name="T50" fmla="*/ 393 w 512"/>
                    <a:gd name="T51" fmla="*/ 234 h 512"/>
                    <a:gd name="T52" fmla="*/ 256 w 512"/>
                    <a:gd name="T53" fmla="*/ 192 h 512"/>
                    <a:gd name="T54" fmla="*/ 298 w 512"/>
                    <a:gd name="T55" fmla="*/ 256 h 512"/>
                    <a:gd name="T56" fmla="*/ 256 w 512"/>
                    <a:gd name="T57" fmla="*/ 213 h 512"/>
                    <a:gd name="T58" fmla="*/ 0 w 512"/>
                    <a:gd name="T59" fmla="*/ 256 h 512"/>
                    <a:gd name="T60" fmla="*/ 256 w 512"/>
                    <a:gd name="T61" fmla="*/ 0 h 512"/>
                    <a:gd name="T62" fmla="*/ 401 w 512"/>
                    <a:gd name="T63" fmla="*/ 298 h 512"/>
                    <a:gd name="T64" fmla="*/ 389 w 512"/>
                    <a:gd name="T65" fmla="*/ 329 h 512"/>
                    <a:gd name="T66" fmla="*/ 351 w 512"/>
                    <a:gd name="T67" fmla="*/ 384 h 512"/>
                    <a:gd name="T68" fmla="*/ 311 w 512"/>
                    <a:gd name="T69" fmla="*/ 371 h 512"/>
                    <a:gd name="T70" fmla="*/ 290 w 512"/>
                    <a:gd name="T71" fmla="*/ 412 h 512"/>
                    <a:gd name="T72" fmla="*/ 268 w 512"/>
                    <a:gd name="T73" fmla="*/ 416 h 512"/>
                    <a:gd name="T74" fmla="*/ 256 w 512"/>
                    <a:gd name="T75" fmla="*/ 416 h 512"/>
                    <a:gd name="T76" fmla="*/ 249 w 512"/>
                    <a:gd name="T77" fmla="*/ 416 h 512"/>
                    <a:gd name="T78" fmla="*/ 243 w 512"/>
                    <a:gd name="T79" fmla="*/ 416 h 512"/>
                    <a:gd name="T80" fmla="*/ 213 w 512"/>
                    <a:gd name="T81" fmla="*/ 401 h 512"/>
                    <a:gd name="T82" fmla="*/ 183 w 512"/>
                    <a:gd name="T83" fmla="*/ 389 h 512"/>
                    <a:gd name="T84" fmla="*/ 160 w 512"/>
                    <a:gd name="T85" fmla="*/ 384 h 512"/>
                    <a:gd name="T86" fmla="*/ 128 w 512"/>
                    <a:gd name="T87" fmla="*/ 351 h 512"/>
                    <a:gd name="T88" fmla="*/ 121 w 512"/>
                    <a:gd name="T89" fmla="*/ 342 h 512"/>
                    <a:gd name="T90" fmla="*/ 135 w 512"/>
                    <a:gd name="T91" fmla="*/ 298 h 512"/>
                    <a:gd name="T92" fmla="*/ 96 w 512"/>
                    <a:gd name="T93" fmla="*/ 268 h 512"/>
                    <a:gd name="T94" fmla="*/ 96 w 512"/>
                    <a:gd name="T95" fmla="*/ 256 h 512"/>
                    <a:gd name="T96" fmla="*/ 96 w 512"/>
                    <a:gd name="T97" fmla="*/ 243 h 512"/>
                    <a:gd name="T98" fmla="*/ 96 w 512"/>
                    <a:gd name="T99" fmla="*/ 243 h 512"/>
                    <a:gd name="T100" fmla="*/ 135 w 512"/>
                    <a:gd name="T101" fmla="*/ 213 h 512"/>
                    <a:gd name="T102" fmla="*/ 121 w 512"/>
                    <a:gd name="T103" fmla="*/ 169 h 512"/>
                    <a:gd name="T104" fmla="*/ 169 w 512"/>
                    <a:gd name="T105" fmla="*/ 121 h 512"/>
                    <a:gd name="T106" fmla="*/ 213 w 512"/>
                    <a:gd name="T107" fmla="*/ 135 h 512"/>
                    <a:gd name="T108" fmla="*/ 243 w 512"/>
                    <a:gd name="T109" fmla="*/ 96 h 512"/>
                    <a:gd name="T110" fmla="*/ 298 w 512"/>
                    <a:gd name="T111" fmla="*/ 110 h 512"/>
                    <a:gd name="T112" fmla="*/ 329 w 512"/>
                    <a:gd name="T113" fmla="*/ 122 h 512"/>
                    <a:gd name="T114" fmla="*/ 351 w 512"/>
                    <a:gd name="T115" fmla="*/ 128 h 512"/>
                    <a:gd name="T116" fmla="*/ 384 w 512"/>
                    <a:gd name="T117" fmla="*/ 160 h 512"/>
                    <a:gd name="T118" fmla="*/ 390 w 512"/>
                    <a:gd name="T119" fmla="*/ 169 h 512"/>
                    <a:gd name="T120" fmla="*/ 376 w 512"/>
                    <a:gd name="T121" fmla="*/ 213 h 512"/>
                    <a:gd name="T122" fmla="*/ 416 w 512"/>
                    <a:gd name="T123" fmla="*/ 243 h 512"/>
                    <a:gd name="T124" fmla="*/ 415 w 512"/>
                    <a:gd name="T125" fmla="*/ 26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12" h="512">
                      <a:moveTo>
                        <a:pt x="393" y="234"/>
                      </a:moveTo>
                      <a:cubicBezTo>
                        <a:pt x="368" y="234"/>
                        <a:pt x="368" y="234"/>
                        <a:pt x="368" y="234"/>
                      </a:cubicBezTo>
                      <a:cubicBezTo>
                        <a:pt x="364" y="234"/>
                        <a:pt x="359" y="231"/>
                        <a:pt x="358" y="227"/>
                      </a:cubicBezTo>
                      <a:cubicBezTo>
                        <a:pt x="356" y="219"/>
                        <a:pt x="353" y="211"/>
                        <a:pt x="349" y="204"/>
                      </a:cubicBezTo>
                      <a:cubicBezTo>
                        <a:pt x="346" y="200"/>
                        <a:pt x="347" y="194"/>
                        <a:pt x="351" y="191"/>
                      </a:cubicBezTo>
                      <a:cubicBezTo>
                        <a:pt x="367" y="174"/>
                        <a:pt x="367" y="174"/>
                        <a:pt x="367" y="174"/>
                      </a:cubicBezTo>
                      <a:cubicBezTo>
                        <a:pt x="366" y="173"/>
                        <a:pt x="366" y="173"/>
                        <a:pt x="366" y="173"/>
                      </a:cubicBezTo>
                      <a:cubicBezTo>
                        <a:pt x="366" y="173"/>
                        <a:pt x="366" y="172"/>
                        <a:pt x="366" y="172"/>
                      </a:cubicBezTo>
                      <a:cubicBezTo>
                        <a:pt x="366" y="172"/>
                        <a:pt x="366" y="172"/>
                        <a:pt x="366" y="172"/>
                      </a:cubicBezTo>
                      <a:cubicBezTo>
                        <a:pt x="358" y="162"/>
                        <a:pt x="349" y="153"/>
                        <a:pt x="340" y="146"/>
                      </a:cubicBezTo>
                      <a:cubicBezTo>
                        <a:pt x="340" y="146"/>
                        <a:pt x="340" y="146"/>
                        <a:pt x="339" y="145"/>
                      </a:cubicBezTo>
                      <a:cubicBezTo>
                        <a:pt x="339" y="145"/>
                        <a:pt x="339" y="145"/>
                        <a:pt x="338" y="145"/>
                      </a:cubicBezTo>
                      <a:cubicBezTo>
                        <a:pt x="337" y="144"/>
                        <a:pt x="337" y="144"/>
                        <a:pt x="337" y="144"/>
                      </a:cubicBezTo>
                      <a:cubicBezTo>
                        <a:pt x="320" y="161"/>
                        <a:pt x="320" y="161"/>
                        <a:pt x="320" y="161"/>
                      </a:cubicBezTo>
                      <a:cubicBezTo>
                        <a:pt x="317" y="164"/>
                        <a:pt x="312" y="165"/>
                        <a:pt x="308" y="163"/>
                      </a:cubicBezTo>
                      <a:cubicBezTo>
                        <a:pt x="300" y="159"/>
                        <a:pt x="293" y="155"/>
                        <a:pt x="285" y="153"/>
                      </a:cubicBezTo>
                      <a:cubicBezTo>
                        <a:pt x="280" y="152"/>
                        <a:pt x="277" y="148"/>
                        <a:pt x="277" y="143"/>
                      </a:cubicBezTo>
                      <a:cubicBezTo>
                        <a:pt x="277" y="119"/>
                        <a:pt x="277" y="119"/>
                        <a:pt x="277" y="119"/>
                      </a:cubicBezTo>
                      <a:cubicBezTo>
                        <a:pt x="274" y="118"/>
                        <a:pt x="270" y="118"/>
                        <a:pt x="267" y="118"/>
                      </a:cubicBezTo>
                      <a:cubicBezTo>
                        <a:pt x="259" y="117"/>
                        <a:pt x="252" y="117"/>
                        <a:pt x="245" y="118"/>
                      </a:cubicBezTo>
                      <a:cubicBezTo>
                        <a:pt x="241" y="118"/>
                        <a:pt x="238" y="118"/>
                        <a:pt x="234" y="119"/>
                      </a:cubicBezTo>
                      <a:cubicBezTo>
                        <a:pt x="234" y="143"/>
                        <a:pt x="234" y="143"/>
                        <a:pt x="234" y="143"/>
                      </a:cubicBezTo>
                      <a:cubicBezTo>
                        <a:pt x="234" y="148"/>
                        <a:pt x="231" y="152"/>
                        <a:pt x="227" y="153"/>
                      </a:cubicBezTo>
                      <a:cubicBezTo>
                        <a:pt x="219" y="155"/>
                        <a:pt x="211" y="159"/>
                        <a:pt x="204" y="163"/>
                      </a:cubicBezTo>
                      <a:cubicBezTo>
                        <a:pt x="200" y="165"/>
                        <a:pt x="194" y="164"/>
                        <a:pt x="191" y="161"/>
                      </a:cubicBezTo>
                      <a:cubicBezTo>
                        <a:pt x="174" y="144"/>
                        <a:pt x="174" y="144"/>
                        <a:pt x="174" y="144"/>
                      </a:cubicBezTo>
                      <a:cubicBezTo>
                        <a:pt x="174" y="144"/>
                        <a:pt x="173" y="144"/>
                        <a:pt x="173" y="145"/>
                      </a:cubicBezTo>
                      <a:cubicBezTo>
                        <a:pt x="162" y="153"/>
                        <a:pt x="153" y="162"/>
                        <a:pt x="145" y="173"/>
                      </a:cubicBezTo>
                      <a:cubicBezTo>
                        <a:pt x="144" y="173"/>
                        <a:pt x="144" y="174"/>
                        <a:pt x="144" y="174"/>
                      </a:cubicBezTo>
                      <a:cubicBezTo>
                        <a:pt x="161" y="191"/>
                        <a:pt x="161" y="191"/>
                        <a:pt x="161" y="191"/>
                      </a:cubicBezTo>
                      <a:cubicBezTo>
                        <a:pt x="164" y="194"/>
                        <a:pt x="165" y="200"/>
                        <a:pt x="163" y="204"/>
                      </a:cubicBezTo>
                      <a:cubicBezTo>
                        <a:pt x="159" y="211"/>
                        <a:pt x="155" y="219"/>
                        <a:pt x="153" y="227"/>
                      </a:cubicBezTo>
                      <a:cubicBezTo>
                        <a:pt x="152" y="231"/>
                        <a:pt x="148" y="234"/>
                        <a:pt x="143" y="234"/>
                      </a:cubicBezTo>
                      <a:cubicBezTo>
                        <a:pt x="119" y="234"/>
                        <a:pt x="119" y="234"/>
                        <a:pt x="119" y="234"/>
                      </a:cubicBezTo>
                      <a:cubicBezTo>
                        <a:pt x="118" y="238"/>
                        <a:pt x="118" y="241"/>
                        <a:pt x="118" y="245"/>
                      </a:cubicBezTo>
                      <a:cubicBezTo>
                        <a:pt x="117" y="248"/>
                        <a:pt x="117" y="252"/>
                        <a:pt x="117" y="256"/>
                      </a:cubicBezTo>
                      <a:cubicBezTo>
                        <a:pt x="117" y="259"/>
                        <a:pt x="117" y="263"/>
                        <a:pt x="118" y="267"/>
                      </a:cubicBezTo>
                      <a:cubicBezTo>
                        <a:pt x="118" y="270"/>
                        <a:pt x="118" y="274"/>
                        <a:pt x="119" y="277"/>
                      </a:cubicBezTo>
                      <a:cubicBezTo>
                        <a:pt x="143" y="277"/>
                        <a:pt x="143" y="277"/>
                        <a:pt x="143" y="277"/>
                      </a:cubicBezTo>
                      <a:cubicBezTo>
                        <a:pt x="148" y="277"/>
                        <a:pt x="152" y="280"/>
                        <a:pt x="153" y="285"/>
                      </a:cubicBezTo>
                      <a:cubicBezTo>
                        <a:pt x="155" y="293"/>
                        <a:pt x="159" y="300"/>
                        <a:pt x="163" y="308"/>
                      </a:cubicBezTo>
                      <a:cubicBezTo>
                        <a:pt x="165" y="312"/>
                        <a:pt x="164" y="317"/>
                        <a:pt x="161" y="320"/>
                      </a:cubicBezTo>
                      <a:cubicBezTo>
                        <a:pt x="144" y="337"/>
                        <a:pt x="144" y="337"/>
                        <a:pt x="144" y="337"/>
                      </a:cubicBezTo>
                      <a:cubicBezTo>
                        <a:pt x="145" y="338"/>
                        <a:pt x="145" y="338"/>
                        <a:pt x="145" y="338"/>
                      </a:cubicBezTo>
                      <a:cubicBezTo>
                        <a:pt x="145" y="339"/>
                        <a:pt x="145" y="339"/>
                        <a:pt x="145" y="339"/>
                      </a:cubicBezTo>
                      <a:cubicBezTo>
                        <a:pt x="145" y="339"/>
                        <a:pt x="146" y="340"/>
                        <a:pt x="146" y="340"/>
                      </a:cubicBezTo>
                      <a:cubicBezTo>
                        <a:pt x="153" y="349"/>
                        <a:pt x="162" y="358"/>
                        <a:pt x="172" y="366"/>
                      </a:cubicBezTo>
                      <a:cubicBezTo>
                        <a:pt x="172" y="366"/>
                        <a:pt x="172" y="366"/>
                        <a:pt x="172" y="366"/>
                      </a:cubicBezTo>
                      <a:cubicBezTo>
                        <a:pt x="172" y="366"/>
                        <a:pt x="173" y="366"/>
                        <a:pt x="173" y="367"/>
                      </a:cubicBezTo>
                      <a:cubicBezTo>
                        <a:pt x="174" y="367"/>
                        <a:pt x="174" y="367"/>
                        <a:pt x="174" y="367"/>
                      </a:cubicBezTo>
                      <a:cubicBezTo>
                        <a:pt x="191" y="351"/>
                        <a:pt x="191" y="351"/>
                        <a:pt x="191" y="351"/>
                      </a:cubicBezTo>
                      <a:cubicBezTo>
                        <a:pt x="194" y="347"/>
                        <a:pt x="200" y="346"/>
                        <a:pt x="204" y="349"/>
                      </a:cubicBezTo>
                      <a:cubicBezTo>
                        <a:pt x="211" y="353"/>
                        <a:pt x="219" y="356"/>
                        <a:pt x="227" y="358"/>
                      </a:cubicBezTo>
                      <a:cubicBezTo>
                        <a:pt x="231" y="359"/>
                        <a:pt x="234" y="364"/>
                        <a:pt x="234" y="368"/>
                      </a:cubicBezTo>
                      <a:cubicBezTo>
                        <a:pt x="234" y="393"/>
                        <a:pt x="234" y="393"/>
                        <a:pt x="234" y="393"/>
                      </a:cubicBezTo>
                      <a:cubicBezTo>
                        <a:pt x="238" y="393"/>
                        <a:pt x="241" y="394"/>
                        <a:pt x="245" y="394"/>
                      </a:cubicBezTo>
                      <a:cubicBezTo>
                        <a:pt x="245" y="394"/>
                        <a:pt x="245" y="394"/>
                        <a:pt x="245" y="394"/>
                      </a:cubicBezTo>
                      <a:cubicBezTo>
                        <a:pt x="245" y="394"/>
                        <a:pt x="245" y="394"/>
                        <a:pt x="245" y="394"/>
                      </a:cubicBezTo>
                      <a:cubicBezTo>
                        <a:pt x="245" y="394"/>
                        <a:pt x="245" y="394"/>
                        <a:pt x="245" y="394"/>
                      </a:cubicBezTo>
                      <a:cubicBezTo>
                        <a:pt x="252" y="394"/>
                        <a:pt x="259" y="395"/>
                        <a:pt x="267" y="394"/>
                      </a:cubicBezTo>
                      <a:cubicBezTo>
                        <a:pt x="270" y="394"/>
                        <a:pt x="274" y="393"/>
                        <a:pt x="277" y="393"/>
                      </a:cubicBezTo>
                      <a:cubicBezTo>
                        <a:pt x="277" y="368"/>
                        <a:pt x="277" y="368"/>
                        <a:pt x="277" y="368"/>
                      </a:cubicBezTo>
                      <a:cubicBezTo>
                        <a:pt x="277" y="364"/>
                        <a:pt x="280" y="359"/>
                        <a:pt x="285" y="358"/>
                      </a:cubicBezTo>
                      <a:cubicBezTo>
                        <a:pt x="293" y="356"/>
                        <a:pt x="300" y="353"/>
                        <a:pt x="308" y="349"/>
                      </a:cubicBezTo>
                      <a:cubicBezTo>
                        <a:pt x="312" y="346"/>
                        <a:pt x="317" y="347"/>
                        <a:pt x="320" y="351"/>
                      </a:cubicBezTo>
                      <a:cubicBezTo>
                        <a:pt x="337" y="368"/>
                        <a:pt x="337" y="368"/>
                        <a:pt x="337" y="368"/>
                      </a:cubicBezTo>
                      <a:cubicBezTo>
                        <a:pt x="338" y="367"/>
                        <a:pt x="338" y="367"/>
                        <a:pt x="339" y="367"/>
                      </a:cubicBezTo>
                      <a:cubicBezTo>
                        <a:pt x="349" y="359"/>
                        <a:pt x="359" y="349"/>
                        <a:pt x="367" y="339"/>
                      </a:cubicBezTo>
                      <a:cubicBezTo>
                        <a:pt x="367" y="338"/>
                        <a:pt x="367" y="338"/>
                        <a:pt x="368" y="337"/>
                      </a:cubicBezTo>
                      <a:cubicBezTo>
                        <a:pt x="351" y="320"/>
                        <a:pt x="351" y="320"/>
                        <a:pt x="351" y="320"/>
                      </a:cubicBezTo>
                      <a:cubicBezTo>
                        <a:pt x="347" y="317"/>
                        <a:pt x="346" y="312"/>
                        <a:pt x="349" y="308"/>
                      </a:cubicBezTo>
                      <a:cubicBezTo>
                        <a:pt x="353" y="300"/>
                        <a:pt x="356" y="293"/>
                        <a:pt x="358" y="285"/>
                      </a:cubicBezTo>
                      <a:cubicBezTo>
                        <a:pt x="359" y="280"/>
                        <a:pt x="364" y="277"/>
                        <a:pt x="368" y="277"/>
                      </a:cubicBezTo>
                      <a:cubicBezTo>
                        <a:pt x="393" y="277"/>
                        <a:pt x="393" y="277"/>
                        <a:pt x="393" y="277"/>
                      </a:cubicBezTo>
                      <a:cubicBezTo>
                        <a:pt x="393" y="274"/>
                        <a:pt x="393" y="270"/>
                        <a:pt x="394" y="267"/>
                      </a:cubicBezTo>
                      <a:cubicBezTo>
                        <a:pt x="394" y="263"/>
                        <a:pt x="394" y="259"/>
                        <a:pt x="394" y="256"/>
                      </a:cubicBezTo>
                      <a:cubicBezTo>
                        <a:pt x="394" y="252"/>
                        <a:pt x="394" y="248"/>
                        <a:pt x="394" y="245"/>
                      </a:cubicBezTo>
                      <a:cubicBezTo>
                        <a:pt x="393" y="241"/>
                        <a:pt x="393" y="238"/>
                        <a:pt x="393" y="234"/>
                      </a:cubicBezTo>
                      <a:close/>
                      <a:moveTo>
                        <a:pt x="256" y="320"/>
                      </a:moveTo>
                      <a:cubicBezTo>
                        <a:pt x="220" y="320"/>
                        <a:pt x="192" y="291"/>
                        <a:pt x="192" y="256"/>
                      </a:cubicBezTo>
                      <a:cubicBezTo>
                        <a:pt x="192" y="220"/>
                        <a:pt x="220" y="192"/>
                        <a:pt x="256" y="192"/>
                      </a:cubicBezTo>
                      <a:cubicBezTo>
                        <a:pt x="291" y="192"/>
                        <a:pt x="320" y="220"/>
                        <a:pt x="320" y="256"/>
                      </a:cubicBezTo>
                      <a:cubicBezTo>
                        <a:pt x="320" y="291"/>
                        <a:pt x="291" y="320"/>
                        <a:pt x="256" y="320"/>
                      </a:cubicBezTo>
                      <a:close/>
                      <a:moveTo>
                        <a:pt x="298" y="256"/>
                      </a:moveTo>
                      <a:cubicBezTo>
                        <a:pt x="298" y="279"/>
                        <a:pt x="279" y="298"/>
                        <a:pt x="256" y="298"/>
                      </a:cubicBezTo>
                      <a:cubicBezTo>
                        <a:pt x="232" y="298"/>
                        <a:pt x="213" y="279"/>
                        <a:pt x="213" y="256"/>
                      </a:cubicBezTo>
                      <a:cubicBezTo>
                        <a:pt x="213" y="232"/>
                        <a:pt x="232" y="213"/>
                        <a:pt x="256" y="213"/>
                      </a:cubicBezTo>
                      <a:cubicBezTo>
                        <a:pt x="279" y="213"/>
                        <a:pt x="298" y="232"/>
                        <a:pt x="298"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5" y="268"/>
                      </a:moveTo>
                      <a:cubicBezTo>
                        <a:pt x="414" y="276"/>
                        <a:pt x="413" y="283"/>
                        <a:pt x="412" y="290"/>
                      </a:cubicBezTo>
                      <a:cubicBezTo>
                        <a:pt x="411" y="295"/>
                        <a:pt x="406" y="298"/>
                        <a:pt x="401" y="298"/>
                      </a:cubicBezTo>
                      <a:cubicBezTo>
                        <a:pt x="376" y="298"/>
                        <a:pt x="376" y="298"/>
                        <a:pt x="376" y="298"/>
                      </a:cubicBezTo>
                      <a:cubicBezTo>
                        <a:pt x="375" y="303"/>
                        <a:pt x="373" y="307"/>
                        <a:pt x="371" y="311"/>
                      </a:cubicBezTo>
                      <a:cubicBezTo>
                        <a:pt x="389" y="329"/>
                        <a:pt x="389" y="329"/>
                        <a:pt x="389" y="329"/>
                      </a:cubicBezTo>
                      <a:cubicBezTo>
                        <a:pt x="392" y="332"/>
                        <a:pt x="393" y="338"/>
                        <a:pt x="390" y="342"/>
                      </a:cubicBezTo>
                      <a:cubicBezTo>
                        <a:pt x="388" y="345"/>
                        <a:pt x="386" y="348"/>
                        <a:pt x="384" y="351"/>
                      </a:cubicBezTo>
                      <a:cubicBezTo>
                        <a:pt x="375" y="364"/>
                        <a:pt x="364" y="375"/>
                        <a:pt x="351" y="384"/>
                      </a:cubicBezTo>
                      <a:cubicBezTo>
                        <a:pt x="348" y="386"/>
                        <a:pt x="345" y="388"/>
                        <a:pt x="342" y="390"/>
                      </a:cubicBezTo>
                      <a:cubicBezTo>
                        <a:pt x="338" y="393"/>
                        <a:pt x="332" y="392"/>
                        <a:pt x="329" y="389"/>
                      </a:cubicBezTo>
                      <a:cubicBezTo>
                        <a:pt x="311" y="371"/>
                        <a:pt x="311" y="371"/>
                        <a:pt x="311" y="371"/>
                      </a:cubicBezTo>
                      <a:cubicBezTo>
                        <a:pt x="307" y="373"/>
                        <a:pt x="303" y="375"/>
                        <a:pt x="298" y="376"/>
                      </a:cubicBezTo>
                      <a:cubicBezTo>
                        <a:pt x="298" y="401"/>
                        <a:pt x="298" y="401"/>
                        <a:pt x="298" y="401"/>
                      </a:cubicBezTo>
                      <a:cubicBezTo>
                        <a:pt x="298" y="407"/>
                        <a:pt x="295" y="411"/>
                        <a:pt x="290" y="412"/>
                      </a:cubicBezTo>
                      <a:cubicBezTo>
                        <a:pt x="283" y="414"/>
                        <a:pt x="276" y="415"/>
                        <a:pt x="269" y="415"/>
                      </a:cubicBezTo>
                      <a:cubicBezTo>
                        <a:pt x="269" y="415"/>
                        <a:pt x="269" y="416"/>
                        <a:pt x="269" y="416"/>
                      </a:cubicBezTo>
                      <a:cubicBezTo>
                        <a:pt x="268" y="416"/>
                        <a:pt x="268" y="416"/>
                        <a:pt x="268" y="416"/>
                      </a:cubicBezTo>
                      <a:cubicBezTo>
                        <a:pt x="268" y="416"/>
                        <a:pt x="268" y="416"/>
                        <a:pt x="268" y="416"/>
                      </a:cubicBezTo>
                      <a:cubicBezTo>
                        <a:pt x="267" y="416"/>
                        <a:pt x="265" y="415"/>
                        <a:pt x="264" y="416"/>
                      </a:cubicBezTo>
                      <a:cubicBezTo>
                        <a:pt x="261" y="416"/>
                        <a:pt x="258" y="416"/>
                        <a:pt x="256" y="416"/>
                      </a:cubicBezTo>
                      <a:cubicBezTo>
                        <a:pt x="256" y="416"/>
                        <a:pt x="256" y="416"/>
                        <a:pt x="256" y="416"/>
                      </a:cubicBezTo>
                      <a:cubicBezTo>
                        <a:pt x="256" y="416"/>
                        <a:pt x="256" y="416"/>
                        <a:pt x="256" y="416"/>
                      </a:cubicBezTo>
                      <a:cubicBezTo>
                        <a:pt x="253" y="416"/>
                        <a:pt x="251" y="416"/>
                        <a:pt x="249" y="416"/>
                      </a:cubicBezTo>
                      <a:cubicBezTo>
                        <a:pt x="247" y="416"/>
                        <a:pt x="245" y="416"/>
                        <a:pt x="243" y="416"/>
                      </a:cubicBezTo>
                      <a:cubicBezTo>
                        <a:pt x="243" y="416"/>
                        <a:pt x="243" y="416"/>
                        <a:pt x="243" y="416"/>
                      </a:cubicBezTo>
                      <a:cubicBezTo>
                        <a:pt x="243" y="416"/>
                        <a:pt x="243" y="416"/>
                        <a:pt x="243" y="416"/>
                      </a:cubicBezTo>
                      <a:cubicBezTo>
                        <a:pt x="243" y="416"/>
                        <a:pt x="243" y="416"/>
                        <a:pt x="243" y="416"/>
                      </a:cubicBezTo>
                      <a:cubicBezTo>
                        <a:pt x="235" y="416"/>
                        <a:pt x="228" y="414"/>
                        <a:pt x="221" y="412"/>
                      </a:cubicBezTo>
                      <a:cubicBezTo>
                        <a:pt x="216" y="411"/>
                        <a:pt x="213" y="407"/>
                        <a:pt x="213" y="401"/>
                      </a:cubicBezTo>
                      <a:cubicBezTo>
                        <a:pt x="213" y="376"/>
                        <a:pt x="213" y="376"/>
                        <a:pt x="213" y="376"/>
                      </a:cubicBezTo>
                      <a:cubicBezTo>
                        <a:pt x="209" y="375"/>
                        <a:pt x="205" y="373"/>
                        <a:pt x="201" y="371"/>
                      </a:cubicBezTo>
                      <a:cubicBezTo>
                        <a:pt x="183" y="389"/>
                        <a:pt x="183" y="389"/>
                        <a:pt x="183" y="389"/>
                      </a:cubicBezTo>
                      <a:cubicBezTo>
                        <a:pt x="179" y="392"/>
                        <a:pt x="174" y="393"/>
                        <a:pt x="169" y="390"/>
                      </a:cubicBezTo>
                      <a:cubicBezTo>
                        <a:pt x="167" y="389"/>
                        <a:pt x="164" y="387"/>
                        <a:pt x="161" y="385"/>
                      </a:cubicBezTo>
                      <a:cubicBezTo>
                        <a:pt x="161" y="384"/>
                        <a:pt x="160" y="384"/>
                        <a:pt x="160" y="384"/>
                      </a:cubicBezTo>
                      <a:cubicBezTo>
                        <a:pt x="160" y="383"/>
                        <a:pt x="159" y="383"/>
                        <a:pt x="158" y="382"/>
                      </a:cubicBezTo>
                      <a:cubicBezTo>
                        <a:pt x="147" y="374"/>
                        <a:pt x="137" y="364"/>
                        <a:pt x="129" y="353"/>
                      </a:cubicBezTo>
                      <a:cubicBezTo>
                        <a:pt x="128" y="352"/>
                        <a:pt x="128" y="352"/>
                        <a:pt x="128" y="351"/>
                      </a:cubicBezTo>
                      <a:cubicBezTo>
                        <a:pt x="127" y="351"/>
                        <a:pt x="127" y="350"/>
                        <a:pt x="127" y="350"/>
                      </a:cubicBezTo>
                      <a:cubicBezTo>
                        <a:pt x="127" y="350"/>
                        <a:pt x="127" y="350"/>
                        <a:pt x="127" y="350"/>
                      </a:cubicBezTo>
                      <a:cubicBezTo>
                        <a:pt x="125" y="347"/>
                        <a:pt x="123" y="345"/>
                        <a:pt x="121" y="342"/>
                      </a:cubicBezTo>
                      <a:cubicBezTo>
                        <a:pt x="118" y="338"/>
                        <a:pt x="119" y="332"/>
                        <a:pt x="122" y="329"/>
                      </a:cubicBezTo>
                      <a:cubicBezTo>
                        <a:pt x="140" y="311"/>
                        <a:pt x="140" y="311"/>
                        <a:pt x="140" y="311"/>
                      </a:cubicBezTo>
                      <a:cubicBezTo>
                        <a:pt x="138" y="307"/>
                        <a:pt x="137" y="303"/>
                        <a:pt x="135" y="298"/>
                      </a:cubicBezTo>
                      <a:cubicBezTo>
                        <a:pt x="110" y="298"/>
                        <a:pt x="110" y="298"/>
                        <a:pt x="110" y="298"/>
                      </a:cubicBezTo>
                      <a:cubicBezTo>
                        <a:pt x="105" y="298"/>
                        <a:pt x="100" y="295"/>
                        <a:pt x="99" y="290"/>
                      </a:cubicBezTo>
                      <a:cubicBezTo>
                        <a:pt x="98" y="283"/>
                        <a:pt x="97" y="276"/>
                        <a:pt x="96" y="268"/>
                      </a:cubicBezTo>
                      <a:cubicBezTo>
                        <a:pt x="96" y="265"/>
                        <a:pt x="96" y="262"/>
                        <a:pt x="96" y="259"/>
                      </a:cubicBezTo>
                      <a:cubicBezTo>
                        <a:pt x="96" y="258"/>
                        <a:pt x="96" y="257"/>
                        <a:pt x="96" y="256"/>
                      </a:cubicBezTo>
                      <a:cubicBezTo>
                        <a:pt x="96" y="256"/>
                        <a:pt x="96" y="256"/>
                        <a:pt x="96" y="256"/>
                      </a:cubicBezTo>
                      <a:cubicBezTo>
                        <a:pt x="96" y="256"/>
                        <a:pt x="96" y="256"/>
                        <a:pt x="96" y="256"/>
                      </a:cubicBezTo>
                      <a:cubicBezTo>
                        <a:pt x="96" y="254"/>
                        <a:pt x="96" y="253"/>
                        <a:pt x="96" y="252"/>
                      </a:cubicBezTo>
                      <a:cubicBezTo>
                        <a:pt x="96" y="249"/>
                        <a:pt x="96" y="246"/>
                        <a:pt x="96" y="243"/>
                      </a:cubicBezTo>
                      <a:cubicBezTo>
                        <a:pt x="96" y="243"/>
                        <a:pt x="96" y="243"/>
                        <a:pt x="96" y="243"/>
                      </a:cubicBezTo>
                      <a:cubicBezTo>
                        <a:pt x="96" y="243"/>
                        <a:pt x="96" y="243"/>
                        <a:pt x="96" y="243"/>
                      </a:cubicBezTo>
                      <a:cubicBezTo>
                        <a:pt x="96" y="243"/>
                        <a:pt x="96" y="243"/>
                        <a:pt x="96" y="243"/>
                      </a:cubicBezTo>
                      <a:cubicBezTo>
                        <a:pt x="97" y="235"/>
                        <a:pt x="98" y="228"/>
                        <a:pt x="99" y="221"/>
                      </a:cubicBezTo>
                      <a:cubicBezTo>
                        <a:pt x="100" y="216"/>
                        <a:pt x="105" y="213"/>
                        <a:pt x="110" y="213"/>
                      </a:cubicBezTo>
                      <a:cubicBezTo>
                        <a:pt x="135" y="213"/>
                        <a:pt x="135" y="213"/>
                        <a:pt x="135" y="213"/>
                      </a:cubicBezTo>
                      <a:cubicBezTo>
                        <a:pt x="137" y="209"/>
                        <a:pt x="138" y="205"/>
                        <a:pt x="140" y="201"/>
                      </a:cubicBezTo>
                      <a:cubicBezTo>
                        <a:pt x="122" y="183"/>
                        <a:pt x="122" y="183"/>
                        <a:pt x="122" y="183"/>
                      </a:cubicBezTo>
                      <a:cubicBezTo>
                        <a:pt x="119" y="179"/>
                        <a:pt x="118" y="174"/>
                        <a:pt x="121" y="169"/>
                      </a:cubicBezTo>
                      <a:cubicBezTo>
                        <a:pt x="123" y="166"/>
                        <a:pt x="125" y="163"/>
                        <a:pt x="128" y="160"/>
                      </a:cubicBezTo>
                      <a:cubicBezTo>
                        <a:pt x="137" y="148"/>
                        <a:pt x="148" y="137"/>
                        <a:pt x="160" y="128"/>
                      </a:cubicBezTo>
                      <a:cubicBezTo>
                        <a:pt x="163" y="125"/>
                        <a:pt x="166" y="123"/>
                        <a:pt x="169" y="121"/>
                      </a:cubicBezTo>
                      <a:cubicBezTo>
                        <a:pt x="174" y="118"/>
                        <a:pt x="179" y="119"/>
                        <a:pt x="183" y="122"/>
                      </a:cubicBezTo>
                      <a:cubicBezTo>
                        <a:pt x="201" y="140"/>
                        <a:pt x="201" y="140"/>
                        <a:pt x="201" y="140"/>
                      </a:cubicBezTo>
                      <a:cubicBezTo>
                        <a:pt x="205" y="138"/>
                        <a:pt x="209" y="137"/>
                        <a:pt x="213" y="135"/>
                      </a:cubicBezTo>
                      <a:cubicBezTo>
                        <a:pt x="213" y="110"/>
                        <a:pt x="213" y="110"/>
                        <a:pt x="213" y="110"/>
                      </a:cubicBezTo>
                      <a:cubicBezTo>
                        <a:pt x="213" y="105"/>
                        <a:pt x="216" y="100"/>
                        <a:pt x="221" y="99"/>
                      </a:cubicBezTo>
                      <a:cubicBezTo>
                        <a:pt x="228" y="98"/>
                        <a:pt x="236" y="97"/>
                        <a:pt x="243" y="96"/>
                      </a:cubicBezTo>
                      <a:cubicBezTo>
                        <a:pt x="251" y="96"/>
                        <a:pt x="260" y="96"/>
                        <a:pt x="268" y="96"/>
                      </a:cubicBezTo>
                      <a:cubicBezTo>
                        <a:pt x="276" y="97"/>
                        <a:pt x="283" y="98"/>
                        <a:pt x="290" y="99"/>
                      </a:cubicBezTo>
                      <a:cubicBezTo>
                        <a:pt x="295" y="100"/>
                        <a:pt x="298" y="105"/>
                        <a:pt x="298" y="110"/>
                      </a:cubicBezTo>
                      <a:cubicBezTo>
                        <a:pt x="298" y="135"/>
                        <a:pt x="298" y="135"/>
                        <a:pt x="298" y="135"/>
                      </a:cubicBezTo>
                      <a:cubicBezTo>
                        <a:pt x="303" y="137"/>
                        <a:pt x="307" y="138"/>
                        <a:pt x="311" y="140"/>
                      </a:cubicBezTo>
                      <a:cubicBezTo>
                        <a:pt x="329" y="122"/>
                        <a:pt x="329" y="122"/>
                        <a:pt x="329" y="122"/>
                      </a:cubicBezTo>
                      <a:cubicBezTo>
                        <a:pt x="332" y="119"/>
                        <a:pt x="338" y="118"/>
                        <a:pt x="342" y="121"/>
                      </a:cubicBezTo>
                      <a:cubicBezTo>
                        <a:pt x="345" y="123"/>
                        <a:pt x="347" y="125"/>
                        <a:pt x="350" y="127"/>
                      </a:cubicBezTo>
                      <a:cubicBezTo>
                        <a:pt x="350" y="127"/>
                        <a:pt x="351" y="127"/>
                        <a:pt x="351" y="128"/>
                      </a:cubicBezTo>
                      <a:cubicBezTo>
                        <a:pt x="352" y="128"/>
                        <a:pt x="353" y="129"/>
                        <a:pt x="353" y="129"/>
                      </a:cubicBezTo>
                      <a:cubicBezTo>
                        <a:pt x="364" y="137"/>
                        <a:pt x="374" y="147"/>
                        <a:pt x="383" y="159"/>
                      </a:cubicBezTo>
                      <a:cubicBezTo>
                        <a:pt x="383" y="159"/>
                        <a:pt x="383" y="159"/>
                        <a:pt x="384" y="160"/>
                      </a:cubicBezTo>
                      <a:cubicBezTo>
                        <a:pt x="384" y="160"/>
                        <a:pt x="384" y="161"/>
                        <a:pt x="385" y="161"/>
                      </a:cubicBezTo>
                      <a:cubicBezTo>
                        <a:pt x="385" y="162"/>
                        <a:pt x="385" y="162"/>
                        <a:pt x="385" y="162"/>
                      </a:cubicBezTo>
                      <a:cubicBezTo>
                        <a:pt x="387" y="164"/>
                        <a:pt x="389" y="167"/>
                        <a:pt x="390" y="169"/>
                      </a:cubicBezTo>
                      <a:cubicBezTo>
                        <a:pt x="393" y="174"/>
                        <a:pt x="392" y="179"/>
                        <a:pt x="389" y="183"/>
                      </a:cubicBezTo>
                      <a:cubicBezTo>
                        <a:pt x="371" y="201"/>
                        <a:pt x="371" y="201"/>
                        <a:pt x="371" y="201"/>
                      </a:cubicBezTo>
                      <a:cubicBezTo>
                        <a:pt x="373" y="205"/>
                        <a:pt x="375" y="209"/>
                        <a:pt x="376" y="213"/>
                      </a:cubicBezTo>
                      <a:cubicBezTo>
                        <a:pt x="401" y="213"/>
                        <a:pt x="401" y="213"/>
                        <a:pt x="401" y="213"/>
                      </a:cubicBezTo>
                      <a:cubicBezTo>
                        <a:pt x="406" y="213"/>
                        <a:pt x="411" y="216"/>
                        <a:pt x="412" y="221"/>
                      </a:cubicBezTo>
                      <a:cubicBezTo>
                        <a:pt x="414" y="228"/>
                        <a:pt x="414" y="235"/>
                        <a:pt x="416" y="243"/>
                      </a:cubicBezTo>
                      <a:cubicBezTo>
                        <a:pt x="416" y="243"/>
                        <a:pt x="416" y="243"/>
                        <a:pt x="416" y="243"/>
                      </a:cubicBezTo>
                      <a:cubicBezTo>
                        <a:pt x="416" y="247"/>
                        <a:pt x="416" y="251"/>
                        <a:pt x="416" y="256"/>
                      </a:cubicBezTo>
                      <a:cubicBezTo>
                        <a:pt x="416" y="260"/>
                        <a:pt x="415" y="264"/>
                        <a:pt x="415" y="26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sz="1000"/>
                </a:p>
              </p:txBody>
            </p:sp>
            <p:sp>
              <p:nvSpPr>
                <p:cNvPr id="225" name="Freeform 812">
                  <a:extLst>
                    <a:ext uri="{FF2B5EF4-FFF2-40B4-BE49-F238E27FC236}">
                      <a16:creationId xmlns:a16="http://schemas.microsoft.com/office/drawing/2014/main" id="{C550A9FF-3DCD-BCB2-E034-6A6196D488BA}"/>
                    </a:ext>
                  </a:extLst>
                </p:cNvPr>
                <p:cNvSpPr>
                  <a:spLocks noChangeAspect="1" noEditPoints="1"/>
                </p:cNvSpPr>
                <p:nvPr/>
              </p:nvSpPr>
              <p:spPr bwMode="auto">
                <a:xfrm>
                  <a:off x="9246408" y="3840523"/>
                  <a:ext cx="369021" cy="370106"/>
                </a:xfrm>
                <a:custGeom>
                  <a:avLst/>
                  <a:gdLst>
                    <a:gd name="T0" fmla="*/ 373 w 512"/>
                    <a:gd name="T1" fmla="*/ 202 h 512"/>
                    <a:gd name="T2" fmla="*/ 394 w 512"/>
                    <a:gd name="T3" fmla="*/ 202 h 512"/>
                    <a:gd name="T4" fmla="*/ 394 w 512"/>
                    <a:gd name="T5" fmla="*/ 309 h 512"/>
                    <a:gd name="T6" fmla="*/ 117 w 512"/>
                    <a:gd name="T7" fmla="*/ 309 h 512"/>
                    <a:gd name="T8" fmla="*/ 117 w 512"/>
                    <a:gd name="T9" fmla="*/ 202 h 512"/>
                    <a:gd name="T10" fmla="*/ 138 w 512"/>
                    <a:gd name="T11" fmla="*/ 202 h 512"/>
                    <a:gd name="T12" fmla="*/ 138 w 512"/>
                    <a:gd name="T13" fmla="*/ 234 h 512"/>
                    <a:gd name="T14" fmla="*/ 149 w 512"/>
                    <a:gd name="T15" fmla="*/ 245 h 512"/>
                    <a:gd name="T16" fmla="*/ 160 w 512"/>
                    <a:gd name="T17" fmla="*/ 234 h 512"/>
                    <a:gd name="T18" fmla="*/ 160 w 512"/>
                    <a:gd name="T19" fmla="*/ 202 h 512"/>
                    <a:gd name="T20" fmla="*/ 181 w 512"/>
                    <a:gd name="T21" fmla="*/ 202 h 512"/>
                    <a:gd name="T22" fmla="*/ 181 w 512"/>
                    <a:gd name="T23" fmla="*/ 266 h 512"/>
                    <a:gd name="T24" fmla="*/ 192 w 512"/>
                    <a:gd name="T25" fmla="*/ 277 h 512"/>
                    <a:gd name="T26" fmla="*/ 202 w 512"/>
                    <a:gd name="T27" fmla="*/ 266 h 512"/>
                    <a:gd name="T28" fmla="*/ 202 w 512"/>
                    <a:gd name="T29" fmla="*/ 202 h 512"/>
                    <a:gd name="T30" fmla="*/ 224 w 512"/>
                    <a:gd name="T31" fmla="*/ 202 h 512"/>
                    <a:gd name="T32" fmla="*/ 224 w 512"/>
                    <a:gd name="T33" fmla="*/ 234 h 512"/>
                    <a:gd name="T34" fmla="*/ 234 w 512"/>
                    <a:gd name="T35" fmla="*/ 245 h 512"/>
                    <a:gd name="T36" fmla="*/ 245 w 512"/>
                    <a:gd name="T37" fmla="*/ 234 h 512"/>
                    <a:gd name="T38" fmla="*/ 245 w 512"/>
                    <a:gd name="T39" fmla="*/ 202 h 512"/>
                    <a:gd name="T40" fmla="*/ 266 w 512"/>
                    <a:gd name="T41" fmla="*/ 202 h 512"/>
                    <a:gd name="T42" fmla="*/ 266 w 512"/>
                    <a:gd name="T43" fmla="*/ 266 h 512"/>
                    <a:gd name="T44" fmla="*/ 277 w 512"/>
                    <a:gd name="T45" fmla="*/ 277 h 512"/>
                    <a:gd name="T46" fmla="*/ 288 w 512"/>
                    <a:gd name="T47" fmla="*/ 266 h 512"/>
                    <a:gd name="T48" fmla="*/ 288 w 512"/>
                    <a:gd name="T49" fmla="*/ 202 h 512"/>
                    <a:gd name="T50" fmla="*/ 309 w 512"/>
                    <a:gd name="T51" fmla="*/ 202 h 512"/>
                    <a:gd name="T52" fmla="*/ 309 w 512"/>
                    <a:gd name="T53" fmla="*/ 234 h 512"/>
                    <a:gd name="T54" fmla="*/ 320 w 512"/>
                    <a:gd name="T55" fmla="*/ 245 h 512"/>
                    <a:gd name="T56" fmla="*/ 330 w 512"/>
                    <a:gd name="T57" fmla="*/ 234 h 512"/>
                    <a:gd name="T58" fmla="*/ 330 w 512"/>
                    <a:gd name="T59" fmla="*/ 202 h 512"/>
                    <a:gd name="T60" fmla="*/ 352 w 512"/>
                    <a:gd name="T61" fmla="*/ 202 h 512"/>
                    <a:gd name="T62" fmla="*/ 352 w 512"/>
                    <a:gd name="T63" fmla="*/ 266 h 512"/>
                    <a:gd name="T64" fmla="*/ 362 w 512"/>
                    <a:gd name="T65" fmla="*/ 277 h 512"/>
                    <a:gd name="T66" fmla="*/ 373 w 512"/>
                    <a:gd name="T67" fmla="*/ 266 h 512"/>
                    <a:gd name="T68" fmla="*/ 373 w 512"/>
                    <a:gd name="T69" fmla="*/ 202 h 512"/>
                    <a:gd name="T70" fmla="*/ 512 w 512"/>
                    <a:gd name="T71" fmla="*/ 256 h 512"/>
                    <a:gd name="T72" fmla="*/ 256 w 512"/>
                    <a:gd name="T73" fmla="*/ 512 h 512"/>
                    <a:gd name="T74" fmla="*/ 0 w 512"/>
                    <a:gd name="T75" fmla="*/ 256 h 512"/>
                    <a:gd name="T76" fmla="*/ 256 w 512"/>
                    <a:gd name="T77" fmla="*/ 0 h 512"/>
                    <a:gd name="T78" fmla="*/ 512 w 512"/>
                    <a:gd name="T79" fmla="*/ 256 h 512"/>
                    <a:gd name="T80" fmla="*/ 416 w 512"/>
                    <a:gd name="T81" fmla="*/ 192 h 512"/>
                    <a:gd name="T82" fmla="*/ 405 w 512"/>
                    <a:gd name="T83" fmla="*/ 181 h 512"/>
                    <a:gd name="T84" fmla="*/ 106 w 512"/>
                    <a:gd name="T85" fmla="*/ 181 h 512"/>
                    <a:gd name="T86" fmla="*/ 96 w 512"/>
                    <a:gd name="T87" fmla="*/ 192 h 512"/>
                    <a:gd name="T88" fmla="*/ 96 w 512"/>
                    <a:gd name="T89" fmla="*/ 320 h 512"/>
                    <a:gd name="T90" fmla="*/ 106 w 512"/>
                    <a:gd name="T91" fmla="*/ 330 h 512"/>
                    <a:gd name="T92" fmla="*/ 405 w 512"/>
                    <a:gd name="T93" fmla="*/ 330 h 512"/>
                    <a:gd name="T94" fmla="*/ 416 w 512"/>
                    <a:gd name="T95" fmla="*/ 320 h 512"/>
                    <a:gd name="T96" fmla="*/ 416 w 512"/>
                    <a:gd name="T97" fmla="*/ 19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12" h="512">
                      <a:moveTo>
                        <a:pt x="373" y="202"/>
                      </a:moveTo>
                      <a:cubicBezTo>
                        <a:pt x="394" y="202"/>
                        <a:pt x="394" y="202"/>
                        <a:pt x="394" y="202"/>
                      </a:cubicBezTo>
                      <a:cubicBezTo>
                        <a:pt x="394" y="309"/>
                        <a:pt x="394" y="309"/>
                        <a:pt x="394" y="309"/>
                      </a:cubicBezTo>
                      <a:cubicBezTo>
                        <a:pt x="117" y="309"/>
                        <a:pt x="117" y="309"/>
                        <a:pt x="117" y="309"/>
                      </a:cubicBezTo>
                      <a:cubicBezTo>
                        <a:pt x="117" y="202"/>
                        <a:pt x="117" y="202"/>
                        <a:pt x="117" y="202"/>
                      </a:cubicBezTo>
                      <a:cubicBezTo>
                        <a:pt x="138" y="202"/>
                        <a:pt x="138" y="202"/>
                        <a:pt x="138" y="202"/>
                      </a:cubicBezTo>
                      <a:cubicBezTo>
                        <a:pt x="138" y="234"/>
                        <a:pt x="138" y="234"/>
                        <a:pt x="138" y="234"/>
                      </a:cubicBezTo>
                      <a:cubicBezTo>
                        <a:pt x="138" y="240"/>
                        <a:pt x="143" y="245"/>
                        <a:pt x="149" y="245"/>
                      </a:cubicBezTo>
                      <a:cubicBezTo>
                        <a:pt x="155" y="245"/>
                        <a:pt x="160" y="240"/>
                        <a:pt x="160" y="234"/>
                      </a:cubicBezTo>
                      <a:cubicBezTo>
                        <a:pt x="160" y="202"/>
                        <a:pt x="160" y="202"/>
                        <a:pt x="160" y="202"/>
                      </a:cubicBezTo>
                      <a:cubicBezTo>
                        <a:pt x="181" y="202"/>
                        <a:pt x="181" y="202"/>
                        <a:pt x="181" y="202"/>
                      </a:cubicBezTo>
                      <a:cubicBezTo>
                        <a:pt x="181" y="266"/>
                        <a:pt x="181" y="266"/>
                        <a:pt x="181" y="266"/>
                      </a:cubicBezTo>
                      <a:cubicBezTo>
                        <a:pt x="181" y="272"/>
                        <a:pt x="186" y="277"/>
                        <a:pt x="192" y="277"/>
                      </a:cubicBezTo>
                      <a:cubicBezTo>
                        <a:pt x="198" y="277"/>
                        <a:pt x="202" y="272"/>
                        <a:pt x="202" y="266"/>
                      </a:cubicBezTo>
                      <a:cubicBezTo>
                        <a:pt x="202" y="202"/>
                        <a:pt x="202" y="202"/>
                        <a:pt x="202" y="202"/>
                      </a:cubicBezTo>
                      <a:cubicBezTo>
                        <a:pt x="224" y="202"/>
                        <a:pt x="224" y="202"/>
                        <a:pt x="224" y="202"/>
                      </a:cubicBezTo>
                      <a:cubicBezTo>
                        <a:pt x="224" y="234"/>
                        <a:pt x="224" y="234"/>
                        <a:pt x="224" y="234"/>
                      </a:cubicBezTo>
                      <a:cubicBezTo>
                        <a:pt x="224" y="240"/>
                        <a:pt x="228" y="245"/>
                        <a:pt x="234" y="245"/>
                      </a:cubicBezTo>
                      <a:cubicBezTo>
                        <a:pt x="240" y="245"/>
                        <a:pt x="245" y="240"/>
                        <a:pt x="245" y="234"/>
                      </a:cubicBezTo>
                      <a:cubicBezTo>
                        <a:pt x="245" y="202"/>
                        <a:pt x="245" y="202"/>
                        <a:pt x="245" y="202"/>
                      </a:cubicBezTo>
                      <a:cubicBezTo>
                        <a:pt x="266" y="202"/>
                        <a:pt x="266" y="202"/>
                        <a:pt x="266" y="202"/>
                      </a:cubicBezTo>
                      <a:cubicBezTo>
                        <a:pt x="266" y="266"/>
                        <a:pt x="266" y="266"/>
                        <a:pt x="266" y="266"/>
                      </a:cubicBezTo>
                      <a:cubicBezTo>
                        <a:pt x="266" y="272"/>
                        <a:pt x="271" y="277"/>
                        <a:pt x="277" y="277"/>
                      </a:cubicBezTo>
                      <a:cubicBezTo>
                        <a:pt x="283" y="277"/>
                        <a:pt x="288" y="272"/>
                        <a:pt x="288" y="266"/>
                      </a:cubicBezTo>
                      <a:cubicBezTo>
                        <a:pt x="288" y="202"/>
                        <a:pt x="288" y="202"/>
                        <a:pt x="288" y="202"/>
                      </a:cubicBezTo>
                      <a:cubicBezTo>
                        <a:pt x="309" y="202"/>
                        <a:pt x="309" y="202"/>
                        <a:pt x="309" y="202"/>
                      </a:cubicBezTo>
                      <a:cubicBezTo>
                        <a:pt x="309" y="234"/>
                        <a:pt x="309" y="234"/>
                        <a:pt x="309" y="234"/>
                      </a:cubicBezTo>
                      <a:cubicBezTo>
                        <a:pt x="309" y="240"/>
                        <a:pt x="314" y="245"/>
                        <a:pt x="320" y="245"/>
                      </a:cubicBezTo>
                      <a:cubicBezTo>
                        <a:pt x="326" y="245"/>
                        <a:pt x="330" y="240"/>
                        <a:pt x="330" y="234"/>
                      </a:cubicBezTo>
                      <a:cubicBezTo>
                        <a:pt x="330" y="202"/>
                        <a:pt x="330" y="202"/>
                        <a:pt x="330" y="202"/>
                      </a:cubicBezTo>
                      <a:cubicBezTo>
                        <a:pt x="352" y="202"/>
                        <a:pt x="352" y="202"/>
                        <a:pt x="352" y="202"/>
                      </a:cubicBezTo>
                      <a:cubicBezTo>
                        <a:pt x="352" y="266"/>
                        <a:pt x="352" y="266"/>
                        <a:pt x="352" y="266"/>
                      </a:cubicBezTo>
                      <a:cubicBezTo>
                        <a:pt x="352" y="272"/>
                        <a:pt x="356" y="277"/>
                        <a:pt x="362" y="277"/>
                      </a:cubicBezTo>
                      <a:cubicBezTo>
                        <a:pt x="368" y="277"/>
                        <a:pt x="373" y="272"/>
                        <a:pt x="373" y="266"/>
                      </a:cubicBezTo>
                      <a:lnTo>
                        <a:pt x="373" y="202"/>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192"/>
                      </a:moveTo>
                      <a:cubicBezTo>
                        <a:pt x="416" y="186"/>
                        <a:pt x="411" y="181"/>
                        <a:pt x="405" y="181"/>
                      </a:cubicBezTo>
                      <a:cubicBezTo>
                        <a:pt x="106" y="181"/>
                        <a:pt x="106" y="181"/>
                        <a:pt x="106" y="181"/>
                      </a:cubicBezTo>
                      <a:cubicBezTo>
                        <a:pt x="100" y="181"/>
                        <a:pt x="96" y="186"/>
                        <a:pt x="96" y="192"/>
                      </a:cubicBezTo>
                      <a:cubicBezTo>
                        <a:pt x="96" y="320"/>
                        <a:pt x="96" y="320"/>
                        <a:pt x="96" y="320"/>
                      </a:cubicBezTo>
                      <a:cubicBezTo>
                        <a:pt x="96" y="326"/>
                        <a:pt x="100" y="330"/>
                        <a:pt x="106" y="330"/>
                      </a:cubicBezTo>
                      <a:cubicBezTo>
                        <a:pt x="405" y="330"/>
                        <a:pt x="405" y="330"/>
                        <a:pt x="405" y="330"/>
                      </a:cubicBezTo>
                      <a:cubicBezTo>
                        <a:pt x="411" y="330"/>
                        <a:pt x="416" y="326"/>
                        <a:pt x="416" y="320"/>
                      </a:cubicBezTo>
                      <a:lnTo>
                        <a:pt x="416" y="192"/>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GB" sz="1000"/>
                </a:p>
              </p:txBody>
            </p:sp>
          </p:grpSp>
          <p:grpSp>
            <p:nvGrpSpPr>
              <p:cNvPr id="233" name="Group 232">
                <a:extLst>
                  <a:ext uri="{FF2B5EF4-FFF2-40B4-BE49-F238E27FC236}">
                    <a16:creationId xmlns:a16="http://schemas.microsoft.com/office/drawing/2014/main" id="{8BF52158-53DC-682A-5794-1F5138EBD237}"/>
                  </a:ext>
                </a:extLst>
              </p:cNvPr>
              <p:cNvGrpSpPr/>
              <p:nvPr/>
            </p:nvGrpSpPr>
            <p:grpSpPr>
              <a:xfrm>
                <a:off x="488509" y="813531"/>
                <a:ext cx="11365991" cy="1330051"/>
                <a:chOff x="-462574" y="6890755"/>
                <a:chExt cx="11365991" cy="1330051"/>
              </a:xfrm>
            </p:grpSpPr>
            <p:sp>
              <p:nvSpPr>
                <p:cNvPr id="226" name="Shape 4">
                  <a:extLst>
                    <a:ext uri="{FF2B5EF4-FFF2-40B4-BE49-F238E27FC236}">
                      <a16:creationId xmlns:a16="http://schemas.microsoft.com/office/drawing/2014/main" id="{4940B670-1F4D-36AE-2D46-9BF0956888A3}"/>
                    </a:ext>
                  </a:extLst>
                </p:cNvPr>
                <p:cNvSpPr/>
                <p:nvPr/>
              </p:nvSpPr>
              <p:spPr>
                <a:xfrm>
                  <a:off x="-462574" y="6944568"/>
                  <a:ext cx="11365991" cy="757255"/>
                </a:xfrm>
                <a:prstGeom prst="roundRect">
                  <a:avLst>
                    <a:gd name="adj" fmla="val 930"/>
                  </a:avLst>
                </a:prstGeom>
                <a:solidFill>
                  <a:srgbClr val="0A4A4E"/>
                </a:solidFill>
                <a:ln w="9525">
                  <a:solidFill>
                    <a:srgbClr val="0A4A4E"/>
                  </a:solidFill>
                  <a:prstDash val="solid"/>
                </a:ln>
              </p:spPr>
              <p:txBody>
                <a:bodyPr/>
                <a:lstStyle/>
                <a:p>
                  <a:endParaRPr lang="en-IN" sz="1050">
                    <a:latin typeface="Verdana" panose="020B0604030504040204" pitchFamily="34" charset="0"/>
                    <a:ea typeface="Verdana" panose="020B0604030504040204" pitchFamily="34" charset="0"/>
                  </a:endParaRPr>
                </a:p>
              </p:txBody>
            </p:sp>
            <p:sp>
              <p:nvSpPr>
                <p:cNvPr id="227" name="Text 5">
                  <a:extLst>
                    <a:ext uri="{FF2B5EF4-FFF2-40B4-BE49-F238E27FC236}">
                      <a16:creationId xmlns:a16="http://schemas.microsoft.com/office/drawing/2014/main" id="{DB183D37-B5BC-EF45-BCEB-18DBC238018F}"/>
                    </a:ext>
                  </a:extLst>
                </p:cNvPr>
                <p:cNvSpPr/>
                <p:nvPr/>
              </p:nvSpPr>
              <p:spPr>
                <a:xfrm>
                  <a:off x="-264058" y="7031254"/>
                  <a:ext cx="1753580" cy="439141"/>
                </a:xfrm>
                <a:prstGeom prst="rect">
                  <a:avLst/>
                </a:prstGeom>
                <a:noFill/>
                <a:ln/>
              </p:spPr>
              <p:txBody>
                <a:bodyPr wrap="square" lIns="0" tIns="0" rIns="0" bIns="0" rtlCol="0" anchor="ctr"/>
                <a:lstStyle/>
                <a:p>
                  <a:pPr marL="0" indent="0" algn="ctr">
                    <a:buNone/>
                  </a:pPr>
                  <a:r>
                    <a:rPr lang="en-US" sz="1050" b="1" dirty="0">
                      <a:solidFill>
                        <a:srgbClr val="86BC25"/>
                      </a:solidFill>
                      <a:latin typeface="Verdana" panose="020B0604030504040204" pitchFamily="34" charset="0"/>
                      <a:ea typeface="Verdana" panose="020B0604030504040204" pitchFamily="34" charset="0"/>
                      <a:cs typeface="Calibri" pitchFamily="34" charset="-120"/>
                    </a:rPr>
                    <a:t>On the problem statement</a:t>
                  </a:r>
                  <a:endParaRPr lang="en-US" sz="1050" dirty="0">
                    <a:latin typeface="Verdana" panose="020B0604030504040204" pitchFamily="34" charset="0"/>
                    <a:ea typeface="Verdana" panose="020B0604030504040204" pitchFamily="34" charset="0"/>
                  </a:endParaRPr>
                </a:p>
              </p:txBody>
            </p:sp>
            <p:sp>
              <p:nvSpPr>
                <p:cNvPr id="228" name="Text 6">
                  <a:extLst>
                    <a:ext uri="{FF2B5EF4-FFF2-40B4-BE49-F238E27FC236}">
                      <a16:creationId xmlns:a16="http://schemas.microsoft.com/office/drawing/2014/main" id="{0FAB1A75-82E5-F3A9-A5A0-B3A8B43F5812}"/>
                    </a:ext>
                  </a:extLst>
                </p:cNvPr>
                <p:cNvSpPr/>
                <p:nvPr/>
              </p:nvSpPr>
              <p:spPr>
                <a:xfrm>
                  <a:off x="1628686" y="6890755"/>
                  <a:ext cx="9135567" cy="1330051"/>
                </a:xfrm>
                <a:prstGeom prst="rect">
                  <a:avLst/>
                </a:prstGeom>
                <a:noFill/>
                <a:ln/>
              </p:spPr>
              <p:txBody>
                <a:bodyPr wrap="square" lIns="0" tIns="0" rIns="0" bIns="0" rtlCol="0" anchor="t"/>
                <a:lstStyle/>
                <a:p>
                  <a:pPr marL="0" indent="0">
                    <a:lnSpc>
                      <a:spcPts val="1600"/>
                    </a:lnSpc>
                    <a:buNone/>
                  </a:pPr>
                  <a:endParaRPr lang="en-US" sz="1050">
                    <a:latin typeface="Verdana" panose="020B0604030504040204" pitchFamily="34" charset="0"/>
                    <a:ea typeface="Verdana" panose="020B0604030504040204" pitchFamily="34" charset="0"/>
                  </a:endParaRPr>
                </a:p>
                <a:p>
                  <a:pPr marL="0" indent="0">
                    <a:lnSpc>
                      <a:spcPts val="1600"/>
                    </a:lnSpc>
                    <a:buNone/>
                  </a:pPr>
                  <a:r>
                    <a:rPr lang="en-US" sz="1050">
                      <a:solidFill>
                        <a:srgbClr val="E4EFEF"/>
                      </a:solidFill>
                      <a:latin typeface="Verdana" panose="020B0604030504040204" pitchFamily="34" charset="0"/>
                      <a:ea typeface="Verdana" panose="020B0604030504040204" pitchFamily="34" charset="0"/>
                      <a:cs typeface="Calibri" pitchFamily="34" charset="-120"/>
                    </a:rPr>
                    <a:t>The value of this engagement is not in estimating current spending. It is in building a classification architecture robust enough to survive changes in administration and shifting terminology: freebies, incentives, merit goods.</a:t>
                  </a:r>
                  <a:endParaRPr lang="en-US" sz="1050">
                    <a:latin typeface="Verdana" panose="020B0604030504040204" pitchFamily="34" charset="0"/>
                    <a:ea typeface="Verdana" panose="020B0604030504040204" pitchFamily="34" charset="0"/>
                  </a:endParaRPr>
                </a:p>
              </p:txBody>
            </p:sp>
          </p:grpSp>
        </p:grpSp>
      </p:grpSp>
    </p:spTree>
    <p:extLst>
      <p:ext uri="{BB962C8B-B14F-4D97-AF65-F5344CB8AC3E}">
        <p14:creationId xmlns:p14="http://schemas.microsoft.com/office/powerpoint/2010/main" val="35905909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8E83E-06CF-D9BF-3B11-40A55E5601E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A0FE4E8-B387-F58E-AACD-D491E4C13214}"/>
              </a:ext>
            </a:extLst>
          </p:cNvPr>
          <p:cNvSpPr/>
          <p:nvPr/>
        </p:nvSpPr>
        <p:spPr bwMode="gray">
          <a:xfrm>
            <a:off x="333466" y="121358"/>
            <a:ext cx="11811080" cy="370522"/>
          </a:xfrm>
          <a:prstGeom prst="rect">
            <a:avLst/>
          </a:prstGeom>
          <a:noFill/>
          <a:ln w="19050" algn="ctr">
            <a:noFill/>
            <a:miter lim="800000"/>
            <a:headEnd/>
            <a:tailEnd/>
          </a:ln>
        </p:spPr>
        <p:txBody>
          <a:bodyPr wrap="square" lIns="88900" tIns="88900" rIns="88900" bIns="88900" rtlCol="0" anchor="ctr"/>
          <a:lstStyle/>
          <a:p>
            <a:r>
              <a:rPr lang="en-US" sz="1800" b="1"/>
              <a:t>Our Understanding of the Scope</a:t>
            </a:r>
          </a:p>
        </p:txBody>
      </p:sp>
      <p:cxnSp>
        <p:nvCxnSpPr>
          <p:cNvPr id="6" name="Straight Arrow Connector 5">
            <a:extLst>
              <a:ext uri="{FF2B5EF4-FFF2-40B4-BE49-F238E27FC236}">
                <a16:creationId xmlns:a16="http://schemas.microsoft.com/office/drawing/2014/main" id="{9A076C6C-114F-0759-5CAC-B191CA7C0CB7}"/>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93E1171F-98A3-AB60-76DF-A68952DE51EF}"/>
              </a:ext>
            </a:extLst>
          </p:cNvPr>
          <p:cNvGrpSpPr/>
          <p:nvPr/>
        </p:nvGrpSpPr>
        <p:grpSpPr>
          <a:xfrm>
            <a:off x="178204" y="594136"/>
            <a:ext cx="12013796" cy="6012662"/>
            <a:chOff x="178204" y="594136"/>
            <a:chExt cx="12013796" cy="6012662"/>
          </a:xfrm>
        </p:grpSpPr>
        <p:sp>
          <p:nvSpPr>
            <p:cNvPr id="49" name="TextBox 48">
              <a:extLst>
                <a:ext uri="{FF2B5EF4-FFF2-40B4-BE49-F238E27FC236}">
                  <a16:creationId xmlns:a16="http://schemas.microsoft.com/office/drawing/2014/main" id="{A1D93BE1-7842-F562-E6C1-0C8E281112B0}"/>
                </a:ext>
              </a:extLst>
            </p:cNvPr>
            <p:cNvSpPr txBox="1"/>
            <p:nvPr/>
          </p:nvSpPr>
          <p:spPr>
            <a:xfrm>
              <a:off x="271914" y="811212"/>
              <a:ext cx="11717357" cy="914400"/>
            </a:xfrm>
            <a:prstGeom prst="rect">
              <a:avLst/>
            </a:prstGeom>
            <a:noFill/>
            <a:ln>
              <a:solidFill>
                <a:srgbClr val="C00000"/>
              </a:solidFill>
              <a:prstDash val="dash"/>
            </a:ln>
          </p:spPr>
          <p:txBody>
            <a:bodyPr wrap="square" lIns="0" tIns="0" rIns="0" bIns="0" rtlCol="0">
              <a:spAutoFit/>
            </a:bodyPr>
            <a:lstStyle/>
            <a:p>
              <a:pPr marL="203200" indent="-203200">
                <a:spcBef>
                  <a:spcPts val="600"/>
                </a:spcBef>
                <a:buSzPct val="100000"/>
                <a:buFont typeface="Arial"/>
                <a:buChar char="•"/>
              </a:pPr>
              <a:endParaRPr lang="en-IN">
                <a:solidFill>
                  <a:srgbClr val="313131"/>
                </a:solidFill>
              </a:endParaRPr>
            </a:p>
          </p:txBody>
        </p:sp>
        <p:sp>
          <p:nvSpPr>
            <p:cNvPr id="12" name="Rounded Rectangle 9">
              <a:extLst>
                <a:ext uri="{FF2B5EF4-FFF2-40B4-BE49-F238E27FC236}">
                  <a16:creationId xmlns:a16="http://schemas.microsoft.com/office/drawing/2014/main" id="{2B3F66D8-D61D-D258-B6C0-43ACE98A7E89}"/>
                </a:ext>
              </a:extLst>
            </p:cNvPr>
            <p:cNvSpPr/>
            <p:nvPr/>
          </p:nvSpPr>
          <p:spPr bwMode="gray">
            <a:xfrm>
              <a:off x="1773746" y="1947248"/>
              <a:ext cx="8579339" cy="2688699"/>
            </a:xfrm>
            <a:prstGeom prst="roundRect">
              <a:avLst>
                <a:gd name="adj" fmla="val 7921"/>
              </a:avLst>
            </a:prstGeom>
            <a:noFill/>
            <a:ln w="19050" algn="ctr">
              <a:solidFill>
                <a:srgbClr val="75787B"/>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ea typeface="+mn-ea"/>
                <a:cs typeface="+mn-cs"/>
              </a:endParaRPr>
            </a:p>
          </p:txBody>
        </p:sp>
        <p:sp>
          <p:nvSpPr>
            <p:cNvPr id="13" name="TextBox 12">
              <a:extLst>
                <a:ext uri="{FF2B5EF4-FFF2-40B4-BE49-F238E27FC236}">
                  <a16:creationId xmlns:a16="http://schemas.microsoft.com/office/drawing/2014/main" id="{CED28D55-79D5-96D7-8322-16ACE2631258}"/>
                </a:ext>
              </a:extLst>
            </p:cNvPr>
            <p:cNvSpPr txBox="1"/>
            <p:nvPr/>
          </p:nvSpPr>
          <p:spPr>
            <a:xfrm>
              <a:off x="2328836" y="1549471"/>
              <a:ext cx="7629236" cy="430887"/>
            </a:xfrm>
            <a:prstGeom prst="rect">
              <a:avLst/>
            </a:prstGeom>
            <a:solidFill>
              <a:sysClr val="window" lastClr="FFFFFF"/>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black"/>
                  </a:solidFill>
                  <a:effectLst/>
                  <a:uLnTx/>
                  <a:uFillTx/>
                  <a:ea typeface="Open Sans" panose="020B0606030504020204" pitchFamily="34" charset="0"/>
                  <a:cs typeface="Vrinda" panose="020B0502040204020203" pitchFamily="34" charset="0"/>
                </a:rPr>
                <a:t>The core problem is not the presence of the subsidies; it is that no consistent framework exist tell legitimate welfare apart from fiscally high-risk provision</a:t>
              </a:r>
              <a:endParaRPr kumimoji="0" lang="en-IN" sz="1100" b="1" i="0" u="none" strike="noStrike" kern="0" cap="none" spc="0" normalizeH="0" baseline="0" noProof="0">
                <a:ln>
                  <a:noFill/>
                </a:ln>
                <a:solidFill>
                  <a:prstClr val="black"/>
                </a:solidFill>
                <a:effectLst/>
                <a:uLnTx/>
                <a:uFillTx/>
                <a:ea typeface="Open Sans" panose="020B0606030504020204" pitchFamily="34" charset="0"/>
                <a:cs typeface="Vrinda" panose="020B0502040204020203" pitchFamily="34" charset="0"/>
              </a:endParaRPr>
            </a:p>
          </p:txBody>
        </p:sp>
        <p:grpSp>
          <p:nvGrpSpPr>
            <p:cNvPr id="351" name="Group 350">
              <a:extLst>
                <a:ext uri="{FF2B5EF4-FFF2-40B4-BE49-F238E27FC236}">
                  <a16:creationId xmlns:a16="http://schemas.microsoft.com/office/drawing/2014/main" id="{F36D6595-4F55-0371-9975-CC04D9A7C63C}"/>
                </a:ext>
              </a:extLst>
            </p:cNvPr>
            <p:cNvGrpSpPr/>
            <p:nvPr/>
          </p:nvGrpSpPr>
          <p:grpSpPr>
            <a:xfrm rot="1500000">
              <a:off x="4931058" y="2404560"/>
              <a:ext cx="2291590" cy="2224714"/>
              <a:chOff x="3802223" y="1264817"/>
              <a:chExt cx="4587874" cy="4378325"/>
            </a:xfrm>
          </p:grpSpPr>
          <p:grpSp>
            <p:nvGrpSpPr>
              <p:cNvPr id="358" name="组合 27">
                <a:extLst>
                  <a:ext uri="{FF2B5EF4-FFF2-40B4-BE49-F238E27FC236}">
                    <a16:creationId xmlns:a16="http://schemas.microsoft.com/office/drawing/2014/main" id="{106F9DD7-8E48-9C50-3F69-B13C4ECF2B85}"/>
                  </a:ext>
                </a:extLst>
              </p:cNvPr>
              <p:cNvGrpSpPr/>
              <p:nvPr/>
            </p:nvGrpSpPr>
            <p:grpSpPr>
              <a:xfrm>
                <a:off x="3802223" y="1264817"/>
                <a:ext cx="4587874" cy="4378325"/>
                <a:chOff x="14103350" y="1636713"/>
                <a:chExt cx="4587874" cy="4378325"/>
              </a:xfrm>
            </p:grpSpPr>
            <p:sp>
              <p:nvSpPr>
                <p:cNvPr id="402" name="Freeform 6">
                  <a:extLst>
                    <a:ext uri="{FF2B5EF4-FFF2-40B4-BE49-F238E27FC236}">
                      <a16:creationId xmlns:a16="http://schemas.microsoft.com/office/drawing/2014/main" id="{DBA8D9CF-31FD-7C48-1F71-1ED03C68BDE1}"/>
                    </a:ext>
                  </a:extLst>
                </p:cNvPr>
                <p:cNvSpPr>
                  <a:spLocks/>
                </p:cNvSpPr>
                <p:nvPr/>
              </p:nvSpPr>
              <p:spPr bwMode="auto">
                <a:xfrm>
                  <a:off x="15559088" y="1636713"/>
                  <a:ext cx="1679575" cy="998538"/>
                </a:xfrm>
                <a:custGeom>
                  <a:avLst/>
                  <a:gdLst>
                    <a:gd name="T0" fmla="*/ 332 w 419"/>
                    <a:gd name="T1" fmla="*/ 250 h 250"/>
                    <a:gd name="T2" fmla="*/ 419 w 419"/>
                    <a:gd name="T3" fmla="*/ 40 h 250"/>
                    <a:gd name="T4" fmla="*/ 209 w 419"/>
                    <a:gd name="T5" fmla="*/ 0 h 250"/>
                    <a:gd name="T6" fmla="*/ 0 w 419"/>
                    <a:gd name="T7" fmla="*/ 40 h 250"/>
                    <a:gd name="T8" fmla="*/ 87 w 419"/>
                    <a:gd name="T9" fmla="*/ 250 h 250"/>
                    <a:gd name="T10" fmla="*/ 209 w 419"/>
                    <a:gd name="T11" fmla="*/ 227 h 250"/>
                    <a:gd name="T12" fmla="*/ 332 w 419"/>
                    <a:gd name="T13" fmla="*/ 250 h 250"/>
                  </a:gdLst>
                  <a:ahLst/>
                  <a:cxnLst>
                    <a:cxn ang="0">
                      <a:pos x="T0" y="T1"/>
                    </a:cxn>
                    <a:cxn ang="0">
                      <a:pos x="T2" y="T3"/>
                    </a:cxn>
                    <a:cxn ang="0">
                      <a:pos x="T4" y="T5"/>
                    </a:cxn>
                    <a:cxn ang="0">
                      <a:pos x="T6" y="T7"/>
                    </a:cxn>
                    <a:cxn ang="0">
                      <a:pos x="T8" y="T9"/>
                    </a:cxn>
                    <a:cxn ang="0">
                      <a:pos x="T10" y="T11"/>
                    </a:cxn>
                    <a:cxn ang="0">
                      <a:pos x="T12" y="T13"/>
                    </a:cxn>
                  </a:cxnLst>
                  <a:rect l="0" t="0" r="r" b="b"/>
                  <a:pathLst>
                    <a:path w="419" h="250">
                      <a:moveTo>
                        <a:pt x="332" y="250"/>
                      </a:moveTo>
                      <a:cubicBezTo>
                        <a:pt x="419" y="40"/>
                        <a:pt x="419" y="40"/>
                        <a:pt x="419" y="40"/>
                      </a:cubicBezTo>
                      <a:cubicBezTo>
                        <a:pt x="354" y="14"/>
                        <a:pt x="283" y="0"/>
                        <a:pt x="209" y="0"/>
                      </a:cubicBezTo>
                      <a:cubicBezTo>
                        <a:pt x="135" y="0"/>
                        <a:pt x="65" y="14"/>
                        <a:pt x="0" y="40"/>
                      </a:cubicBezTo>
                      <a:cubicBezTo>
                        <a:pt x="87" y="250"/>
                        <a:pt x="87" y="250"/>
                        <a:pt x="87" y="250"/>
                      </a:cubicBezTo>
                      <a:cubicBezTo>
                        <a:pt x="125" y="235"/>
                        <a:pt x="166" y="227"/>
                        <a:pt x="209" y="227"/>
                      </a:cubicBezTo>
                      <a:cubicBezTo>
                        <a:pt x="253" y="227"/>
                        <a:pt x="294" y="235"/>
                        <a:pt x="332" y="250"/>
                      </a:cubicBezTo>
                      <a:close/>
                    </a:path>
                  </a:pathLst>
                </a:custGeom>
                <a:solidFill>
                  <a:srgbClr val="E3E48D"/>
                </a:solidFill>
                <a:ln w="6350">
                  <a:solidFill>
                    <a:schemeClr val="accent1"/>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a:ln>
                      <a:noFill/>
                    </a:ln>
                    <a:solidFill>
                      <a:prstClr val="black"/>
                    </a:solidFill>
                    <a:effectLst/>
                    <a:uLnTx/>
                    <a:uFillTx/>
                    <a:ea typeface="+mn-ea"/>
                    <a:cs typeface="+mn-cs"/>
                  </a:endParaRPr>
                </a:p>
              </p:txBody>
            </p:sp>
            <p:sp>
              <p:nvSpPr>
                <p:cNvPr id="403" name="Freeform 7">
                  <a:extLst>
                    <a:ext uri="{FF2B5EF4-FFF2-40B4-BE49-F238E27FC236}">
                      <a16:creationId xmlns:a16="http://schemas.microsoft.com/office/drawing/2014/main" id="{3352D23D-8FED-6F3E-5C69-EC8A0403BC1E}"/>
                    </a:ext>
                  </a:extLst>
                </p:cNvPr>
                <p:cNvSpPr>
                  <a:spLocks/>
                </p:cNvSpPr>
                <p:nvPr/>
              </p:nvSpPr>
              <p:spPr bwMode="auto">
                <a:xfrm>
                  <a:off x="16965613" y="1824038"/>
                  <a:ext cx="1536700" cy="1533525"/>
                </a:xfrm>
                <a:custGeom>
                  <a:avLst/>
                  <a:gdLst>
                    <a:gd name="T0" fmla="*/ 173 w 383"/>
                    <a:gd name="T1" fmla="*/ 384 h 384"/>
                    <a:gd name="T2" fmla="*/ 383 w 383"/>
                    <a:gd name="T3" fmla="*/ 297 h 384"/>
                    <a:gd name="T4" fmla="*/ 87 w 383"/>
                    <a:gd name="T5" fmla="*/ 0 h 384"/>
                    <a:gd name="T6" fmla="*/ 0 w 383"/>
                    <a:gd name="T7" fmla="*/ 210 h 384"/>
                    <a:gd name="T8" fmla="*/ 173 w 383"/>
                    <a:gd name="T9" fmla="*/ 384 h 384"/>
                  </a:gdLst>
                  <a:ahLst/>
                  <a:cxnLst>
                    <a:cxn ang="0">
                      <a:pos x="T0" y="T1"/>
                    </a:cxn>
                    <a:cxn ang="0">
                      <a:pos x="T2" y="T3"/>
                    </a:cxn>
                    <a:cxn ang="0">
                      <a:pos x="T4" y="T5"/>
                    </a:cxn>
                    <a:cxn ang="0">
                      <a:pos x="T6" y="T7"/>
                    </a:cxn>
                    <a:cxn ang="0">
                      <a:pos x="T8" y="T9"/>
                    </a:cxn>
                  </a:cxnLst>
                  <a:rect l="0" t="0" r="r" b="b"/>
                  <a:pathLst>
                    <a:path w="383" h="384">
                      <a:moveTo>
                        <a:pt x="173" y="384"/>
                      </a:moveTo>
                      <a:cubicBezTo>
                        <a:pt x="383" y="297"/>
                        <a:pt x="383" y="297"/>
                        <a:pt x="383" y="297"/>
                      </a:cubicBezTo>
                      <a:cubicBezTo>
                        <a:pt x="325" y="164"/>
                        <a:pt x="219" y="58"/>
                        <a:pt x="87" y="0"/>
                      </a:cubicBezTo>
                      <a:cubicBezTo>
                        <a:pt x="0" y="210"/>
                        <a:pt x="0" y="210"/>
                        <a:pt x="0" y="210"/>
                      </a:cubicBezTo>
                      <a:cubicBezTo>
                        <a:pt x="77" y="245"/>
                        <a:pt x="139" y="307"/>
                        <a:pt x="173" y="384"/>
                      </a:cubicBezTo>
                      <a:close/>
                    </a:path>
                  </a:pathLst>
                </a:custGeom>
                <a:solidFill>
                  <a:srgbClr val="DDEFE8"/>
                </a:solidFill>
                <a:ln w="6350">
                  <a:solidFill>
                    <a:schemeClr val="accent2"/>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a:ln>
                      <a:noFill/>
                    </a:ln>
                    <a:solidFill>
                      <a:prstClr val="black"/>
                    </a:solidFill>
                    <a:effectLst/>
                    <a:uLnTx/>
                    <a:uFillTx/>
                    <a:ea typeface="+mn-ea"/>
                    <a:cs typeface="+mn-cs"/>
                  </a:endParaRPr>
                </a:p>
              </p:txBody>
            </p:sp>
            <p:sp>
              <p:nvSpPr>
                <p:cNvPr id="404" name="Freeform 8">
                  <a:extLst>
                    <a:ext uri="{FF2B5EF4-FFF2-40B4-BE49-F238E27FC236}">
                      <a16:creationId xmlns:a16="http://schemas.microsoft.com/office/drawing/2014/main" id="{4400F6A3-1D85-4045-C248-6F5524D04C15}"/>
                    </a:ext>
                  </a:extLst>
                </p:cNvPr>
                <p:cNvSpPr>
                  <a:spLocks/>
                </p:cNvSpPr>
                <p:nvPr/>
              </p:nvSpPr>
              <p:spPr bwMode="auto">
                <a:xfrm>
                  <a:off x="17692687" y="3081339"/>
                  <a:ext cx="998537" cy="1676400"/>
                </a:xfrm>
                <a:custGeom>
                  <a:avLst/>
                  <a:gdLst>
                    <a:gd name="T0" fmla="*/ 0 w 249"/>
                    <a:gd name="T1" fmla="*/ 333 h 420"/>
                    <a:gd name="T2" fmla="*/ 210 w 249"/>
                    <a:gd name="T3" fmla="*/ 420 h 420"/>
                    <a:gd name="T4" fmla="*/ 249 w 249"/>
                    <a:gd name="T5" fmla="*/ 210 h 420"/>
                    <a:gd name="T6" fmla="*/ 210 w 249"/>
                    <a:gd name="T7" fmla="*/ 0 h 420"/>
                    <a:gd name="T8" fmla="*/ 0 w 249"/>
                    <a:gd name="T9" fmla="*/ 87 h 420"/>
                    <a:gd name="T10" fmla="*/ 22 w 249"/>
                    <a:gd name="T11" fmla="*/ 210 h 420"/>
                    <a:gd name="T12" fmla="*/ 0 w 249"/>
                    <a:gd name="T13" fmla="*/ 333 h 420"/>
                  </a:gdLst>
                  <a:ahLst/>
                  <a:cxnLst>
                    <a:cxn ang="0">
                      <a:pos x="T0" y="T1"/>
                    </a:cxn>
                    <a:cxn ang="0">
                      <a:pos x="T2" y="T3"/>
                    </a:cxn>
                    <a:cxn ang="0">
                      <a:pos x="T4" y="T5"/>
                    </a:cxn>
                    <a:cxn ang="0">
                      <a:pos x="T6" y="T7"/>
                    </a:cxn>
                    <a:cxn ang="0">
                      <a:pos x="T8" y="T9"/>
                    </a:cxn>
                    <a:cxn ang="0">
                      <a:pos x="T10" y="T11"/>
                    </a:cxn>
                    <a:cxn ang="0">
                      <a:pos x="T12" y="T13"/>
                    </a:cxn>
                  </a:cxnLst>
                  <a:rect l="0" t="0" r="r" b="b"/>
                  <a:pathLst>
                    <a:path w="249" h="420">
                      <a:moveTo>
                        <a:pt x="0" y="333"/>
                      </a:moveTo>
                      <a:cubicBezTo>
                        <a:pt x="210" y="420"/>
                        <a:pt x="210" y="420"/>
                        <a:pt x="210" y="420"/>
                      </a:cubicBezTo>
                      <a:cubicBezTo>
                        <a:pt x="235" y="355"/>
                        <a:pt x="249" y="284"/>
                        <a:pt x="249" y="210"/>
                      </a:cubicBezTo>
                      <a:cubicBezTo>
                        <a:pt x="249" y="136"/>
                        <a:pt x="235" y="65"/>
                        <a:pt x="210" y="0"/>
                      </a:cubicBezTo>
                      <a:cubicBezTo>
                        <a:pt x="0" y="87"/>
                        <a:pt x="0" y="87"/>
                        <a:pt x="0" y="87"/>
                      </a:cubicBezTo>
                      <a:cubicBezTo>
                        <a:pt x="14" y="125"/>
                        <a:pt x="22" y="167"/>
                        <a:pt x="22" y="210"/>
                      </a:cubicBezTo>
                      <a:cubicBezTo>
                        <a:pt x="22" y="253"/>
                        <a:pt x="14" y="295"/>
                        <a:pt x="0" y="333"/>
                      </a:cubicBezTo>
                      <a:close/>
                    </a:path>
                  </a:pathLst>
                </a:custGeom>
                <a:solidFill>
                  <a:srgbClr val="9DD4CF"/>
                </a:solidFill>
                <a:ln w="6350">
                  <a:solidFill>
                    <a:schemeClr val="accent3"/>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a:ln>
                      <a:noFill/>
                    </a:ln>
                    <a:solidFill>
                      <a:prstClr val="black"/>
                    </a:solidFill>
                    <a:effectLst/>
                    <a:uLnTx/>
                    <a:uFillTx/>
                    <a:ea typeface="+mn-ea"/>
                    <a:cs typeface="+mn-cs"/>
                  </a:endParaRPr>
                </a:p>
              </p:txBody>
            </p:sp>
            <p:sp>
              <p:nvSpPr>
                <p:cNvPr id="405" name="Freeform 9">
                  <a:extLst>
                    <a:ext uri="{FF2B5EF4-FFF2-40B4-BE49-F238E27FC236}">
                      <a16:creationId xmlns:a16="http://schemas.microsoft.com/office/drawing/2014/main" id="{8A46D8FF-6EB9-07A9-4F62-863D9767A83F}"/>
                    </a:ext>
                  </a:extLst>
                </p:cNvPr>
                <p:cNvSpPr>
                  <a:spLocks/>
                </p:cNvSpPr>
                <p:nvPr/>
              </p:nvSpPr>
              <p:spPr bwMode="auto">
                <a:xfrm>
                  <a:off x="14103350" y="3081338"/>
                  <a:ext cx="1001713" cy="1676400"/>
                </a:xfrm>
                <a:custGeom>
                  <a:avLst/>
                  <a:gdLst>
                    <a:gd name="T0" fmla="*/ 250 w 250"/>
                    <a:gd name="T1" fmla="*/ 87 h 420"/>
                    <a:gd name="T2" fmla="*/ 40 w 250"/>
                    <a:gd name="T3" fmla="*/ 0 h 420"/>
                    <a:gd name="T4" fmla="*/ 0 w 250"/>
                    <a:gd name="T5" fmla="*/ 210 h 420"/>
                    <a:gd name="T6" fmla="*/ 40 w 250"/>
                    <a:gd name="T7" fmla="*/ 420 h 420"/>
                    <a:gd name="T8" fmla="*/ 250 w 250"/>
                    <a:gd name="T9" fmla="*/ 333 h 420"/>
                    <a:gd name="T10" fmla="*/ 227 w 250"/>
                    <a:gd name="T11" fmla="*/ 210 h 420"/>
                    <a:gd name="T12" fmla="*/ 250 w 250"/>
                    <a:gd name="T13" fmla="*/ 87 h 420"/>
                  </a:gdLst>
                  <a:ahLst/>
                  <a:cxnLst>
                    <a:cxn ang="0">
                      <a:pos x="T0" y="T1"/>
                    </a:cxn>
                    <a:cxn ang="0">
                      <a:pos x="T2" y="T3"/>
                    </a:cxn>
                    <a:cxn ang="0">
                      <a:pos x="T4" y="T5"/>
                    </a:cxn>
                    <a:cxn ang="0">
                      <a:pos x="T6" y="T7"/>
                    </a:cxn>
                    <a:cxn ang="0">
                      <a:pos x="T8" y="T9"/>
                    </a:cxn>
                    <a:cxn ang="0">
                      <a:pos x="T10" y="T11"/>
                    </a:cxn>
                    <a:cxn ang="0">
                      <a:pos x="T12" y="T13"/>
                    </a:cxn>
                  </a:cxnLst>
                  <a:rect l="0" t="0" r="r" b="b"/>
                  <a:pathLst>
                    <a:path w="250" h="420">
                      <a:moveTo>
                        <a:pt x="250" y="87"/>
                      </a:moveTo>
                      <a:cubicBezTo>
                        <a:pt x="40" y="0"/>
                        <a:pt x="40" y="0"/>
                        <a:pt x="40" y="0"/>
                      </a:cubicBezTo>
                      <a:cubicBezTo>
                        <a:pt x="15" y="65"/>
                        <a:pt x="0" y="136"/>
                        <a:pt x="0" y="210"/>
                      </a:cubicBezTo>
                      <a:cubicBezTo>
                        <a:pt x="0" y="284"/>
                        <a:pt x="15" y="355"/>
                        <a:pt x="40" y="420"/>
                      </a:cubicBezTo>
                      <a:cubicBezTo>
                        <a:pt x="250" y="333"/>
                        <a:pt x="250" y="333"/>
                        <a:pt x="250" y="333"/>
                      </a:cubicBezTo>
                      <a:cubicBezTo>
                        <a:pt x="235" y="295"/>
                        <a:pt x="227" y="253"/>
                        <a:pt x="227" y="210"/>
                      </a:cubicBezTo>
                      <a:cubicBezTo>
                        <a:pt x="227" y="167"/>
                        <a:pt x="235" y="125"/>
                        <a:pt x="250" y="87"/>
                      </a:cubicBezTo>
                      <a:close/>
                    </a:path>
                  </a:pathLst>
                </a:custGeom>
                <a:solidFill>
                  <a:srgbClr val="D0D0CE"/>
                </a:solidFill>
                <a:ln w="6350">
                  <a:solidFill>
                    <a:schemeClr val="accent5"/>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a:ln>
                      <a:noFill/>
                    </a:ln>
                    <a:solidFill>
                      <a:prstClr val="black"/>
                    </a:solidFill>
                    <a:effectLst/>
                    <a:uLnTx/>
                    <a:uFillTx/>
                    <a:ea typeface="+mn-ea"/>
                    <a:cs typeface="+mn-cs"/>
                  </a:endParaRPr>
                </a:p>
              </p:txBody>
            </p:sp>
            <p:sp>
              <p:nvSpPr>
                <p:cNvPr id="407" name="Freeform 11">
                  <a:extLst>
                    <a:ext uri="{FF2B5EF4-FFF2-40B4-BE49-F238E27FC236}">
                      <a16:creationId xmlns:a16="http://schemas.microsoft.com/office/drawing/2014/main" id="{FCAE704A-BACC-5956-6829-466DF97C9442}"/>
                    </a:ext>
                  </a:extLst>
                </p:cNvPr>
                <p:cNvSpPr>
                  <a:spLocks/>
                </p:cNvSpPr>
                <p:nvPr/>
              </p:nvSpPr>
              <p:spPr bwMode="auto">
                <a:xfrm>
                  <a:off x="14295438" y="1824038"/>
                  <a:ext cx="1535113" cy="1533525"/>
                </a:xfrm>
                <a:custGeom>
                  <a:avLst/>
                  <a:gdLst>
                    <a:gd name="T0" fmla="*/ 383 w 383"/>
                    <a:gd name="T1" fmla="*/ 210 h 384"/>
                    <a:gd name="T2" fmla="*/ 296 w 383"/>
                    <a:gd name="T3" fmla="*/ 0 h 384"/>
                    <a:gd name="T4" fmla="*/ 0 w 383"/>
                    <a:gd name="T5" fmla="*/ 297 h 384"/>
                    <a:gd name="T6" fmla="*/ 210 w 383"/>
                    <a:gd name="T7" fmla="*/ 384 h 384"/>
                    <a:gd name="T8" fmla="*/ 383 w 383"/>
                    <a:gd name="T9" fmla="*/ 210 h 384"/>
                  </a:gdLst>
                  <a:ahLst/>
                  <a:cxnLst>
                    <a:cxn ang="0">
                      <a:pos x="T0" y="T1"/>
                    </a:cxn>
                    <a:cxn ang="0">
                      <a:pos x="T2" y="T3"/>
                    </a:cxn>
                    <a:cxn ang="0">
                      <a:pos x="T4" y="T5"/>
                    </a:cxn>
                    <a:cxn ang="0">
                      <a:pos x="T6" y="T7"/>
                    </a:cxn>
                    <a:cxn ang="0">
                      <a:pos x="T8" y="T9"/>
                    </a:cxn>
                  </a:cxnLst>
                  <a:rect l="0" t="0" r="r" b="b"/>
                  <a:pathLst>
                    <a:path w="383" h="384">
                      <a:moveTo>
                        <a:pt x="383" y="210"/>
                      </a:moveTo>
                      <a:cubicBezTo>
                        <a:pt x="296" y="0"/>
                        <a:pt x="296" y="0"/>
                        <a:pt x="296" y="0"/>
                      </a:cubicBezTo>
                      <a:cubicBezTo>
                        <a:pt x="164" y="58"/>
                        <a:pt x="58" y="164"/>
                        <a:pt x="0" y="297"/>
                      </a:cubicBezTo>
                      <a:cubicBezTo>
                        <a:pt x="210" y="384"/>
                        <a:pt x="210" y="384"/>
                        <a:pt x="210" y="384"/>
                      </a:cubicBezTo>
                      <a:cubicBezTo>
                        <a:pt x="244" y="307"/>
                        <a:pt x="306" y="245"/>
                        <a:pt x="383" y="210"/>
                      </a:cubicBezTo>
                      <a:close/>
                    </a:path>
                  </a:pathLst>
                </a:custGeom>
                <a:solidFill>
                  <a:srgbClr val="A0DCFF"/>
                </a:solidFill>
                <a:ln w="6350">
                  <a:solidFill>
                    <a:srgbClr val="0070C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a:ln>
                      <a:noFill/>
                    </a:ln>
                    <a:solidFill>
                      <a:prstClr val="black"/>
                    </a:solidFill>
                    <a:effectLst/>
                    <a:uLnTx/>
                    <a:uFillTx/>
                    <a:ea typeface="+mn-ea"/>
                    <a:cs typeface="+mn-cs"/>
                  </a:endParaRPr>
                </a:p>
              </p:txBody>
            </p:sp>
            <p:sp>
              <p:nvSpPr>
                <p:cNvPr id="408" name="Freeform 13">
                  <a:extLst>
                    <a:ext uri="{FF2B5EF4-FFF2-40B4-BE49-F238E27FC236}">
                      <a16:creationId xmlns:a16="http://schemas.microsoft.com/office/drawing/2014/main" id="{73819E1A-F73A-F229-D5D8-D5BB5CD140D3}"/>
                    </a:ext>
                  </a:extLst>
                </p:cNvPr>
                <p:cNvSpPr>
                  <a:spLocks/>
                </p:cNvSpPr>
                <p:nvPr/>
              </p:nvSpPr>
              <p:spPr bwMode="auto">
                <a:xfrm>
                  <a:off x="14295436" y="4483101"/>
                  <a:ext cx="1592494" cy="1531937"/>
                </a:xfrm>
                <a:custGeom>
                  <a:avLst/>
                  <a:gdLst>
                    <a:gd name="T0" fmla="*/ 210 w 383"/>
                    <a:gd name="T1" fmla="*/ 0 h 384"/>
                    <a:gd name="T2" fmla="*/ 0 w 383"/>
                    <a:gd name="T3" fmla="*/ 87 h 384"/>
                    <a:gd name="T4" fmla="*/ 296 w 383"/>
                    <a:gd name="T5" fmla="*/ 384 h 384"/>
                    <a:gd name="T6" fmla="*/ 383 w 383"/>
                    <a:gd name="T7" fmla="*/ 174 h 384"/>
                    <a:gd name="T8" fmla="*/ 210 w 383"/>
                    <a:gd name="T9" fmla="*/ 0 h 384"/>
                  </a:gdLst>
                  <a:ahLst/>
                  <a:cxnLst>
                    <a:cxn ang="0">
                      <a:pos x="T0" y="T1"/>
                    </a:cxn>
                    <a:cxn ang="0">
                      <a:pos x="T2" y="T3"/>
                    </a:cxn>
                    <a:cxn ang="0">
                      <a:pos x="T4" y="T5"/>
                    </a:cxn>
                    <a:cxn ang="0">
                      <a:pos x="T6" y="T7"/>
                    </a:cxn>
                    <a:cxn ang="0">
                      <a:pos x="T8" y="T9"/>
                    </a:cxn>
                  </a:cxnLst>
                  <a:rect l="0" t="0" r="r" b="b"/>
                  <a:pathLst>
                    <a:path w="383" h="384">
                      <a:moveTo>
                        <a:pt x="210" y="0"/>
                      </a:moveTo>
                      <a:cubicBezTo>
                        <a:pt x="0" y="87"/>
                        <a:pt x="0" y="87"/>
                        <a:pt x="0" y="87"/>
                      </a:cubicBezTo>
                      <a:cubicBezTo>
                        <a:pt x="58" y="220"/>
                        <a:pt x="164" y="326"/>
                        <a:pt x="296" y="384"/>
                      </a:cubicBezTo>
                      <a:cubicBezTo>
                        <a:pt x="383" y="174"/>
                        <a:pt x="383" y="174"/>
                        <a:pt x="383" y="174"/>
                      </a:cubicBezTo>
                      <a:cubicBezTo>
                        <a:pt x="306" y="139"/>
                        <a:pt x="244" y="77"/>
                        <a:pt x="210" y="0"/>
                      </a:cubicBezTo>
                      <a:close/>
                    </a:path>
                  </a:pathLst>
                </a:custGeom>
                <a:solidFill>
                  <a:srgbClr val="6FC2B4"/>
                </a:solidFill>
                <a:ln w="6350">
                  <a:solidFill>
                    <a:schemeClr val="accent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a:ln>
                      <a:noFill/>
                    </a:ln>
                    <a:solidFill>
                      <a:prstClr val="black"/>
                    </a:solidFill>
                    <a:effectLst/>
                    <a:uLnTx/>
                    <a:uFillTx/>
                    <a:ea typeface="+mn-ea"/>
                    <a:cs typeface="+mn-cs"/>
                  </a:endParaRPr>
                </a:p>
              </p:txBody>
            </p:sp>
            <p:sp>
              <p:nvSpPr>
                <p:cNvPr id="409" name="Freeform 14">
                  <a:extLst>
                    <a:ext uri="{FF2B5EF4-FFF2-40B4-BE49-F238E27FC236}">
                      <a16:creationId xmlns:a16="http://schemas.microsoft.com/office/drawing/2014/main" id="{EE2D2DDA-09B8-9D41-3F01-8B2B25E34E76}"/>
                    </a:ext>
                  </a:extLst>
                </p:cNvPr>
                <p:cNvSpPr>
                  <a:spLocks/>
                </p:cNvSpPr>
                <p:nvPr/>
              </p:nvSpPr>
              <p:spPr bwMode="auto">
                <a:xfrm>
                  <a:off x="15136813" y="4427538"/>
                  <a:ext cx="754063" cy="749300"/>
                </a:xfrm>
                <a:custGeom>
                  <a:avLst/>
                  <a:gdLst>
                    <a:gd name="T0" fmla="*/ 126 w 188"/>
                    <a:gd name="T1" fmla="*/ 62 h 188"/>
                    <a:gd name="T2" fmla="*/ 82 w 188"/>
                    <a:gd name="T3" fmla="*/ 74 h 188"/>
                    <a:gd name="T4" fmla="*/ 34 w 188"/>
                    <a:gd name="T5" fmla="*/ 0 h 188"/>
                    <a:gd name="T6" fmla="*/ 0 w 188"/>
                    <a:gd name="T7" fmla="*/ 14 h 188"/>
                    <a:gd name="T8" fmla="*/ 173 w 188"/>
                    <a:gd name="T9" fmla="*/ 188 h 188"/>
                    <a:gd name="T10" fmla="*/ 188 w 188"/>
                    <a:gd name="T11" fmla="*/ 153 h 188"/>
                    <a:gd name="T12" fmla="*/ 114 w 188"/>
                    <a:gd name="T13" fmla="*/ 106 h 188"/>
                    <a:gd name="T14" fmla="*/ 126 w 188"/>
                    <a:gd name="T15" fmla="*/ 62 h 1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8" h="188">
                      <a:moveTo>
                        <a:pt x="126" y="62"/>
                      </a:moveTo>
                      <a:cubicBezTo>
                        <a:pt x="82" y="74"/>
                        <a:pt x="82" y="74"/>
                        <a:pt x="82" y="74"/>
                      </a:cubicBezTo>
                      <a:cubicBezTo>
                        <a:pt x="63" y="52"/>
                        <a:pt x="47" y="27"/>
                        <a:pt x="34" y="0"/>
                      </a:cubicBezTo>
                      <a:cubicBezTo>
                        <a:pt x="0" y="14"/>
                        <a:pt x="0" y="14"/>
                        <a:pt x="0" y="14"/>
                      </a:cubicBezTo>
                      <a:cubicBezTo>
                        <a:pt x="34" y="91"/>
                        <a:pt x="96" y="153"/>
                        <a:pt x="173" y="188"/>
                      </a:cubicBezTo>
                      <a:cubicBezTo>
                        <a:pt x="188" y="153"/>
                        <a:pt x="188" y="153"/>
                        <a:pt x="188" y="153"/>
                      </a:cubicBezTo>
                      <a:cubicBezTo>
                        <a:pt x="161" y="141"/>
                        <a:pt x="136" y="125"/>
                        <a:pt x="114" y="106"/>
                      </a:cubicBezTo>
                      <a:lnTo>
                        <a:pt x="126" y="62"/>
                      </a:lnTo>
                      <a:close/>
                    </a:path>
                  </a:pathLst>
                </a:custGeom>
                <a:solidFill>
                  <a:schemeClr val="accent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a:ln>
                      <a:noFill/>
                    </a:ln>
                    <a:solidFill>
                      <a:prstClr val="black"/>
                    </a:solidFill>
                    <a:effectLst/>
                    <a:uLnTx/>
                    <a:uFillTx/>
                    <a:ea typeface="+mn-ea"/>
                    <a:cs typeface="+mn-cs"/>
                  </a:endParaRPr>
                </a:p>
              </p:txBody>
            </p:sp>
            <p:sp>
              <p:nvSpPr>
                <p:cNvPr id="410" name="Freeform 15">
                  <a:extLst>
                    <a:ext uri="{FF2B5EF4-FFF2-40B4-BE49-F238E27FC236}">
                      <a16:creationId xmlns:a16="http://schemas.microsoft.com/office/drawing/2014/main" id="{831AC7F6-BC13-62A7-E5C1-85C9A74E16C1}"/>
                    </a:ext>
                  </a:extLst>
                </p:cNvPr>
                <p:cNvSpPr>
                  <a:spLocks/>
                </p:cNvSpPr>
                <p:nvPr/>
              </p:nvSpPr>
              <p:spPr bwMode="auto">
                <a:xfrm>
                  <a:off x="16906875" y="2662238"/>
                  <a:ext cx="754063" cy="750888"/>
                </a:xfrm>
                <a:custGeom>
                  <a:avLst/>
                  <a:gdLst>
                    <a:gd name="T0" fmla="*/ 62 w 188"/>
                    <a:gd name="T1" fmla="*/ 126 h 188"/>
                    <a:gd name="T2" fmla="*/ 106 w 188"/>
                    <a:gd name="T3" fmla="*/ 114 h 188"/>
                    <a:gd name="T4" fmla="*/ 154 w 188"/>
                    <a:gd name="T5" fmla="*/ 188 h 188"/>
                    <a:gd name="T6" fmla="*/ 154 w 188"/>
                    <a:gd name="T7" fmla="*/ 188 h 188"/>
                    <a:gd name="T8" fmla="*/ 188 w 188"/>
                    <a:gd name="T9" fmla="*/ 174 h 188"/>
                    <a:gd name="T10" fmla="*/ 15 w 188"/>
                    <a:gd name="T11" fmla="*/ 0 h 188"/>
                    <a:gd name="T12" fmla="*/ 0 w 188"/>
                    <a:gd name="T13" fmla="*/ 35 h 188"/>
                    <a:gd name="T14" fmla="*/ 74 w 188"/>
                    <a:gd name="T15" fmla="*/ 82 h 188"/>
                    <a:gd name="T16" fmla="*/ 62 w 188"/>
                    <a:gd name="T17" fmla="*/ 126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8" h="188">
                      <a:moveTo>
                        <a:pt x="62" y="126"/>
                      </a:moveTo>
                      <a:cubicBezTo>
                        <a:pt x="106" y="114"/>
                        <a:pt x="106" y="114"/>
                        <a:pt x="106" y="114"/>
                      </a:cubicBezTo>
                      <a:cubicBezTo>
                        <a:pt x="125" y="136"/>
                        <a:pt x="141" y="161"/>
                        <a:pt x="154" y="188"/>
                      </a:cubicBezTo>
                      <a:cubicBezTo>
                        <a:pt x="154" y="188"/>
                        <a:pt x="154" y="188"/>
                        <a:pt x="154" y="188"/>
                      </a:cubicBezTo>
                      <a:cubicBezTo>
                        <a:pt x="188" y="174"/>
                        <a:pt x="188" y="174"/>
                        <a:pt x="188" y="174"/>
                      </a:cubicBezTo>
                      <a:cubicBezTo>
                        <a:pt x="154" y="97"/>
                        <a:pt x="92" y="35"/>
                        <a:pt x="15" y="0"/>
                      </a:cubicBezTo>
                      <a:cubicBezTo>
                        <a:pt x="0" y="35"/>
                        <a:pt x="0" y="35"/>
                        <a:pt x="0" y="35"/>
                      </a:cubicBezTo>
                      <a:cubicBezTo>
                        <a:pt x="27" y="47"/>
                        <a:pt x="52" y="63"/>
                        <a:pt x="74" y="82"/>
                      </a:cubicBezTo>
                      <a:lnTo>
                        <a:pt x="62" y="126"/>
                      </a:lnTo>
                      <a:close/>
                    </a:path>
                  </a:pathLst>
                </a:custGeom>
                <a:solidFill>
                  <a:schemeClr val="accent2"/>
                </a:solidFill>
                <a:ln w="6350">
                  <a:solidFill>
                    <a:schemeClr val="accent2"/>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a:ln>
                      <a:noFill/>
                    </a:ln>
                    <a:solidFill>
                      <a:prstClr val="black"/>
                    </a:solidFill>
                    <a:effectLst/>
                    <a:uLnTx/>
                    <a:uFillTx/>
                    <a:ea typeface="+mn-ea"/>
                    <a:cs typeface="+mn-cs"/>
                  </a:endParaRPr>
                </a:p>
              </p:txBody>
            </p:sp>
            <p:sp>
              <p:nvSpPr>
                <p:cNvPr id="411" name="Freeform 16">
                  <a:extLst>
                    <a:ext uri="{FF2B5EF4-FFF2-40B4-BE49-F238E27FC236}">
                      <a16:creationId xmlns:a16="http://schemas.microsoft.com/office/drawing/2014/main" id="{D566EFF0-5BB1-52C6-AC55-ABDB5390FE34}"/>
                    </a:ext>
                  </a:extLst>
                </p:cNvPr>
                <p:cNvSpPr>
                  <a:spLocks/>
                </p:cNvSpPr>
                <p:nvPr/>
              </p:nvSpPr>
              <p:spPr bwMode="auto">
                <a:xfrm>
                  <a:off x="15906750" y="2543176"/>
                  <a:ext cx="982663" cy="311150"/>
                </a:xfrm>
                <a:custGeom>
                  <a:avLst/>
                  <a:gdLst>
                    <a:gd name="T0" fmla="*/ 0 w 245"/>
                    <a:gd name="T1" fmla="*/ 23 h 78"/>
                    <a:gd name="T2" fmla="*/ 14 w 245"/>
                    <a:gd name="T3" fmla="*/ 57 h 78"/>
                    <a:gd name="T4" fmla="*/ 14 w 245"/>
                    <a:gd name="T5" fmla="*/ 57 h 78"/>
                    <a:gd name="T6" fmla="*/ 25 w 245"/>
                    <a:gd name="T7" fmla="*/ 53 h 78"/>
                    <a:gd name="T8" fmla="*/ 28 w 245"/>
                    <a:gd name="T9" fmla="*/ 52 h 78"/>
                    <a:gd name="T10" fmla="*/ 38 w 245"/>
                    <a:gd name="T11" fmla="*/ 49 h 78"/>
                    <a:gd name="T12" fmla="*/ 41 w 245"/>
                    <a:gd name="T13" fmla="*/ 48 h 78"/>
                    <a:gd name="T14" fmla="*/ 51 w 245"/>
                    <a:gd name="T15" fmla="*/ 46 h 78"/>
                    <a:gd name="T16" fmla="*/ 56 w 245"/>
                    <a:gd name="T17" fmla="*/ 45 h 78"/>
                    <a:gd name="T18" fmla="*/ 64 w 245"/>
                    <a:gd name="T19" fmla="*/ 43 h 78"/>
                    <a:gd name="T20" fmla="*/ 70 w 245"/>
                    <a:gd name="T21" fmla="*/ 42 h 78"/>
                    <a:gd name="T22" fmla="*/ 78 w 245"/>
                    <a:gd name="T23" fmla="*/ 41 h 78"/>
                    <a:gd name="T24" fmla="*/ 86 w 245"/>
                    <a:gd name="T25" fmla="*/ 40 h 78"/>
                    <a:gd name="T26" fmla="*/ 93 w 245"/>
                    <a:gd name="T27" fmla="*/ 39 h 78"/>
                    <a:gd name="T28" fmla="*/ 100 w 245"/>
                    <a:gd name="T29" fmla="*/ 38 h 78"/>
                    <a:gd name="T30" fmla="*/ 122 w 245"/>
                    <a:gd name="T31" fmla="*/ 78 h 78"/>
                    <a:gd name="T32" fmla="*/ 145 w 245"/>
                    <a:gd name="T33" fmla="*/ 38 h 78"/>
                    <a:gd name="T34" fmla="*/ 152 w 245"/>
                    <a:gd name="T35" fmla="*/ 39 h 78"/>
                    <a:gd name="T36" fmla="*/ 159 w 245"/>
                    <a:gd name="T37" fmla="*/ 40 h 78"/>
                    <a:gd name="T38" fmla="*/ 167 w 245"/>
                    <a:gd name="T39" fmla="*/ 41 h 78"/>
                    <a:gd name="T40" fmla="*/ 175 w 245"/>
                    <a:gd name="T41" fmla="*/ 42 h 78"/>
                    <a:gd name="T42" fmla="*/ 181 w 245"/>
                    <a:gd name="T43" fmla="*/ 43 h 78"/>
                    <a:gd name="T44" fmla="*/ 189 w 245"/>
                    <a:gd name="T45" fmla="*/ 45 h 78"/>
                    <a:gd name="T46" fmla="*/ 194 w 245"/>
                    <a:gd name="T47" fmla="*/ 46 h 78"/>
                    <a:gd name="T48" fmla="*/ 204 w 245"/>
                    <a:gd name="T49" fmla="*/ 48 h 78"/>
                    <a:gd name="T50" fmla="*/ 207 w 245"/>
                    <a:gd name="T51" fmla="*/ 49 h 78"/>
                    <a:gd name="T52" fmla="*/ 217 w 245"/>
                    <a:gd name="T53" fmla="*/ 52 h 78"/>
                    <a:gd name="T54" fmla="*/ 220 w 245"/>
                    <a:gd name="T55" fmla="*/ 53 h 78"/>
                    <a:gd name="T56" fmla="*/ 231 w 245"/>
                    <a:gd name="T57" fmla="*/ 57 h 78"/>
                    <a:gd name="T58" fmla="*/ 245 w 245"/>
                    <a:gd name="T59" fmla="*/ 23 h 78"/>
                    <a:gd name="T60" fmla="*/ 122 w 245"/>
                    <a:gd name="T61" fmla="*/ 0 h 78"/>
                    <a:gd name="T62" fmla="*/ 0 w 245"/>
                    <a:gd name="T63" fmla="*/ 2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5" h="78">
                      <a:moveTo>
                        <a:pt x="0" y="23"/>
                      </a:moveTo>
                      <a:cubicBezTo>
                        <a:pt x="14" y="57"/>
                        <a:pt x="14" y="57"/>
                        <a:pt x="14" y="57"/>
                      </a:cubicBezTo>
                      <a:cubicBezTo>
                        <a:pt x="14" y="57"/>
                        <a:pt x="14" y="57"/>
                        <a:pt x="14" y="57"/>
                      </a:cubicBezTo>
                      <a:cubicBezTo>
                        <a:pt x="18" y="56"/>
                        <a:pt x="21" y="55"/>
                        <a:pt x="25" y="53"/>
                      </a:cubicBezTo>
                      <a:cubicBezTo>
                        <a:pt x="26" y="53"/>
                        <a:pt x="27" y="53"/>
                        <a:pt x="28" y="52"/>
                      </a:cubicBezTo>
                      <a:cubicBezTo>
                        <a:pt x="31" y="51"/>
                        <a:pt x="34" y="50"/>
                        <a:pt x="38" y="49"/>
                      </a:cubicBezTo>
                      <a:cubicBezTo>
                        <a:pt x="39" y="49"/>
                        <a:pt x="40" y="49"/>
                        <a:pt x="41" y="48"/>
                      </a:cubicBezTo>
                      <a:cubicBezTo>
                        <a:pt x="44" y="48"/>
                        <a:pt x="48" y="47"/>
                        <a:pt x="51" y="46"/>
                      </a:cubicBezTo>
                      <a:cubicBezTo>
                        <a:pt x="52" y="46"/>
                        <a:pt x="54" y="45"/>
                        <a:pt x="56" y="45"/>
                      </a:cubicBezTo>
                      <a:cubicBezTo>
                        <a:pt x="59" y="44"/>
                        <a:pt x="61" y="44"/>
                        <a:pt x="64" y="43"/>
                      </a:cubicBezTo>
                      <a:cubicBezTo>
                        <a:pt x="66" y="43"/>
                        <a:pt x="68" y="42"/>
                        <a:pt x="70" y="42"/>
                      </a:cubicBezTo>
                      <a:cubicBezTo>
                        <a:pt x="73" y="42"/>
                        <a:pt x="76" y="41"/>
                        <a:pt x="78" y="41"/>
                      </a:cubicBezTo>
                      <a:cubicBezTo>
                        <a:pt x="81" y="40"/>
                        <a:pt x="83" y="40"/>
                        <a:pt x="86" y="40"/>
                      </a:cubicBezTo>
                      <a:cubicBezTo>
                        <a:pt x="88" y="39"/>
                        <a:pt x="90" y="39"/>
                        <a:pt x="93" y="39"/>
                      </a:cubicBezTo>
                      <a:cubicBezTo>
                        <a:pt x="95" y="39"/>
                        <a:pt x="97" y="39"/>
                        <a:pt x="100" y="38"/>
                      </a:cubicBezTo>
                      <a:cubicBezTo>
                        <a:pt x="122" y="78"/>
                        <a:pt x="122" y="78"/>
                        <a:pt x="122" y="78"/>
                      </a:cubicBezTo>
                      <a:cubicBezTo>
                        <a:pt x="145" y="38"/>
                        <a:pt x="145" y="38"/>
                        <a:pt x="145" y="38"/>
                      </a:cubicBezTo>
                      <a:cubicBezTo>
                        <a:pt x="148" y="39"/>
                        <a:pt x="150" y="39"/>
                        <a:pt x="152" y="39"/>
                      </a:cubicBezTo>
                      <a:cubicBezTo>
                        <a:pt x="155" y="39"/>
                        <a:pt x="157" y="39"/>
                        <a:pt x="159" y="40"/>
                      </a:cubicBezTo>
                      <a:cubicBezTo>
                        <a:pt x="162" y="40"/>
                        <a:pt x="164" y="40"/>
                        <a:pt x="167" y="41"/>
                      </a:cubicBezTo>
                      <a:cubicBezTo>
                        <a:pt x="169" y="41"/>
                        <a:pt x="172" y="42"/>
                        <a:pt x="175" y="42"/>
                      </a:cubicBezTo>
                      <a:cubicBezTo>
                        <a:pt x="177" y="42"/>
                        <a:pt x="179" y="43"/>
                        <a:pt x="181" y="43"/>
                      </a:cubicBezTo>
                      <a:cubicBezTo>
                        <a:pt x="184" y="44"/>
                        <a:pt x="186" y="44"/>
                        <a:pt x="189" y="45"/>
                      </a:cubicBezTo>
                      <a:cubicBezTo>
                        <a:pt x="191" y="45"/>
                        <a:pt x="193" y="46"/>
                        <a:pt x="194" y="46"/>
                      </a:cubicBezTo>
                      <a:cubicBezTo>
                        <a:pt x="197" y="47"/>
                        <a:pt x="200" y="48"/>
                        <a:pt x="204" y="48"/>
                      </a:cubicBezTo>
                      <a:cubicBezTo>
                        <a:pt x="205" y="49"/>
                        <a:pt x="206" y="49"/>
                        <a:pt x="207" y="49"/>
                      </a:cubicBezTo>
                      <a:cubicBezTo>
                        <a:pt x="211" y="50"/>
                        <a:pt x="214" y="51"/>
                        <a:pt x="217" y="52"/>
                      </a:cubicBezTo>
                      <a:cubicBezTo>
                        <a:pt x="218" y="53"/>
                        <a:pt x="219" y="53"/>
                        <a:pt x="220" y="53"/>
                      </a:cubicBezTo>
                      <a:cubicBezTo>
                        <a:pt x="224" y="55"/>
                        <a:pt x="227" y="56"/>
                        <a:pt x="231" y="57"/>
                      </a:cubicBezTo>
                      <a:cubicBezTo>
                        <a:pt x="245" y="23"/>
                        <a:pt x="245" y="23"/>
                        <a:pt x="245" y="23"/>
                      </a:cubicBezTo>
                      <a:cubicBezTo>
                        <a:pt x="207" y="8"/>
                        <a:pt x="166" y="0"/>
                        <a:pt x="122" y="0"/>
                      </a:cubicBezTo>
                      <a:cubicBezTo>
                        <a:pt x="79" y="0"/>
                        <a:pt x="38" y="8"/>
                        <a:pt x="0" y="23"/>
                      </a:cubicBezTo>
                      <a:close/>
                    </a:path>
                  </a:pathLst>
                </a:custGeom>
                <a:solidFill>
                  <a:schemeClr val="accent1"/>
                </a:solidFill>
                <a:ln w="6350">
                  <a:solidFill>
                    <a:schemeClr val="accent1"/>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a:ln>
                      <a:noFill/>
                    </a:ln>
                    <a:solidFill>
                      <a:prstClr val="black"/>
                    </a:solidFill>
                    <a:effectLst/>
                    <a:uLnTx/>
                    <a:uFillTx/>
                    <a:ea typeface="+mn-ea"/>
                    <a:cs typeface="+mn-cs"/>
                  </a:endParaRPr>
                </a:p>
              </p:txBody>
            </p:sp>
            <p:sp>
              <p:nvSpPr>
                <p:cNvPr id="412" name="Freeform 17">
                  <a:extLst>
                    <a:ext uri="{FF2B5EF4-FFF2-40B4-BE49-F238E27FC236}">
                      <a16:creationId xmlns:a16="http://schemas.microsoft.com/office/drawing/2014/main" id="{39C02904-1837-3FD7-9322-F7DBC0C8CCAC}"/>
                    </a:ext>
                  </a:extLst>
                </p:cNvPr>
                <p:cNvSpPr>
                  <a:spLocks/>
                </p:cNvSpPr>
                <p:nvPr/>
              </p:nvSpPr>
              <p:spPr bwMode="auto">
                <a:xfrm>
                  <a:off x="17472025" y="3429001"/>
                  <a:ext cx="307975" cy="982663"/>
                </a:xfrm>
                <a:custGeom>
                  <a:avLst/>
                  <a:gdLst>
                    <a:gd name="T0" fmla="*/ 55 w 77"/>
                    <a:gd name="T1" fmla="*/ 0 h 246"/>
                    <a:gd name="T2" fmla="*/ 20 w 77"/>
                    <a:gd name="T3" fmla="*/ 15 h 246"/>
                    <a:gd name="T4" fmla="*/ 24 w 77"/>
                    <a:gd name="T5" fmla="*/ 26 h 246"/>
                    <a:gd name="T6" fmla="*/ 25 w 77"/>
                    <a:gd name="T7" fmla="*/ 28 h 246"/>
                    <a:gd name="T8" fmla="*/ 28 w 77"/>
                    <a:gd name="T9" fmla="*/ 38 h 246"/>
                    <a:gd name="T10" fmla="*/ 29 w 77"/>
                    <a:gd name="T11" fmla="*/ 42 h 246"/>
                    <a:gd name="T12" fmla="*/ 31 w 77"/>
                    <a:gd name="T13" fmla="*/ 51 h 246"/>
                    <a:gd name="T14" fmla="*/ 33 w 77"/>
                    <a:gd name="T15" fmla="*/ 56 h 246"/>
                    <a:gd name="T16" fmla="*/ 34 w 77"/>
                    <a:gd name="T17" fmla="*/ 65 h 246"/>
                    <a:gd name="T18" fmla="*/ 36 w 77"/>
                    <a:gd name="T19" fmla="*/ 71 h 246"/>
                    <a:gd name="T20" fmla="*/ 37 w 77"/>
                    <a:gd name="T21" fmla="*/ 79 h 246"/>
                    <a:gd name="T22" fmla="*/ 38 w 77"/>
                    <a:gd name="T23" fmla="*/ 86 h 246"/>
                    <a:gd name="T24" fmla="*/ 39 w 77"/>
                    <a:gd name="T25" fmla="*/ 93 h 246"/>
                    <a:gd name="T26" fmla="*/ 39 w 77"/>
                    <a:gd name="T27" fmla="*/ 100 h 246"/>
                    <a:gd name="T28" fmla="*/ 0 w 77"/>
                    <a:gd name="T29" fmla="*/ 123 h 246"/>
                    <a:gd name="T30" fmla="*/ 39 w 77"/>
                    <a:gd name="T31" fmla="*/ 146 h 246"/>
                    <a:gd name="T32" fmla="*/ 39 w 77"/>
                    <a:gd name="T33" fmla="*/ 153 h 246"/>
                    <a:gd name="T34" fmla="*/ 38 w 77"/>
                    <a:gd name="T35" fmla="*/ 160 h 246"/>
                    <a:gd name="T36" fmla="*/ 37 w 77"/>
                    <a:gd name="T37" fmla="*/ 167 h 246"/>
                    <a:gd name="T38" fmla="*/ 36 w 77"/>
                    <a:gd name="T39" fmla="*/ 175 h 246"/>
                    <a:gd name="T40" fmla="*/ 34 w 77"/>
                    <a:gd name="T41" fmla="*/ 181 h 246"/>
                    <a:gd name="T42" fmla="*/ 33 w 77"/>
                    <a:gd name="T43" fmla="*/ 190 h 246"/>
                    <a:gd name="T44" fmla="*/ 31 w 77"/>
                    <a:gd name="T45" fmla="*/ 195 h 246"/>
                    <a:gd name="T46" fmla="*/ 29 w 77"/>
                    <a:gd name="T47" fmla="*/ 204 h 246"/>
                    <a:gd name="T48" fmla="*/ 28 w 77"/>
                    <a:gd name="T49" fmla="*/ 208 h 246"/>
                    <a:gd name="T50" fmla="*/ 25 w 77"/>
                    <a:gd name="T51" fmla="*/ 218 h 246"/>
                    <a:gd name="T52" fmla="*/ 24 w 77"/>
                    <a:gd name="T53" fmla="*/ 220 h 246"/>
                    <a:gd name="T54" fmla="*/ 20 w 77"/>
                    <a:gd name="T55" fmla="*/ 231 h 246"/>
                    <a:gd name="T56" fmla="*/ 55 w 77"/>
                    <a:gd name="T57" fmla="*/ 246 h 246"/>
                    <a:gd name="T58" fmla="*/ 77 w 77"/>
                    <a:gd name="T59" fmla="*/ 123 h 246"/>
                    <a:gd name="T60" fmla="*/ 55 w 77"/>
                    <a:gd name="T61" fmla="*/ 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246">
                      <a:moveTo>
                        <a:pt x="55" y="0"/>
                      </a:moveTo>
                      <a:cubicBezTo>
                        <a:pt x="20" y="15"/>
                        <a:pt x="20" y="15"/>
                        <a:pt x="20" y="15"/>
                      </a:cubicBezTo>
                      <a:cubicBezTo>
                        <a:pt x="22" y="18"/>
                        <a:pt x="23" y="22"/>
                        <a:pt x="24" y="26"/>
                      </a:cubicBezTo>
                      <a:cubicBezTo>
                        <a:pt x="24" y="26"/>
                        <a:pt x="25" y="27"/>
                        <a:pt x="25" y="28"/>
                      </a:cubicBezTo>
                      <a:cubicBezTo>
                        <a:pt x="26" y="31"/>
                        <a:pt x="27" y="35"/>
                        <a:pt x="28" y="38"/>
                      </a:cubicBezTo>
                      <a:cubicBezTo>
                        <a:pt x="28" y="39"/>
                        <a:pt x="29" y="41"/>
                        <a:pt x="29" y="42"/>
                      </a:cubicBezTo>
                      <a:cubicBezTo>
                        <a:pt x="30" y="45"/>
                        <a:pt x="31" y="48"/>
                        <a:pt x="31" y="51"/>
                      </a:cubicBezTo>
                      <a:cubicBezTo>
                        <a:pt x="32" y="53"/>
                        <a:pt x="32" y="55"/>
                        <a:pt x="33" y="56"/>
                      </a:cubicBezTo>
                      <a:cubicBezTo>
                        <a:pt x="33" y="59"/>
                        <a:pt x="34" y="62"/>
                        <a:pt x="34" y="65"/>
                      </a:cubicBezTo>
                      <a:cubicBezTo>
                        <a:pt x="35" y="67"/>
                        <a:pt x="35" y="69"/>
                        <a:pt x="36" y="71"/>
                      </a:cubicBezTo>
                      <a:cubicBezTo>
                        <a:pt x="36" y="74"/>
                        <a:pt x="36" y="76"/>
                        <a:pt x="37" y="79"/>
                      </a:cubicBezTo>
                      <a:cubicBezTo>
                        <a:pt x="37" y="81"/>
                        <a:pt x="37" y="84"/>
                        <a:pt x="38" y="86"/>
                      </a:cubicBezTo>
                      <a:cubicBezTo>
                        <a:pt x="38" y="89"/>
                        <a:pt x="38" y="91"/>
                        <a:pt x="39" y="93"/>
                      </a:cubicBezTo>
                      <a:cubicBezTo>
                        <a:pt x="39" y="96"/>
                        <a:pt x="39" y="98"/>
                        <a:pt x="39" y="100"/>
                      </a:cubicBezTo>
                      <a:cubicBezTo>
                        <a:pt x="0" y="123"/>
                        <a:pt x="0" y="123"/>
                        <a:pt x="0" y="123"/>
                      </a:cubicBezTo>
                      <a:cubicBezTo>
                        <a:pt x="39" y="146"/>
                        <a:pt x="39" y="146"/>
                        <a:pt x="39" y="146"/>
                      </a:cubicBezTo>
                      <a:cubicBezTo>
                        <a:pt x="39" y="148"/>
                        <a:pt x="39" y="150"/>
                        <a:pt x="39" y="153"/>
                      </a:cubicBezTo>
                      <a:cubicBezTo>
                        <a:pt x="38" y="155"/>
                        <a:pt x="38" y="157"/>
                        <a:pt x="38" y="160"/>
                      </a:cubicBezTo>
                      <a:cubicBezTo>
                        <a:pt x="37" y="162"/>
                        <a:pt x="37" y="165"/>
                        <a:pt x="37" y="167"/>
                      </a:cubicBezTo>
                      <a:cubicBezTo>
                        <a:pt x="36" y="170"/>
                        <a:pt x="36" y="172"/>
                        <a:pt x="36" y="175"/>
                      </a:cubicBezTo>
                      <a:cubicBezTo>
                        <a:pt x="35" y="177"/>
                        <a:pt x="35" y="179"/>
                        <a:pt x="34" y="181"/>
                      </a:cubicBezTo>
                      <a:cubicBezTo>
                        <a:pt x="34" y="184"/>
                        <a:pt x="33" y="187"/>
                        <a:pt x="33" y="190"/>
                      </a:cubicBezTo>
                      <a:cubicBezTo>
                        <a:pt x="32" y="191"/>
                        <a:pt x="32" y="193"/>
                        <a:pt x="31" y="195"/>
                      </a:cubicBezTo>
                      <a:cubicBezTo>
                        <a:pt x="31" y="198"/>
                        <a:pt x="30" y="201"/>
                        <a:pt x="29" y="204"/>
                      </a:cubicBezTo>
                      <a:cubicBezTo>
                        <a:pt x="29" y="205"/>
                        <a:pt x="28" y="207"/>
                        <a:pt x="28" y="208"/>
                      </a:cubicBezTo>
                      <a:cubicBezTo>
                        <a:pt x="27" y="211"/>
                        <a:pt x="26" y="215"/>
                        <a:pt x="25" y="218"/>
                      </a:cubicBezTo>
                      <a:cubicBezTo>
                        <a:pt x="25" y="219"/>
                        <a:pt x="24" y="220"/>
                        <a:pt x="24" y="220"/>
                      </a:cubicBezTo>
                      <a:cubicBezTo>
                        <a:pt x="23" y="224"/>
                        <a:pt x="22" y="228"/>
                        <a:pt x="20" y="231"/>
                      </a:cubicBezTo>
                      <a:cubicBezTo>
                        <a:pt x="55" y="246"/>
                        <a:pt x="55" y="246"/>
                        <a:pt x="55" y="246"/>
                      </a:cubicBezTo>
                      <a:cubicBezTo>
                        <a:pt x="69" y="208"/>
                        <a:pt x="77" y="166"/>
                        <a:pt x="77" y="123"/>
                      </a:cubicBezTo>
                      <a:cubicBezTo>
                        <a:pt x="77" y="80"/>
                        <a:pt x="69" y="38"/>
                        <a:pt x="55" y="0"/>
                      </a:cubicBezTo>
                      <a:close/>
                    </a:path>
                  </a:pathLst>
                </a:custGeom>
                <a:solidFill>
                  <a:schemeClr val="accent3"/>
                </a:solidFill>
                <a:ln w="6350">
                  <a:solidFill>
                    <a:schemeClr val="accent3"/>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a:ln>
                      <a:noFill/>
                    </a:ln>
                    <a:solidFill>
                      <a:prstClr val="black"/>
                    </a:solidFill>
                    <a:effectLst/>
                    <a:uLnTx/>
                    <a:uFillTx/>
                    <a:ea typeface="+mn-ea"/>
                    <a:cs typeface="+mn-cs"/>
                  </a:endParaRPr>
                </a:p>
              </p:txBody>
            </p:sp>
            <p:sp>
              <p:nvSpPr>
                <p:cNvPr id="413" name="Freeform 18">
                  <a:extLst>
                    <a:ext uri="{FF2B5EF4-FFF2-40B4-BE49-F238E27FC236}">
                      <a16:creationId xmlns:a16="http://schemas.microsoft.com/office/drawing/2014/main" id="{7C7F45D7-0C9F-131C-A051-0ACA5E46E11E}"/>
                    </a:ext>
                  </a:extLst>
                </p:cNvPr>
                <p:cNvSpPr>
                  <a:spLocks/>
                </p:cNvSpPr>
                <p:nvPr/>
              </p:nvSpPr>
              <p:spPr bwMode="auto">
                <a:xfrm>
                  <a:off x="15012988" y="3429001"/>
                  <a:ext cx="312738" cy="982663"/>
                </a:xfrm>
                <a:custGeom>
                  <a:avLst/>
                  <a:gdLst>
                    <a:gd name="T0" fmla="*/ 54 w 78"/>
                    <a:gd name="T1" fmla="*/ 220 h 246"/>
                    <a:gd name="T2" fmla="*/ 53 w 78"/>
                    <a:gd name="T3" fmla="*/ 218 h 246"/>
                    <a:gd name="T4" fmla="*/ 50 w 78"/>
                    <a:gd name="T5" fmla="*/ 208 h 246"/>
                    <a:gd name="T6" fmla="*/ 49 w 78"/>
                    <a:gd name="T7" fmla="*/ 204 h 246"/>
                    <a:gd name="T8" fmla="*/ 46 w 78"/>
                    <a:gd name="T9" fmla="*/ 195 h 246"/>
                    <a:gd name="T10" fmla="*/ 45 w 78"/>
                    <a:gd name="T11" fmla="*/ 190 h 246"/>
                    <a:gd name="T12" fmla="*/ 44 w 78"/>
                    <a:gd name="T13" fmla="*/ 181 h 246"/>
                    <a:gd name="T14" fmla="*/ 42 w 78"/>
                    <a:gd name="T15" fmla="*/ 175 h 246"/>
                    <a:gd name="T16" fmla="*/ 41 w 78"/>
                    <a:gd name="T17" fmla="*/ 167 h 246"/>
                    <a:gd name="T18" fmla="*/ 40 w 78"/>
                    <a:gd name="T19" fmla="*/ 160 h 246"/>
                    <a:gd name="T20" fmla="*/ 39 w 78"/>
                    <a:gd name="T21" fmla="*/ 153 h 246"/>
                    <a:gd name="T22" fmla="*/ 39 w 78"/>
                    <a:gd name="T23" fmla="*/ 146 h 246"/>
                    <a:gd name="T24" fmla="*/ 78 w 78"/>
                    <a:gd name="T25" fmla="*/ 123 h 246"/>
                    <a:gd name="T26" fmla="*/ 39 w 78"/>
                    <a:gd name="T27" fmla="*/ 100 h 246"/>
                    <a:gd name="T28" fmla="*/ 39 w 78"/>
                    <a:gd name="T29" fmla="*/ 93 h 246"/>
                    <a:gd name="T30" fmla="*/ 40 w 78"/>
                    <a:gd name="T31" fmla="*/ 86 h 246"/>
                    <a:gd name="T32" fmla="*/ 41 w 78"/>
                    <a:gd name="T33" fmla="*/ 79 h 246"/>
                    <a:gd name="T34" fmla="*/ 42 w 78"/>
                    <a:gd name="T35" fmla="*/ 71 h 246"/>
                    <a:gd name="T36" fmla="*/ 44 w 78"/>
                    <a:gd name="T37" fmla="*/ 65 h 246"/>
                    <a:gd name="T38" fmla="*/ 45 w 78"/>
                    <a:gd name="T39" fmla="*/ 56 h 246"/>
                    <a:gd name="T40" fmla="*/ 46 w 78"/>
                    <a:gd name="T41" fmla="*/ 51 h 246"/>
                    <a:gd name="T42" fmla="*/ 49 w 78"/>
                    <a:gd name="T43" fmla="*/ 42 h 246"/>
                    <a:gd name="T44" fmla="*/ 50 w 78"/>
                    <a:gd name="T45" fmla="*/ 38 h 246"/>
                    <a:gd name="T46" fmla="*/ 53 w 78"/>
                    <a:gd name="T47" fmla="*/ 28 h 246"/>
                    <a:gd name="T48" fmla="*/ 54 w 78"/>
                    <a:gd name="T49" fmla="*/ 26 h 246"/>
                    <a:gd name="T50" fmla="*/ 58 w 78"/>
                    <a:gd name="T51" fmla="*/ 15 h 246"/>
                    <a:gd name="T52" fmla="*/ 58 w 78"/>
                    <a:gd name="T53" fmla="*/ 15 h 246"/>
                    <a:gd name="T54" fmla="*/ 23 w 78"/>
                    <a:gd name="T55" fmla="*/ 0 h 246"/>
                    <a:gd name="T56" fmla="*/ 0 w 78"/>
                    <a:gd name="T57" fmla="*/ 123 h 246"/>
                    <a:gd name="T58" fmla="*/ 23 w 78"/>
                    <a:gd name="T59" fmla="*/ 246 h 246"/>
                    <a:gd name="T60" fmla="*/ 58 w 78"/>
                    <a:gd name="T61" fmla="*/ 231 h 246"/>
                    <a:gd name="T62" fmla="*/ 54 w 78"/>
                    <a:gd name="T63" fmla="*/ 22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8" h="246">
                      <a:moveTo>
                        <a:pt x="54" y="220"/>
                      </a:moveTo>
                      <a:cubicBezTo>
                        <a:pt x="54" y="220"/>
                        <a:pt x="53" y="219"/>
                        <a:pt x="53" y="218"/>
                      </a:cubicBezTo>
                      <a:cubicBezTo>
                        <a:pt x="52" y="215"/>
                        <a:pt x="51" y="211"/>
                        <a:pt x="50" y="208"/>
                      </a:cubicBezTo>
                      <a:cubicBezTo>
                        <a:pt x="50" y="207"/>
                        <a:pt x="49" y="205"/>
                        <a:pt x="49" y="204"/>
                      </a:cubicBezTo>
                      <a:cubicBezTo>
                        <a:pt x="48" y="201"/>
                        <a:pt x="47" y="198"/>
                        <a:pt x="46" y="195"/>
                      </a:cubicBezTo>
                      <a:cubicBezTo>
                        <a:pt x="46" y="193"/>
                        <a:pt x="46" y="191"/>
                        <a:pt x="45" y="190"/>
                      </a:cubicBezTo>
                      <a:cubicBezTo>
                        <a:pt x="45" y="187"/>
                        <a:pt x="44" y="184"/>
                        <a:pt x="44" y="181"/>
                      </a:cubicBezTo>
                      <a:cubicBezTo>
                        <a:pt x="43" y="179"/>
                        <a:pt x="43" y="177"/>
                        <a:pt x="42" y="175"/>
                      </a:cubicBezTo>
                      <a:cubicBezTo>
                        <a:pt x="42" y="172"/>
                        <a:pt x="42" y="170"/>
                        <a:pt x="41" y="167"/>
                      </a:cubicBezTo>
                      <a:cubicBezTo>
                        <a:pt x="41" y="165"/>
                        <a:pt x="41" y="162"/>
                        <a:pt x="40" y="160"/>
                      </a:cubicBezTo>
                      <a:cubicBezTo>
                        <a:pt x="40" y="157"/>
                        <a:pt x="40" y="155"/>
                        <a:pt x="39" y="153"/>
                      </a:cubicBezTo>
                      <a:cubicBezTo>
                        <a:pt x="39" y="150"/>
                        <a:pt x="39" y="148"/>
                        <a:pt x="39" y="146"/>
                      </a:cubicBezTo>
                      <a:cubicBezTo>
                        <a:pt x="78" y="123"/>
                        <a:pt x="78" y="123"/>
                        <a:pt x="78" y="123"/>
                      </a:cubicBezTo>
                      <a:cubicBezTo>
                        <a:pt x="39" y="100"/>
                        <a:pt x="39" y="100"/>
                        <a:pt x="39" y="100"/>
                      </a:cubicBezTo>
                      <a:cubicBezTo>
                        <a:pt x="39" y="98"/>
                        <a:pt x="39" y="96"/>
                        <a:pt x="39" y="93"/>
                      </a:cubicBezTo>
                      <a:cubicBezTo>
                        <a:pt x="40" y="91"/>
                        <a:pt x="40" y="89"/>
                        <a:pt x="40" y="86"/>
                      </a:cubicBezTo>
                      <a:cubicBezTo>
                        <a:pt x="41" y="84"/>
                        <a:pt x="41" y="81"/>
                        <a:pt x="41" y="79"/>
                      </a:cubicBezTo>
                      <a:cubicBezTo>
                        <a:pt x="42" y="76"/>
                        <a:pt x="42" y="74"/>
                        <a:pt x="42" y="71"/>
                      </a:cubicBezTo>
                      <a:cubicBezTo>
                        <a:pt x="43" y="69"/>
                        <a:pt x="43" y="67"/>
                        <a:pt x="44" y="65"/>
                      </a:cubicBezTo>
                      <a:cubicBezTo>
                        <a:pt x="44" y="62"/>
                        <a:pt x="45" y="59"/>
                        <a:pt x="45" y="56"/>
                      </a:cubicBezTo>
                      <a:cubicBezTo>
                        <a:pt x="46" y="55"/>
                        <a:pt x="46" y="53"/>
                        <a:pt x="46" y="51"/>
                      </a:cubicBezTo>
                      <a:cubicBezTo>
                        <a:pt x="47" y="48"/>
                        <a:pt x="48" y="45"/>
                        <a:pt x="49" y="42"/>
                      </a:cubicBezTo>
                      <a:cubicBezTo>
                        <a:pt x="49" y="41"/>
                        <a:pt x="50" y="39"/>
                        <a:pt x="50" y="38"/>
                      </a:cubicBezTo>
                      <a:cubicBezTo>
                        <a:pt x="51" y="35"/>
                        <a:pt x="52" y="31"/>
                        <a:pt x="53" y="28"/>
                      </a:cubicBezTo>
                      <a:cubicBezTo>
                        <a:pt x="53" y="27"/>
                        <a:pt x="54" y="26"/>
                        <a:pt x="54" y="26"/>
                      </a:cubicBezTo>
                      <a:cubicBezTo>
                        <a:pt x="55" y="22"/>
                        <a:pt x="56" y="18"/>
                        <a:pt x="58" y="15"/>
                      </a:cubicBezTo>
                      <a:cubicBezTo>
                        <a:pt x="58" y="15"/>
                        <a:pt x="58" y="15"/>
                        <a:pt x="58" y="15"/>
                      </a:cubicBezTo>
                      <a:cubicBezTo>
                        <a:pt x="23" y="0"/>
                        <a:pt x="23" y="0"/>
                        <a:pt x="23" y="0"/>
                      </a:cubicBezTo>
                      <a:cubicBezTo>
                        <a:pt x="8" y="38"/>
                        <a:pt x="0" y="80"/>
                        <a:pt x="0" y="123"/>
                      </a:cubicBezTo>
                      <a:cubicBezTo>
                        <a:pt x="0" y="166"/>
                        <a:pt x="8" y="208"/>
                        <a:pt x="23" y="246"/>
                      </a:cubicBezTo>
                      <a:cubicBezTo>
                        <a:pt x="58" y="231"/>
                        <a:pt x="58" y="231"/>
                        <a:pt x="58" y="231"/>
                      </a:cubicBezTo>
                      <a:cubicBezTo>
                        <a:pt x="56" y="228"/>
                        <a:pt x="55" y="224"/>
                        <a:pt x="54" y="220"/>
                      </a:cubicBezTo>
                      <a:close/>
                    </a:path>
                  </a:pathLst>
                </a:custGeom>
                <a:solidFill>
                  <a:schemeClr val="accent5"/>
                </a:solidFill>
                <a:ln w="6350">
                  <a:solidFill>
                    <a:schemeClr val="accent5"/>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a:ln>
                      <a:noFill/>
                    </a:ln>
                    <a:solidFill>
                      <a:prstClr val="black"/>
                    </a:solidFill>
                    <a:effectLst/>
                    <a:uLnTx/>
                    <a:uFillTx/>
                    <a:ea typeface="+mn-ea"/>
                    <a:cs typeface="+mn-cs"/>
                  </a:endParaRPr>
                </a:p>
              </p:txBody>
            </p:sp>
            <p:sp>
              <p:nvSpPr>
                <p:cNvPr id="415" name="Freeform 20">
                  <a:extLst>
                    <a:ext uri="{FF2B5EF4-FFF2-40B4-BE49-F238E27FC236}">
                      <a16:creationId xmlns:a16="http://schemas.microsoft.com/office/drawing/2014/main" id="{689910D7-D0BB-8598-B19E-64DE23D995F7}"/>
                    </a:ext>
                  </a:extLst>
                </p:cNvPr>
                <p:cNvSpPr>
                  <a:spLocks/>
                </p:cNvSpPr>
                <p:nvPr/>
              </p:nvSpPr>
              <p:spPr bwMode="auto">
                <a:xfrm>
                  <a:off x="15136813" y="2662238"/>
                  <a:ext cx="754063" cy="750888"/>
                </a:xfrm>
                <a:custGeom>
                  <a:avLst/>
                  <a:gdLst>
                    <a:gd name="T0" fmla="*/ 34 w 188"/>
                    <a:gd name="T1" fmla="*/ 188 h 188"/>
                    <a:gd name="T2" fmla="*/ 82 w 188"/>
                    <a:gd name="T3" fmla="*/ 114 h 188"/>
                    <a:gd name="T4" fmla="*/ 126 w 188"/>
                    <a:gd name="T5" fmla="*/ 126 h 188"/>
                    <a:gd name="T6" fmla="*/ 114 w 188"/>
                    <a:gd name="T7" fmla="*/ 82 h 188"/>
                    <a:gd name="T8" fmla="*/ 188 w 188"/>
                    <a:gd name="T9" fmla="*/ 35 h 188"/>
                    <a:gd name="T10" fmla="*/ 173 w 188"/>
                    <a:gd name="T11" fmla="*/ 0 h 188"/>
                    <a:gd name="T12" fmla="*/ 0 w 188"/>
                    <a:gd name="T13" fmla="*/ 174 h 188"/>
                    <a:gd name="T14" fmla="*/ 34 w 188"/>
                    <a:gd name="T15" fmla="*/ 188 h 188"/>
                    <a:gd name="T16" fmla="*/ 34 w 188"/>
                    <a:gd name="T17" fmla="*/ 188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8" h="188">
                      <a:moveTo>
                        <a:pt x="34" y="188"/>
                      </a:moveTo>
                      <a:cubicBezTo>
                        <a:pt x="47" y="161"/>
                        <a:pt x="63" y="136"/>
                        <a:pt x="82" y="114"/>
                      </a:cubicBezTo>
                      <a:cubicBezTo>
                        <a:pt x="126" y="126"/>
                        <a:pt x="126" y="126"/>
                        <a:pt x="126" y="126"/>
                      </a:cubicBezTo>
                      <a:cubicBezTo>
                        <a:pt x="114" y="82"/>
                        <a:pt x="114" y="82"/>
                        <a:pt x="114" y="82"/>
                      </a:cubicBezTo>
                      <a:cubicBezTo>
                        <a:pt x="136" y="63"/>
                        <a:pt x="161" y="47"/>
                        <a:pt x="188" y="35"/>
                      </a:cubicBezTo>
                      <a:cubicBezTo>
                        <a:pt x="173" y="0"/>
                        <a:pt x="173" y="0"/>
                        <a:pt x="173" y="0"/>
                      </a:cubicBezTo>
                      <a:cubicBezTo>
                        <a:pt x="96" y="35"/>
                        <a:pt x="34" y="97"/>
                        <a:pt x="0" y="174"/>
                      </a:cubicBezTo>
                      <a:cubicBezTo>
                        <a:pt x="34" y="188"/>
                        <a:pt x="34" y="188"/>
                        <a:pt x="34" y="188"/>
                      </a:cubicBezTo>
                      <a:cubicBezTo>
                        <a:pt x="34" y="188"/>
                        <a:pt x="34" y="188"/>
                        <a:pt x="34" y="188"/>
                      </a:cubicBezTo>
                      <a:close/>
                    </a:path>
                  </a:pathLst>
                </a:custGeom>
                <a:solidFill>
                  <a:srgbClr val="0070C0"/>
                </a:solidFill>
                <a:ln w="6350">
                  <a:solidFill>
                    <a:srgbClr val="0070C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a:ln>
                      <a:noFill/>
                    </a:ln>
                    <a:solidFill>
                      <a:prstClr val="black"/>
                    </a:solidFill>
                    <a:effectLst/>
                    <a:uLnTx/>
                    <a:uFillTx/>
                    <a:ea typeface="+mn-ea"/>
                    <a:cs typeface="+mn-cs"/>
                  </a:endParaRPr>
                </a:p>
              </p:txBody>
            </p:sp>
          </p:grpSp>
          <p:grpSp>
            <p:nvGrpSpPr>
              <p:cNvPr id="367" name="组合 3">
                <a:extLst>
                  <a:ext uri="{FF2B5EF4-FFF2-40B4-BE49-F238E27FC236}">
                    <a16:creationId xmlns:a16="http://schemas.microsoft.com/office/drawing/2014/main" id="{5DE610BF-EB96-45CE-8799-66A9DD704789}"/>
                  </a:ext>
                </a:extLst>
              </p:cNvPr>
              <p:cNvGrpSpPr/>
              <p:nvPr/>
            </p:nvGrpSpPr>
            <p:grpSpPr>
              <a:xfrm>
                <a:off x="5408122" y="2821260"/>
                <a:ext cx="1376078" cy="1376076"/>
                <a:chOff x="-2923522" y="3888762"/>
                <a:chExt cx="1430033" cy="1430031"/>
              </a:xfrm>
            </p:grpSpPr>
            <p:sp>
              <p:nvSpPr>
                <p:cNvPr id="397" name="object 49">
                  <a:extLst>
                    <a:ext uri="{FF2B5EF4-FFF2-40B4-BE49-F238E27FC236}">
                      <a16:creationId xmlns:a16="http://schemas.microsoft.com/office/drawing/2014/main" id="{4E54BBEB-2EFA-A765-0CBF-370394327F29}"/>
                    </a:ext>
                  </a:extLst>
                </p:cNvPr>
                <p:cNvSpPr/>
                <p:nvPr/>
              </p:nvSpPr>
              <p:spPr>
                <a:xfrm>
                  <a:off x="-2896215" y="3915024"/>
                  <a:ext cx="1372437" cy="1372436"/>
                </a:xfrm>
                <a:custGeom>
                  <a:avLst/>
                  <a:gdLst/>
                  <a:ahLst/>
                  <a:cxnLst/>
                  <a:rect l="l" t="t" r="r" b="b"/>
                  <a:pathLst>
                    <a:path w="1532254" h="1532254">
                      <a:moveTo>
                        <a:pt x="765975" y="0"/>
                      </a:moveTo>
                      <a:lnTo>
                        <a:pt x="717533" y="1506"/>
                      </a:lnTo>
                      <a:lnTo>
                        <a:pt x="669892" y="5968"/>
                      </a:lnTo>
                      <a:lnTo>
                        <a:pt x="623142" y="13293"/>
                      </a:lnTo>
                      <a:lnTo>
                        <a:pt x="577371" y="23393"/>
                      </a:lnTo>
                      <a:lnTo>
                        <a:pt x="532671" y="36178"/>
                      </a:lnTo>
                      <a:lnTo>
                        <a:pt x="489130" y="51558"/>
                      </a:lnTo>
                      <a:lnTo>
                        <a:pt x="446838" y="69444"/>
                      </a:lnTo>
                      <a:lnTo>
                        <a:pt x="405886" y="89745"/>
                      </a:lnTo>
                      <a:lnTo>
                        <a:pt x="366362" y="112373"/>
                      </a:lnTo>
                      <a:lnTo>
                        <a:pt x="328356" y="137237"/>
                      </a:lnTo>
                      <a:lnTo>
                        <a:pt x="291959" y="164247"/>
                      </a:lnTo>
                      <a:lnTo>
                        <a:pt x="257260" y="193314"/>
                      </a:lnTo>
                      <a:lnTo>
                        <a:pt x="224348" y="224348"/>
                      </a:lnTo>
                      <a:lnTo>
                        <a:pt x="193314" y="257260"/>
                      </a:lnTo>
                      <a:lnTo>
                        <a:pt x="164247" y="291959"/>
                      </a:lnTo>
                      <a:lnTo>
                        <a:pt x="137237" y="328356"/>
                      </a:lnTo>
                      <a:lnTo>
                        <a:pt x="112373" y="366362"/>
                      </a:lnTo>
                      <a:lnTo>
                        <a:pt x="89745" y="405886"/>
                      </a:lnTo>
                      <a:lnTo>
                        <a:pt x="69444" y="446838"/>
                      </a:lnTo>
                      <a:lnTo>
                        <a:pt x="51558" y="489130"/>
                      </a:lnTo>
                      <a:lnTo>
                        <a:pt x="36178" y="532671"/>
                      </a:lnTo>
                      <a:lnTo>
                        <a:pt x="23393" y="577371"/>
                      </a:lnTo>
                      <a:lnTo>
                        <a:pt x="13293" y="623142"/>
                      </a:lnTo>
                      <a:lnTo>
                        <a:pt x="5968" y="669892"/>
                      </a:lnTo>
                      <a:lnTo>
                        <a:pt x="1506" y="717533"/>
                      </a:lnTo>
                      <a:lnTo>
                        <a:pt x="0" y="765975"/>
                      </a:lnTo>
                      <a:lnTo>
                        <a:pt x="1506" y="814416"/>
                      </a:lnTo>
                      <a:lnTo>
                        <a:pt x="5968" y="862057"/>
                      </a:lnTo>
                      <a:lnTo>
                        <a:pt x="13293" y="908807"/>
                      </a:lnTo>
                      <a:lnTo>
                        <a:pt x="23393" y="954578"/>
                      </a:lnTo>
                      <a:lnTo>
                        <a:pt x="36178" y="999278"/>
                      </a:lnTo>
                      <a:lnTo>
                        <a:pt x="51558" y="1042819"/>
                      </a:lnTo>
                      <a:lnTo>
                        <a:pt x="69444" y="1085111"/>
                      </a:lnTo>
                      <a:lnTo>
                        <a:pt x="89745" y="1126064"/>
                      </a:lnTo>
                      <a:lnTo>
                        <a:pt x="112373" y="1165588"/>
                      </a:lnTo>
                      <a:lnTo>
                        <a:pt x="137237" y="1203593"/>
                      </a:lnTo>
                      <a:lnTo>
                        <a:pt x="164247" y="1239990"/>
                      </a:lnTo>
                      <a:lnTo>
                        <a:pt x="193314" y="1274689"/>
                      </a:lnTo>
                      <a:lnTo>
                        <a:pt x="224348" y="1307601"/>
                      </a:lnTo>
                      <a:lnTo>
                        <a:pt x="257260" y="1338635"/>
                      </a:lnTo>
                      <a:lnTo>
                        <a:pt x="291959" y="1367702"/>
                      </a:lnTo>
                      <a:lnTo>
                        <a:pt x="328356" y="1394713"/>
                      </a:lnTo>
                      <a:lnTo>
                        <a:pt x="366362" y="1419576"/>
                      </a:lnTo>
                      <a:lnTo>
                        <a:pt x="405886" y="1442204"/>
                      </a:lnTo>
                      <a:lnTo>
                        <a:pt x="446838" y="1462505"/>
                      </a:lnTo>
                      <a:lnTo>
                        <a:pt x="489130" y="1480391"/>
                      </a:lnTo>
                      <a:lnTo>
                        <a:pt x="532671" y="1495771"/>
                      </a:lnTo>
                      <a:lnTo>
                        <a:pt x="577371" y="1508556"/>
                      </a:lnTo>
                      <a:lnTo>
                        <a:pt x="623142" y="1518656"/>
                      </a:lnTo>
                      <a:lnTo>
                        <a:pt x="669892" y="1525982"/>
                      </a:lnTo>
                      <a:lnTo>
                        <a:pt x="717533" y="1530443"/>
                      </a:lnTo>
                      <a:lnTo>
                        <a:pt x="765975" y="1531950"/>
                      </a:lnTo>
                      <a:lnTo>
                        <a:pt x="814416" y="1530443"/>
                      </a:lnTo>
                      <a:lnTo>
                        <a:pt x="862057" y="1525982"/>
                      </a:lnTo>
                      <a:lnTo>
                        <a:pt x="908807" y="1518656"/>
                      </a:lnTo>
                      <a:lnTo>
                        <a:pt x="954578" y="1508556"/>
                      </a:lnTo>
                      <a:lnTo>
                        <a:pt x="999278" y="1495771"/>
                      </a:lnTo>
                      <a:lnTo>
                        <a:pt x="1042819" y="1480391"/>
                      </a:lnTo>
                      <a:lnTo>
                        <a:pt x="1085111" y="1462505"/>
                      </a:lnTo>
                      <a:lnTo>
                        <a:pt x="1126064" y="1442204"/>
                      </a:lnTo>
                      <a:lnTo>
                        <a:pt x="1165588" y="1419576"/>
                      </a:lnTo>
                      <a:lnTo>
                        <a:pt x="1203593" y="1394713"/>
                      </a:lnTo>
                      <a:lnTo>
                        <a:pt x="1239990" y="1367702"/>
                      </a:lnTo>
                      <a:lnTo>
                        <a:pt x="1274689" y="1338635"/>
                      </a:lnTo>
                      <a:lnTo>
                        <a:pt x="1307601" y="1307601"/>
                      </a:lnTo>
                      <a:lnTo>
                        <a:pt x="1338635" y="1274689"/>
                      </a:lnTo>
                      <a:lnTo>
                        <a:pt x="1367702" y="1239990"/>
                      </a:lnTo>
                      <a:lnTo>
                        <a:pt x="1394713" y="1203593"/>
                      </a:lnTo>
                      <a:lnTo>
                        <a:pt x="1419576" y="1165588"/>
                      </a:lnTo>
                      <a:lnTo>
                        <a:pt x="1442204" y="1126064"/>
                      </a:lnTo>
                      <a:lnTo>
                        <a:pt x="1462505" y="1085111"/>
                      </a:lnTo>
                      <a:lnTo>
                        <a:pt x="1480391" y="1042819"/>
                      </a:lnTo>
                      <a:lnTo>
                        <a:pt x="1495771" y="999278"/>
                      </a:lnTo>
                      <a:lnTo>
                        <a:pt x="1508556" y="954578"/>
                      </a:lnTo>
                      <a:lnTo>
                        <a:pt x="1518656" y="908807"/>
                      </a:lnTo>
                      <a:lnTo>
                        <a:pt x="1525982" y="862057"/>
                      </a:lnTo>
                      <a:lnTo>
                        <a:pt x="1530443" y="814416"/>
                      </a:lnTo>
                      <a:lnTo>
                        <a:pt x="1531950" y="765975"/>
                      </a:lnTo>
                      <a:lnTo>
                        <a:pt x="1530443" y="717533"/>
                      </a:lnTo>
                      <a:lnTo>
                        <a:pt x="1525982" y="669892"/>
                      </a:lnTo>
                      <a:lnTo>
                        <a:pt x="1518656" y="623142"/>
                      </a:lnTo>
                      <a:lnTo>
                        <a:pt x="1508556" y="577371"/>
                      </a:lnTo>
                      <a:lnTo>
                        <a:pt x="1495771" y="532671"/>
                      </a:lnTo>
                      <a:lnTo>
                        <a:pt x="1480391" y="489130"/>
                      </a:lnTo>
                      <a:lnTo>
                        <a:pt x="1462505" y="446838"/>
                      </a:lnTo>
                      <a:lnTo>
                        <a:pt x="1442204" y="405886"/>
                      </a:lnTo>
                      <a:lnTo>
                        <a:pt x="1419576" y="366362"/>
                      </a:lnTo>
                      <a:lnTo>
                        <a:pt x="1394713" y="328356"/>
                      </a:lnTo>
                      <a:lnTo>
                        <a:pt x="1367702" y="291959"/>
                      </a:lnTo>
                      <a:lnTo>
                        <a:pt x="1338635" y="257260"/>
                      </a:lnTo>
                      <a:lnTo>
                        <a:pt x="1307601" y="224348"/>
                      </a:lnTo>
                      <a:lnTo>
                        <a:pt x="1274689" y="193314"/>
                      </a:lnTo>
                      <a:lnTo>
                        <a:pt x="1239990" y="164247"/>
                      </a:lnTo>
                      <a:lnTo>
                        <a:pt x="1203593" y="137237"/>
                      </a:lnTo>
                      <a:lnTo>
                        <a:pt x="1165588" y="112373"/>
                      </a:lnTo>
                      <a:lnTo>
                        <a:pt x="1126064" y="89745"/>
                      </a:lnTo>
                      <a:lnTo>
                        <a:pt x="1085111" y="69444"/>
                      </a:lnTo>
                      <a:lnTo>
                        <a:pt x="1042819" y="51558"/>
                      </a:lnTo>
                      <a:lnTo>
                        <a:pt x="999278" y="36178"/>
                      </a:lnTo>
                      <a:lnTo>
                        <a:pt x="954578" y="23393"/>
                      </a:lnTo>
                      <a:lnTo>
                        <a:pt x="908807" y="13293"/>
                      </a:lnTo>
                      <a:lnTo>
                        <a:pt x="862057" y="5968"/>
                      </a:lnTo>
                      <a:lnTo>
                        <a:pt x="814416" y="1506"/>
                      </a:lnTo>
                      <a:lnTo>
                        <a:pt x="765975" y="0"/>
                      </a:lnTo>
                      <a:close/>
                    </a:path>
                  </a:pathLst>
                </a:custGeom>
                <a:solidFill>
                  <a:schemeClr val="bg1">
                    <a:lumMod val="85000"/>
                  </a:scheme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prstClr val="black"/>
                    </a:solidFill>
                    <a:effectLst/>
                    <a:uLnTx/>
                    <a:uFillTx/>
                    <a:ea typeface="+mn-ea"/>
                    <a:cs typeface="+mn-cs"/>
                  </a:endParaRPr>
                </a:p>
              </p:txBody>
            </p:sp>
            <p:sp>
              <p:nvSpPr>
                <p:cNvPr id="398" name="object 52">
                  <a:extLst>
                    <a:ext uri="{FF2B5EF4-FFF2-40B4-BE49-F238E27FC236}">
                      <a16:creationId xmlns:a16="http://schemas.microsoft.com/office/drawing/2014/main" id="{63D4709F-A2C4-F6B4-4C74-E71CF30ADA07}"/>
                    </a:ext>
                  </a:extLst>
                </p:cNvPr>
                <p:cNvSpPr/>
                <p:nvPr/>
              </p:nvSpPr>
              <p:spPr>
                <a:xfrm>
                  <a:off x="-2923522" y="3888762"/>
                  <a:ext cx="1430033" cy="1430031"/>
                </a:xfrm>
                <a:custGeom>
                  <a:avLst/>
                  <a:gdLst/>
                  <a:ahLst/>
                  <a:cxnLst/>
                  <a:rect l="l" t="t" r="r" b="b"/>
                  <a:pathLst>
                    <a:path w="1532254" h="1532254">
                      <a:moveTo>
                        <a:pt x="765975" y="1531950"/>
                      </a:moveTo>
                      <a:lnTo>
                        <a:pt x="814416" y="1530443"/>
                      </a:lnTo>
                      <a:lnTo>
                        <a:pt x="862057" y="1525982"/>
                      </a:lnTo>
                      <a:lnTo>
                        <a:pt x="908807" y="1518656"/>
                      </a:lnTo>
                      <a:lnTo>
                        <a:pt x="954578" y="1508556"/>
                      </a:lnTo>
                      <a:lnTo>
                        <a:pt x="999278" y="1495771"/>
                      </a:lnTo>
                      <a:lnTo>
                        <a:pt x="1042819" y="1480391"/>
                      </a:lnTo>
                      <a:lnTo>
                        <a:pt x="1085111" y="1462505"/>
                      </a:lnTo>
                      <a:lnTo>
                        <a:pt x="1126064" y="1442204"/>
                      </a:lnTo>
                      <a:lnTo>
                        <a:pt x="1165588" y="1419576"/>
                      </a:lnTo>
                      <a:lnTo>
                        <a:pt x="1203593" y="1394713"/>
                      </a:lnTo>
                      <a:lnTo>
                        <a:pt x="1239990" y="1367702"/>
                      </a:lnTo>
                      <a:lnTo>
                        <a:pt x="1274689" y="1338635"/>
                      </a:lnTo>
                      <a:lnTo>
                        <a:pt x="1307601" y="1307601"/>
                      </a:lnTo>
                      <a:lnTo>
                        <a:pt x="1338635" y="1274689"/>
                      </a:lnTo>
                      <a:lnTo>
                        <a:pt x="1367702" y="1239990"/>
                      </a:lnTo>
                      <a:lnTo>
                        <a:pt x="1394713" y="1203593"/>
                      </a:lnTo>
                      <a:lnTo>
                        <a:pt x="1419576" y="1165588"/>
                      </a:lnTo>
                      <a:lnTo>
                        <a:pt x="1442204" y="1126064"/>
                      </a:lnTo>
                      <a:lnTo>
                        <a:pt x="1462505" y="1085111"/>
                      </a:lnTo>
                      <a:lnTo>
                        <a:pt x="1480391" y="1042819"/>
                      </a:lnTo>
                      <a:lnTo>
                        <a:pt x="1495771" y="999278"/>
                      </a:lnTo>
                      <a:lnTo>
                        <a:pt x="1508556" y="954578"/>
                      </a:lnTo>
                      <a:lnTo>
                        <a:pt x="1518656" y="908807"/>
                      </a:lnTo>
                      <a:lnTo>
                        <a:pt x="1525982" y="862057"/>
                      </a:lnTo>
                      <a:lnTo>
                        <a:pt x="1530443" y="814416"/>
                      </a:lnTo>
                      <a:lnTo>
                        <a:pt x="1531950" y="765975"/>
                      </a:lnTo>
                      <a:lnTo>
                        <a:pt x="1530443" y="717533"/>
                      </a:lnTo>
                      <a:lnTo>
                        <a:pt x="1525982" y="669892"/>
                      </a:lnTo>
                      <a:lnTo>
                        <a:pt x="1518656" y="623142"/>
                      </a:lnTo>
                      <a:lnTo>
                        <a:pt x="1508556" y="577371"/>
                      </a:lnTo>
                      <a:lnTo>
                        <a:pt x="1495771" y="532671"/>
                      </a:lnTo>
                      <a:lnTo>
                        <a:pt x="1480391" y="489130"/>
                      </a:lnTo>
                      <a:lnTo>
                        <a:pt x="1462505" y="446838"/>
                      </a:lnTo>
                      <a:lnTo>
                        <a:pt x="1442204" y="405886"/>
                      </a:lnTo>
                      <a:lnTo>
                        <a:pt x="1419576" y="366362"/>
                      </a:lnTo>
                      <a:lnTo>
                        <a:pt x="1394713" y="328356"/>
                      </a:lnTo>
                      <a:lnTo>
                        <a:pt x="1367702" y="291959"/>
                      </a:lnTo>
                      <a:lnTo>
                        <a:pt x="1338635" y="257260"/>
                      </a:lnTo>
                      <a:lnTo>
                        <a:pt x="1307601" y="224348"/>
                      </a:lnTo>
                      <a:lnTo>
                        <a:pt x="1274689" y="193314"/>
                      </a:lnTo>
                      <a:lnTo>
                        <a:pt x="1239990" y="164247"/>
                      </a:lnTo>
                      <a:lnTo>
                        <a:pt x="1203593" y="137237"/>
                      </a:lnTo>
                      <a:lnTo>
                        <a:pt x="1165588" y="112373"/>
                      </a:lnTo>
                      <a:lnTo>
                        <a:pt x="1126064" y="89745"/>
                      </a:lnTo>
                      <a:lnTo>
                        <a:pt x="1085111" y="69444"/>
                      </a:lnTo>
                      <a:lnTo>
                        <a:pt x="1042819" y="51558"/>
                      </a:lnTo>
                      <a:lnTo>
                        <a:pt x="999278" y="36178"/>
                      </a:lnTo>
                      <a:lnTo>
                        <a:pt x="954578" y="23393"/>
                      </a:lnTo>
                      <a:lnTo>
                        <a:pt x="908807" y="13293"/>
                      </a:lnTo>
                      <a:lnTo>
                        <a:pt x="862057" y="5968"/>
                      </a:lnTo>
                      <a:lnTo>
                        <a:pt x="814416" y="1506"/>
                      </a:lnTo>
                      <a:lnTo>
                        <a:pt x="765975" y="0"/>
                      </a:lnTo>
                      <a:lnTo>
                        <a:pt x="717533" y="1506"/>
                      </a:lnTo>
                      <a:lnTo>
                        <a:pt x="669892" y="5968"/>
                      </a:lnTo>
                      <a:lnTo>
                        <a:pt x="623142" y="13293"/>
                      </a:lnTo>
                      <a:lnTo>
                        <a:pt x="577371" y="23393"/>
                      </a:lnTo>
                      <a:lnTo>
                        <a:pt x="532671" y="36178"/>
                      </a:lnTo>
                      <a:lnTo>
                        <a:pt x="489130" y="51558"/>
                      </a:lnTo>
                      <a:lnTo>
                        <a:pt x="446838" y="69444"/>
                      </a:lnTo>
                      <a:lnTo>
                        <a:pt x="405886" y="89745"/>
                      </a:lnTo>
                      <a:lnTo>
                        <a:pt x="366362" y="112373"/>
                      </a:lnTo>
                      <a:lnTo>
                        <a:pt x="328356" y="137237"/>
                      </a:lnTo>
                      <a:lnTo>
                        <a:pt x="291959" y="164247"/>
                      </a:lnTo>
                      <a:lnTo>
                        <a:pt x="257260" y="193314"/>
                      </a:lnTo>
                      <a:lnTo>
                        <a:pt x="224348" y="224348"/>
                      </a:lnTo>
                      <a:lnTo>
                        <a:pt x="193314" y="257260"/>
                      </a:lnTo>
                      <a:lnTo>
                        <a:pt x="164247" y="291959"/>
                      </a:lnTo>
                      <a:lnTo>
                        <a:pt x="137237" y="328356"/>
                      </a:lnTo>
                      <a:lnTo>
                        <a:pt x="112373" y="366362"/>
                      </a:lnTo>
                      <a:lnTo>
                        <a:pt x="89745" y="405886"/>
                      </a:lnTo>
                      <a:lnTo>
                        <a:pt x="69444" y="446838"/>
                      </a:lnTo>
                      <a:lnTo>
                        <a:pt x="51558" y="489130"/>
                      </a:lnTo>
                      <a:lnTo>
                        <a:pt x="36178" y="532671"/>
                      </a:lnTo>
                      <a:lnTo>
                        <a:pt x="23393" y="577371"/>
                      </a:lnTo>
                      <a:lnTo>
                        <a:pt x="13293" y="623142"/>
                      </a:lnTo>
                      <a:lnTo>
                        <a:pt x="5968" y="669892"/>
                      </a:lnTo>
                      <a:lnTo>
                        <a:pt x="1506" y="717533"/>
                      </a:lnTo>
                      <a:lnTo>
                        <a:pt x="0" y="765975"/>
                      </a:lnTo>
                      <a:lnTo>
                        <a:pt x="1506" y="814416"/>
                      </a:lnTo>
                      <a:lnTo>
                        <a:pt x="5968" y="862057"/>
                      </a:lnTo>
                      <a:lnTo>
                        <a:pt x="13293" y="908807"/>
                      </a:lnTo>
                      <a:lnTo>
                        <a:pt x="23393" y="954578"/>
                      </a:lnTo>
                      <a:lnTo>
                        <a:pt x="36178" y="999278"/>
                      </a:lnTo>
                      <a:lnTo>
                        <a:pt x="51558" y="1042819"/>
                      </a:lnTo>
                      <a:lnTo>
                        <a:pt x="69444" y="1085111"/>
                      </a:lnTo>
                      <a:lnTo>
                        <a:pt x="89745" y="1126064"/>
                      </a:lnTo>
                      <a:lnTo>
                        <a:pt x="112373" y="1165588"/>
                      </a:lnTo>
                      <a:lnTo>
                        <a:pt x="137237" y="1203593"/>
                      </a:lnTo>
                      <a:lnTo>
                        <a:pt x="164247" y="1239990"/>
                      </a:lnTo>
                      <a:lnTo>
                        <a:pt x="193314" y="1274689"/>
                      </a:lnTo>
                      <a:lnTo>
                        <a:pt x="224348" y="1307601"/>
                      </a:lnTo>
                      <a:lnTo>
                        <a:pt x="257260" y="1338635"/>
                      </a:lnTo>
                      <a:lnTo>
                        <a:pt x="291959" y="1367702"/>
                      </a:lnTo>
                      <a:lnTo>
                        <a:pt x="328356" y="1394713"/>
                      </a:lnTo>
                      <a:lnTo>
                        <a:pt x="366362" y="1419576"/>
                      </a:lnTo>
                      <a:lnTo>
                        <a:pt x="405886" y="1442204"/>
                      </a:lnTo>
                      <a:lnTo>
                        <a:pt x="446838" y="1462505"/>
                      </a:lnTo>
                      <a:lnTo>
                        <a:pt x="489130" y="1480391"/>
                      </a:lnTo>
                      <a:lnTo>
                        <a:pt x="532671" y="1495771"/>
                      </a:lnTo>
                      <a:lnTo>
                        <a:pt x="577371" y="1508556"/>
                      </a:lnTo>
                      <a:lnTo>
                        <a:pt x="623142" y="1518656"/>
                      </a:lnTo>
                      <a:lnTo>
                        <a:pt x="669892" y="1525982"/>
                      </a:lnTo>
                      <a:lnTo>
                        <a:pt x="717533" y="1530443"/>
                      </a:lnTo>
                      <a:lnTo>
                        <a:pt x="765975" y="1531950"/>
                      </a:lnTo>
                      <a:close/>
                    </a:path>
                  </a:pathLst>
                </a:custGeom>
                <a:ln w="12700">
                  <a:solidFill>
                    <a:schemeClr val="bg1">
                      <a:lumMod val="85000"/>
                    </a:schemeClr>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prstClr val="black"/>
                    </a:solidFill>
                    <a:effectLst/>
                    <a:uLnTx/>
                    <a:uFillTx/>
                    <a:ea typeface="+mn-ea"/>
                    <a:cs typeface="+mn-cs"/>
                  </a:endParaRPr>
                </a:p>
              </p:txBody>
            </p:sp>
            <p:sp>
              <p:nvSpPr>
                <p:cNvPr id="400" name="Freeform 13">
                  <a:extLst>
                    <a:ext uri="{FF2B5EF4-FFF2-40B4-BE49-F238E27FC236}">
                      <a16:creationId xmlns:a16="http://schemas.microsoft.com/office/drawing/2014/main" id="{3CDC360C-BDF4-DE31-A583-E62EBB76C910}"/>
                    </a:ext>
                  </a:extLst>
                </p:cNvPr>
                <p:cNvSpPr>
                  <a:spLocks noEditPoints="1"/>
                </p:cNvSpPr>
                <p:nvPr/>
              </p:nvSpPr>
              <p:spPr bwMode="auto">
                <a:xfrm>
                  <a:off x="-2590846" y="4222598"/>
                  <a:ext cx="764683" cy="762358"/>
                </a:xfrm>
                <a:custGeom>
                  <a:avLst/>
                  <a:gdLst>
                    <a:gd name="T0" fmla="*/ 312 w 659"/>
                    <a:gd name="T1" fmla="*/ 657 h 657"/>
                    <a:gd name="T2" fmla="*/ 262 w 659"/>
                    <a:gd name="T3" fmla="*/ 650 h 657"/>
                    <a:gd name="T4" fmla="*/ 202 w 659"/>
                    <a:gd name="T5" fmla="*/ 631 h 657"/>
                    <a:gd name="T6" fmla="*/ 120 w 659"/>
                    <a:gd name="T7" fmla="*/ 581 h 657"/>
                    <a:gd name="T8" fmla="*/ 57 w 659"/>
                    <a:gd name="T9" fmla="*/ 511 h 657"/>
                    <a:gd name="T10" fmla="*/ 15 w 659"/>
                    <a:gd name="T11" fmla="*/ 425 h 657"/>
                    <a:gd name="T12" fmla="*/ 5 w 659"/>
                    <a:gd name="T13" fmla="*/ 377 h 657"/>
                    <a:gd name="T14" fmla="*/ 0 w 659"/>
                    <a:gd name="T15" fmla="*/ 327 h 657"/>
                    <a:gd name="T16" fmla="*/ 2 w 659"/>
                    <a:gd name="T17" fmla="*/ 294 h 657"/>
                    <a:gd name="T18" fmla="*/ 11 w 659"/>
                    <a:gd name="T19" fmla="*/ 245 h 657"/>
                    <a:gd name="T20" fmla="*/ 41 w 659"/>
                    <a:gd name="T21" fmla="*/ 172 h 657"/>
                    <a:gd name="T22" fmla="*/ 97 w 659"/>
                    <a:gd name="T23" fmla="*/ 95 h 657"/>
                    <a:gd name="T24" fmla="*/ 172 w 659"/>
                    <a:gd name="T25" fmla="*/ 38 h 657"/>
                    <a:gd name="T26" fmla="*/ 248 w 659"/>
                    <a:gd name="T27" fmla="*/ 9 h 657"/>
                    <a:gd name="T28" fmla="*/ 296 w 659"/>
                    <a:gd name="T29" fmla="*/ 1 h 657"/>
                    <a:gd name="T30" fmla="*/ 330 w 659"/>
                    <a:gd name="T31" fmla="*/ 0 h 657"/>
                    <a:gd name="T32" fmla="*/ 379 w 659"/>
                    <a:gd name="T33" fmla="*/ 2 h 657"/>
                    <a:gd name="T34" fmla="*/ 426 w 659"/>
                    <a:gd name="T35" fmla="*/ 14 h 657"/>
                    <a:gd name="T36" fmla="*/ 514 w 659"/>
                    <a:gd name="T37" fmla="*/ 55 h 657"/>
                    <a:gd name="T38" fmla="*/ 583 w 659"/>
                    <a:gd name="T39" fmla="*/ 119 h 657"/>
                    <a:gd name="T40" fmla="*/ 632 w 659"/>
                    <a:gd name="T41" fmla="*/ 200 h 657"/>
                    <a:gd name="T42" fmla="*/ 652 w 659"/>
                    <a:gd name="T43" fmla="*/ 262 h 657"/>
                    <a:gd name="T44" fmla="*/ 657 w 659"/>
                    <a:gd name="T45" fmla="*/ 311 h 657"/>
                    <a:gd name="T46" fmla="*/ 657 w 659"/>
                    <a:gd name="T47" fmla="*/ 345 h 657"/>
                    <a:gd name="T48" fmla="*/ 652 w 659"/>
                    <a:gd name="T49" fmla="*/ 395 h 657"/>
                    <a:gd name="T50" fmla="*/ 632 w 659"/>
                    <a:gd name="T51" fmla="*/ 455 h 657"/>
                    <a:gd name="T52" fmla="*/ 583 w 659"/>
                    <a:gd name="T53" fmla="*/ 537 h 657"/>
                    <a:gd name="T54" fmla="*/ 514 w 659"/>
                    <a:gd name="T55" fmla="*/ 600 h 657"/>
                    <a:gd name="T56" fmla="*/ 426 w 659"/>
                    <a:gd name="T57" fmla="*/ 642 h 657"/>
                    <a:gd name="T58" fmla="*/ 379 w 659"/>
                    <a:gd name="T59" fmla="*/ 653 h 657"/>
                    <a:gd name="T60" fmla="*/ 330 w 659"/>
                    <a:gd name="T61" fmla="*/ 657 h 657"/>
                    <a:gd name="T62" fmla="*/ 330 w 659"/>
                    <a:gd name="T63" fmla="*/ 37 h 657"/>
                    <a:gd name="T64" fmla="*/ 242 w 659"/>
                    <a:gd name="T65" fmla="*/ 49 h 657"/>
                    <a:gd name="T66" fmla="*/ 167 w 659"/>
                    <a:gd name="T67" fmla="*/ 87 h 657"/>
                    <a:gd name="T68" fmla="*/ 105 w 659"/>
                    <a:gd name="T69" fmla="*/ 142 h 657"/>
                    <a:gd name="T70" fmla="*/ 61 w 659"/>
                    <a:gd name="T71" fmla="*/ 215 h 657"/>
                    <a:gd name="T72" fmla="*/ 39 w 659"/>
                    <a:gd name="T73" fmla="*/ 298 h 657"/>
                    <a:gd name="T74" fmla="*/ 39 w 659"/>
                    <a:gd name="T75" fmla="*/ 357 h 657"/>
                    <a:gd name="T76" fmla="*/ 61 w 659"/>
                    <a:gd name="T77" fmla="*/ 442 h 657"/>
                    <a:gd name="T78" fmla="*/ 105 w 659"/>
                    <a:gd name="T79" fmla="*/ 513 h 657"/>
                    <a:gd name="T80" fmla="*/ 167 w 659"/>
                    <a:gd name="T81" fmla="*/ 569 h 657"/>
                    <a:gd name="T82" fmla="*/ 242 w 659"/>
                    <a:gd name="T83" fmla="*/ 605 h 657"/>
                    <a:gd name="T84" fmla="*/ 330 w 659"/>
                    <a:gd name="T85" fmla="*/ 619 h 657"/>
                    <a:gd name="T86" fmla="*/ 387 w 659"/>
                    <a:gd name="T87" fmla="*/ 614 h 657"/>
                    <a:gd name="T88" fmla="*/ 468 w 659"/>
                    <a:gd name="T89" fmla="*/ 584 h 657"/>
                    <a:gd name="T90" fmla="*/ 535 w 659"/>
                    <a:gd name="T91" fmla="*/ 533 h 657"/>
                    <a:gd name="T92" fmla="*/ 585 w 659"/>
                    <a:gd name="T93" fmla="*/ 467 h 657"/>
                    <a:gd name="T94" fmla="*/ 614 w 659"/>
                    <a:gd name="T95" fmla="*/ 386 h 657"/>
                    <a:gd name="T96" fmla="*/ 621 w 659"/>
                    <a:gd name="T97" fmla="*/ 327 h 657"/>
                    <a:gd name="T98" fmla="*/ 608 w 659"/>
                    <a:gd name="T99" fmla="*/ 241 h 657"/>
                    <a:gd name="T100" fmla="*/ 570 w 659"/>
                    <a:gd name="T101" fmla="*/ 165 h 657"/>
                    <a:gd name="T102" fmla="*/ 515 w 659"/>
                    <a:gd name="T103" fmla="*/ 103 h 657"/>
                    <a:gd name="T104" fmla="*/ 442 w 659"/>
                    <a:gd name="T105" fmla="*/ 60 h 657"/>
                    <a:gd name="T106" fmla="*/ 359 w 659"/>
                    <a:gd name="T107" fmla="*/ 38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7">
                      <a:moveTo>
                        <a:pt x="330" y="657"/>
                      </a:moveTo>
                      <a:lnTo>
                        <a:pt x="330" y="657"/>
                      </a:lnTo>
                      <a:lnTo>
                        <a:pt x="312" y="657"/>
                      </a:lnTo>
                      <a:lnTo>
                        <a:pt x="296" y="655"/>
                      </a:lnTo>
                      <a:lnTo>
                        <a:pt x="280" y="653"/>
                      </a:lnTo>
                      <a:lnTo>
                        <a:pt x="262" y="650"/>
                      </a:lnTo>
                      <a:lnTo>
                        <a:pt x="248" y="646"/>
                      </a:lnTo>
                      <a:lnTo>
                        <a:pt x="232" y="642"/>
                      </a:lnTo>
                      <a:lnTo>
                        <a:pt x="202" y="631"/>
                      </a:lnTo>
                      <a:lnTo>
                        <a:pt x="172" y="616"/>
                      </a:lnTo>
                      <a:lnTo>
                        <a:pt x="146" y="600"/>
                      </a:lnTo>
                      <a:lnTo>
                        <a:pt x="120" y="581"/>
                      </a:lnTo>
                      <a:lnTo>
                        <a:pt x="97" y="560"/>
                      </a:lnTo>
                      <a:lnTo>
                        <a:pt x="76" y="537"/>
                      </a:lnTo>
                      <a:lnTo>
                        <a:pt x="57" y="511"/>
                      </a:lnTo>
                      <a:lnTo>
                        <a:pt x="41" y="485"/>
                      </a:lnTo>
                      <a:lnTo>
                        <a:pt x="26" y="455"/>
                      </a:lnTo>
                      <a:lnTo>
                        <a:pt x="15" y="425"/>
                      </a:lnTo>
                      <a:lnTo>
                        <a:pt x="11" y="409"/>
                      </a:lnTo>
                      <a:lnTo>
                        <a:pt x="7" y="395"/>
                      </a:lnTo>
                      <a:lnTo>
                        <a:pt x="5" y="377"/>
                      </a:lnTo>
                      <a:lnTo>
                        <a:pt x="2" y="361"/>
                      </a:lnTo>
                      <a:lnTo>
                        <a:pt x="0" y="345"/>
                      </a:lnTo>
                      <a:lnTo>
                        <a:pt x="0" y="327"/>
                      </a:lnTo>
                      <a:lnTo>
                        <a:pt x="0" y="327"/>
                      </a:lnTo>
                      <a:lnTo>
                        <a:pt x="0" y="311"/>
                      </a:lnTo>
                      <a:lnTo>
                        <a:pt x="2" y="294"/>
                      </a:lnTo>
                      <a:lnTo>
                        <a:pt x="5" y="278"/>
                      </a:lnTo>
                      <a:lnTo>
                        <a:pt x="7" y="262"/>
                      </a:lnTo>
                      <a:lnTo>
                        <a:pt x="11" y="245"/>
                      </a:lnTo>
                      <a:lnTo>
                        <a:pt x="15" y="231"/>
                      </a:lnTo>
                      <a:lnTo>
                        <a:pt x="26" y="200"/>
                      </a:lnTo>
                      <a:lnTo>
                        <a:pt x="41" y="172"/>
                      </a:lnTo>
                      <a:lnTo>
                        <a:pt x="57" y="145"/>
                      </a:lnTo>
                      <a:lnTo>
                        <a:pt x="76" y="119"/>
                      </a:lnTo>
                      <a:lnTo>
                        <a:pt x="97" y="95"/>
                      </a:lnTo>
                      <a:lnTo>
                        <a:pt x="120" y="73"/>
                      </a:lnTo>
                      <a:lnTo>
                        <a:pt x="146" y="55"/>
                      </a:lnTo>
                      <a:lnTo>
                        <a:pt x="172" y="38"/>
                      </a:lnTo>
                      <a:lnTo>
                        <a:pt x="202" y="25"/>
                      </a:lnTo>
                      <a:lnTo>
                        <a:pt x="232" y="14"/>
                      </a:lnTo>
                      <a:lnTo>
                        <a:pt x="248" y="9"/>
                      </a:lnTo>
                      <a:lnTo>
                        <a:pt x="262" y="5"/>
                      </a:lnTo>
                      <a:lnTo>
                        <a:pt x="280" y="2"/>
                      </a:lnTo>
                      <a:lnTo>
                        <a:pt x="296" y="1"/>
                      </a:lnTo>
                      <a:lnTo>
                        <a:pt x="312" y="0"/>
                      </a:lnTo>
                      <a:lnTo>
                        <a:pt x="330" y="0"/>
                      </a:lnTo>
                      <a:lnTo>
                        <a:pt x="330" y="0"/>
                      </a:lnTo>
                      <a:lnTo>
                        <a:pt x="346" y="0"/>
                      </a:lnTo>
                      <a:lnTo>
                        <a:pt x="363" y="1"/>
                      </a:lnTo>
                      <a:lnTo>
                        <a:pt x="379" y="2"/>
                      </a:lnTo>
                      <a:lnTo>
                        <a:pt x="395" y="5"/>
                      </a:lnTo>
                      <a:lnTo>
                        <a:pt x="412" y="9"/>
                      </a:lnTo>
                      <a:lnTo>
                        <a:pt x="426" y="14"/>
                      </a:lnTo>
                      <a:lnTo>
                        <a:pt x="457" y="25"/>
                      </a:lnTo>
                      <a:lnTo>
                        <a:pt x="485" y="38"/>
                      </a:lnTo>
                      <a:lnTo>
                        <a:pt x="514" y="55"/>
                      </a:lnTo>
                      <a:lnTo>
                        <a:pt x="538" y="73"/>
                      </a:lnTo>
                      <a:lnTo>
                        <a:pt x="562" y="95"/>
                      </a:lnTo>
                      <a:lnTo>
                        <a:pt x="583" y="119"/>
                      </a:lnTo>
                      <a:lnTo>
                        <a:pt x="602" y="145"/>
                      </a:lnTo>
                      <a:lnTo>
                        <a:pt x="618" y="172"/>
                      </a:lnTo>
                      <a:lnTo>
                        <a:pt x="632" y="200"/>
                      </a:lnTo>
                      <a:lnTo>
                        <a:pt x="644" y="231"/>
                      </a:lnTo>
                      <a:lnTo>
                        <a:pt x="648" y="245"/>
                      </a:lnTo>
                      <a:lnTo>
                        <a:pt x="652" y="262"/>
                      </a:lnTo>
                      <a:lnTo>
                        <a:pt x="655" y="278"/>
                      </a:lnTo>
                      <a:lnTo>
                        <a:pt x="656" y="294"/>
                      </a:lnTo>
                      <a:lnTo>
                        <a:pt x="657" y="311"/>
                      </a:lnTo>
                      <a:lnTo>
                        <a:pt x="659" y="327"/>
                      </a:lnTo>
                      <a:lnTo>
                        <a:pt x="659" y="327"/>
                      </a:lnTo>
                      <a:lnTo>
                        <a:pt x="657" y="345"/>
                      </a:lnTo>
                      <a:lnTo>
                        <a:pt x="656" y="361"/>
                      </a:lnTo>
                      <a:lnTo>
                        <a:pt x="655" y="377"/>
                      </a:lnTo>
                      <a:lnTo>
                        <a:pt x="652" y="395"/>
                      </a:lnTo>
                      <a:lnTo>
                        <a:pt x="648" y="409"/>
                      </a:lnTo>
                      <a:lnTo>
                        <a:pt x="644" y="425"/>
                      </a:lnTo>
                      <a:lnTo>
                        <a:pt x="632" y="455"/>
                      </a:lnTo>
                      <a:lnTo>
                        <a:pt x="618" y="485"/>
                      </a:lnTo>
                      <a:lnTo>
                        <a:pt x="602" y="511"/>
                      </a:lnTo>
                      <a:lnTo>
                        <a:pt x="583" y="537"/>
                      </a:lnTo>
                      <a:lnTo>
                        <a:pt x="562" y="560"/>
                      </a:lnTo>
                      <a:lnTo>
                        <a:pt x="538" y="581"/>
                      </a:lnTo>
                      <a:lnTo>
                        <a:pt x="514" y="600"/>
                      </a:lnTo>
                      <a:lnTo>
                        <a:pt x="485" y="616"/>
                      </a:lnTo>
                      <a:lnTo>
                        <a:pt x="457" y="631"/>
                      </a:lnTo>
                      <a:lnTo>
                        <a:pt x="426" y="642"/>
                      </a:lnTo>
                      <a:lnTo>
                        <a:pt x="412" y="646"/>
                      </a:lnTo>
                      <a:lnTo>
                        <a:pt x="395" y="650"/>
                      </a:lnTo>
                      <a:lnTo>
                        <a:pt x="379" y="653"/>
                      </a:lnTo>
                      <a:lnTo>
                        <a:pt x="363" y="655"/>
                      </a:lnTo>
                      <a:lnTo>
                        <a:pt x="346" y="657"/>
                      </a:lnTo>
                      <a:lnTo>
                        <a:pt x="330" y="657"/>
                      </a:lnTo>
                      <a:lnTo>
                        <a:pt x="330" y="657"/>
                      </a:lnTo>
                      <a:close/>
                      <a:moveTo>
                        <a:pt x="330" y="37"/>
                      </a:moveTo>
                      <a:lnTo>
                        <a:pt x="330" y="37"/>
                      </a:lnTo>
                      <a:lnTo>
                        <a:pt x="300" y="38"/>
                      </a:lnTo>
                      <a:lnTo>
                        <a:pt x="270" y="43"/>
                      </a:lnTo>
                      <a:lnTo>
                        <a:pt x="242" y="49"/>
                      </a:lnTo>
                      <a:lnTo>
                        <a:pt x="215" y="60"/>
                      </a:lnTo>
                      <a:lnTo>
                        <a:pt x="191" y="72"/>
                      </a:lnTo>
                      <a:lnTo>
                        <a:pt x="167" y="87"/>
                      </a:lnTo>
                      <a:lnTo>
                        <a:pt x="144" y="103"/>
                      </a:lnTo>
                      <a:lnTo>
                        <a:pt x="124" y="122"/>
                      </a:lnTo>
                      <a:lnTo>
                        <a:pt x="105" y="142"/>
                      </a:lnTo>
                      <a:lnTo>
                        <a:pt x="88" y="165"/>
                      </a:lnTo>
                      <a:lnTo>
                        <a:pt x="73" y="189"/>
                      </a:lnTo>
                      <a:lnTo>
                        <a:pt x="61" y="215"/>
                      </a:lnTo>
                      <a:lnTo>
                        <a:pt x="52" y="241"/>
                      </a:lnTo>
                      <a:lnTo>
                        <a:pt x="43" y="270"/>
                      </a:lnTo>
                      <a:lnTo>
                        <a:pt x="39" y="298"/>
                      </a:lnTo>
                      <a:lnTo>
                        <a:pt x="38" y="327"/>
                      </a:lnTo>
                      <a:lnTo>
                        <a:pt x="38" y="327"/>
                      </a:lnTo>
                      <a:lnTo>
                        <a:pt x="39" y="357"/>
                      </a:lnTo>
                      <a:lnTo>
                        <a:pt x="43" y="386"/>
                      </a:lnTo>
                      <a:lnTo>
                        <a:pt x="52" y="415"/>
                      </a:lnTo>
                      <a:lnTo>
                        <a:pt x="61" y="442"/>
                      </a:lnTo>
                      <a:lnTo>
                        <a:pt x="73" y="467"/>
                      </a:lnTo>
                      <a:lnTo>
                        <a:pt x="88" y="490"/>
                      </a:lnTo>
                      <a:lnTo>
                        <a:pt x="105" y="513"/>
                      </a:lnTo>
                      <a:lnTo>
                        <a:pt x="124" y="533"/>
                      </a:lnTo>
                      <a:lnTo>
                        <a:pt x="144" y="552"/>
                      </a:lnTo>
                      <a:lnTo>
                        <a:pt x="167" y="569"/>
                      </a:lnTo>
                      <a:lnTo>
                        <a:pt x="191" y="584"/>
                      </a:lnTo>
                      <a:lnTo>
                        <a:pt x="215" y="596"/>
                      </a:lnTo>
                      <a:lnTo>
                        <a:pt x="242" y="605"/>
                      </a:lnTo>
                      <a:lnTo>
                        <a:pt x="270" y="614"/>
                      </a:lnTo>
                      <a:lnTo>
                        <a:pt x="300" y="618"/>
                      </a:lnTo>
                      <a:lnTo>
                        <a:pt x="330" y="619"/>
                      </a:lnTo>
                      <a:lnTo>
                        <a:pt x="330" y="619"/>
                      </a:lnTo>
                      <a:lnTo>
                        <a:pt x="359" y="618"/>
                      </a:lnTo>
                      <a:lnTo>
                        <a:pt x="387" y="614"/>
                      </a:lnTo>
                      <a:lnTo>
                        <a:pt x="416" y="605"/>
                      </a:lnTo>
                      <a:lnTo>
                        <a:pt x="442" y="596"/>
                      </a:lnTo>
                      <a:lnTo>
                        <a:pt x="468" y="584"/>
                      </a:lnTo>
                      <a:lnTo>
                        <a:pt x="492" y="569"/>
                      </a:lnTo>
                      <a:lnTo>
                        <a:pt x="515" y="552"/>
                      </a:lnTo>
                      <a:lnTo>
                        <a:pt x="535" y="533"/>
                      </a:lnTo>
                      <a:lnTo>
                        <a:pt x="554" y="513"/>
                      </a:lnTo>
                      <a:lnTo>
                        <a:pt x="570" y="490"/>
                      </a:lnTo>
                      <a:lnTo>
                        <a:pt x="585" y="467"/>
                      </a:lnTo>
                      <a:lnTo>
                        <a:pt x="597" y="442"/>
                      </a:lnTo>
                      <a:lnTo>
                        <a:pt x="608" y="415"/>
                      </a:lnTo>
                      <a:lnTo>
                        <a:pt x="614" y="386"/>
                      </a:lnTo>
                      <a:lnTo>
                        <a:pt x="618" y="357"/>
                      </a:lnTo>
                      <a:lnTo>
                        <a:pt x="621" y="327"/>
                      </a:lnTo>
                      <a:lnTo>
                        <a:pt x="621" y="327"/>
                      </a:lnTo>
                      <a:lnTo>
                        <a:pt x="618" y="298"/>
                      </a:lnTo>
                      <a:lnTo>
                        <a:pt x="614" y="270"/>
                      </a:lnTo>
                      <a:lnTo>
                        <a:pt x="608" y="241"/>
                      </a:lnTo>
                      <a:lnTo>
                        <a:pt x="597" y="215"/>
                      </a:lnTo>
                      <a:lnTo>
                        <a:pt x="585" y="189"/>
                      </a:lnTo>
                      <a:lnTo>
                        <a:pt x="570" y="165"/>
                      </a:lnTo>
                      <a:lnTo>
                        <a:pt x="554" y="142"/>
                      </a:lnTo>
                      <a:lnTo>
                        <a:pt x="535" y="122"/>
                      </a:lnTo>
                      <a:lnTo>
                        <a:pt x="515" y="103"/>
                      </a:lnTo>
                      <a:lnTo>
                        <a:pt x="492" y="87"/>
                      </a:lnTo>
                      <a:lnTo>
                        <a:pt x="468" y="72"/>
                      </a:lnTo>
                      <a:lnTo>
                        <a:pt x="442" y="60"/>
                      </a:lnTo>
                      <a:lnTo>
                        <a:pt x="416" y="49"/>
                      </a:lnTo>
                      <a:lnTo>
                        <a:pt x="387" y="43"/>
                      </a:lnTo>
                      <a:lnTo>
                        <a:pt x="359" y="38"/>
                      </a:lnTo>
                      <a:lnTo>
                        <a:pt x="330" y="37"/>
                      </a:lnTo>
                      <a:lnTo>
                        <a:pt x="330" y="37"/>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grpSp>
          <p:grpSp>
            <p:nvGrpSpPr>
              <p:cNvPr id="375" name="Group 768">
                <a:extLst>
                  <a:ext uri="{FF2B5EF4-FFF2-40B4-BE49-F238E27FC236}">
                    <a16:creationId xmlns:a16="http://schemas.microsoft.com/office/drawing/2014/main" id="{8908ADF5-BBDB-118C-CB74-98607739AB1B}"/>
                  </a:ext>
                </a:extLst>
              </p:cNvPr>
              <p:cNvGrpSpPr>
                <a:grpSpLocks noChangeAspect="1"/>
              </p:cNvGrpSpPr>
              <p:nvPr/>
            </p:nvGrpSpPr>
            <p:grpSpPr bwMode="auto">
              <a:xfrm>
                <a:off x="4672543" y="1747527"/>
                <a:ext cx="457200" cy="457200"/>
                <a:chOff x="6591" y="3054"/>
                <a:chExt cx="340" cy="340"/>
              </a:xfrm>
              <a:solidFill>
                <a:schemeClr val="tx1"/>
              </a:solidFill>
            </p:grpSpPr>
            <p:sp>
              <p:nvSpPr>
                <p:cNvPr id="395" name="Freeform 769">
                  <a:extLst>
                    <a:ext uri="{FF2B5EF4-FFF2-40B4-BE49-F238E27FC236}">
                      <a16:creationId xmlns:a16="http://schemas.microsoft.com/office/drawing/2014/main" id="{F52BAB48-6662-31F3-E4B8-0977F323A10B}"/>
                    </a:ext>
                  </a:extLst>
                </p:cNvPr>
                <p:cNvSpPr>
                  <a:spLocks noEditPoints="1"/>
                </p:cNvSpPr>
                <p:nvPr/>
              </p:nvSpPr>
              <p:spPr bwMode="auto">
                <a:xfrm>
                  <a:off x="6591" y="3054"/>
                  <a:ext cx="340" cy="340"/>
                </a:xfrm>
                <a:custGeom>
                  <a:avLst/>
                  <a:gdLst>
                    <a:gd name="T0" fmla="*/ 256 w 512"/>
                    <a:gd name="T1" fmla="*/ 22 h 512"/>
                    <a:gd name="T2" fmla="*/ 491 w 512"/>
                    <a:gd name="T3" fmla="*/ 256 h 512"/>
                    <a:gd name="T4" fmla="*/ 256 w 512"/>
                    <a:gd name="T5" fmla="*/ 491 h 512"/>
                    <a:gd name="T6" fmla="*/ 21 w 512"/>
                    <a:gd name="T7" fmla="*/ 256 h 512"/>
                    <a:gd name="T8" fmla="*/ 256 w 512"/>
                    <a:gd name="T9" fmla="*/ 22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2"/>
                      </a:moveTo>
                      <a:cubicBezTo>
                        <a:pt x="385" y="22"/>
                        <a:pt x="491" y="127"/>
                        <a:pt x="491" y="256"/>
                      </a:cubicBezTo>
                      <a:cubicBezTo>
                        <a:pt x="491" y="386"/>
                        <a:pt x="385" y="491"/>
                        <a:pt x="256" y="491"/>
                      </a:cubicBezTo>
                      <a:cubicBezTo>
                        <a:pt x="127" y="491"/>
                        <a:pt x="21" y="386"/>
                        <a:pt x="21" y="256"/>
                      </a:cubicBezTo>
                      <a:cubicBezTo>
                        <a:pt x="21" y="127"/>
                        <a:pt x="127" y="22"/>
                        <a:pt x="256" y="22"/>
                      </a:cubicBezTo>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black"/>
                    </a:solidFill>
                    <a:effectLst/>
                    <a:uLnTx/>
                    <a:uFillTx/>
                    <a:ea typeface="+mn-ea"/>
                    <a:cs typeface="+mn-cs"/>
                  </a:endParaRPr>
                </a:p>
              </p:txBody>
            </p:sp>
            <p:sp>
              <p:nvSpPr>
                <p:cNvPr id="396" name="Freeform 770">
                  <a:extLst>
                    <a:ext uri="{FF2B5EF4-FFF2-40B4-BE49-F238E27FC236}">
                      <a16:creationId xmlns:a16="http://schemas.microsoft.com/office/drawing/2014/main" id="{774A5B0E-B0C6-2FF1-A525-D41560959AA9}"/>
                    </a:ext>
                  </a:extLst>
                </p:cNvPr>
                <p:cNvSpPr>
                  <a:spLocks noEditPoints="1"/>
                </p:cNvSpPr>
                <p:nvPr/>
              </p:nvSpPr>
              <p:spPr bwMode="auto">
                <a:xfrm>
                  <a:off x="6690" y="3132"/>
                  <a:ext cx="149" cy="198"/>
                </a:xfrm>
                <a:custGeom>
                  <a:avLst/>
                  <a:gdLst>
                    <a:gd name="T0" fmla="*/ 142 w 224"/>
                    <a:gd name="T1" fmla="*/ 97 h 298"/>
                    <a:gd name="T2" fmla="*/ 147 w 224"/>
                    <a:gd name="T3" fmla="*/ 93 h 298"/>
                    <a:gd name="T4" fmla="*/ 147 w 224"/>
                    <a:gd name="T5" fmla="*/ 77 h 298"/>
                    <a:gd name="T6" fmla="*/ 131 w 224"/>
                    <a:gd name="T7" fmla="*/ 77 h 298"/>
                    <a:gd name="T8" fmla="*/ 127 w 224"/>
                    <a:gd name="T9" fmla="*/ 82 h 298"/>
                    <a:gd name="T10" fmla="*/ 74 w 224"/>
                    <a:gd name="T11" fmla="*/ 30 h 298"/>
                    <a:gd name="T12" fmla="*/ 59 w 224"/>
                    <a:gd name="T13" fmla="*/ 30 h 298"/>
                    <a:gd name="T14" fmla="*/ 59 w 224"/>
                    <a:gd name="T15" fmla="*/ 165 h 298"/>
                    <a:gd name="T16" fmla="*/ 64 w 224"/>
                    <a:gd name="T17" fmla="*/ 170 h 298"/>
                    <a:gd name="T18" fmla="*/ 25 w 224"/>
                    <a:gd name="T19" fmla="*/ 277 h 298"/>
                    <a:gd name="T20" fmla="*/ 11 w 224"/>
                    <a:gd name="T21" fmla="*/ 277 h 298"/>
                    <a:gd name="T22" fmla="*/ 0 w 224"/>
                    <a:gd name="T23" fmla="*/ 288 h 298"/>
                    <a:gd name="T24" fmla="*/ 11 w 224"/>
                    <a:gd name="T25" fmla="*/ 298 h 298"/>
                    <a:gd name="T26" fmla="*/ 139 w 224"/>
                    <a:gd name="T27" fmla="*/ 298 h 298"/>
                    <a:gd name="T28" fmla="*/ 150 w 224"/>
                    <a:gd name="T29" fmla="*/ 288 h 298"/>
                    <a:gd name="T30" fmla="*/ 139 w 224"/>
                    <a:gd name="T31" fmla="*/ 277 h 298"/>
                    <a:gd name="T32" fmla="*/ 125 w 224"/>
                    <a:gd name="T33" fmla="*/ 277 h 298"/>
                    <a:gd name="T34" fmla="*/ 92 w 224"/>
                    <a:gd name="T35" fmla="*/ 187 h 298"/>
                    <a:gd name="T36" fmla="*/ 127 w 224"/>
                    <a:gd name="T37" fmla="*/ 193 h 298"/>
                    <a:gd name="T38" fmla="*/ 194 w 224"/>
                    <a:gd name="T39" fmla="*/ 165 h 298"/>
                    <a:gd name="T40" fmla="*/ 198 w 224"/>
                    <a:gd name="T41" fmla="*/ 158 h 298"/>
                    <a:gd name="T42" fmla="*/ 194 w 224"/>
                    <a:gd name="T43" fmla="*/ 150 h 298"/>
                    <a:gd name="T44" fmla="*/ 142 w 224"/>
                    <a:gd name="T45" fmla="*/ 97 h 298"/>
                    <a:gd name="T46" fmla="*/ 48 w 224"/>
                    <a:gd name="T47" fmla="*/ 277 h 298"/>
                    <a:gd name="T48" fmla="*/ 75 w 224"/>
                    <a:gd name="T49" fmla="*/ 202 h 298"/>
                    <a:gd name="T50" fmla="*/ 102 w 224"/>
                    <a:gd name="T51" fmla="*/ 277 h 298"/>
                    <a:gd name="T52" fmla="*/ 48 w 224"/>
                    <a:gd name="T53" fmla="*/ 277 h 298"/>
                    <a:gd name="T54" fmla="*/ 74 w 224"/>
                    <a:gd name="T55" fmla="*/ 150 h 298"/>
                    <a:gd name="T56" fmla="*/ 67 w 224"/>
                    <a:gd name="T57" fmla="*/ 53 h 298"/>
                    <a:gd name="T58" fmla="*/ 171 w 224"/>
                    <a:gd name="T59" fmla="*/ 157 h 298"/>
                    <a:gd name="T60" fmla="*/ 74 w 224"/>
                    <a:gd name="T61" fmla="*/ 150 h 298"/>
                    <a:gd name="T62" fmla="*/ 139 w 224"/>
                    <a:gd name="T63" fmla="*/ 64 h 298"/>
                    <a:gd name="T64" fmla="*/ 128 w 224"/>
                    <a:gd name="T65" fmla="*/ 53 h 298"/>
                    <a:gd name="T66" fmla="*/ 139 w 224"/>
                    <a:gd name="T67" fmla="*/ 42 h 298"/>
                    <a:gd name="T68" fmla="*/ 182 w 224"/>
                    <a:gd name="T69" fmla="*/ 85 h 298"/>
                    <a:gd name="T70" fmla="*/ 171 w 224"/>
                    <a:gd name="T71" fmla="*/ 96 h 298"/>
                    <a:gd name="T72" fmla="*/ 160 w 224"/>
                    <a:gd name="T73" fmla="*/ 85 h 298"/>
                    <a:gd name="T74" fmla="*/ 139 w 224"/>
                    <a:gd name="T75" fmla="*/ 64 h 298"/>
                    <a:gd name="T76" fmla="*/ 224 w 224"/>
                    <a:gd name="T77" fmla="*/ 85 h 298"/>
                    <a:gd name="T78" fmla="*/ 214 w 224"/>
                    <a:gd name="T79" fmla="*/ 96 h 298"/>
                    <a:gd name="T80" fmla="*/ 203 w 224"/>
                    <a:gd name="T81" fmla="*/ 85 h 298"/>
                    <a:gd name="T82" fmla="*/ 139 w 224"/>
                    <a:gd name="T83" fmla="*/ 21 h 298"/>
                    <a:gd name="T84" fmla="*/ 128 w 224"/>
                    <a:gd name="T85" fmla="*/ 10 h 298"/>
                    <a:gd name="T86" fmla="*/ 139 w 224"/>
                    <a:gd name="T87" fmla="*/ 0 h 298"/>
                    <a:gd name="T88" fmla="*/ 224 w 224"/>
                    <a:gd name="T89" fmla="*/ 85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24" h="298">
                      <a:moveTo>
                        <a:pt x="142" y="97"/>
                      </a:moveTo>
                      <a:cubicBezTo>
                        <a:pt x="147" y="93"/>
                        <a:pt x="147" y="93"/>
                        <a:pt x="147" y="93"/>
                      </a:cubicBezTo>
                      <a:cubicBezTo>
                        <a:pt x="151" y="88"/>
                        <a:pt x="151" y="82"/>
                        <a:pt x="147" y="77"/>
                      </a:cubicBezTo>
                      <a:cubicBezTo>
                        <a:pt x="142" y="73"/>
                        <a:pt x="136" y="73"/>
                        <a:pt x="131" y="77"/>
                      </a:cubicBezTo>
                      <a:cubicBezTo>
                        <a:pt x="127" y="82"/>
                        <a:pt x="127" y="82"/>
                        <a:pt x="127" y="82"/>
                      </a:cubicBezTo>
                      <a:cubicBezTo>
                        <a:pt x="74" y="30"/>
                        <a:pt x="74" y="30"/>
                        <a:pt x="74" y="30"/>
                      </a:cubicBezTo>
                      <a:cubicBezTo>
                        <a:pt x="70" y="25"/>
                        <a:pt x="63" y="25"/>
                        <a:pt x="59" y="30"/>
                      </a:cubicBezTo>
                      <a:cubicBezTo>
                        <a:pt x="21" y="67"/>
                        <a:pt x="21" y="128"/>
                        <a:pt x="59" y="165"/>
                      </a:cubicBezTo>
                      <a:cubicBezTo>
                        <a:pt x="60" y="167"/>
                        <a:pt x="62" y="169"/>
                        <a:pt x="64" y="170"/>
                      </a:cubicBezTo>
                      <a:cubicBezTo>
                        <a:pt x="25" y="277"/>
                        <a:pt x="25" y="277"/>
                        <a:pt x="25" y="277"/>
                      </a:cubicBezTo>
                      <a:cubicBezTo>
                        <a:pt x="11" y="277"/>
                        <a:pt x="11" y="277"/>
                        <a:pt x="11" y="277"/>
                      </a:cubicBezTo>
                      <a:cubicBezTo>
                        <a:pt x="5" y="277"/>
                        <a:pt x="0" y="282"/>
                        <a:pt x="0" y="288"/>
                      </a:cubicBezTo>
                      <a:cubicBezTo>
                        <a:pt x="0" y="294"/>
                        <a:pt x="5" y="298"/>
                        <a:pt x="11" y="298"/>
                      </a:cubicBezTo>
                      <a:cubicBezTo>
                        <a:pt x="139" y="298"/>
                        <a:pt x="139" y="298"/>
                        <a:pt x="139" y="298"/>
                      </a:cubicBezTo>
                      <a:cubicBezTo>
                        <a:pt x="145" y="298"/>
                        <a:pt x="150" y="294"/>
                        <a:pt x="150" y="288"/>
                      </a:cubicBezTo>
                      <a:cubicBezTo>
                        <a:pt x="150" y="282"/>
                        <a:pt x="145" y="277"/>
                        <a:pt x="139" y="277"/>
                      </a:cubicBezTo>
                      <a:cubicBezTo>
                        <a:pt x="125" y="277"/>
                        <a:pt x="125" y="277"/>
                        <a:pt x="125" y="277"/>
                      </a:cubicBezTo>
                      <a:cubicBezTo>
                        <a:pt x="92" y="187"/>
                        <a:pt x="92" y="187"/>
                        <a:pt x="92" y="187"/>
                      </a:cubicBezTo>
                      <a:cubicBezTo>
                        <a:pt x="103" y="191"/>
                        <a:pt x="115" y="193"/>
                        <a:pt x="127" y="193"/>
                      </a:cubicBezTo>
                      <a:cubicBezTo>
                        <a:pt x="151" y="193"/>
                        <a:pt x="176" y="184"/>
                        <a:pt x="194" y="165"/>
                      </a:cubicBezTo>
                      <a:cubicBezTo>
                        <a:pt x="196" y="163"/>
                        <a:pt x="198" y="161"/>
                        <a:pt x="198" y="158"/>
                      </a:cubicBezTo>
                      <a:cubicBezTo>
                        <a:pt x="198" y="155"/>
                        <a:pt x="196" y="152"/>
                        <a:pt x="194" y="150"/>
                      </a:cubicBezTo>
                      <a:lnTo>
                        <a:pt x="142" y="97"/>
                      </a:lnTo>
                      <a:close/>
                      <a:moveTo>
                        <a:pt x="48" y="277"/>
                      </a:moveTo>
                      <a:cubicBezTo>
                        <a:pt x="75" y="202"/>
                        <a:pt x="75" y="202"/>
                        <a:pt x="75" y="202"/>
                      </a:cubicBezTo>
                      <a:cubicBezTo>
                        <a:pt x="102" y="277"/>
                        <a:pt x="102" y="277"/>
                        <a:pt x="102" y="277"/>
                      </a:cubicBezTo>
                      <a:lnTo>
                        <a:pt x="48" y="277"/>
                      </a:lnTo>
                      <a:close/>
                      <a:moveTo>
                        <a:pt x="74" y="150"/>
                      </a:moveTo>
                      <a:cubicBezTo>
                        <a:pt x="47" y="124"/>
                        <a:pt x="45" y="82"/>
                        <a:pt x="67" y="53"/>
                      </a:cubicBezTo>
                      <a:cubicBezTo>
                        <a:pt x="171" y="157"/>
                        <a:pt x="171" y="157"/>
                        <a:pt x="171" y="157"/>
                      </a:cubicBezTo>
                      <a:cubicBezTo>
                        <a:pt x="142" y="179"/>
                        <a:pt x="100" y="177"/>
                        <a:pt x="74" y="150"/>
                      </a:cubicBezTo>
                      <a:close/>
                      <a:moveTo>
                        <a:pt x="139" y="64"/>
                      </a:moveTo>
                      <a:cubicBezTo>
                        <a:pt x="133" y="64"/>
                        <a:pt x="128" y="59"/>
                        <a:pt x="128" y="53"/>
                      </a:cubicBezTo>
                      <a:cubicBezTo>
                        <a:pt x="128" y="47"/>
                        <a:pt x="133" y="42"/>
                        <a:pt x="139" y="42"/>
                      </a:cubicBezTo>
                      <a:cubicBezTo>
                        <a:pt x="163" y="42"/>
                        <a:pt x="182" y="61"/>
                        <a:pt x="182" y="85"/>
                      </a:cubicBezTo>
                      <a:cubicBezTo>
                        <a:pt x="182" y="91"/>
                        <a:pt x="177" y="96"/>
                        <a:pt x="171" y="96"/>
                      </a:cubicBezTo>
                      <a:cubicBezTo>
                        <a:pt x="165" y="96"/>
                        <a:pt x="160" y="91"/>
                        <a:pt x="160" y="85"/>
                      </a:cubicBezTo>
                      <a:cubicBezTo>
                        <a:pt x="160" y="73"/>
                        <a:pt x="151" y="64"/>
                        <a:pt x="139" y="64"/>
                      </a:cubicBezTo>
                      <a:close/>
                      <a:moveTo>
                        <a:pt x="224" y="85"/>
                      </a:moveTo>
                      <a:cubicBezTo>
                        <a:pt x="224" y="91"/>
                        <a:pt x="220" y="96"/>
                        <a:pt x="214" y="96"/>
                      </a:cubicBezTo>
                      <a:cubicBezTo>
                        <a:pt x="208" y="96"/>
                        <a:pt x="203" y="91"/>
                        <a:pt x="203" y="85"/>
                      </a:cubicBezTo>
                      <a:cubicBezTo>
                        <a:pt x="203" y="50"/>
                        <a:pt x="174" y="21"/>
                        <a:pt x="139" y="21"/>
                      </a:cubicBezTo>
                      <a:cubicBezTo>
                        <a:pt x="133" y="21"/>
                        <a:pt x="128" y="16"/>
                        <a:pt x="128" y="10"/>
                      </a:cubicBezTo>
                      <a:cubicBezTo>
                        <a:pt x="128" y="4"/>
                        <a:pt x="133" y="0"/>
                        <a:pt x="139" y="0"/>
                      </a:cubicBezTo>
                      <a:cubicBezTo>
                        <a:pt x="186" y="0"/>
                        <a:pt x="224" y="38"/>
                        <a:pt x="224" y="8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black"/>
                    </a:solidFill>
                    <a:effectLst/>
                    <a:uLnTx/>
                    <a:uFillTx/>
                    <a:ea typeface="+mn-ea"/>
                    <a:cs typeface="+mn-cs"/>
                  </a:endParaRPr>
                </a:p>
              </p:txBody>
            </p:sp>
          </p:grpSp>
          <p:grpSp>
            <p:nvGrpSpPr>
              <p:cNvPr id="376" name="Group 459">
                <a:extLst>
                  <a:ext uri="{FF2B5EF4-FFF2-40B4-BE49-F238E27FC236}">
                    <a16:creationId xmlns:a16="http://schemas.microsoft.com/office/drawing/2014/main" id="{39846F8E-9714-2E90-698F-10520ADB3C22}"/>
                  </a:ext>
                </a:extLst>
              </p:cNvPr>
              <p:cNvGrpSpPr>
                <a:grpSpLocks noChangeAspect="1"/>
              </p:cNvGrpSpPr>
              <p:nvPr/>
            </p:nvGrpSpPr>
            <p:grpSpPr bwMode="auto">
              <a:xfrm>
                <a:off x="4107047" y="3018278"/>
                <a:ext cx="457200" cy="457199"/>
                <a:chOff x="1918" y="1565"/>
                <a:chExt cx="340" cy="340"/>
              </a:xfrm>
              <a:solidFill>
                <a:schemeClr val="tx1"/>
              </a:solidFill>
            </p:grpSpPr>
            <p:sp>
              <p:nvSpPr>
                <p:cNvPr id="393" name="Freeform 460">
                  <a:extLst>
                    <a:ext uri="{FF2B5EF4-FFF2-40B4-BE49-F238E27FC236}">
                      <a16:creationId xmlns:a16="http://schemas.microsoft.com/office/drawing/2014/main" id="{8EFD9920-01CA-A54B-26E3-D9A5011B1F7D}"/>
                    </a:ext>
                  </a:extLst>
                </p:cNvPr>
                <p:cNvSpPr>
                  <a:spLocks noEditPoints="1"/>
                </p:cNvSpPr>
                <p:nvPr/>
              </p:nvSpPr>
              <p:spPr bwMode="auto">
                <a:xfrm>
                  <a:off x="2010" y="1636"/>
                  <a:ext cx="156" cy="199"/>
                </a:xfrm>
                <a:custGeom>
                  <a:avLst/>
                  <a:gdLst>
                    <a:gd name="T0" fmla="*/ 224 w 234"/>
                    <a:gd name="T1" fmla="*/ 0 h 299"/>
                    <a:gd name="T2" fmla="*/ 10 w 234"/>
                    <a:gd name="T3" fmla="*/ 0 h 299"/>
                    <a:gd name="T4" fmla="*/ 0 w 234"/>
                    <a:gd name="T5" fmla="*/ 11 h 299"/>
                    <a:gd name="T6" fmla="*/ 0 w 234"/>
                    <a:gd name="T7" fmla="*/ 288 h 299"/>
                    <a:gd name="T8" fmla="*/ 10 w 234"/>
                    <a:gd name="T9" fmla="*/ 299 h 299"/>
                    <a:gd name="T10" fmla="*/ 224 w 234"/>
                    <a:gd name="T11" fmla="*/ 299 h 299"/>
                    <a:gd name="T12" fmla="*/ 234 w 234"/>
                    <a:gd name="T13" fmla="*/ 288 h 299"/>
                    <a:gd name="T14" fmla="*/ 234 w 234"/>
                    <a:gd name="T15" fmla="*/ 11 h 299"/>
                    <a:gd name="T16" fmla="*/ 224 w 234"/>
                    <a:gd name="T17" fmla="*/ 0 h 299"/>
                    <a:gd name="T18" fmla="*/ 213 w 234"/>
                    <a:gd name="T19" fmla="*/ 277 h 299"/>
                    <a:gd name="T20" fmla="*/ 21 w 234"/>
                    <a:gd name="T21" fmla="*/ 277 h 299"/>
                    <a:gd name="T22" fmla="*/ 21 w 234"/>
                    <a:gd name="T23" fmla="*/ 21 h 299"/>
                    <a:gd name="T24" fmla="*/ 213 w 234"/>
                    <a:gd name="T25" fmla="*/ 21 h 299"/>
                    <a:gd name="T26" fmla="*/ 213 w 234"/>
                    <a:gd name="T27" fmla="*/ 277 h 299"/>
                    <a:gd name="T28" fmla="*/ 128 w 234"/>
                    <a:gd name="T29" fmla="*/ 245 h 299"/>
                    <a:gd name="T30" fmla="*/ 117 w 234"/>
                    <a:gd name="T31" fmla="*/ 256 h 299"/>
                    <a:gd name="T32" fmla="*/ 106 w 234"/>
                    <a:gd name="T33" fmla="*/ 245 h 299"/>
                    <a:gd name="T34" fmla="*/ 117 w 234"/>
                    <a:gd name="T35" fmla="*/ 235 h 299"/>
                    <a:gd name="T36" fmla="*/ 128 w 234"/>
                    <a:gd name="T37" fmla="*/ 245 h 299"/>
                    <a:gd name="T38" fmla="*/ 42 w 234"/>
                    <a:gd name="T39" fmla="*/ 213 h 299"/>
                    <a:gd name="T40" fmla="*/ 192 w 234"/>
                    <a:gd name="T41" fmla="*/ 213 h 299"/>
                    <a:gd name="T42" fmla="*/ 202 w 234"/>
                    <a:gd name="T43" fmla="*/ 203 h 299"/>
                    <a:gd name="T44" fmla="*/ 202 w 234"/>
                    <a:gd name="T45" fmla="*/ 43 h 299"/>
                    <a:gd name="T46" fmla="*/ 192 w 234"/>
                    <a:gd name="T47" fmla="*/ 32 h 299"/>
                    <a:gd name="T48" fmla="*/ 42 w 234"/>
                    <a:gd name="T49" fmla="*/ 32 h 299"/>
                    <a:gd name="T50" fmla="*/ 32 w 234"/>
                    <a:gd name="T51" fmla="*/ 43 h 299"/>
                    <a:gd name="T52" fmla="*/ 32 w 234"/>
                    <a:gd name="T53" fmla="*/ 203 h 299"/>
                    <a:gd name="T54" fmla="*/ 42 w 234"/>
                    <a:gd name="T55" fmla="*/ 213 h 299"/>
                    <a:gd name="T56" fmla="*/ 53 w 234"/>
                    <a:gd name="T57" fmla="*/ 53 h 299"/>
                    <a:gd name="T58" fmla="*/ 181 w 234"/>
                    <a:gd name="T59" fmla="*/ 53 h 299"/>
                    <a:gd name="T60" fmla="*/ 181 w 234"/>
                    <a:gd name="T61" fmla="*/ 192 h 299"/>
                    <a:gd name="T62" fmla="*/ 53 w 234"/>
                    <a:gd name="T63" fmla="*/ 192 h 299"/>
                    <a:gd name="T64" fmla="*/ 53 w 234"/>
                    <a:gd name="T65" fmla="*/ 53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4" h="299">
                      <a:moveTo>
                        <a:pt x="224" y="0"/>
                      </a:moveTo>
                      <a:cubicBezTo>
                        <a:pt x="10" y="0"/>
                        <a:pt x="10" y="0"/>
                        <a:pt x="10" y="0"/>
                      </a:cubicBezTo>
                      <a:cubicBezTo>
                        <a:pt x="4" y="0"/>
                        <a:pt x="0" y="5"/>
                        <a:pt x="0" y="11"/>
                      </a:cubicBezTo>
                      <a:cubicBezTo>
                        <a:pt x="0" y="288"/>
                        <a:pt x="0" y="288"/>
                        <a:pt x="0" y="288"/>
                      </a:cubicBezTo>
                      <a:cubicBezTo>
                        <a:pt x="0" y="294"/>
                        <a:pt x="4" y="299"/>
                        <a:pt x="10" y="299"/>
                      </a:cubicBezTo>
                      <a:cubicBezTo>
                        <a:pt x="224" y="299"/>
                        <a:pt x="224" y="299"/>
                        <a:pt x="224" y="299"/>
                      </a:cubicBezTo>
                      <a:cubicBezTo>
                        <a:pt x="230" y="299"/>
                        <a:pt x="234" y="294"/>
                        <a:pt x="234" y="288"/>
                      </a:cubicBezTo>
                      <a:cubicBezTo>
                        <a:pt x="234" y="11"/>
                        <a:pt x="234" y="11"/>
                        <a:pt x="234" y="11"/>
                      </a:cubicBezTo>
                      <a:cubicBezTo>
                        <a:pt x="234" y="5"/>
                        <a:pt x="230" y="0"/>
                        <a:pt x="224" y="0"/>
                      </a:cubicBezTo>
                      <a:close/>
                      <a:moveTo>
                        <a:pt x="213" y="277"/>
                      </a:moveTo>
                      <a:cubicBezTo>
                        <a:pt x="21" y="277"/>
                        <a:pt x="21" y="277"/>
                        <a:pt x="21" y="277"/>
                      </a:cubicBezTo>
                      <a:cubicBezTo>
                        <a:pt x="21" y="21"/>
                        <a:pt x="21" y="21"/>
                        <a:pt x="21" y="21"/>
                      </a:cubicBezTo>
                      <a:cubicBezTo>
                        <a:pt x="213" y="21"/>
                        <a:pt x="213" y="21"/>
                        <a:pt x="213" y="21"/>
                      </a:cubicBezTo>
                      <a:lnTo>
                        <a:pt x="213" y="277"/>
                      </a:lnTo>
                      <a:close/>
                      <a:moveTo>
                        <a:pt x="128" y="245"/>
                      </a:moveTo>
                      <a:cubicBezTo>
                        <a:pt x="128" y="251"/>
                        <a:pt x="123" y="256"/>
                        <a:pt x="117" y="256"/>
                      </a:cubicBezTo>
                      <a:cubicBezTo>
                        <a:pt x="111" y="256"/>
                        <a:pt x="106" y="251"/>
                        <a:pt x="106" y="245"/>
                      </a:cubicBezTo>
                      <a:cubicBezTo>
                        <a:pt x="106" y="239"/>
                        <a:pt x="111" y="235"/>
                        <a:pt x="117" y="235"/>
                      </a:cubicBezTo>
                      <a:cubicBezTo>
                        <a:pt x="123" y="235"/>
                        <a:pt x="128" y="239"/>
                        <a:pt x="128" y="245"/>
                      </a:cubicBezTo>
                      <a:close/>
                      <a:moveTo>
                        <a:pt x="42" y="213"/>
                      </a:moveTo>
                      <a:cubicBezTo>
                        <a:pt x="192" y="213"/>
                        <a:pt x="192" y="213"/>
                        <a:pt x="192" y="213"/>
                      </a:cubicBezTo>
                      <a:cubicBezTo>
                        <a:pt x="198" y="213"/>
                        <a:pt x="202" y="209"/>
                        <a:pt x="202" y="203"/>
                      </a:cubicBezTo>
                      <a:cubicBezTo>
                        <a:pt x="202" y="43"/>
                        <a:pt x="202" y="43"/>
                        <a:pt x="202" y="43"/>
                      </a:cubicBezTo>
                      <a:cubicBezTo>
                        <a:pt x="202" y="37"/>
                        <a:pt x="198" y="32"/>
                        <a:pt x="192" y="32"/>
                      </a:cubicBezTo>
                      <a:cubicBezTo>
                        <a:pt x="42" y="32"/>
                        <a:pt x="42" y="32"/>
                        <a:pt x="42" y="32"/>
                      </a:cubicBezTo>
                      <a:cubicBezTo>
                        <a:pt x="36" y="32"/>
                        <a:pt x="32" y="37"/>
                        <a:pt x="32" y="43"/>
                      </a:cubicBezTo>
                      <a:cubicBezTo>
                        <a:pt x="32" y="203"/>
                        <a:pt x="32" y="203"/>
                        <a:pt x="32" y="203"/>
                      </a:cubicBezTo>
                      <a:cubicBezTo>
                        <a:pt x="32" y="209"/>
                        <a:pt x="36" y="213"/>
                        <a:pt x="42" y="213"/>
                      </a:cubicBezTo>
                      <a:close/>
                      <a:moveTo>
                        <a:pt x="53" y="53"/>
                      </a:moveTo>
                      <a:cubicBezTo>
                        <a:pt x="181" y="53"/>
                        <a:pt x="181" y="53"/>
                        <a:pt x="181" y="53"/>
                      </a:cubicBezTo>
                      <a:cubicBezTo>
                        <a:pt x="181" y="192"/>
                        <a:pt x="181" y="192"/>
                        <a:pt x="181" y="192"/>
                      </a:cubicBezTo>
                      <a:cubicBezTo>
                        <a:pt x="53" y="192"/>
                        <a:pt x="53" y="192"/>
                        <a:pt x="53" y="192"/>
                      </a:cubicBezTo>
                      <a:lnTo>
                        <a:pt x="53" y="5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black"/>
                    </a:solidFill>
                    <a:effectLst/>
                    <a:uLnTx/>
                    <a:uFillTx/>
                    <a:ea typeface="+mn-ea"/>
                    <a:cs typeface="+mn-cs"/>
                  </a:endParaRPr>
                </a:p>
              </p:txBody>
            </p:sp>
            <p:sp>
              <p:nvSpPr>
                <p:cNvPr id="394" name="Freeform 461">
                  <a:extLst>
                    <a:ext uri="{FF2B5EF4-FFF2-40B4-BE49-F238E27FC236}">
                      <a16:creationId xmlns:a16="http://schemas.microsoft.com/office/drawing/2014/main" id="{90455F81-41F7-F03F-3934-82B76F056655}"/>
                    </a:ext>
                  </a:extLst>
                </p:cNvPr>
                <p:cNvSpPr>
                  <a:spLocks noEditPoints="1"/>
                </p:cNvSpPr>
                <p:nvPr/>
              </p:nvSpPr>
              <p:spPr bwMode="auto">
                <a:xfrm>
                  <a:off x="1918" y="1565"/>
                  <a:ext cx="340" cy="340"/>
                </a:xfrm>
                <a:custGeom>
                  <a:avLst/>
                  <a:gdLst>
                    <a:gd name="T0" fmla="*/ 256 w 512"/>
                    <a:gd name="T1" fmla="*/ 22 h 512"/>
                    <a:gd name="T2" fmla="*/ 491 w 512"/>
                    <a:gd name="T3" fmla="*/ 256 h 512"/>
                    <a:gd name="T4" fmla="*/ 256 w 512"/>
                    <a:gd name="T5" fmla="*/ 491 h 512"/>
                    <a:gd name="T6" fmla="*/ 21 w 512"/>
                    <a:gd name="T7" fmla="*/ 256 h 512"/>
                    <a:gd name="T8" fmla="*/ 256 w 512"/>
                    <a:gd name="T9" fmla="*/ 22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2"/>
                      </a:moveTo>
                      <a:cubicBezTo>
                        <a:pt x="385" y="22"/>
                        <a:pt x="491" y="127"/>
                        <a:pt x="491" y="256"/>
                      </a:cubicBezTo>
                      <a:cubicBezTo>
                        <a:pt x="491" y="386"/>
                        <a:pt x="385" y="491"/>
                        <a:pt x="256" y="491"/>
                      </a:cubicBezTo>
                      <a:cubicBezTo>
                        <a:pt x="127" y="491"/>
                        <a:pt x="21" y="386"/>
                        <a:pt x="21" y="256"/>
                      </a:cubicBezTo>
                      <a:cubicBezTo>
                        <a:pt x="21" y="127"/>
                        <a:pt x="127" y="22"/>
                        <a:pt x="256" y="22"/>
                      </a:cubicBezTo>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black"/>
                    </a:solidFill>
                    <a:effectLst/>
                    <a:uLnTx/>
                    <a:uFillTx/>
                    <a:ea typeface="+mn-ea"/>
                    <a:cs typeface="+mn-cs"/>
                  </a:endParaRPr>
                </a:p>
              </p:txBody>
            </p:sp>
          </p:grpSp>
          <p:grpSp>
            <p:nvGrpSpPr>
              <p:cNvPr id="377" name="Group 376">
                <a:extLst>
                  <a:ext uri="{FF2B5EF4-FFF2-40B4-BE49-F238E27FC236}">
                    <a16:creationId xmlns:a16="http://schemas.microsoft.com/office/drawing/2014/main" id="{3787F11F-FB6B-D3CC-AD9D-B93F319E9A98}"/>
                  </a:ext>
                </a:extLst>
              </p:cNvPr>
              <p:cNvGrpSpPr>
                <a:grpSpLocks noChangeAspect="1"/>
              </p:cNvGrpSpPr>
              <p:nvPr/>
            </p:nvGrpSpPr>
            <p:grpSpPr bwMode="auto">
              <a:xfrm>
                <a:off x="4556590" y="4416823"/>
                <a:ext cx="458544" cy="457200"/>
                <a:chOff x="3100" y="2384"/>
                <a:chExt cx="341" cy="340"/>
              </a:xfrm>
              <a:solidFill>
                <a:schemeClr val="tx1"/>
              </a:solidFill>
            </p:grpSpPr>
            <p:sp>
              <p:nvSpPr>
                <p:cNvPr id="391" name="Freeform 342">
                  <a:extLst>
                    <a:ext uri="{FF2B5EF4-FFF2-40B4-BE49-F238E27FC236}">
                      <a16:creationId xmlns:a16="http://schemas.microsoft.com/office/drawing/2014/main" id="{5D3C326E-AF57-155A-7421-8CD088E0CEB0}"/>
                    </a:ext>
                  </a:extLst>
                </p:cNvPr>
                <p:cNvSpPr>
                  <a:spLocks noEditPoints="1"/>
                </p:cNvSpPr>
                <p:nvPr/>
              </p:nvSpPr>
              <p:spPr bwMode="auto">
                <a:xfrm>
                  <a:off x="3100" y="2384"/>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black"/>
                    </a:solidFill>
                    <a:effectLst/>
                    <a:uLnTx/>
                    <a:uFillTx/>
                    <a:ea typeface="+mn-ea"/>
                    <a:cs typeface="+mn-cs"/>
                  </a:endParaRPr>
                </a:p>
              </p:txBody>
            </p:sp>
            <p:sp>
              <p:nvSpPr>
                <p:cNvPr id="392" name="Freeform 343">
                  <a:extLst>
                    <a:ext uri="{FF2B5EF4-FFF2-40B4-BE49-F238E27FC236}">
                      <a16:creationId xmlns:a16="http://schemas.microsoft.com/office/drawing/2014/main" id="{88D72E30-0C61-919B-AA9C-A79EAE0F4555}"/>
                    </a:ext>
                  </a:extLst>
                </p:cNvPr>
                <p:cNvSpPr>
                  <a:spLocks noEditPoints="1"/>
                </p:cNvSpPr>
                <p:nvPr/>
              </p:nvSpPr>
              <p:spPr bwMode="auto">
                <a:xfrm>
                  <a:off x="3185" y="2462"/>
                  <a:ext cx="171" cy="184"/>
                </a:xfrm>
                <a:custGeom>
                  <a:avLst/>
                  <a:gdLst>
                    <a:gd name="T0" fmla="*/ 224 w 256"/>
                    <a:gd name="T1" fmla="*/ 213 h 277"/>
                    <a:gd name="T2" fmla="*/ 224 w 256"/>
                    <a:gd name="T3" fmla="*/ 267 h 277"/>
                    <a:gd name="T4" fmla="*/ 213 w 256"/>
                    <a:gd name="T5" fmla="*/ 277 h 277"/>
                    <a:gd name="T6" fmla="*/ 202 w 256"/>
                    <a:gd name="T7" fmla="*/ 267 h 277"/>
                    <a:gd name="T8" fmla="*/ 202 w 256"/>
                    <a:gd name="T9" fmla="*/ 242 h 277"/>
                    <a:gd name="T10" fmla="*/ 128 w 256"/>
                    <a:gd name="T11" fmla="*/ 267 h 277"/>
                    <a:gd name="T12" fmla="*/ 0 w 256"/>
                    <a:gd name="T13" fmla="*/ 139 h 277"/>
                    <a:gd name="T14" fmla="*/ 10 w 256"/>
                    <a:gd name="T15" fmla="*/ 128 h 277"/>
                    <a:gd name="T16" fmla="*/ 21 w 256"/>
                    <a:gd name="T17" fmla="*/ 139 h 277"/>
                    <a:gd name="T18" fmla="*/ 128 w 256"/>
                    <a:gd name="T19" fmla="*/ 245 h 277"/>
                    <a:gd name="T20" fmla="*/ 192 w 256"/>
                    <a:gd name="T21" fmla="*/ 224 h 277"/>
                    <a:gd name="T22" fmla="*/ 160 w 256"/>
                    <a:gd name="T23" fmla="*/ 224 h 277"/>
                    <a:gd name="T24" fmla="*/ 149 w 256"/>
                    <a:gd name="T25" fmla="*/ 213 h 277"/>
                    <a:gd name="T26" fmla="*/ 160 w 256"/>
                    <a:gd name="T27" fmla="*/ 203 h 277"/>
                    <a:gd name="T28" fmla="*/ 213 w 256"/>
                    <a:gd name="T29" fmla="*/ 203 h 277"/>
                    <a:gd name="T30" fmla="*/ 224 w 256"/>
                    <a:gd name="T31" fmla="*/ 213 h 277"/>
                    <a:gd name="T32" fmla="*/ 128 w 256"/>
                    <a:gd name="T33" fmla="*/ 11 h 277"/>
                    <a:gd name="T34" fmla="*/ 53 w 256"/>
                    <a:gd name="T35" fmla="*/ 35 h 277"/>
                    <a:gd name="T36" fmla="*/ 53 w 256"/>
                    <a:gd name="T37" fmla="*/ 11 h 277"/>
                    <a:gd name="T38" fmla="*/ 42 w 256"/>
                    <a:gd name="T39" fmla="*/ 0 h 277"/>
                    <a:gd name="T40" fmla="*/ 32 w 256"/>
                    <a:gd name="T41" fmla="*/ 11 h 277"/>
                    <a:gd name="T42" fmla="*/ 32 w 256"/>
                    <a:gd name="T43" fmla="*/ 64 h 277"/>
                    <a:gd name="T44" fmla="*/ 42 w 256"/>
                    <a:gd name="T45" fmla="*/ 75 h 277"/>
                    <a:gd name="T46" fmla="*/ 96 w 256"/>
                    <a:gd name="T47" fmla="*/ 75 h 277"/>
                    <a:gd name="T48" fmla="*/ 106 w 256"/>
                    <a:gd name="T49" fmla="*/ 64 h 277"/>
                    <a:gd name="T50" fmla="*/ 96 w 256"/>
                    <a:gd name="T51" fmla="*/ 53 h 277"/>
                    <a:gd name="T52" fmla="*/ 64 w 256"/>
                    <a:gd name="T53" fmla="*/ 53 h 277"/>
                    <a:gd name="T54" fmla="*/ 128 w 256"/>
                    <a:gd name="T55" fmla="*/ 32 h 277"/>
                    <a:gd name="T56" fmla="*/ 234 w 256"/>
                    <a:gd name="T57" fmla="*/ 139 h 277"/>
                    <a:gd name="T58" fmla="*/ 245 w 256"/>
                    <a:gd name="T59" fmla="*/ 149 h 277"/>
                    <a:gd name="T60" fmla="*/ 256 w 256"/>
                    <a:gd name="T61" fmla="*/ 139 h 277"/>
                    <a:gd name="T62" fmla="*/ 128 w 256"/>
                    <a:gd name="T63" fmla="*/ 11 h 277"/>
                    <a:gd name="T64" fmla="*/ 117 w 256"/>
                    <a:gd name="T65" fmla="*/ 181 h 277"/>
                    <a:gd name="T66" fmla="*/ 125 w 256"/>
                    <a:gd name="T67" fmla="*/ 178 h 277"/>
                    <a:gd name="T68" fmla="*/ 189 w 256"/>
                    <a:gd name="T69" fmla="*/ 114 h 277"/>
                    <a:gd name="T70" fmla="*/ 189 w 256"/>
                    <a:gd name="T71" fmla="*/ 99 h 277"/>
                    <a:gd name="T72" fmla="*/ 173 w 256"/>
                    <a:gd name="T73" fmla="*/ 99 h 277"/>
                    <a:gd name="T74" fmla="*/ 117 w 256"/>
                    <a:gd name="T75" fmla="*/ 156 h 277"/>
                    <a:gd name="T76" fmla="*/ 93 w 256"/>
                    <a:gd name="T77" fmla="*/ 131 h 277"/>
                    <a:gd name="T78" fmla="*/ 77 w 256"/>
                    <a:gd name="T79" fmla="*/ 131 h 277"/>
                    <a:gd name="T80" fmla="*/ 77 w 256"/>
                    <a:gd name="T81" fmla="*/ 146 h 277"/>
                    <a:gd name="T82" fmla="*/ 109 w 256"/>
                    <a:gd name="T83" fmla="*/ 178 h 277"/>
                    <a:gd name="T84" fmla="*/ 117 w 256"/>
                    <a:gd name="T85" fmla="*/ 181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6" h="277">
                      <a:moveTo>
                        <a:pt x="224" y="213"/>
                      </a:moveTo>
                      <a:cubicBezTo>
                        <a:pt x="224" y="267"/>
                        <a:pt x="224" y="267"/>
                        <a:pt x="224" y="267"/>
                      </a:cubicBezTo>
                      <a:cubicBezTo>
                        <a:pt x="224" y="273"/>
                        <a:pt x="219" y="277"/>
                        <a:pt x="213" y="277"/>
                      </a:cubicBezTo>
                      <a:cubicBezTo>
                        <a:pt x="207" y="277"/>
                        <a:pt x="202" y="273"/>
                        <a:pt x="202" y="267"/>
                      </a:cubicBezTo>
                      <a:cubicBezTo>
                        <a:pt x="202" y="242"/>
                        <a:pt x="202" y="242"/>
                        <a:pt x="202" y="242"/>
                      </a:cubicBezTo>
                      <a:cubicBezTo>
                        <a:pt x="181" y="258"/>
                        <a:pt x="155" y="267"/>
                        <a:pt x="128" y="267"/>
                      </a:cubicBezTo>
                      <a:cubicBezTo>
                        <a:pt x="57" y="267"/>
                        <a:pt x="0" y="209"/>
                        <a:pt x="0" y="139"/>
                      </a:cubicBezTo>
                      <a:cubicBezTo>
                        <a:pt x="0" y="133"/>
                        <a:pt x="4" y="128"/>
                        <a:pt x="10" y="128"/>
                      </a:cubicBezTo>
                      <a:cubicBezTo>
                        <a:pt x="16" y="128"/>
                        <a:pt x="21" y="133"/>
                        <a:pt x="21" y="139"/>
                      </a:cubicBezTo>
                      <a:cubicBezTo>
                        <a:pt x="21" y="197"/>
                        <a:pt x="69" y="245"/>
                        <a:pt x="128" y="245"/>
                      </a:cubicBezTo>
                      <a:cubicBezTo>
                        <a:pt x="151" y="245"/>
                        <a:pt x="173" y="238"/>
                        <a:pt x="192" y="224"/>
                      </a:cubicBezTo>
                      <a:cubicBezTo>
                        <a:pt x="160" y="224"/>
                        <a:pt x="160" y="224"/>
                        <a:pt x="160" y="224"/>
                      </a:cubicBezTo>
                      <a:cubicBezTo>
                        <a:pt x="154" y="224"/>
                        <a:pt x="149" y="219"/>
                        <a:pt x="149" y="213"/>
                      </a:cubicBezTo>
                      <a:cubicBezTo>
                        <a:pt x="149" y="207"/>
                        <a:pt x="154" y="203"/>
                        <a:pt x="160" y="203"/>
                      </a:cubicBezTo>
                      <a:cubicBezTo>
                        <a:pt x="213" y="203"/>
                        <a:pt x="213" y="203"/>
                        <a:pt x="213" y="203"/>
                      </a:cubicBezTo>
                      <a:cubicBezTo>
                        <a:pt x="219" y="203"/>
                        <a:pt x="224" y="207"/>
                        <a:pt x="224" y="213"/>
                      </a:cubicBezTo>
                      <a:close/>
                      <a:moveTo>
                        <a:pt x="128" y="11"/>
                      </a:moveTo>
                      <a:cubicBezTo>
                        <a:pt x="101" y="11"/>
                        <a:pt x="75" y="19"/>
                        <a:pt x="53" y="35"/>
                      </a:cubicBezTo>
                      <a:cubicBezTo>
                        <a:pt x="53" y="11"/>
                        <a:pt x="53" y="11"/>
                        <a:pt x="53" y="11"/>
                      </a:cubicBezTo>
                      <a:cubicBezTo>
                        <a:pt x="53" y="5"/>
                        <a:pt x="48" y="0"/>
                        <a:pt x="42" y="0"/>
                      </a:cubicBezTo>
                      <a:cubicBezTo>
                        <a:pt x="36" y="0"/>
                        <a:pt x="32" y="5"/>
                        <a:pt x="32" y="11"/>
                      </a:cubicBezTo>
                      <a:cubicBezTo>
                        <a:pt x="32" y="64"/>
                        <a:pt x="32" y="64"/>
                        <a:pt x="32" y="64"/>
                      </a:cubicBezTo>
                      <a:cubicBezTo>
                        <a:pt x="32" y="70"/>
                        <a:pt x="36" y="75"/>
                        <a:pt x="42" y="75"/>
                      </a:cubicBezTo>
                      <a:cubicBezTo>
                        <a:pt x="96" y="75"/>
                        <a:pt x="96" y="75"/>
                        <a:pt x="96" y="75"/>
                      </a:cubicBezTo>
                      <a:cubicBezTo>
                        <a:pt x="102" y="75"/>
                        <a:pt x="106" y="70"/>
                        <a:pt x="106" y="64"/>
                      </a:cubicBezTo>
                      <a:cubicBezTo>
                        <a:pt x="106" y="58"/>
                        <a:pt x="102" y="53"/>
                        <a:pt x="96" y="53"/>
                      </a:cubicBezTo>
                      <a:cubicBezTo>
                        <a:pt x="64" y="53"/>
                        <a:pt x="64" y="53"/>
                        <a:pt x="64" y="53"/>
                      </a:cubicBezTo>
                      <a:cubicBezTo>
                        <a:pt x="82" y="40"/>
                        <a:pt x="104" y="32"/>
                        <a:pt x="128" y="32"/>
                      </a:cubicBezTo>
                      <a:cubicBezTo>
                        <a:pt x="186" y="32"/>
                        <a:pt x="234" y="80"/>
                        <a:pt x="234" y="139"/>
                      </a:cubicBezTo>
                      <a:cubicBezTo>
                        <a:pt x="234" y="145"/>
                        <a:pt x="239" y="149"/>
                        <a:pt x="245" y="149"/>
                      </a:cubicBezTo>
                      <a:cubicBezTo>
                        <a:pt x="251" y="149"/>
                        <a:pt x="256" y="145"/>
                        <a:pt x="256" y="139"/>
                      </a:cubicBezTo>
                      <a:cubicBezTo>
                        <a:pt x="256" y="68"/>
                        <a:pt x="198" y="11"/>
                        <a:pt x="128" y="11"/>
                      </a:cubicBezTo>
                      <a:close/>
                      <a:moveTo>
                        <a:pt x="117" y="181"/>
                      </a:moveTo>
                      <a:cubicBezTo>
                        <a:pt x="120" y="181"/>
                        <a:pt x="122" y="180"/>
                        <a:pt x="125" y="178"/>
                      </a:cubicBezTo>
                      <a:cubicBezTo>
                        <a:pt x="189" y="114"/>
                        <a:pt x="189" y="114"/>
                        <a:pt x="189" y="114"/>
                      </a:cubicBezTo>
                      <a:cubicBezTo>
                        <a:pt x="193" y="110"/>
                        <a:pt x="193" y="103"/>
                        <a:pt x="189" y="99"/>
                      </a:cubicBezTo>
                      <a:cubicBezTo>
                        <a:pt x="184" y="95"/>
                        <a:pt x="178" y="95"/>
                        <a:pt x="173" y="99"/>
                      </a:cubicBezTo>
                      <a:cubicBezTo>
                        <a:pt x="117" y="156"/>
                        <a:pt x="117" y="156"/>
                        <a:pt x="117" y="156"/>
                      </a:cubicBezTo>
                      <a:cubicBezTo>
                        <a:pt x="93" y="131"/>
                        <a:pt x="93" y="131"/>
                        <a:pt x="93" y="131"/>
                      </a:cubicBezTo>
                      <a:cubicBezTo>
                        <a:pt x="88" y="127"/>
                        <a:pt x="82" y="127"/>
                        <a:pt x="77" y="131"/>
                      </a:cubicBezTo>
                      <a:cubicBezTo>
                        <a:pt x="73" y="135"/>
                        <a:pt x="73" y="142"/>
                        <a:pt x="77" y="146"/>
                      </a:cubicBezTo>
                      <a:cubicBezTo>
                        <a:pt x="109" y="178"/>
                        <a:pt x="109" y="178"/>
                        <a:pt x="109" y="178"/>
                      </a:cubicBezTo>
                      <a:cubicBezTo>
                        <a:pt x="112" y="180"/>
                        <a:pt x="114" y="181"/>
                        <a:pt x="117" y="18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black"/>
                    </a:solidFill>
                    <a:effectLst/>
                    <a:uLnTx/>
                    <a:uFillTx/>
                    <a:ea typeface="+mn-ea"/>
                    <a:cs typeface="+mn-cs"/>
                  </a:endParaRPr>
                </a:p>
              </p:txBody>
            </p:sp>
          </p:grpSp>
          <p:grpSp>
            <p:nvGrpSpPr>
              <p:cNvPr id="379" name="Group 29">
                <a:extLst>
                  <a:ext uri="{FF2B5EF4-FFF2-40B4-BE49-F238E27FC236}">
                    <a16:creationId xmlns:a16="http://schemas.microsoft.com/office/drawing/2014/main" id="{3E898B0B-2985-D545-5F34-6ADDB8185830}"/>
                  </a:ext>
                </a:extLst>
              </p:cNvPr>
              <p:cNvGrpSpPr>
                <a:grpSpLocks noChangeAspect="1"/>
              </p:cNvGrpSpPr>
              <p:nvPr/>
            </p:nvGrpSpPr>
            <p:grpSpPr bwMode="auto">
              <a:xfrm>
                <a:off x="7691472" y="3051176"/>
                <a:ext cx="457201" cy="457199"/>
                <a:chOff x="2899" y="653"/>
                <a:chExt cx="340" cy="340"/>
              </a:xfrm>
              <a:solidFill>
                <a:schemeClr val="tx1"/>
              </a:solidFill>
            </p:grpSpPr>
            <p:sp>
              <p:nvSpPr>
                <p:cNvPr id="386" name="Freeform 30">
                  <a:extLst>
                    <a:ext uri="{FF2B5EF4-FFF2-40B4-BE49-F238E27FC236}">
                      <a16:creationId xmlns:a16="http://schemas.microsoft.com/office/drawing/2014/main" id="{71F15347-8B51-97D3-5B56-A290539980F5}"/>
                    </a:ext>
                  </a:extLst>
                </p:cNvPr>
                <p:cNvSpPr>
                  <a:spLocks noEditPoints="1"/>
                </p:cNvSpPr>
                <p:nvPr/>
              </p:nvSpPr>
              <p:spPr bwMode="auto">
                <a:xfrm>
                  <a:off x="2963" y="717"/>
                  <a:ext cx="212" cy="213"/>
                </a:xfrm>
                <a:custGeom>
                  <a:avLst/>
                  <a:gdLst>
                    <a:gd name="T0" fmla="*/ 316 w 320"/>
                    <a:gd name="T1" fmla="*/ 126 h 321"/>
                    <a:gd name="T2" fmla="*/ 275 w 320"/>
                    <a:gd name="T3" fmla="*/ 105 h 321"/>
                    <a:gd name="T4" fmla="*/ 289 w 320"/>
                    <a:gd name="T5" fmla="*/ 66 h 321"/>
                    <a:gd name="T6" fmla="*/ 287 w 320"/>
                    <a:gd name="T7" fmla="*/ 63 h 321"/>
                    <a:gd name="T8" fmla="*/ 254 w 320"/>
                    <a:gd name="T9" fmla="*/ 31 h 321"/>
                    <a:gd name="T10" fmla="*/ 215 w 320"/>
                    <a:gd name="T11" fmla="*/ 45 h 321"/>
                    <a:gd name="T12" fmla="*/ 194 w 320"/>
                    <a:gd name="T13" fmla="*/ 4 h 321"/>
                    <a:gd name="T14" fmla="*/ 125 w 320"/>
                    <a:gd name="T15" fmla="*/ 4 h 321"/>
                    <a:gd name="T16" fmla="*/ 105 w 320"/>
                    <a:gd name="T17" fmla="*/ 45 h 321"/>
                    <a:gd name="T18" fmla="*/ 64 w 320"/>
                    <a:gd name="T19" fmla="*/ 32 h 321"/>
                    <a:gd name="T20" fmla="*/ 26 w 320"/>
                    <a:gd name="T21" fmla="*/ 87 h 321"/>
                    <a:gd name="T22" fmla="*/ 14 w 320"/>
                    <a:gd name="T23" fmla="*/ 118 h 321"/>
                    <a:gd name="T24" fmla="*/ 0 w 320"/>
                    <a:gd name="T25" fmla="*/ 147 h 321"/>
                    <a:gd name="T26" fmla="*/ 0 w 320"/>
                    <a:gd name="T27" fmla="*/ 156 h 321"/>
                    <a:gd name="T28" fmla="*/ 0 w 320"/>
                    <a:gd name="T29" fmla="*/ 160 h 321"/>
                    <a:gd name="T30" fmla="*/ 3 w 320"/>
                    <a:gd name="T31" fmla="*/ 195 h 321"/>
                    <a:gd name="T32" fmla="*/ 44 w 320"/>
                    <a:gd name="T33" fmla="*/ 215 h 321"/>
                    <a:gd name="T34" fmla="*/ 31 w 320"/>
                    <a:gd name="T35" fmla="*/ 254 h 321"/>
                    <a:gd name="T36" fmla="*/ 33 w 320"/>
                    <a:gd name="T37" fmla="*/ 257 h 321"/>
                    <a:gd name="T38" fmla="*/ 65 w 320"/>
                    <a:gd name="T39" fmla="*/ 289 h 321"/>
                    <a:gd name="T40" fmla="*/ 105 w 320"/>
                    <a:gd name="T41" fmla="*/ 275 h 321"/>
                    <a:gd name="T42" fmla="*/ 125 w 320"/>
                    <a:gd name="T43" fmla="*/ 317 h 321"/>
                    <a:gd name="T44" fmla="*/ 147 w 320"/>
                    <a:gd name="T45" fmla="*/ 321 h 321"/>
                    <a:gd name="T46" fmla="*/ 160 w 320"/>
                    <a:gd name="T47" fmla="*/ 321 h 321"/>
                    <a:gd name="T48" fmla="*/ 168 w 320"/>
                    <a:gd name="T49" fmla="*/ 321 h 321"/>
                    <a:gd name="T50" fmla="*/ 173 w 320"/>
                    <a:gd name="T51" fmla="*/ 321 h 321"/>
                    <a:gd name="T52" fmla="*/ 202 w 320"/>
                    <a:gd name="T53" fmla="*/ 306 h 321"/>
                    <a:gd name="T54" fmla="*/ 233 w 320"/>
                    <a:gd name="T55" fmla="*/ 293 h 321"/>
                    <a:gd name="T56" fmla="*/ 288 w 320"/>
                    <a:gd name="T57" fmla="*/ 256 h 321"/>
                    <a:gd name="T58" fmla="*/ 275 w 320"/>
                    <a:gd name="T59" fmla="*/ 215 h 321"/>
                    <a:gd name="T60" fmla="*/ 316 w 320"/>
                    <a:gd name="T61" fmla="*/ 195 h 321"/>
                    <a:gd name="T62" fmla="*/ 320 w 320"/>
                    <a:gd name="T63" fmla="*/ 147 h 321"/>
                    <a:gd name="T64" fmla="*/ 272 w 320"/>
                    <a:gd name="T65" fmla="*/ 182 h 321"/>
                    <a:gd name="T66" fmla="*/ 255 w 320"/>
                    <a:gd name="T67" fmla="*/ 225 h 321"/>
                    <a:gd name="T68" fmla="*/ 243 w 320"/>
                    <a:gd name="T69" fmla="*/ 271 h 321"/>
                    <a:gd name="T70" fmla="*/ 212 w 320"/>
                    <a:gd name="T71" fmla="*/ 253 h 321"/>
                    <a:gd name="T72" fmla="*/ 181 w 320"/>
                    <a:gd name="T73" fmla="*/ 297 h 321"/>
                    <a:gd name="T74" fmla="*/ 149 w 320"/>
                    <a:gd name="T75" fmla="*/ 299 h 321"/>
                    <a:gd name="T76" fmla="*/ 138 w 320"/>
                    <a:gd name="T77" fmla="*/ 297 h 321"/>
                    <a:gd name="T78" fmla="*/ 108 w 320"/>
                    <a:gd name="T79" fmla="*/ 253 h 321"/>
                    <a:gd name="T80" fmla="*/ 77 w 320"/>
                    <a:gd name="T81" fmla="*/ 271 h 321"/>
                    <a:gd name="T82" fmla="*/ 50 w 320"/>
                    <a:gd name="T83" fmla="*/ 244 h 321"/>
                    <a:gd name="T84" fmla="*/ 48 w 320"/>
                    <a:gd name="T85" fmla="*/ 242 h 321"/>
                    <a:gd name="T86" fmla="*/ 57 w 320"/>
                    <a:gd name="T87" fmla="*/ 189 h 321"/>
                    <a:gd name="T88" fmla="*/ 22 w 320"/>
                    <a:gd name="T89" fmla="*/ 171 h 321"/>
                    <a:gd name="T90" fmla="*/ 23 w 320"/>
                    <a:gd name="T91" fmla="*/ 139 h 321"/>
                    <a:gd name="T92" fmla="*/ 67 w 320"/>
                    <a:gd name="T93" fmla="*/ 108 h 321"/>
                    <a:gd name="T94" fmla="*/ 49 w 320"/>
                    <a:gd name="T95" fmla="*/ 77 h 321"/>
                    <a:gd name="T96" fmla="*/ 95 w 320"/>
                    <a:gd name="T97" fmla="*/ 65 h 321"/>
                    <a:gd name="T98" fmla="*/ 138 w 320"/>
                    <a:gd name="T99" fmla="*/ 47 h 321"/>
                    <a:gd name="T100" fmla="*/ 171 w 320"/>
                    <a:gd name="T101" fmla="*/ 22 h 321"/>
                    <a:gd name="T102" fmla="*/ 189 w 320"/>
                    <a:gd name="T103" fmla="*/ 58 h 321"/>
                    <a:gd name="T104" fmla="*/ 241 w 320"/>
                    <a:gd name="T105" fmla="*/ 48 h 321"/>
                    <a:gd name="T106" fmla="*/ 244 w 320"/>
                    <a:gd name="T107" fmla="*/ 50 h 321"/>
                    <a:gd name="T108" fmla="*/ 270 w 320"/>
                    <a:gd name="T109" fmla="*/ 77 h 321"/>
                    <a:gd name="T110" fmla="*/ 253 w 320"/>
                    <a:gd name="T111" fmla="*/ 108 h 321"/>
                    <a:gd name="T112" fmla="*/ 297 w 320"/>
                    <a:gd name="T113" fmla="*/ 139 h 321"/>
                    <a:gd name="T114" fmla="*/ 298 w 320"/>
                    <a:gd name="T115" fmla="*/ 171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20" h="321">
                      <a:moveTo>
                        <a:pt x="320" y="147"/>
                      </a:moveTo>
                      <a:cubicBezTo>
                        <a:pt x="320" y="147"/>
                        <a:pt x="320" y="147"/>
                        <a:pt x="320" y="147"/>
                      </a:cubicBezTo>
                      <a:cubicBezTo>
                        <a:pt x="318" y="140"/>
                        <a:pt x="318" y="133"/>
                        <a:pt x="316" y="126"/>
                      </a:cubicBezTo>
                      <a:cubicBezTo>
                        <a:pt x="315" y="121"/>
                        <a:pt x="310" y="118"/>
                        <a:pt x="305" y="118"/>
                      </a:cubicBezTo>
                      <a:cubicBezTo>
                        <a:pt x="280" y="118"/>
                        <a:pt x="280" y="118"/>
                        <a:pt x="280" y="118"/>
                      </a:cubicBezTo>
                      <a:cubicBezTo>
                        <a:pt x="279" y="113"/>
                        <a:pt x="277" y="109"/>
                        <a:pt x="275" y="105"/>
                      </a:cubicBezTo>
                      <a:cubicBezTo>
                        <a:pt x="293" y="87"/>
                        <a:pt x="293" y="87"/>
                        <a:pt x="293" y="87"/>
                      </a:cubicBezTo>
                      <a:cubicBezTo>
                        <a:pt x="296" y="84"/>
                        <a:pt x="297" y="78"/>
                        <a:pt x="294" y="74"/>
                      </a:cubicBezTo>
                      <a:cubicBezTo>
                        <a:pt x="293" y="71"/>
                        <a:pt x="291" y="68"/>
                        <a:pt x="289" y="66"/>
                      </a:cubicBezTo>
                      <a:cubicBezTo>
                        <a:pt x="289" y="66"/>
                        <a:pt x="289" y="66"/>
                        <a:pt x="289" y="66"/>
                      </a:cubicBezTo>
                      <a:cubicBezTo>
                        <a:pt x="288" y="65"/>
                        <a:pt x="288" y="65"/>
                        <a:pt x="288" y="64"/>
                      </a:cubicBezTo>
                      <a:cubicBezTo>
                        <a:pt x="287" y="64"/>
                        <a:pt x="287" y="63"/>
                        <a:pt x="287" y="63"/>
                      </a:cubicBezTo>
                      <a:cubicBezTo>
                        <a:pt x="278" y="52"/>
                        <a:pt x="268" y="42"/>
                        <a:pt x="257" y="33"/>
                      </a:cubicBezTo>
                      <a:cubicBezTo>
                        <a:pt x="257" y="33"/>
                        <a:pt x="256" y="32"/>
                        <a:pt x="255" y="32"/>
                      </a:cubicBezTo>
                      <a:cubicBezTo>
                        <a:pt x="255" y="32"/>
                        <a:pt x="254" y="31"/>
                        <a:pt x="254" y="31"/>
                      </a:cubicBezTo>
                      <a:cubicBezTo>
                        <a:pt x="251" y="29"/>
                        <a:pt x="249" y="27"/>
                        <a:pt x="246" y="25"/>
                      </a:cubicBezTo>
                      <a:cubicBezTo>
                        <a:pt x="242" y="23"/>
                        <a:pt x="236" y="23"/>
                        <a:pt x="233" y="27"/>
                      </a:cubicBezTo>
                      <a:cubicBezTo>
                        <a:pt x="215" y="45"/>
                        <a:pt x="215" y="45"/>
                        <a:pt x="215" y="45"/>
                      </a:cubicBezTo>
                      <a:cubicBezTo>
                        <a:pt x="211" y="43"/>
                        <a:pt x="207" y="41"/>
                        <a:pt x="202" y="39"/>
                      </a:cubicBezTo>
                      <a:cubicBezTo>
                        <a:pt x="202" y="14"/>
                        <a:pt x="202" y="14"/>
                        <a:pt x="202" y="14"/>
                      </a:cubicBezTo>
                      <a:cubicBezTo>
                        <a:pt x="202" y="9"/>
                        <a:pt x="199" y="5"/>
                        <a:pt x="194" y="4"/>
                      </a:cubicBezTo>
                      <a:cubicBezTo>
                        <a:pt x="187" y="2"/>
                        <a:pt x="180" y="1"/>
                        <a:pt x="172" y="1"/>
                      </a:cubicBezTo>
                      <a:cubicBezTo>
                        <a:pt x="164" y="0"/>
                        <a:pt x="155" y="0"/>
                        <a:pt x="147" y="1"/>
                      </a:cubicBezTo>
                      <a:cubicBezTo>
                        <a:pt x="140" y="1"/>
                        <a:pt x="132" y="2"/>
                        <a:pt x="125" y="4"/>
                      </a:cubicBezTo>
                      <a:cubicBezTo>
                        <a:pt x="120" y="5"/>
                        <a:pt x="117" y="9"/>
                        <a:pt x="117" y="14"/>
                      </a:cubicBezTo>
                      <a:cubicBezTo>
                        <a:pt x="117" y="39"/>
                        <a:pt x="117" y="39"/>
                        <a:pt x="117" y="39"/>
                      </a:cubicBezTo>
                      <a:cubicBezTo>
                        <a:pt x="113" y="41"/>
                        <a:pt x="109" y="43"/>
                        <a:pt x="105" y="45"/>
                      </a:cubicBezTo>
                      <a:cubicBezTo>
                        <a:pt x="87" y="27"/>
                        <a:pt x="87" y="27"/>
                        <a:pt x="87" y="27"/>
                      </a:cubicBezTo>
                      <a:cubicBezTo>
                        <a:pt x="83" y="23"/>
                        <a:pt x="78" y="23"/>
                        <a:pt x="73" y="25"/>
                      </a:cubicBezTo>
                      <a:cubicBezTo>
                        <a:pt x="70" y="27"/>
                        <a:pt x="67" y="30"/>
                        <a:pt x="64" y="32"/>
                      </a:cubicBezTo>
                      <a:cubicBezTo>
                        <a:pt x="52" y="41"/>
                        <a:pt x="41" y="52"/>
                        <a:pt x="32" y="64"/>
                      </a:cubicBezTo>
                      <a:cubicBezTo>
                        <a:pt x="29" y="67"/>
                        <a:pt x="27" y="71"/>
                        <a:pt x="25" y="74"/>
                      </a:cubicBezTo>
                      <a:cubicBezTo>
                        <a:pt x="22" y="78"/>
                        <a:pt x="23" y="84"/>
                        <a:pt x="26" y="87"/>
                      </a:cubicBezTo>
                      <a:cubicBezTo>
                        <a:pt x="44" y="105"/>
                        <a:pt x="44" y="105"/>
                        <a:pt x="44" y="105"/>
                      </a:cubicBezTo>
                      <a:cubicBezTo>
                        <a:pt x="42" y="109"/>
                        <a:pt x="41" y="113"/>
                        <a:pt x="39" y="118"/>
                      </a:cubicBezTo>
                      <a:cubicBezTo>
                        <a:pt x="14" y="118"/>
                        <a:pt x="14" y="118"/>
                        <a:pt x="14" y="118"/>
                      </a:cubicBezTo>
                      <a:cubicBezTo>
                        <a:pt x="9" y="118"/>
                        <a:pt x="4" y="121"/>
                        <a:pt x="3" y="126"/>
                      </a:cubicBezTo>
                      <a:cubicBezTo>
                        <a:pt x="2" y="133"/>
                        <a:pt x="1" y="140"/>
                        <a:pt x="0" y="147"/>
                      </a:cubicBezTo>
                      <a:cubicBezTo>
                        <a:pt x="0" y="147"/>
                        <a:pt x="0" y="147"/>
                        <a:pt x="0" y="147"/>
                      </a:cubicBezTo>
                      <a:cubicBezTo>
                        <a:pt x="0" y="147"/>
                        <a:pt x="0" y="147"/>
                        <a:pt x="0" y="147"/>
                      </a:cubicBezTo>
                      <a:cubicBezTo>
                        <a:pt x="0" y="147"/>
                        <a:pt x="0" y="147"/>
                        <a:pt x="0" y="147"/>
                      </a:cubicBezTo>
                      <a:cubicBezTo>
                        <a:pt x="0" y="150"/>
                        <a:pt x="0" y="153"/>
                        <a:pt x="0" y="156"/>
                      </a:cubicBezTo>
                      <a:cubicBezTo>
                        <a:pt x="0" y="157"/>
                        <a:pt x="0" y="159"/>
                        <a:pt x="0" y="160"/>
                      </a:cubicBezTo>
                      <a:cubicBezTo>
                        <a:pt x="0" y="160"/>
                        <a:pt x="0" y="160"/>
                        <a:pt x="0" y="160"/>
                      </a:cubicBezTo>
                      <a:cubicBezTo>
                        <a:pt x="0" y="160"/>
                        <a:pt x="0" y="160"/>
                        <a:pt x="0" y="160"/>
                      </a:cubicBezTo>
                      <a:cubicBezTo>
                        <a:pt x="0" y="161"/>
                        <a:pt x="0" y="163"/>
                        <a:pt x="0" y="164"/>
                      </a:cubicBezTo>
                      <a:cubicBezTo>
                        <a:pt x="0" y="167"/>
                        <a:pt x="0" y="170"/>
                        <a:pt x="0" y="173"/>
                      </a:cubicBezTo>
                      <a:cubicBezTo>
                        <a:pt x="1" y="180"/>
                        <a:pt x="2" y="188"/>
                        <a:pt x="3" y="195"/>
                      </a:cubicBezTo>
                      <a:cubicBezTo>
                        <a:pt x="4" y="200"/>
                        <a:pt x="9" y="203"/>
                        <a:pt x="14" y="203"/>
                      </a:cubicBezTo>
                      <a:cubicBezTo>
                        <a:pt x="39" y="203"/>
                        <a:pt x="39" y="203"/>
                        <a:pt x="39" y="203"/>
                      </a:cubicBezTo>
                      <a:cubicBezTo>
                        <a:pt x="41" y="207"/>
                        <a:pt x="42" y="211"/>
                        <a:pt x="44" y="215"/>
                      </a:cubicBezTo>
                      <a:cubicBezTo>
                        <a:pt x="26" y="233"/>
                        <a:pt x="26" y="233"/>
                        <a:pt x="26" y="233"/>
                      </a:cubicBezTo>
                      <a:cubicBezTo>
                        <a:pt x="23" y="237"/>
                        <a:pt x="22" y="242"/>
                        <a:pt x="25" y="246"/>
                      </a:cubicBezTo>
                      <a:cubicBezTo>
                        <a:pt x="27" y="249"/>
                        <a:pt x="29" y="252"/>
                        <a:pt x="31" y="254"/>
                      </a:cubicBezTo>
                      <a:cubicBezTo>
                        <a:pt x="31" y="254"/>
                        <a:pt x="31" y="254"/>
                        <a:pt x="31" y="254"/>
                      </a:cubicBezTo>
                      <a:cubicBezTo>
                        <a:pt x="31" y="255"/>
                        <a:pt x="31" y="255"/>
                        <a:pt x="32" y="256"/>
                      </a:cubicBezTo>
                      <a:cubicBezTo>
                        <a:pt x="32" y="256"/>
                        <a:pt x="32" y="257"/>
                        <a:pt x="33" y="257"/>
                      </a:cubicBezTo>
                      <a:cubicBezTo>
                        <a:pt x="41" y="268"/>
                        <a:pt x="51" y="278"/>
                        <a:pt x="62" y="287"/>
                      </a:cubicBezTo>
                      <a:cubicBezTo>
                        <a:pt x="63" y="287"/>
                        <a:pt x="64" y="288"/>
                        <a:pt x="64" y="288"/>
                      </a:cubicBezTo>
                      <a:cubicBezTo>
                        <a:pt x="64" y="288"/>
                        <a:pt x="65" y="289"/>
                        <a:pt x="65" y="289"/>
                      </a:cubicBezTo>
                      <a:cubicBezTo>
                        <a:pt x="68" y="291"/>
                        <a:pt x="71" y="293"/>
                        <a:pt x="73" y="295"/>
                      </a:cubicBezTo>
                      <a:cubicBezTo>
                        <a:pt x="78" y="297"/>
                        <a:pt x="83" y="297"/>
                        <a:pt x="87" y="293"/>
                      </a:cubicBezTo>
                      <a:cubicBezTo>
                        <a:pt x="105" y="275"/>
                        <a:pt x="105" y="275"/>
                        <a:pt x="105" y="275"/>
                      </a:cubicBezTo>
                      <a:cubicBezTo>
                        <a:pt x="109" y="277"/>
                        <a:pt x="113" y="279"/>
                        <a:pt x="117" y="281"/>
                      </a:cubicBezTo>
                      <a:cubicBezTo>
                        <a:pt x="117" y="306"/>
                        <a:pt x="117" y="306"/>
                        <a:pt x="117" y="306"/>
                      </a:cubicBezTo>
                      <a:cubicBezTo>
                        <a:pt x="117" y="311"/>
                        <a:pt x="120" y="316"/>
                        <a:pt x="125" y="317"/>
                      </a:cubicBezTo>
                      <a:cubicBezTo>
                        <a:pt x="132" y="318"/>
                        <a:pt x="139" y="321"/>
                        <a:pt x="147" y="321"/>
                      </a:cubicBezTo>
                      <a:cubicBezTo>
                        <a:pt x="147" y="321"/>
                        <a:pt x="147" y="321"/>
                        <a:pt x="147" y="321"/>
                      </a:cubicBezTo>
                      <a:cubicBezTo>
                        <a:pt x="147" y="321"/>
                        <a:pt x="147" y="321"/>
                        <a:pt x="147" y="321"/>
                      </a:cubicBezTo>
                      <a:cubicBezTo>
                        <a:pt x="147" y="321"/>
                        <a:pt x="147" y="321"/>
                        <a:pt x="147" y="321"/>
                      </a:cubicBezTo>
                      <a:cubicBezTo>
                        <a:pt x="149" y="321"/>
                        <a:pt x="151" y="321"/>
                        <a:pt x="153" y="321"/>
                      </a:cubicBezTo>
                      <a:cubicBezTo>
                        <a:pt x="155" y="321"/>
                        <a:pt x="157" y="321"/>
                        <a:pt x="160" y="321"/>
                      </a:cubicBezTo>
                      <a:cubicBezTo>
                        <a:pt x="160" y="321"/>
                        <a:pt x="160" y="321"/>
                        <a:pt x="160" y="321"/>
                      </a:cubicBezTo>
                      <a:cubicBezTo>
                        <a:pt x="160" y="321"/>
                        <a:pt x="160" y="321"/>
                        <a:pt x="160" y="321"/>
                      </a:cubicBezTo>
                      <a:cubicBezTo>
                        <a:pt x="162" y="321"/>
                        <a:pt x="165" y="321"/>
                        <a:pt x="168" y="321"/>
                      </a:cubicBezTo>
                      <a:cubicBezTo>
                        <a:pt x="169" y="320"/>
                        <a:pt x="171" y="321"/>
                        <a:pt x="172" y="321"/>
                      </a:cubicBezTo>
                      <a:cubicBezTo>
                        <a:pt x="172" y="321"/>
                        <a:pt x="172" y="321"/>
                        <a:pt x="172" y="321"/>
                      </a:cubicBezTo>
                      <a:cubicBezTo>
                        <a:pt x="172" y="321"/>
                        <a:pt x="172" y="321"/>
                        <a:pt x="173" y="321"/>
                      </a:cubicBezTo>
                      <a:cubicBezTo>
                        <a:pt x="173" y="321"/>
                        <a:pt x="173" y="320"/>
                        <a:pt x="173" y="320"/>
                      </a:cubicBezTo>
                      <a:cubicBezTo>
                        <a:pt x="180" y="319"/>
                        <a:pt x="187" y="318"/>
                        <a:pt x="194" y="317"/>
                      </a:cubicBezTo>
                      <a:cubicBezTo>
                        <a:pt x="199" y="315"/>
                        <a:pt x="202" y="311"/>
                        <a:pt x="202" y="306"/>
                      </a:cubicBezTo>
                      <a:cubicBezTo>
                        <a:pt x="202" y="281"/>
                        <a:pt x="202" y="281"/>
                        <a:pt x="202" y="281"/>
                      </a:cubicBezTo>
                      <a:cubicBezTo>
                        <a:pt x="207" y="279"/>
                        <a:pt x="211" y="277"/>
                        <a:pt x="215" y="275"/>
                      </a:cubicBezTo>
                      <a:cubicBezTo>
                        <a:pt x="233" y="293"/>
                        <a:pt x="233" y="293"/>
                        <a:pt x="233" y="293"/>
                      </a:cubicBezTo>
                      <a:cubicBezTo>
                        <a:pt x="236" y="297"/>
                        <a:pt x="242" y="297"/>
                        <a:pt x="246" y="295"/>
                      </a:cubicBezTo>
                      <a:cubicBezTo>
                        <a:pt x="249" y="293"/>
                        <a:pt x="252" y="290"/>
                        <a:pt x="255" y="288"/>
                      </a:cubicBezTo>
                      <a:cubicBezTo>
                        <a:pt x="268" y="279"/>
                        <a:pt x="279" y="268"/>
                        <a:pt x="288" y="256"/>
                      </a:cubicBezTo>
                      <a:cubicBezTo>
                        <a:pt x="290" y="253"/>
                        <a:pt x="292" y="249"/>
                        <a:pt x="294" y="246"/>
                      </a:cubicBezTo>
                      <a:cubicBezTo>
                        <a:pt x="297" y="242"/>
                        <a:pt x="296" y="236"/>
                        <a:pt x="293" y="233"/>
                      </a:cubicBezTo>
                      <a:cubicBezTo>
                        <a:pt x="275" y="215"/>
                        <a:pt x="275" y="215"/>
                        <a:pt x="275" y="215"/>
                      </a:cubicBezTo>
                      <a:cubicBezTo>
                        <a:pt x="277" y="211"/>
                        <a:pt x="279" y="207"/>
                        <a:pt x="280" y="203"/>
                      </a:cubicBezTo>
                      <a:cubicBezTo>
                        <a:pt x="305" y="203"/>
                        <a:pt x="305" y="203"/>
                        <a:pt x="305" y="203"/>
                      </a:cubicBezTo>
                      <a:cubicBezTo>
                        <a:pt x="310" y="203"/>
                        <a:pt x="315" y="200"/>
                        <a:pt x="316" y="195"/>
                      </a:cubicBezTo>
                      <a:cubicBezTo>
                        <a:pt x="317" y="188"/>
                        <a:pt x="318" y="180"/>
                        <a:pt x="319" y="173"/>
                      </a:cubicBezTo>
                      <a:cubicBezTo>
                        <a:pt x="319" y="169"/>
                        <a:pt x="320" y="164"/>
                        <a:pt x="320" y="160"/>
                      </a:cubicBezTo>
                      <a:cubicBezTo>
                        <a:pt x="320" y="156"/>
                        <a:pt x="320" y="152"/>
                        <a:pt x="320" y="147"/>
                      </a:cubicBezTo>
                      <a:close/>
                      <a:moveTo>
                        <a:pt x="298" y="171"/>
                      </a:moveTo>
                      <a:cubicBezTo>
                        <a:pt x="297" y="175"/>
                        <a:pt x="297" y="178"/>
                        <a:pt x="297" y="182"/>
                      </a:cubicBezTo>
                      <a:cubicBezTo>
                        <a:pt x="272" y="182"/>
                        <a:pt x="272" y="182"/>
                        <a:pt x="272" y="182"/>
                      </a:cubicBezTo>
                      <a:cubicBezTo>
                        <a:pt x="268" y="182"/>
                        <a:pt x="263" y="185"/>
                        <a:pt x="262" y="189"/>
                      </a:cubicBezTo>
                      <a:cubicBezTo>
                        <a:pt x="260" y="197"/>
                        <a:pt x="257" y="205"/>
                        <a:pt x="253" y="212"/>
                      </a:cubicBezTo>
                      <a:cubicBezTo>
                        <a:pt x="250" y="216"/>
                        <a:pt x="251" y="221"/>
                        <a:pt x="255" y="225"/>
                      </a:cubicBezTo>
                      <a:cubicBezTo>
                        <a:pt x="272" y="242"/>
                        <a:pt x="272" y="242"/>
                        <a:pt x="272" y="242"/>
                      </a:cubicBezTo>
                      <a:cubicBezTo>
                        <a:pt x="271" y="242"/>
                        <a:pt x="271" y="243"/>
                        <a:pt x="271" y="243"/>
                      </a:cubicBezTo>
                      <a:cubicBezTo>
                        <a:pt x="263" y="254"/>
                        <a:pt x="253" y="263"/>
                        <a:pt x="243" y="271"/>
                      </a:cubicBezTo>
                      <a:cubicBezTo>
                        <a:pt x="242" y="271"/>
                        <a:pt x="242" y="272"/>
                        <a:pt x="241" y="272"/>
                      </a:cubicBezTo>
                      <a:cubicBezTo>
                        <a:pt x="224" y="255"/>
                        <a:pt x="224" y="255"/>
                        <a:pt x="224" y="255"/>
                      </a:cubicBezTo>
                      <a:cubicBezTo>
                        <a:pt x="221" y="251"/>
                        <a:pt x="216" y="251"/>
                        <a:pt x="212" y="253"/>
                      </a:cubicBezTo>
                      <a:cubicBezTo>
                        <a:pt x="204" y="257"/>
                        <a:pt x="197" y="260"/>
                        <a:pt x="189" y="262"/>
                      </a:cubicBezTo>
                      <a:cubicBezTo>
                        <a:pt x="184" y="264"/>
                        <a:pt x="181" y="268"/>
                        <a:pt x="181" y="273"/>
                      </a:cubicBezTo>
                      <a:cubicBezTo>
                        <a:pt x="181" y="297"/>
                        <a:pt x="181" y="297"/>
                        <a:pt x="181" y="297"/>
                      </a:cubicBezTo>
                      <a:cubicBezTo>
                        <a:pt x="178" y="297"/>
                        <a:pt x="174" y="298"/>
                        <a:pt x="171" y="299"/>
                      </a:cubicBezTo>
                      <a:cubicBezTo>
                        <a:pt x="163" y="299"/>
                        <a:pt x="156" y="299"/>
                        <a:pt x="149" y="299"/>
                      </a:cubicBezTo>
                      <a:cubicBezTo>
                        <a:pt x="149" y="299"/>
                        <a:pt x="149" y="299"/>
                        <a:pt x="149" y="299"/>
                      </a:cubicBezTo>
                      <a:cubicBezTo>
                        <a:pt x="149" y="299"/>
                        <a:pt x="149" y="299"/>
                        <a:pt x="149" y="299"/>
                      </a:cubicBezTo>
                      <a:cubicBezTo>
                        <a:pt x="149" y="299"/>
                        <a:pt x="149" y="299"/>
                        <a:pt x="149" y="299"/>
                      </a:cubicBezTo>
                      <a:cubicBezTo>
                        <a:pt x="145" y="299"/>
                        <a:pt x="142" y="297"/>
                        <a:pt x="138" y="297"/>
                      </a:cubicBezTo>
                      <a:cubicBezTo>
                        <a:pt x="138" y="273"/>
                        <a:pt x="138" y="273"/>
                        <a:pt x="138" y="273"/>
                      </a:cubicBezTo>
                      <a:cubicBezTo>
                        <a:pt x="138" y="268"/>
                        <a:pt x="135" y="264"/>
                        <a:pt x="131" y="262"/>
                      </a:cubicBezTo>
                      <a:cubicBezTo>
                        <a:pt x="123" y="260"/>
                        <a:pt x="115" y="257"/>
                        <a:pt x="108" y="253"/>
                      </a:cubicBezTo>
                      <a:cubicBezTo>
                        <a:pt x="104" y="251"/>
                        <a:pt x="98" y="251"/>
                        <a:pt x="95" y="255"/>
                      </a:cubicBezTo>
                      <a:cubicBezTo>
                        <a:pt x="78" y="272"/>
                        <a:pt x="78" y="272"/>
                        <a:pt x="78" y="272"/>
                      </a:cubicBezTo>
                      <a:cubicBezTo>
                        <a:pt x="77" y="271"/>
                        <a:pt x="77" y="271"/>
                        <a:pt x="77" y="271"/>
                      </a:cubicBezTo>
                      <a:cubicBezTo>
                        <a:pt x="77" y="271"/>
                        <a:pt x="76" y="270"/>
                        <a:pt x="76" y="270"/>
                      </a:cubicBezTo>
                      <a:cubicBezTo>
                        <a:pt x="76" y="270"/>
                        <a:pt x="76" y="270"/>
                        <a:pt x="76" y="270"/>
                      </a:cubicBezTo>
                      <a:cubicBezTo>
                        <a:pt x="66" y="262"/>
                        <a:pt x="57" y="254"/>
                        <a:pt x="50" y="244"/>
                      </a:cubicBezTo>
                      <a:cubicBezTo>
                        <a:pt x="50" y="244"/>
                        <a:pt x="49" y="244"/>
                        <a:pt x="49" y="244"/>
                      </a:cubicBezTo>
                      <a:cubicBezTo>
                        <a:pt x="49" y="243"/>
                        <a:pt x="49" y="243"/>
                        <a:pt x="49" y="243"/>
                      </a:cubicBezTo>
                      <a:cubicBezTo>
                        <a:pt x="48" y="242"/>
                        <a:pt x="48" y="242"/>
                        <a:pt x="48" y="242"/>
                      </a:cubicBezTo>
                      <a:cubicBezTo>
                        <a:pt x="65" y="225"/>
                        <a:pt x="65" y="225"/>
                        <a:pt x="65" y="225"/>
                      </a:cubicBezTo>
                      <a:cubicBezTo>
                        <a:pt x="68" y="221"/>
                        <a:pt x="69" y="216"/>
                        <a:pt x="67" y="212"/>
                      </a:cubicBezTo>
                      <a:cubicBezTo>
                        <a:pt x="63" y="205"/>
                        <a:pt x="59" y="197"/>
                        <a:pt x="57" y="189"/>
                      </a:cubicBezTo>
                      <a:cubicBezTo>
                        <a:pt x="56" y="185"/>
                        <a:pt x="52" y="182"/>
                        <a:pt x="47" y="182"/>
                      </a:cubicBezTo>
                      <a:cubicBezTo>
                        <a:pt x="23" y="182"/>
                        <a:pt x="23" y="182"/>
                        <a:pt x="23" y="182"/>
                      </a:cubicBezTo>
                      <a:cubicBezTo>
                        <a:pt x="22" y="178"/>
                        <a:pt x="22" y="175"/>
                        <a:pt x="22" y="171"/>
                      </a:cubicBezTo>
                      <a:cubicBezTo>
                        <a:pt x="21" y="168"/>
                        <a:pt x="21" y="164"/>
                        <a:pt x="21" y="160"/>
                      </a:cubicBezTo>
                      <a:cubicBezTo>
                        <a:pt x="21" y="156"/>
                        <a:pt x="21" y="153"/>
                        <a:pt x="22" y="149"/>
                      </a:cubicBezTo>
                      <a:cubicBezTo>
                        <a:pt x="22" y="146"/>
                        <a:pt x="22" y="142"/>
                        <a:pt x="23" y="139"/>
                      </a:cubicBezTo>
                      <a:cubicBezTo>
                        <a:pt x="47" y="139"/>
                        <a:pt x="47" y="139"/>
                        <a:pt x="47" y="139"/>
                      </a:cubicBezTo>
                      <a:cubicBezTo>
                        <a:pt x="52" y="139"/>
                        <a:pt x="56" y="136"/>
                        <a:pt x="57" y="131"/>
                      </a:cubicBezTo>
                      <a:cubicBezTo>
                        <a:pt x="59" y="123"/>
                        <a:pt x="63" y="115"/>
                        <a:pt x="67" y="108"/>
                      </a:cubicBezTo>
                      <a:cubicBezTo>
                        <a:pt x="69" y="104"/>
                        <a:pt x="68" y="99"/>
                        <a:pt x="65" y="95"/>
                      </a:cubicBezTo>
                      <a:cubicBezTo>
                        <a:pt x="48" y="78"/>
                        <a:pt x="48" y="78"/>
                        <a:pt x="48" y="78"/>
                      </a:cubicBezTo>
                      <a:cubicBezTo>
                        <a:pt x="48" y="78"/>
                        <a:pt x="48" y="78"/>
                        <a:pt x="49" y="77"/>
                      </a:cubicBezTo>
                      <a:cubicBezTo>
                        <a:pt x="57" y="66"/>
                        <a:pt x="66" y="57"/>
                        <a:pt x="77" y="49"/>
                      </a:cubicBezTo>
                      <a:cubicBezTo>
                        <a:pt x="77" y="49"/>
                        <a:pt x="78" y="48"/>
                        <a:pt x="78" y="48"/>
                      </a:cubicBezTo>
                      <a:cubicBezTo>
                        <a:pt x="95" y="65"/>
                        <a:pt x="95" y="65"/>
                        <a:pt x="95" y="65"/>
                      </a:cubicBezTo>
                      <a:cubicBezTo>
                        <a:pt x="98" y="69"/>
                        <a:pt x="104" y="69"/>
                        <a:pt x="108" y="67"/>
                      </a:cubicBezTo>
                      <a:cubicBezTo>
                        <a:pt x="115" y="63"/>
                        <a:pt x="123" y="60"/>
                        <a:pt x="131" y="58"/>
                      </a:cubicBezTo>
                      <a:cubicBezTo>
                        <a:pt x="135" y="56"/>
                        <a:pt x="138" y="52"/>
                        <a:pt x="138" y="47"/>
                      </a:cubicBezTo>
                      <a:cubicBezTo>
                        <a:pt x="138" y="23"/>
                        <a:pt x="138" y="23"/>
                        <a:pt x="138" y="23"/>
                      </a:cubicBezTo>
                      <a:cubicBezTo>
                        <a:pt x="142" y="23"/>
                        <a:pt x="145" y="22"/>
                        <a:pt x="149" y="22"/>
                      </a:cubicBezTo>
                      <a:cubicBezTo>
                        <a:pt x="156" y="21"/>
                        <a:pt x="163" y="21"/>
                        <a:pt x="171" y="22"/>
                      </a:cubicBezTo>
                      <a:cubicBezTo>
                        <a:pt x="174" y="22"/>
                        <a:pt x="178" y="23"/>
                        <a:pt x="181" y="23"/>
                      </a:cubicBezTo>
                      <a:cubicBezTo>
                        <a:pt x="181" y="47"/>
                        <a:pt x="181" y="47"/>
                        <a:pt x="181" y="47"/>
                      </a:cubicBezTo>
                      <a:cubicBezTo>
                        <a:pt x="181" y="52"/>
                        <a:pt x="184" y="56"/>
                        <a:pt x="189" y="58"/>
                      </a:cubicBezTo>
                      <a:cubicBezTo>
                        <a:pt x="197" y="60"/>
                        <a:pt x="204" y="63"/>
                        <a:pt x="212" y="67"/>
                      </a:cubicBezTo>
                      <a:cubicBezTo>
                        <a:pt x="216" y="69"/>
                        <a:pt x="221" y="69"/>
                        <a:pt x="224" y="65"/>
                      </a:cubicBezTo>
                      <a:cubicBezTo>
                        <a:pt x="241" y="48"/>
                        <a:pt x="241" y="48"/>
                        <a:pt x="241" y="48"/>
                      </a:cubicBezTo>
                      <a:cubicBezTo>
                        <a:pt x="242" y="49"/>
                        <a:pt x="242" y="49"/>
                        <a:pt x="242" y="49"/>
                      </a:cubicBezTo>
                      <a:cubicBezTo>
                        <a:pt x="243" y="49"/>
                        <a:pt x="243" y="50"/>
                        <a:pt x="243" y="50"/>
                      </a:cubicBezTo>
                      <a:cubicBezTo>
                        <a:pt x="244" y="50"/>
                        <a:pt x="244" y="50"/>
                        <a:pt x="244" y="50"/>
                      </a:cubicBezTo>
                      <a:cubicBezTo>
                        <a:pt x="253" y="58"/>
                        <a:pt x="262" y="66"/>
                        <a:pt x="270" y="76"/>
                      </a:cubicBezTo>
                      <a:cubicBezTo>
                        <a:pt x="270" y="76"/>
                        <a:pt x="270" y="76"/>
                        <a:pt x="270" y="76"/>
                      </a:cubicBezTo>
                      <a:cubicBezTo>
                        <a:pt x="270" y="77"/>
                        <a:pt x="270" y="77"/>
                        <a:pt x="270" y="77"/>
                      </a:cubicBezTo>
                      <a:cubicBezTo>
                        <a:pt x="271" y="78"/>
                        <a:pt x="271" y="78"/>
                        <a:pt x="271" y="78"/>
                      </a:cubicBezTo>
                      <a:cubicBezTo>
                        <a:pt x="255" y="95"/>
                        <a:pt x="255" y="95"/>
                        <a:pt x="255" y="95"/>
                      </a:cubicBezTo>
                      <a:cubicBezTo>
                        <a:pt x="251" y="99"/>
                        <a:pt x="250" y="104"/>
                        <a:pt x="253" y="108"/>
                      </a:cubicBezTo>
                      <a:cubicBezTo>
                        <a:pt x="257" y="115"/>
                        <a:pt x="260" y="123"/>
                        <a:pt x="262" y="131"/>
                      </a:cubicBezTo>
                      <a:cubicBezTo>
                        <a:pt x="263" y="136"/>
                        <a:pt x="268" y="139"/>
                        <a:pt x="272" y="139"/>
                      </a:cubicBezTo>
                      <a:cubicBezTo>
                        <a:pt x="297" y="139"/>
                        <a:pt x="297" y="139"/>
                        <a:pt x="297" y="139"/>
                      </a:cubicBezTo>
                      <a:cubicBezTo>
                        <a:pt x="297" y="142"/>
                        <a:pt x="297" y="146"/>
                        <a:pt x="298" y="149"/>
                      </a:cubicBezTo>
                      <a:cubicBezTo>
                        <a:pt x="298" y="153"/>
                        <a:pt x="298" y="157"/>
                        <a:pt x="298" y="160"/>
                      </a:cubicBezTo>
                      <a:cubicBezTo>
                        <a:pt x="298" y="164"/>
                        <a:pt x="298" y="168"/>
                        <a:pt x="298" y="17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black"/>
                    </a:solidFill>
                    <a:effectLst/>
                    <a:uLnTx/>
                    <a:uFillTx/>
                    <a:ea typeface="+mn-ea"/>
                    <a:cs typeface="+mn-cs"/>
                  </a:endParaRPr>
                </a:p>
              </p:txBody>
            </p:sp>
            <p:sp>
              <p:nvSpPr>
                <p:cNvPr id="387" name="Freeform 31">
                  <a:extLst>
                    <a:ext uri="{FF2B5EF4-FFF2-40B4-BE49-F238E27FC236}">
                      <a16:creationId xmlns:a16="http://schemas.microsoft.com/office/drawing/2014/main" id="{9C583958-E877-1073-36B7-5DD3C0E121D4}"/>
                    </a:ext>
                  </a:extLst>
                </p:cNvPr>
                <p:cNvSpPr>
                  <a:spLocks noEditPoints="1"/>
                </p:cNvSpPr>
                <p:nvPr/>
              </p:nvSpPr>
              <p:spPr bwMode="auto">
                <a:xfrm>
                  <a:off x="3026" y="781"/>
                  <a:ext cx="85" cy="85"/>
                </a:xfrm>
                <a:custGeom>
                  <a:avLst/>
                  <a:gdLst>
                    <a:gd name="T0" fmla="*/ 64 w 128"/>
                    <a:gd name="T1" fmla="*/ 0 h 128"/>
                    <a:gd name="T2" fmla="*/ 0 w 128"/>
                    <a:gd name="T3" fmla="*/ 64 h 128"/>
                    <a:gd name="T4" fmla="*/ 64 w 128"/>
                    <a:gd name="T5" fmla="*/ 128 h 128"/>
                    <a:gd name="T6" fmla="*/ 128 w 128"/>
                    <a:gd name="T7" fmla="*/ 64 h 128"/>
                    <a:gd name="T8" fmla="*/ 64 w 128"/>
                    <a:gd name="T9" fmla="*/ 0 h 128"/>
                    <a:gd name="T10" fmla="*/ 64 w 128"/>
                    <a:gd name="T11" fmla="*/ 107 h 128"/>
                    <a:gd name="T12" fmla="*/ 21 w 128"/>
                    <a:gd name="T13" fmla="*/ 64 h 128"/>
                    <a:gd name="T14" fmla="*/ 64 w 128"/>
                    <a:gd name="T15" fmla="*/ 21 h 128"/>
                    <a:gd name="T16" fmla="*/ 106 w 128"/>
                    <a:gd name="T17" fmla="*/ 64 h 128"/>
                    <a:gd name="T18" fmla="*/ 64 w 128"/>
                    <a:gd name="T19" fmla="*/ 107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8">
                      <a:moveTo>
                        <a:pt x="64" y="0"/>
                      </a:moveTo>
                      <a:cubicBezTo>
                        <a:pt x="28" y="0"/>
                        <a:pt x="0" y="29"/>
                        <a:pt x="0" y="64"/>
                      </a:cubicBezTo>
                      <a:cubicBezTo>
                        <a:pt x="0" y="99"/>
                        <a:pt x="28" y="128"/>
                        <a:pt x="64" y="128"/>
                      </a:cubicBezTo>
                      <a:cubicBezTo>
                        <a:pt x="99" y="128"/>
                        <a:pt x="128" y="99"/>
                        <a:pt x="128" y="64"/>
                      </a:cubicBezTo>
                      <a:cubicBezTo>
                        <a:pt x="128" y="29"/>
                        <a:pt x="99" y="0"/>
                        <a:pt x="64" y="0"/>
                      </a:cubicBezTo>
                      <a:close/>
                      <a:moveTo>
                        <a:pt x="64" y="107"/>
                      </a:moveTo>
                      <a:cubicBezTo>
                        <a:pt x="40" y="107"/>
                        <a:pt x="21" y="88"/>
                        <a:pt x="21" y="64"/>
                      </a:cubicBezTo>
                      <a:cubicBezTo>
                        <a:pt x="21" y="40"/>
                        <a:pt x="40" y="21"/>
                        <a:pt x="64" y="21"/>
                      </a:cubicBezTo>
                      <a:cubicBezTo>
                        <a:pt x="87" y="21"/>
                        <a:pt x="106" y="40"/>
                        <a:pt x="106" y="64"/>
                      </a:cubicBezTo>
                      <a:cubicBezTo>
                        <a:pt x="106" y="88"/>
                        <a:pt x="87" y="107"/>
                        <a:pt x="64" y="10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black"/>
                    </a:solidFill>
                    <a:effectLst/>
                    <a:uLnTx/>
                    <a:uFillTx/>
                    <a:ea typeface="+mn-ea"/>
                    <a:cs typeface="+mn-cs"/>
                  </a:endParaRPr>
                </a:p>
              </p:txBody>
            </p:sp>
            <p:sp>
              <p:nvSpPr>
                <p:cNvPr id="388" name="Freeform 32">
                  <a:extLst>
                    <a:ext uri="{FF2B5EF4-FFF2-40B4-BE49-F238E27FC236}">
                      <a16:creationId xmlns:a16="http://schemas.microsoft.com/office/drawing/2014/main" id="{8D7DA300-D3AA-34DB-AE73-2FE48C0005D0}"/>
                    </a:ext>
                  </a:extLst>
                </p:cNvPr>
                <p:cNvSpPr>
                  <a:spLocks noEditPoints="1"/>
                </p:cNvSpPr>
                <p:nvPr/>
              </p:nvSpPr>
              <p:spPr bwMode="auto">
                <a:xfrm>
                  <a:off x="2899" y="653"/>
                  <a:ext cx="340" cy="340"/>
                </a:xfrm>
                <a:custGeom>
                  <a:avLst/>
                  <a:gdLst>
                    <a:gd name="T0" fmla="*/ 256 w 512"/>
                    <a:gd name="T1" fmla="*/ 21 h 512"/>
                    <a:gd name="T2" fmla="*/ 490 w 512"/>
                    <a:gd name="T3" fmla="*/ 256 h 512"/>
                    <a:gd name="T4" fmla="*/ 256 w 512"/>
                    <a:gd name="T5" fmla="*/ 491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7"/>
                        <a:pt x="490" y="256"/>
                      </a:cubicBezTo>
                      <a:cubicBezTo>
                        <a:pt x="490" y="385"/>
                        <a:pt x="385" y="491"/>
                        <a:pt x="256" y="491"/>
                      </a:cubicBezTo>
                      <a:cubicBezTo>
                        <a:pt x="126" y="491"/>
                        <a:pt x="21" y="385"/>
                        <a:pt x="21" y="256"/>
                      </a:cubicBezTo>
                      <a:cubicBezTo>
                        <a:pt x="21" y="127"/>
                        <a:pt x="126" y="21"/>
                        <a:pt x="256" y="21"/>
                      </a:cubicBezTo>
                      <a:moveTo>
                        <a:pt x="256" y="0"/>
                      </a:moveTo>
                      <a:cubicBezTo>
                        <a:pt x="114" y="0"/>
                        <a:pt x="0" y="115"/>
                        <a:pt x="0" y="256"/>
                      </a:cubicBezTo>
                      <a:cubicBezTo>
                        <a:pt x="0" y="397"/>
                        <a:pt x="114" y="512"/>
                        <a:pt x="256" y="512"/>
                      </a:cubicBezTo>
                      <a:cubicBezTo>
                        <a:pt x="397" y="512"/>
                        <a:pt x="512" y="397"/>
                        <a:pt x="512" y="256"/>
                      </a:cubicBezTo>
                      <a:cubicBezTo>
                        <a:pt x="512" y="115"/>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black"/>
                    </a:solidFill>
                    <a:effectLst/>
                    <a:uLnTx/>
                    <a:uFillTx/>
                    <a:ea typeface="+mn-ea"/>
                    <a:cs typeface="+mn-cs"/>
                  </a:endParaRPr>
                </a:p>
              </p:txBody>
            </p:sp>
          </p:grpSp>
          <p:grpSp>
            <p:nvGrpSpPr>
              <p:cNvPr id="380" name="Group 934">
                <a:extLst>
                  <a:ext uri="{FF2B5EF4-FFF2-40B4-BE49-F238E27FC236}">
                    <a16:creationId xmlns:a16="http://schemas.microsoft.com/office/drawing/2014/main" id="{CA806E41-D891-2462-D35B-8C741A730C08}"/>
                  </a:ext>
                </a:extLst>
              </p:cNvPr>
              <p:cNvGrpSpPr>
                <a:grpSpLocks noChangeAspect="1"/>
              </p:cNvGrpSpPr>
              <p:nvPr/>
            </p:nvGrpSpPr>
            <p:grpSpPr bwMode="auto">
              <a:xfrm>
                <a:off x="7076492" y="1781117"/>
                <a:ext cx="457200" cy="457200"/>
                <a:chOff x="1155" y="3472"/>
                <a:chExt cx="340" cy="340"/>
              </a:xfrm>
              <a:solidFill>
                <a:schemeClr val="tx1"/>
              </a:solidFill>
            </p:grpSpPr>
            <p:sp>
              <p:nvSpPr>
                <p:cNvPr id="384" name="Freeform 935">
                  <a:extLst>
                    <a:ext uri="{FF2B5EF4-FFF2-40B4-BE49-F238E27FC236}">
                      <a16:creationId xmlns:a16="http://schemas.microsoft.com/office/drawing/2014/main" id="{EA2E407B-F64E-14B1-CD45-99BEA8CD799E}"/>
                    </a:ext>
                  </a:extLst>
                </p:cNvPr>
                <p:cNvSpPr>
                  <a:spLocks noEditPoints="1"/>
                </p:cNvSpPr>
                <p:nvPr/>
              </p:nvSpPr>
              <p:spPr bwMode="auto">
                <a:xfrm>
                  <a:off x="1155" y="3472"/>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black"/>
                    </a:solidFill>
                    <a:effectLst/>
                    <a:uLnTx/>
                    <a:uFillTx/>
                    <a:ea typeface="+mn-ea"/>
                    <a:cs typeface="+mn-cs"/>
                  </a:endParaRPr>
                </a:p>
              </p:txBody>
            </p:sp>
            <p:sp>
              <p:nvSpPr>
                <p:cNvPr id="385" name="Freeform 936">
                  <a:extLst>
                    <a:ext uri="{FF2B5EF4-FFF2-40B4-BE49-F238E27FC236}">
                      <a16:creationId xmlns:a16="http://schemas.microsoft.com/office/drawing/2014/main" id="{14EE7514-FAE9-CC2E-4FA7-BB0A31DDCF5B}"/>
                    </a:ext>
                  </a:extLst>
                </p:cNvPr>
                <p:cNvSpPr>
                  <a:spLocks noEditPoints="1"/>
                </p:cNvSpPr>
                <p:nvPr/>
              </p:nvSpPr>
              <p:spPr bwMode="auto">
                <a:xfrm>
                  <a:off x="1218" y="3536"/>
                  <a:ext cx="213" cy="212"/>
                </a:xfrm>
                <a:custGeom>
                  <a:avLst/>
                  <a:gdLst>
                    <a:gd name="T0" fmla="*/ 320 w 321"/>
                    <a:gd name="T1" fmla="*/ 221 h 320"/>
                    <a:gd name="T2" fmla="*/ 278 w 321"/>
                    <a:gd name="T3" fmla="*/ 50 h 320"/>
                    <a:gd name="T4" fmla="*/ 277 w 321"/>
                    <a:gd name="T5" fmla="*/ 50 h 320"/>
                    <a:gd name="T6" fmla="*/ 277 w 321"/>
                    <a:gd name="T7" fmla="*/ 48 h 320"/>
                    <a:gd name="T8" fmla="*/ 275 w 321"/>
                    <a:gd name="T9" fmla="*/ 46 h 320"/>
                    <a:gd name="T10" fmla="*/ 274 w 321"/>
                    <a:gd name="T11" fmla="*/ 45 h 320"/>
                    <a:gd name="T12" fmla="*/ 272 w 321"/>
                    <a:gd name="T13" fmla="*/ 44 h 320"/>
                    <a:gd name="T14" fmla="*/ 271 w 321"/>
                    <a:gd name="T15" fmla="*/ 43 h 320"/>
                    <a:gd name="T16" fmla="*/ 268 w 321"/>
                    <a:gd name="T17" fmla="*/ 42 h 320"/>
                    <a:gd name="T18" fmla="*/ 267 w 321"/>
                    <a:gd name="T19" fmla="*/ 42 h 320"/>
                    <a:gd name="T20" fmla="*/ 267 w 321"/>
                    <a:gd name="T21" fmla="*/ 42 h 320"/>
                    <a:gd name="T22" fmla="*/ 171 w 321"/>
                    <a:gd name="T23" fmla="*/ 42 h 320"/>
                    <a:gd name="T24" fmla="*/ 171 w 321"/>
                    <a:gd name="T25" fmla="*/ 10 h 320"/>
                    <a:gd name="T26" fmla="*/ 161 w 321"/>
                    <a:gd name="T27" fmla="*/ 0 h 320"/>
                    <a:gd name="T28" fmla="*/ 150 w 321"/>
                    <a:gd name="T29" fmla="*/ 10 h 320"/>
                    <a:gd name="T30" fmla="*/ 150 w 321"/>
                    <a:gd name="T31" fmla="*/ 42 h 320"/>
                    <a:gd name="T32" fmla="*/ 65 w 321"/>
                    <a:gd name="T33" fmla="*/ 42 h 320"/>
                    <a:gd name="T34" fmla="*/ 64 w 321"/>
                    <a:gd name="T35" fmla="*/ 42 h 320"/>
                    <a:gd name="T36" fmla="*/ 61 w 321"/>
                    <a:gd name="T37" fmla="*/ 43 h 320"/>
                    <a:gd name="T38" fmla="*/ 60 w 321"/>
                    <a:gd name="T39" fmla="*/ 44 h 320"/>
                    <a:gd name="T40" fmla="*/ 58 w 321"/>
                    <a:gd name="T41" fmla="*/ 45 h 320"/>
                    <a:gd name="T42" fmla="*/ 57 w 321"/>
                    <a:gd name="T43" fmla="*/ 46 h 320"/>
                    <a:gd name="T44" fmla="*/ 55 w 321"/>
                    <a:gd name="T45" fmla="*/ 48 h 320"/>
                    <a:gd name="T46" fmla="*/ 55 w 321"/>
                    <a:gd name="T47" fmla="*/ 49 h 320"/>
                    <a:gd name="T48" fmla="*/ 54 w 321"/>
                    <a:gd name="T49" fmla="*/ 50 h 320"/>
                    <a:gd name="T50" fmla="*/ 1 w 321"/>
                    <a:gd name="T51" fmla="*/ 220 h 320"/>
                    <a:gd name="T52" fmla="*/ 3 w 321"/>
                    <a:gd name="T53" fmla="*/ 230 h 320"/>
                    <a:gd name="T54" fmla="*/ 11 w 321"/>
                    <a:gd name="T55" fmla="*/ 234 h 320"/>
                    <a:gd name="T56" fmla="*/ 107 w 321"/>
                    <a:gd name="T57" fmla="*/ 234 h 320"/>
                    <a:gd name="T58" fmla="*/ 116 w 321"/>
                    <a:gd name="T59" fmla="*/ 230 h 320"/>
                    <a:gd name="T60" fmla="*/ 118 w 321"/>
                    <a:gd name="T61" fmla="*/ 221 h 320"/>
                    <a:gd name="T62" fmla="*/ 78 w 321"/>
                    <a:gd name="T63" fmla="*/ 64 h 320"/>
                    <a:gd name="T64" fmla="*/ 150 w 321"/>
                    <a:gd name="T65" fmla="*/ 64 h 320"/>
                    <a:gd name="T66" fmla="*/ 150 w 321"/>
                    <a:gd name="T67" fmla="*/ 298 h 320"/>
                    <a:gd name="T68" fmla="*/ 97 w 321"/>
                    <a:gd name="T69" fmla="*/ 298 h 320"/>
                    <a:gd name="T70" fmla="*/ 86 w 321"/>
                    <a:gd name="T71" fmla="*/ 309 h 320"/>
                    <a:gd name="T72" fmla="*/ 97 w 321"/>
                    <a:gd name="T73" fmla="*/ 320 h 320"/>
                    <a:gd name="T74" fmla="*/ 225 w 321"/>
                    <a:gd name="T75" fmla="*/ 320 h 320"/>
                    <a:gd name="T76" fmla="*/ 235 w 321"/>
                    <a:gd name="T77" fmla="*/ 309 h 320"/>
                    <a:gd name="T78" fmla="*/ 225 w 321"/>
                    <a:gd name="T79" fmla="*/ 298 h 320"/>
                    <a:gd name="T80" fmla="*/ 171 w 321"/>
                    <a:gd name="T81" fmla="*/ 298 h 320"/>
                    <a:gd name="T82" fmla="*/ 171 w 321"/>
                    <a:gd name="T83" fmla="*/ 64 h 320"/>
                    <a:gd name="T84" fmla="*/ 253 w 321"/>
                    <a:gd name="T85" fmla="*/ 64 h 320"/>
                    <a:gd name="T86" fmla="*/ 204 w 321"/>
                    <a:gd name="T87" fmla="*/ 220 h 320"/>
                    <a:gd name="T88" fmla="*/ 205 w 321"/>
                    <a:gd name="T89" fmla="*/ 230 h 320"/>
                    <a:gd name="T90" fmla="*/ 214 w 321"/>
                    <a:gd name="T91" fmla="*/ 234 h 320"/>
                    <a:gd name="T92" fmla="*/ 310 w 321"/>
                    <a:gd name="T93" fmla="*/ 234 h 320"/>
                    <a:gd name="T94" fmla="*/ 318 w 321"/>
                    <a:gd name="T95" fmla="*/ 230 h 320"/>
                    <a:gd name="T96" fmla="*/ 320 w 321"/>
                    <a:gd name="T97" fmla="*/ 221 h 320"/>
                    <a:gd name="T98" fmla="*/ 26 w 321"/>
                    <a:gd name="T99" fmla="*/ 213 h 320"/>
                    <a:gd name="T100" fmla="*/ 64 w 321"/>
                    <a:gd name="T101" fmla="*/ 92 h 320"/>
                    <a:gd name="T102" fmla="*/ 94 w 321"/>
                    <a:gd name="T103" fmla="*/ 213 h 320"/>
                    <a:gd name="T104" fmla="*/ 26 w 321"/>
                    <a:gd name="T105" fmla="*/ 213 h 320"/>
                    <a:gd name="T106" fmla="*/ 229 w 321"/>
                    <a:gd name="T107" fmla="*/ 213 h 320"/>
                    <a:gd name="T108" fmla="*/ 266 w 321"/>
                    <a:gd name="T109" fmla="*/ 92 h 320"/>
                    <a:gd name="T110" fmla="*/ 296 w 321"/>
                    <a:gd name="T111" fmla="*/ 213 h 320"/>
                    <a:gd name="T112" fmla="*/ 229 w 321"/>
                    <a:gd name="T113" fmla="*/ 213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1" h="320">
                      <a:moveTo>
                        <a:pt x="320" y="221"/>
                      </a:moveTo>
                      <a:cubicBezTo>
                        <a:pt x="278" y="50"/>
                        <a:pt x="278" y="50"/>
                        <a:pt x="278" y="50"/>
                      </a:cubicBezTo>
                      <a:cubicBezTo>
                        <a:pt x="278" y="50"/>
                        <a:pt x="277" y="50"/>
                        <a:pt x="277" y="50"/>
                      </a:cubicBezTo>
                      <a:cubicBezTo>
                        <a:pt x="277" y="49"/>
                        <a:pt x="277" y="49"/>
                        <a:pt x="277" y="48"/>
                      </a:cubicBezTo>
                      <a:cubicBezTo>
                        <a:pt x="276" y="47"/>
                        <a:pt x="276" y="47"/>
                        <a:pt x="275" y="46"/>
                      </a:cubicBezTo>
                      <a:cubicBezTo>
                        <a:pt x="275" y="46"/>
                        <a:pt x="275" y="45"/>
                        <a:pt x="274" y="45"/>
                      </a:cubicBezTo>
                      <a:cubicBezTo>
                        <a:pt x="274" y="45"/>
                        <a:pt x="273" y="44"/>
                        <a:pt x="272" y="44"/>
                      </a:cubicBezTo>
                      <a:cubicBezTo>
                        <a:pt x="272" y="43"/>
                        <a:pt x="272" y="43"/>
                        <a:pt x="271" y="43"/>
                      </a:cubicBezTo>
                      <a:cubicBezTo>
                        <a:pt x="270" y="43"/>
                        <a:pt x="269" y="42"/>
                        <a:pt x="268" y="42"/>
                      </a:cubicBezTo>
                      <a:cubicBezTo>
                        <a:pt x="268" y="42"/>
                        <a:pt x="268" y="42"/>
                        <a:pt x="267" y="42"/>
                      </a:cubicBezTo>
                      <a:cubicBezTo>
                        <a:pt x="267" y="42"/>
                        <a:pt x="267" y="42"/>
                        <a:pt x="267" y="42"/>
                      </a:cubicBezTo>
                      <a:cubicBezTo>
                        <a:pt x="171" y="42"/>
                        <a:pt x="171" y="42"/>
                        <a:pt x="171" y="42"/>
                      </a:cubicBezTo>
                      <a:cubicBezTo>
                        <a:pt x="171" y="10"/>
                        <a:pt x="171" y="10"/>
                        <a:pt x="171" y="10"/>
                      </a:cubicBezTo>
                      <a:cubicBezTo>
                        <a:pt x="171" y="4"/>
                        <a:pt x="167" y="0"/>
                        <a:pt x="161" y="0"/>
                      </a:cubicBezTo>
                      <a:cubicBezTo>
                        <a:pt x="155" y="0"/>
                        <a:pt x="150" y="4"/>
                        <a:pt x="150" y="10"/>
                      </a:cubicBezTo>
                      <a:cubicBezTo>
                        <a:pt x="150" y="42"/>
                        <a:pt x="150" y="42"/>
                        <a:pt x="150" y="42"/>
                      </a:cubicBezTo>
                      <a:cubicBezTo>
                        <a:pt x="65" y="42"/>
                        <a:pt x="65" y="42"/>
                        <a:pt x="65" y="42"/>
                      </a:cubicBezTo>
                      <a:cubicBezTo>
                        <a:pt x="64" y="42"/>
                        <a:pt x="64" y="42"/>
                        <a:pt x="64" y="42"/>
                      </a:cubicBezTo>
                      <a:cubicBezTo>
                        <a:pt x="63" y="43"/>
                        <a:pt x="62" y="43"/>
                        <a:pt x="61" y="43"/>
                      </a:cubicBezTo>
                      <a:cubicBezTo>
                        <a:pt x="61" y="43"/>
                        <a:pt x="60" y="43"/>
                        <a:pt x="60" y="44"/>
                      </a:cubicBezTo>
                      <a:cubicBezTo>
                        <a:pt x="59" y="44"/>
                        <a:pt x="58" y="45"/>
                        <a:pt x="58" y="45"/>
                      </a:cubicBezTo>
                      <a:cubicBezTo>
                        <a:pt x="57" y="45"/>
                        <a:pt x="57" y="46"/>
                        <a:pt x="57" y="46"/>
                      </a:cubicBezTo>
                      <a:cubicBezTo>
                        <a:pt x="56" y="47"/>
                        <a:pt x="56" y="47"/>
                        <a:pt x="55" y="48"/>
                      </a:cubicBezTo>
                      <a:cubicBezTo>
                        <a:pt x="55" y="49"/>
                        <a:pt x="55" y="49"/>
                        <a:pt x="55" y="49"/>
                      </a:cubicBezTo>
                      <a:cubicBezTo>
                        <a:pt x="55" y="49"/>
                        <a:pt x="55" y="50"/>
                        <a:pt x="54" y="50"/>
                      </a:cubicBezTo>
                      <a:cubicBezTo>
                        <a:pt x="1" y="220"/>
                        <a:pt x="1" y="220"/>
                        <a:pt x="1" y="220"/>
                      </a:cubicBezTo>
                      <a:cubicBezTo>
                        <a:pt x="0" y="224"/>
                        <a:pt x="1" y="227"/>
                        <a:pt x="3" y="230"/>
                      </a:cubicBezTo>
                      <a:cubicBezTo>
                        <a:pt x="5" y="233"/>
                        <a:pt x="8" y="234"/>
                        <a:pt x="11" y="234"/>
                      </a:cubicBezTo>
                      <a:cubicBezTo>
                        <a:pt x="107" y="234"/>
                        <a:pt x="107" y="234"/>
                        <a:pt x="107" y="234"/>
                      </a:cubicBezTo>
                      <a:cubicBezTo>
                        <a:pt x="111" y="234"/>
                        <a:pt x="114" y="233"/>
                        <a:pt x="116" y="230"/>
                      </a:cubicBezTo>
                      <a:cubicBezTo>
                        <a:pt x="118" y="228"/>
                        <a:pt x="118" y="224"/>
                        <a:pt x="118" y="221"/>
                      </a:cubicBezTo>
                      <a:cubicBezTo>
                        <a:pt x="78" y="64"/>
                        <a:pt x="78" y="64"/>
                        <a:pt x="78" y="64"/>
                      </a:cubicBezTo>
                      <a:cubicBezTo>
                        <a:pt x="150" y="64"/>
                        <a:pt x="150" y="64"/>
                        <a:pt x="150" y="64"/>
                      </a:cubicBezTo>
                      <a:cubicBezTo>
                        <a:pt x="150" y="298"/>
                        <a:pt x="150" y="298"/>
                        <a:pt x="150" y="298"/>
                      </a:cubicBezTo>
                      <a:cubicBezTo>
                        <a:pt x="97" y="298"/>
                        <a:pt x="97" y="298"/>
                        <a:pt x="97" y="298"/>
                      </a:cubicBezTo>
                      <a:cubicBezTo>
                        <a:pt x="91" y="298"/>
                        <a:pt x="86" y="303"/>
                        <a:pt x="86" y="309"/>
                      </a:cubicBezTo>
                      <a:cubicBezTo>
                        <a:pt x="86" y="315"/>
                        <a:pt x="91" y="320"/>
                        <a:pt x="97" y="320"/>
                      </a:cubicBezTo>
                      <a:cubicBezTo>
                        <a:pt x="225" y="320"/>
                        <a:pt x="225" y="320"/>
                        <a:pt x="225" y="320"/>
                      </a:cubicBezTo>
                      <a:cubicBezTo>
                        <a:pt x="231" y="320"/>
                        <a:pt x="235" y="315"/>
                        <a:pt x="235" y="309"/>
                      </a:cubicBezTo>
                      <a:cubicBezTo>
                        <a:pt x="235" y="303"/>
                        <a:pt x="231" y="298"/>
                        <a:pt x="225" y="298"/>
                      </a:cubicBezTo>
                      <a:cubicBezTo>
                        <a:pt x="171" y="298"/>
                        <a:pt x="171" y="298"/>
                        <a:pt x="171" y="298"/>
                      </a:cubicBezTo>
                      <a:cubicBezTo>
                        <a:pt x="171" y="64"/>
                        <a:pt x="171" y="64"/>
                        <a:pt x="171" y="64"/>
                      </a:cubicBezTo>
                      <a:cubicBezTo>
                        <a:pt x="253" y="64"/>
                        <a:pt x="253" y="64"/>
                        <a:pt x="253" y="64"/>
                      </a:cubicBezTo>
                      <a:cubicBezTo>
                        <a:pt x="204" y="220"/>
                        <a:pt x="204" y="220"/>
                        <a:pt x="204" y="220"/>
                      </a:cubicBezTo>
                      <a:cubicBezTo>
                        <a:pt x="203" y="224"/>
                        <a:pt x="203" y="227"/>
                        <a:pt x="205" y="230"/>
                      </a:cubicBezTo>
                      <a:cubicBezTo>
                        <a:pt x="207" y="233"/>
                        <a:pt x="211" y="234"/>
                        <a:pt x="214" y="234"/>
                      </a:cubicBezTo>
                      <a:cubicBezTo>
                        <a:pt x="310" y="234"/>
                        <a:pt x="310" y="234"/>
                        <a:pt x="310" y="234"/>
                      </a:cubicBezTo>
                      <a:cubicBezTo>
                        <a:pt x="313" y="234"/>
                        <a:pt x="316" y="233"/>
                        <a:pt x="318" y="230"/>
                      </a:cubicBezTo>
                      <a:cubicBezTo>
                        <a:pt x="320" y="228"/>
                        <a:pt x="321" y="224"/>
                        <a:pt x="320" y="221"/>
                      </a:cubicBezTo>
                      <a:close/>
                      <a:moveTo>
                        <a:pt x="26" y="213"/>
                      </a:moveTo>
                      <a:cubicBezTo>
                        <a:pt x="64" y="92"/>
                        <a:pt x="64" y="92"/>
                        <a:pt x="64" y="92"/>
                      </a:cubicBezTo>
                      <a:cubicBezTo>
                        <a:pt x="94" y="213"/>
                        <a:pt x="94" y="213"/>
                        <a:pt x="94" y="213"/>
                      </a:cubicBezTo>
                      <a:lnTo>
                        <a:pt x="26" y="213"/>
                      </a:lnTo>
                      <a:close/>
                      <a:moveTo>
                        <a:pt x="229" y="213"/>
                      </a:moveTo>
                      <a:cubicBezTo>
                        <a:pt x="266" y="92"/>
                        <a:pt x="266" y="92"/>
                        <a:pt x="266" y="92"/>
                      </a:cubicBezTo>
                      <a:cubicBezTo>
                        <a:pt x="296" y="213"/>
                        <a:pt x="296" y="213"/>
                        <a:pt x="296" y="213"/>
                      </a:cubicBezTo>
                      <a:lnTo>
                        <a:pt x="229" y="21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black"/>
                    </a:solidFill>
                    <a:effectLst/>
                    <a:uLnTx/>
                    <a:uFillTx/>
                    <a:ea typeface="+mn-ea"/>
                    <a:cs typeface="+mn-cs"/>
                  </a:endParaRPr>
                </a:p>
              </p:txBody>
            </p:sp>
          </p:grpSp>
          <p:grpSp>
            <p:nvGrpSpPr>
              <p:cNvPr id="381" name="Group 777">
                <a:extLst>
                  <a:ext uri="{FF2B5EF4-FFF2-40B4-BE49-F238E27FC236}">
                    <a16:creationId xmlns:a16="http://schemas.microsoft.com/office/drawing/2014/main" id="{FB03C24A-E14C-D011-F411-58F82AFF008F}"/>
                  </a:ext>
                </a:extLst>
              </p:cNvPr>
              <p:cNvGrpSpPr>
                <a:grpSpLocks noChangeAspect="1"/>
              </p:cNvGrpSpPr>
              <p:nvPr/>
            </p:nvGrpSpPr>
            <p:grpSpPr bwMode="auto">
              <a:xfrm>
                <a:off x="5866728" y="1338639"/>
                <a:ext cx="458544" cy="457201"/>
                <a:chOff x="5818" y="3070"/>
                <a:chExt cx="341" cy="340"/>
              </a:xfrm>
              <a:solidFill>
                <a:schemeClr val="tx1"/>
              </a:solidFill>
            </p:grpSpPr>
            <p:sp>
              <p:nvSpPr>
                <p:cNvPr id="382" name="Freeform 778">
                  <a:extLst>
                    <a:ext uri="{FF2B5EF4-FFF2-40B4-BE49-F238E27FC236}">
                      <a16:creationId xmlns:a16="http://schemas.microsoft.com/office/drawing/2014/main" id="{4E16B5CD-A422-7BA8-AE15-F71A5B83EB79}"/>
                    </a:ext>
                  </a:extLst>
                </p:cNvPr>
                <p:cNvSpPr>
                  <a:spLocks noEditPoints="1"/>
                </p:cNvSpPr>
                <p:nvPr/>
              </p:nvSpPr>
              <p:spPr bwMode="auto">
                <a:xfrm>
                  <a:off x="5882" y="3140"/>
                  <a:ext cx="213" cy="185"/>
                </a:xfrm>
                <a:custGeom>
                  <a:avLst/>
                  <a:gdLst>
                    <a:gd name="T0" fmla="*/ 309 w 320"/>
                    <a:gd name="T1" fmla="*/ 43 h 278"/>
                    <a:gd name="T2" fmla="*/ 213 w 320"/>
                    <a:gd name="T3" fmla="*/ 43 h 278"/>
                    <a:gd name="T4" fmla="*/ 213 w 320"/>
                    <a:gd name="T5" fmla="*/ 11 h 278"/>
                    <a:gd name="T6" fmla="*/ 202 w 320"/>
                    <a:gd name="T7" fmla="*/ 0 h 278"/>
                    <a:gd name="T8" fmla="*/ 117 w 320"/>
                    <a:gd name="T9" fmla="*/ 0 h 278"/>
                    <a:gd name="T10" fmla="*/ 106 w 320"/>
                    <a:gd name="T11" fmla="*/ 11 h 278"/>
                    <a:gd name="T12" fmla="*/ 106 w 320"/>
                    <a:gd name="T13" fmla="*/ 43 h 278"/>
                    <a:gd name="T14" fmla="*/ 10 w 320"/>
                    <a:gd name="T15" fmla="*/ 43 h 278"/>
                    <a:gd name="T16" fmla="*/ 0 w 320"/>
                    <a:gd name="T17" fmla="*/ 54 h 278"/>
                    <a:gd name="T18" fmla="*/ 0 w 320"/>
                    <a:gd name="T19" fmla="*/ 160 h 278"/>
                    <a:gd name="T20" fmla="*/ 10 w 320"/>
                    <a:gd name="T21" fmla="*/ 171 h 278"/>
                    <a:gd name="T22" fmla="*/ 21 w 320"/>
                    <a:gd name="T23" fmla="*/ 171 h 278"/>
                    <a:gd name="T24" fmla="*/ 21 w 320"/>
                    <a:gd name="T25" fmla="*/ 267 h 278"/>
                    <a:gd name="T26" fmla="*/ 32 w 320"/>
                    <a:gd name="T27" fmla="*/ 278 h 278"/>
                    <a:gd name="T28" fmla="*/ 288 w 320"/>
                    <a:gd name="T29" fmla="*/ 278 h 278"/>
                    <a:gd name="T30" fmla="*/ 298 w 320"/>
                    <a:gd name="T31" fmla="*/ 267 h 278"/>
                    <a:gd name="T32" fmla="*/ 298 w 320"/>
                    <a:gd name="T33" fmla="*/ 171 h 278"/>
                    <a:gd name="T34" fmla="*/ 309 w 320"/>
                    <a:gd name="T35" fmla="*/ 171 h 278"/>
                    <a:gd name="T36" fmla="*/ 320 w 320"/>
                    <a:gd name="T37" fmla="*/ 160 h 278"/>
                    <a:gd name="T38" fmla="*/ 320 w 320"/>
                    <a:gd name="T39" fmla="*/ 54 h 278"/>
                    <a:gd name="T40" fmla="*/ 309 w 320"/>
                    <a:gd name="T41" fmla="*/ 43 h 278"/>
                    <a:gd name="T42" fmla="*/ 128 w 320"/>
                    <a:gd name="T43" fmla="*/ 22 h 278"/>
                    <a:gd name="T44" fmla="*/ 192 w 320"/>
                    <a:gd name="T45" fmla="*/ 22 h 278"/>
                    <a:gd name="T46" fmla="*/ 192 w 320"/>
                    <a:gd name="T47" fmla="*/ 43 h 278"/>
                    <a:gd name="T48" fmla="*/ 128 w 320"/>
                    <a:gd name="T49" fmla="*/ 43 h 278"/>
                    <a:gd name="T50" fmla="*/ 128 w 320"/>
                    <a:gd name="T51" fmla="*/ 22 h 278"/>
                    <a:gd name="T52" fmla="*/ 277 w 320"/>
                    <a:gd name="T53" fmla="*/ 256 h 278"/>
                    <a:gd name="T54" fmla="*/ 42 w 320"/>
                    <a:gd name="T55" fmla="*/ 256 h 278"/>
                    <a:gd name="T56" fmla="*/ 42 w 320"/>
                    <a:gd name="T57" fmla="*/ 171 h 278"/>
                    <a:gd name="T58" fmla="*/ 85 w 320"/>
                    <a:gd name="T59" fmla="*/ 171 h 278"/>
                    <a:gd name="T60" fmla="*/ 85 w 320"/>
                    <a:gd name="T61" fmla="*/ 182 h 278"/>
                    <a:gd name="T62" fmla="*/ 96 w 320"/>
                    <a:gd name="T63" fmla="*/ 192 h 278"/>
                    <a:gd name="T64" fmla="*/ 106 w 320"/>
                    <a:gd name="T65" fmla="*/ 182 h 278"/>
                    <a:gd name="T66" fmla="*/ 106 w 320"/>
                    <a:gd name="T67" fmla="*/ 171 h 278"/>
                    <a:gd name="T68" fmla="*/ 213 w 320"/>
                    <a:gd name="T69" fmla="*/ 171 h 278"/>
                    <a:gd name="T70" fmla="*/ 213 w 320"/>
                    <a:gd name="T71" fmla="*/ 182 h 278"/>
                    <a:gd name="T72" fmla="*/ 224 w 320"/>
                    <a:gd name="T73" fmla="*/ 192 h 278"/>
                    <a:gd name="T74" fmla="*/ 234 w 320"/>
                    <a:gd name="T75" fmla="*/ 182 h 278"/>
                    <a:gd name="T76" fmla="*/ 234 w 320"/>
                    <a:gd name="T77" fmla="*/ 171 h 278"/>
                    <a:gd name="T78" fmla="*/ 277 w 320"/>
                    <a:gd name="T79" fmla="*/ 171 h 278"/>
                    <a:gd name="T80" fmla="*/ 277 w 320"/>
                    <a:gd name="T81" fmla="*/ 256 h 278"/>
                    <a:gd name="T82" fmla="*/ 298 w 320"/>
                    <a:gd name="T83" fmla="*/ 150 h 278"/>
                    <a:gd name="T84" fmla="*/ 234 w 320"/>
                    <a:gd name="T85" fmla="*/ 150 h 278"/>
                    <a:gd name="T86" fmla="*/ 234 w 320"/>
                    <a:gd name="T87" fmla="*/ 139 h 278"/>
                    <a:gd name="T88" fmla="*/ 224 w 320"/>
                    <a:gd name="T89" fmla="*/ 128 h 278"/>
                    <a:gd name="T90" fmla="*/ 213 w 320"/>
                    <a:gd name="T91" fmla="*/ 139 h 278"/>
                    <a:gd name="T92" fmla="*/ 213 w 320"/>
                    <a:gd name="T93" fmla="*/ 150 h 278"/>
                    <a:gd name="T94" fmla="*/ 106 w 320"/>
                    <a:gd name="T95" fmla="*/ 150 h 278"/>
                    <a:gd name="T96" fmla="*/ 106 w 320"/>
                    <a:gd name="T97" fmla="*/ 139 h 278"/>
                    <a:gd name="T98" fmla="*/ 96 w 320"/>
                    <a:gd name="T99" fmla="*/ 128 h 278"/>
                    <a:gd name="T100" fmla="*/ 85 w 320"/>
                    <a:gd name="T101" fmla="*/ 139 h 278"/>
                    <a:gd name="T102" fmla="*/ 85 w 320"/>
                    <a:gd name="T103" fmla="*/ 150 h 278"/>
                    <a:gd name="T104" fmla="*/ 21 w 320"/>
                    <a:gd name="T105" fmla="*/ 150 h 278"/>
                    <a:gd name="T106" fmla="*/ 21 w 320"/>
                    <a:gd name="T107" fmla="*/ 64 h 278"/>
                    <a:gd name="T108" fmla="*/ 298 w 320"/>
                    <a:gd name="T109" fmla="*/ 64 h 278"/>
                    <a:gd name="T110" fmla="*/ 298 w 320"/>
                    <a:gd name="T111" fmla="*/ 150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20" h="278">
                      <a:moveTo>
                        <a:pt x="309" y="43"/>
                      </a:moveTo>
                      <a:cubicBezTo>
                        <a:pt x="213" y="43"/>
                        <a:pt x="213" y="43"/>
                        <a:pt x="213" y="43"/>
                      </a:cubicBezTo>
                      <a:cubicBezTo>
                        <a:pt x="213" y="11"/>
                        <a:pt x="213" y="11"/>
                        <a:pt x="213" y="11"/>
                      </a:cubicBezTo>
                      <a:cubicBezTo>
                        <a:pt x="213" y="5"/>
                        <a:pt x="208" y="0"/>
                        <a:pt x="202" y="0"/>
                      </a:cubicBezTo>
                      <a:cubicBezTo>
                        <a:pt x="117" y="0"/>
                        <a:pt x="117" y="0"/>
                        <a:pt x="117" y="0"/>
                      </a:cubicBezTo>
                      <a:cubicBezTo>
                        <a:pt x="111" y="0"/>
                        <a:pt x="106" y="5"/>
                        <a:pt x="106" y="11"/>
                      </a:cubicBezTo>
                      <a:cubicBezTo>
                        <a:pt x="106" y="43"/>
                        <a:pt x="106" y="43"/>
                        <a:pt x="106" y="43"/>
                      </a:cubicBezTo>
                      <a:cubicBezTo>
                        <a:pt x="10" y="43"/>
                        <a:pt x="10" y="43"/>
                        <a:pt x="10" y="43"/>
                      </a:cubicBezTo>
                      <a:cubicBezTo>
                        <a:pt x="4" y="43"/>
                        <a:pt x="0" y="48"/>
                        <a:pt x="0" y="54"/>
                      </a:cubicBezTo>
                      <a:cubicBezTo>
                        <a:pt x="0" y="160"/>
                        <a:pt x="0" y="160"/>
                        <a:pt x="0" y="160"/>
                      </a:cubicBezTo>
                      <a:cubicBezTo>
                        <a:pt x="0" y="166"/>
                        <a:pt x="4" y="171"/>
                        <a:pt x="10" y="171"/>
                      </a:cubicBezTo>
                      <a:cubicBezTo>
                        <a:pt x="21" y="171"/>
                        <a:pt x="21" y="171"/>
                        <a:pt x="21" y="171"/>
                      </a:cubicBezTo>
                      <a:cubicBezTo>
                        <a:pt x="21" y="267"/>
                        <a:pt x="21" y="267"/>
                        <a:pt x="21" y="267"/>
                      </a:cubicBezTo>
                      <a:cubicBezTo>
                        <a:pt x="21" y="273"/>
                        <a:pt x="26" y="278"/>
                        <a:pt x="32" y="278"/>
                      </a:cubicBezTo>
                      <a:cubicBezTo>
                        <a:pt x="288" y="278"/>
                        <a:pt x="288" y="278"/>
                        <a:pt x="288" y="278"/>
                      </a:cubicBezTo>
                      <a:cubicBezTo>
                        <a:pt x="294" y="278"/>
                        <a:pt x="298" y="273"/>
                        <a:pt x="298" y="267"/>
                      </a:cubicBezTo>
                      <a:cubicBezTo>
                        <a:pt x="298" y="171"/>
                        <a:pt x="298" y="171"/>
                        <a:pt x="298" y="171"/>
                      </a:cubicBezTo>
                      <a:cubicBezTo>
                        <a:pt x="309" y="171"/>
                        <a:pt x="309" y="171"/>
                        <a:pt x="309" y="171"/>
                      </a:cubicBezTo>
                      <a:cubicBezTo>
                        <a:pt x="315" y="171"/>
                        <a:pt x="320" y="166"/>
                        <a:pt x="320" y="160"/>
                      </a:cubicBezTo>
                      <a:cubicBezTo>
                        <a:pt x="320" y="54"/>
                        <a:pt x="320" y="54"/>
                        <a:pt x="320" y="54"/>
                      </a:cubicBezTo>
                      <a:cubicBezTo>
                        <a:pt x="320" y="48"/>
                        <a:pt x="315" y="43"/>
                        <a:pt x="309" y="43"/>
                      </a:cubicBezTo>
                      <a:close/>
                      <a:moveTo>
                        <a:pt x="128" y="22"/>
                      </a:moveTo>
                      <a:cubicBezTo>
                        <a:pt x="192" y="22"/>
                        <a:pt x="192" y="22"/>
                        <a:pt x="192" y="22"/>
                      </a:cubicBezTo>
                      <a:cubicBezTo>
                        <a:pt x="192" y="43"/>
                        <a:pt x="192" y="43"/>
                        <a:pt x="192" y="43"/>
                      </a:cubicBezTo>
                      <a:cubicBezTo>
                        <a:pt x="128" y="43"/>
                        <a:pt x="128" y="43"/>
                        <a:pt x="128" y="43"/>
                      </a:cubicBezTo>
                      <a:lnTo>
                        <a:pt x="128" y="22"/>
                      </a:lnTo>
                      <a:close/>
                      <a:moveTo>
                        <a:pt x="277" y="256"/>
                      </a:moveTo>
                      <a:cubicBezTo>
                        <a:pt x="42" y="256"/>
                        <a:pt x="42" y="256"/>
                        <a:pt x="42" y="256"/>
                      </a:cubicBezTo>
                      <a:cubicBezTo>
                        <a:pt x="42" y="171"/>
                        <a:pt x="42" y="171"/>
                        <a:pt x="42" y="171"/>
                      </a:cubicBezTo>
                      <a:cubicBezTo>
                        <a:pt x="85" y="171"/>
                        <a:pt x="85" y="171"/>
                        <a:pt x="85" y="171"/>
                      </a:cubicBezTo>
                      <a:cubicBezTo>
                        <a:pt x="85" y="182"/>
                        <a:pt x="85" y="182"/>
                        <a:pt x="85" y="182"/>
                      </a:cubicBezTo>
                      <a:cubicBezTo>
                        <a:pt x="85" y="188"/>
                        <a:pt x="90" y="192"/>
                        <a:pt x="96" y="192"/>
                      </a:cubicBezTo>
                      <a:cubicBezTo>
                        <a:pt x="102" y="192"/>
                        <a:pt x="106" y="188"/>
                        <a:pt x="106" y="182"/>
                      </a:cubicBezTo>
                      <a:cubicBezTo>
                        <a:pt x="106" y="171"/>
                        <a:pt x="106" y="171"/>
                        <a:pt x="106" y="171"/>
                      </a:cubicBezTo>
                      <a:cubicBezTo>
                        <a:pt x="213" y="171"/>
                        <a:pt x="213" y="171"/>
                        <a:pt x="213" y="171"/>
                      </a:cubicBezTo>
                      <a:cubicBezTo>
                        <a:pt x="213" y="182"/>
                        <a:pt x="213" y="182"/>
                        <a:pt x="213" y="182"/>
                      </a:cubicBezTo>
                      <a:cubicBezTo>
                        <a:pt x="213" y="188"/>
                        <a:pt x="218" y="192"/>
                        <a:pt x="224" y="192"/>
                      </a:cubicBezTo>
                      <a:cubicBezTo>
                        <a:pt x="230" y="192"/>
                        <a:pt x="234" y="188"/>
                        <a:pt x="234" y="182"/>
                      </a:cubicBezTo>
                      <a:cubicBezTo>
                        <a:pt x="234" y="171"/>
                        <a:pt x="234" y="171"/>
                        <a:pt x="234" y="171"/>
                      </a:cubicBezTo>
                      <a:cubicBezTo>
                        <a:pt x="277" y="171"/>
                        <a:pt x="277" y="171"/>
                        <a:pt x="277" y="171"/>
                      </a:cubicBezTo>
                      <a:lnTo>
                        <a:pt x="277" y="256"/>
                      </a:lnTo>
                      <a:close/>
                      <a:moveTo>
                        <a:pt x="298" y="150"/>
                      </a:moveTo>
                      <a:cubicBezTo>
                        <a:pt x="234" y="150"/>
                        <a:pt x="234" y="150"/>
                        <a:pt x="234" y="150"/>
                      </a:cubicBezTo>
                      <a:cubicBezTo>
                        <a:pt x="234" y="139"/>
                        <a:pt x="234" y="139"/>
                        <a:pt x="234" y="139"/>
                      </a:cubicBezTo>
                      <a:cubicBezTo>
                        <a:pt x="234" y="133"/>
                        <a:pt x="230" y="128"/>
                        <a:pt x="224" y="128"/>
                      </a:cubicBezTo>
                      <a:cubicBezTo>
                        <a:pt x="218" y="128"/>
                        <a:pt x="213" y="133"/>
                        <a:pt x="213" y="139"/>
                      </a:cubicBezTo>
                      <a:cubicBezTo>
                        <a:pt x="213" y="150"/>
                        <a:pt x="213" y="150"/>
                        <a:pt x="213" y="150"/>
                      </a:cubicBezTo>
                      <a:cubicBezTo>
                        <a:pt x="106" y="150"/>
                        <a:pt x="106" y="150"/>
                        <a:pt x="106" y="150"/>
                      </a:cubicBezTo>
                      <a:cubicBezTo>
                        <a:pt x="106" y="139"/>
                        <a:pt x="106" y="139"/>
                        <a:pt x="106" y="139"/>
                      </a:cubicBezTo>
                      <a:cubicBezTo>
                        <a:pt x="106" y="133"/>
                        <a:pt x="102" y="128"/>
                        <a:pt x="96" y="128"/>
                      </a:cubicBezTo>
                      <a:cubicBezTo>
                        <a:pt x="90" y="128"/>
                        <a:pt x="85" y="133"/>
                        <a:pt x="85" y="139"/>
                      </a:cubicBezTo>
                      <a:cubicBezTo>
                        <a:pt x="85" y="150"/>
                        <a:pt x="85" y="150"/>
                        <a:pt x="85" y="150"/>
                      </a:cubicBezTo>
                      <a:cubicBezTo>
                        <a:pt x="21" y="150"/>
                        <a:pt x="21" y="150"/>
                        <a:pt x="21" y="150"/>
                      </a:cubicBezTo>
                      <a:cubicBezTo>
                        <a:pt x="21" y="64"/>
                        <a:pt x="21" y="64"/>
                        <a:pt x="21" y="64"/>
                      </a:cubicBezTo>
                      <a:cubicBezTo>
                        <a:pt x="298" y="64"/>
                        <a:pt x="298" y="64"/>
                        <a:pt x="298" y="64"/>
                      </a:cubicBezTo>
                      <a:lnTo>
                        <a:pt x="298" y="15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black"/>
                    </a:solidFill>
                    <a:effectLst/>
                    <a:uLnTx/>
                    <a:uFillTx/>
                    <a:ea typeface="+mn-ea"/>
                    <a:cs typeface="+mn-cs"/>
                  </a:endParaRPr>
                </a:p>
              </p:txBody>
            </p:sp>
            <p:sp>
              <p:nvSpPr>
                <p:cNvPr id="383" name="Freeform 779">
                  <a:extLst>
                    <a:ext uri="{FF2B5EF4-FFF2-40B4-BE49-F238E27FC236}">
                      <a16:creationId xmlns:a16="http://schemas.microsoft.com/office/drawing/2014/main" id="{A7FA3793-8477-2DF3-7B23-AC3F86D66D07}"/>
                    </a:ext>
                  </a:extLst>
                </p:cNvPr>
                <p:cNvSpPr>
                  <a:spLocks noEditPoints="1"/>
                </p:cNvSpPr>
                <p:nvPr/>
              </p:nvSpPr>
              <p:spPr bwMode="auto">
                <a:xfrm>
                  <a:off x="5818" y="3070"/>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black"/>
                    </a:solidFill>
                    <a:effectLst/>
                    <a:uLnTx/>
                    <a:uFillTx/>
                    <a:ea typeface="+mn-ea"/>
                    <a:cs typeface="+mn-cs"/>
                  </a:endParaRPr>
                </a:p>
              </p:txBody>
            </p:sp>
          </p:grpSp>
        </p:grpSp>
        <p:sp>
          <p:nvSpPr>
            <p:cNvPr id="416" name="Isosceles Triangle 415">
              <a:extLst>
                <a:ext uri="{FF2B5EF4-FFF2-40B4-BE49-F238E27FC236}">
                  <a16:creationId xmlns:a16="http://schemas.microsoft.com/office/drawing/2014/main" id="{0771EFE2-1360-545D-A248-04D55979E31C}"/>
                </a:ext>
              </a:extLst>
            </p:cNvPr>
            <p:cNvSpPr/>
            <p:nvPr/>
          </p:nvSpPr>
          <p:spPr>
            <a:xfrm flipV="1">
              <a:off x="2235922" y="4733201"/>
              <a:ext cx="7289145" cy="129547"/>
            </a:xfrm>
            <a:prstGeom prst="triangle">
              <a:avLst>
                <a:gd name="adj" fmla="val 50000"/>
              </a:avLst>
            </a:prstGeom>
            <a:gradFill flip="none" rotWithShape="1">
              <a:gsLst>
                <a:gs pos="0">
                  <a:schemeClr val="bg1"/>
                </a:gs>
                <a:gs pos="31000">
                  <a:schemeClr val="bg1">
                    <a:lumMod val="95000"/>
                  </a:schemeClr>
                </a:gs>
                <a:gs pos="64000">
                  <a:schemeClr val="bg1">
                    <a:lumMod val="85000"/>
                  </a:schemeClr>
                </a:gs>
                <a:gs pos="98000">
                  <a:schemeClr val="bg1">
                    <a:lumMod val="7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424" name="Text 6">
              <a:extLst>
                <a:ext uri="{FF2B5EF4-FFF2-40B4-BE49-F238E27FC236}">
                  <a16:creationId xmlns:a16="http://schemas.microsoft.com/office/drawing/2014/main" id="{F588823B-C790-B1F5-B678-7B194A6FC881}"/>
                </a:ext>
              </a:extLst>
            </p:cNvPr>
            <p:cNvSpPr/>
            <p:nvPr/>
          </p:nvSpPr>
          <p:spPr>
            <a:xfrm>
              <a:off x="2546205" y="3649942"/>
              <a:ext cx="2301102" cy="512064"/>
            </a:xfrm>
            <a:prstGeom prst="rect">
              <a:avLst/>
            </a:prstGeom>
            <a:noFill/>
            <a:ln/>
          </p:spPr>
          <p:txBody>
            <a:bodyPr wrap="square" lIns="0" tIns="0" rIns="0" bIns="0" rtlCol="0" anchor="t"/>
            <a:lstStyle/>
            <a:p>
              <a:pPr marL="0" indent="0" algn="r">
                <a:lnSpc>
                  <a:spcPct val="92000"/>
                </a:lnSpc>
                <a:buNone/>
              </a:pPr>
              <a:r>
                <a:rPr lang="en-US" sz="800" b="1">
                  <a:solidFill>
                    <a:srgbClr val="002068"/>
                  </a:solidFill>
                  <a:ea typeface="Arial" pitchFamily="34" charset="-122"/>
                  <a:cs typeface="Arial" pitchFamily="34" charset="-120"/>
                </a:rPr>
                <a:t>Narrowing tax</a:t>
              </a:r>
              <a:endParaRPr lang="en-US" sz="800"/>
            </a:p>
            <a:p>
              <a:pPr algn="r">
                <a:lnSpc>
                  <a:spcPct val="92000"/>
                </a:lnSpc>
              </a:pPr>
              <a:r>
                <a:rPr lang="en-US" sz="800" b="1">
                  <a:solidFill>
                    <a:srgbClr val="002068"/>
                  </a:solidFill>
                  <a:ea typeface="Arial" pitchFamily="34" charset="-122"/>
                  <a:cs typeface="Arial" pitchFamily="34" charset="-120"/>
                </a:rPr>
                <a:t>Autonomy: </a:t>
              </a:r>
              <a:r>
                <a:rPr lang="en-US" sz="800">
                  <a:solidFill>
                    <a:srgbClr val="53565A"/>
                  </a:solidFill>
                  <a:ea typeface="Calibri" pitchFamily="34" charset="-122"/>
                  <a:cs typeface="Calibri" pitchFamily="34" charset="-120"/>
                </a:rPr>
                <a:t>GST removed residual State tax powers; the Compensation </a:t>
              </a:r>
              <a:r>
                <a:rPr lang="en-US" sz="800" err="1">
                  <a:solidFill>
                    <a:srgbClr val="53565A"/>
                  </a:solidFill>
                  <a:ea typeface="Calibri" pitchFamily="34" charset="-122"/>
                  <a:cs typeface="Calibri" pitchFamily="34" charset="-120"/>
                </a:rPr>
                <a:t>Cess</a:t>
              </a:r>
              <a:r>
                <a:rPr lang="en-US" sz="800">
                  <a:solidFill>
                    <a:srgbClr val="53565A"/>
                  </a:solidFill>
                  <a:ea typeface="Calibri" pitchFamily="34" charset="-122"/>
                  <a:cs typeface="Calibri" pitchFamily="34" charset="-120"/>
                </a:rPr>
                <a:t> has been phased out.</a:t>
              </a:r>
              <a:endParaRPr lang="en-US" sz="800"/>
            </a:p>
            <a:p>
              <a:pPr marL="0" indent="0" algn="r">
                <a:lnSpc>
                  <a:spcPct val="92000"/>
                </a:lnSpc>
                <a:buNone/>
              </a:pPr>
              <a:endParaRPr lang="en-US" sz="800"/>
            </a:p>
          </p:txBody>
        </p:sp>
        <p:sp>
          <p:nvSpPr>
            <p:cNvPr id="425" name="Text 6">
              <a:extLst>
                <a:ext uri="{FF2B5EF4-FFF2-40B4-BE49-F238E27FC236}">
                  <a16:creationId xmlns:a16="http://schemas.microsoft.com/office/drawing/2014/main" id="{D4769D37-AD33-32DF-7E44-615139AA88F4}"/>
                </a:ext>
              </a:extLst>
            </p:cNvPr>
            <p:cNvSpPr/>
            <p:nvPr/>
          </p:nvSpPr>
          <p:spPr>
            <a:xfrm>
              <a:off x="3336683" y="2142537"/>
              <a:ext cx="1987629" cy="512064"/>
            </a:xfrm>
            <a:prstGeom prst="rect">
              <a:avLst/>
            </a:prstGeom>
            <a:noFill/>
            <a:ln/>
          </p:spPr>
          <p:txBody>
            <a:bodyPr wrap="square" lIns="0" tIns="0" rIns="0" bIns="0" rtlCol="0" anchor="t"/>
            <a:lstStyle/>
            <a:p>
              <a:pPr marL="0" indent="0" algn="r">
                <a:lnSpc>
                  <a:spcPct val="92000"/>
                </a:lnSpc>
                <a:buNone/>
              </a:pPr>
              <a:r>
                <a:rPr lang="en-US" sz="800" b="1">
                  <a:solidFill>
                    <a:srgbClr val="002068"/>
                  </a:solidFill>
                  <a:ea typeface="Arial" pitchFamily="34" charset="-122"/>
                  <a:cs typeface="Arial" pitchFamily="34" charset="-120"/>
                </a:rPr>
                <a:t>Subsidies expand</a:t>
              </a:r>
            </a:p>
            <a:p>
              <a:pPr marL="0" indent="0" algn="r">
                <a:lnSpc>
                  <a:spcPct val="92000"/>
                </a:lnSpc>
                <a:buNone/>
              </a:pPr>
              <a:r>
                <a:rPr lang="en-US" sz="800" b="1">
                  <a:solidFill>
                    <a:srgbClr val="002068"/>
                  </a:solidFill>
                  <a:ea typeface="Arial" pitchFamily="34" charset="-122"/>
                  <a:cs typeface="Arial" pitchFamily="34" charset="-120"/>
                </a:rPr>
                <a:t>and change shape</a:t>
              </a:r>
            </a:p>
            <a:p>
              <a:pPr algn="r">
                <a:lnSpc>
                  <a:spcPct val="92000"/>
                </a:lnSpc>
              </a:pPr>
              <a:r>
                <a:rPr lang="en-US" sz="800" b="1">
                  <a:solidFill>
                    <a:srgbClr val="002068"/>
                  </a:solidFill>
                  <a:ea typeface="Arial" pitchFamily="34" charset="-122"/>
                  <a:cs typeface="Arial" pitchFamily="34" charset="-120"/>
                </a:rPr>
                <a:t>: </a:t>
              </a:r>
              <a:r>
                <a:rPr lang="en-US" sz="800">
                  <a:solidFill>
                    <a:srgbClr val="53565A"/>
                  </a:solidFill>
                  <a:ea typeface="Calibri" pitchFamily="34" charset="-122"/>
                  <a:cs typeface="Calibri" pitchFamily="34" charset="-120"/>
                </a:rPr>
                <a:t>Cash transfers move from ~3% to ~20% of total subsidies; ₹73,099 </a:t>
              </a:r>
              <a:r>
                <a:rPr lang="en-US" sz="800" err="1">
                  <a:solidFill>
                    <a:srgbClr val="53565A"/>
                  </a:solidFill>
                  <a:ea typeface="Calibri" pitchFamily="34" charset="-122"/>
                  <a:cs typeface="Calibri" pitchFamily="34" charset="-120"/>
                </a:rPr>
                <a:t>cr</a:t>
              </a:r>
              <a:r>
                <a:rPr lang="en-US" sz="800">
                  <a:solidFill>
                    <a:srgbClr val="53565A"/>
                  </a:solidFill>
                  <a:ea typeface="Calibri" pitchFamily="34" charset="-122"/>
                  <a:cs typeface="Calibri" pitchFamily="34" charset="-120"/>
                </a:rPr>
                <a:t> becomes ₹2.63 lakh crore.</a:t>
              </a:r>
            </a:p>
            <a:p>
              <a:pPr algn="r">
                <a:lnSpc>
                  <a:spcPct val="92000"/>
                </a:lnSpc>
              </a:pPr>
              <a:r>
                <a:rPr lang="en-US" sz="800">
                  <a:solidFill>
                    <a:srgbClr val="53565A"/>
                  </a:solidFill>
                  <a:ea typeface="Calibri" pitchFamily="34" charset="-122"/>
                  <a:cs typeface="Calibri" pitchFamily="34" charset="-120"/>
                </a:rPr>
                <a:t>.</a:t>
              </a:r>
              <a:endParaRPr lang="en-US" sz="800"/>
            </a:p>
            <a:p>
              <a:pPr marL="0" indent="0" algn="r">
                <a:lnSpc>
                  <a:spcPct val="92000"/>
                </a:lnSpc>
                <a:buNone/>
              </a:pPr>
              <a:endParaRPr lang="en-US" sz="800"/>
            </a:p>
          </p:txBody>
        </p:sp>
        <p:sp>
          <p:nvSpPr>
            <p:cNvPr id="426" name="Text 6">
              <a:extLst>
                <a:ext uri="{FF2B5EF4-FFF2-40B4-BE49-F238E27FC236}">
                  <a16:creationId xmlns:a16="http://schemas.microsoft.com/office/drawing/2014/main" id="{BBB2B8C6-EC9E-2F6B-0206-38010A5ED757}"/>
                </a:ext>
              </a:extLst>
            </p:cNvPr>
            <p:cNvSpPr/>
            <p:nvPr/>
          </p:nvSpPr>
          <p:spPr>
            <a:xfrm>
              <a:off x="2904173" y="2890195"/>
              <a:ext cx="1987629" cy="512064"/>
            </a:xfrm>
            <a:prstGeom prst="rect">
              <a:avLst/>
            </a:prstGeom>
            <a:noFill/>
            <a:ln/>
          </p:spPr>
          <p:txBody>
            <a:bodyPr wrap="square" lIns="0" tIns="0" rIns="0" bIns="0" rtlCol="0" anchor="t"/>
            <a:lstStyle/>
            <a:p>
              <a:pPr marL="0" indent="0" algn="r">
                <a:lnSpc>
                  <a:spcPct val="92000"/>
                </a:lnSpc>
                <a:buNone/>
              </a:pPr>
              <a:r>
                <a:rPr lang="en-US" sz="800" b="1">
                  <a:solidFill>
                    <a:srgbClr val="002068"/>
                  </a:solidFill>
                  <a:ea typeface="Arial" pitchFamily="34" charset="-122"/>
                  <a:cs typeface="Arial" pitchFamily="34" charset="-120"/>
                </a:rPr>
                <a:t>Committed</a:t>
              </a:r>
            </a:p>
            <a:p>
              <a:pPr marL="0" indent="0" algn="r">
                <a:lnSpc>
                  <a:spcPct val="92000"/>
                </a:lnSpc>
                <a:buNone/>
              </a:pPr>
              <a:r>
                <a:rPr lang="en-US" sz="800" b="1">
                  <a:solidFill>
                    <a:srgbClr val="002068"/>
                  </a:solidFill>
                  <a:ea typeface="Arial" pitchFamily="34" charset="-122"/>
                  <a:cs typeface="Arial" pitchFamily="34" charset="-120"/>
                </a:rPr>
                <a:t>expenditure locks in: </a:t>
              </a:r>
              <a:r>
                <a:rPr lang="en-US" sz="800">
                  <a:solidFill>
                    <a:srgbClr val="53565A"/>
                  </a:solidFill>
                  <a:ea typeface="Calibri" pitchFamily="34" charset="-122"/>
                  <a:cs typeface="Calibri" pitchFamily="34" charset="-120"/>
                </a:rPr>
                <a:t>Salaries, pensions and interest absorb a large share of receipts -~9% of GSDP, compounding 7-10% a year</a:t>
              </a:r>
              <a:endParaRPr lang="en-US" sz="800"/>
            </a:p>
          </p:txBody>
        </p:sp>
        <p:sp>
          <p:nvSpPr>
            <p:cNvPr id="427" name="Text 6">
              <a:extLst>
                <a:ext uri="{FF2B5EF4-FFF2-40B4-BE49-F238E27FC236}">
                  <a16:creationId xmlns:a16="http://schemas.microsoft.com/office/drawing/2014/main" id="{922D5D79-A91A-3138-C850-C27ECC88D8D8}"/>
                </a:ext>
              </a:extLst>
            </p:cNvPr>
            <p:cNvSpPr/>
            <p:nvPr/>
          </p:nvSpPr>
          <p:spPr>
            <a:xfrm>
              <a:off x="6761071" y="2144959"/>
              <a:ext cx="2129132" cy="512064"/>
            </a:xfrm>
            <a:prstGeom prst="rect">
              <a:avLst/>
            </a:prstGeom>
            <a:noFill/>
            <a:ln/>
          </p:spPr>
          <p:txBody>
            <a:bodyPr wrap="square" lIns="0" tIns="0" rIns="0" bIns="0" rtlCol="0" anchor="t"/>
            <a:lstStyle/>
            <a:p>
              <a:pPr marL="0" indent="0">
                <a:lnSpc>
                  <a:spcPct val="92000"/>
                </a:lnSpc>
                <a:buNone/>
              </a:pPr>
              <a:r>
                <a:rPr lang="en-US" sz="800" b="1">
                  <a:solidFill>
                    <a:srgbClr val="002068"/>
                  </a:solidFill>
                  <a:ea typeface="Arial" pitchFamily="34" charset="-122"/>
                  <a:cs typeface="Arial" pitchFamily="34" charset="-120"/>
                </a:rPr>
                <a:t>Financing moves</a:t>
              </a:r>
            </a:p>
            <a:p>
              <a:pPr marL="0" indent="0">
                <a:lnSpc>
                  <a:spcPct val="92000"/>
                </a:lnSpc>
                <a:buNone/>
              </a:pPr>
              <a:r>
                <a:rPr lang="en-US" sz="800" b="1">
                  <a:solidFill>
                    <a:srgbClr val="002068"/>
                  </a:solidFill>
                  <a:ea typeface="Arial" pitchFamily="34" charset="-122"/>
                  <a:cs typeface="Arial" pitchFamily="34" charset="-120"/>
                </a:rPr>
                <a:t>off the books</a:t>
              </a:r>
            </a:p>
            <a:p>
              <a:pPr>
                <a:lnSpc>
                  <a:spcPct val="92000"/>
                </a:lnSpc>
              </a:pPr>
              <a:r>
                <a:rPr lang="en-US" sz="800">
                  <a:solidFill>
                    <a:srgbClr val="53565A"/>
                  </a:solidFill>
                  <a:ea typeface="Calibri" pitchFamily="34" charset="-122"/>
                  <a:cs typeface="Calibri" pitchFamily="34" charset="-120"/>
                </a:rPr>
                <a:t>Off-budget borrowing, PD-account routing, deferred reimbursement and discom arrears.</a:t>
              </a:r>
            </a:p>
            <a:p>
              <a:pPr marL="0" indent="0">
                <a:lnSpc>
                  <a:spcPct val="92000"/>
                </a:lnSpc>
                <a:buNone/>
              </a:pPr>
              <a:endParaRPr lang="en-US" sz="800"/>
            </a:p>
          </p:txBody>
        </p:sp>
        <p:sp>
          <p:nvSpPr>
            <p:cNvPr id="428" name="Text 6">
              <a:extLst>
                <a:ext uri="{FF2B5EF4-FFF2-40B4-BE49-F238E27FC236}">
                  <a16:creationId xmlns:a16="http://schemas.microsoft.com/office/drawing/2014/main" id="{93FED581-2E0B-275F-FED7-813B05C0F853}"/>
                </a:ext>
              </a:extLst>
            </p:cNvPr>
            <p:cNvSpPr/>
            <p:nvPr/>
          </p:nvSpPr>
          <p:spPr>
            <a:xfrm>
              <a:off x="7236010" y="2938726"/>
              <a:ext cx="2315802" cy="512064"/>
            </a:xfrm>
            <a:prstGeom prst="rect">
              <a:avLst/>
            </a:prstGeom>
            <a:noFill/>
            <a:ln/>
          </p:spPr>
          <p:txBody>
            <a:bodyPr wrap="square" lIns="0" tIns="0" rIns="0" bIns="0" rtlCol="0" anchor="t"/>
            <a:lstStyle/>
            <a:p>
              <a:pPr marL="0" indent="0">
                <a:lnSpc>
                  <a:spcPct val="92000"/>
                </a:lnSpc>
                <a:buNone/>
              </a:pPr>
              <a:r>
                <a:rPr lang="en-US" sz="800" b="1">
                  <a:solidFill>
                    <a:srgbClr val="002068"/>
                  </a:solidFill>
                  <a:ea typeface="Arial" pitchFamily="34" charset="-122"/>
                  <a:cs typeface="Arial" pitchFamily="34" charset="-120"/>
                </a:rPr>
                <a:t>Capital spending</a:t>
              </a:r>
            </a:p>
            <a:p>
              <a:pPr marL="0" indent="0">
                <a:lnSpc>
                  <a:spcPct val="92000"/>
                </a:lnSpc>
                <a:buNone/>
              </a:pPr>
              <a:r>
                <a:rPr lang="en-US" sz="800" b="1">
                  <a:solidFill>
                    <a:srgbClr val="002068"/>
                  </a:solidFill>
                  <a:ea typeface="Arial" pitchFamily="34" charset="-122"/>
                  <a:cs typeface="Arial" pitchFamily="34" charset="-120"/>
                </a:rPr>
                <a:t>is crowded out</a:t>
              </a:r>
            </a:p>
            <a:p>
              <a:pPr>
                <a:lnSpc>
                  <a:spcPct val="92000"/>
                </a:lnSpc>
              </a:pPr>
              <a:r>
                <a:rPr lang="en-US" sz="800" b="1">
                  <a:solidFill>
                    <a:srgbClr val="002068"/>
                  </a:solidFill>
                  <a:ea typeface="Arial" pitchFamily="34" charset="-122"/>
                  <a:cs typeface="Arial" pitchFamily="34" charset="-120"/>
                </a:rPr>
                <a:t>: </a:t>
              </a:r>
              <a:r>
                <a:rPr lang="en-US" sz="800">
                  <a:solidFill>
                    <a:srgbClr val="53565A"/>
                  </a:solidFill>
                  <a:ea typeface="Calibri" pitchFamily="34" charset="-122"/>
                  <a:cs typeface="Calibri" pitchFamily="34" charset="-120"/>
                </a:rPr>
                <a:t>Capex compressed to 1-3% of GSDP for most States — the adjustment of least resistance.</a:t>
              </a:r>
            </a:p>
            <a:p>
              <a:pPr marL="0" indent="0">
                <a:lnSpc>
                  <a:spcPct val="92000"/>
                </a:lnSpc>
                <a:buNone/>
              </a:pPr>
              <a:endParaRPr lang="en-US" sz="800"/>
            </a:p>
          </p:txBody>
        </p:sp>
        <p:sp>
          <p:nvSpPr>
            <p:cNvPr id="429" name="Text 6">
              <a:extLst>
                <a:ext uri="{FF2B5EF4-FFF2-40B4-BE49-F238E27FC236}">
                  <a16:creationId xmlns:a16="http://schemas.microsoft.com/office/drawing/2014/main" id="{352020F0-968C-307A-99F1-B1C02732DD35}"/>
                </a:ext>
              </a:extLst>
            </p:cNvPr>
            <p:cNvSpPr/>
            <p:nvPr/>
          </p:nvSpPr>
          <p:spPr>
            <a:xfrm>
              <a:off x="7275170" y="3675583"/>
              <a:ext cx="2377031" cy="512064"/>
            </a:xfrm>
            <a:prstGeom prst="rect">
              <a:avLst/>
            </a:prstGeom>
            <a:noFill/>
            <a:ln/>
          </p:spPr>
          <p:txBody>
            <a:bodyPr wrap="square" lIns="0" tIns="0" rIns="0" bIns="0" rtlCol="0" anchor="t"/>
            <a:lstStyle/>
            <a:p>
              <a:pPr marL="0" indent="0">
                <a:lnSpc>
                  <a:spcPct val="92000"/>
                </a:lnSpc>
                <a:buNone/>
              </a:pPr>
              <a:r>
                <a:rPr lang="en-US" sz="800" b="1">
                  <a:solidFill>
                    <a:srgbClr val="002068"/>
                  </a:solidFill>
                  <a:ea typeface="Arial" pitchFamily="34" charset="-122"/>
                  <a:cs typeface="Arial" pitchFamily="34" charset="-120"/>
                </a:rPr>
                <a:t>Debt breaches</a:t>
              </a:r>
            </a:p>
            <a:p>
              <a:pPr marL="0" indent="0">
                <a:lnSpc>
                  <a:spcPct val="92000"/>
                </a:lnSpc>
                <a:buNone/>
              </a:pPr>
              <a:r>
                <a:rPr lang="en-US" sz="800" b="1">
                  <a:solidFill>
                    <a:srgbClr val="002068"/>
                  </a:solidFill>
                  <a:ea typeface="Arial" pitchFamily="34" charset="-122"/>
                  <a:cs typeface="Arial" pitchFamily="34" charset="-120"/>
                </a:rPr>
                <a:t>prudential limits</a:t>
              </a:r>
            </a:p>
            <a:p>
              <a:pPr>
                <a:lnSpc>
                  <a:spcPct val="92000"/>
                </a:lnSpc>
              </a:pPr>
              <a:r>
                <a:rPr lang="en-US" sz="800" b="1">
                  <a:solidFill>
                    <a:srgbClr val="002068"/>
                  </a:solidFill>
                  <a:ea typeface="Arial" pitchFamily="34" charset="-122"/>
                  <a:cs typeface="Arial" pitchFamily="34" charset="-120"/>
                </a:rPr>
                <a:t>: </a:t>
              </a:r>
              <a:r>
                <a:rPr lang="en-US" sz="800">
                  <a:solidFill>
                    <a:srgbClr val="53565A"/>
                  </a:solidFill>
                  <a:ea typeface="Calibri" pitchFamily="34" charset="-122"/>
                  <a:cs typeface="Calibri" pitchFamily="34" charset="-120"/>
                </a:rPr>
                <a:t>Debt-to-GSDP past FRBM targets in several States; the cost shifts to future budgets</a:t>
              </a:r>
              <a:endParaRPr lang="en-US" sz="800"/>
            </a:p>
          </p:txBody>
        </p:sp>
        <p:grpSp>
          <p:nvGrpSpPr>
            <p:cNvPr id="435" name="Group 434">
              <a:extLst>
                <a:ext uri="{FF2B5EF4-FFF2-40B4-BE49-F238E27FC236}">
                  <a16:creationId xmlns:a16="http://schemas.microsoft.com/office/drawing/2014/main" id="{7FCDEE81-5151-54EA-7D75-43D2F647D844}"/>
                </a:ext>
              </a:extLst>
            </p:cNvPr>
            <p:cNvGrpSpPr/>
            <p:nvPr/>
          </p:nvGrpSpPr>
          <p:grpSpPr>
            <a:xfrm>
              <a:off x="178204" y="4830219"/>
              <a:ext cx="12013796" cy="1776579"/>
              <a:chOff x="1481" y="4390266"/>
              <a:chExt cx="12013796" cy="1776579"/>
            </a:xfrm>
          </p:grpSpPr>
          <p:sp>
            <p:nvSpPr>
              <p:cNvPr id="3" name="Rounded Rectangle 9">
                <a:extLst>
                  <a:ext uri="{FF2B5EF4-FFF2-40B4-BE49-F238E27FC236}">
                    <a16:creationId xmlns:a16="http://schemas.microsoft.com/office/drawing/2014/main" id="{04C4DA31-6EF1-0276-5082-9736BBB38501}"/>
                  </a:ext>
                </a:extLst>
              </p:cNvPr>
              <p:cNvSpPr/>
              <p:nvPr/>
            </p:nvSpPr>
            <p:spPr bwMode="gray">
              <a:xfrm>
                <a:off x="1481" y="4545163"/>
                <a:ext cx="12013796" cy="1621682"/>
              </a:xfrm>
              <a:prstGeom prst="roundRect">
                <a:avLst>
                  <a:gd name="adj" fmla="val 7921"/>
                </a:avLst>
              </a:prstGeom>
              <a:noFill/>
              <a:ln w="19050" algn="ctr">
                <a:solidFill>
                  <a:srgbClr val="75787B"/>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ea typeface="+mn-ea"/>
                  <a:cs typeface="+mn-cs"/>
                </a:endParaRPr>
              </a:p>
            </p:txBody>
          </p:sp>
          <p:sp>
            <p:nvSpPr>
              <p:cNvPr id="11" name="TextBox 10">
                <a:extLst>
                  <a:ext uri="{FF2B5EF4-FFF2-40B4-BE49-F238E27FC236}">
                    <a16:creationId xmlns:a16="http://schemas.microsoft.com/office/drawing/2014/main" id="{1F719F55-D954-0441-CB05-83A79028B602}"/>
                  </a:ext>
                </a:extLst>
              </p:cNvPr>
              <p:cNvSpPr txBox="1"/>
              <p:nvPr/>
            </p:nvSpPr>
            <p:spPr>
              <a:xfrm>
                <a:off x="2324841" y="4390266"/>
                <a:ext cx="7050248" cy="30777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ea typeface="Open Sans" panose="020B0606030504020204" pitchFamily="34" charset="0"/>
                    <a:cs typeface="Open Sans" panose="020B0606030504020204" pitchFamily="34" charset="0"/>
                  </a:rPr>
                  <a:t>Shrinking fiscal space further, and </a:t>
                </a:r>
                <a:r>
                  <a:rPr kumimoji="0" lang="en-US" sz="1400" b="1" i="0" u="none" strike="noStrike" kern="0" cap="none" spc="0" normalizeH="0" baseline="0" noProof="0" err="1">
                    <a:ln>
                      <a:noFill/>
                    </a:ln>
                    <a:solidFill>
                      <a:prstClr val="black"/>
                    </a:solidFill>
                    <a:effectLst/>
                    <a:uLnTx/>
                    <a:uFillTx/>
                    <a:ea typeface="Open Sans" panose="020B0606030504020204" pitchFamily="34" charset="0"/>
                    <a:cs typeface="Open Sans" panose="020B0606030504020204" pitchFamily="34" charset="0"/>
                  </a:rPr>
                  <a:t>th</a:t>
                </a:r>
                <a:r>
                  <a:rPr lang="en-US" sz="1400" b="1" kern="0">
                    <a:solidFill>
                      <a:prstClr val="black"/>
                    </a:solidFill>
                    <a:ea typeface="Open Sans" panose="020B0606030504020204" pitchFamily="34" charset="0"/>
                    <a:cs typeface="Open Sans" panose="020B0606030504020204" pitchFamily="34" charset="0"/>
                  </a:rPr>
                  <a:t>e loop tightens</a:t>
                </a:r>
                <a:endParaRPr kumimoji="0" lang="en-IN" sz="1400" b="1" i="0" u="none" strike="noStrike" kern="0" cap="none" spc="0" normalizeH="0" baseline="0" noProof="0">
                  <a:ln>
                    <a:noFill/>
                  </a:ln>
                  <a:solidFill>
                    <a:prstClr val="black"/>
                  </a:solidFill>
                  <a:effectLst/>
                  <a:uLnTx/>
                  <a:uFillTx/>
                  <a:ea typeface="Open Sans" panose="020B0606030504020204" pitchFamily="34" charset="0"/>
                  <a:cs typeface="Open Sans" panose="020B0606030504020204" pitchFamily="34" charset="0"/>
                </a:endParaRPr>
              </a:p>
            </p:txBody>
          </p:sp>
          <p:grpSp>
            <p:nvGrpSpPr>
              <p:cNvPr id="15" name="Group 14">
                <a:extLst>
                  <a:ext uri="{FF2B5EF4-FFF2-40B4-BE49-F238E27FC236}">
                    <a16:creationId xmlns:a16="http://schemas.microsoft.com/office/drawing/2014/main" id="{C2DA777D-A102-9112-B463-3C911FA2C2C3}"/>
                  </a:ext>
                </a:extLst>
              </p:cNvPr>
              <p:cNvGrpSpPr/>
              <p:nvPr/>
            </p:nvGrpSpPr>
            <p:grpSpPr>
              <a:xfrm>
                <a:off x="1569046" y="4619987"/>
                <a:ext cx="8825445" cy="858320"/>
                <a:chOff x="1605434" y="5309358"/>
                <a:chExt cx="8825445" cy="858320"/>
              </a:xfrm>
            </p:grpSpPr>
            <p:sp>
              <p:nvSpPr>
                <p:cNvPr id="16" name="Freeform 36">
                  <a:extLst>
                    <a:ext uri="{FF2B5EF4-FFF2-40B4-BE49-F238E27FC236}">
                      <a16:creationId xmlns:a16="http://schemas.microsoft.com/office/drawing/2014/main" id="{B4DD2125-4AE6-1115-574F-19911DFA95A4}"/>
                    </a:ext>
                  </a:extLst>
                </p:cNvPr>
                <p:cNvSpPr>
                  <a:spLocks/>
                </p:cNvSpPr>
                <p:nvPr/>
              </p:nvSpPr>
              <p:spPr bwMode="auto">
                <a:xfrm rot="10800000">
                  <a:off x="3891510" y="5309358"/>
                  <a:ext cx="352211" cy="858320"/>
                </a:xfrm>
                <a:custGeom>
                  <a:avLst/>
                  <a:gdLst>
                    <a:gd name="T0" fmla="*/ 113 w 143"/>
                    <a:gd name="T1" fmla="*/ 112 h 480"/>
                    <a:gd name="T2" fmla="*/ 143 w 143"/>
                    <a:gd name="T3" fmla="*/ 112 h 480"/>
                    <a:gd name="T4" fmla="*/ 72 w 143"/>
                    <a:gd name="T5" fmla="*/ 0 h 480"/>
                    <a:gd name="T6" fmla="*/ 0 w 143"/>
                    <a:gd name="T7" fmla="*/ 112 h 480"/>
                    <a:gd name="T8" fmla="*/ 30 w 143"/>
                    <a:gd name="T9" fmla="*/ 112 h 480"/>
                    <a:gd name="T10" fmla="*/ 72 w 143"/>
                    <a:gd name="T11" fmla="*/ 480 h 480"/>
                    <a:gd name="T12" fmla="*/ 113 w 143"/>
                    <a:gd name="T13" fmla="*/ 112 h 480"/>
                  </a:gdLst>
                  <a:ahLst/>
                  <a:cxnLst>
                    <a:cxn ang="0">
                      <a:pos x="T0" y="T1"/>
                    </a:cxn>
                    <a:cxn ang="0">
                      <a:pos x="T2" y="T3"/>
                    </a:cxn>
                    <a:cxn ang="0">
                      <a:pos x="T4" y="T5"/>
                    </a:cxn>
                    <a:cxn ang="0">
                      <a:pos x="T6" y="T7"/>
                    </a:cxn>
                    <a:cxn ang="0">
                      <a:pos x="T8" y="T9"/>
                    </a:cxn>
                    <a:cxn ang="0">
                      <a:pos x="T10" y="T11"/>
                    </a:cxn>
                    <a:cxn ang="0">
                      <a:pos x="T12" y="T13"/>
                    </a:cxn>
                  </a:cxnLst>
                  <a:rect l="0" t="0" r="r" b="b"/>
                  <a:pathLst>
                    <a:path w="143" h="480">
                      <a:moveTo>
                        <a:pt x="113" y="112"/>
                      </a:moveTo>
                      <a:lnTo>
                        <a:pt x="143" y="112"/>
                      </a:lnTo>
                      <a:lnTo>
                        <a:pt x="72" y="0"/>
                      </a:lnTo>
                      <a:lnTo>
                        <a:pt x="0" y="112"/>
                      </a:lnTo>
                      <a:lnTo>
                        <a:pt x="30" y="112"/>
                      </a:lnTo>
                      <a:lnTo>
                        <a:pt x="72" y="480"/>
                      </a:lnTo>
                      <a:lnTo>
                        <a:pt x="113" y="112"/>
                      </a:lnTo>
                      <a:close/>
                    </a:path>
                  </a:pathLst>
                </a:custGeom>
                <a:solidFill>
                  <a:srgbClr val="005587"/>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mn-ea"/>
                    <a:cs typeface="+mn-cs"/>
                  </a:endParaRPr>
                </a:p>
              </p:txBody>
            </p:sp>
            <p:sp>
              <p:nvSpPr>
                <p:cNvPr id="17" name="Freeform 36">
                  <a:extLst>
                    <a:ext uri="{FF2B5EF4-FFF2-40B4-BE49-F238E27FC236}">
                      <a16:creationId xmlns:a16="http://schemas.microsoft.com/office/drawing/2014/main" id="{63B7EF3F-B1D1-530B-87C8-846DBEF210A1}"/>
                    </a:ext>
                  </a:extLst>
                </p:cNvPr>
                <p:cNvSpPr>
                  <a:spLocks/>
                </p:cNvSpPr>
                <p:nvPr/>
              </p:nvSpPr>
              <p:spPr bwMode="auto">
                <a:xfrm rot="10800000">
                  <a:off x="7845814" y="5309358"/>
                  <a:ext cx="352211" cy="858320"/>
                </a:xfrm>
                <a:custGeom>
                  <a:avLst/>
                  <a:gdLst>
                    <a:gd name="T0" fmla="*/ 113 w 143"/>
                    <a:gd name="T1" fmla="*/ 112 h 480"/>
                    <a:gd name="T2" fmla="*/ 143 w 143"/>
                    <a:gd name="T3" fmla="*/ 112 h 480"/>
                    <a:gd name="T4" fmla="*/ 72 w 143"/>
                    <a:gd name="T5" fmla="*/ 0 h 480"/>
                    <a:gd name="T6" fmla="*/ 0 w 143"/>
                    <a:gd name="T7" fmla="*/ 112 h 480"/>
                    <a:gd name="T8" fmla="*/ 30 w 143"/>
                    <a:gd name="T9" fmla="*/ 112 h 480"/>
                    <a:gd name="T10" fmla="*/ 72 w 143"/>
                    <a:gd name="T11" fmla="*/ 480 h 480"/>
                    <a:gd name="T12" fmla="*/ 113 w 143"/>
                    <a:gd name="T13" fmla="*/ 112 h 480"/>
                  </a:gdLst>
                  <a:ahLst/>
                  <a:cxnLst>
                    <a:cxn ang="0">
                      <a:pos x="T0" y="T1"/>
                    </a:cxn>
                    <a:cxn ang="0">
                      <a:pos x="T2" y="T3"/>
                    </a:cxn>
                    <a:cxn ang="0">
                      <a:pos x="T4" y="T5"/>
                    </a:cxn>
                    <a:cxn ang="0">
                      <a:pos x="T6" y="T7"/>
                    </a:cxn>
                    <a:cxn ang="0">
                      <a:pos x="T8" y="T9"/>
                    </a:cxn>
                    <a:cxn ang="0">
                      <a:pos x="T10" y="T11"/>
                    </a:cxn>
                    <a:cxn ang="0">
                      <a:pos x="T12" y="T13"/>
                    </a:cxn>
                  </a:cxnLst>
                  <a:rect l="0" t="0" r="r" b="b"/>
                  <a:pathLst>
                    <a:path w="143" h="480">
                      <a:moveTo>
                        <a:pt x="113" y="112"/>
                      </a:moveTo>
                      <a:lnTo>
                        <a:pt x="143" y="112"/>
                      </a:lnTo>
                      <a:lnTo>
                        <a:pt x="72" y="0"/>
                      </a:lnTo>
                      <a:lnTo>
                        <a:pt x="0" y="112"/>
                      </a:lnTo>
                      <a:lnTo>
                        <a:pt x="30" y="112"/>
                      </a:lnTo>
                      <a:lnTo>
                        <a:pt x="72" y="480"/>
                      </a:lnTo>
                      <a:lnTo>
                        <a:pt x="113" y="112"/>
                      </a:lnTo>
                      <a:close/>
                    </a:path>
                  </a:pathLst>
                </a:custGeom>
                <a:solidFill>
                  <a:srgbClr val="005587"/>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mn-ea"/>
                    <a:cs typeface="+mn-cs"/>
                  </a:endParaRPr>
                </a:p>
              </p:txBody>
            </p:sp>
            <p:sp>
              <p:nvSpPr>
                <p:cNvPr id="18" name="Rectangle 17">
                  <a:extLst>
                    <a:ext uri="{FF2B5EF4-FFF2-40B4-BE49-F238E27FC236}">
                      <a16:creationId xmlns:a16="http://schemas.microsoft.com/office/drawing/2014/main" id="{211B8049-97CB-2DEF-44A9-43FF847C4E26}"/>
                    </a:ext>
                  </a:extLst>
                </p:cNvPr>
                <p:cNvSpPr/>
                <p:nvPr/>
              </p:nvSpPr>
              <p:spPr bwMode="gray">
                <a:xfrm>
                  <a:off x="1605434" y="5573385"/>
                  <a:ext cx="8825445" cy="254435"/>
                </a:xfrm>
                <a:prstGeom prst="rect">
                  <a:avLst/>
                </a:prstGeom>
                <a:solidFill>
                  <a:sysClr val="windowText" lastClr="000000">
                    <a:lumMod val="65000"/>
                    <a:lumOff val="35000"/>
                  </a:sys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1200" b="1" kern="0">
                      <a:solidFill>
                        <a:prstClr val="white"/>
                      </a:solidFill>
                      <a:ea typeface="Verdana" panose="020B0604030504040204" pitchFamily="34" charset="0"/>
                      <a:cs typeface="Times New Roman" panose="02020603050405020304" pitchFamily="18" charset="0"/>
                    </a:rPr>
                    <a:t>W</a:t>
                  </a:r>
                  <a:r>
                    <a:rPr lang="en-IN" sz="1200" b="1" kern="0">
                      <a:solidFill>
                        <a:prstClr val="white"/>
                      </a:solidFill>
                      <a:ea typeface="Verdana" panose="020B0604030504040204" pitchFamily="34" charset="0"/>
                      <a:cs typeface="Times New Roman" panose="02020603050405020304" pitchFamily="18" charset="0"/>
                    </a:rPr>
                    <a:t>here this study intervenes</a:t>
                  </a:r>
                  <a:endParaRPr kumimoji="0" lang="en-IN" sz="1200" b="1" i="0" u="none" strike="noStrike" kern="0" cap="none" spc="0" normalizeH="0" baseline="0" noProof="0">
                    <a:ln>
                      <a:noFill/>
                    </a:ln>
                    <a:solidFill>
                      <a:prstClr val="white"/>
                    </a:solidFill>
                    <a:effectLst/>
                    <a:uLnTx/>
                    <a:uFillTx/>
                    <a:ea typeface="Verdana" panose="020B0604030504040204" pitchFamily="34" charset="0"/>
                    <a:cs typeface="Times New Roman" panose="02020603050405020304" pitchFamily="18" charset="0"/>
                  </a:endParaRPr>
                </a:p>
              </p:txBody>
            </p:sp>
          </p:grpSp>
          <p:grpSp>
            <p:nvGrpSpPr>
              <p:cNvPr id="19" name="Group 18">
                <a:extLst>
                  <a:ext uri="{FF2B5EF4-FFF2-40B4-BE49-F238E27FC236}">
                    <a16:creationId xmlns:a16="http://schemas.microsoft.com/office/drawing/2014/main" id="{8B830D17-B70A-BDD4-1DEA-A8EAF5FDE689}"/>
                  </a:ext>
                </a:extLst>
              </p:cNvPr>
              <p:cNvGrpSpPr/>
              <p:nvPr/>
            </p:nvGrpSpPr>
            <p:grpSpPr>
              <a:xfrm>
                <a:off x="219234" y="5470992"/>
                <a:ext cx="8743634" cy="566627"/>
                <a:chOff x="327389" y="6160363"/>
                <a:chExt cx="8743634" cy="566627"/>
              </a:xfrm>
            </p:grpSpPr>
            <p:sp>
              <p:nvSpPr>
                <p:cNvPr id="20" name="Rectangle 19">
                  <a:extLst>
                    <a:ext uri="{FF2B5EF4-FFF2-40B4-BE49-F238E27FC236}">
                      <a16:creationId xmlns:a16="http://schemas.microsoft.com/office/drawing/2014/main" id="{0E140393-0D9F-390F-CFBF-5672DBDE4751}"/>
                    </a:ext>
                  </a:extLst>
                </p:cNvPr>
                <p:cNvSpPr/>
                <p:nvPr/>
              </p:nvSpPr>
              <p:spPr bwMode="gray">
                <a:xfrm>
                  <a:off x="327389" y="6165136"/>
                  <a:ext cx="2848419" cy="561854"/>
                </a:xfrm>
                <a:prstGeom prst="rect">
                  <a:avLst/>
                </a:prstGeom>
                <a:solidFill>
                  <a:srgbClr val="00A5B8"/>
                </a:solidFill>
                <a:ln w="19050" algn="ctr">
                  <a:noFill/>
                  <a:miter lim="800000"/>
                  <a:headEnd/>
                  <a:tailEnd/>
                </a:ln>
              </p:spPr>
              <p:txBody>
                <a:bodyPr wrap="square" lIns="88900" tIns="88900" rIns="88900" bIns="88900" rtlCol="0" anchor="ctr"/>
                <a:lstStyle/>
                <a:p>
                  <a:pPr marL="0" marR="0" lvl="0" indent="-282575"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white"/>
                      </a:solidFill>
                      <a:effectLst/>
                      <a:uLnTx/>
                      <a:uFillTx/>
                      <a:ea typeface="+mn-ea"/>
                      <a:cs typeface="+mn-cs"/>
                    </a:rPr>
                    <a:t>Define: A common taxonomy that survives  changes in administration and technology</a:t>
                  </a:r>
                </a:p>
              </p:txBody>
            </p:sp>
            <p:sp>
              <p:nvSpPr>
                <p:cNvPr id="21" name="Rectangle 20">
                  <a:extLst>
                    <a:ext uri="{FF2B5EF4-FFF2-40B4-BE49-F238E27FC236}">
                      <a16:creationId xmlns:a16="http://schemas.microsoft.com/office/drawing/2014/main" id="{11ED62FC-9CD0-145F-D95E-662ABABF43A7}"/>
                    </a:ext>
                  </a:extLst>
                </p:cNvPr>
                <p:cNvSpPr/>
                <p:nvPr/>
              </p:nvSpPr>
              <p:spPr bwMode="gray">
                <a:xfrm>
                  <a:off x="3268115" y="6165136"/>
                  <a:ext cx="2848419" cy="561854"/>
                </a:xfrm>
                <a:prstGeom prst="rect">
                  <a:avLst/>
                </a:prstGeom>
                <a:solidFill>
                  <a:srgbClr val="00A5B8"/>
                </a:solidFill>
                <a:ln w="19050" algn="ctr">
                  <a:noFill/>
                  <a:miter lim="800000"/>
                  <a:headEnd/>
                  <a:tailEnd/>
                </a:ln>
              </p:spPr>
              <p:txBody>
                <a:bodyPr wrap="square" lIns="88900" tIns="88900" rIns="88900" bIns="88900" rtlCol="0" anchor="ctr"/>
                <a:lstStyle/>
                <a:p>
                  <a:pPr marL="0" marR="0" lvl="0" indent="-282575"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white"/>
                      </a:solidFill>
                      <a:effectLst/>
                      <a:uLnTx/>
                      <a:uFillTx/>
                      <a:ea typeface="+mn-ea"/>
                      <a:cs typeface="+mn-cs"/>
                    </a:rPr>
                    <a:t>Detect: Surface the subsidy like spend that never reaches the subsidy statement</a:t>
                  </a:r>
                </a:p>
              </p:txBody>
            </p:sp>
            <p:sp>
              <p:nvSpPr>
                <p:cNvPr id="22" name="Rectangle 21">
                  <a:extLst>
                    <a:ext uri="{FF2B5EF4-FFF2-40B4-BE49-F238E27FC236}">
                      <a16:creationId xmlns:a16="http://schemas.microsoft.com/office/drawing/2014/main" id="{16CA6ABA-A952-C970-C706-0BC637923420}"/>
                    </a:ext>
                  </a:extLst>
                </p:cNvPr>
                <p:cNvSpPr/>
                <p:nvPr/>
              </p:nvSpPr>
              <p:spPr bwMode="gray">
                <a:xfrm>
                  <a:off x="6222604" y="6160363"/>
                  <a:ext cx="2848419" cy="561854"/>
                </a:xfrm>
                <a:prstGeom prst="rect">
                  <a:avLst/>
                </a:prstGeom>
                <a:solidFill>
                  <a:srgbClr val="00A5B8"/>
                </a:solidFill>
                <a:ln w="19050" algn="ctr">
                  <a:noFill/>
                  <a:miter lim="800000"/>
                  <a:headEnd/>
                  <a:tailEnd/>
                </a:ln>
              </p:spPr>
              <p:txBody>
                <a:bodyPr wrap="square" lIns="88900" tIns="88900" rIns="88900" bIns="88900" rtlCol="0" anchor="ctr"/>
                <a:lstStyle/>
                <a:p>
                  <a:pPr marL="0" marR="0" lvl="0" indent="-282575"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white"/>
                      </a:solidFill>
                      <a:effectLst/>
                      <a:uLnTx/>
                      <a:uFillTx/>
                      <a:ea typeface="+mn-ea"/>
                      <a:cs typeface="+mn-cs"/>
                    </a:rPr>
                    <a:t>Classify: Separate essential welfare from conditional and distortionary provisions</a:t>
                  </a:r>
                </a:p>
              </p:txBody>
            </p:sp>
          </p:grpSp>
          <p:sp>
            <p:nvSpPr>
              <p:cNvPr id="430" name="Rectangle 429">
                <a:extLst>
                  <a:ext uri="{FF2B5EF4-FFF2-40B4-BE49-F238E27FC236}">
                    <a16:creationId xmlns:a16="http://schemas.microsoft.com/office/drawing/2014/main" id="{C6A2BF63-52FA-EAE2-0848-75D7BC1A68C9}"/>
                  </a:ext>
                </a:extLst>
              </p:cNvPr>
              <p:cNvSpPr/>
              <p:nvPr/>
            </p:nvSpPr>
            <p:spPr bwMode="gray">
              <a:xfrm>
                <a:off x="9025681" y="5435977"/>
                <a:ext cx="2848419" cy="561854"/>
              </a:xfrm>
              <a:prstGeom prst="rect">
                <a:avLst/>
              </a:prstGeom>
              <a:solidFill>
                <a:srgbClr val="00A5B8"/>
              </a:solidFill>
              <a:ln w="19050" algn="ctr">
                <a:noFill/>
                <a:miter lim="800000"/>
                <a:headEnd/>
                <a:tailEnd/>
              </a:ln>
            </p:spPr>
            <p:txBody>
              <a:bodyPr wrap="square" lIns="88900" tIns="88900" rIns="88900" bIns="88900" rtlCol="0" anchor="ctr"/>
              <a:lstStyle/>
              <a:p>
                <a:pPr marL="0" marR="0" lvl="0" indent="-282575"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white"/>
                    </a:solidFill>
                    <a:effectLst/>
                    <a:uLnTx/>
                    <a:uFillTx/>
                    <a:ea typeface="+mn-ea"/>
                    <a:cs typeface="+mn-cs"/>
                  </a:rPr>
                  <a:t>Decide: A toolkit apply  to schemes not yet designed, not just those exist</a:t>
                </a:r>
              </a:p>
            </p:txBody>
          </p:sp>
        </p:grpSp>
        <p:grpSp>
          <p:nvGrpSpPr>
            <p:cNvPr id="33" name="Group 32">
              <a:extLst>
                <a:ext uri="{FF2B5EF4-FFF2-40B4-BE49-F238E27FC236}">
                  <a16:creationId xmlns:a16="http://schemas.microsoft.com/office/drawing/2014/main" id="{6F4C3EE7-2EA3-2549-A7A3-05F9989C8003}"/>
                </a:ext>
              </a:extLst>
            </p:cNvPr>
            <p:cNvGrpSpPr/>
            <p:nvPr/>
          </p:nvGrpSpPr>
          <p:grpSpPr>
            <a:xfrm>
              <a:off x="333466" y="614248"/>
              <a:ext cx="4050590" cy="637695"/>
              <a:chOff x="333466" y="614248"/>
              <a:chExt cx="3291840" cy="637695"/>
            </a:xfrm>
          </p:grpSpPr>
          <p:sp>
            <p:nvSpPr>
              <p:cNvPr id="4" name="Shape 6">
                <a:extLst>
                  <a:ext uri="{FF2B5EF4-FFF2-40B4-BE49-F238E27FC236}">
                    <a16:creationId xmlns:a16="http://schemas.microsoft.com/office/drawing/2014/main" id="{6E498D59-DF74-5DA6-8F0D-1102635A6B4F}"/>
                  </a:ext>
                </a:extLst>
              </p:cNvPr>
              <p:cNvSpPr/>
              <p:nvPr/>
            </p:nvSpPr>
            <p:spPr>
              <a:xfrm>
                <a:off x="333466" y="614248"/>
                <a:ext cx="3291840" cy="637695"/>
              </a:xfrm>
              <a:prstGeom prst="roundRect">
                <a:avLst>
                  <a:gd name="adj" fmla="val 2703"/>
                </a:avLst>
              </a:prstGeom>
              <a:solidFill>
                <a:srgbClr val="FAFAFA"/>
              </a:solidFill>
              <a:ln w="9525">
                <a:solidFill>
                  <a:srgbClr val="D9D9D9"/>
                </a:solidFill>
                <a:prstDash val="solid"/>
              </a:ln>
            </p:spPr>
            <p:txBody>
              <a:bodyPr/>
              <a:lstStyle/>
              <a:p>
                <a:endParaRPr lang="en-IN" sz="1000"/>
              </a:p>
            </p:txBody>
          </p:sp>
          <p:sp>
            <p:nvSpPr>
              <p:cNvPr id="7" name="Shape 7">
                <a:extLst>
                  <a:ext uri="{FF2B5EF4-FFF2-40B4-BE49-F238E27FC236}">
                    <a16:creationId xmlns:a16="http://schemas.microsoft.com/office/drawing/2014/main" id="{1673CDD6-902D-ABEF-B26E-426E2849BA6E}"/>
                  </a:ext>
                </a:extLst>
              </p:cNvPr>
              <p:cNvSpPr/>
              <p:nvPr/>
            </p:nvSpPr>
            <p:spPr>
              <a:xfrm>
                <a:off x="488914" y="760552"/>
                <a:ext cx="347472" cy="347472"/>
              </a:xfrm>
              <a:prstGeom prst="ellipse">
                <a:avLst/>
              </a:prstGeom>
              <a:solidFill>
                <a:srgbClr val="0E6E70"/>
              </a:solidFill>
              <a:ln w="12700">
                <a:solidFill>
                  <a:srgbClr val="333333"/>
                </a:solidFill>
                <a:prstDash val="solid"/>
              </a:ln>
            </p:spPr>
            <p:txBody>
              <a:bodyPr/>
              <a:lstStyle/>
              <a:p>
                <a:endParaRPr lang="en-IN" sz="1000"/>
              </a:p>
            </p:txBody>
          </p:sp>
          <p:sp>
            <p:nvSpPr>
              <p:cNvPr id="8" name="Text 8">
                <a:extLst>
                  <a:ext uri="{FF2B5EF4-FFF2-40B4-BE49-F238E27FC236}">
                    <a16:creationId xmlns:a16="http://schemas.microsoft.com/office/drawing/2014/main" id="{E506035E-48E1-4253-1B8B-AD2B13ED3087}"/>
                  </a:ext>
                </a:extLst>
              </p:cNvPr>
              <p:cNvSpPr/>
              <p:nvPr/>
            </p:nvSpPr>
            <p:spPr>
              <a:xfrm>
                <a:off x="488914" y="760552"/>
                <a:ext cx="347472" cy="347472"/>
              </a:xfrm>
              <a:prstGeom prst="rect">
                <a:avLst/>
              </a:prstGeom>
              <a:noFill/>
              <a:ln/>
            </p:spPr>
            <p:txBody>
              <a:bodyPr wrap="square" lIns="0" tIns="0" rIns="0" bIns="0" rtlCol="0" anchor="ctr"/>
              <a:lstStyle/>
              <a:p>
                <a:pPr marL="0" indent="0" algn="ctr">
                  <a:buNone/>
                </a:pPr>
                <a:r>
                  <a:rPr lang="en-US" sz="1000" b="1">
                    <a:solidFill>
                      <a:srgbClr val="FFFFFF"/>
                    </a:solidFill>
                    <a:ea typeface="Calibri" pitchFamily="34" charset="-122"/>
                    <a:cs typeface="Calibri" pitchFamily="34" charset="-120"/>
                  </a:rPr>
                  <a:t>i</a:t>
                </a:r>
                <a:endParaRPr lang="en-US" sz="1000"/>
              </a:p>
            </p:txBody>
          </p:sp>
        </p:grpSp>
        <p:sp>
          <p:nvSpPr>
            <p:cNvPr id="9" name="Text 9">
              <a:extLst>
                <a:ext uri="{FF2B5EF4-FFF2-40B4-BE49-F238E27FC236}">
                  <a16:creationId xmlns:a16="http://schemas.microsoft.com/office/drawing/2014/main" id="{B435A9F5-5CE9-CD96-F916-26391BDF75DB}"/>
                </a:ext>
              </a:extLst>
            </p:cNvPr>
            <p:cNvSpPr/>
            <p:nvPr/>
          </p:nvSpPr>
          <p:spPr>
            <a:xfrm>
              <a:off x="1107753" y="725301"/>
              <a:ext cx="3264129" cy="694944"/>
            </a:xfrm>
            <a:prstGeom prst="rect">
              <a:avLst/>
            </a:prstGeom>
            <a:noFill/>
            <a:ln/>
          </p:spPr>
          <p:txBody>
            <a:bodyPr wrap="square" lIns="0" tIns="0" rIns="0" bIns="0" rtlCol="0" anchor="t"/>
            <a:lstStyle/>
            <a:p>
              <a:pPr marL="0" indent="0">
                <a:buNone/>
              </a:pPr>
              <a:r>
                <a:rPr lang="en-US" sz="1000">
                  <a:solidFill>
                    <a:srgbClr val="333333"/>
                  </a:solidFill>
                  <a:ea typeface="Calibri" pitchFamily="34" charset="-122"/>
                  <a:cs typeface="Calibri" pitchFamily="34" charset="-120"/>
                </a:rPr>
                <a:t>Assess the status of State finances across key fiscal parameters and highlight challenges</a:t>
              </a:r>
              <a:endParaRPr lang="en-US" sz="1000"/>
            </a:p>
          </p:txBody>
        </p:sp>
        <p:sp>
          <p:nvSpPr>
            <p:cNvPr id="10" name="Shape 10">
              <a:extLst>
                <a:ext uri="{FF2B5EF4-FFF2-40B4-BE49-F238E27FC236}">
                  <a16:creationId xmlns:a16="http://schemas.microsoft.com/office/drawing/2014/main" id="{517C7D41-2AF0-7F8A-F488-AE676AD9968E}"/>
                </a:ext>
              </a:extLst>
            </p:cNvPr>
            <p:cNvSpPr/>
            <p:nvPr/>
          </p:nvSpPr>
          <p:spPr>
            <a:xfrm>
              <a:off x="4491070" y="611750"/>
              <a:ext cx="3724675" cy="634547"/>
            </a:xfrm>
            <a:prstGeom prst="roundRect">
              <a:avLst>
                <a:gd name="adj" fmla="val 2703"/>
              </a:avLst>
            </a:prstGeom>
            <a:solidFill>
              <a:srgbClr val="FAFAFA"/>
            </a:solidFill>
            <a:ln w="9525">
              <a:solidFill>
                <a:srgbClr val="D9D9D9"/>
              </a:solidFill>
              <a:prstDash val="solid"/>
            </a:ln>
          </p:spPr>
          <p:txBody>
            <a:bodyPr/>
            <a:lstStyle/>
            <a:p>
              <a:endParaRPr lang="en-IN" sz="1000"/>
            </a:p>
          </p:txBody>
        </p:sp>
        <p:sp>
          <p:nvSpPr>
            <p:cNvPr id="14" name="Shape 11">
              <a:extLst>
                <a:ext uri="{FF2B5EF4-FFF2-40B4-BE49-F238E27FC236}">
                  <a16:creationId xmlns:a16="http://schemas.microsoft.com/office/drawing/2014/main" id="{1A7038C3-1F97-13DD-B648-CF0D7FEFAC5F}"/>
                </a:ext>
              </a:extLst>
            </p:cNvPr>
            <p:cNvSpPr/>
            <p:nvPr/>
          </p:nvSpPr>
          <p:spPr>
            <a:xfrm>
              <a:off x="4646519" y="758055"/>
              <a:ext cx="347472" cy="305781"/>
            </a:xfrm>
            <a:prstGeom prst="ellipse">
              <a:avLst/>
            </a:prstGeom>
            <a:solidFill>
              <a:srgbClr val="0E6E70"/>
            </a:solidFill>
            <a:ln w="12700">
              <a:solidFill>
                <a:srgbClr val="333333"/>
              </a:solidFill>
              <a:prstDash val="solid"/>
            </a:ln>
          </p:spPr>
          <p:txBody>
            <a:bodyPr/>
            <a:lstStyle/>
            <a:p>
              <a:endParaRPr lang="en-IN" sz="1000"/>
            </a:p>
          </p:txBody>
        </p:sp>
        <p:sp>
          <p:nvSpPr>
            <p:cNvPr id="23" name="Text 12">
              <a:extLst>
                <a:ext uri="{FF2B5EF4-FFF2-40B4-BE49-F238E27FC236}">
                  <a16:creationId xmlns:a16="http://schemas.microsoft.com/office/drawing/2014/main" id="{3F9DB62C-3307-2B3D-3FAC-0926D087263C}"/>
                </a:ext>
              </a:extLst>
            </p:cNvPr>
            <p:cNvSpPr/>
            <p:nvPr/>
          </p:nvSpPr>
          <p:spPr>
            <a:xfrm>
              <a:off x="4646519" y="758055"/>
              <a:ext cx="347472" cy="305781"/>
            </a:xfrm>
            <a:prstGeom prst="rect">
              <a:avLst/>
            </a:prstGeom>
            <a:noFill/>
            <a:ln/>
          </p:spPr>
          <p:txBody>
            <a:bodyPr wrap="square" lIns="0" tIns="0" rIns="0" bIns="0" rtlCol="0" anchor="ctr"/>
            <a:lstStyle/>
            <a:p>
              <a:pPr marL="0" indent="0" algn="ctr">
                <a:buNone/>
              </a:pPr>
              <a:r>
                <a:rPr lang="en-US" sz="1000" b="1">
                  <a:solidFill>
                    <a:srgbClr val="FFFFFF"/>
                  </a:solidFill>
                  <a:ea typeface="Calibri" pitchFamily="34" charset="-122"/>
                  <a:cs typeface="Calibri" pitchFamily="34" charset="-120"/>
                </a:rPr>
                <a:t>ii</a:t>
              </a:r>
              <a:endParaRPr lang="en-US" sz="1000"/>
            </a:p>
          </p:txBody>
        </p:sp>
        <p:sp>
          <p:nvSpPr>
            <p:cNvPr id="24" name="Text 13">
              <a:extLst>
                <a:ext uri="{FF2B5EF4-FFF2-40B4-BE49-F238E27FC236}">
                  <a16:creationId xmlns:a16="http://schemas.microsoft.com/office/drawing/2014/main" id="{AF33B20D-3848-315A-0357-A4D4F3D937DC}"/>
                </a:ext>
              </a:extLst>
            </p:cNvPr>
            <p:cNvSpPr/>
            <p:nvPr/>
          </p:nvSpPr>
          <p:spPr>
            <a:xfrm>
              <a:off x="5113178" y="692918"/>
              <a:ext cx="3291840" cy="694944"/>
            </a:xfrm>
            <a:prstGeom prst="rect">
              <a:avLst/>
            </a:prstGeom>
            <a:noFill/>
            <a:ln/>
          </p:spPr>
          <p:txBody>
            <a:bodyPr wrap="square" lIns="0" tIns="0" rIns="0" bIns="0" rtlCol="0" anchor="t"/>
            <a:lstStyle/>
            <a:p>
              <a:pPr marL="0" indent="0">
                <a:buNone/>
              </a:pPr>
              <a:r>
                <a:rPr lang="en-US" sz="1000">
                  <a:solidFill>
                    <a:srgbClr val="333333"/>
                  </a:solidFill>
                  <a:ea typeface="Calibri" pitchFamily="34" charset="-122"/>
                  <a:cs typeface="Calibri" pitchFamily="34" charset="-120"/>
                </a:rPr>
                <a:t>Review existing literature and document efforts made towards defining the various forms of subsidies around public goods/services</a:t>
              </a:r>
              <a:endParaRPr lang="en-US" sz="1000"/>
            </a:p>
          </p:txBody>
        </p:sp>
        <p:sp>
          <p:nvSpPr>
            <p:cNvPr id="25" name="Shape 14">
              <a:extLst>
                <a:ext uri="{FF2B5EF4-FFF2-40B4-BE49-F238E27FC236}">
                  <a16:creationId xmlns:a16="http://schemas.microsoft.com/office/drawing/2014/main" id="{F6EA2426-767B-8B32-1E47-AAA430CF6F4B}"/>
                </a:ext>
              </a:extLst>
            </p:cNvPr>
            <p:cNvSpPr/>
            <p:nvPr/>
          </p:nvSpPr>
          <p:spPr>
            <a:xfrm>
              <a:off x="8405018" y="594136"/>
              <a:ext cx="3515068" cy="652161"/>
            </a:xfrm>
            <a:prstGeom prst="roundRect">
              <a:avLst>
                <a:gd name="adj" fmla="val 2703"/>
              </a:avLst>
            </a:prstGeom>
            <a:solidFill>
              <a:srgbClr val="FAFAFA"/>
            </a:solidFill>
            <a:ln w="9525">
              <a:solidFill>
                <a:srgbClr val="D9D9D9"/>
              </a:solidFill>
              <a:prstDash val="solid"/>
            </a:ln>
          </p:spPr>
          <p:txBody>
            <a:bodyPr/>
            <a:lstStyle/>
            <a:p>
              <a:endParaRPr lang="en-IN" sz="1000"/>
            </a:p>
          </p:txBody>
        </p:sp>
        <p:sp>
          <p:nvSpPr>
            <p:cNvPr id="26" name="Shape 15">
              <a:extLst>
                <a:ext uri="{FF2B5EF4-FFF2-40B4-BE49-F238E27FC236}">
                  <a16:creationId xmlns:a16="http://schemas.microsoft.com/office/drawing/2014/main" id="{A73D70A1-3159-8CE7-1F23-81A4309548CB}"/>
                </a:ext>
              </a:extLst>
            </p:cNvPr>
            <p:cNvSpPr/>
            <p:nvPr/>
          </p:nvSpPr>
          <p:spPr>
            <a:xfrm>
              <a:off x="8524205" y="768473"/>
              <a:ext cx="347472" cy="347472"/>
            </a:xfrm>
            <a:prstGeom prst="ellipse">
              <a:avLst/>
            </a:prstGeom>
            <a:solidFill>
              <a:srgbClr val="0E6E70"/>
            </a:solidFill>
            <a:ln w="12700">
              <a:solidFill>
                <a:srgbClr val="333333"/>
              </a:solidFill>
              <a:prstDash val="solid"/>
            </a:ln>
          </p:spPr>
          <p:txBody>
            <a:bodyPr/>
            <a:lstStyle/>
            <a:p>
              <a:endParaRPr lang="en-IN" sz="1000"/>
            </a:p>
          </p:txBody>
        </p:sp>
        <p:sp>
          <p:nvSpPr>
            <p:cNvPr id="27" name="Text 16">
              <a:extLst>
                <a:ext uri="{FF2B5EF4-FFF2-40B4-BE49-F238E27FC236}">
                  <a16:creationId xmlns:a16="http://schemas.microsoft.com/office/drawing/2014/main" id="{F8B9D7D2-DE22-BCA9-CFCA-FFC0DA364AC1}"/>
                </a:ext>
              </a:extLst>
            </p:cNvPr>
            <p:cNvSpPr/>
            <p:nvPr/>
          </p:nvSpPr>
          <p:spPr>
            <a:xfrm>
              <a:off x="8535881" y="795872"/>
              <a:ext cx="347472" cy="347472"/>
            </a:xfrm>
            <a:prstGeom prst="rect">
              <a:avLst/>
            </a:prstGeom>
            <a:noFill/>
            <a:ln/>
          </p:spPr>
          <p:txBody>
            <a:bodyPr wrap="square" lIns="0" tIns="0" rIns="0" bIns="0" rtlCol="0" anchor="ctr"/>
            <a:lstStyle/>
            <a:p>
              <a:pPr marL="0" indent="0" algn="ctr">
                <a:buNone/>
              </a:pPr>
              <a:r>
                <a:rPr lang="en-US" sz="1000" b="1">
                  <a:solidFill>
                    <a:srgbClr val="FFFFFF"/>
                  </a:solidFill>
                  <a:ea typeface="Calibri" pitchFamily="34" charset="-122"/>
                  <a:cs typeface="Calibri" pitchFamily="34" charset="-120"/>
                </a:rPr>
                <a:t>iii</a:t>
              </a:r>
              <a:endParaRPr lang="en-US" sz="1000"/>
            </a:p>
          </p:txBody>
        </p:sp>
        <p:sp>
          <p:nvSpPr>
            <p:cNvPr id="28" name="Text 17">
              <a:extLst>
                <a:ext uri="{FF2B5EF4-FFF2-40B4-BE49-F238E27FC236}">
                  <a16:creationId xmlns:a16="http://schemas.microsoft.com/office/drawing/2014/main" id="{7212B1DE-F105-E1D8-187B-F13D5089250F}"/>
                </a:ext>
              </a:extLst>
            </p:cNvPr>
            <p:cNvSpPr/>
            <p:nvPr/>
          </p:nvSpPr>
          <p:spPr>
            <a:xfrm>
              <a:off x="8990864" y="704794"/>
              <a:ext cx="2867670" cy="694944"/>
            </a:xfrm>
            <a:prstGeom prst="rect">
              <a:avLst/>
            </a:prstGeom>
            <a:noFill/>
            <a:ln/>
          </p:spPr>
          <p:txBody>
            <a:bodyPr wrap="square" lIns="0" tIns="0" rIns="0" bIns="0" rtlCol="0" anchor="t"/>
            <a:lstStyle/>
            <a:p>
              <a:pPr marL="0" indent="0">
                <a:buNone/>
              </a:pPr>
              <a:r>
                <a:rPr lang="en-US" sz="1000">
                  <a:solidFill>
                    <a:srgbClr val="333333"/>
                  </a:solidFill>
                  <a:ea typeface="Calibri" pitchFamily="34" charset="-122"/>
                  <a:cs typeface="Calibri" pitchFamily="34" charset="-120"/>
                </a:rPr>
                <a:t>Explore the possibility of formalising a definition for partially/fully subsidised public goods/services rolled out by governments</a:t>
              </a:r>
              <a:endParaRPr lang="en-US" sz="1000"/>
            </a:p>
          </p:txBody>
        </p:sp>
      </p:grpSp>
    </p:spTree>
    <p:extLst>
      <p:ext uri="{BB962C8B-B14F-4D97-AF65-F5344CB8AC3E}">
        <p14:creationId xmlns:p14="http://schemas.microsoft.com/office/powerpoint/2010/main" val="21776919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E58FB-DE5C-00E6-F791-CBA82F69358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7907FE8-A151-6C13-E896-7C5C3692B787}"/>
              </a:ext>
            </a:extLst>
          </p:cNvPr>
          <p:cNvSpPr/>
          <p:nvPr/>
        </p:nvSpPr>
        <p:spPr bwMode="gray">
          <a:xfrm>
            <a:off x="190460" y="134346"/>
            <a:ext cx="11811080" cy="370522"/>
          </a:xfrm>
          <a:prstGeom prst="rect">
            <a:avLst/>
          </a:prstGeom>
          <a:noFill/>
          <a:ln w="19050" algn="ctr">
            <a:noFill/>
            <a:miter lim="800000"/>
            <a:headEnd/>
            <a:tailEnd/>
          </a:ln>
        </p:spPr>
        <p:txBody>
          <a:bodyPr wrap="square" lIns="88900" tIns="88900" rIns="88900" bIns="88900" rtlCol="0" anchor="ctr"/>
          <a:lstStyle/>
          <a:p>
            <a:r>
              <a:rPr lang="en-US" sz="1800" b="1">
                <a:latin typeface="+mj-lt"/>
              </a:rPr>
              <a:t>Objectives </a:t>
            </a:r>
            <a:r>
              <a:rPr lang="en-US" b="1">
                <a:latin typeface="+mj-lt"/>
              </a:rPr>
              <a:t>of </a:t>
            </a:r>
            <a:r>
              <a:rPr lang="en-US" sz="1800" b="1">
                <a:latin typeface="+mj-lt"/>
              </a:rPr>
              <a:t>the Study</a:t>
            </a:r>
          </a:p>
        </p:txBody>
      </p:sp>
      <p:cxnSp>
        <p:nvCxnSpPr>
          <p:cNvPr id="6" name="Straight Arrow Connector 5">
            <a:extLst>
              <a:ext uri="{FF2B5EF4-FFF2-40B4-BE49-F238E27FC236}">
                <a16:creationId xmlns:a16="http://schemas.microsoft.com/office/drawing/2014/main" id="{6B5C7A6E-1A6B-1B7D-C5A2-BBB7BA00E358}"/>
              </a:ext>
            </a:extLst>
          </p:cNvPr>
          <p:cNvCxnSpPr/>
          <p:nvPr/>
        </p:nvCxnSpPr>
        <p:spPr>
          <a:xfrm flipV="1">
            <a:off x="297134" y="9285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29" name="Text 4">
            <a:extLst>
              <a:ext uri="{FF2B5EF4-FFF2-40B4-BE49-F238E27FC236}">
                <a16:creationId xmlns:a16="http://schemas.microsoft.com/office/drawing/2014/main" id="{89E32AF8-3266-DC83-A607-848C064DD849}"/>
              </a:ext>
            </a:extLst>
          </p:cNvPr>
          <p:cNvSpPr/>
          <p:nvPr/>
        </p:nvSpPr>
        <p:spPr>
          <a:xfrm>
            <a:off x="306611" y="435880"/>
            <a:ext cx="11525066" cy="548640"/>
          </a:xfrm>
          <a:prstGeom prst="rect">
            <a:avLst/>
          </a:prstGeom>
          <a:noFill/>
          <a:ln/>
        </p:spPr>
        <p:txBody>
          <a:bodyPr wrap="square" lIns="0" tIns="0" rIns="0" bIns="0" rtlCol="0" anchor="ctr"/>
          <a:lstStyle/>
          <a:p>
            <a:pPr marL="0" indent="0">
              <a:lnSpc>
                <a:spcPct val="95000"/>
              </a:lnSpc>
              <a:buNone/>
            </a:pPr>
            <a:r>
              <a:rPr lang="en-US" sz="1400">
                <a:solidFill>
                  <a:schemeClr val="bg1">
                    <a:lumMod val="50000"/>
                  </a:schemeClr>
                </a:solidFill>
                <a:ea typeface="Calibri" pitchFamily="34" charset="-122"/>
                <a:cs typeface="Calibri" pitchFamily="34" charset="-120"/>
              </a:rPr>
              <a:t>A comprehensive, evidence-based guideline for Central and State Governments to identify, assess and review partially or fully subsidised public goods and services - safeguarding both fiscal sustainability and legitimate welfare objectives.</a:t>
            </a:r>
            <a:endParaRPr lang="en-US" sz="1400">
              <a:solidFill>
                <a:schemeClr val="bg1">
                  <a:lumMod val="50000"/>
                </a:schemeClr>
              </a:solidFill>
            </a:endParaRPr>
          </a:p>
        </p:txBody>
      </p:sp>
      <p:graphicFrame>
        <p:nvGraphicFramePr>
          <p:cNvPr id="422" name="Table 421">
            <a:extLst>
              <a:ext uri="{FF2B5EF4-FFF2-40B4-BE49-F238E27FC236}">
                <a16:creationId xmlns:a16="http://schemas.microsoft.com/office/drawing/2014/main" id="{6B4EB5EE-F379-2A44-475B-9E09384D1BF7}"/>
              </a:ext>
            </a:extLst>
          </p:cNvPr>
          <p:cNvGraphicFramePr>
            <a:graphicFrameLocks noGrp="1"/>
          </p:cNvGraphicFramePr>
          <p:nvPr>
            <p:extLst>
              <p:ext uri="{D42A27DB-BD31-4B8C-83A1-F6EECF244321}">
                <p14:modId xmlns:p14="http://schemas.microsoft.com/office/powerpoint/2010/main" val="2101350551"/>
              </p:ext>
            </p:extLst>
          </p:nvPr>
        </p:nvGraphicFramePr>
        <p:xfrm>
          <a:off x="381462" y="1639970"/>
          <a:ext cx="11290851" cy="4179109"/>
        </p:xfrm>
        <a:graphic>
          <a:graphicData uri="http://schemas.openxmlformats.org/drawingml/2006/table">
            <a:tbl>
              <a:tblPr firstRow="1" bandRow="1">
                <a:tableStyleId>{5C22544A-7EE6-4342-B048-85BDC9FD1C3A}</a:tableStyleId>
              </a:tblPr>
              <a:tblGrid>
                <a:gridCol w="1422041">
                  <a:extLst>
                    <a:ext uri="{9D8B030D-6E8A-4147-A177-3AD203B41FA5}">
                      <a16:colId xmlns:a16="http://schemas.microsoft.com/office/drawing/2014/main" val="3975474829"/>
                    </a:ext>
                  </a:extLst>
                </a:gridCol>
                <a:gridCol w="3018443">
                  <a:extLst>
                    <a:ext uri="{9D8B030D-6E8A-4147-A177-3AD203B41FA5}">
                      <a16:colId xmlns:a16="http://schemas.microsoft.com/office/drawing/2014/main" val="844568499"/>
                    </a:ext>
                  </a:extLst>
                </a:gridCol>
                <a:gridCol w="6850367">
                  <a:extLst>
                    <a:ext uri="{9D8B030D-6E8A-4147-A177-3AD203B41FA5}">
                      <a16:colId xmlns:a16="http://schemas.microsoft.com/office/drawing/2014/main" val="1868331620"/>
                    </a:ext>
                  </a:extLst>
                </a:gridCol>
              </a:tblGrid>
              <a:tr h="585401">
                <a:tc>
                  <a:txBody>
                    <a:bodyPr/>
                    <a:lstStyle/>
                    <a:p>
                      <a:pPr algn="l"/>
                      <a:endParaRPr lang="en-US" sz="1100" b="0">
                        <a:solidFill>
                          <a:schemeClr val="accent1"/>
                        </a:solidFill>
                        <a:latin typeface="Verdana" panose="020B0604030504040204" pitchFamily="34" charset="0"/>
                        <a:ea typeface="Verdana" panose="020B0604030504040204" pitchFamily="34" charset="0"/>
                        <a:cs typeface="Verdana" panose="020B0604030504040204" pitchFamily="34" charset="0"/>
                      </a:endParaRPr>
                    </a:p>
                  </a:txBody>
                  <a:tcPr marL="74295" marR="74295" marT="37148" marB="37148"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100" b="1">
                          <a:solidFill>
                            <a:schemeClr val="accent1"/>
                          </a:solidFill>
                          <a:latin typeface="Verdana" panose="020B0604030504040204" pitchFamily="34" charset="0"/>
                          <a:ea typeface="Verdana" panose="020B0604030504040204" pitchFamily="34" charset="0"/>
                          <a:cs typeface="Verdana" panose="020B0604030504040204" pitchFamily="34" charset="0"/>
                        </a:rPr>
                        <a:t>Assessment of State finances</a:t>
                      </a:r>
                    </a:p>
                  </a:txBody>
                  <a:tcPr marL="74295" marR="74295" marT="37148" marB="37148"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nSpc>
                          <a:spcPct val="93000"/>
                        </a:lnSpc>
                        <a:buNone/>
                      </a:pPr>
                      <a:r>
                        <a:rPr lang="en-US" sz="1100" b="0">
                          <a:solidFill>
                            <a:srgbClr val="1A1A1A"/>
                          </a:solidFill>
                          <a:latin typeface="Verdana" panose="020B0604030504040204" pitchFamily="34" charset="0"/>
                          <a:ea typeface="Verdana" panose="020B0604030504040204" pitchFamily="34" charset="0"/>
                          <a:cs typeface="Calibri" pitchFamily="34" charset="-120"/>
                        </a:rPr>
                        <a:t>Trends across revenue receipts, revenue and capital expenditure, deficits, committed expenditure, debt and interest payments.</a:t>
                      </a:r>
                      <a:endParaRPr lang="en-US" sz="1100" b="0">
                        <a:latin typeface="Verdana" panose="020B0604030504040204" pitchFamily="34" charset="0"/>
                        <a:ea typeface="Verdana" panose="020B0604030504040204" pitchFamily="34" charset="0"/>
                      </a:endParaRPr>
                    </a:p>
                  </a:txBody>
                  <a:tcPr marL="74295" marR="74295" marT="37148" marB="37148"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0636766"/>
                  </a:ext>
                </a:extLst>
              </a:tr>
              <a:tr h="545935">
                <a:tc>
                  <a:txBody>
                    <a:bodyPr/>
                    <a:lstStyle/>
                    <a:p>
                      <a:pPr algn="l"/>
                      <a:endParaRPr lang="en-US" sz="1100" b="0">
                        <a:solidFill>
                          <a:schemeClr val="accent1"/>
                        </a:solidFill>
                        <a:latin typeface="Verdana" panose="020B0604030504040204" pitchFamily="34" charset="0"/>
                        <a:ea typeface="Verdana" panose="020B0604030504040204" pitchFamily="34" charset="0"/>
                        <a:cs typeface="Verdana" panose="020B0604030504040204" pitchFamily="34" charset="0"/>
                      </a:endParaRPr>
                    </a:p>
                  </a:txBody>
                  <a:tcPr marL="74295" marR="74295" marT="37148" marB="37148"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100" b="1">
                          <a:solidFill>
                            <a:schemeClr val="accent1"/>
                          </a:solidFill>
                          <a:latin typeface="Verdana" panose="020B0604030504040204" pitchFamily="34" charset="0"/>
                          <a:ea typeface="Verdana" panose="020B0604030504040204" pitchFamily="34" charset="0"/>
                          <a:cs typeface="Verdana" panose="020B0604030504040204" pitchFamily="34" charset="0"/>
                        </a:rPr>
                        <a:t>Review of concepts &amp; definitions</a:t>
                      </a:r>
                    </a:p>
                  </a:txBody>
                  <a:tcPr marL="74295" marR="74295" marT="37148" marB="37148"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nSpc>
                          <a:spcPct val="93000"/>
                        </a:lnSpc>
                        <a:buNone/>
                      </a:pPr>
                      <a:r>
                        <a:rPr lang="en-US" sz="1100">
                          <a:solidFill>
                            <a:srgbClr val="1A1A1A"/>
                          </a:solidFill>
                          <a:latin typeface="Verdana" panose="020B0604030504040204" pitchFamily="34" charset="0"/>
                          <a:ea typeface="Verdana" panose="020B0604030504040204" pitchFamily="34" charset="0"/>
                          <a:cs typeface="Calibri" pitchFamily="34" charset="-120"/>
                        </a:rPr>
                        <a:t>National and international literature on subsidies, welfare expenditure, merit goods and provisions described as freebies.</a:t>
                      </a:r>
                      <a:endParaRPr lang="en-US" sz="1100">
                        <a:latin typeface="Verdana" panose="020B0604030504040204" pitchFamily="34" charset="0"/>
                        <a:ea typeface="Verdana" panose="020B0604030504040204" pitchFamily="34" charset="0"/>
                      </a:endParaRPr>
                    </a:p>
                  </a:txBody>
                  <a:tcPr marL="74295" marR="74295" marT="37148" marB="37148"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2062843"/>
                  </a:ext>
                </a:extLst>
              </a:tr>
              <a:tr h="520020">
                <a:tc>
                  <a:txBody>
                    <a:bodyPr/>
                    <a:lstStyle/>
                    <a:p>
                      <a:pPr algn="l"/>
                      <a:endParaRPr lang="en-US" sz="1100" b="0">
                        <a:solidFill>
                          <a:schemeClr val="accent1"/>
                        </a:solidFill>
                        <a:latin typeface="Verdana" panose="020B0604030504040204" pitchFamily="34" charset="0"/>
                        <a:ea typeface="Verdana" panose="020B0604030504040204" pitchFamily="34" charset="0"/>
                        <a:cs typeface="Verdana" panose="020B0604030504040204" pitchFamily="34" charset="0"/>
                      </a:endParaRPr>
                    </a:p>
                  </a:txBody>
                  <a:tcPr marL="74295" marR="74295" marT="37148" marB="37148"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100" b="1">
                          <a:solidFill>
                            <a:schemeClr val="accent1"/>
                          </a:solidFill>
                          <a:latin typeface="Verdana" panose="020B0604030504040204" pitchFamily="34" charset="0"/>
                          <a:ea typeface="Verdana" panose="020B0604030504040204" pitchFamily="34" charset="0"/>
                          <a:cs typeface="Verdana" panose="020B0604030504040204" pitchFamily="34" charset="0"/>
                        </a:rPr>
                        <a:t>Development of a classification framework</a:t>
                      </a:r>
                    </a:p>
                  </a:txBody>
                  <a:tcPr marL="74295" marR="74295" marT="37148" marB="37148"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1A1A"/>
                          </a:solidFill>
                          <a:latin typeface="Verdana" panose="020B0604030504040204" pitchFamily="34" charset="0"/>
                          <a:ea typeface="Verdana" panose="020B0604030504040204" pitchFamily="34" charset="0"/>
                          <a:cs typeface="Calibri" pitchFamily="34" charset="-120"/>
                        </a:rPr>
                        <a:t>Criteria separating essential welfare and capability-enhancing support from provisions that may be distortionary.</a:t>
                      </a:r>
                      <a:endParaRPr lang="en-US" sz="1100">
                        <a:latin typeface="Verdana" panose="020B0604030504040204" pitchFamily="34" charset="0"/>
                        <a:ea typeface="Verdana" panose="020B0604030504040204" pitchFamily="34" charset="0"/>
                      </a:endParaRPr>
                    </a:p>
                    <a:p>
                      <a:pPr algn="l"/>
                      <a:endParaRPr lang="en-US" sz="1100" b="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74295" marR="74295" marT="37148" marB="37148"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670558"/>
                  </a:ext>
                </a:extLst>
              </a:tr>
              <a:tr h="535123">
                <a:tc>
                  <a:txBody>
                    <a:bodyPr/>
                    <a:lstStyle/>
                    <a:p>
                      <a:pPr algn="l"/>
                      <a:endParaRPr lang="en-US" sz="1100" b="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74295" marR="74295" marT="37148" marB="37148"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100" b="1">
                          <a:solidFill>
                            <a:schemeClr val="tx1"/>
                          </a:solidFill>
                          <a:latin typeface="Verdana" panose="020B0604030504040204" pitchFamily="34" charset="0"/>
                          <a:ea typeface="Verdana" panose="020B0604030504040204" pitchFamily="34" charset="0"/>
                          <a:cs typeface="Verdana" panose="020B0604030504040204" pitchFamily="34" charset="0"/>
                        </a:rPr>
                        <a:t>Estimation of explicit subsidies</a:t>
                      </a:r>
                    </a:p>
                  </a:txBody>
                  <a:tcPr marL="74295" marR="74295" marT="37148" marB="37148"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nSpc>
                          <a:spcPct val="93000"/>
                        </a:lnSpc>
                        <a:buNone/>
                      </a:pPr>
                      <a:r>
                        <a:rPr lang="en-US" sz="1100">
                          <a:solidFill>
                            <a:srgbClr val="1A1A1A"/>
                          </a:solidFill>
                          <a:latin typeface="Verdana" panose="020B0604030504040204" pitchFamily="34" charset="0"/>
                          <a:ea typeface="Verdana" panose="020B0604030504040204" pitchFamily="34" charset="0"/>
                          <a:cs typeface="Calibri" pitchFamily="34" charset="-120"/>
                        </a:rPr>
                        <a:t>DDGs and related statements reviewed to capture subsidy-like spend booked as grants, assistance, transfers or agency payments.</a:t>
                      </a:r>
                      <a:endParaRPr lang="en-US" sz="1100">
                        <a:latin typeface="Verdana" panose="020B0604030504040204" pitchFamily="34" charset="0"/>
                        <a:ea typeface="Verdana" panose="020B0604030504040204" pitchFamily="34" charset="0"/>
                      </a:endParaRPr>
                    </a:p>
                  </a:txBody>
                  <a:tcPr marL="74295" marR="74295" marT="37148" marB="37148"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1345550"/>
                  </a:ext>
                </a:extLst>
              </a:tr>
              <a:tr h="563324">
                <a:tc>
                  <a:txBody>
                    <a:bodyPr/>
                    <a:lstStyle/>
                    <a:p>
                      <a:pPr algn="l"/>
                      <a:endParaRPr lang="en-US" sz="1100" b="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74295" marR="74295" marT="37148" marB="37148"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100" b="1">
                          <a:solidFill>
                            <a:schemeClr val="tx1"/>
                          </a:solidFill>
                          <a:latin typeface="Verdana" panose="020B0604030504040204" pitchFamily="34" charset="0"/>
                          <a:ea typeface="Verdana" panose="020B0604030504040204" pitchFamily="34" charset="0"/>
                          <a:cs typeface="Verdana" panose="020B0604030504040204" pitchFamily="34" charset="0"/>
                        </a:rPr>
                        <a:t>Assessment of fiscal implications</a:t>
                      </a:r>
                    </a:p>
                  </a:txBody>
                  <a:tcPr marL="74295" marR="74295" marT="37148" marB="37148"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nSpc>
                          <a:spcPct val="93000"/>
                        </a:lnSpc>
                        <a:buNone/>
                      </a:pPr>
                      <a:r>
                        <a:rPr lang="en-US" sz="1100">
                          <a:solidFill>
                            <a:srgbClr val="1A1A1A"/>
                          </a:solidFill>
                          <a:latin typeface="Verdana" panose="020B0604030504040204" pitchFamily="34" charset="0"/>
                          <a:ea typeface="Verdana" panose="020B0604030504040204" pitchFamily="34" charset="0"/>
                          <a:cs typeface="Calibri" pitchFamily="34" charset="-120"/>
                        </a:rPr>
                        <a:t>The burden subsidy commitments place on revenue expenditure, fiscal space and room for capital investment.</a:t>
                      </a:r>
                      <a:endParaRPr lang="en-US" sz="1100">
                        <a:latin typeface="Verdana" panose="020B0604030504040204" pitchFamily="34" charset="0"/>
                        <a:ea typeface="Verdana" panose="020B0604030504040204" pitchFamily="34" charset="0"/>
                      </a:endParaRPr>
                    </a:p>
                  </a:txBody>
                  <a:tcPr marL="74295" marR="74295" marT="37148" marB="37148"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2064739"/>
                  </a:ext>
                </a:extLst>
              </a:tr>
              <a:tr h="686055">
                <a:tc>
                  <a:txBody>
                    <a:bodyPr/>
                    <a:lstStyle/>
                    <a:p>
                      <a:pPr algn="l"/>
                      <a:endParaRPr lang="en-US" sz="1100" b="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74295" marR="74295" marT="37148" marB="37148"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100" b="1">
                          <a:solidFill>
                            <a:schemeClr val="tx1"/>
                          </a:solidFill>
                          <a:latin typeface="Verdana" panose="020B0604030504040204" pitchFamily="34" charset="0"/>
                          <a:ea typeface="Verdana" panose="020B0604030504040204" pitchFamily="34" charset="0"/>
                          <a:cs typeface="Verdana" panose="020B0604030504040204" pitchFamily="34" charset="0"/>
                        </a:rPr>
                        <a:t>Benchmarking</a:t>
                      </a:r>
                    </a:p>
                  </a:txBody>
                  <a:tcPr marL="74295" marR="74295" marT="37148" marB="37148"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nSpc>
                          <a:spcPct val="93000"/>
                        </a:lnSpc>
                        <a:buNone/>
                      </a:pPr>
                      <a:r>
                        <a:rPr lang="en-US" sz="1100">
                          <a:solidFill>
                            <a:srgbClr val="1A1A1A"/>
                          </a:solidFill>
                          <a:latin typeface="Verdana" panose="020B0604030504040204" pitchFamily="34" charset="0"/>
                          <a:ea typeface="Verdana" panose="020B0604030504040204" pitchFamily="34" charset="0"/>
                          <a:cs typeface="Calibri" pitchFamily="34" charset="-120"/>
                        </a:rPr>
                        <a:t>Domestic and international practice in targeting, DBT, tariff design, metering, sunset clauses and transition support.</a:t>
                      </a:r>
                      <a:endParaRPr lang="en-US" sz="1100">
                        <a:latin typeface="Verdana" panose="020B0604030504040204" pitchFamily="34" charset="0"/>
                        <a:ea typeface="Verdana" panose="020B0604030504040204" pitchFamily="34" charset="0"/>
                      </a:endParaRPr>
                    </a:p>
                  </a:txBody>
                  <a:tcPr marL="74295" marR="74295" marT="37148" marB="37148"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06766495"/>
                  </a:ext>
                </a:extLst>
              </a:tr>
              <a:tr h="686055">
                <a:tc>
                  <a:txBody>
                    <a:bodyPr/>
                    <a:lstStyle/>
                    <a:p>
                      <a:pPr algn="l"/>
                      <a:endParaRPr lang="en-US" sz="1100" b="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74295" marR="74295" marT="37148" marB="37148"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100" b="1">
                          <a:solidFill>
                            <a:schemeClr val="tx1"/>
                          </a:solidFill>
                          <a:latin typeface="Verdana" panose="020B0604030504040204" pitchFamily="34" charset="0"/>
                          <a:ea typeface="Verdana" panose="020B0604030504040204" pitchFamily="34" charset="0"/>
                          <a:cs typeface="Verdana" panose="020B0604030504040204" pitchFamily="34" charset="0"/>
                        </a:rPr>
                        <a:t>Guideline &amp; framework / toolkit</a:t>
                      </a:r>
                    </a:p>
                    <a:p>
                      <a:pPr algn="l"/>
                      <a:endParaRPr lang="en-US" sz="1100" b="1">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74295" marR="74295" marT="37148" marB="37148"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nSpc>
                          <a:spcPct val="93000"/>
                        </a:lnSpc>
                        <a:buNone/>
                      </a:pPr>
                      <a:r>
                        <a:rPr lang="en-US" sz="1100">
                          <a:solidFill>
                            <a:srgbClr val="1A1A1A"/>
                          </a:solidFill>
                          <a:latin typeface="Verdana" panose="020B0604030504040204" pitchFamily="34" charset="0"/>
                          <a:ea typeface="Verdana" panose="020B0604030504040204" pitchFamily="34" charset="0"/>
                          <a:cs typeface="Calibri" pitchFamily="34" charset="-120"/>
                        </a:rPr>
                        <a:t>A practical instrument testing provisions against welfare, affordability, targeting, transparency and sustainability criteria.</a:t>
                      </a:r>
                      <a:endParaRPr lang="en-US" sz="1100">
                        <a:latin typeface="Verdana" panose="020B0604030504040204" pitchFamily="34" charset="0"/>
                        <a:ea typeface="Verdana" panose="020B0604030504040204" pitchFamily="34" charset="0"/>
                      </a:endParaRPr>
                    </a:p>
                  </a:txBody>
                  <a:tcPr marL="74295" marR="74295" marT="37148" marB="37148" anchor="ctr">
                    <a:lnL w="12700" cmpd="sng">
                      <a:noFill/>
                    </a:lnL>
                    <a:lnR w="12700" cmpd="sng">
                      <a:noFill/>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8049118"/>
                  </a:ext>
                </a:extLst>
              </a:tr>
            </a:tbl>
          </a:graphicData>
        </a:graphic>
      </p:graphicFrame>
      <p:pic>
        <p:nvPicPr>
          <p:cNvPr id="423" name="Picture 422">
            <a:extLst>
              <a:ext uri="{FF2B5EF4-FFF2-40B4-BE49-F238E27FC236}">
                <a16:creationId xmlns:a16="http://schemas.microsoft.com/office/drawing/2014/main" id="{F78E752B-AB1F-664B-B9F3-4093D233B280}"/>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50779" t="11162" r="45996" b="81632"/>
          <a:stretch/>
        </p:blipFill>
        <p:spPr>
          <a:xfrm>
            <a:off x="506827" y="1836598"/>
            <a:ext cx="278763" cy="334328"/>
          </a:xfrm>
          <a:prstGeom prst="rect">
            <a:avLst/>
          </a:prstGeom>
        </p:spPr>
      </p:pic>
      <p:pic>
        <p:nvPicPr>
          <p:cNvPr id="432" name="Picture 431">
            <a:extLst>
              <a:ext uri="{FF2B5EF4-FFF2-40B4-BE49-F238E27FC236}">
                <a16:creationId xmlns:a16="http://schemas.microsoft.com/office/drawing/2014/main" id="{EAC4090C-4995-1A68-293D-4E1F0E57A4C2}"/>
              </a:ext>
            </a:extLst>
          </p:cNvPr>
          <p:cNvPicPr>
            <a:picLocks noChangeAspect="1"/>
          </p:cNvPicPr>
          <p:nvPr/>
        </p:nvPicPr>
        <p:blipFill rotWithShape="1">
          <a:blip r:embed="rId3"/>
          <a:srcRect l="50479" t="26425" r="45512" b="69011"/>
          <a:stretch/>
        </p:blipFill>
        <p:spPr>
          <a:xfrm>
            <a:off x="501534" y="2348008"/>
            <a:ext cx="364802" cy="222885"/>
          </a:xfrm>
          <a:prstGeom prst="rect">
            <a:avLst/>
          </a:prstGeom>
        </p:spPr>
      </p:pic>
      <p:pic>
        <p:nvPicPr>
          <p:cNvPr id="433" name="Picture 432">
            <a:extLst>
              <a:ext uri="{FF2B5EF4-FFF2-40B4-BE49-F238E27FC236}">
                <a16:creationId xmlns:a16="http://schemas.microsoft.com/office/drawing/2014/main" id="{3485CBD5-2863-9E42-F3E1-504BAED17F43}"/>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50658" t="39548" r="45735" b="55388"/>
          <a:stretch/>
        </p:blipFill>
        <p:spPr>
          <a:xfrm>
            <a:off x="576987" y="2983819"/>
            <a:ext cx="289349" cy="218069"/>
          </a:xfrm>
          <a:prstGeom prst="rect">
            <a:avLst/>
          </a:prstGeom>
        </p:spPr>
      </p:pic>
      <p:pic>
        <p:nvPicPr>
          <p:cNvPr id="434" name="Picture 433">
            <a:extLst>
              <a:ext uri="{FF2B5EF4-FFF2-40B4-BE49-F238E27FC236}">
                <a16:creationId xmlns:a16="http://schemas.microsoft.com/office/drawing/2014/main" id="{501FD839-2448-EF0C-2723-6C554A4CEBC0}"/>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50142" t="53678" r="44972" b="38547"/>
          <a:stretch/>
        </p:blipFill>
        <p:spPr>
          <a:xfrm>
            <a:off x="519687" y="3468594"/>
            <a:ext cx="353351" cy="301772"/>
          </a:xfrm>
          <a:prstGeom prst="rect">
            <a:avLst/>
          </a:prstGeom>
        </p:spPr>
      </p:pic>
      <p:pic>
        <p:nvPicPr>
          <p:cNvPr id="435" name="Picture 434">
            <a:extLst>
              <a:ext uri="{FF2B5EF4-FFF2-40B4-BE49-F238E27FC236}">
                <a16:creationId xmlns:a16="http://schemas.microsoft.com/office/drawing/2014/main" id="{606AA447-E923-C7D3-0802-B5F6E47C836F}"/>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50342" t="68735" r="45356" b="25892"/>
          <a:stretch/>
        </p:blipFill>
        <p:spPr>
          <a:xfrm>
            <a:off x="509701" y="4021211"/>
            <a:ext cx="325340" cy="218069"/>
          </a:xfrm>
          <a:prstGeom prst="rect">
            <a:avLst/>
          </a:prstGeom>
        </p:spPr>
      </p:pic>
      <p:pic>
        <p:nvPicPr>
          <p:cNvPr id="436" name="Picture 435">
            <a:extLst>
              <a:ext uri="{FF2B5EF4-FFF2-40B4-BE49-F238E27FC236}">
                <a16:creationId xmlns:a16="http://schemas.microsoft.com/office/drawing/2014/main" id="{A0F62949-41D9-C429-97F8-D0567CD24696}"/>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49946" t="82082" r="44944" b="10583"/>
          <a:stretch/>
        </p:blipFill>
        <p:spPr>
          <a:xfrm>
            <a:off x="504978" y="4583633"/>
            <a:ext cx="377666" cy="290989"/>
          </a:xfrm>
          <a:prstGeom prst="rect">
            <a:avLst/>
          </a:prstGeom>
        </p:spPr>
      </p:pic>
      <p:sp>
        <p:nvSpPr>
          <p:cNvPr id="447" name="Shape 19">
            <a:extLst>
              <a:ext uri="{FF2B5EF4-FFF2-40B4-BE49-F238E27FC236}">
                <a16:creationId xmlns:a16="http://schemas.microsoft.com/office/drawing/2014/main" id="{6BC342DD-B7B9-4A87-81E9-B3BB6D6274C0}"/>
              </a:ext>
            </a:extLst>
          </p:cNvPr>
          <p:cNvSpPr/>
          <p:nvPr/>
        </p:nvSpPr>
        <p:spPr>
          <a:xfrm>
            <a:off x="630277" y="6235032"/>
            <a:ext cx="11201400" cy="319947"/>
          </a:xfrm>
          <a:prstGeom prst="roundRect">
            <a:avLst>
              <a:gd name="adj" fmla="val 6944"/>
            </a:avLst>
          </a:prstGeom>
          <a:noFill/>
          <a:ln/>
        </p:spPr>
        <p:txBody>
          <a:bodyPr/>
          <a:lstStyle/>
          <a:p>
            <a:endParaRPr lang="en-IN" sz="800"/>
          </a:p>
        </p:txBody>
      </p:sp>
      <p:sp>
        <p:nvSpPr>
          <p:cNvPr id="448" name="Shape 20">
            <a:extLst>
              <a:ext uri="{FF2B5EF4-FFF2-40B4-BE49-F238E27FC236}">
                <a16:creationId xmlns:a16="http://schemas.microsoft.com/office/drawing/2014/main" id="{358D1AC8-777D-5221-D258-65C7E46E9692}"/>
              </a:ext>
            </a:extLst>
          </p:cNvPr>
          <p:cNvSpPr/>
          <p:nvPr/>
        </p:nvSpPr>
        <p:spPr>
          <a:xfrm>
            <a:off x="137115" y="6256946"/>
            <a:ext cx="320038" cy="324566"/>
          </a:xfrm>
          <a:prstGeom prst="ellipse">
            <a:avLst/>
          </a:prstGeom>
          <a:solidFill>
            <a:srgbClr val="F2A900"/>
          </a:solidFill>
          <a:ln/>
        </p:spPr>
        <p:txBody>
          <a:bodyPr/>
          <a:lstStyle/>
          <a:p>
            <a:endParaRPr lang="en-IN" sz="800"/>
          </a:p>
        </p:txBody>
      </p:sp>
      <p:sp>
        <p:nvSpPr>
          <p:cNvPr id="450" name="Text 21">
            <a:extLst>
              <a:ext uri="{FF2B5EF4-FFF2-40B4-BE49-F238E27FC236}">
                <a16:creationId xmlns:a16="http://schemas.microsoft.com/office/drawing/2014/main" id="{D3B246D8-18DD-7D8F-4CEA-4C9E375BA51E}"/>
              </a:ext>
            </a:extLst>
          </p:cNvPr>
          <p:cNvSpPr/>
          <p:nvPr/>
        </p:nvSpPr>
        <p:spPr>
          <a:xfrm>
            <a:off x="564696" y="6207438"/>
            <a:ext cx="11293837" cy="463604"/>
          </a:xfrm>
          <a:prstGeom prst="rect">
            <a:avLst/>
          </a:prstGeom>
          <a:noFill/>
          <a:ln/>
        </p:spPr>
        <p:txBody>
          <a:bodyPr wrap="square" lIns="0" tIns="0" rIns="0" bIns="0" rtlCol="0" anchor="ctr"/>
          <a:lstStyle/>
          <a:p>
            <a:pPr marL="0" indent="0">
              <a:lnSpc>
                <a:spcPct val="94000"/>
              </a:lnSpc>
              <a:buNone/>
            </a:pPr>
            <a:r>
              <a:rPr lang="en-US" sz="800" b="1" kern="0" spc="100">
                <a:solidFill>
                  <a:srgbClr val="F2A900"/>
                </a:solidFill>
                <a:ea typeface="Arial" pitchFamily="34" charset="-122"/>
                <a:cs typeface="Arial" pitchFamily="34" charset="-120"/>
              </a:rPr>
              <a:t>THE OVERLAP THIS STUDY WILL EXPLAIN   </a:t>
            </a:r>
            <a:r>
              <a:rPr lang="en-US" sz="800">
                <a:ea typeface="Calibri" pitchFamily="34" charset="-122"/>
                <a:cs typeface="Calibri" pitchFamily="34" charset="-120"/>
              </a:rPr>
              <a:t>Several States running the largest subsidy </a:t>
            </a:r>
            <a:r>
              <a:rPr lang="en-US" sz="800" err="1">
                <a:ea typeface="Calibri" pitchFamily="34" charset="-122"/>
                <a:cs typeface="Calibri" pitchFamily="34" charset="-120"/>
              </a:rPr>
              <a:t>programmes</a:t>
            </a:r>
            <a:r>
              <a:rPr lang="en-US" sz="800">
                <a:ea typeface="Calibri" pitchFamily="34" charset="-122"/>
                <a:cs typeface="Calibri" pitchFamily="34" charset="-120"/>
              </a:rPr>
              <a:t> also rank among the lower-scoring States on NITI Aayog's own Fiscal Health Index (2026). Whether that is cause, consequence or coincidence is precisely what a consistent classification framework would let us test — rather than assume.</a:t>
            </a:r>
            <a:endParaRPr lang="en-US" sz="800"/>
          </a:p>
        </p:txBody>
      </p:sp>
      <p:sp>
        <p:nvSpPr>
          <p:cNvPr id="467" name="Freeform 602">
            <a:extLst>
              <a:ext uri="{FF2B5EF4-FFF2-40B4-BE49-F238E27FC236}">
                <a16:creationId xmlns:a16="http://schemas.microsoft.com/office/drawing/2014/main" id="{87C0FA53-45E1-F237-D8A2-DC116996EF90}"/>
              </a:ext>
            </a:extLst>
          </p:cNvPr>
          <p:cNvSpPr>
            <a:spLocks noChangeAspect="1" noEditPoints="1"/>
          </p:cNvSpPr>
          <p:nvPr/>
        </p:nvSpPr>
        <p:spPr bwMode="auto">
          <a:xfrm>
            <a:off x="509701" y="5242894"/>
            <a:ext cx="325340" cy="325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 name="T20" fmla="*/ 362 w 512"/>
              <a:gd name="T21" fmla="*/ 405 h 512"/>
              <a:gd name="T22" fmla="*/ 356 w 512"/>
              <a:gd name="T23" fmla="*/ 403 h 512"/>
              <a:gd name="T24" fmla="*/ 256 w 512"/>
              <a:gd name="T25" fmla="*/ 323 h 512"/>
              <a:gd name="T26" fmla="*/ 156 w 512"/>
              <a:gd name="T27" fmla="*/ 403 h 512"/>
              <a:gd name="T28" fmla="*/ 144 w 512"/>
              <a:gd name="T29" fmla="*/ 404 h 512"/>
              <a:gd name="T30" fmla="*/ 138 w 512"/>
              <a:gd name="T31" fmla="*/ 394 h 512"/>
              <a:gd name="T32" fmla="*/ 138 w 512"/>
              <a:gd name="T33" fmla="*/ 117 h 512"/>
              <a:gd name="T34" fmla="*/ 149 w 512"/>
              <a:gd name="T35" fmla="*/ 106 h 512"/>
              <a:gd name="T36" fmla="*/ 362 w 512"/>
              <a:gd name="T37" fmla="*/ 106 h 512"/>
              <a:gd name="T38" fmla="*/ 373 w 512"/>
              <a:gd name="T39" fmla="*/ 117 h 512"/>
              <a:gd name="T40" fmla="*/ 373 w 512"/>
              <a:gd name="T41" fmla="*/ 394 h 512"/>
              <a:gd name="T42" fmla="*/ 367 w 512"/>
              <a:gd name="T43" fmla="*/ 404 h 512"/>
              <a:gd name="T44" fmla="*/ 362 w 512"/>
              <a:gd name="T45" fmla="*/ 405 h 512"/>
              <a:gd name="T46" fmla="*/ 256 w 512"/>
              <a:gd name="T47" fmla="*/ 298 h 512"/>
              <a:gd name="T48" fmla="*/ 262 w 512"/>
              <a:gd name="T49" fmla="*/ 301 h 512"/>
              <a:gd name="T50" fmla="*/ 352 w 512"/>
              <a:gd name="T51" fmla="*/ 372 h 512"/>
              <a:gd name="T52" fmla="*/ 352 w 512"/>
              <a:gd name="T53" fmla="*/ 128 h 512"/>
              <a:gd name="T54" fmla="*/ 160 w 512"/>
              <a:gd name="T55" fmla="*/ 128 h 512"/>
              <a:gd name="T56" fmla="*/ 160 w 512"/>
              <a:gd name="T57" fmla="*/ 372 h 512"/>
              <a:gd name="T58" fmla="*/ 249 w 512"/>
              <a:gd name="T59" fmla="*/ 301 h 512"/>
              <a:gd name="T60" fmla="*/ 256 w 512"/>
              <a:gd name="T61" fmla="*/ 29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62" y="405"/>
                </a:moveTo>
                <a:cubicBezTo>
                  <a:pt x="360" y="405"/>
                  <a:pt x="358" y="404"/>
                  <a:pt x="356" y="403"/>
                </a:cubicBezTo>
                <a:cubicBezTo>
                  <a:pt x="256" y="323"/>
                  <a:pt x="256" y="323"/>
                  <a:pt x="256" y="323"/>
                </a:cubicBezTo>
                <a:cubicBezTo>
                  <a:pt x="156" y="403"/>
                  <a:pt x="156" y="403"/>
                  <a:pt x="156" y="403"/>
                </a:cubicBezTo>
                <a:cubicBezTo>
                  <a:pt x="152" y="405"/>
                  <a:pt x="148" y="406"/>
                  <a:pt x="144" y="404"/>
                </a:cubicBezTo>
                <a:cubicBezTo>
                  <a:pt x="141" y="402"/>
                  <a:pt x="138" y="398"/>
                  <a:pt x="138" y="394"/>
                </a:cubicBezTo>
                <a:cubicBezTo>
                  <a:pt x="138" y="117"/>
                  <a:pt x="138" y="117"/>
                  <a:pt x="138" y="117"/>
                </a:cubicBezTo>
                <a:cubicBezTo>
                  <a:pt x="138" y="111"/>
                  <a:pt x="143" y="106"/>
                  <a:pt x="149" y="106"/>
                </a:cubicBezTo>
                <a:cubicBezTo>
                  <a:pt x="362" y="106"/>
                  <a:pt x="362" y="106"/>
                  <a:pt x="362" y="106"/>
                </a:cubicBezTo>
                <a:cubicBezTo>
                  <a:pt x="368" y="106"/>
                  <a:pt x="373" y="111"/>
                  <a:pt x="373" y="117"/>
                </a:cubicBezTo>
                <a:cubicBezTo>
                  <a:pt x="373" y="394"/>
                  <a:pt x="373" y="394"/>
                  <a:pt x="373" y="394"/>
                </a:cubicBezTo>
                <a:cubicBezTo>
                  <a:pt x="373" y="398"/>
                  <a:pt x="371" y="402"/>
                  <a:pt x="367" y="404"/>
                </a:cubicBezTo>
                <a:cubicBezTo>
                  <a:pt x="365" y="405"/>
                  <a:pt x="364" y="405"/>
                  <a:pt x="362" y="405"/>
                </a:cubicBezTo>
                <a:close/>
                <a:moveTo>
                  <a:pt x="256" y="298"/>
                </a:moveTo>
                <a:cubicBezTo>
                  <a:pt x="258" y="298"/>
                  <a:pt x="260" y="299"/>
                  <a:pt x="262" y="301"/>
                </a:cubicBezTo>
                <a:cubicBezTo>
                  <a:pt x="352" y="372"/>
                  <a:pt x="352" y="372"/>
                  <a:pt x="352" y="372"/>
                </a:cubicBezTo>
                <a:cubicBezTo>
                  <a:pt x="352" y="128"/>
                  <a:pt x="352" y="128"/>
                  <a:pt x="352" y="128"/>
                </a:cubicBezTo>
                <a:cubicBezTo>
                  <a:pt x="160" y="128"/>
                  <a:pt x="160" y="128"/>
                  <a:pt x="160" y="128"/>
                </a:cubicBezTo>
                <a:cubicBezTo>
                  <a:pt x="160" y="372"/>
                  <a:pt x="160" y="372"/>
                  <a:pt x="160" y="372"/>
                </a:cubicBezTo>
                <a:cubicBezTo>
                  <a:pt x="249" y="301"/>
                  <a:pt x="249" y="301"/>
                  <a:pt x="249" y="301"/>
                </a:cubicBezTo>
                <a:cubicBezTo>
                  <a:pt x="251" y="299"/>
                  <a:pt x="253" y="298"/>
                  <a:pt x="256" y="298"/>
                </a:cubicBezTo>
                <a:close/>
              </a:path>
            </a:pathLst>
          </a:custGeom>
          <a:solidFill>
            <a:schemeClr val="tx1"/>
          </a:solidFill>
          <a:ln>
            <a:solidFill>
              <a:srgbClr val="041E42"/>
            </a:solid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34388201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D357A-BA38-6BBC-3676-0E42C005D1C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550FC3C-0718-01D7-AC34-68A7003AA9BC}"/>
              </a:ext>
            </a:extLst>
          </p:cNvPr>
          <p:cNvSpPr/>
          <p:nvPr/>
        </p:nvSpPr>
        <p:spPr bwMode="gray">
          <a:xfrm>
            <a:off x="333466" y="121359"/>
            <a:ext cx="11811080" cy="370522"/>
          </a:xfrm>
          <a:prstGeom prst="rect">
            <a:avLst/>
          </a:prstGeom>
          <a:noFill/>
          <a:ln w="19050" algn="ctr">
            <a:noFill/>
            <a:miter lim="800000"/>
            <a:headEnd/>
            <a:tailEnd/>
          </a:ln>
        </p:spPr>
        <p:txBody>
          <a:bodyPr wrap="square" lIns="88900" tIns="88900" rIns="88900" bIns="88900" rtlCol="0" anchor="ctr"/>
          <a:lstStyle/>
          <a:p>
            <a:r>
              <a:rPr lang="en-US" sz="1800" b="1">
                <a:latin typeface="+mj-lt"/>
              </a:rPr>
              <a:t>Relevance and need </a:t>
            </a:r>
            <a:r>
              <a:rPr lang="en-US" b="1">
                <a:latin typeface="+mj-lt"/>
              </a:rPr>
              <a:t>of </a:t>
            </a:r>
            <a:r>
              <a:rPr lang="en-US" sz="1800" b="1">
                <a:latin typeface="+mj-lt"/>
              </a:rPr>
              <a:t>the Study</a:t>
            </a:r>
          </a:p>
        </p:txBody>
      </p:sp>
      <p:cxnSp>
        <p:nvCxnSpPr>
          <p:cNvPr id="6" name="Straight Arrow Connector 5">
            <a:extLst>
              <a:ext uri="{FF2B5EF4-FFF2-40B4-BE49-F238E27FC236}">
                <a16:creationId xmlns:a16="http://schemas.microsoft.com/office/drawing/2014/main" id="{0383BB1F-695E-835F-8EE2-68BA897416AA}"/>
              </a:ext>
            </a:extLst>
          </p:cNvPr>
          <p:cNvCxnSpPr/>
          <p:nvPr/>
        </p:nvCxnSpPr>
        <p:spPr>
          <a:xfrm flipV="1">
            <a:off x="379682" y="756274"/>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23F745E9-386E-9D86-81A7-3D3E4378F4D9}"/>
              </a:ext>
            </a:extLst>
          </p:cNvPr>
          <p:cNvGrpSpPr/>
          <p:nvPr/>
        </p:nvGrpSpPr>
        <p:grpSpPr>
          <a:xfrm>
            <a:off x="245333" y="5997543"/>
            <a:ext cx="11708673" cy="517556"/>
            <a:chOff x="245333" y="5997543"/>
            <a:chExt cx="11708673" cy="557436"/>
          </a:xfrm>
        </p:grpSpPr>
        <p:sp>
          <p:nvSpPr>
            <p:cNvPr id="447" name="Shape 19">
              <a:extLst>
                <a:ext uri="{FF2B5EF4-FFF2-40B4-BE49-F238E27FC236}">
                  <a16:creationId xmlns:a16="http://schemas.microsoft.com/office/drawing/2014/main" id="{BEBDEA77-6A82-42FB-72AE-1859BDABEB76}"/>
                </a:ext>
              </a:extLst>
            </p:cNvPr>
            <p:cNvSpPr/>
            <p:nvPr/>
          </p:nvSpPr>
          <p:spPr>
            <a:xfrm>
              <a:off x="752606" y="6235032"/>
              <a:ext cx="11201400" cy="319947"/>
            </a:xfrm>
            <a:prstGeom prst="roundRect">
              <a:avLst>
                <a:gd name="adj" fmla="val 6944"/>
              </a:avLst>
            </a:prstGeom>
            <a:noFill/>
            <a:ln/>
          </p:spPr>
          <p:txBody>
            <a:bodyPr/>
            <a:lstStyle/>
            <a:p>
              <a:endParaRPr lang="en-IN" sz="800"/>
            </a:p>
          </p:txBody>
        </p:sp>
        <p:sp>
          <p:nvSpPr>
            <p:cNvPr id="448" name="Shape 20">
              <a:extLst>
                <a:ext uri="{FF2B5EF4-FFF2-40B4-BE49-F238E27FC236}">
                  <a16:creationId xmlns:a16="http://schemas.microsoft.com/office/drawing/2014/main" id="{7ABFABC4-9E4A-F909-5BF5-6D01C11A17A1}"/>
                </a:ext>
              </a:extLst>
            </p:cNvPr>
            <p:cNvSpPr/>
            <p:nvPr/>
          </p:nvSpPr>
          <p:spPr>
            <a:xfrm>
              <a:off x="245333" y="6070439"/>
              <a:ext cx="320038" cy="324566"/>
            </a:xfrm>
            <a:prstGeom prst="ellipse">
              <a:avLst/>
            </a:prstGeom>
            <a:solidFill>
              <a:srgbClr val="F2A900"/>
            </a:solidFill>
            <a:ln/>
          </p:spPr>
          <p:txBody>
            <a:bodyPr/>
            <a:lstStyle/>
            <a:p>
              <a:endParaRPr lang="en-IN" sz="800"/>
            </a:p>
          </p:txBody>
        </p:sp>
        <p:sp>
          <p:nvSpPr>
            <p:cNvPr id="450" name="Text 21">
              <a:extLst>
                <a:ext uri="{FF2B5EF4-FFF2-40B4-BE49-F238E27FC236}">
                  <a16:creationId xmlns:a16="http://schemas.microsoft.com/office/drawing/2014/main" id="{8B60CA40-BABA-D5F3-2560-58D1DA8F8025}"/>
                </a:ext>
              </a:extLst>
            </p:cNvPr>
            <p:cNvSpPr/>
            <p:nvPr/>
          </p:nvSpPr>
          <p:spPr>
            <a:xfrm>
              <a:off x="592087" y="5997543"/>
              <a:ext cx="11293837" cy="463604"/>
            </a:xfrm>
            <a:prstGeom prst="rect">
              <a:avLst/>
            </a:prstGeom>
            <a:noFill/>
            <a:ln/>
          </p:spPr>
          <p:txBody>
            <a:bodyPr wrap="square" lIns="0" tIns="0" rIns="0" bIns="0" rtlCol="0" anchor="ctr"/>
            <a:lstStyle/>
            <a:p>
              <a:pPr marL="0" indent="0">
                <a:lnSpc>
                  <a:spcPct val="94000"/>
                </a:lnSpc>
                <a:buNone/>
              </a:pPr>
              <a:r>
                <a:rPr lang="en-US" sz="900" b="1" kern="0" spc="100">
                  <a:solidFill>
                    <a:srgbClr val="F2A900"/>
                  </a:solidFill>
                  <a:ea typeface="Arial" pitchFamily="34" charset="-122"/>
                  <a:cs typeface="Arial" pitchFamily="34" charset="-120"/>
                </a:rPr>
                <a:t>THE OVERLAP THIS STUDY WILL EXPLAIN   </a:t>
              </a:r>
              <a:r>
                <a:rPr lang="en-US" sz="900">
                  <a:ea typeface="Calibri" pitchFamily="34" charset="-122"/>
                  <a:cs typeface="Calibri" pitchFamily="34" charset="-120"/>
                </a:rPr>
                <a:t>Several States running the largest subsidy </a:t>
              </a:r>
              <a:r>
                <a:rPr lang="en-US" sz="900" err="1">
                  <a:ea typeface="Calibri" pitchFamily="34" charset="-122"/>
                  <a:cs typeface="Calibri" pitchFamily="34" charset="-120"/>
                </a:rPr>
                <a:t>programmes</a:t>
              </a:r>
              <a:r>
                <a:rPr lang="en-US" sz="900">
                  <a:ea typeface="Calibri" pitchFamily="34" charset="-122"/>
                  <a:cs typeface="Calibri" pitchFamily="34" charset="-120"/>
                </a:rPr>
                <a:t> also rank among the lower-scoring States on NITI Aayog's own Fiscal Health Index (2026). Whether that is cause, consequence or coincidence is precisely what a consistent classification framework would let us test — rather than assume.</a:t>
              </a:r>
              <a:endParaRPr lang="en-US" sz="900"/>
            </a:p>
          </p:txBody>
        </p:sp>
      </p:grpSp>
      <p:sp>
        <p:nvSpPr>
          <p:cNvPr id="453" name="TextBox 452">
            <a:extLst>
              <a:ext uri="{FF2B5EF4-FFF2-40B4-BE49-F238E27FC236}">
                <a16:creationId xmlns:a16="http://schemas.microsoft.com/office/drawing/2014/main" id="{4CE0B4EF-2AAE-E4C4-CFD9-D82CB45956CC}"/>
              </a:ext>
            </a:extLst>
          </p:cNvPr>
          <p:cNvSpPr txBox="1"/>
          <p:nvPr/>
        </p:nvSpPr>
        <p:spPr>
          <a:xfrm>
            <a:off x="333466" y="492397"/>
            <a:ext cx="11525067" cy="307777"/>
          </a:xfrm>
          <a:prstGeom prst="rect">
            <a:avLst/>
          </a:prstGeom>
          <a:noFill/>
        </p:spPr>
        <p:txBody>
          <a:bodyPr wrap="square">
            <a:spAutoFit/>
          </a:bodyPr>
          <a:lstStyle/>
          <a:p>
            <a:r>
              <a:rPr lang="en-US" sz="1400">
                <a:solidFill>
                  <a:schemeClr val="bg1">
                    <a:lumMod val="50000"/>
                  </a:schemeClr>
                </a:solidFill>
                <a:ea typeface="Calibri" pitchFamily="34" charset="-122"/>
                <a:cs typeface="Calibri" pitchFamily="34" charset="-120"/>
              </a:rPr>
              <a:t>Four reasons this study is critical now - and one uncomfortable overlap that motivates all of them</a:t>
            </a:r>
          </a:p>
        </p:txBody>
      </p:sp>
      <p:grpSp>
        <p:nvGrpSpPr>
          <p:cNvPr id="2" name="Group 1">
            <a:extLst>
              <a:ext uri="{FF2B5EF4-FFF2-40B4-BE49-F238E27FC236}">
                <a16:creationId xmlns:a16="http://schemas.microsoft.com/office/drawing/2014/main" id="{5DEF75E6-2114-C782-D482-67D66B39A0CF}"/>
              </a:ext>
            </a:extLst>
          </p:cNvPr>
          <p:cNvGrpSpPr/>
          <p:nvPr/>
        </p:nvGrpSpPr>
        <p:grpSpPr>
          <a:xfrm>
            <a:off x="630276" y="1236496"/>
            <a:ext cx="10964823" cy="4529303"/>
            <a:chOff x="576072" y="1170432"/>
            <a:chExt cx="10186416" cy="4480560"/>
          </a:xfrm>
        </p:grpSpPr>
        <p:sp>
          <p:nvSpPr>
            <p:cNvPr id="3" name="Shape 3">
              <a:extLst>
                <a:ext uri="{FF2B5EF4-FFF2-40B4-BE49-F238E27FC236}">
                  <a16:creationId xmlns:a16="http://schemas.microsoft.com/office/drawing/2014/main" id="{CF397867-AEF5-7BAF-721D-D2AE173E9EDA}"/>
                </a:ext>
              </a:extLst>
            </p:cNvPr>
            <p:cNvSpPr/>
            <p:nvPr/>
          </p:nvSpPr>
          <p:spPr>
            <a:xfrm>
              <a:off x="685800" y="1170432"/>
              <a:ext cx="2286000" cy="2286000"/>
            </a:xfrm>
            <a:prstGeom prst="diamond">
              <a:avLst/>
            </a:prstGeom>
            <a:solidFill>
              <a:srgbClr val="046A38"/>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lstStyle/>
            <a:p>
              <a:endParaRPr lang="en-IN">
                <a:solidFill>
                  <a:srgbClr val="86BC25"/>
                </a:solidFill>
              </a:endParaRPr>
            </a:p>
          </p:txBody>
        </p:sp>
        <p:pic>
          <p:nvPicPr>
            <p:cNvPr id="4" name="Image 0" descr="preencoded.png">
              <a:extLst>
                <a:ext uri="{FF2B5EF4-FFF2-40B4-BE49-F238E27FC236}">
                  <a16:creationId xmlns:a16="http://schemas.microsoft.com/office/drawing/2014/main" id="{581A3692-DDD6-3B08-FE27-FED6C870F861}"/>
                </a:ext>
              </a:extLst>
            </p:cNvPr>
            <p:cNvPicPr>
              <a:picLocks noChangeAspect="1"/>
            </p:cNvPicPr>
            <p:nvPr/>
          </p:nvPicPr>
          <p:blipFill>
            <a:blip r:embed="rId3"/>
            <a:stretch>
              <a:fillRect/>
            </a:stretch>
          </p:blipFill>
          <p:spPr>
            <a:xfrm>
              <a:off x="1673352" y="1719072"/>
              <a:ext cx="310896" cy="310896"/>
            </a:xfrm>
            <a:prstGeom prst="rect">
              <a:avLst/>
            </a:prstGeom>
          </p:spPr>
        </p:pic>
        <p:sp>
          <p:nvSpPr>
            <p:cNvPr id="7" name="Shape 4">
              <a:extLst>
                <a:ext uri="{FF2B5EF4-FFF2-40B4-BE49-F238E27FC236}">
                  <a16:creationId xmlns:a16="http://schemas.microsoft.com/office/drawing/2014/main" id="{7E1CC7D9-4C66-8AD1-EE1A-DF58C7FC6435}"/>
                </a:ext>
              </a:extLst>
            </p:cNvPr>
            <p:cNvSpPr/>
            <p:nvPr/>
          </p:nvSpPr>
          <p:spPr>
            <a:xfrm>
              <a:off x="1188720" y="2157984"/>
              <a:ext cx="1280160" cy="0"/>
            </a:xfrm>
            <a:prstGeom prst="line">
              <a:avLst/>
            </a:prstGeom>
            <a:noFill/>
            <a:ln w="12700">
              <a:solidFill>
                <a:srgbClr val="FFFFFF"/>
              </a:solidFill>
              <a:prstDash val="solid"/>
            </a:ln>
          </p:spPr>
          <p:txBody>
            <a:bodyPr/>
            <a:lstStyle/>
            <a:p>
              <a:endParaRPr lang="en-IN"/>
            </a:p>
          </p:txBody>
        </p:sp>
        <p:sp>
          <p:nvSpPr>
            <p:cNvPr id="8" name="Text 5">
              <a:extLst>
                <a:ext uri="{FF2B5EF4-FFF2-40B4-BE49-F238E27FC236}">
                  <a16:creationId xmlns:a16="http://schemas.microsoft.com/office/drawing/2014/main" id="{D9494F22-0243-7403-3634-05CD2D8E5D4A}"/>
                </a:ext>
              </a:extLst>
            </p:cNvPr>
            <p:cNvSpPr/>
            <p:nvPr/>
          </p:nvSpPr>
          <p:spPr>
            <a:xfrm>
              <a:off x="941832" y="2212848"/>
              <a:ext cx="1773936" cy="566928"/>
            </a:xfrm>
            <a:prstGeom prst="rect">
              <a:avLst/>
            </a:prstGeom>
            <a:noFill/>
            <a:ln/>
          </p:spPr>
          <p:txBody>
            <a:bodyPr wrap="square" lIns="0" tIns="0" rIns="0" bIns="0" rtlCol="0" anchor="t"/>
            <a:lstStyle/>
            <a:p>
              <a:pPr marL="0" indent="0" algn="ctr">
                <a:lnSpc>
                  <a:spcPct val="92000"/>
                </a:lnSpc>
                <a:buNone/>
              </a:pPr>
              <a:r>
                <a:rPr lang="en-US" sz="1050" b="1">
                  <a:solidFill>
                    <a:srgbClr val="FFFFFF"/>
                  </a:solidFill>
                  <a:latin typeface="Verdana" panose="020B0604030504040204" pitchFamily="34" charset="0"/>
                  <a:ea typeface="Verdana" panose="020B0604030504040204" pitchFamily="34" charset="0"/>
                  <a:cs typeface="Arial" pitchFamily="34" charset="-120"/>
                </a:rPr>
                <a:t>Definitional &amp;</a:t>
              </a:r>
              <a:endParaRPr lang="en-US" sz="1050">
                <a:latin typeface="Verdana" panose="020B0604030504040204" pitchFamily="34" charset="0"/>
                <a:ea typeface="Verdana" panose="020B0604030504040204" pitchFamily="34" charset="0"/>
              </a:endParaRPr>
            </a:p>
            <a:p>
              <a:pPr marL="0" indent="0" algn="ctr">
                <a:lnSpc>
                  <a:spcPct val="92000"/>
                </a:lnSpc>
                <a:buNone/>
              </a:pPr>
              <a:r>
                <a:rPr lang="en-US" sz="1050" b="1">
                  <a:solidFill>
                    <a:srgbClr val="FFFFFF"/>
                  </a:solidFill>
                  <a:latin typeface="Verdana" panose="020B0604030504040204" pitchFamily="34" charset="0"/>
                  <a:ea typeface="Verdana" panose="020B0604030504040204" pitchFamily="34" charset="0"/>
                  <a:cs typeface="Arial" pitchFamily="34" charset="-120"/>
                </a:rPr>
                <a:t>accounting clarity</a:t>
              </a:r>
              <a:endParaRPr lang="en-US" sz="1050">
                <a:latin typeface="Verdana" panose="020B0604030504040204" pitchFamily="34" charset="0"/>
                <a:ea typeface="Verdana" panose="020B0604030504040204" pitchFamily="34" charset="0"/>
              </a:endParaRPr>
            </a:p>
          </p:txBody>
        </p:sp>
        <p:sp>
          <p:nvSpPr>
            <p:cNvPr id="9" name="Text 6">
              <a:extLst>
                <a:ext uri="{FF2B5EF4-FFF2-40B4-BE49-F238E27FC236}">
                  <a16:creationId xmlns:a16="http://schemas.microsoft.com/office/drawing/2014/main" id="{54DC142A-A6B6-C2AF-65B2-9F413005247C}"/>
                </a:ext>
              </a:extLst>
            </p:cNvPr>
            <p:cNvSpPr/>
            <p:nvPr/>
          </p:nvSpPr>
          <p:spPr>
            <a:xfrm>
              <a:off x="576072" y="3511296"/>
              <a:ext cx="2505456" cy="914400"/>
            </a:xfrm>
            <a:prstGeom prst="rect">
              <a:avLst/>
            </a:prstGeom>
            <a:noFill/>
            <a:ln/>
          </p:spPr>
          <p:txBody>
            <a:bodyPr wrap="square" lIns="0" tIns="0" rIns="0" bIns="0" rtlCol="0" anchor="t"/>
            <a:lstStyle/>
            <a:p>
              <a:pPr marL="0" indent="0" algn="ctr">
                <a:lnSpc>
                  <a:spcPct val="94000"/>
                </a:lnSpc>
                <a:buNone/>
              </a:pPr>
              <a:r>
                <a:rPr lang="en-US" sz="1000">
                  <a:solidFill>
                    <a:srgbClr val="53565A"/>
                  </a:solidFill>
                  <a:latin typeface="Verdana" panose="020B0604030504040204" pitchFamily="34" charset="0"/>
                  <a:ea typeface="Verdana" panose="020B0604030504040204" pitchFamily="34" charset="0"/>
                  <a:cs typeface="Calibri" pitchFamily="34" charset="-120"/>
                </a:rPr>
                <a:t>Unifies fragmented subsidy definitions across Union and State budgets, addressing under-reporting from off-budget liabilities, special securities and misclassified heads.</a:t>
              </a:r>
              <a:endParaRPr lang="en-US" sz="1000">
                <a:latin typeface="Verdana" panose="020B0604030504040204" pitchFamily="34" charset="0"/>
                <a:ea typeface="Verdana" panose="020B0604030504040204" pitchFamily="34" charset="0"/>
              </a:endParaRPr>
            </a:p>
          </p:txBody>
        </p:sp>
        <p:sp>
          <p:nvSpPr>
            <p:cNvPr id="10" name="Shape 7">
              <a:extLst>
                <a:ext uri="{FF2B5EF4-FFF2-40B4-BE49-F238E27FC236}">
                  <a16:creationId xmlns:a16="http://schemas.microsoft.com/office/drawing/2014/main" id="{4E080B44-E2B3-C1AB-63E5-A485818F19AA}"/>
                </a:ext>
              </a:extLst>
            </p:cNvPr>
            <p:cNvSpPr/>
            <p:nvPr/>
          </p:nvSpPr>
          <p:spPr>
            <a:xfrm>
              <a:off x="3246120" y="2395728"/>
              <a:ext cx="2286000" cy="2286000"/>
            </a:xfrm>
            <a:prstGeom prst="diamond">
              <a:avLst/>
            </a:prstGeom>
            <a:solidFill>
              <a:schemeClr val="tx2">
                <a:lumMod val="7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lstStyle/>
            <a:p>
              <a:endParaRPr lang="en-IN"/>
            </a:p>
          </p:txBody>
        </p:sp>
        <p:pic>
          <p:nvPicPr>
            <p:cNvPr id="11" name="Image 1" descr="preencoded.png">
              <a:extLst>
                <a:ext uri="{FF2B5EF4-FFF2-40B4-BE49-F238E27FC236}">
                  <a16:creationId xmlns:a16="http://schemas.microsoft.com/office/drawing/2014/main" id="{55E4CB1B-01C8-D7C7-6523-37A721AB11E6}"/>
                </a:ext>
              </a:extLst>
            </p:cNvPr>
            <p:cNvPicPr>
              <a:picLocks noChangeAspect="1"/>
            </p:cNvPicPr>
            <p:nvPr/>
          </p:nvPicPr>
          <p:blipFill>
            <a:blip r:embed="rId4"/>
            <a:stretch>
              <a:fillRect/>
            </a:stretch>
          </p:blipFill>
          <p:spPr>
            <a:xfrm>
              <a:off x="4233672" y="2944368"/>
              <a:ext cx="310896" cy="310896"/>
            </a:xfrm>
            <a:prstGeom prst="rect">
              <a:avLst/>
            </a:prstGeom>
          </p:spPr>
        </p:pic>
        <p:sp>
          <p:nvSpPr>
            <p:cNvPr id="12" name="Shape 8">
              <a:extLst>
                <a:ext uri="{FF2B5EF4-FFF2-40B4-BE49-F238E27FC236}">
                  <a16:creationId xmlns:a16="http://schemas.microsoft.com/office/drawing/2014/main" id="{BE8B9863-B9C2-EF2C-5D26-3A1421870F69}"/>
                </a:ext>
              </a:extLst>
            </p:cNvPr>
            <p:cNvSpPr/>
            <p:nvPr/>
          </p:nvSpPr>
          <p:spPr>
            <a:xfrm>
              <a:off x="3749040" y="3383280"/>
              <a:ext cx="1280160" cy="0"/>
            </a:xfrm>
            <a:prstGeom prst="line">
              <a:avLst/>
            </a:prstGeom>
            <a:noFill/>
            <a:ln w="12700">
              <a:solidFill>
                <a:srgbClr val="FFFFFF"/>
              </a:solidFill>
              <a:prstDash val="solid"/>
            </a:ln>
          </p:spPr>
          <p:txBody>
            <a:bodyPr/>
            <a:lstStyle/>
            <a:p>
              <a:endParaRPr lang="en-IN"/>
            </a:p>
          </p:txBody>
        </p:sp>
        <p:sp>
          <p:nvSpPr>
            <p:cNvPr id="13" name="Text 9">
              <a:extLst>
                <a:ext uri="{FF2B5EF4-FFF2-40B4-BE49-F238E27FC236}">
                  <a16:creationId xmlns:a16="http://schemas.microsoft.com/office/drawing/2014/main" id="{F9881CE9-39B7-F75A-7B05-F266268A9D29}"/>
                </a:ext>
              </a:extLst>
            </p:cNvPr>
            <p:cNvSpPr/>
            <p:nvPr/>
          </p:nvSpPr>
          <p:spPr>
            <a:xfrm>
              <a:off x="3502152" y="3438144"/>
              <a:ext cx="1773936" cy="566928"/>
            </a:xfrm>
            <a:prstGeom prst="rect">
              <a:avLst/>
            </a:prstGeom>
            <a:noFill/>
            <a:ln/>
          </p:spPr>
          <p:txBody>
            <a:bodyPr wrap="square" lIns="0" tIns="0" rIns="0" bIns="0" rtlCol="0" anchor="t"/>
            <a:lstStyle/>
            <a:p>
              <a:pPr marL="0" indent="0" algn="ctr">
                <a:lnSpc>
                  <a:spcPct val="92000"/>
                </a:lnSpc>
                <a:buNone/>
              </a:pPr>
              <a:r>
                <a:rPr lang="en-US" sz="1050" b="1">
                  <a:solidFill>
                    <a:srgbClr val="FFFFFF"/>
                  </a:solidFill>
                  <a:latin typeface="Verdana" panose="020B0604030504040204" pitchFamily="34" charset="0"/>
                  <a:ea typeface="Verdana" panose="020B0604030504040204" pitchFamily="34" charset="0"/>
                  <a:cs typeface="Arial" pitchFamily="34" charset="-120"/>
                </a:rPr>
                <a:t>Restoring</a:t>
              </a:r>
              <a:endParaRPr lang="en-US" sz="1050">
                <a:latin typeface="Verdana" panose="020B0604030504040204" pitchFamily="34" charset="0"/>
                <a:ea typeface="Verdana" panose="020B0604030504040204" pitchFamily="34" charset="0"/>
              </a:endParaRPr>
            </a:p>
            <a:p>
              <a:pPr marL="0" indent="0" algn="ctr">
                <a:lnSpc>
                  <a:spcPct val="92000"/>
                </a:lnSpc>
                <a:buNone/>
              </a:pPr>
              <a:r>
                <a:rPr lang="en-US" sz="1050" b="1">
                  <a:solidFill>
                    <a:srgbClr val="FFFFFF"/>
                  </a:solidFill>
                  <a:latin typeface="Verdana" panose="020B0604030504040204" pitchFamily="34" charset="0"/>
                  <a:ea typeface="Verdana" panose="020B0604030504040204" pitchFamily="34" charset="0"/>
                  <a:cs typeface="Arial" pitchFamily="34" charset="-120"/>
                </a:rPr>
                <a:t>fiscal prudence</a:t>
              </a:r>
              <a:endParaRPr lang="en-US" sz="1050">
                <a:latin typeface="Verdana" panose="020B0604030504040204" pitchFamily="34" charset="0"/>
                <a:ea typeface="Verdana" panose="020B0604030504040204" pitchFamily="34" charset="0"/>
              </a:endParaRPr>
            </a:p>
          </p:txBody>
        </p:sp>
        <p:sp>
          <p:nvSpPr>
            <p:cNvPr id="14" name="Text 10">
              <a:extLst>
                <a:ext uri="{FF2B5EF4-FFF2-40B4-BE49-F238E27FC236}">
                  <a16:creationId xmlns:a16="http://schemas.microsoft.com/office/drawing/2014/main" id="{565201DF-F284-574A-BC3D-71B172FC8EAB}"/>
                </a:ext>
              </a:extLst>
            </p:cNvPr>
            <p:cNvSpPr/>
            <p:nvPr/>
          </p:nvSpPr>
          <p:spPr>
            <a:xfrm>
              <a:off x="3136392" y="4736592"/>
              <a:ext cx="2505456" cy="914400"/>
            </a:xfrm>
            <a:prstGeom prst="rect">
              <a:avLst/>
            </a:prstGeom>
            <a:noFill/>
            <a:ln/>
          </p:spPr>
          <p:txBody>
            <a:bodyPr wrap="square" lIns="0" tIns="0" rIns="0" bIns="0" rtlCol="0" anchor="t"/>
            <a:lstStyle/>
            <a:p>
              <a:pPr marL="0" indent="0" algn="ctr">
                <a:lnSpc>
                  <a:spcPct val="94000"/>
                </a:lnSpc>
                <a:buNone/>
              </a:pPr>
              <a:r>
                <a:rPr lang="en-US" sz="1000">
                  <a:solidFill>
                    <a:srgbClr val="53565A"/>
                  </a:solidFill>
                  <a:latin typeface="Verdana" panose="020B0604030504040204" pitchFamily="34" charset="0"/>
                  <a:ea typeface="Verdana" panose="020B0604030504040204" pitchFamily="34" charset="0"/>
                  <a:cs typeface="Calibri" pitchFamily="34" charset="-120"/>
                </a:rPr>
                <a:t>Empirical evidence on how escalating discretionary giveaways widen revenue deficits, elevate debt and crowd out high-multiplier capital investment.</a:t>
              </a:r>
              <a:endParaRPr lang="en-US" sz="1000">
                <a:latin typeface="Verdana" panose="020B0604030504040204" pitchFamily="34" charset="0"/>
                <a:ea typeface="Verdana" panose="020B0604030504040204" pitchFamily="34" charset="0"/>
              </a:endParaRPr>
            </a:p>
          </p:txBody>
        </p:sp>
        <p:sp>
          <p:nvSpPr>
            <p:cNvPr id="15" name="Shape 11">
              <a:extLst>
                <a:ext uri="{FF2B5EF4-FFF2-40B4-BE49-F238E27FC236}">
                  <a16:creationId xmlns:a16="http://schemas.microsoft.com/office/drawing/2014/main" id="{CCE7F321-3291-90DA-9660-629A74D37275}"/>
                </a:ext>
              </a:extLst>
            </p:cNvPr>
            <p:cNvSpPr/>
            <p:nvPr/>
          </p:nvSpPr>
          <p:spPr>
            <a:xfrm>
              <a:off x="5806440" y="1170432"/>
              <a:ext cx="2286000" cy="2286000"/>
            </a:xfrm>
            <a:prstGeom prst="diamond">
              <a:avLst/>
            </a:prstGeom>
            <a:solidFill>
              <a:schemeClr val="accent5">
                <a:lumMod val="7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lstStyle/>
            <a:p>
              <a:endParaRPr lang="en-IN"/>
            </a:p>
          </p:txBody>
        </p:sp>
        <p:pic>
          <p:nvPicPr>
            <p:cNvPr id="16" name="Image 2" descr="preencoded.png">
              <a:extLst>
                <a:ext uri="{FF2B5EF4-FFF2-40B4-BE49-F238E27FC236}">
                  <a16:creationId xmlns:a16="http://schemas.microsoft.com/office/drawing/2014/main" id="{D1157DDF-4CF3-57FF-6493-4DF39459CE94}"/>
                </a:ext>
              </a:extLst>
            </p:cNvPr>
            <p:cNvPicPr>
              <a:picLocks noChangeAspect="1"/>
            </p:cNvPicPr>
            <p:nvPr/>
          </p:nvPicPr>
          <p:blipFill>
            <a:blip r:embed="rId5"/>
            <a:stretch>
              <a:fillRect/>
            </a:stretch>
          </p:blipFill>
          <p:spPr>
            <a:xfrm>
              <a:off x="6793992" y="1719072"/>
              <a:ext cx="310896" cy="310896"/>
            </a:xfrm>
            <a:prstGeom prst="rect">
              <a:avLst/>
            </a:prstGeom>
          </p:spPr>
        </p:pic>
        <p:sp>
          <p:nvSpPr>
            <p:cNvPr id="17" name="Shape 12">
              <a:extLst>
                <a:ext uri="{FF2B5EF4-FFF2-40B4-BE49-F238E27FC236}">
                  <a16:creationId xmlns:a16="http://schemas.microsoft.com/office/drawing/2014/main" id="{85C03365-9494-C52F-06EC-83CF7F662B24}"/>
                </a:ext>
              </a:extLst>
            </p:cNvPr>
            <p:cNvSpPr/>
            <p:nvPr/>
          </p:nvSpPr>
          <p:spPr>
            <a:xfrm>
              <a:off x="6309360" y="2157984"/>
              <a:ext cx="1280160" cy="0"/>
            </a:xfrm>
            <a:prstGeom prst="line">
              <a:avLst/>
            </a:prstGeom>
            <a:noFill/>
            <a:ln w="12700">
              <a:solidFill>
                <a:srgbClr val="FFFFFF"/>
              </a:solidFill>
              <a:prstDash val="solid"/>
            </a:ln>
          </p:spPr>
          <p:txBody>
            <a:bodyPr/>
            <a:lstStyle/>
            <a:p>
              <a:endParaRPr lang="en-IN"/>
            </a:p>
          </p:txBody>
        </p:sp>
        <p:sp>
          <p:nvSpPr>
            <p:cNvPr id="18" name="Text 13">
              <a:extLst>
                <a:ext uri="{FF2B5EF4-FFF2-40B4-BE49-F238E27FC236}">
                  <a16:creationId xmlns:a16="http://schemas.microsoft.com/office/drawing/2014/main" id="{F56F3903-3F43-4257-9870-FB0808711697}"/>
                </a:ext>
              </a:extLst>
            </p:cNvPr>
            <p:cNvSpPr/>
            <p:nvPr/>
          </p:nvSpPr>
          <p:spPr>
            <a:xfrm>
              <a:off x="6062472" y="2212848"/>
              <a:ext cx="1773936" cy="566928"/>
            </a:xfrm>
            <a:prstGeom prst="rect">
              <a:avLst/>
            </a:prstGeom>
            <a:noFill/>
            <a:ln/>
          </p:spPr>
          <p:txBody>
            <a:bodyPr wrap="square" lIns="0" tIns="0" rIns="0" bIns="0" rtlCol="0" anchor="t"/>
            <a:lstStyle/>
            <a:p>
              <a:pPr marL="0" indent="0" algn="ctr">
                <a:lnSpc>
                  <a:spcPct val="92000"/>
                </a:lnSpc>
                <a:buNone/>
              </a:pPr>
              <a:r>
                <a:rPr lang="en-US" sz="1050" b="1">
                  <a:solidFill>
                    <a:srgbClr val="FFFFFF"/>
                  </a:solidFill>
                  <a:latin typeface="Verdana" panose="020B0604030504040204" pitchFamily="34" charset="0"/>
                  <a:ea typeface="Verdana" panose="020B0604030504040204" pitchFamily="34" charset="0"/>
                  <a:cs typeface="Arial" pitchFamily="34" charset="-120"/>
                </a:rPr>
                <a:t>Strengthening</a:t>
              </a:r>
              <a:endParaRPr lang="en-US" sz="1050">
                <a:latin typeface="Verdana" panose="020B0604030504040204" pitchFamily="34" charset="0"/>
                <a:ea typeface="Verdana" panose="020B0604030504040204" pitchFamily="34" charset="0"/>
              </a:endParaRPr>
            </a:p>
            <a:p>
              <a:pPr marL="0" indent="0" algn="ctr">
                <a:lnSpc>
                  <a:spcPct val="92000"/>
                </a:lnSpc>
                <a:buNone/>
              </a:pPr>
              <a:r>
                <a:rPr lang="en-US" sz="1050" b="1">
                  <a:solidFill>
                    <a:srgbClr val="FFFFFF"/>
                  </a:solidFill>
                  <a:latin typeface="Verdana" panose="020B0604030504040204" pitchFamily="34" charset="0"/>
                  <a:ea typeface="Verdana" panose="020B0604030504040204" pitchFamily="34" charset="0"/>
                  <a:cs typeface="Arial" pitchFamily="34" charset="-120"/>
                </a:rPr>
                <a:t>targeting &amp; equity</a:t>
              </a:r>
              <a:endParaRPr lang="en-US" sz="1050">
                <a:latin typeface="Verdana" panose="020B0604030504040204" pitchFamily="34" charset="0"/>
                <a:ea typeface="Verdana" panose="020B0604030504040204" pitchFamily="34" charset="0"/>
              </a:endParaRPr>
            </a:p>
          </p:txBody>
        </p:sp>
        <p:sp>
          <p:nvSpPr>
            <p:cNvPr id="19" name="Text 14">
              <a:extLst>
                <a:ext uri="{FF2B5EF4-FFF2-40B4-BE49-F238E27FC236}">
                  <a16:creationId xmlns:a16="http://schemas.microsoft.com/office/drawing/2014/main" id="{7C4ECDDF-D26B-E9B1-0F97-B18CE6685C7F}"/>
                </a:ext>
              </a:extLst>
            </p:cNvPr>
            <p:cNvSpPr/>
            <p:nvPr/>
          </p:nvSpPr>
          <p:spPr>
            <a:xfrm>
              <a:off x="5696712" y="3511296"/>
              <a:ext cx="2505456" cy="914400"/>
            </a:xfrm>
            <a:prstGeom prst="rect">
              <a:avLst/>
            </a:prstGeom>
            <a:noFill/>
            <a:ln/>
          </p:spPr>
          <p:txBody>
            <a:bodyPr wrap="square" lIns="0" tIns="0" rIns="0" bIns="0" rtlCol="0" anchor="t"/>
            <a:lstStyle/>
            <a:p>
              <a:pPr marL="0" indent="0" algn="ctr">
                <a:lnSpc>
                  <a:spcPct val="94000"/>
                </a:lnSpc>
                <a:buNone/>
              </a:pPr>
              <a:r>
                <a:rPr lang="en-US" sz="1000">
                  <a:solidFill>
                    <a:srgbClr val="53565A"/>
                  </a:solidFill>
                  <a:latin typeface="Verdana" panose="020B0604030504040204" pitchFamily="34" charset="0"/>
                  <a:ea typeface="Verdana" panose="020B0604030504040204" pitchFamily="34" charset="0"/>
                  <a:cs typeface="Calibri" pitchFamily="34" charset="-120"/>
                </a:rPr>
                <a:t>HCES 2023-24 micro-data shows how untargeted universal subsidies disproportionately benefit affluent quantiles, supporting a shift to Aadhaar-enabled DBT.</a:t>
              </a:r>
              <a:endParaRPr lang="en-US" sz="1000">
                <a:latin typeface="Verdana" panose="020B0604030504040204" pitchFamily="34" charset="0"/>
                <a:ea typeface="Verdana" panose="020B0604030504040204" pitchFamily="34" charset="0"/>
              </a:endParaRPr>
            </a:p>
          </p:txBody>
        </p:sp>
        <p:sp>
          <p:nvSpPr>
            <p:cNvPr id="20" name="Shape 15">
              <a:extLst>
                <a:ext uri="{FF2B5EF4-FFF2-40B4-BE49-F238E27FC236}">
                  <a16:creationId xmlns:a16="http://schemas.microsoft.com/office/drawing/2014/main" id="{C733A3E0-5084-BC1C-97D1-90B915E517B7}"/>
                </a:ext>
              </a:extLst>
            </p:cNvPr>
            <p:cNvSpPr/>
            <p:nvPr/>
          </p:nvSpPr>
          <p:spPr>
            <a:xfrm>
              <a:off x="8366760" y="2395728"/>
              <a:ext cx="2286000" cy="2286000"/>
            </a:xfrm>
            <a:prstGeom prst="diamond">
              <a:avLst/>
            </a:prstGeom>
            <a:solidFill>
              <a:srgbClr val="00ABAB"/>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lstStyle/>
            <a:p>
              <a:endParaRPr lang="en-IN"/>
            </a:p>
          </p:txBody>
        </p:sp>
        <p:pic>
          <p:nvPicPr>
            <p:cNvPr id="22" name="Image 3" descr="preencoded.png">
              <a:extLst>
                <a:ext uri="{FF2B5EF4-FFF2-40B4-BE49-F238E27FC236}">
                  <a16:creationId xmlns:a16="http://schemas.microsoft.com/office/drawing/2014/main" id="{296487B6-364B-AC58-D8AD-5DC912FCC218}"/>
                </a:ext>
              </a:extLst>
            </p:cNvPr>
            <p:cNvPicPr>
              <a:picLocks noChangeAspect="1"/>
            </p:cNvPicPr>
            <p:nvPr/>
          </p:nvPicPr>
          <p:blipFill>
            <a:blip r:embed="rId6"/>
            <a:stretch>
              <a:fillRect/>
            </a:stretch>
          </p:blipFill>
          <p:spPr>
            <a:xfrm>
              <a:off x="9354312" y="2944368"/>
              <a:ext cx="310896" cy="310896"/>
            </a:xfrm>
            <a:prstGeom prst="rect">
              <a:avLst/>
            </a:prstGeom>
          </p:spPr>
        </p:pic>
        <p:sp>
          <p:nvSpPr>
            <p:cNvPr id="23" name="Shape 16">
              <a:extLst>
                <a:ext uri="{FF2B5EF4-FFF2-40B4-BE49-F238E27FC236}">
                  <a16:creationId xmlns:a16="http://schemas.microsoft.com/office/drawing/2014/main" id="{4F6A5E46-CEF8-F890-345D-5123C0986851}"/>
                </a:ext>
              </a:extLst>
            </p:cNvPr>
            <p:cNvSpPr/>
            <p:nvPr/>
          </p:nvSpPr>
          <p:spPr>
            <a:xfrm>
              <a:off x="8869680" y="3383280"/>
              <a:ext cx="1280160" cy="0"/>
            </a:xfrm>
            <a:prstGeom prst="line">
              <a:avLst/>
            </a:prstGeom>
            <a:noFill/>
            <a:ln w="12700">
              <a:solidFill>
                <a:srgbClr val="FFFFFF"/>
              </a:solidFill>
              <a:prstDash val="solid"/>
            </a:ln>
          </p:spPr>
          <p:txBody>
            <a:bodyPr/>
            <a:lstStyle/>
            <a:p>
              <a:endParaRPr lang="en-IN"/>
            </a:p>
          </p:txBody>
        </p:sp>
        <p:sp>
          <p:nvSpPr>
            <p:cNvPr id="24" name="Text 17">
              <a:extLst>
                <a:ext uri="{FF2B5EF4-FFF2-40B4-BE49-F238E27FC236}">
                  <a16:creationId xmlns:a16="http://schemas.microsoft.com/office/drawing/2014/main" id="{711F86CE-FFAC-40B5-13A0-E3B8CF92C3D8}"/>
                </a:ext>
              </a:extLst>
            </p:cNvPr>
            <p:cNvSpPr/>
            <p:nvPr/>
          </p:nvSpPr>
          <p:spPr>
            <a:xfrm>
              <a:off x="8622792" y="3438144"/>
              <a:ext cx="1773936" cy="566928"/>
            </a:xfrm>
            <a:prstGeom prst="rect">
              <a:avLst/>
            </a:prstGeom>
            <a:noFill/>
            <a:ln/>
          </p:spPr>
          <p:txBody>
            <a:bodyPr wrap="square" lIns="0" tIns="0" rIns="0" bIns="0" rtlCol="0" anchor="t"/>
            <a:lstStyle/>
            <a:p>
              <a:pPr marL="0" indent="0" algn="ctr">
                <a:lnSpc>
                  <a:spcPct val="92000"/>
                </a:lnSpc>
                <a:buNone/>
              </a:pPr>
              <a:r>
                <a:rPr lang="en-US" sz="1050" b="1">
                  <a:solidFill>
                    <a:srgbClr val="FFFFFF"/>
                  </a:solidFill>
                  <a:latin typeface="Verdana" panose="020B0604030504040204" pitchFamily="34" charset="0"/>
                  <a:ea typeface="Verdana" panose="020B0604030504040204" pitchFamily="34" charset="0"/>
                  <a:cs typeface="Arial" pitchFamily="34" charset="-120"/>
                </a:rPr>
                <a:t>Institutionalising</a:t>
              </a:r>
              <a:endParaRPr lang="en-US" sz="1050">
                <a:latin typeface="Verdana" panose="020B0604030504040204" pitchFamily="34" charset="0"/>
                <a:ea typeface="Verdana" panose="020B0604030504040204" pitchFamily="34" charset="0"/>
              </a:endParaRPr>
            </a:p>
            <a:p>
              <a:pPr marL="0" indent="0" algn="ctr">
                <a:lnSpc>
                  <a:spcPct val="92000"/>
                </a:lnSpc>
                <a:buNone/>
              </a:pPr>
              <a:r>
                <a:rPr lang="en-US" sz="1050" b="1">
                  <a:solidFill>
                    <a:srgbClr val="FFFFFF"/>
                  </a:solidFill>
                  <a:latin typeface="Verdana" panose="020B0604030504040204" pitchFamily="34" charset="0"/>
                  <a:ea typeface="Verdana" panose="020B0604030504040204" pitchFamily="34" charset="0"/>
                  <a:cs typeface="Arial" pitchFamily="34" charset="-120"/>
                </a:rPr>
                <a:t>PFM reform</a:t>
              </a:r>
              <a:endParaRPr lang="en-US" sz="1050">
                <a:latin typeface="Verdana" panose="020B0604030504040204" pitchFamily="34" charset="0"/>
                <a:ea typeface="Verdana" panose="020B0604030504040204" pitchFamily="34" charset="0"/>
              </a:endParaRPr>
            </a:p>
          </p:txBody>
        </p:sp>
        <p:sp>
          <p:nvSpPr>
            <p:cNvPr id="25" name="Text 18">
              <a:extLst>
                <a:ext uri="{FF2B5EF4-FFF2-40B4-BE49-F238E27FC236}">
                  <a16:creationId xmlns:a16="http://schemas.microsoft.com/office/drawing/2014/main" id="{EC8F9769-EBE5-4532-EADE-788F41368810}"/>
                </a:ext>
              </a:extLst>
            </p:cNvPr>
            <p:cNvSpPr/>
            <p:nvPr/>
          </p:nvSpPr>
          <p:spPr>
            <a:xfrm>
              <a:off x="8257032" y="4736592"/>
              <a:ext cx="2505456" cy="914400"/>
            </a:xfrm>
            <a:prstGeom prst="rect">
              <a:avLst/>
            </a:prstGeom>
            <a:noFill/>
            <a:ln/>
          </p:spPr>
          <p:txBody>
            <a:bodyPr wrap="square" lIns="0" tIns="0" rIns="0" bIns="0" rtlCol="0" anchor="t"/>
            <a:lstStyle/>
            <a:p>
              <a:pPr marL="0" indent="0" algn="ctr">
                <a:lnSpc>
                  <a:spcPct val="94000"/>
                </a:lnSpc>
                <a:buNone/>
              </a:pPr>
              <a:r>
                <a:rPr lang="en-US" sz="1000">
                  <a:solidFill>
                    <a:srgbClr val="53565A"/>
                  </a:solidFill>
                  <a:latin typeface="Verdana" panose="020B0604030504040204" pitchFamily="34" charset="0"/>
                  <a:ea typeface="Verdana" panose="020B0604030504040204" pitchFamily="34" charset="0"/>
                  <a:cs typeface="Calibri" pitchFamily="34" charset="-120"/>
                </a:rPr>
                <a:t>A permanent toolkit, standardised reporting formats and actionable guidelines for NITI Aayog to guide sub-national PFM and support Vision 2047.</a:t>
              </a:r>
              <a:endParaRPr lang="en-US" sz="1000">
                <a:latin typeface="Verdana" panose="020B0604030504040204" pitchFamily="34" charset="0"/>
                <a:ea typeface="Verdana" panose="020B0604030504040204" pitchFamily="34" charset="0"/>
              </a:endParaRPr>
            </a:p>
          </p:txBody>
        </p:sp>
      </p:grpSp>
    </p:spTree>
    <p:extLst>
      <p:ext uri="{BB962C8B-B14F-4D97-AF65-F5344CB8AC3E}">
        <p14:creationId xmlns:p14="http://schemas.microsoft.com/office/powerpoint/2010/main" val="12806124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7" name="Object 6"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Chronicle Display Black" pitchFamily="50" charset="0"/>
              <a:ea typeface="+mn-ea"/>
              <a:cs typeface="+mn-cs"/>
              <a:sym typeface="Chronicle Display Black" pitchFamily="50" charset="0"/>
            </a:endParaRPr>
          </a:p>
        </p:txBody>
      </p:sp>
      <p:pic>
        <p:nvPicPr>
          <p:cNvPr id="33" name="Picture 32"/>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bwMode="gray">
          <a:xfrm>
            <a:off x="0" y="0"/>
            <a:ext cx="12192000" cy="6858000"/>
          </a:xfrm>
          <a:prstGeom prst="rect">
            <a:avLst/>
          </a:prstGeom>
        </p:spPr>
      </p:pic>
      <p:sp>
        <p:nvSpPr>
          <p:cNvPr id="34" name="Flowchart: Process 33"/>
          <p:cNvSpPr/>
          <p:nvPr/>
        </p:nvSpPr>
        <p:spPr bwMode="gray">
          <a:xfrm>
            <a:off x="1343139" y="1283297"/>
            <a:ext cx="9512456" cy="4332512"/>
          </a:xfrm>
          <a:prstGeom prst="flowChartProcess">
            <a:avLst/>
          </a:prstGeom>
          <a:solidFill>
            <a:schemeClr val="tx1">
              <a:alpha val="38000"/>
            </a:schemeClr>
          </a:solidFill>
          <a:ln w="19050" algn="ctr">
            <a:noFill/>
            <a:miter lim="800000"/>
            <a:headEnd/>
            <a:tailEnd/>
          </a:ln>
        </p:spPr>
        <p:txBody>
          <a:bodyPr wrap="square" lIns="1080000" tIns="88900" rIns="1080000" bIns="88900" rtlCol="0" anchor="ct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400" b="0" i="0" u="none" strike="noStrike" kern="1200" cap="none" spc="0" normalizeH="0" baseline="0" noProof="0">
                <a:ln>
                  <a:noFill/>
                </a:ln>
                <a:solidFill>
                  <a:srgbClr val="0097A9"/>
                </a:solidFill>
                <a:effectLst/>
                <a:uLnTx/>
                <a:uFillTx/>
                <a:latin typeface="Verdana" panose="020B0604030504040204" pitchFamily="34" charset="0"/>
                <a:ea typeface="Verdana" panose="020B0604030504040204" pitchFamily="34" charset="0"/>
                <a:cs typeface="Calibri" panose="020F0502020204030204" pitchFamily="34" charset="0"/>
              </a:rPr>
              <a:t>Approach and Methodology</a:t>
            </a:r>
          </a:p>
        </p:txBody>
      </p:sp>
      <p:grpSp>
        <p:nvGrpSpPr>
          <p:cNvPr id="35" name="Group 541"/>
          <p:cNvGrpSpPr>
            <a:grpSpLocks noChangeAspect="1"/>
          </p:cNvGrpSpPr>
          <p:nvPr/>
        </p:nvGrpSpPr>
        <p:grpSpPr bwMode="gray">
          <a:xfrm>
            <a:off x="2043454" y="743296"/>
            <a:ext cx="1080000" cy="1080000"/>
            <a:chOff x="5326" y="2494"/>
            <a:chExt cx="340" cy="340"/>
          </a:xfrm>
          <a:solidFill>
            <a:srgbClr val="0097A9"/>
          </a:solidFill>
        </p:grpSpPr>
        <p:sp>
          <p:nvSpPr>
            <p:cNvPr id="36" name="Freeform 542"/>
            <p:cNvSpPr>
              <a:spLocks noEditPoints="1"/>
            </p:cNvSpPr>
            <p:nvPr/>
          </p:nvSpPr>
          <p:spPr bwMode="gray">
            <a:xfrm>
              <a:off x="5430" y="2558"/>
              <a:ext cx="132" cy="212"/>
            </a:xfrm>
            <a:custGeom>
              <a:avLst/>
              <a:gdLst>
                <a:gd name="T0" fmla="*/ 99 w 199"/>
                <a:gd name="T1" fmla="*/ 0 h 320"/>
                <a:gd name="T2" fmla="*/ 99 w 199"/>
                <a:gd name="T3" fmla="*/ 0 h 320"/>
                <a:gd name="T4" fmla="*/ 99 w 199"/>
                <a:gd name="T5" fmla="*/ 0 h 320"/>
                <a:gd name="T6" fmla="*/ 99 w 199"/>
                <a:gd name="T7" fmla="*/ 0 h 320"/>
                <a:gd name="T8" fmla="*/ 98 w 199"/>
                <a:gd name="T9" fmla="*/ 0 h 320"/>
                <a:gd name="T10" fmla="*/ 0 w 199"/>
                <a:gd name="T11" fmla="*/ 95 h 320"/>
                <a:gd name="T12" fmla="*/ 19 w 199"/>
                <a:gd name="T13" fmla="*/ 158 h 320"/>
                <a:gd name="T14" fmla="*/ 45 w 199"/>
                <a:gd name="T15" fmla="*/ 213 h 320"/>
                <a:gd name="T16" fmla="*/ 45 w 199"/>
                <a:gd name="T17" fmla="*/ 245 h 320"/>
                <a:gd name="T18" fmla="*/ 46 w 199"/>
                <a:gd name="T19" fmla="*/ 246 h 320"/>
                <a:gd name="T20" fmla="*/ 45 w 199"/>
                <a:gd name="T21" fmla="*/ 247 h 320"/>
                <a:gd name="T22" fmla="*/ 56 w 199"/>
                <a:gd name="T23" fmla="*/ 311 h 320"/>
                <a:gd name="T24" fmla="*/ 67 w 199"/>
                <a:gd name="T25" fmla="*/ 320 h 320"/>
                <a:gd name="T26" fmla="*/ 131 w 199"/>
                <a:gd name="T27" fmla="*/ 320 h 320"/>
                <a:gd name="T28" fmla="*/ 141 w 199"/>
                <a:gd name="T29" fmla="*/ 311 h 320"/>
                <a:gd name="T30" fmla="*/ 152 w 199"/>
                <a:gd name="T31" fmla="*/ 247 h 320"/>
                <a:gd name="T32" fmla="*/ 152 w 199"/>
                <a:gd name="T33" fmla="*/ 246 h 320"/>
                <a:gd name="T34" fmla="*/ 152 w 199"/>
                <a:gd name="T35" fmla="*/ 245 h 320"/>
                <a:gd name="T36" fmla="*/ 152 w 199"/>
                <a:gd name="T37" fmla="*/ 213 h 320"/>
                <a:gd name="T38" fmla="*/ 179 w 199"/>
                <a:gd name="T39" fmla="*/ 158 h 320"/>
                <a:gd name="T40" fmla="*/ 199 w 199"/>
                <a:gd name="T41" fmla="*/ 95 h 320"/>
                <a:gd name="T42" fmla="*/ 99 w 199"/>
                <a:gd name="T43" fmla="*/ 0 h 320"/>
                <a:gd name="T44" fmla="*/ 122 w 199"/>
                <a:gd name="T45" fmla="*/ 298 h 320"/>
                <a:gd name="T46" fmla="*/ 76 w 199"/>
                <a:gd name="T47" fmla="*/ 298 h 320"/>
                <a:gd name="T48" fmla="*/ 69 w 199"/>
                <a:gd name="T49" fmla="*/ 256 h 320"/>
                <a:gd name="T50" fmla="*/ 129 w 199"/>
                <a:gd name="T51" fmla="*/ 256 h 320"/>
                <a:gd name="T52" fmla="*/ 122 w 199"/>
                <a:gd name="T53" fmla="*/ 298 h 320"/>
                <a:gd name="T54" fmla="*/ 161 w 199"/>
                <a:gd name="T55" fmla="*/ 147 h 320"/>
                <a:gd name="T56" fmla="*/ 131 w 199"/>
                <a:gd name="T57" fmla="*/ 213 h 320"/>
                <a:gd name="T58" fmla="*/ 131 w 199"/>
                <a:gd name="T59" fmla="*/ 234 h 320"/>
                <a:gd name="T60" fmla="*/ 109 w 199"/>
                <a:gd name="T61" fmla="*/ 234 h 320"/>
                <a:gd name="T62" fmla="*/ 109 w 199"/>
                <a:gd name="T63" fmla="*/ 153 h 320"/>
                <a:gd name="T64" fmla="*/ 128 w 199"/>
                <a:gd name="T65" fmla="*/ 135 h 320"/>
                <a:gd name="T66" fmla="*/ 128 w 199"/>
                <a:gd name="T67" fmla="*/ 120 h 320"/>
                <a:gd name="T68" fmla="*/ 112 w 199"/>
                <a:gd name="T69" fmla="*/ 120 h 320"/>
                <a:gd name="T70" fmla="*/ 99 w 199"/>
                <a:gd name="T71" fmla="*/ 134 h 320"/>
                <a:gd name="T72" fmla="*/ 85 w 199"/>
                <a:gd name="T73" fmla="*/ 120 h 320"/>
                <a:gd name="T74" fmla="*/ 70 w 199"/>
                <a:gd name="T75" fmla="*/ 120 h 320"/>
                <a:gd name="T76" fmla="*/ 70 w 199"/>
                <a:gd name="T77" fmla="*/ 135 h 320"/>
                <a:gd name="T78" fmla="*/ 88 w 199"/>
                <a:gd name="T79" fmla="*/ 153 h 320"/>
                <a:gd name="T80" fmla="*/ 88 w 199"/>
                <a:gd name="T81" fmla="*/ 234 h 320"/>
                <a:gd name="T82" fmla="*/ 67 w 199"/>
                <a:gd name="T83" fmla="*/ 234 h 320"/>
                <a:gd name="T84" fmla="*/ 67 w 199"/>
                <a:gd name="T85" fmla="*/ 213 h 320"/>
                <a:gd name="T86" fmla="*/ 37 w 199"/>
                <a:gd name="T87" fmla="*/ 146 h 320"/>
                <a:gd name="T88" fmla="*/ 21 w 199"/>
                <a:gd name="T89" fmla="*/ 95 h 320"/>
                <a:gd name="T90" fmla="*/ 99 w 199"/>
                <a:gd name="T91" fmla="*/ 21 h 320"/>
                <a:gd name="T92" fmla="*/ 177 w 199"/>
                <a:gd name="T93" fmla="*/ 95 h 320"/>
                <a:gd name="T94" fmla="*/ 161 w 199"/>
                <a:gd name="T95" fmla="*/ 147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320">
                  <a:moveTo>
                    <a:pt x="99" y="0"/>
                  </a:moveTo>
                  <a:cubicBezTo>
                    <a:pt x="99" y="0"/>
                    <a:pt x="99" y="0"/>
                    <a:pt x="99" y="0"/>
                  </a:cubicBezTo>
                  <a:cubicBezTo>
                    <a:pt x="99" y="0"/>
                    <a:pt x="99" y="0"/>
                    <a:pt x="99" y="0"/>
                  </a:cubicBezTo>
                  <a:cubicBezTo>
                    <a:pt x="99" y="0"/>
                    <a:pt x="99" y="0"/>
                    <a:pt x="99" y="0"/>
                  </a:cubicBezTo>
                  <a:cubicBezTo>
                    <a:pt x="99" y="0"/>
                    <a:pt x="99" y="0"/>
                    <a:pt x="98" y="0"/>
                  </a:cubicBezTo>
                  <a:cubicBezTo>
                    <a:pt x="45" y="0"/>
                    <a:pt x="0" y="44"/>
                    <a:pt x="0" y="95"/>
                  </a:cubicBezTo>
                  <a:cubicBezTo>
                    <a:pt x="0" y="129"/>
                    <a:pt x="18" y="157"/>
                    <a:pt x="19" y="158"/>
                  </a:cubicBezTo>
                  <a:cubicBezTo>
                    <a:pt x="32" y="179"/>
                    <a:pt x="45" y="206"/>
                    <a:pt x="45" y="213"/>
                  </a:cubicBezTo>
                  <a:cubicBezTo>
                    <a:pt x="45" y="245"/>
                    <a:pt x="45" y="245"/>
                    <a:pt x="45" y="245"/>
                  </a:cubicBezTo>
                  <a:cubicBezTo>
                    <a:pt x="45" y="245"/>
                    <a:pt x="45" y="246"/>
                    <a:pt x="46" y="246"/>
                  </a:cubicBezTo>
                  <a:cubicBezTo>
                    <a:pt x="46" y="246"/>
                    <a:pt x="45" y="246"/>
                    <a:pt x="45" y="247"/>
                  </a:cubicBezTo>
                  <a:cubicBezTo>
                    <a:pt x="56" y="311"/>
                    <a:pt x="56" y="311"/>
                    <a:pt x="56" y="311"/>
                  </a:cubicBezTo>
                  <a:cubicBezTo>
                    <a:pt x="57" y="316"/>
                    <a:pt x="61" y="320"/>
                    <a:pt x="67" y="320"/>
                  </a:cubicBezTo>
                  <a:cubicBezTo>
                    <a:pt x="131" y="320"/>
                    <a:pt x="131" y="320"/>
                    <a:pt x="131" y="320"/>
                  </a:cubicBezTo>
                  <a:cubicBezTo>
                    <a:pt x="136" y="320"/>
                    <a:pt x="140" y="316"/>
                    <a:pt x="141" y="311"/>
                  </a:cubicBezTo>
                  <a:cubicBezTo>
                    <a:pt x="152" y="247"/>
                    <a:pt x="152" y="247"/>
                    <a:pt x="152" y="247"/>
                  </a:cubicBezTo>
                  <a:cubicBezTo>
                    <a:pt x="152" y="246"/>
                    <a:pt x="152" y="246"/>
                    <a:pt x="152" y="246"/>
                  </a:cubicBezTo>
                  <a:cubicBezTo>
                    <a:pt x="152" y="246"/>
                    <a:pt x="152" y="245"/>
                    <a:pt x="152" y="245"/>
                  </a:cubicBezTo>
                  <a:cubicBezTo>
                    <a:pt x="152" y="213"/>
                    <a:pt x="152" y="213"/>
                    <a:pt x="152" y="213"/>
                  </a:cubicBezTo>
                  <a:cubicBezTo>
                    <a:pt x="152" y="206"/>
                    <a:pt x="166" y="179"/>
                    <a:pt x="179" y="158"/>
                  </a:cubicBezTo>
                  <a:cubicBezTo>
                    <a:pt x="180" y="157"/>
                    <a:pt x="199" y="129"/>
                    <a:pt x="199" y="95"/>
                  </a:cubicBezTo>
                  <a:cubicBezTo>
                    <a:pt x="199" y="44"/>
                    <a:pt x="153" y="0"/>
                    <a:pt x="99" y="0"/>
                  </a:cubicBezTo>
                  <a:close/>
                  <a:moveTo>
                    <a:pt x="122" y="298"/>
                  </a:moveTo>
                  <a:cubicBezTo>
                    <a:pt x="76" y="298"/>
                    <a:pt x="76" y="298"/>
                    <a:pt x="76" y="298"/>
                  </a:cubicBezTo>
                  <a:cubicBezTo>
                    <a:pt x="69" y="256"/>
                    <a:pt x="69" y="256"/>
                    <a:pt x="69" y="256"/>
                  </a:cubicBezTo>
                  <a:cubicBezTo>
                    <a:pt x="129" y="256"/>
                    <a:pt x="129" y="256"/>
                    <a:pt x="129" y="256"/>
                  </a:cubicBezTo>
                  <a:lnTo>
                    <a:pt x="122" y="298"/>
                  </a:lnTo>
                  <a:close/>
                  <a:moveTo>
                    <a:pt x="161" y="147"/>
                  </a:moveTo>
                  <a:cubicBezTo>
                    <a:pt x="154" y="158"/>
                    <a:pt x="131" y="196"/>
                    <a:pt x="131" y="213"/>
                  </a:cubicBezTo>
                  <a:cubicBezTo>
                    <a:pt x="131" y="234"/>
                    <a:pt x="131" y="234"/>
                    <a:pt x="131" y="234"/>
                  </a:cubicBezTo>
                  <a:cubicBezTo>
                    <a:pt x="109" y="234"/>
                    <a:pt x="109" y="234"/>
                    <a:pt x="109" y="234"/>
                  </a:cubicBezTo>
                  <a:cubicBezTo>
                    <a:pt x="109" y="153"/>
                    <a:pt x="109" y="153"/>
                    <a:pt x="109" y="153"/>
                  </a:cubicBezTo>
                  <a:cubicBezTo>
                    <a:pt x="128" y="135"/>
                    <a:pt x="128" y="135"/>
                    <a:pt x="128" y="135"/>
                  </a:cubicBezTo>
                  <a:cubicBezTo>
                    <a:pt x="132" y="131"/>
                    <a:pt x="132" y="124"/>
                    <a:pt x="128" y="120"/>
                  </a:cubicBezTo>
                  <a:cubicBezTo>
                    <a:pt x="123" y="116"/>
                    <a:pt x="117" y="116"/>
                    <a:pt x="112" y="120"/>
                  </a:cubicBezTo>
                  <a:cubicBezTo>
                    <a:pt x="99" y="134"/>
                    <a:pt x="99" y="134"/>
                    <a:pt x="99" y="134"/>
                  </a:cubicBezTo>
                  <a:cubicBezTo>
                    <a:pt x="85" y="120"/>
                    <a:pt x="85" y="120"/>
                    <a:pt x="85" y="120"/>
                  </a:cubicBezTo>
                  <a:cubicBezTo>
                    <a:pt x="81" y="116"/>
                    <a:pt x="74" y="116"/>
                    <a:pt x="70" y="120"/>
                  </a:cubicBezTo>
                  <a:cubicBezTo>
                    <a:pt x="66" y="124"/>
                    <a:pt x="66" y="131"/>
                    <a:pt x="70" y="135"/>
                  </a:cubicBezTo>
                  <a:cubicBezTo>
                    <a:pt x="88" y="153"/>
                    <a:pt x="88" y="153"/>
                    <a:pt x="88" y="153"/>
                  </a:cubicBezTo>
                  <a:cubicBezTo>
                    <a:pt x="88" y="234"/>
                    <a:pt x="88" y="234"/>
                    <a:pt x="88" y="234"/>
                  </a:cubicBezTo>
                  <a:cubicBezTo>
                    <a:pt x="67" y="234"/>
                    <a:pt x="67" y="234"/>
                    <a:pt x="67" y="234"/>
                  </a:cubicBezTo>
                  <a:cubicBezTo>
                    <a:pt x="67" y="213"/>
                    <a:pt x="67" y="213"/>
                    <a:pt x="67" y="213"/>
                  </a:cubicBezTo>
                  <a:cubicBezTo>
                    <a:pt x="67" y="196"/>
                    <a:pt x="44" y="158"/>
                    <a:pt x="37" y="146"/>
                  </a:cubicBezTo>
                  <a:cubicBezTo>
                    <a:pt x="37" y="146"/>
                    <a:pt x="21" y="123"/>
                    <a:pt x="21" y="95"/>
                  </a:cubicBezTo>
                  <a:cubicBezTo>
                    <a:pt x="21" y="55"/>
                    <a:pt x="57" y="21"/>
                    <a:pt x="99" y="21"/>
                  </a:cubicBezTo>
                  <a:cubicBezTo>
                    <a:pt x="141" y="21"/>
                    <a:pt x="177" y="55"/>
                    <a:pt x="177" y="95"/>
                  </a:cubicBezTo>
                  <a:cubicBezTo>
                    <a:pt x="177" y="122"/>
                    <a:pt x="161" y="146"/>
                    <a:pt x="161" y="14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Freeform 543"/>
            <p:cNvSpPr>
              <a:spLocks noEditPoints="1"/>
            </p:cNvSpPr>
            <p:nvPr/>
          </p:nvSpPr>
          <p:spPr bwMode="gray">
            <a:xfrm>
              <a:off x="5326" y="249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8" name="Group 37"/>
          <p:cNvGrpSpPr/>
          <p:nvPr/>
        </p:nvGrpSpPr>
        <p:grpSpPr bwMode="gray">
          <a:xfrm>
            <a:off x="1332253" y="1283296"/>
            <a:ext cx="9535886" cy="4341335"/>
            <a:chOff x="1332253" y="1283296"/>
            <a:chExt cx="9535886" cy="4341335"/>
          </a:xfrm>
        </p:grpSpPr>
        <p:cxnSp>
          <p:nvCxnSpPr>
            <p:cNvPr id="39" name="Straight Connector 38"/>
            <p:cNvCxnSpPr/>
            <p:nvPr/>
          </p:nvCxnSpPr>
          <p:spPr bwMode="gray">
            <a:xfrm flipH="1">
              <a:off x="1332253" y="1283296"/>
              <a:ext cx="551543"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gray">
            <a:xfrm flipH="1">
              <a:off x="1332253" y="5615809"/>
              <a:ext cx="551543"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gray">
            <a:xfrm>
              <a:off x="1332253" y="1283296"/>
              <a:ext cx="0" cy="4341335"/>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gray">
            <a:xfrm>
              <a:off x="10868139" y="1283296"/>
              <a:ext cx="0" cy="4341335"/>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gray">
            <a:xfrm flipH="1">
              <a:off x="3320709" y="1283296"/>
              <a:ext cx="7524000"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gray">
            <a:xfrm flipH="1">
              <a:off x="1763486" y="5615809"/>
              <a:ext cx="9089909"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96764610"/>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DFB1E-BBFB-0469-0929-3C8B527514B6}"/>
            </a:ext>
          </a:extLst>
        </p:cNvPr>
        <p:cNvGrpSpPr/>
        <p:nvPr/>
      </p:nvGrpSpPr>
      <p:grpSpPr>
        <a:xfrm>
          <a:off x="0" y="0"/>
          <a:ext cx="0" cy="0"/>
          <a:chOff x="0" y="0"/>
          <a:chExt cx="0" cy="0"/>
        </a:xfrm>
      </p:grpSpPr>
      <p:cxnSp>
        <p:nvCxnSpPr>
          <p:cNvPr id="6" name="Straight Arrow Connector 5">
            <a:extLst>
              <a:ext uri="{FF2B5EF4-FFF2-40B4-BE49-F238E27FC236}">
                <a16:creationId xmlns:a16="http://schemas.microsoft.com/office/drawing/2014/main" id="{43E0BBBF-0F2E-94DD-686A-E84742BA716F}"/>
              </a:ext>
            </a:extLst>
          </p:cNvPr>
          <p:cNvCxnSpPr/>
          <p:nvPr/>
        </p:nvCxnSpPr>
        <p:spPr>
          <a:xfrm flipV="1">
            <a:off x="408972" y="778102"/>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E988E893-3B95-20C4-8B4A-A4BC90D4134B}"/>
              </a:ext>
            </a:extLst>
          </p:cNvPr>
          <p:cNvSpPr/>
          <p:nvPr/>
        </p:nvSpPr>
        <p:spPr bwMode="gray">
          <a:xfrm>
            <a:off x="380920" y="66871"/>
            <a:ext cx="11811080" cy="370522"/>
          </a:xfrm>
          <a:prstGeom prst="rect">
            <a:avLst/>
          </a:prstGeom>
          <a:noFill/>
          <a:ln w="19050" algn="ctr">
            <a:noFill/>
            <a:miter lim="800000"/>
            <a:headEnd/>
            <a:tailEnd/>
          </a:ln>
        </p:spPr>
        <p:txBody>
          <a:bodyPr wrap="square" lIns="88900" tIns="88900" rIns="88900" bIns="88900" rtlCol="0" anchor="ctr"/>
          <a:lstStyle/>
          <a:p>
            <a:r>
              <a:rPr lang="en-US" b="1">
                <a:latin typeface="+mj-lt"/>
              </a:rPr>
              <a:t>Six Principles that govern out approach</a:t>
            </a:r>
            <a:endParaRPr lang="en-US" sz="1800" b="1">
              <a:latin typeface="+mj-lt"/>
            </a:endParaRPr>
          </a:p>
        </p:txBody>
      </p:sp>
      <p:sp>
        <p:nvSpPr>
          <p:cNvPr id="12" name="Text Placeholder 1">
            <a:extLst>
              <a:ext uri="{FF2B5EF4-FFF2-40B4-BE49-F238E27FC236}">
                <a16:creationId xmlns:a16="http://schemas.microsoft.com/office/drawing/2014/main" id="{82DC9BEB-C9EE-40C0-6001-A3C5D6EAFA3A}"/>
              </a:ext>
            </a:extLst>
          </p:cNvPr>
          <p:cNvSpPr txBox="1">
            <a:spLocks/>
          </p:cNvSpPr>
          <p:nvPr/>
        </p:nvSpPr>
        <p:spPr>
          <a:xfrm>
            <a:off x="439221" y="480431"/>
            <a:ext cx="11365992" cy="757255"/>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600" b="0" kern="1200">
                <a:solidFill>
                  <a:srgbClr val="575757"/>
                </a:solidFill>
                <a:latin typeface="Calibri" panose="020F0502020204030204" pitchFamily="34" charset="0"/>
                <a:ea typeface="+mn-ea"/>
                <a:cs typeface="Calibri" panose="020F0502020204030204" pitchFamily="34" charset="0"/>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1400">
                <a:latin typeface="+mj-lt"/>
              </a:rPr>
              <a:t>Each one is a design decision that changes how the study is executed, not a statement of intent</a:t>
            </a:r>
          </a:p>
        </p:txBody>
      </p:sp>
      <p:sp>
        <p:nvSpPr>
          <p:cNvPr id="47" name="Shape 4">
            <a:extLst>
              <a:ext uri="{FF2B5EF4-FFF2-40B4-BE49-F238E27FC236}">
                <a16:creationId xmlns:a16="http://schemas.microsoft.com/office/drawing/2014/main" id="{E4D6E90D-D280-6CBA-91CE-BA33B3EB7002}"/>
              </a:ext>
            </a:extLst>
          </p:cNvPr>
          <p:cNvSpPr/>
          <p:nvPr/>
        </p:nvSpPr>
        <p:spPr>
          <a:xfrm>
            <a:off x="408972" y="1160426"/>
            <a:ext cx="3685032" cy="2377440"/>
          </a:xfrm>
          <a:prstGeom prst="foldedCorner">
            <a:avLst/>
          </a:prstGeom>
          <a:solidFill>
            <a:srgbClr val="FFFFFF"/>
          </a:solidFill>
          <a:ln w="9525">
            <a:solidFill>
              <a:srgbClr val="D9D9D9"/>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48" name="Shape 5">
            <a:extLst>
              <a:ext uri="{FF2B5EF4-FFF2-40B4-BE49-F238E27FC236}">
                <a16:creationId xmlns:a16="http://schemas.microsoft.com/office/drawing/2014/main" id="{63E9C470-A568-DA70-DE34-7A8A6FF60DBF}"/>
              </a:ext>
            </a:extLst>
          </p:cNvPr>
          <p:cNvSpPr/>
          <p:nvPr/>
        </p:nvSpPr>
        <p:spPr>
          <a:xfrm>
            <a:off x="527224" y="1325018"/>
            <a:ext cx="457200" cy="457200"/>
          </a:xfrm>
          <a:prstGeom prst="ellipse">
            <a:avLst/>
          </a:prstGeom>
          <a:solidFill>
            <a:srgbClr val="43B02A"/>
          </a:solidFill>
          <a:ln w="12700">
            <a:solidFill>
              <a:srgbClr val="333333"/>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49" name="Text 6">
            <a:extLst>
              <a:ext uri="{FF2B5EF4-FFF2-40B4-BE49-F238E27FC236}">
                <a16:creationId xmlns:a16="http://schemas.microsoft.com/office/drawing/2014/main" id="{5EECA69D-C879-C435-93DD-7B4282EA192A}"/>
              </a:ext>
            </a:extLst>
          </p:cNvPr>
          <p:cNvSpPr/>
          <p:nvPr/>
        </p:nvSpPr>
        <p:spPr>
          <a:xfrm>
            <a:off x="527224" y="1325018"/>
            <a:ext cx="457200" cy="457200"/>
          </a:xfrm>
          <a:prstGeom prst="rect">
            <a:avLst/>
          </a:prstGeom>
          <a:noFill/>
          <a:ln/>
        </p:spPr>
        <p:txBody>
          <a:bodyPr wrap="square" lIns="0" tIns="0" rIns="0" bIns="0" rtlCol="0" anchor="ctr"/>
          <a:lstStyle/>
          <a:p>
            <a:pPr marL="0" indent="0" algn="ctr">
              <a:buNone/>
            </a:pPr>
            <a:r>
              <a:rPr lang="en-US" sz="1300" b="1">
                <a:solidFill>
                  <a:srgbClr val="FFFFFF"/>
                </a:solidFill>
                <a:latin typeface="Verdana" panose="020B0604030504040204" pitchFamily="34" charset="0"/>
                <a:ea typeface="Verdana" panose="020B0604030504040204" pitchFamily="34" charset="0"/>
                <a:cs typeface="Calibri" pitchFamily="34" charset="-120"/>
              </a:rPr>
              <a:t>01</a:t>
            </a:r>
            <a:endParaRPr lang="en-US" sz="1300">
              <a:latin typeface="Verdana" panose="020B0604030504040204" pitchFamily="34" charset="0"/>
              <a:ea typeface="Verdana" panose="020B0604030504040204" pitchFamily="34" charset="0"/>
            </a:endParaRPr>
          </a:p>
        </p:txBody>
      </p:sp>
      <p:sp>
        <p:nvSpPr>
          <p:cNvPr id="50" name="Text 7">
            <a:extLst>
              <a:ext uri="{FF2B5EF4-FFF2-40B4-BE49-F238E27FC236}">
                <a16:creationId xmlns:a16="http://schemas.microsoft.com/office/drawing/2014/main" id="{5DE5BB4A-785A-0FAF-24F3-8936B008CB25}"/>
              </a:ext>
            </a:extLst>
          </p:cNvPr>
          <p:cNvSpPr/>
          <p:nvPr/>
        </p:nvSpPr>
        <p:spPr>
          <a:xfrm>
            <a:off x="1094152" y="1288442"/>
            <a:ext cx="2825496" cy="566928"/>
          </a:xfrm>
          <a:prstGeom prst="rect">
            <a:avLst/>
          </a:prstGeom>
          <a:noFill/>
          <a:ln/>
        </p:spPr>
        <p:txBody>
          <a:bodyPr wrap="square" lIns="0" tIns="0" rIns="0" bIns="0" rtlCol="0" anchor="ctr"/>
          <a:lstStyle/>
          <a:p>
            <a:pPr marL="0" indent="0">
              <a:buNone/>
            </a:pPr>
            <a:r>
              <a:rPr lang="en-US" sz="1200" b="1">
                <a:solidFill>
                  <a:srgbClr val="0A4A4E"/>
                </a:solidFill>
                <a:latin typeface="Verdana" panose="020B0604030504040204" pitchFamily="34" charset="0"/>
                <a:ea typeface="Verdana" panose="020B0604030504040204" pitchFamily="34" charset="0"/>
                <a:cs typeface="Calibri" pitchFamily="34" charset="-120"/>
              </a:rPr>
              <a:t>Definitional clarity is foundational, not preliminary</a:t>
            </a:r>
            <a:endParaRPr lang="en-US" sz="1200">
              <a:latin typeface="Verdana" panose="020B0604030504040204" pitchFamily="34" charset="0"/>
              <a:ea typeface="Verdana" panose="020B0604030504040204" pitchFamily="34" charset="0"/>
            </a:endParaRPr>
          </a:p>
        </p:txBody>
      </p:sp>
      <p:sp>
        <p:nvSpPr>
          <p:cNvPr id="51" name="Text 8">
            <a:extLst>
              <a:ext uri="{FF2B5EF4-FFF2-40B4-BE49-F238E27FC236}">
                <a16:creationId xmlns:a16="http://schemas.microsoft.com/office/drawing/2014/main" id="{6910DCE3-DB75-0366-5B0C-B1A3C4AEAD01}"/>
              </a:ext>
            </a:extLst>
          </p:cNvPr>
          <p:cNvSpPr/>
          <p:nvPr/>
        </p:nvSpPr>
        <p:spPr>
          <a:xfrm>
            <a:off x="545512" y="1946810"/>
            <a:ext cx="3355848" cy="1463040"/>
          </a:xfrm>
          <a:prstGeom prst="rect">
            <a:avLst/>
          </a:prstGeom>
          <a:noFill/>
          <a:ln/>
        </p:spPr>
        <p:txBody>
          <a:bodyPr wrap="square" lIns="0" tIns="0" rIns="0" bIns="0" rtlCol="0" anchor="t"/>
          <a:lstStyle/>
          <a:p>
            <a:pPr marL="0" indent="0">
              <a:lnSpc>
                <a:spcPts val="1300"/>
              </a:lnSpc>
              <a:buNone/>
            </a:pPr>
            <a:r>
              <a:rPr lang="en-US" sz="950">
                <a:solidFill>
                  <a:srgbClr val="333333"/>
                </a:solidFill>
                <a:latin typeface="Verdana" panose="020B0604030504040204" pitchFamily="34" charset="0"/>
                <a:ea typeface="Verdana" panose="020B0604030504040204" pitchFamily="34" charset="0"/>
                <a:cs typeface="Calibri" pitchFamily="34" charset="-120"/>
              </a:rPr>
              <a:t>Given the absence of a standardised definition, we treat definition-building as the core deliverable that shapes all subsequent data collection, classification and framework design — not a first step to move past.</a:t>
            </a:r>
            <a:endParaRPr lang="en-US" sz="950">
              <a:latin typeface="Verdana" panose="020B0604030504040204" pitchFamily="34" charset="0"/>
              <a:ea typeface="Verdana" panose="020B0604030504040204" pitchFamily="34" charset="0"/>
            </a:endParaRPr>
          </a:p>
        </p:txBody>
      </p:sp>
      <p:sp>
        <p:nvSpPr>
          <p:cNvPr id="52" name="Shape 9">
            <a:extLst>
              <a:ext uri="{FF2B5EF4-FFF2-40B4-BE49-F238E27FC236}">
                <a16:creationId xmlns:a16="http://schemas.microsoft.com/office/drawing/2014/main" id="{60F65B62-5B33-B42F-ED35-2EA4C01E6E3D}"/>
              </a:ext>
            </a:extLst>
          </p:cNvPr>
          <p:cNvSpPr/>
          <p:nvPr/>
        </p:nvSpPr>
        <p:spPr>
          <a:xfrm>
            <a:off x="4240308" y="1160426"/>
            <a:ext cx="3685032" cy="2377440"/>
          </a:xfrm>
          <a:prstGeom prst="foldedCorner">
            <a:avLst/>
          </a:prstGeom>
          <a:solidFill>
            <a:srgbClr val="FFFFFF"/>
          </a:solidFill>
          <a:ln w="9525">
            <a:solidFill>
              <a:srgbClr val="D9D9D9"/>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53" name="Shape 10">
            <a:extLst>
              <a:ext uri="{FF2B5EF4-FFF2-40B4-BE49-F238E27FC236}">
                <a16:creationId xmlns:a16="http://schemas.microsoft.com/office/drawing/2014/main" id="{7504BD0A-B0D4-5D56-A755-79E5C17FC806}"/>
              </a:ext>
            </a:extLst>
          </p:cNvPr>
          <p:cNvSpPr/>
          <p:nvPr/>
        </p:nvSpPr>
        <p:spPr>
          <a:xfrm>
            <a:off x="4358560" y="1325018"/>
            <a:ext cx="457200" cy="457200"/>
          </a:xfrm>
          <a:prstGeom prst="ellipse">
            <a:avLst/>
          </a:prstGeom>
          <a:solidFill>
            <a:srgbClr val="43B02A"/>
          </a:solidFill>
          <a:ln w="12700">
            <a:solidFill>
              <a:srgbClr val="333333"/>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54" name="Text 11">
            <a:extLst>
              <a:ext uri="{FF2B5EF4-FFF2-40B4-BE49-F238E27FC236}">
                <a16:creationId xmlns:a16="http://schemas.microsoft.com/office/drawing/2014/main" id="{3ACDE8BC-D756-F891-03B1-0355B269A0CF}"/>
              </a:ext>
            </a:extLst>
          </p:cNvPr>
          <p:cNvSpPr/>
          <p:nvPr/>
        </p:nvSpPr>
        <p:spPr>
          <a:xfrm>
            <a:off x="4358560" y="1325018"/>
            <a:ext cx="457200" cy="457200"/>
          </a:xfrm>
          <a:prstGeom prst="rect">
            <a:avLst/>
          </a:prstGeom>
          <a:noFill/>
          <a:ln/>
        </p:spPr>
        <p:txBody>
          <a:bodyPr wrap="square" lIns="0" tIns="0" rIns="0" bIns="0" rtlCol="0" anchor="ctr"/>
          <a:lstStyle/>
          <a:p>
            <a:pPr marL="0" indent="0" algn="ctr">
              <a:buNone/>
            </a:pPr>
            <a:r>
              <a:rPr lang="en-US" sz="1300" b="1">
                <a:solidFill>
                  <a:srgbClr val="FFFFFF"/>
                </a:solidFill>
                <a:latin typeface="Verdana" panose="020B0604030504040204" pitchFamily="34" charset="0"/>
                <a:ea typeface="Verdana" panose="020B0604030504040204" pitchFamily="34" charset="0"/>
                <a:cs typeface="Calibri" pitchFamily="34" charset="-120"/>
              </a:rPr>
              <a:t>02</a:t>
            </a:r>
            <a:endParaRPr lang="en-US" sz="1300">
              <a:latin typeface="Verdana" panose="020B0604030504040204" pitchFamily="34" charset="0"/>
              <a:ea typeface="Verdana" panose="020B0604030504040204" pitchFamily="34" charset="0"/>
            </a:endParaRPr>
          </a:p>
        </p:txBody>
      </p:sp>
      <p:sp>
        <p:nvSpPr>
          <p:cNvPr id="55" name="Text 12">
            <a:extLst>
              <a:ext uri="{FF2B5EF4-FFF2-40B4-BE49-F238E27FC236}">
                <a16:creationId xmlns:a16="http://schemas.microsoft.com/office/drawing/2014/main" id="{433FFFA5-7718-3372-CDA7-EF0149E28435}"/>
              </a:ext>
            </a:extLst>
          </p:cNvPr>
          <p:cNvSpPr/>
          <p:nvPr/>
        </p:nvSpPr>
        <p:spPr>
          <a:xfrm>
            <a:off x="4925488" y="1288442"/>
            <a:ext cx="2825496" cy="566928"/>
          </a:xfrm>
          <a:prstGeom prst="rect">
            <a:avLst/>
          </a:prstGeom>
          <a:noFill/>
          <a:ln/>
        </p:spPr>
        <p:txBody>
          <a:bodyPr wrap="square" lIns="0" tIns="0" rIns="0" bIns="0" rtlCol="0" anchor="ctr"/>
          <a:lstStyle/>
          <a:p>
            <a:pPr marL="0" indent="0">
              <a:buNone/>
            </a:pPr>
            <a:r>
              <a:rPr lang="en-US" sz="1200" b="1">
                <a:solidFill>
                  <a:srgbClr val="0A4A4E"/>
                </a:solidFill>
                <a:latin typeface="Verdana" panose="020B0604030504040204" pitchFamily="34" charset="0"/>
                <a:ea typeface="Verdana" panose="020B0604030504040204" pitchFamily="34" charset="0"/>
                <a:cs typeface="Calibri" pitchFamily="34" charset="-120"/>
              </a:rPr>
              <a:t>State heterogeneity demands a differentiated approach</a:t>
            </a:r>
            <a:endParaRPr lang="en-US" sz="1200">
              <a:latin typeface="Verdana" panose="020B0604030504040204" pitchFamily="34" charset="0"/>
              <a:ea typeface="Verdana" panose="020B0604030504040204" pitchFamily="34" charset="0"/>
            </a:endParaRPr>
          </a:p>
        </p:txBody>
      </p:sp>
      <p:sp>
        <p:nvSpPr>
          <p:cNvPr id="56" name="Text 13">
            <a:extLst>
              <a:ext uri="{FF2B5EF4-FFF2-40B4-BE49-F238E27FC236}">
                <a16:creationId xmlns:a16="http://schemas.microsoft.com/office/drawing/2014/main" id="{44EC142D-391F-6987-F7DB-CEE7D10F595E}"/>
              </a:ext>
            </a:extLst>
          </p:cNvPr>
          <p:cNvSpPr/>
          <p:nvPr/>
        </p:nvSpPr>
        <p:spPr>
          <a:xfrm>
            <a:off x="4376848" y="1946810"/>
            <a:ext cx="3355848" cy="1463040"/>
          </a:xfrm>
          <a:prstGeom prst="rect">
            <a:avLst/>
          </a:prstGeom>
          <a:noFill/>
          <a:ln/>
        </p:spPr>
        <p:txBody>
          <a:bodyPr wrap="square" lIns="0" tIns="0" rIns="0" bIns="0" rtlCol="0" anchor="t"/>
          <a:lstStyle/>
          <a:p>
            <a:pPr marL="0" indent="0">
              <a:lnSpc>
                <a:spcPts val="1300"/>
              </a:lnSpc>
              <a:buNone/>
            </a:pPr>
            <a:r>
              <a:rPr lang="en-US" sz="950">
                <a:solidFill>
                  <a:srgbClr val="333333"/>
                </a:solidFill>
                <a:latin typeface="Verdana" panose="020B0604030504040204" pitchFamily="34" charset="0"/>
                <a:ea typeface="Verdana" panose="020B0604030504040204" pitchFamily="34" charset="0"/>
                <a:cs typeface="Calibri" pitchFamily="34" charset="-120"/>
              </a:rPr>
              <a:t>Major States, NE/Hill States and UTs vary in fiscal scale, administrative capacity and reporting maturity. Sampling, consultation and data collection are calibrated to those differences to preserve like-for-like comparability.</a:t>
            </a:r>
            <a:endParaRPr lang="en-US" sz="950">
              <a:latin typeface="Verdana" panose="020B0604030504040204" pitchFamily="34" charset="0"/>
              <a:ea typeface="Verdana" panose="020B0604030504040204" pitchFamily="34" charset="0"/>
            </a:endParaRPr>
          </a:p>
        </p:txBody>
      </p:sp>
      <p:sp>
        <p:nvSpPr>
          <p:cNvPr id="57" name="Shape 14">
            <a:extLst>
              <a:ext uri="{FF2B5EF4-FFF2-40B4-BE49-F238E27FC236}">
                <a16:creationId xmlns:a16="http://schemas.microsoft.com/office/drawing/2014/main" id="{03789442-9E81-5F8A-C6BC-E4A6D06FEAEF}"/>
              </a:ext>
            </a:extLst>
          </p:cNvPr>
          <p:cNvSpPr/>
          <p:nvPr/>
        </p:nvSpPr>
        <p:spPr>
          <a:xfrm>
            <a:off x="8071644" y="1160426"/>
            <a:ext cx="3685032" cy="2377440"/>
          </a:xfrm>
          <a:prstGeom prst="foldedCorner">
            <a:avLst/>
          </a:prstGeom>
          <a:solidFill>
            <a:srgbClr val="FFFFFF"/>
          </a:solidFill>
          <a:ln w="9525">
            <a:solidFill>
              <a:srgbClr val="D9D9D9"/>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58" name="Shape 15">
            <a:extLst>
              <a:ext uri="{FF2B5EF4-FFF2-40B4-BE49-F238E27FC236}">
                <a16:creationId xmlns:a16="http://schemas.microsoft.com/office/drawing/2014/main" id="{61D3010C-D010-34B7-9395-DA7A82957E99}"/>
              </a:ext>
            </a:extLst>
          </p:cNvPr>
          <p:cNvSpPr/>
          <p:nvPr/>
        </p:nvSpPr>
        <p:spPr>
          <a:xfrm>
            <a:off x="8189896" y="1325018"/>
            <a:ext cx="457200" cy="457200"/>
          </a:xfrm>
          <a:prstGeom prst="ellipse">
            <a:avLst/>
          </a:prstGeom>
          <a:solidFill>
            <a:srgbClr val="43B02A"/>
          </a:solidFill>
          <a:ln w="12700">
            <a:solidFill>
              <a:srgbClr val="333333"/>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59" name="Text 16">
            <a:extLst>
              <a:ext uri="{FF2B5EF4-FFF2-40B4-BE49-F238E27FC236}">
                <a16:creationId xmlns:a16="http://schemas.microsoft.com/office/drawing/2014/main" id="{6E85A5BD-1B94-2E8D-518E-C9D7B6DC7286}"/>
              </a:ext>
            </a:extLst>
          </p:cNvPr>
          <p:cNvSpPr/>
          <p:nvPr/>
        </p:nvSpPr>
        <p:spPr>
          <a:xfrm>
            <a:off x="8189896" y="1325018"/>
            <a:ext cx="457200" cy="457200"/>
          </a:xfrm>
          <a:prstGeom prst="rect">
            <a:avLst/>
          </a:prstGeom>
          <a:noFill/>
          <a:ln/>
        </p:spPr>
        <p:txBody>
          <a:bodyPr wrap="square" lIns="0" tIns="0" rIns="0" bIns="0" rtlCol="0" anchor="ctr"/>
          <a:lstStyle/>
          <a:p>
            <a:pPr marL="0" indent="0" algn="ctr">
              <a:buNone/>
            </a:pPr>
            <a:r>
              <a:rPr lang="en-US" sz="1300" b="1">
                <a:solidFill>
                  <a:srgbClr val="FFFFFF"/>
                </a:solidFill>
                <a:latin typeface="Verdana" panose="020B0604030504040204" pitchFamily="34" charset="0"/>
                <a:ea typeface="Verdana" panose="020B0604030504040204" pitchFamily="34" charset="0"/>
                <a:cs typeface="Calibri" pitchFamily="34" charset="-120"/>
              </a:rPr>
              <a:t>03</a:t>
            </a:r>
            <a:endParaRPr lang="en-US" sz="1300">
              <a:latin typeface="Verdana" panose="020B0604030504040204" pitchFamily="34" charset="0"/>
              <a:ea typeface="Verdana" panose="020B0604030504040204" pitchFamily="34" charset="0"/>
            </a:endParaRPr>
          </a:p>
        </p:txBody>
      </p:sp>
      <p:sp>
        <p:nvSpPr>
          <p:cNvPr id="60" name="Text 17">
            <a:extLst>
              <a:ext uri="{FF2B5EF4-FFF2-40B4-BE49-F238E27FC236}">
                <a16:creationId xmlns:a16="http://schemas.microsoft.com/office/drawing/2014/main" id="{A7543069-814A-5F65-81B9-1663AE8B6A8B}"/>
              </a:ext>
            </a:extLst>
          </p:cNvPr>
          <p:cNvSpPr/>
          <p:nvPr/>
        </p:nvSpPr>
        <p:spPr>
          <a:xfrm>
            <a:off x="8756824" y="1288442"/>
            <a:ext cx="2825496" cy="566928"/>
          </a:xfrm>
          <a:prstGeom prst="rect">
            <a:avLst/>
          </a:prstGeom>
          <a:noFill/>
          <a:ln/>
        </p:spPr>
        <p:txBody>
          <a:bodyPr wrap="square" lIns="0" tIns="0" rIns="0" bIns="0" rtlCol="0" anchor="ctr"/>
          <a:lstStyle/>
          <a:p>
            <a:pPr marL="0" indent="0">
              <a:buNone/>
            </a:pPr>
            <a:r>
              <a:rPr lang="en-US" sz="1200" b="1">
                <a:solidFill>
                  <a:srgbClr val="0A4A4E"/>
                </a:solidFill>
                <a:latin typeface="Verdana" panose="020B0604030504040204" pitchFamily="34" charset="0"/>
                <a:ea typeface="Verdana" panose="020B0604030504040204" pitchFamily="34" charset="0"/>
                <a:cs typeface="Calibri" pitchFamily="34" charset="-120"/>
              </a:rPr>
              <a:t>Visibility into off-budget spending is critical</a:t>
            </a:r>
            <a:endParaRPr lang="en-US" sz="1200">
              <a:latin typeface="Verdana" panose="020B0604030504040204" pitchFamily="34" charset="0"/>
              <a:ea typeface="Verdana" panose="020B0604030504040204" pitchFamily="34" charset="0"/>
            </a:endParaRPr>
          </a:p>
        </p:txBody>
      </p:sp>
      <p:sp>
        <p:nvSpPr>
          <p:cNvPr id="61" name="Text 18">
            <a:extLst>
              <a:ext uri="{FF2B5EF4-FFF2-40B4-BE49-F238E27FC236}">
                <a16:creationId xmlns:a16="http://schemas.microsoft.com/office/drawing/2014/main" id="{4C57E942-1F5E-FE75-74B4-1FF53E6C1FA6}"/>
              </a:ext>
            </a:extLst>
          </p:cNvPr>
          <p:cNvSpPr/>
          <p:nvPr/>
        </p:nvSpPr>
        <p:spPr>
          <a:xfrm>
            <a:off x="8208184" y="1946810"/>
            <a:ext cx="3355848" cy="1463040"/>
          </a:xfrm>
          <a:prstGeom prst="rect">
            <a:avLst/>
          </a:prstGeom>
          <a:noFill/>
          <a:ln/>
        </p:spPr>
        <p:txBody>
          <a:bodyPr wrap="square" lIns="0" tIns="0" rIns="0" bIns="0" rtlCol="0" anchor="t"/>
          <a:lstStyle/>
          <a:p>
            <a:pPr marL="0" indent="0">
              <a:lnSpc>
                <a:spcPts val="1300"/>
              </a:lnSpc>
              <a:buNone/>
            </a:pPr>
            <a:r>
              <a:rPr lang="en-US" sz="950">
                <a:solidFill>
                  <a:srgbClr val="333333"/>
                </a:solidFill>
                <a:latin typeface="Verdana" panose="020B0604030504040204" pitchFamily="34" charset="0"/>
                <a:ea typeface="Verdana" panose="020B0604030504040204" pitchFamily="34" charset="0"/>
                <a:cs typeface="Calibri" pitchFamily="34" charset="-120"/>
              </a:rPr>
              <a:t>A significant share of subsidy expenditure is deferred or routed through off-budget borrowings and special securities. Our methodology goes beyond published budget documents into CAG audit reviews, State PSU financials and contingent-liability disclosures.</a:t>
            </a:r>
            <a:endParaRPr lang="en-US" sz="950">
              <a:latin typeface="Verdana" panose="020B0604030504040204" pitchFamily="34" charset="0"/>
              <a:ea typeface="Verdana" panose="020B0604030504040204" pitchFamily="34" charset="0"/>
            </a:endParaRPr>
          </a:p>
        </p:txBody>
      </p:sp>
      <p:sp>
        <p:nvSpPr>
          <p:cNvPr id="62" name="Shape 19">
            <a:extLst>
              <a:ext uri="{FF2B5EF4-FFF2-40B4-BE49-F238E27FC236}">
                <a16:creationId xmlns:a16="http://schemas.microsoft.com/office/drawing/2014/main" id="{D5BD9600-8129-2D7A-9FC3-F0DE9DF49543}"/>
              </a:ext>
            </a:extLst>
          </p:cNvPr>
          <p:cNvSpPr/>
          <p:nvPr/>
        </p:nvSpPr>
        <p:spPr>
          <a:xfrm>
            <a:off x="408972" y="3702458"/>
            <a:ext cx="3685032" cy="2377440"/>
          </a:xfrm>
          <a:prstGeom prst="foldedCorner">
            <a:avLst/>
          </a:prstGeom>
          <a:solidFill>
            <a:srgbClr val="FFFFFF"/>
          </a:solidFill>
          <a:ln w="9525">
            <a:solidFill>
              <a:srgbClr val="D9D9D9"/>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63" name="Shape 20">
            <a:extLst>
              <a:ext uri="{FF2B5EF4-FFF2-40B4-BE49-F238E27FC236}">
                <a16:creationId xmlns:a16="http://schemas.microsoft.com/office/drawing/2014/main" id="{7C114C94-41EB-266C-3A32-56768F87E83A}"/>
              </a:ext>
            </a:extLst>
          </p:cNvPr>
          <p:cNvSpPr/>
          <p:nvPr/>
        </p:nvSpPr>
        <p:spPr>
          <a:xfrm>
            <a:off x="527224" y="3867050"/>
            <a:ext cx="457200" cy="457200"/>
          </a:xfrm>
          <a:prstGeom prst="ellipse">
            <a:avLst/>
          </a:prstGeom>
          <a:solidFill>
            <a:srgbClr val="0E6E70"/>
          </a:solidFill>
          <a:ln w="12700">
            <a:solidFill>
              <a:srgbClr val="333333"/>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320" name="Text 21">
            <a:extLst>
              <a:ext uri="{FF2B5EF4-FFF2-40B4-BE49-F238E27FC236}">
                <a16:creationId xmlns:a16="http://schemas.microsoft.com/office/drawing/2014/main" id="{2DD99181-71CB-8B1C-29D2-32DC2A51FD27}"/>
              </a:ext>
            </a:extLst>
          </p:cNvPr>
          <p:cNvSpPr/>
          <p:nvPr/>
        </p:nvSpPr>
        <p:spPr>
          <a:xfrm>
            <a:off x="527224" y="3867050"/>
            <a:ext cx="457200" cy="457200"/>
          </a:xfrm>
          <a:prstGeom prst="rect">
            <a:avLst/>
          </a:prstGeom>
          <a:noFill/>
          <a:ln/>
        </p:spPr>
        <p:txBody>
          <a:bodyPr wrap="square" lIns="0" tIns="0" rIns="0" bIns="0" rtlCol="0" anchor="ctr"/>
          <a:lstStyle/>
          <a:p>
            <a:pPr marL="0" indent="0" algn="ctr">
              <a:buNone/>
            </a:pPr>
            <a:r>
              <a:rPr lang="en-US" sz="1300" b="1">
                <a:solidFill>
                  <a:srgbClr val="FFFFFF"/>
                </a:solidFill>
                <a:latin typeface="Verdana" panose="020B0604030504040204" pitchFamily="34" charset="0"/>
                <a:ea typeface="Verdana" panose="020B0604030504040204" pitchFamily="34" charset="0"/>
                <a:cs typeface="Calibri" pitchFamily="34" charset="-120"/>
              </a:rPr>
              <a:t>04</a:t>
            </a:r>
            <a:endParaRPr lang="en-US" sz="1300">
              <a:latin typeface="Verdana" panose="020B0604030504040204" pitchFamily="34" charset="0"/>
              <a:ea typeface="Verdana" panose="020B0604030504040204" pitchFamily="34" charset="0"/>
            </a:endParaRPr>
          </a:p>
        </p:txBody>
      </p:sp>
      <p:sp>
        <p:nvSpPr>
          <p:cNvPr id="321" name="Text 22">
            <a:extLst>
              <a:ext uri="{FF2B5EF4-FFF2-40B4-BE49-F238E27FC236}">
                <a16:creationId xmlns:a16="http://schemas.microsoft.com/office/drawing/2014/main" id="{CD4120C8-7E6C-7528-179E-21B47127F078}"/>
              </a:ext>
            </a:extLst>
          </p:cNvPr>
          <p:cNvSpPr/>
          <p:nvPr/>
        </p:nvSpPr>
        <p:spPr>
          <a:xfrm>
            <a:off x="1094152" y="3830474"/>
            <a:ext cx="2825496" cy="566928"/>
          </a:xfrm>
          <a:prstGeom prst="rect">
            <a:avLst/>
          </a:prstGeom>
          <a:noFill/>
          <a:ln/>
        </p:spPr>
        <p:txBody>
          <a:bodyPr wrap="square" lIns="0" tIns="0" rIns="0" bIns="0" rtlCol="0" anchor="ctr"/>
          <a:lstStyle/>
          <a:p>
            <a:pPr marL="0" indent="0">
              <a:buNone/>
            </a:pPr>
            <a:r>
              <a:rPr lang="en-US" sz="1200" b="1">
                <a:solidFill>
                  <a:srgbClr val="0A4A4E"/>
                </a:solidFill>
                <a:latin typeface="Verdana" panose="020B0604030504040204" pitchFamily="34" charset="0"/>
                <a:ea typeface="Verdana" panose="020B0604030504040204" pitchFamily="34" charset="0"/>
                <a:cs typeface="Calibri" pitchFamily="34" charset="-120"/>
              </a:rPr>
              <a:t>Empirical rigour balanced with contextual judgment</a:t>
            </a:r>
            <a:endParaRPr lang="en-US" sz="1200">
              <a:latin typeface="Verdana" panose="020B0604030504040204" pitchFamily="34" charset="0"/>
              <a:ea typeface="Verdana" panose="020B0604030504040204" pitchFamily="34" charset="0"/>
            </a:endParaRPr>
          </a:p>
        </p:txBody>
      </p:sp>
      <p:sp>
        <p:nvSpPr>
          <p:cNvPr id="322" name="Text 23">
            <a:extLst>
              <a:ext uri="{FF2B5EF4-FFF2-40B4-BE49-F238E27FC236}">
                <a16:creationId xmlns:a16="http://schemas.microsoft.com/office/drawing/2014/main" id="{A8F5DE0D-1154-4ADC-E033-C13B8B5F0A98}"/>
              </a:ext>
            </a:extLst>
          </p:cNvPr>
          <p:cNvSpPr/>
          <p:nvPr/>
        </p:nvSpPr>
        <p:spPr>
          <a:xfrm>
            <a:off x="545512" y="4488842"/>
            <a:ext cx="3355848" cy="1463040"/>
          </a:xfrm>
          <a:prstGeom prst="rect">
            <a:avLst/>
          </a:prstGeom>
          <a:noFill/>
          <a:ln/>
        </p:spPr>
        <p:txBody>
          <a:bodyPr wrap="square" lIns="0" tIns="0" rIns="0" bIns="0" rtlCol="0" anchor="t"/>
          <a:lstStyle/>
          <a:p>
            <a:pPr marL="0" indent="0">
              <a:lnSpc>
                <a:spcPts val="1300"/>
              </a:lnSpc>
              <a:buNone/>
            </a:pPr>
            <a:r>
              <a:rPr lang="en-US" sz="950">
                <a:solidFill>
                  <a:srgbClr val="333333"/>
                </a:solidFill>
                <a:latin typeface="Verdana" panose="020B0604030504040204" pitchFamily="34" charset="0"/>
                <a:ea typeface="Verdana" panose="020B0604030504040204" pitchFamily="34" charset="0"/>
                <a:cs typeface="Calibri" pitchFamily="34" charset="-120"/>
              </a:rPr>
              <a:t>Quantitative classification is systematised, but borderline cases require judgment informed by consultation — so the framework reflects real administrative practice, not theoretical categorisation.</a:t>
            </a:r>
            <a:endParaRPr lang="en-US" sz="950">
              <a:latin typeface="Verdana" panose="020B0604030504040204" pitchFamily="34" charset="0"/>
              <a:ea typeface="Verdana" panose="020B0604030504040204" pitchFamily="34" charset="0"/>
            </a:endParaRPr>
          </a:p>
        </p:txBody>
      </p:sp>
      <p:sp>
        <p:nvSpPr>
          <p:cNvPr id="323" name="Shape 24">
            <a:extLst>
              <a:ext uri="{FF2B5EF4-FFF2-40B4-BE49-F238E27FC236}">
                <a16:creationId xmlns:a16="http://schemas.microsoft.com/office/drawing/2014/main" id="{967E9720-5795-1EF8-C367-41B6D8F3C3BA}"/>
              </a:ext>
            </a:extLst>
          </p:cNvPr>
          <p:cNvSpPr/>
          <p:nvPr/>
        </p:nvSpPr>
        <p:spPr>
          <a:xfrm>
            <a:off x="4240308" y="3702458"/>
            <a:ext cx="3685032" cy="2377440"/>
          </a:xfrm>
          <a:prstGeom prst="foldedCorner">
            <a:avLst/>
          </a:prstGeom>
          <a:solidFill>
            <a:srgbClr val="FFFFFF"/>
          </a:solidFill>
          <a:ln w="9525">
            <a:solidFill>
              <a:srgbClr val="D9D9D9"/>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324" name="Shape 25">
            <a:extLst>
              <a:ext uri="{FF2B5EF4-FFF2-40B4-BE49-F238E27FC236}">
                <a16:creationId xmlns:a16="http://schemas.microsoft.com/office/drawing/2014/main" id="{9178B56E-E07F-165E-82DA-397EDF8CB002}"/>
              </a:ext>
            </a:extLst>
          </p:cNvPr>
          <p:cNvSpPr/>
          <p:nvPr/>
        </p:nvSpPr>
        <p:spPr>
          <a:xfrm>
            <a:off x="4358560" y="3867050"/>
            <a:ext cx="457200" cy="457200"/>
          </a:xfrm>
          <a:prstGeom prst="ellipse">
            <a:avLst/>
          </a:prstGeom>
          <a:solidFill>
            <a:srgbClr val="0E6E70"/>
          </a:solidFill>
          <a:ln w="12700">
            <a:solidFill>
              <a:srgbClr val="333333"/>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325" name="Text 26">
            <a:extLst>
              <a:ext uri="{FF2B5EF4-FFF2-40B4-BE49-F238E27FC236}">
                <a16:creationId xmlns:a16="http://schemas.microsoft.com/office/drawing/2014/main" id="{BBF833C5-EF5B-64BE-38FE-77B6E82D4A18}"/>
              </a:ext>
            </a:extLst>
          </p:cNvPr>
          <p:cNvSpPr/>
          <p:nvPr/>
        </p:nvSpPr>
        <p:spPr>
          <a:xfrm>
            <a:off x="4358560" y="3867050"/>
            <a:ext cx="457200" cy="457200"/>
          </a:xfrm>
          <a:prstGeom prst="rect">
            <a:avLst/>
          </a:prstGeom>
          <a:noFill/>
          <a:ln/>
        </p:spPr>
        <p:txBody>
          <a:bodyPr wrap="square" lIns="0" tIns="0" rIns="0" bIns="0" rtlCol="0" anchor="ctr"/>
          <a:lstStyle/>
          <a:p>
            <a:pPr marL="0" indent="0" algn="ctr">
              <a:buNone/>
            </a:pPr>
            <a:r>
              <a:rPr lang="en-US" sz="1300" b="1">
                <a:solidFill>
                  <a:srgbClr val="FFFFFF"/>
                </a:solidFill>
                <a:latin typeface="Verdana" panose="020B0604030504040204" pitchFamily="34" charset="0"/>
                <a:ea typeface="Verdana" panose="020B0604030504040204" pitchFamily="34" charset="0"/>
                <a:cs typeface="Calibri" pitchFamily="34" charset="-120"/>
              </a:rPr>
              <a:t>05</a:t>
            </a:r>
            <a:endParaRPr lang="en-US" sz="1300">
              <a:latin typeface="Verdana" panose="020B0604030504040204" pitchFamily="34" charset="0"/>
              <a:ea typeface="Verdana" panose="020B0604030504040204" pitchFamily="34" charset="0"/>
            </a:endParaRPr>
          </a:p>
        </p:txBody>
      </p:sp>
      <p:sp>
        <p:nvSpPr>
          <p:cNvPr id="326" name="Text 27">
            <a:extLst>
              <a:ext uri="{FF2B5EF4-FFF2-40B4-BE49-F238E27FC236}">
                <a16:creationId xmlns:a16="http://schemas.microsoft.com/office/drawing/2014/main" id="{46710BE0-58EF-E5A7-2A23-0B0EC1A57C06}"/>
              </a:ext>
            </a:extLst>
          </p:cNvPr>
          <p:cNvSpPr/>
          <p:nvPr/>
        </p:nvSpPr>
        <p:spPr>
          <a:xfrm>
            <a:off x="4925488" y="3830474"/>
            <a:ext cx="2825496" cy="566928"/>
          </a:xfrm>
          <a:prstGeom prst="rect">
            <a:avLst/>
          </a:prstGeom>
          <a:noFill/>
          <a:ln/>
        </p:spPr>
        <p:txBody>
          <a:bodyPr wrap="square" lIns="0" tIns="0" rIns="0" bIns="0" rtlCol="0" anchor="ctr"/>
          <a:lstStyle/>
          <a:p>
            <a:pPr marL="0" indent="0">
              <a:buNone/>
            </a:pPr>
            <a:r>
              <a:rPr lang="en-US" sz="1200" b="1">
                <a:solidFill>
                  <a:srgbClr val="0A4A4E"/>
                </a:solidFill>
                <a:latin typeface="Verdana" panose="020B0604030504040204" pitchFamily="34" charset="0"/>
                <a:ea typeface="Verdana" panose="020B0604030504040204" pitchFamily="34" charset="0"/>
                <a:cs typeface="Calibri" pitchFamily="34" charset="-120"/>
              </a:rPr>
              <a:t>The output must be usable, not merely descriptive</a:t>
            </a:r>
            <a:endParaRPr lang="en-US" sz="1200">
              <a:latin typeface="Verdana" panose="020B0604030504040204" pitchFamily="34" charset="0"/>
              <a:ea typeface="Verdana" panose="020B0604030504040204" pitchFamily="34" charset="0"/>
            </a:endParaRPr>
          </a:p>
        </p:txBody>
      </p:sp>
      <p:sp>
        <p:nvSpPr>
          <p:cNvPr id="327" name="Text 28">
            <a:extLst>
              <a:ext uri="{FF2B5EF4-FFF2-40B4-BE49-F238E27FC236}">
                <a16:creationId xmlns:a16="http://schemas.microsoft.com/office/drawing/2014/main" id="{B4F428B0-19F9-ED1F-4939-5FD65BAED774}"/>
              </a:ext>
            </a:extLst>
          </p:cNvPr>
          <p:cNvSpPr/>
          <p:nvPr/>
        </p:nvSpPr>
        <p:spPr>
          <a:xfrm>
            <a:off x="4376848" y="4488842"/>
            <a:ext cx="3355848" cy="1463040"/>
          </a:xfrm>
          <a:prstGeom prst="rect">
            <a:avLst/>
          </a:prstGeom>
          <a:noFill/>
          <a:ln/>
        </p:spPr>
        <p:txBody>
          <a:bodyPr wrap="square" lIns="0" tIns="0" rIns="0" bIns="0" rtlCol="0" anchor="t"/>
          <a:lstStyle/>
          <a:p>
            <a:pPr marL="0" indent="0">
              <a:lnSpc>
                <a:spcPts val="1300"/>
              </a:lnSpc>
              <a:buNone/>
            </a:pPr>
            <a:r>
              <a:rPr lang="en-US" sz="950">
                <a:solidFill>
                  <a:srgbClr val="333333"/>
                </a:solidFill>
                <a:latin typeface="Verdana" panose="020B0604030504040204" pitchFamily="34" charset="0"/>
                <a:ea typeface="Verdana" panose="020B0604030504040204" pitchFamily="34" charset="0"/>
                <a:cs typeface="Calibri" pitchFamily="34" charset="-120"/>
              </a:rPr>
              <a:t>Beyond classifying current spending, the toolkit is designed for prospective use — enabling NITI Aayog and States to apply it to new schemes as they are proposed.</a:t>
            </a:r>
            <a:endParaRPr lang="en-US" sz="950">
              <a:latin typeface="Verdana" panose="020B0604030504040204" pitchFamily="34" charset="0"/>
              <a:ea typeface="Verdana" panose="020B0604030504040204" pitchFamily="34" charset="0"/>
            </a:endParaRPr>
          </a:p>
        </p:txBody>
      </p:sp>
      <p:sp>
        <p:nvSpPr>
          <p:cNvPr id="328" name="Shape 29">
            <a:extLst>
              <a:ext uri="{FF2B5EF4-FFF2-40B4-BE49-F238E27FC236}">
                <a16:creationId xmlns:a16="http://schemas.microsoft.com/office/drawing/2014/main" id="{B2359A31-258E-3ED0-A0BE-AF799A653D19}"/>
              </a:ext>
            </a:extLst>
          </p:cNvPr>
          <p:cNvSpPr/>
          <p:nvPr/>
        </p:nvSpPr>
        <p:spPr>
          <a:xfrm>
            <a:off x="8071644" y="3702458"/>
            <a:ext cx="3685032" cy="2377440"/>
          </a:xfrm>
          <a:prstGeom prst="foldedCorner">
            <a:avLst/>
          </a:prstGeom>
          <a:solidFill>
            <a:srgbClr val="FFFFFF"/>
          </a:solidFill>
          <a:ln w="9525">
            <a:solidFill>
              <a:srgbClr val="D9D9D9"/>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329" name="Shape 30">
            <a:extLst>
              <a:ext uri="{FF2B5EF4-FFF2-40B4-BE49-F238E27FC236}">
                <a16:creationId xmlns:a16="http://schemas.microsoft.com/office/drawing/2014/main" id="{705703C0-17F0-9837-02ED-B2F94CF523CE}"/>
              </a:ext>
            </a:extLst>
          </p:cNvPr>
          <p:cNvSpPr/>
          <p:nvPr/>
        </p:nvSpPr>
        <p:spPr>
          <a:xfrm>
            <a:off x="8189896" y="3867050"/>
            <a:ext cx="457200" cy="457200"/>
          </a:xfrm>
          <a:prstGeom prst="ellipse">
            <a:avLst/>
          </a:prstGeom>
          <a:solidFill>
            <a:srgbClr val="0E6E70"/>
          </a:solidFill>
          <a:ln w="12700">
            <a:solidFill>
              <a:srgbClr val="333333"/>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330" name="Text 31">
            <a:extLst>
              <a:ext uri="{FF2B5EF4-FFF2-40B4-BE49-F238E27FC236}">
                <a16:creationId xmlns:a16="http://schemas.microsoft.com/office/drawing/2014/main" id="{9AD8C17E-23AD-E24B-A3B4-21E1D44BCF28}"/>
              </a:ext>
            </a:extLst>
          </p:cNvPr>
          <p:cNvSpPr/>
          <p:nvPr/>
        </p:nvSpPr>
        <p:spPr>
          <a:xfrm>
            <a:off x="8189896" y="3867050"/>
            <a:ext cx="457200" cy="457200"/>
          </a:xfrm>
          <a:prstGeom prst="rect">
            <a:avLst/>
          </a:prstGeom>
          <a:noFill/>
          <a:ln/>
        </p:spPr>
        <p:txBody>
          <a:bodyPr wrap="square" lIns="0" tIns="0" rIns="0" bIns="0" rtlCol="0" anchor="ctr"/>
          <a:lstStyle/>
          <a:p>
            <a:pPr marL="0" indent="0" algn="ctr">
              <a:buNone/>
            </a:pPr>
            <a:r>
              <a:rPr lang="en-US" sz="1300" b="1">
                <a:solidFill>
                  <a:srgbClr val="FFFFFF"/>
                </a:solidFill>
                <a:latin typeface="Verdana" panose="020B0604030504040204" pitchFamily="34" charset="0"/>
                <a:ea typeface="Verdana" panose="020B0604030504040204" pitchFamily="34" charset="0"/>
                <a:cs typeface="Calibri" pitchFamily="34" charset="-120"/>
              </a:rPr>
              <a:t>06</a:t>
            </a:r>
            <a:endParaRPr lang="en-US" sz="1300">
              <a:latin typeface="Verdana" panose="020B0604030504040204" pitchFamily="34" charset="0"/>
              <a:ea typeface="Verdana" panose="020B0604030504040204" pitchFamily="34" charset="0"/>
            </a:endParaRPr>
          </a:p>
        </p:txBody>
      </p:sp>
      <p:sp>
        <p:nvSpPr>
          <p:cNvPr id="331" name="Text 32">
            <a:extLst>
              <a:ext uri="{FF2B5EF4-FFF2-40B4-BE49-F238E27FC236}">
                <a16:creationId xmlns:a16="http://schemas.microsoft.com/office/drawing/2014/main" id="{C9E0589A-4E85-27D6-4D7E-4E6C717C6D53}"/>
              </a:ext>
            </a:extLst>
          </p:cNvPr>
          <p:cNvSpPr/>
          <p:nvPr/>
        </p:nvSpPr>
        <p:spPr>
          <a:xfrm>
            <a:off x="8756824" y="3830474"/>
            <a:ext cx="2825496" cy="566928"/>
          </a:xfrm>
          <a:prstGeom prst="rect">
            <a:avLst/>
          </a:prstGeom>
          <a:noFill/>
          <a:ln/>
        </p:spPr>
        <p:txBody>
          <a:bodyPr wrap="square" lIns="0" tIns="0" rIns="0" bIns="0" rtlCol="0" anchor="ctr"/>
          <a:lstStyle/>
          <a:p>
            <a:pPr marL="0" indent="0">
              <a:buNone/>
            </a:pPr>
            <a:r>
              <a:rPr lang="en-US" sz="1200" b="1">
                <a:solidFill>
                  <a:srgbClr val="0A4A4E"/>
                </a:solidFill>
                <a:latin typeface="Verdana" panose="020B0604030504040204" pitchFamily="34" charset="0"/>
                <a:ea typeface="Verdana" panose="020B0604030504040204" pitchFamily="34" charset="0"/>
                <a:cs typeface="Calibri" pitchFamily="34" charset="-120"/>
              </a:rPr>
              <a:t>Comparability is designed in from the outset</a:t>
            </a:r>
            <a:endParaRPr lang="en-US" sz="1200">
              <a:latin typeface="Verdana" panose="020B0604030504040204" pitchFamily="34" charset="0"/>
              <a:ea typeface="Verdana" panose="020B0604030504040204" pitchFamily="34" charset="0"/>
            </a:endParaRPr>
          </a:p>
        </p:txBody>
      </p:sp>
      <p:sp>
        <p:nvSpPr>
          <p:cNvPr id="332" name="Text 33">
            <a:extLst>
              <a:ext uri="{FF2B5EF4-FFF2-40B4-BE49-F238E27FC236}">
                <a16:creationId xmlns:a16="http://schemas.microsoft.com/office/drawing/2014/main" id="{4800FF8C-7156-3A7B-B95A-461271D658DE}"/>
              </a:ext>
            </a:extLst>
          </p:cNvPr>
          <p:cNvSpPr/>
          <p:nvPr/>
        </p:nvSpPr>
        <p:spPr>
          <a:xfrm>
            <a:off x="8208184" y="4488842"/>
            <a:ext cx="3355848" cy="1463040"/>
          </a:xfrm>
          <a:prstGeom prst="rect">
            <a:avLst/>
          </a:prstGeom>
          <a:noFill/>
          <a:ln/>
        </p:spPr>
        <p:txBody>
          <a:bodyPr wrap="square" lIns="0" tIns="0" rIns="0" bIns="0" rtlCol="0" anchor="t"/>
          <a:lstStyle/>
          <a:p>
            <a:pPr marL="0" indent="0">
              <a:lnSpc>
                <a:spcPts val="1300"/>
              </a:lnSpc>
              <a:buNone/>
            </a:pPr>
            <a:r>
              <a:rPr lang="en-US" sz="950">
                <a:solidFill>
                  <a:srgbClr val="333333"/>
                </a:solidFill>
                <a:latin typeface="Verdana" panose="020B0604030504040204" pitchFamily="34" charset="0"/>
                <a:ea typeface="Verdana" panose="020B0604030504040204" pitchFamily="34" charset="0"/>
                <a:cs typeface="Calibri" pitchFamily="34" charset="-120"/>
              </a:rPr>
              <a:t>Normalisation for fiscal capacity, population and reporting maturity is built into the method, so the study does not reproduce the very inconsistencies it seeks to resolve.</a:t>
            </a:r>
            <a:endParaRPr lang="en-US" sz="950">
              <a:latin typeface="Verdana" panose="020B0604030504040204" pitchFamily="34" charset="0"/>
              <a:ea typeface="Verdana" panose="020B0604030504040204" pitchFamily="34" charset="0"/>
            </a:endParaRPr>
          </a:p>
        </p:txBody>
      </p:sp>
      <p:sp>
        <p:nvSpPr>
          <p:cNvPr id="333" name="TextBox 332">
            <a:extLst>
              <a:ext uri="{FF2B5EF4-FFF2-40B4-BE49-F238E27FC236}">
                <a16:creationId xmlns:a16="http://schemas.microsoft.com/office/drawing/2014/main" id="{98C6EACB-5FA3-19CF-B868-A6A9E244A3BD}"/>
              </a:ext>
            </a:extLst>
          </p:cNvPr>
          <p:cNvSpPr txBox="1"/>
          <p:nvPr/>
        </p:nvSpPr>
        <p:spPr>
          <a:xfrm>
            <a:off x="408353" y="1137766"/>
            <a:ext cx="45719" cy="2400100"/>
          </a:xfrm>
          <a:prstGeom prst="rect">
            <a:avLst/>
          </a:prstGeom>
          <a:solidFill>
            <a:schemeClr val="accent3">
              <a:lumMod val="60000"/>
              <a:lumOff val="40000"/>
            </a:schemeClr>
          </a:solidFill>
          <a:ln>
            <a:noFill/>
          </a:ln>
        </p:spPr>
        <p:txBody>
          <a:bodyPr wrap="square" lIns="0" tIns="0" rIns="0" bIns="0" rtlCol="0">
            <a:spAutoFit/>
          </a:bodyPr>
          <a:lstStyle/>
          <a:p>
            <a:pPr marL="203200" indent="-203200">
              <a:spcBef>
                <a:spcPts val="600"/>
              </a:spcBef>
              <a:buSzPct val="100000"/>
              <a:buFont typeface="Arial"/>
              <a:buChar char="•"/>
            </a:pPr>
            <a:endParaRPr lang="en-IN">
              <a:solidFill>
                <a:srgbClr val="313131"/>
              </a:solidFill>
            </a:endParaRPr>
          </a:p>
        </p:txBody>
      </p:sp>
      <p:sp>
        <p:nvSpPr>
          <p:cNvPr id="334" name="TextBox 333">
            <a:extLst>
              <a:ext uri="{FF2B5EF4-FFF2-40B4-BE49-F238E27FC236}">
                <a16:creationId xmlns:a16="http://schemas.microsoft.com/office/drawing/2014/main" id="{3E6F6518-7B08-2B3D-1319-034768E8B7C9}"/>
              </a:ext>
            </a:extLst>
          </p:cNvPr>
          <p:cNvSpPr txBox="1"/>
          <p:nvPr/>
        </p:nvSpPr>
        <p:spPr>
          <a:xfrm>
            <a:off x="4254341" y="1137766"/>
            <a:ext cx="45719" cy="2400100"/>
          </a:xfrm>
          <a:prstGeom prst="rect">
            <a:avLst/>
          </a:prstGeom>
          <a:solidFill>
            <a:schemeClr val="accent3">
              <a:lumMod val="60000"/>
              <a:lumOff val="40000"/>
            </a:schemeClr>
          </a:solidFill>
          <a:ln>
            <a:noFill/>
          </a:ln>
        </p:spPr>
        <p:txBody>
          <a:bodyPr wrap="square" lIns="0" tIns="0" rIns="0" bIns="0" rtlCol="0">
            <a:spAutoFit/>
          </a:bodyPr>
          <a:lstStyle/>
          <a:p>
            <a:pPr marL="203200" indent="-203200">
              <a:spcBef>
                <a:spcPts val="600"/>
              </a:spcBef>
              <a:buSzPct val="100000"/>
              <a:buFont typeface="Arial"/>
              <a:buChar char="•"/>
            </a:pPr>
            <a:endParaRPr lang="en-IN">
              <a:solidFill>
                <a:srgbClr val="313131"/>
              </a:solidFill>
            </a:endParaRPr>
          </a:p>
        </p:txBody>
      </p:sp>
      <p:sp>
        <p:nvSpPr>
          <p:cNvPr id="335" name="TextBox 334">
            <a:extLst>
              <a:ext uri="{FF2B5EF4-FFF2-40B4-BE49-F238E27FC236}">
                <a16:creationId xmlns:a16="http://schemas.microsoft.com/office/drawing/2014/main" id="{81AE7CEC-CA48-CBE8-9552-D92DDA2E8AC7}"/>
              </a:ext>
            </a:extLst>
          </p:cNvPr>
          <p:cNvSpPr txBox="1"/>
          <p:nvPr/>
        </p:nvSpPr>
        <p:spPr>
          <a:xfrm>
            <a:off x="8077469" y="1149096"/>
            <a:ext cx="45719" cy="2400100"/>
          </a:xfrm>
          <a:prstGeom prst="rect">
            <a:avLst/>
          </a:prstGeom>
          <a:solidFill>
            <a:schemeClr val="accent3">
              <a:lumMod val="60000"/>
              <a:lumOff val="40000"/>
            </a:schemeClr>
          </a:solidFill>
          <a:ln>
            <a:noFill/>
          </a:ln>
        </p:spPr>
        <p:txBody>
          <a:bodyPr wrap="square" lIns="0" tIns="0" rIns="0" bIns="0" rtlCol="0">
            <a:spAutoFit/>
          </a:bodyPr>
          <a:lstStyle/>
          <a:p>
            <a:pPr marL="203200" indent="-203200">
              <a:spcBef>
                <a:spcPts val="600"/>
              </a:spcBef>
              <a:buSzPct val="100000"/>
              <a:buFont typeface="Arial"/>
              <a:buChar char="•"/>
            </a:pPr>
            <a:endParaRPr lang="en-IN">
              <a:solidFill>
                <a:srgbClr val="313131"/>
              </a:solidFill>
            </a:endParaRPr>
          </a:p>
        </p:txBody>
      </p:sp>
      <p:sp>
        <p:nvSpPr>
          <p:cNvPr id="337" name="TextBox 336">
            <a:extLst>
              <a:ext uri="{FF2B5EF4-FFF2-40B4-BE49-F238E27FC236}">
                <a16:creationId xmlns:a16="http://schemas.microsoft.com/office/drawing/2014/main" id="{D464E3B6-76CD-A778-7382-423D2AC86B2E}"/>
              </a:ext>
            </a:extLst>
          </p:cNvPr>
          <p:cNvSpPr txBox="1"/>
          <p:nvPr/>
        </p:nvSpPr>
        <p:spPr>
          <a:xfrm>
            <a:off x="417808" y="3702458"/>
            <a:ext cx="45719" cy="2400100"/>
          </a:xfrm>
          <a:prstGeom prst="rect">
            <a:avLst/>
          </a:prstGeom>
          <a:solidFill>
            <a:schemeClr val="accent3">
              <a:lumMod val="60000"/>
              <a:lumOff val="40000"/>
            </a:schemeClr>
          </a:solidFill>
          <a:ln>
            <a:noFill/>
          </a:ln>
        </p:spPr>
        <p:txBody>
          <a:bodyPr wrap="square" lIns="0" tIns="0" rIns="0" bIns="0" rtlCol="0">
            <a:spAutoFit/>
          </a:bodyPr>
          <a:lstStyle/>
          <a:p>
            <a:pPr marL="203200" indent="-203200">
              <a:spcBef>
                <a:spcPts val="600"/>
              </a:spcBef>
              <a:buSzPct val="100000"/>
              <a:buFont typeface="Arial"/>
              <a:buChar char="•"/>
            </a:pPr>
            <a:endParaRPr lang="en-IN">
              <a:solidFill>
                <a:srgbClr val="313131"/>
              </a:solidFill>
            </a:endParaRPr>
          </a:p>
        </p:txBody>
      </p:sp>
      <p:sp>
        <p:nvSpPr>
          <p:cNvPr id="338" name="TextBox 337">
            <a:extLst>
              <a:ext uri="{FF2B5EF4-FFF2-40B4-BE49-F238E27FC236}">
                <a16:creationId xmlns:a16="http://schemas.microsoft.com/office/drawing/2014/main" id="{4EAA3FB7-222B-234B-8049-FC8D31B75B45}"/>
              </a:ext>
            </a:extLst>
          </p:cNvPr>
          <p:cNvSpPr txBox="1"/>
          <p:nvPr/>
        </p:nvSpPr>
        <p:spPr>
          <a:xfrm>
            <a:off x="4253715" y="3702458"/>
            <a:ext cx="45719" cy="2400100"/>
          </a:xfrm>
          <a:prstGeom prst="rect">
            <a:avLst/>
          </a:prstGeom>
          <a:solidFill>
            <a:schemeClr val="accent3">
              <a:lumMod val="60000"/>
              <a:lumOff val="40000"/>
            </a:schemeClr>
          </a:solidFill>
          <a:ln>
            <a:noFill/>
          </a:ln>
        </p:spPr>
        <p:txBody>
          <a:bodyPr wrap="square" lIns="0" tIns="0" rIns="0" bIns="0" rtlCol="0">
            <a:spAutoFit/>
          </a:bodyPr>
          <a:lstStyle/>
          <a:p>
            <a:pPr marL="203200" indent="-203200">
              <a:spcBef>
                <a:spcPts val="600"/>
              </a:spcBef>
              <a:buSzPct val="100000"/>
              <a:buFont typeface="Arial"/>
              <a:buChar char="•"/>
            </a:pPr>
            <a:endParaRPr lang="en-IN">
              <a:solidFill>
                <a:srgbClr val="313131"/>
              </a:solidFill>
            </a:endParaRPr>
          </a:p>
        </p:txBody>
      </p:sp>
      <p:sp>
        <p:nvSpPr>
          <p:cNvPr id="339" name="TextBox 338">
            <a:extLst>
              <a:ext uri="{FF2B5EF4-FFF2-40B4-BE49-F238E27FC236}">
                <a16:creationId xmlns:a16="http://schemas.microsoft.com/office/drawing/2014/main" id="{42F3D142-D01E-F600-1D6D-B194F28CFA61}"/>
              </a:ext>
            </a:extLst>
          </p:cNvPr>
          <p:cNvSpPr txBox="1"/>
          <p:nvPr/>
        </p:nvSpPr>
        <p:spPr>
          <a:xfrm>
            <a:off x="8062192" y="3702458"/>
            <a:ext cx="45719" cy="2400100"/>
          </a:xfrm>
          <a:prstGeom prst="rect">
            <a:avLst/>
          </a:prstGeom>
          <a:solidFill>
            <a:schemeClr val="accent3">
              <a:lumMod val="60000"/>
              <a:lumOff val="40000"/>
            </a:schemeClr>
          </a:solidFill>
          <a:ln>
            <a:noFill/>
          </a:ln>
        </p:spPr>
        <p:txBody>
          <a:bodyPr wrap="square" lIns="0" tIns="0" rIns="0" bIns="0" rtlCol="0">
            <a:spAutoFit/>
          </a:bodyPr>
          <a:lstStyle/>
          <a:p>
            <a:pPr marL="203200" indent="-203200">
              <a:spcBef>
                <a:spcPts val="600"/>
              </a:spcBef>
              <a:buSzPct val="100000"/>
              <a:buFont typeface="Arial"/>
              <a:buChar char="•"/>
            </a:pPr>
            <a:endParaRPr lang="en-IN">
              <a:solidFill>
                <a:srgbClr val="313131"/>
              </a:solidFill>
            </a:endParaRPr>
          </a:p>
        </p:txBody>
      </p:sp>
    </p:spTree>
    <p:extLst>
      <p:ext uri="{BB962C8B-B14F-4D97-AF65-F5344CB8AC3E}">
        <p14:creationId xmlns:p14="http://schemas.microsoft.com/office/powerpoint/2010/main" val="38641753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1517B-0E98-FDF6-A7E1-1D25BA8EB728}"/>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D24463A5-E7F4-3CF7-599D-32523C6C7F29}"/>
              </a:ext>
            </a:extLst>
          </p:cNvPr>
          <p:cNvGrpSpPr/>
          <p:nvPr/>
        </p:nvGrpSpPr>
        <p:grpSpPr>
          <a:xfrm>
            <a:off x="380920" y="66871"/>
            <a:ext cx="11811080" cy="6044567"/>
            <a:chOff x="380920" y="66871"/>
            <a:chExt cx="11811080" cy="6044567"/>
          </a:xfrm>
        </p:grpSpPr>
        <p:cxnSp>
          <p:nvCxnSpPr>
            <p:cNvPr id="6" name="Straight Arrow Connector 5">
              <a:extLst>
                <a:ext uri="{FF2B5EF4-FFF2-40B4-BE49-F238E27FC236}">
                  <a16:creationId xmlns:a16="http://schemas.microsoft.com/office/drawing/2014/main" id="{FF113234-3531-7FE2-DA51-668A1BB873EF}"/>
                </a:ext>
              </a:extLst>
            </p:cNvPr>
            <p:cNvCxnSpPr/>
            <p:nvPr/>
          </p:nvCxnSpPr>
          <p:spPr>
            <a:xfrm flipV="1">
              <a:off x="408972" y="778102"/>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A21E043F-9898-AE49-BFE7-41AB2F7C2B82}"/>
                </a:ext>
              </a:extLst>
            </p:cNvPr>
            <p:cNvSpPr/>
            <p:nvPr/>
          </p:nvSpPr>
          <p:spPr bwMode="gray">
            <a:xfrm>
              <a:off x="380920" y="66871"/>
              <a:ext cx="11811080" cy="370522"/>
            </a:xfrm>
            <a:prstGeom prst="rect">
              <a:avLst/>
            </a:prstGeom>
            <a:noFill/>
            <a:ln w="19050" algn="ctr">
              <a:noFill/>
              <a:miter lim="800000"/>
              <a:headEnd/>
              <a:tailEnd/>
            </a:ln>
          </p:spPr>
          <p:txBody>
            <a:bodyPr wrap="square" lIns="88900" tIns="88900" rIns="88900" bIns="88900" rtlCol="0" anchor="ctr"/>
            <a:lstStyle/>
            <a:p>
              <a:r>
                <a:rPr lang="en-US" b="1">
                  <a:latin typeface="+mj-lt"/>
                </a:rPr>
                <a:t>Phase-wise Approach &amp; Methodology</a:t>
              </a:r>
              <a:endParaRPr lang="en-US" sz="1800" b="1">
                <a:latin typeface="+mj-lt"/>
              </a:endParaRPr>
            </a:p>
          </p:txBody>
        </p:sp>
        <p:sp>
          <p:nvSpPr>
            <p:cNvPr id="12" name="Text Placeholder 1">
              <a:extLst>
                <a:ext uri="{FF2B5EF4-FFF2-40B4-BE49-F238E27FC236}">
                  <a16:creationId xmlns:a16="http://schemas.microsoft.com/office/drawing/2014/main" id="{D2D75946-3AF6-6A32-328A-325086794D4B}"/>
                </a:ext>
              </a:extLst>
            </p:cNvPr>
            <p:cNvSpPr txBox="1">
              <a:spLocks/>
            </p:cNvSpPr>
            <p:nvPr/>
          </p:nvSpPr>
          <p:spPr>
            <a:xfrm>
              <a:off x="439221" y="480431"/>
              <a:ext cx="11365992" cy="757255"/>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600" b="0" kern="1200">
                  <a:solidFill>
                    <a:srgbClr val="575757"/>
                  </a:solidFill>
                  <a:latin typeface="Calibri" panose="020F0502020204030204" pitchFamily="34" charset="0"/>
                  <a:ea typeface="+mn-ea"/>
                  <a:cs typeface="Calibri" panose="020F0502020204030204" pitchFamily="34" charset="0"/>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1400" dirty="0">
                  <a:latin typeface="+mj-lt"/>
                </a:rPr>
                <a:t>A definition, an estimate and a working toolkit in 120 days</a:t>
              </a:r>
            </a:p>
          </p:txBody>
        </p:sp>
        <p:grpSp>
          <p:nvGrpSpPr>
            <p:cNvPr id="2" name="Group 1">
              <a:extLst>
                <a:ext uri="{FF2B5EF4-FFF2-40B4-BE49-F238E27FC236}">
                  <a16:creationId xmlns:a16="http://schemas.microsoft.com/office/drawing/2014/main" id="{77FF5813-FC4B-2AEB-04C4-1E47E91BC340}"/>
                </a:ext>
              </a:extLst>
            </p:cNvPr>
            <p:cNvGrpSpPr/>
            <p:nvPr/>
          </p:nvGrpSpPr>
          <p:grpSpPr>
            <a:xfrm>
              <a:off x="408972" y="954222"/>
              <a:ext cx="11396241" cy="5157216"/>
              <a:chOff x="408972" y="954222"/>
              <a:chExt cx="11396241" cy="5157216"/>
            </a:xfrm>
          </p:grpSpPr>
          <p:sp>
            <p:nvSpPr>
              <p:cNvPr id="16" name="Shape 4">
                <a:extLst>
                  <a:ext uri="{FF2B5EF4-FFF2-40B4-BE49-F238E27FC236}">
                    <a16:creationId xmlns:a16="http://schemas.microsoft.com/office/drawing/2014/main" id="{764EA149-B950-B353-01D7-8CE4FB83845F}"/>
                  </a:ext>
                </a:extLst>
              </p:cNvPr>
              <p:cNvSpPr/>
              <p:nvPr/>
            </p:nvSpPr>
            <p:spPr>
              <a:xfrm>
                <a:off x="408972" y="954222"/>
                <a:ext cx="3685032" cy="310896"/>
              </a:xfrm>
              <a:prstGeom prst="rect">
                <a:avLst/>
              </a:prstGeom>
              <a:solidFill>
                <a:srgbClr val="0A4A4E"/>
              </a:solidFill>
              <a:ln w="12700">
                <a:solidFill>
                  <a:srgbClr val="333333"/>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21" name="Text 5">
                <a:extLst>
                  <a:ext uri="{FF2B5EF4-FFF2-40B4-BE49-F238E27FC236}">
                    <a16:creationId xmlns:a16="http://schemas.microsoft.com/office/drawing/2014/main" id="{ADD8DD03-7DA0-B745-9C22-8FC48F28F6F5}"/>
                  </a:ext>
                </a:extLst>
              </p:cNvPr>
              <p:cNvSpPr/>
              <p:nvPr/>
            </p:nvSpPr>
            <p:spPr>
              <a:xfrm>
                <a:off x="518700" y="954222"/>
                <a:ext cx="1097280" cy="310896"/>
              </a:xfrm>
              <a:prstGeom prst="rect">
                <a:avLst/>
              </a:prstGeom>
              <a:noFill/>
              <a:ln/>
            </p:spPr>
            <p:txBody>
              <a:bodyPr wrap="square" lIns="0" tIns="0" rIns="0" bIns="0" rtlCol="0" anchor="ctr"/>
              <a:lstStyle/>
              <a:p>
                <a:pPr marL="0" indent="0">
                  <a:buNone/>
                </a:pPr>
                <a:r>
                  <a:rPr lang="en-US" sz="1200" b="1" dirty="0">
                    <a:solidFill>
                      <a:schemeClr val="bg1"/>
                    </a:solidFill>
                    <a:latin typeface="Verdana" panose="020B0604030504040204" pitchFamily="34" charset="0"/>
                    <a:ea typeface="Verdana" panose="020B0604030504040204" pitchFamily="34" charset="0"/>
                    <a:cs typeface="Calibri" pitchFamily="34" charset="-120"/>
                  </a:rPr>
                  <a:t>PHASE I</a:t>
                </a:r>
                <a:endParaRPr lang="en-US" sz="1200" dirty="0">
                  <a:solidFill>
                    <a:schemeClr val="bg1"/>
                  </a:solidFill>
                  <a:latin typeface="Verdana" panose="020B0604030504040204" pitchFamily="34" charset="0"/>
                  <a:ea typeface="Verdana" panose="020B0604030504040204" pitchFamily="34" charset="0"/>
                </a:endParaRPr>
              </a:p>
            </p:txBody>
          </p:sp>
          <p:sp>
            <p:nvSpPr>
              <p:cNvPr id="22" name="Text 6">
                <a:extLst>
                  <a:ext uri="{FF2B5EF4-FFF2-40B4-BE49-F238E27FC236}">
                    <a16:creationId xmlns:a16="http://schemas.microsoft.com/office/drawing/2014/main" id="{5A9E96FF-3915-9F5C-631D-AED80DA7778B}"/>
                  </a:ext>
                </a:extLst>
              </p:cNvPr>
              <p:cNvSpPr/>
              <p:nvPr/>
            </p:nvSpPr>
            <p:spPr>
              <a:xfrm>
                <a:off x="1990884" y="954222"/>
                <a:ext cx="1993392" cy="310896"/>
              </a:xfrm>
              <a:prstGeom prst="rect">
                <a:avLst/>
              </a:prstGeom>
              <a:noFill/>
              <a:ln/>
            </p:spPr>
            <p:txBody>
              <a:bodyPr wrap="square" lIns="0" tIns="0" rIns="0" bIns="0" rtlCol="0" anchor="ctr"/>
              <a:lstStyle/>
              <a:p>
                <a:pPr marL="0" indent="0" algn="r">
                  <a:buNone/>
                </a:pPr>
                <a:r>
                  <a:rPr lang="en-US" sz="950">
                    <a:solidFill>
                      <a:srgbClr val="FFFFFF"/>
                    </a:solidFill>
                    <a:latin typeface="Verdana" panose="020B0604030504040204" pitchFamily="34" charset="0"/>
                    <a:ea typeface="Verdana" panose="020B0604030504040204" pitchFamily="34" charset="0"/>
                    <a:cs typeface="Calibri" pitchFamily="34" charset="-120"/>
                  </a:rPr>
                  <a:t>T to T+30 days</a:t>
                </a:r>
                <a:endParaRPr lang="en-US" sz="950">
                  <a:latin typeface="Verdana" panose="020B0604030504040204" pitchFamily="34" charset="0"/>
                  <a:ea typeface="Verdana" panose="020B0604030504040204" pitchFamily="34" charset="0"/>
                </a:endParaRPr>
              </a:p>
            </p:txBody>
          </p:sp>
          <p:sp>
            <p:nvSpPr>
              <p:cNvPr id="23" name="Shape 7">
                <a:extLst>
                  <a:ext uri="{FF2B5EF4-FFF2-40B4-BE49-F238E27FC236}">
                    <a16:creationId xmlns:a16="http://schemas.microsoft.com/office/drawing/2014/main" id="{F76C8F21-1034-233E-38E1-D035DCEE9F0D}"/>
                  </a:ext>
                </a:extLst>
              </p:cNvPr>
              <p:cNvSpPr/>
              <p:nvPr/>
            </p:nvSpPr>
            <p:spPr>
              <a:xfrm>
                <a:off x="408972" y="1265118"/>
                <a:ext cx="3685032" cy="3401568"/>
              </a:xfrm>
              <a:prstGeom prst="roundRect">
                <a:avLst>
                  <a:gd name="adj" fmla="val 1075"/>
                </a:avLst>
              </a:prstGeom>
              <a:solidFill>
                <a:srgbClr val="FAFAFA"/>
              </a:solidFill>
              <a:ln w="9525">
                <a:solidFill>
                  <a:schemeClr val="tx1">
                    <a:lumMod val="50000"/>
                    <a:lumOff val="50000"/>
                  </a:schemeClr>
                </a:solidFill>
                <a:prstDash val="dashDot"/>
              </a:ln>
            </p:spPr>
            <p:txBody>
              <a:bodyPr/>
              <a:lstStyle/>
              <a:p>
                <a:endParaRPr lang="en-IN">
                  <a:latin typeface="Verdana" panose="020B0604030504040204" pitchFamily="34" charset="0"/>
                  <a:ea typeface="Verdana" panose="020B0604030504040204" pitchFamily="34" charset="0"/>
                </a:endParaRPr>
              </a:p>
            </p:txBody>
          </p:sp>
          <p:sp>
            <p:nvSpPr>
              <p:cNvPr id="24" name="Text 8">
                <a:extLst>
                  <a:ext uri="{FF2B5EF4-FFF2-40B4-BE49-F238E27FC236}">
                    <a16:creationId xmlns:a16="http://schemas.microsoft.com/office/drawing/2014/main" id="{54777003-CC50-0DBC-1A28-9106962B7F0F}"/>
                  </a:ext>
                </a:extLst>
              </p:cNvPr>
              <p:cNvSpPr/>
              <p:nvPr/>
            </p:nvSpPr>
            <p:spPr>
              <a:xfrm>
                <a:off x="555276" y="1374846"/>
                <a:ext cx="3392424" cy="457200"/>
              </a:xfrm>
              <a:prstGeom prst="rect">
                <a:avLst/>
              </a:prstGeom>
              <a:noFill/>
              <a:ln/>
            </p:spPr>
            <p:txBody>
              <a:bodyPr wrap="square" lIns="0" tIns="0" rIns="0" bIns="0" rtlCol="0" anchor="ctr"/>
              <a:lstStyle/>
              <a:p>
                <a:pPr marL="0" indent="0">
                  <a:buNone/>
                </a:pPr>
                <a:r>
                  <a:rPr lang="en-US" sz="1400" b="1">
                    <a:solidFill>
                      <a:srgbClr val="0A4A4E"/>
                    </a:solidFill>
                    <a:latin typeface="Verdana" panose="020B0604030504040204" pitchFamily="34" charset="0"/>
                    <a:ea typeface="Verdana" panose="020B0604030504040204" pitchFamily="34" charset="0"/>
                    <a:cs typeface="Calibri" pitchFamily="34" charset="-120"/>
                  </a:rPr>
                  <a:t>INCEPTION &amp; PLANNING</a:t>
                </a:r>
                <a:endParaRPr lang="en-US" sz="1400">
                  <a:latin typeface="Verdana" panose="020B0604030504040204" pitchFamily="34" charset="0"/>
                  <a:ea typeface="Verdana" panose="020B0604030504040204" pitchFamily="34" charset="0"/>
                </a:endParaRPr>
              </a:p>
            </p:txBody>
          </p:sp>
          <p:sp>
            <p:nvSpPr>
              <p:cNvPr id="25" name="Text 9">
                <a:extLst>
                  <a:ext uri="{FF2B5EF4-FFF2-40B4-BE49-F238E27FC236}">
                    <a16:creationId xmlns:a16="http://schemas.microsoft.com/office/drawing/2014/main" id="{B607DB30-D90C-4BEA-C29F-64B763F1FF8A}"/>
                  </a:ext>
                </a:extLst>
              </p:cNvPr>
              <p:cNvSpPr/>
              <p:nvPr/>
            </p:nvSpPr>
            <p:spPr>
              <a:xfrm>
                <a:off x="573564" y="1886910"/>
                <a:ext cx="3355848" cy="2651760"/>
              </a:xfrm>
              <a:prstGeom prst="rect">
                <a:avLst/>
              </a:prstGeom>
              <a:noFill/>
              <a:ln/>
            </p:spPr>
            <p:txBody>
              <a:bodyPr wrap="square" lIns="0" tIns="0" rIns="0" bIns="0" rtlCol="0" anchor="t"/>
              <a:lstStyle/>
              <a:p>
                <a:pPr marL="342900" indent="-342900">
                  <a:spcAft>
                    <a:spcPts val="400"/>
                  </a:spcAft>
                  <a:buSzPct val="100000"/>
                  <a:buChar char="▪"/>
                </a:pPr>
                <a:r>
                  <a:rPr lang="en-US" sz="1050">
                    <a:solidFill>
                      <a:srgbClr val="333333"/>
                    </a:solidFill>
                    <a:latin typeface="Verdana" panose="020B0604030504040204" pitchFamily="34" charset="0"/>
                    <a:ea typeface="Verdana" panose="020B0604030504040204" pitchFamily="34" charset="0"/>
                    <a:cs typeface="Calibri" pitchFamily="34" charset="-120"/>
                  </a:rPr>
                  <a:t>Finalise approach, coverage and expectations with NITI Aayog</a:t>
                </a:r>
                <a:endParaRPr lang="en-US" sz="1050">
                  <a:latin typeface="Verdana" panose="020B0604030504040204" pitchFamily="34" charset="0"/>
                  <a:ea typeface="Verdana" panose="020B0604030504040204" pitchFamily="34" charset="0"/>
                </a:endParaRPr>
              </a:p>
              <a:p>
                <a:pPr marL="342900" indent="-342900">
                  <a:spcAft>
                    <a:spcPts val="400"/>
                  </a:spcAft>
                  <a:buSzPct val="100000"/>
                  <a:buChar char="▪"/>
                </a:pPr>
                <a:r>
                  <a:rPr lang="en-US" sz="1050">
                    <a:solidFill>
                      <a:srgbClr val="333333"/>
                    </a:solidFill>
                    <a:latin typeface="Verdana" panose="020B0604030504040204" pitchFamily="34" charset="0"/>
                    <a:ea typeface="Verdana" panose="020B0604030504040204" pitchFamily="34" charset="0"/>
                    <a:cs typeface="Calibri" pitchFamily="34" charset="-120"/>
                  </a:rPr>
                  <a:t>Identify primary and secondary stakeholders and consultation plan</a:t>
                </a:r>
                <a:endParaRPr lang="en-US" sz="1050">
                  <a:latin typeface="Verdana" panose="020B0604030504040204" pitchFamily="34" charset="0"/>
                  <a:ea typeface="Verdana" panose="020B0604030504040204" pitchFamily="34" charset="0"/>
                </a:endParaRPr>
              </a:p>
              <a:p>
                <a:pPr marL="342900" indent="-342900">
                  <a:spcAft>
                    <a:spcPts val="400"/>
                  </a:spcAft>
                  <a:buSzPct val="100000"/>
                  <a:buChar char="▪"/>
                </a:pPr>
                <a:r>
                  <a:rPr lang="en-US" sz="1050">
                    <a:solidFill>
                      <a:srgbClr val="333333"/>
                    </a:solidFill>
                    <a:latin typeface="Verdana" panose="020B0604030504040204" pitchFamily="34" charset="0"/>
                    <a:ea typeface="Verdana" panose="020B0604030504040204" pitchFamily="34" charset="0"/>
                    <a:cs typeface="Calibri" pitchFamily="34" charset="-120"/>
                  </a:rPr>
                  <a:t>Confirm data sources, templates and study area / State sample</a:t>
                </a:r>
                <a:endParaRPr lang="en-US" sz="1050">
                  <a:latin typeface="Verdana" panose="020B0604030504040204" pitchFamily="34" charset="0"/>
                  <a:ea typeface="Verdana" panose="020B0604030504040204" pitchFamily="34" charset="0"/>
                </a:endParaRPr>
              </a:p>
              <a:p>
                <a:pPr marL="342900" indent="-342900">
                  <a:spcAft>
                    <a:spcPts val="400"/>
                  </a:spcAft>
                  <a:buSzPct val="100000"/>
                  <a:buChar char="▪"/>
                </a:pPr>
                <a:r>
                  <a:rPr lang="en-US" sz="1050">
                    <a:solidFill>
                      <a:srgbClr val="333333"/>
                    </a:solidFill>
                    <a:latin typeface="Verdana" panose="020B0604030504040204" pitchFamily="34" charset="0"/>
                    <a:ea typeface="Verdana" panose="020B0604030504040204" pitchFamily="34" charset="0"/>
                    <a:cs typeface="Calibri" pitchFamily="34" charset="-120"/>
                  </a:rPr>
                  <a:t>Preliminary secondary research and meta-analysis of literature</a:t>
                </a:r>
                <a:endParaRPr lang="en-US" sz="1050">
                  <a:latin typeface="Verdana" panose="020B0604030504040204" pitchFamily="34" charset="0"/>
                  <a:ea typeface="Verdana" panose="020B0604030504040204" pitchFamily="34" charset="0"/>
                </a:endParaRPr>
              </a:p>
              <a:p>
                <a:pPr marL="342900" indent="-342900">
                  <a:spcAft>
                    <a:spcPts val="400"/>
                  </a:spcAft>
                  <a:buSzPct val="100000"/>
                  <a:buChar char="▪"/>
                </a:pPr>
                <a:r>
                  <a:rPr lang="en-US" sz="1050">
                    <a:solidFill>
                      <a:srgbClr val="333333"/>
                    </a:solidFill>
                    <a:latin typeface="Verdana" panose="020B0604030504040204" pitchFamily="34" charset="0"/>
                    <a:ea typeface="Verdana" panose="020B0604030504040204" pitchFamily="34" charset="0"/>
                    <a:cs typeface="Calibri" pitchFamily="34" charset="-120"/>
                  </a:rPr>
                  <a:t>Agree final table of contents, work plan and governance</a:t>
                </a:r>
                <a:endParaRPr lang="en-US" sz="1050">
                  <a:latin typeface="Verdana" panose="020B0604030504040204" pitchFamily="34" charset="0"/>
                  <a:ea typeface="Verdana" panose="020B0604030504040204" pitchFamily="34" charset="0"/>
                </a:endParaRPr>
              </a:p>
            </p:txBody>
          </p:sp>
          <p:sp>
            <p:nvSpPr>
              <p:cNvPr id="26" name="Shape 10">
                <a:extLst>
                  <a:ext uri="{FF2B5EF4-FFF2-40B4-BE49-F238E27FC236}">
                    <a16:creationId xmlns:a16="http://schemas.microsoft.com/office/drawing/2014/main" id="{E897E062-E576-FC95-7441-0E9618FFDDC9}"/>
                  </a:ext>
                </a:extLst>
              </p:cNvPr>
              <p:cNvSpPr/>
              <p:nvPr/>
            </p:nvSpPr>
            <p:spPr>
              <a:xfrm>
                <a:off x="408972" y="4831278"/>
                <a:ext cx="3685032" cy="603504"/>
              </a:xfrm>
              <a:prstGeom prst="roundRect">
                <a:avLst>
                  <a:gd name="adj" fmla="val 9091"/>
                </a:avLst>
              </a:prstGeom>
              <a:solidFill>
                <a:srgbClr val="FFFFFF"/>
              </a:solidFill>
              <a:ln w="19050">
                <a:solidFill>
                  <a:srgbClr val="0A4A4E"/>
                </a:solidFill>
                <a:prstDash val="dash"/>
              </a:ln>
            </p:spPr>
            <p:txBody>
              <a:bodyPr/>
              <a:lstStyle/>
              <a:p>
                <a:endParaRPr lang="en-IN">
                  <a:latin typeface="Verdana" panose="020B0604030504040204" pitchFamily="34" charset="0"/>
                  <a:ea typeface="Verdana" panose="020B0604030504040204" pitchFamily="34" charset="0"/>
                </a:endParaRPr>
              </a:p>
            </p:txBody>
          </p:sp>
          <p:sp>
            <p:nvSpPr>
              <p:cNvPr id="27" name="Text 11">
                <a:extLst>
                  <a:ext uri="{FF2B5EF4-FFF2-40B4-BE49-F238E27FC236}">
                    <a16:creationId xmlns:a16="http://schemas.microsoft.com/office/drawing/2014/main" id="{A4573372-C11A-3A52-B7A9-8186E9A549E8}"/>
                  </a:ext>
                </a:extLst>
              </p:cNvPr>
              <p:cNvSpPr/>
              <p:nvPr/>
            </p:nvSpPr>
            <p:spPr>
              <a:xfrm>
                <a:off x="518700" y="4831278"/>
                <a:ext cx="3465576" cy="603504"/>
              </a:xfrm>
              <a:prstGeom prst="rect">
                <a:avLst/>
              </a:prstGeom>
              <a:noFill/>
              <a:ln/>
            </p:spPr>
            <p:txBody>
              <a:bodyPr wrap="square" lIns="0" tIns="0" rIns="0" bIns="0" rtlCol="0" anchor="ctr"/>
              <a:lstStyle/>
              <a:p>
                <a:pPr marL="0" indent="0" algn="ctr">
                  <a:buNone/>
                </a:pPr>
                <a:r>
                  <a:rPr lang="en-US" sz="1050" b="1">
                    <a:solidFill>
                      <a:srgbClr val="0A4A4E"/>
                    </a:solidFill>
                    <a:latin typeface="Verdana" panose="020B0604030504040204" pitchFamily="34" charset="0"/>
                    <a:ea typeface="Verdana" panose="020B0604030504040204" pitchFamily="34" charset="0"/>
                    <a:cs typeface="Calibri" pitchFamily="34" charset="-120"/>
                  </a:rPr>
                  <a:t>D1 · Inception Report and presentation</a:t>
                </a:r>
                <a:endParaRPr lang="en-US" sz="1050">
                  <a:latin typeface="Verdana" panose="020B0604030504040204" pitchFamily="34" charset="0"/>
                  <a:ea typeface="Verdana" panose="020B0604030504040204" pitchFamily="34" charset="0"/>
                </a:endParaRPr>
              </a:p>
            </p:txBody>
          </p:sp>
          <p:sp>
            <p:nvSpPr>
              <p:cNvPr id="28" name="Shape 12">
                <a:extLst>
                  <a:ext uri="{FF2B5EF4-FFF2-40B4-BE49-F238E27FC236}">
                    <a16:creationId xmlns:a16="http://schemas.microsoft.com/office/drawing/2014/main" id="{602EE6C6-57A1-1802-B750-E2A8C4C5BE58}"/>
                  </a:ext>
                </a:extLst>
              </p:cNvPr>
              <p:cNvSpPr/>
              <p:nvPr/>
            </p:nvSpPr>
            <p:spPr>
              <a:xfrm>
                <a:off x="4240308" y="954222"/>
                <a:ext cx="3685032" cy="310896"/>
              </a:xfrm>
              <a:prstGeom prst="rect">
                <a:avLst/>
              </a:prstGeom>
              <a:solidFill>
                <a:srgbClr val="0E6E70"/>
              </a:solidFill>
              <a:ln w="12700">
                <a:solidFill>
                  <a:srgbClr val="333333"/>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29" name="Text 13">
                <a:extLst>
                  <a:ext uri="{FF2B5EF4-FFF2-40B4-BE49-F238E27FC236}">
                    <a16:creationId xmlns:a16="http://schemas.microsoft.com/office/drawing/2014/main" id="{228974AB-7F65-686F-9CF2-7A81D866B930}"/>
                  </a:ext>
                </a:extLst>
              </p:cNvPr>
              <p:cNvSpPr/>
              <p:nvPr/>
            </p:nvSpPr>
            <p:spPr>
              <a:xfrm>
                <a:off x="4350036" y="954222"/>
                <a:ext cx="1097280" cy="310896"/>
              </a:xfrm>
              <a:prstGeom prst="rect">
                <a:avLst/>
              </a:prstGeom>
              <a:noFill/>
              <a:ln/>
            </p:spPr>
            <p:txBody>
              <a:bodyPr wrap="square" lIns="0" tIns="0" rIns="0" bIns="0" rtlCol="0" anchor="ctr"/>
              <a:lstStyle/>
              <a:p>
                <a:pPr marL="0" indent="0">
                  <a:buNone/>
                </a:pPr>
                <a:r>
                  <a:rPr lang="en-US" sz="1200" b="1">
                    <a:solidFill>
                      <a:schemeClr val="bg1"/>
                    </a:solidFill>
                    <a:latin typeface="Verdana" panose="020B0604030504040204" pitchFamily="34" charset="0"/>
                    <a:ea typeface="Verdana" panose="020B0604030504040204" pitchFamily="34" charset="0"/>
                    <a:cs typeface="Calibri" pitchFamily="34" charset="-120"/>
                  </a:rPr>
                  <a:t>PHASE II</a:t>
                </a:r>
                <a:endParaRPr lang="en-US" sz="1200">
                  <a:solidFill>
                    <a:schemeClr val="bg1"/>
                  </a:solidFill>
                  <a:latin typeface="Verdana" panose="020B0604030504040204" pitchFamily="34" charset="0"/>
                  <a:ea typeface="Verdana" panose="020B0604030504040204" pitchFamily="34" charset="0"/>
                </a:endParaRPr>
              </a:p>
            </p:txBody>
          </p:sp>
          <p:sp>
            <p:nvSpPr>
              <p:cNvPr id="30" name="Text 14">
                <a:extLst>
                  <a:ext uri="{FF2B5EF4-FFF2-40B4-BE49-F238E27FC236}">
                    <a16:creationId xmlns:a16="http://schemas.microsoft.com/office/drawing/2014/main" id="{FC365764-162D-9640-6F19-1391C3A3FC74}"/>
                  </a:ext>
                </a:extLst>
              </p:cNvPr>
              <p:cNvSpPr/>
              <p:nvPr/>
            </p:nvSpPr>
            <p:spPr>
              <a:xfrm>
                <a:off x="5822220" y="954222"/>
                <a:ext cx="1993392" cy="310896"/>
              </a:xfrm>
              <a:prstGeom prst="rect">
                <a:avLst/>
              </a:prstGeom>
              <a:noFill/>
              <a:ln/>
            </p:spPr>
            <p:txBody>
              <a:bodyPr wrap="square" lIns="0" tIns="0" rIns="0" bIns="0" rtlCol="0" anchor="ctr"/>
              <a:lstStyle/>
              <a:p>
                <a:pPr marL="0" indent="0" algn="r">
                  <a:buNone/>
                </a:pPr>
                <a:r>
                  <a:rPr lang="en-US" sz="950">
                    <a:solidFill>
                      <a:srgbClr val="FFFFFF"/>
                    </a:solidFill>
                    <a:latin typeface="Verdana" panose="020B0604030504040204" pitchFamily="34" charset="0"/>
                    <a:ea typeface="Verdana" panose="020B0604030504040204" pitchFamily="34" charset="0"/>
                    <a:cs typeface="Calibri" pitchFamily="34" charset="-120"/>
                  </a:rPr>
                  <a:t>T+30 to T+90 days</a:t>
                </a:r>
                <a:endParaRPr lang="en-US" sz="950">
                  <a:latin typeface="Verdana" panose="020B0604030504040204" pitchFamily="34" charset="0"/>
                  <a:ea typeface="Verdana" panose="020B0604030504040204" pitchFamily="34" charset="0"/>
                </a:endParaRPr>
              </a:p>
            </p:txBody>
          </p:sp>
          <p:sp>
            <p:nvSpPr>
              <p:cNvPr id="31" name="Shape 15">
                <a:extLst>
                  <a:ext uri="{FF2B5EF4-FFF2-40B4-BE49-F238E27FC236}">
                    <a16:creationId xmlns:a16="http://schemas.microsoft.com/office/drawing/2014/main" id="{62054484-7B84-2D45-CE2B-8C4EE0087103}"/>
                  </a:ext>
                </a:extLst>
              </p:cNvPr>
              <p:cNvSpPr/>
              <p:nvPr/>
            </p:nvSpPr>
            <p:spPr>
              <a:xfrm>
                <a:off x="4240308" y="1265118"/>
                <a:ext cx="3685032" cy="3401568"/>
              </a:xfrm>
              <a:prstGeom prst="roundRect">
                <a:avLst>
                  <a:gd name="adj" fmla="val 1075"/>
                </a:avLst>
              </a:prstGeom>
              <a:solidFill>
                <a:srgbClr val="FAFAFA"/>
              </a:solidFill>
              <a:ln w="9525">
                <a:solidFill>
                  <a:schemeClr val="tx1">
                    <a:lumMod val="50000"/>
                    <a:lumOff val="50000"/>
                  </a:schemeClr>
                </a:solidFill>
                <a:prstDash val="dashDot"/>
              </a:ln>
            </p:spPr>
            <p:txBody>
              <a:bodyPr/>
              <a:lstStyle/>
              <a:p>
                <a:endParaRPr lang="en-IN">
                  <a:latin typeface="Verdana" panose="020B0604030504040204" pitchFamily="34" charset="0"/>
                  <a:ea typeface="Verdana" panose="020B0604030504040204" pitchFamily="34" charset="0"/>
                </a:endParaRPr>
              </a:p>
            </p:txBody>
          </p:sp>
          <p:sp>
            <p:nvSpPr>
              <p:cNvPr id="32" name="Text 16">
                <a:extLst>
                  <a:ext uri="{FF2B5EF4-FFF2-40B4-BE49-F238E27FC236}">
                    <a16:creationId xmlns:a16="http://schemas.microsoft.com/office/drawing/2014/main" id="{08CDF2C0-DDAC-1F53-12A2-9381B038D0D3}"/>
                  </a:ext>
                </a:extLst>
              </p:cNvPr>
              <p:cNvSpPr/>
              <p:nvPr/>
            </p:nvSpPr>
            <p:spPr>
              <a:xfrm>
                <a:off x="4386612" y="1374846"/>
                <a:ext cx="3392424" cy="457200"/>
              </a:xfrm>
              <a:prstGeom prst="rect">
                <a:avLst/>
              </a:prstGeom>
              <a:noFill/>
              <a:ln/>
            </p:spPr>
            <p:txBody>
              <a:bodyPr wrap="square" lIns="0" tIns="0" rIns="0" bIns="0" rtlCol="0" anchor="ctr"/>
              <a:lstStyle/>
              <a:p>
                <a:pPr marL="0" indent="0">
                  <a:buNone/>
                </a:pPr>
                <a:r>
                  <a:rPr lang="en-US" sz="1400" b="1">
                    <a:solidFill>
                      <a:srgbClr val="0A4A4E"/>
                    </a:solidFill>
                    <a:latin typeface="Verdana" panose="020B0604030504040204" pitchFamily="34" charset="0"/>
                    <a:ea typeface="Verdana" panose="020B0604030504040204" pitchFamily="34" charset="0"/>
                    <a:cs typeface="Calibri" pitchFamily="34" charset="-120"/>
                  </a:rPr>
                  <a:t>ASSESS &amp; DESIGN</a:t>
                </a:r>
                <a:endParaRPr lang="en-US" sz="1400">
                  <a:latin typeface="Verdana" panose="020B0604030504040204" pitchFamily="34" charset="0"/>
                  <a:ea typeface="Verdana" panose="020B0604030504040204" pitchFamily="34" charset="0"/>
                </a:endParaRPr>
              </a:p>
            </p:txBody>
          </p:sp>
          <p:sp>
            <p:nvSpPr>
              <p:cNvPr id="33" name="Text 17">
                <a:extLst>
                  <a:ext uri="{FF2B5EF4-FFF2-40B4-BE49-F238E27FC236}">
                    <a16:creationId xmlns:a16="http://schemas.microsoft.com/office/drawing/2014/main" id="{D38F056B-E16C-9C89-6E5D-B189D826B51C}"/>
                  </a:ext>
                </a:extLst>
              </p:cNvPr>
              <p:cNvSpPr/>
              <p:nvPr/>
            </p:nvSpPr>
            <p:spPr>
              <a:xfrm>
                <a:off x="4404900" y="1886910"/>
                <a:ext cx="3355848" cy="2651760"/>
              </a:xfrm>
              <a:prstGeom prst="rect">
                <a:avLst/>
              </a:prstGeom>
              <a:noFill/>
              <a:ln/>
            </p:spPr>
            <p:txBody>
              <a:bodyPr wrap="square" lIns="0" tIns="0" rIns="0" bIns="0" rtlCol="0" anchor="t"/>
              <a:lstStyle/>
              <a:p>
                <a:pPr marL="342900" indent="-342900">
                  <a:spcAft>
                    <a:spcPts val="400"/>
                  </a:spcAft>
                  <a:buSzPct val="100000"/>
                  <a:buChar char="▪"/>
                </a:pPr>
                <a:r>
                  <a:rPr lang="en-US" sz="1050">
                    <a:solidFill>
                      <a:srgbClr val="333333"/>
                    </a:solidFill>
                    <a:latin typeface="Verdana" panose="020B0604030504040204" pitchFamily="34" charset="0"/>
                    <a:ea typeface="Verdana" panose="020B0604030504040204" pitchFamily="34" charset="0"/>
                    <a:cs typeface="Calibri" pitchFamily="34" charset="-120"/>
                  </a:rPr>
                  <a:t>Ten-year fiscal panel for 21 States and the Centre</a:t>
                </a:r>
                <a:endParaRPr lang="en-US" sz="1050">
                  <a:latin typeface="Verdana" panose="020B0604030504040204" pitchFamily="34" charset="0"/>
                  <a:ea typeface="Verdana" panose="020B0604030504040204" pitchFamily="34" charset="0"/>
                </a:endParaRPr>
              </a:p>
              <a:p>
                <a:pPr marL="342900" indent="-342900">
                  <a:spcAft>
                    <a:spcPts val="400"/>
                  </a:spcAft>
                  <a:buSzPct val="100000"/>
                  <a:buChar char="▪"/>
                </a:pPr>
                <a:r>
                  <a:rPr lang="en-US" sz="1050">
                    <a:solidFill>
                      <a:srgbClr val="333333"/>
                    </a:solidFill>
                    <a:latin typeface="Verdana" panose="020B0604030504040204" pitchFamily="34" charset="0"/>
                    <a:ea typeface="Verdana" panose="020B0604030504040204" pitchFamily="34" charset="0"/>
                    <a:cs typeface="Calibri" pitchFamily="34" charset="-120"/>
                  </a:rPr>
                  <a:t>Object-head review of Detailed Demands for Grants</a:t>
                </a:r>
                <a:endParaRPr lang="en-US" sz="1050">
                  <a:latin typeface="Verdana" panose="020B0604030504040204" pitchFamily="34" charset="0"/>
                  <a:ea typeface="Verdana" panose="020B0604030504040204" pitchFamily="34" charset="0"/>
                </a:endParaRPr>
              </a:p>
              <a:p>
                <a:pPr marL="342900" indent="-342900">
                  <a:spcAft>
                    <a:spcPts val="400"/>
                  </a:spcAft>
                  <a:buSzPct val="100000"/>
                  <a:buChar char="▪"/>
                </a:pPr>
                <a:r>
                  <a:rPr lang="en-US" sz="1050">
                    <a:solidFill>
                      <a:srgbClr val="333333"/>
                    </a:solidFill>
                    <a:latin typeface="Verdana" panose="020B0604030504040204" pitchFamily="34" charset="0"/>
                    <a:ea typeface="Verdana" panose="020B0604030504040204" pitchFamily="34" charset="0"/>
                    <a:cs typeface="Calibri" pitchFamily="34" charset="-120"/>
                  </a:rPr>
                  <a:t>Implicit subsidy, off-budget and contingent-liability probe</a:t>
                </a:r>
                <a:endParaRPr lang="en-US" sz="1050">
                  <a:latin typeface="Verdana" panose="020B0604030504040204" pitchFamily="34" charset="0"/>
                  <a:ea typeface="Verdana" panose="020B0604030504040204" pitchFamily="34" charset="0"/>
                </a:endParaRPr>
              </a:p>
              <a:p>
                <a:pPr marL="342900" indent="-342900">
                  <a:spcAft>
                    <a:spcPts val="400"/>
                  </a:spcAft>
                  <a:buSzPct val="100000"/>
                  <a:buChar char="▪"/>
                </a:pPr>
                <a:r>
                  <a:rPr lang="en-US" sz="1050">
                    <a:solidFill>
                      <a:srgbClr val="333333"/>
                    </a:solidFill>
                    <a:latin typeface="Verdana" panose="020B0604030504040204" pitchFamily="34" charset="0"/>
                    <a:ea typeface="Verdana" panose="020B0604030504040204" pitchFamily="34" charset="0"/>
                    <a:cs typeface="Calibri" pitchFamily="34" charset="-120"/>
                  </a:rPr>
                  <a:t>Fiscal-space assessment and crowding-out analysis</a:t>
                </a:r>
                <a:endParaRPr lang="en-US" sz="1050">
                  <a:latin typeface="Verdana" panose="020B0604030504040204" pitchFamily="34" charset="0"/>
                  <a:ea typeface="Verdana" panose="020B0604030504040204" pitchFamily="34" charset="0"/>
                </a:endParaRPr>
              </a:p>
              <a:p>
                <a:pPr marL="342900" indent="-342900">
                  <a:spcAft>
                    <a:spcPts val="400"/>
                  </a:spcAft>
                  <a:buSzPct val="100000"/>
                  <a:buChar char="▪"/>
                </a:pPr>
                <a:r>
                  <a:rPr lang="en-US" sz="1050">
                    <a:solidFill>
                      <a:srgbClr val="333333"/>
                    </a:solidFill>
                    <a:latin typeface="Verdana" panose="020B0604030504040204" pitchFamily="34" charset="0"/>
                    <a:ea typeface="Verdana" panose="020B0604030504040204" pitchFamily="34" charset="0"/>
                    <a:cs typeface="Calibri" pitchFamily="34" charset="-120"/>
                  </a:rPr>
                  <a:t>Key informant interviews and focus group discussions</a:t>
                </a:r>
                <a:endParaRPr lang="en-US" sz="1050">
                  <a:latin typeface="Verdana" panose="020B0604030504040204" pitchFamily="34" charset="0"/>
                  <a:ea typeface="Verdana" panose="020B0604030504040204" pitchFamily="34" charset="0"/>
                </a:endParaRPr>
              </a:p>
              <a:p>
                <a:pPr marL="342900" indent="-342900">
                  <a:spcAft>
                    <a:spcPts val="400"/>
                  </a:spcAft>
                  <a:buSzPct val="100000"/>
                  <a:buChar char="▪"/>
                </a:pPr>
                <a:r>
                  <a:rPr lang="en-US" sz="1050">
                    <a:solidFill>
                      <a:srgbClr val="333333"/>
                    </a:solidFill>
                    <a:latin typeface="Verdana" panose="020B0604030504040204" pitchFamily="34" charset="0"/>
                    <a:ea typeface="Verdana" panose="020B0604030504040204" pitchFamily="34" charset="0"/>
                    <a:cs typeface="Calibri" pitchFamily="34" charset="-120"/>
                  </a:rPr>
                  <a:t>Four-dimension classification matrix and draft framework</a:t>
                </a:r>
                <a:endParaRPr lang="en-US" sz="1050">
                  <a:latin typeface="Verdana" panose="020B0604030504040204" pitchFamily="34" charset="0"/>
                  <a:ea typeface="Verdana" panose="020B0604030504040204" pitchFamily="34" charset="0"/>
                </a:endParaRPr>
              </a:p>
            </p:txBody>
          </p:sp>
          <p:sp>
            <p:nvSpPr>
              <p:cNvPr id="34" name="Shape 18">
                <a:extLst>
                  <a:ext uri="{FF2B5EF4-FFF2-40B4-BE49-F238E27FC236}">
                    <a16:creationId xmlns:a16="http://schemas.microsoft.com/office/drawing/2014/main" id="{F1CB2FE4-6F49-C308-7A5E-7B007EDD2424}"/>
                  </a:ext>
                </a:extLst>
              </p:cNvPr>
              <p:cNvSpPr/>
              <p:nvPr/>
            </p:nvSpPr>
            <p:spPr>
              <a:xfrm>
                <a:off x="4240308" y="4831278"/>
                <a:ext cx="3685032" cy="603504"/>
              </a:xfrm>
              <a:prstGeom prst="roundRect">
                <a:avLst>
                  <a:gd name="adj" fmla="val 9091"/>
                </a:avLst>
              </a:prstGeom>
              <a:solidFill>
                <a:srgbClr val="FFFFFF"/>
              </a:solidFill>
              <a:ln w="19050">
                <a:solidFill>
                  <a:srgbClr val="0E6E70"/>
                </a:solidFill>
                <a:prstDash val="dash"/>
              </a:ln>
            </p:spPr>
            <p:txBody>
              <a:bodyPr/>
              <a:lstStyle/>
              <a:p>
                <a:endParaRPr lang="en-IN">
                  <a:latin typeface="Verdana" panose="020B0604030504040204" pitchFamily="34" charset="0"/>
                  <a:ea typeface="Verdana" panose="020B0604030504040204" pitchFamily="34" charset="0"/>
                </a:endParaRPr>
              </a:p>
            </p:txBody>
          </p:sp>
          <p:sp>
            <p:nvSpPr>
              <p:cNvPr id="35" name="Text 19">
                <a:extLst>
                  <a:ext uri="{FF2B5EF4-FFF2-40B4-BE49-F238E27FC236}">
                    <a16:creationId xmlns:a16="http://schemas.microsoft.com/office/drawing/2014/main" id="{9D9CEC39-60BC-2688-D389-86E56AA95381}"/>
                  </a:ext>
                </a:extLst>
              </p:cNvPr>
              <p:cNvSpPr/>
              <p:nvPr/>
            </p:nvSpPr>
            <p:spPr>
              <a:xfrm>
                <a:off x="4350036" y="4831278"/>
                <a:ext cx="3465576" cy="603504"/>
              </a:xfrm>
              <a:prstGeom prst="rect">
                <a:avLst/>
              </a:prstGeom>
              <a:noFill/>
              <a:ln/>
            </p:spPr>
            <p:txBody>
              <a:bodyPr wrap="square" lIns="0" tIns="0" rIns="0" bIns="0" rtlCol="0" anchor="ctr"/>
              <a:lstStyle/>
              <a:p>
                <a:pPr marL="0" indent="0" algn="ctr">
                  <a:buNone/>
                </a:pPr>
                <a:r>
                  <a:rPr lang="en-US" sz="1050" b="1">
                    <a:solidFill>
                      <a:srgbClr val="0E6E70"/>
                    </a:solidFill>
                    <a:latin typeface="Verdana" panose="020B0604030504040204" pitchFamily="34" charset="0"/>
                    <a:ea typeface="Verdana" panose="020B0604030504040204" pitchFamily="34" charset="0"/>
                    <a:cs typeface="Calibri" pitchFamily="34" charset="-120"/>
                  </a:rPr>
                  <a:t>D2 · Draft Final Report with draft framework/toolkit</a:t>
                </a:r>
                <a:endParaRPr lang="en-US" sz="1050">
                  <a:latin typeface="Verdana" panose="020B0604030504040204" pitchFamily="34" charset="0"/>
                  <a:ea typeface="Verdana" panose="020B0604030504040204" pitchFamily="34" charset="0"/>
                </a:endParaRPr>
              </a:p>
            </p:txBody>
          </p:sp>
          <p:sp>
            <p:nvSpPr>
              <p:cNvPr id="36" name="Shape 20">
                <a:extLst>
                  <a:ext uri="{FF2B5EF4-FFF2-40B4-BE49-F238E27FC236}">
                    <a16:creationId xmlns:a16="http://schemas.microsoft.com/office/drawing/2014/main" id="{68576089-D22F-797D-AD6B-D4B108CE820B}"/>
                  </a:ext>
                </a:extLst>
              </p:cNvPr>
              <p:cNvSpPr/>
              <p:nvPr/>
            </p:nvSpPr>
            <p:spPr>
              <a:xfrm>
                <a:off x="8071644" y="954222"/>
                <a:ext cx="3685032" cy="310896"/>
              </a:xfrm>
              <a:prstGeom prst="rect">
                <a:avLst/>
              </a:prstGeom>
              <a:solidFill>
                <a:srgbClr val="1C7C7E"/>
              </a:solidFill>
              <a:ln w="12700">
                <a:solidFill>
                  <a:srgbClr val="333333"/>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37" name="Text 21">
                <a:extLst>
                  <a:ext uri="{FF2B5EF4-FFF2-40B4-BE49-F238E27FC236}">
                    <a16:creationId xmlns:a16="http://schemas.microsoft.com/office/drawing/2014/main" id="{BAAE20A0-DD63-7A6F-3764-1AC6942254E6}"/>
                  </a:ext>
                </a:extLst>
              </p:cNvPr>
              <p:cNvSpPr/>
              <p:nvPr/>
            </p:nvSpPr>
            <p:spPr>
              <a:xfrm>
                <a:off x="8181372" y="954222"/>
                <a:ext cx="1097280" cy="310896"/>
              </a:xfrm>
              <a:prstGeom prst="rect">
                <a:avLst/>
              </a:prstGeom>
              <a:noFill/>
              <a:ln/>
            </p:spPr>
            <p:txBody>
              <a:bodyPr wrap="square" lIns="0" tIns="0" rIns="0" bIns="0" rtlCol="0" anchor="ctr"/>
              <a:lstStyle/>
              <a:p>
                <a:pPr marL="0" indent="0">
                  <a:buNone/>
                </a:pPr>
                <a:r>
                  <a:rPr lang="en-US" sz="1200" b="1">
                    <a:solidFill>
                      <a:schemeClr val="bg1"/>
                    </a:solidFill>
                    <a:latin typeface="Verdana" panose="020B0604030504040204" pitchFamily="34" charset="0"/>
                    <a:ea typeface="Verdana" panose="020B0604030504040204" pitchFamily="34" charset="0"/>
                    <a:cs typeface="Calibri" pitchFamily="34" charset="-120"/>
                  </a:rPr>
                  <a:t>PHASE III</a:t>
                </a:r>
                <a:endParaRPr lang="en-US" sz="1200">
                  <a:solidFill>
                    <a:schemeClr val="bg1"/>
                  </a:solidFill>
                  <a:latin typeface="Verdana" panose="020B0604030504040204" pitchFamily="34" charset="0"/>
                  <a:ea typeface="Verdana" panose="020B0604030504040204" pitchFamily="34" charset="0"/>
                </a:endParaRPr>
              </a:p>
            </p:txBody>
          </p:sp>
          <p:sp>
            <p:nvSpPr>
              <p:cNvPr id="38" name="Text 22">
                <a:extLst>
                  <a:ext uri="{FF2B5EF4-FFF2-40B4-BE49-F238E27FC236}">
                    <a16:creationId xmlns:a16="http://schemas.microsoft.com/office/drawing/2014/main" id="{1B6F2B03-C017-9BE1-7176-FA065BFCDA77}"/>
                  </a:ext>
                </a:extLst>
              </p:cNvPr>
              <p:cNvSpPr/>
              <p:nvPr/>
            </p:nvSpPr>
            <p:spPr>
              <a:xfrm>
                <a:off x="9653556" y="954222"/>
                <a:ext cx="1993392" cy="310896"/>
              </a:xfrm>
              <a:prstGeom prst="rect">
                <a:avLst/>
              </a:prstGeom>
              <a:noFill/>
              <a:ln/>
            </p:spPr>
            <p:txBody>
              <a:bodyPr wrap="square" lIns="0" tIns="0" rIns="0" bIns="0" rtlCol="0" anchor="ctr"/>
              <a:lstStyle/>
              <a:p>
                <a:pPr marL="0" indent="0" algn="r">
                  <a:buNone/>
                </a:pPr>
                <a:r>
                  <a:rPr lang="en-US" sz="950">
                    <a:solidFill>
                      <a:srgbClr val="FFFFFF"/>
                    </a:solidFill>
                    <a:latin typeface="Verdana" panose="020B0604030504040204" pitchFamily="34" charset="0"/>
                    <a:ea typeface="Verdana" panose="020B0604030504040204" pitchFamily="34" charset="0"/>
                    <a:cs typeface="Calibri" pitchFamily="34" charset="-120"/>
                  </a:rPr>
                  <a:t>T+90 to T+120 days</a:t>
                </a:r>
                <a:endParaRPr lang="en-US" sz="950">
                  <a:latin typeface="Verdana" panose="020B0604030504040204" pitchFamily="34" charset="0"/>
                  <a:ea typeface="Verdana" panose="020B0604030504040204" pitchFamily="34" charset="0"/>
                </a:endParaRPr>
              </a:p>
            </p:txBody>
          </p:sp>
          <p:sp>
            <p:nvSpPr>
              <p:cNvPr id="39" name="Shape 23">
                <a:extLst>
                  <a:ext uri="{FF2B5EF4-FFF2-40B4-BE49-F238E27FC236}">
                    <a16:creationId xmlns:a16="http://schemas.microsoft.com/office/drawing/2014/main" id="{21AFF3F2-D0B5-1AF8-B48D-DF7D11FD2EC0}"/>
                  </a:ext>
                </a:extLst>
              </p:cNvPr>
              <p:cNvSpPr/>
              <p:nvPr/>
            </p:nvSpPr>
            <p:spPr>
              <a:xfrm>
                <a:off x="8071644" y="1265118"/>
                <a:ext cx="3685032" cy="3401568"/>
              </a:xfrm>
              <a:prstGeom prst="roundRect">
                <a:avLst>
                  <a:gd name="adj" fmla="val 1075"/>
                </a:avLst>
              </a:prstGeom>
              <a:solidFill>
                <a:srgbClr val="FAFAFA"/>
              </a:solidFill>
              <a:ln w="9525">
                <a:solidFill>
                  <a:schemeClr val="tx1">
                    <a:lumMod val="50000"/>
                    <a:lumOff val="50000"/>
                  </a:schemeClr>
                </a:solidFill>
                <a:prstDash val="dashDot"/>
              </a:ln>
            </p:spPr>
            <p:txBody>
              <a:bodyPr/>
              <a:lstStyle/>
              <a:p>
                <a:endParaRPr lang="en-IN">
                  <a:latin typeface="Verdana" panose="020B0604030504040204" pitchFamily="34" charset="0"/>
                  <a:ea typeface="Verdana" panose="020B0604030504040204" pitchFamily="34" charset="0"/>
                </a:endParaRPr>
              </a:p>
            </p:txBody>
          </p:sp>
          <p:sp>
            <p:nvSpPr>
              <p:cNvPr id="40" name="Text 24">
                <a:extLst>
                  <a:ext uri="{FF2B5EF4-FFF2-40B4-BE49-F238E27FC236}">
                    <a16:creationId xmlns:a16="http://schemas.microsoft.com/office/drawing/2014/main" id="{6CA33904-491C-B7DE-861F-ADE9AD17BABE}"/>
                  </a:ext>
                </a:extLst>
              </p:cNvPr>
              <p:cNvSpPr/>
              <p:nvPr/>
            </p:nvSpPr>
            <p:spPr>
              <a:xfrm>
                <a:off x="8217948" y="1374846"/>
                <a:ext cx="3392424" cy="457200"/>
              </a:xfrm>
              <a:prstGeom prst="rect">
                <a:avLst/>
              </a:prstGeom>
              <a:noFill/>
              <a:ln/>
            </p:spPr>
            <p:txBody>
              <a:bodyPr wrap="square" lIns="0" tIns="0" rIns="0" bIns="0" rtlCol="0" anchor="ctr"/>
              <a:lstStyle/>
              <a:p>
                <a:pPr marL="0" indent="0">
                  <a:buNone/>
                </a:pPr>
                <a:r>
                  <a:rPr lang="en-US" sz="1400" b="1">
                    <a:solidFill>
                      <a:srgbClr val="0A4A4E"/>
                    </a:solidFill>
                    <a:latin typeface="Verdana" panose="020B0604030504040204" pitchFamily="34" charset="0"/>
                    <a:ea typeface="Verdana" panose="020B0604030504040204" pitchFamily="34" charset="0"/>
                    <a:cs typeface="Calibri" pitchFamily="34" charset="-120"/>
                  </a:rPr>
                  <a:t>CONSOLIDATION &amp; VALIDATION</a:t>
                </a:r>
                <a:endParaRPr lang="en-US" sz="1400">
                  <a:latin typeface="Verdana" panose="020B0604030504040204" pitchFamily="34" charset="0"/>
                  <a:ea typeface="Verdana" panose="020B0604030504040204" pitchFamily="34" charset="0"/>
                </a:endParaRPr>
              </a:p>
            </p:txBody>
          </p:sp>
          <p:sp>
            <p:nvSpPr>
              <p:cNvPr id="41" name="Text 25">
                <a:extLst>
                  <a:ext uri="{FF2B5EF4-FFF2-40B4-BE49-F238E27FC236}">
                    <a16:creationId xmlns:a16="http://schemas.microsoft.com/office/drawing/2014/main" id="{943CD177-494A-740E-F1BE-73FD5FB11380}"/>
                  </a:ext>
                </a:extLst>
              </p:cNvPr>
              <p:cNvSpPr/>
              <p:nvPr/>
            </p:nvSpPr>
            <p:spPr>
              <a:xfrm>
                <a:off x="8236236" y="1886910"/>
                <a:ext cx="3355848" cy="2651760"/>
              </a:xfrm>
              <a:prstGeom prst="rect">
                <a:avLst/>
              </a:prstGeom>
              <a:noFill/>
              <a:ln/>
            </p:spPr>
            <p:txBody>
              <a:bodyPr wrap="square" lIns="0" tIns="0" rIns="0" bIns="0" rtlCol="0" anchor="t"/>
              <a:lstStyle/>
              <a:p>
                <a:pPr marL="342900" indent="-342900">
                  <a:spcAft>
                    <a:spcPts val="400"/>
                  </a:spcAft>
                  <a:buSzPct val="100000"/>
                  <a:buChar char="▪"/>
                </a:pPr>
                <a:r>
                  <a:rPr lang="en-US" sz="1050">
                    <a:solidFill>
                      <a:srgbClr val="333333"/>
                    </a:solidFill>
                    <a:latin typeface="Verdana" panose="020B0604030504040204" pitchFamily="34" charset="0"/>
                    <a:ea typeface="Verdana" panose="020B0604030504040204" pitchFamily="34" charset="0"/>
                    <a:cs typeface="Calibri" pitchFamily="34" charset="-120"/>
                  </a:rPr>
                  <a:t>Validation workshop on the draft framework</a:t>
                </a:r>
                <a:endParaRPr lang="en-US" sz="1050">
                  <a:latin typeface="Verdana" panose="020B0604030504040204" pitchFamily="34" charset="0"/>
                  <a:ea typeface="Verdana" panose="020B0604030504040204" pitchFamily="34" charset="0"/>
                </a:endParaRPr>
              </a:p>
              <a:p>
                <a:pPr marL="342900" indent="-342900">
                  <a:spcAft>
                    <a:spcPts val="400"/>
                  </a:spcAft>
                  <a:buSzPct val="100000"/>
                  <a:buChar char="▪"/>
                </a:pPr>
                <a:r>
                  <a:rPr lang="en-US" sz="1050">
                    <a:solidFill>
                      <a:srgbClr val="333333"/>
                    </a:solidFill>
                    <a:latin typeface="Verdana" panose="020B0604030504040204" pitchFamily="34" charset="0"/>
                    <a:ea typeface="Verdana" panose="020B0604030504040204" pitchFamily="34" charset="0"/>
                    <a:cs typeface="Calibri" pitchFamily="34" charset="-120"/>
                  </a:rPr>
                  <a:t>Incorporation of NITI Aayog and stakeholder comments</a:t>
                </a:r>
                <a:endParaRPr lang="en-US" sz="1050">
                  <a:latin typeface="Verdana" panose="020B0604030504040204" pitchFamily="34" charset="0"/>
                  <a:ea typeface="Verdana" panose="020B0604030504040204" pitchFamily="34" charset="0"/>
                </a:endParaRPr>
              </a:p>
              <a:p>
                <a:pPr marL="342900" indent="-342900">
                  <a:spcAft>
                    <a:spcPts val="400"/>
                  </a:spcAft>
                  <a:buSzPct val="100000"/>
                  <a:buChar char="▪"/>
                </a:pPr>
                <a:r>
                  <a:rPr lang="en-US" sz="1050">
                    <a:solidFill>
                      <a:srgbClr val="333333"/>
                    </a:solidFill>
                    <a:latin typeface="Verdana" panose="020B0604030504040204" pitchFamily="34" charset="0"/>
                    <a:ea typeface="Verdana" panose="020B0604030504040204" pitchFamily="34" charset="0"/>
                    <a:cs typeface="Calibri" pitchFamily="34" charset="-120"/>
                  </a:rPr>
                  <a:t>Build and test the Excel-based four-module toolkit</a:t>
                </a:r>
                <a:endParaRPr lang="en-US" sz="1050">
                  <a:latin typeface="Verdana" panose="020B0604030504040204" pitchFamily="34" charset="0"/>
                  <a:ea typeface="Verdana" panose="020B0604030504040204" pitchFamily="34" charset="0"/>
                </a:endParaRPr>
              </a:p>
              <a:p>
                <a:pPr marL="342900" indent="-342900">
                  <a:spcAft>
                    <a:spcPts val="400"/>
                  </a:spcAft>
                  <a:buSzPct val="100000"/>
                  <a:buChar char="▪"/>
                </a:pPr>
                <a:r>
                  <a:rPr lang="en-US" sz="1050">
                    <a:solidFill>
                      <a:srgbClr val="333333"/>
                    </a:solidFill>
                    <a:latin typeface="Verdana" panose="020B0604030504040204" pitchFamily="34" charset="0"/>
                    <a:ea typeface="Verdana" panose="020B0604030504040204" pitchFamily="34" charset="0"/>
                    <a:cs typeface="Calibri" pitchFamily="34" charset="-120"/>
                  </a:rPr>
                  <a:t>Executive synopsis and policy recommendations</a:t>
                </a:r>
                <a:endParaRPr lang="en-US" sz="1050">
                  <a:latin typeface="Verdana" panose="020B0604030504040204" pitchFamily="34" charset="0"/>
                  <a:ea typeface="Verdana" panose="020B0604030504040204" pitchFamily="34" charset="0"/>
                </a:endParaRPr>
              </a:p>
              <a:p>
                <a:pPr marL="342900" indent="-342900">
                  <a:spcAft>
                    <a:spcPts val="400"/>
                  </a:spcAft>
                  <a:buSzPct val="100000"/>
                  <a:buChar char="▪"/>
                </a:pPr>
                <a:r>
                  <a:rPr lang="en-US" sz="1050">
                    <a:solidFill>
                      <a:srgbClr val="333333"/>
                    </a:solidFill>
                    <a:latin typeface="Verdana" panose="020B0604030504040204" pitchFamily="34" charset="0"/>
                    <a:ea typeface="Verdana" panose="020B0604030504040204" pitchFamily="34" charset="0"/>
                    <a:cs typeface="Calibri" pitchFamily="34" charset="-120"/>
                  </a:rPr>
                  <a:t>Dissemination workshop and handover of raw data repository</a:t>
                </a:r>
                <a:endParaRPr lang="en-US" sz="1050">
                  <a:latin typeface="Verdana" panose="020B0604030504040204" pitchFamily="34" charset="0"/>
                  <a:ea typeface="Verdana" panose="020B0604030504040204" pitchFamily="34" charset="0"/>
                </a:endParaRPr>
              </a:p>
            </p:txBody>
          </p:sp>
          <p:sp>
            <p:nvSpPr>
              <p:cNvPr id="42" name="Shape 26">
                <a:extLst>
                  <a:ext uri="{FF2B5EF4-FFF2-40B4-BE49-F238E27FC236}">
                    <a16:creationId xmlns:a16="http://schemas.microsoft.com/office/drawing/2014/main" id="{4C32BA41-4CA7-7E33-566D-5FA2FC738C8C}"/>
                  </a:ext>
                </a:extLst>
              </p:cNvPr>
              <p:cNvSpPr/>
              <p:nvPr/>
            </p:nvSpPr>
            <p:spPr>
              <a:xfrm>
                <a:off x="8071644" y="4831278"/>
                <a:ext cx="3685032" cy="603504"/>
              </a:xfrm>
              <a:prstGeom prst="roundRect">
                <a:avLst>
                  <a:gd name="adj" fmla="val 9091"/>
                </a:avLst>
              </a:prstGeom>
              <a:solidFill>
                <a:srgbClr val="FFFFFF"/>
              </a:solidFill>
              <a:ln w="19050">
                <a:solidFill>
                  <a:srgbClr val="1C7C7E"/>
                </a:solidFill>
                <a:prstDash val="dash"/>
              </a:ln>
            </p:spPr>
            <p:txBody>
              <a:bodyPr/>
              <a:lstStyle/>
              <a:p>
                <a:endParaRPr lang="en-IN">
                  <a:latin typeface="Verdana" panose="020B0604030504040204" pitchFamily="34" charset="0"/>
                  <a:ea typeface="Verdana" panose="020B0604030504040204" pitchFamily="34" charset="0"/>
                </a:endParaRPr>
              </a:p>
            </p:txBody>
          </p:sp>
          <p:sp>
            <p:nvSpPr>
              <p:cNvPr id="43" name="Text 27">
                <a:extLst>
                  <a:ext uri="{FF2B5EF4-FFF2-40B4-BE49-F238E27FC236}">
                    <a16:creationId xmlns:a16="http://schemas.microsoft.com/office/drawing/2014/main" id="{BC2DD8E8-2A3C-593E-6F8A-D14EE652C73F}"/>
                  </a:ext>
                </a:extLst>
              </p:cNvPr>
              <p:cNvSpPr/>
              <p:nvPr/>
            </p:nvSpPr>
            <p:spPr>
              <a:xfrm>
                <a:off x="8181372" y="4831278"/>
                <a:ext cx="3465576" cy="603504"/>
              </a:xfrm>
              <a:prstGeom prst="rect">
                <a:avLst/>
              </a:prstGeom>
              <a:noFill/>
              <a:ln/>
            </p:spPr>
            <p:txBody>
              <a:bodyPr wrap="square" lIns="0" tIns="0" rIns="0" bIns="0" rtlCol="0" anchor="ctr"/>
              <a:lstStyle/>
              <a:p>
                <a:pPr marL="0" indent="0" algn="ctr">
                  <a:buNone/>
                </a:pPr>
                <a:r>
                  <a:rPr lang="en-US" sz="1050" b="1">
                    <a:solidFill>
                      <a:srgbClr val="1C7C7E"/>
                    </a:solidFill>
                    <a:latin typeface="Verdana" panose="020B0604030504040204" pitchFamily="34" charset="0"/>
                    <a:ea typeface="Verdana" panose="020B0604030504040204" pitchFamily="34" charset="0"/>
                    <a:cs typeface="Calibri" pitchFamily="34" charset="-120"/>
                  </a:rPr>
                  <a:t>D3 · Final Report, synopsis and data repository</a:t>
                </a:r>
                <a:endParaRPr lang="en-US" sz="1050">
                  <a:latin typeface="Verdana" panose="020B0604030504040204" pitchFamily="34" charset="0"/>
                  <a:ea typeface="Verdana" panose="020B0604030504040204" pitchFamily="34" charset="0"/>
                </a:endParaRPr>
              </a:p>
            </p:txBody>
          </p:sp>
          <p:grpSp>
            <p:nvGrpSpPr>
              <p:cNvPr id="44" name="Group 43">
                <a:extLst>
                  <a:ext uri="{FF2B5EF4-FFF2-40B4-BE49-F238E27FC236}">
                    <a16:creationId xmlns:a16="http://schemas.microsoft.com/office/drawing/2014/main" id="{CA5791A7-9D1D-4FC7-7DDD-E4E62FF8E0D4}"/>
                  </a:ext>
                </a:extLst>
              </p:cNvPr>
              <p:cNvGrpSpPr/>
              <p:nvPr/>
            </p:nvGrpSpPr>
            <p:grpSpPr>
              <a:xfrm>
                <a:off x="439221" y="5599374"/>
                <a:ext cx="11365992" cy="512064"/>
                <a:chOff x="441729" y="5650992"/>
                <a:chExt cx="11365992" cy="512064"/>
              </a:xfrm>
            </p:grpSpPr>
            <p:sp>
              <p:nvSpPr>
                <p:cNvPr id="45" name="Shape 28">
                  <a:extLst>
                    <a:ext uri="{FF2B5EF4-FFF2-40B4-BE49-F238E27FC236}">
                      <a16:creationId xmlns:a16="http://schemas.microsoft.com/office/drawing/2014/main" id="{60A2FE6B-55F5-2892-D304-A1B29B3D7228}"/>
                    </a:ext>
                  </a:extLst>
                </p:cNvPr>
                <p:cNvSpPr/>
                <p:nvPr/>
              </p:nvSpPr>
              <p:spPr>
                <a:xfrm>
                  <a:off x="441729" y="5650992"/>
                  <a:ext cx="11365992" cy="512064"/>
                </a:xfrm>
                <a:prstGeom prst="round1Rect">
                  <a:avLst/>
                </a:prstGeom>
                <a:solidFill>
                  <a:srgbClr val="0A4A4E"/>
                </a:solidFill>
                <a:ln w="12700">
                  <a:solidFill>
                    <a:srgbClr val="333333"/>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46" name="Text 29">
                  <a:extLst>
                    <a:ext uri="{FF2B5EF4-FFF2-40B4-BE49-F238E27FC236}">
                      <a16:creationId xmlns:a16="http://schemas.microsoft.com/office/drawing/2014/main" id="{AC00C9A0-5EB3-4F11-85F5-D0BB69407133}"/>
                    </a:ext>
                  </a:extLst>
                </p:cNvPr>
                <p:cNvSpPr/>
                <p:nvPr/>
              </p:nvSpPr>
              <p:spPr>
                <a:xfrm>
                  <a:off x="649224" y="5650992"/>
                  <a:ext cx="11109960" cy="512064"/>
                </a:xfrm>
                <a:prstGeom prst="round1Rect">
                  <a:avLst/>
                </a:prstGeom>
                <a:noFill/>
                <a:ln/>
              </p:spPr>
              <p:txBody>
                <a:bodyPr wrap="square" lIns="0" tIns="0" rIns="0" bIns="0" rtlCol="0" anchor="ctr"/>
                <a:lstStyle/>
                <a:p>
                  <a:pPr marL="0" indent="0" algn="ctr">
                    <a:buNone/>
                  </a:pPr>
                  <a:r>
                    <a:rPr lang="en-US" sz="1200" b="1">
                      <a:solidFill>
                        <a:srgbClr val="FFFFFF"/>
                      </a:solidFill>
                      <a:latin typeface="Verdana" panose="020B0604030504040204" pitchFamily="34" charset="0"/>
                      <a:ea typeface="Verdana" panose="020B0604030504040204" pitchFamily="34" charset="0"/>
                      <a:cs typeface="Calibri" pitchFamily="34" charset="-120"/>
                    </a:rPr>
                    <a:t>RUNNING THROUGHOUT  ·  Fortnightly progress review with NITI Aayog's Monitoring and Advisory Committee  ·  Monthly sub-reports on data collection, data quality checks, secondary research, toolkit and analysis</a:t>
                  </a:r>
                  <a:endParaRPr lang="en-US" sz="1200">
                    <a:latin typeface="Verdana" panose="020B0604030504040204" pitchFamily="34" charset="0"/>
                    <a:ea typeface="Verdana" panose="020B0604030504040204" pitchFamily="34" charset="0"/>
                  </a:endParaRPr>
                </a:p>
              </p:txBody>
            </p:sp>
          </p:grpSp>
        </p:grpSp>
      </p:grpSp>
    </p:spTree>
    <p:extLst>
      <p:ext uri="{BB962C8B-B14F-4D97-AF65-F5344CB8AC3E}">
        <p14:creationId xmlns:p14="http://schemas.microsoft.com/office/powerpoint/2010/main" val="12116007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88D0E-6E66-B57E-C119-24830BA75C9C}"/>
            </a:ext>
          </a:extLst>
        </p:cNvPr>
        <p:cNvGrpSpPr/>
        <p:nvPr/>
      </p:nvGrpSpPr>
      <p:grpSpPr>
        <a:xfrm>
          <a:off x="0" y="0"/>
          <a:ext cx="0" cy="0"/>
          <a:chOff x="0" y="0"/>
          <a:chExt cx="0" cy="0"/>
        </a:xfrm>
      </p:grpSpPr>
      <p:cxnSp>
        <p:nvCxnSpPr>
          <p:cNvPr id="6" name="Straight Arrow Connector 5">
            <a:extLst>
              <a:ext uri="{FF2B5EF4-FFF2-40B4-BE49-F238E27FC236}">
                <a16:creationId xmlns:a16="http://schemas.microsoft.com/office/drawing/2014/main" id="{0CBD2162-8178-26BA-7587-E0956F7D98E1}"/>
              </a:ext>
            </a:extLst>
          </p:cNvPr>
          <p:cNvCxnSpPr/>
          <p:nvPr/>
        </p:nvCxnSpPr>
        <p:spPr>
          <a:xfrm flipV="1">
            <a:off x="408972" y="778102"/>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529D8262-1C37-B03B-E185-FCF6F7A243A5}"/>
              </a:ext>
            </a:extLst>
          </p:cNvPr>
          <p:cNvSpPr/>
          <p:nvPr/>
        </p:nvSpPr>
        <p:spPr bwMode="gray">
          <a:xfrm>
            <a:off x="380920" y="66871"/>
            <a:ext cx="11811080" cy="370522"/>
          </a:xfrm>
          <a:prstGeom prst="rect">
            <a:avLst/>
          </a:prstGeom>
          <a:noFill/>
          <a:ln w="19050" algn="ctr">
            <a:noFill/>
            <a:miter lim="800000"/>
            <a:headEnd/>
            <a:tailEnd/>
          </a:ln>
        </p:spPr>
        <p:txBody>
          <a:bodyPr wrap="square" lIns="88900" tIns="88900" rIns="88900" bIns="88900" rtlCol="0" anchor="ctr"/>
          <a:lstStyle/>
          <a:p>
            <a:r>
              <a:rPr lang="en-US" b="1">
                <a:latin typeface="+mj-lt"/>
              </a:rPr>
              <a:t>Phase -1: Selection of the study areas</a:t>
            </a:r>
            <a:endParaRPr lang="en-US" sz="1800" b="1">
              <a:latin typeface="+mj-lt"/>
            </a:endParaRPr>
          </a:p>
        </p:txBody>
      </p:sp>
      <p:sp>
        <p:nvSpPr>
          <p:cNvPr id="12" name="Text Placeholder 1">
            <a:extLst>
              <a:ext uri="{FF2B5EF4-FFF2-40B4-BE49-F238E27FC236}">
                <a16:creationId xmlns:a16="http://schemas.microsoft.com/office/drawing/2014/main" id="{6D565C52-339C-5F54-6166-8CECBAFEE134}"/>
              </a:ext>
            </a:extLst>
          </p:cNvPr>
          <p:cNvSpPr txBox="1">
            <a:spLocks/>
          </p:cNvSpPr>
          <p:nvPr/>
        </p:nvSpPr>
        <p:spPr>
          <a:xfrm>
            <a:off x="439221" y="480431"/>
            <a:ext cx="11365992" cy="757255"/>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600" b="0" kern="1200">
                <a:solidFill>
                  <a:srgbClr val="575757"/>
                </a:solidFill>
                <a:latin typeface="Calibri" panose="020F0502020204030204" pitchFamily="34" charset="0"/>
                <a:ea typeface="+mn-ea"/>
                <a:cs typeface="Calibri" panose="020F0502020204030204" pitchFamily="34" charset="0"/>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1400">
                <a:latin typeface="+mj-lt"/>
              </a:rPr>
              <a:t>A three-tier sample that reflects fiscal scale, administrative capacity and reporting maturity — not just geography</a:t>
            </a:r>
          </a:p>
        </p:txBody>
      </p:sp>
      <p:grpSp>
        <p:nvGrpSpPr>
          <p:cNvPr id="16" name="Group 15">
            <a:extLst>
              <a:ext uri="{FF2B5EF4-FFF2-40B4-BE49-F238E27FC236}">
                <a16:creationId xmlns:a16="http://schemas.microsoft.com/office/drawing/2014/main" id="{A3E785F5-1657-4A25-9276-33A4AF33BE36}"/>
              </a:ext>
            </a:extLst>
          </p:cNvPr>
          <p:cNvGrpSpPr/>
          <p:nvPr/>
        </p:nvGrpSpPr>
        <p:grpSpPr>
          <a:xfrm>
            <a:off x="256032" y="1033272"/>
            <a:ext cx="3908819" cy="4005072"/>
            <a:chOff x="256032" y="1033272"/>
            <a:chExt cx="3908819" cy="4005072"/>
          </a:xfrm>
        </p:grpSpPr>
        <p:pic>
          <p:nvPicPr>
            <p:cNvPr id="2" name="Image 0" descr="map_sample.png">
              <a:extLst>
                <a:ext uri="{FF2B5EF4-FFF2-40B4-BE49-F238E27FC236}">
                  <a16:creationId xmlns:a16="http://schemas.microsoft.com/office/drawing/2014/main" id="{2DD4CB74-6D8D-385F-A5C5-23359C95ED34}"/>
                </a:ext>
              </a:extLst>
            </p:cNvPr>
            <p:cNvPicPr>
              <a:picLocks noChangeAspect="1"/>
            </p:cNvPicPr>
            <p:nvPr/>
          </p:nvPicPr>
          <p:blipFill>
            <a:blip r:embed="rId2"/>
            <a:stretch>
              <a:fillRect/>
            </a:stretch>
          </p:blipFill>
          <p:spPr>
            <a:xfrm>
              <a:off x="256032" y="1033272"/>
              <a:ext cx="3304674" cy="3600521"/>
            </a:xfrm>
            <a:prstGeom prst="rect">
              <a:avLst/>
            </a:prstGeom>
          </p:spPr>
        </p:pic>
        <p:grpSp>
          <p:nvGrpSpPr>
            <p:cNvPr id="19" name="Group 18">
              <a:extLst>
                <a:ext uri="{FF2B5EF4-FFF2-40B4-BE49-F238E27FC236}">
                  <a16:creationId xmlns:a16="http://schemas.microsoft.com/office/drawing/2014/main" id="{AEFF78F4-37EC-BB92-2F35-D7B46E7F17AC}"/>
                </a:ext>
              </a:extLst>
            </p:cNvPr>
            <p:cNvGrpSpPr/>
            <p:nvPr/>
          </p:nvGrpSpPr>
          <p:grpSpPr>
            <a:xfrm>
              <a:off x="2116595" y="3429000"/>
              <a:ext cx="2048256" cy="1609344"/>
              <a:chOff x="5870448" y="1033272"/>
              <a:chExt cx="2048256" cy="1609344"/>
            </a:xfrm>
          </p:grpSpPr>
          <p:sp>
            <p:nvSpPr>
              <p:cNvPr id="3" name="Shape 3">
                <a:extLst>
                  <a:ext uri="{FF2B5EF4-FFF2-40B4-BE49-F238E27FC236}">
                    <a16:creationId xmlns:a16="http://schemas.microsoft.com/office/drawing/2014/main" id="{519537DF-18E8-1696-7391-E58291E1761B}"/>
                  </a:ext>
                </a:extLst>
              </p:cNvPr>
              <p:cNvSpPr/>
              <p:nvPr/>
            </p:nvSpPr>
            <p:spPr>
              <a:xfrm>
                <a:off x="5870448" y="1060704"/>
                <a:ext cx="256032" cy="182880"/>
              </a:xfrm>
              <a:prstGeom prst="rect">
                <a:avLst/>
              </a:prstGeom>
              <a:solidFill>
                <a:srgbClr val="004F59"/>
              </a:solidFill>
              <a:ln w="9525">
                <a:solidFill>
                  <a:srgbClr val="FFFFFF"/>
                </a:solidFill>
                <a:prstDash val="solid"/>
              </a:ln>
            </p:spPr>
            <p:txBody>
              <a:bodyPr/>
              <a:lstStyle/>
              <a:p>
                <a:endParaRPr lang="en-IN"/>
              </a:p>
            </p:txBody>
          </p:sp>
          <p:sp>
            <p:nvSpPr>
              <p:cNvPr id="4" name="Text 4">
                <a:extLst>
                  <a:ext uri="{FF2B5EF4-FFF2-40B4-BE49-F238E27FC236}">
                    <a16:creationId xmlns:a16="http://schemas.microsoft.com/office/drawing/2014/main" id="{10B32B65-276A-BEB1-ED11-CA527DC0C537}"/>
                  </a:ext>
                </a:extLst>
              </p:cNvPr>
              <p:cNvSpPr/>
              <p:nvPr/>
            </p:nvSpPr>
            <p:spPr>
              <a:xfrm>
                <a:off x="6181344" y="1033272"/>
                <a:ext cx="1737360" cy="237744"/>
              </a:xfrm>
              <a:prstGeom prst="rect">
                <a:avLst/>
              </a:prstGeom>
              <a:noFill/>
              <a:ln/>
            </p:spPr>
            <p:txBody>
              <a:bodyPr wrap="square" lIns="0" tIns="0" rIns="0" bIns="0" rtlCol="0" anchor="ctr"/>
              <a:lstStyle/>
              <a:p>
                <a:pPr marL="0" indent="0">
                  <a:buNone/>
                </a:pPr>
                <a:r>
                  <a:rPr lang="en-US" sz="750">
                    <a:solidFill>
                      <a:srgbClr val="53565A"/>
                    </a:solidFill>
                    <a:latin typeface="Calibri" pitchFamily="34" charset="0"/>
                    <a:ea typeface="Calibri" pitchFamily="34" charset="-122"/>
                    <a:cs typeface="Calibri" pitchFamily="34" charset="-120"/>
                  </a:rPr>
                  <a:t>Deep-dive States (7)</a:t>
                </a:r>
                <a:endParaRPr lang="en-US" sz="750"/>
              </a:p>
            </p:txBody>
          </p:sp>
          <p:sp>
            <p:nvSpPr>
              <p:cNvPr id="5" name="Shape 5">
                <a:extLst>
                  <a:ext uri="{FF2B5EF4-FFF2-40B4-BE49-F238E27FC236}">
                    <a16:creationId xmlns:a16="http://schemas.microsoft.com/office/drawing/2014/main" id="{4088ECE0-2D87-F058-7000-055DFAAE674B}"/>
                  </a:ext>
                </a:extLst>
              </p:cNvPr>
              <p:cNvSpPr/>
              <p:nvPr/>
            </p:nvSpPr>
            <p:spPr>
              <a:xfrm>
                <a:off x="5870448" y="1335024"/>
                <a:ext cx="256032" cy="182880"/>
              </a:xfrm>
              <a:prstGeom prst="rect">
                <a:avLst/>
              </a:prstGeom>
              <a:solidFill>
                <a:srgbClr val="0097A9"/>
              </a:solidFill>
              <a:ln w="9525">
                <a:solidFill>
                  <a:srgbClr val="FFFFFF"/>
                </a:solidFill>
                <a:prstDash val="solid"/>
              </a:ln>
            </p:spPr>
            <p:txBody>
              <a:bodyPr/>
              <a:lstStyle/>
              <a:p>
                <a:endParaRPr lang="en-IN"/>
              </a:p>
            </p:txBody>
          </p:sp>
          <p:sp>
            <p:nvSpPr>
              <p:cNvPr id="7" name="Text 6">
                <a:extLst>
                  <a:ext uri="{FF2B5EF4-FFF2-40B4-BE49-F238E27FC236}">
                    <a16:creationId xmlns:a16="http://schemas.microsoft.com/office/drawing/2014/main" id="{7323EBE7-E546-5370-D834-476B3813FCB0}"/>
                  </a:ext>
                </a:extLst>
              </p:cNvPr>
              <p:cNvSpPr/>
              <p:nvPr/>
            </p:nvSpPr>
            <p:spPr>
              <a:xfrm>
                <a:off x="6181344" y="1307592"/>
                <a:ext cx="1737360" cy="237744"/>
              </a:xfrm>
              <a:prstGeom prst="rect">
                <a:avLst/>
              </a:prstGeom>
              <a:noFill/>
              <a:ln/>
            </p:spPr>
            <p:txBody>
              <a:bodyPr wrap="square" lIns="0" tIns="0" rIns="0" bIns="0" rtlCol="0" anchor="ctr"/>
              <a:lstStyle/>
              <a:p>
                <a:pPr marL="0" indent="0">
                  <a:buNone/>
                </a:pPr>
                <a:r>
                  <a:rPr lang="en-US" sz="750">
                    <a:solidFill>
                      <a:srgbClr val="53565A"/>
                    </a:solidFill>
                    <a:latin typeface="Calibri" pitchFamily="34" charset="0"/>
                    <a:ea typeface="Calibri" pitchFamily="34" charset="-122"/>
                    <a:cs typeface="Calibri" pitchFamily="34" charset="-120"/>
                  </a:rPr>
                  <a:t>High-subsidy / high-deficit</a:t>
                </a:r>
                <a:endParaRPr lang="en-US" sz="750"/>
              </a:p>
            </p:txBody>
          </p:sp>
          <p:sp>
            <p:nvSpPr>
              <p:cNvPr id="9" name="Shape 7">
                <a:extLst>
                  <a:ext uri="{FF2B5EF4-FFF2-40B4-BE49-F238E27FC236}">
                    <a16:creationId xmlns:a16="http://schemas.microsoft.com/office/drawing/2014/main" id="{00D78A63-EF69-0C8C-4133-4AB48E9AC4DB}"/>
                  </a:ext>
                </a:extLst>
              </p:cNvPr>
              <p:cNvSpPr/>
              <p:nvPr/>
            </p:nvSpPr>
            <p:spPr>
              <a:xfrm>
                <a:off x="5870448" y="1609344"/>
                <a:ext cx="256032" cy="182880"/>
              </a:xfrm>
              <a:prstGeom prst="rect">
                <a:avLst/>
              </a:prstGeom>
              <a:solidFill>
                <a:srgbClr val="6FC2B4"/>
              </a:solidFill>
              <a:ln w="9525">
                <a:solidFill>
                  <a:srgbClr val="FFFFFF"/>
                </a:solidFill>
                <a:prstDash val="solid"/>
              </a:ln>
            </p:spPr>
            <p:txBody>
              <a:bodyPr/>
              <a:lstStyle/>
              <a:p>
                <a:endParaRPr lang="en-IN"/>
              </a:p>
            </p:txBody>
          </p:sp>
          <p:sp>
            <p:nvSpPr>
              <p:cNvPr id="10" name="Text 8">
                <a:extLst>
                  <a:ext uri="{FF2B5EF4-FFF2-40B4-BE49-F238E27FC236}">
                    <a16:creationId xmlns:a16="http://schemas.microsoft.com/office/drawing/2014/main" id="{E45803D5-A6D0-433C-4E5C-F1CBF72FD2E0}"/>
                  </a:ext>
                </a:extLst>
              </p:cNvPr>
              <p:cNvSpPr/>
              <p:nvPr/>
            </p:nvSpPr>
            <p:spPr>
              <a:xfrm>
                <a:off x="6181344" y="1581912"/>
                <a:ext cx="1737360" cy="237744"/>
              </a:xfrm>
              <a:prstGeom prst="rect">
                <a:avLst/>
              </a:prstGeom>
              <a:noFill/>
              <a:ln/>
            </p:spPr>
            <p:txBody>
              <a:bodyPr wrap="square" lIns="0" tIns="0" rIns="0" bIns="0" rtlCol="0" anchor="ctr"/>
              <a:lstStyle/>
              <a:p>
                <a:pPr marL="0" indent="0">
                  <a:buNone/>
                </a:pPr>
                <a:r>
                  <a:rPr lang="en-US" sz="750">
                    <a:solidFill>
                      <a:srgbClr val="53565A"/>
                    </a:solidFill>
                    <a:latin typeface="Calibri" pitchFamily="34" charset="0"/>
                    <a:ea typeface="Calibri" pitchFamily="34" charset="-122"/>
                    <a:cs typeface="Calibri" pitchFamily="34" charset="-120"/>
                  </a:rPr>
                  <a:t>Fiscally prudent comparators</a:t>
                </a:r>
                <a:endParaRPr lang="en-US" sz="750"/>
              </a:p>
            </p:txBody>
          </p:sp>
          <p:sp>
            <p:nvSpPr>
              <p:cNvPr id="11" name="Shape 9">
                <a:extLst>
                  <a:ext uri="{FF2B5EF4-FFF2-40B4-BE49-F238E27FC236}">
                    <a16:creationId xmlns:a16="http://schemas.microsoft.com/office/drawing/2014/main" id="{B64EBC5A-2220-7D8B-0D4C-26E2E4E820E1}"/>
                  </a:ext>
                </a:extLst>
              </p:cNvPr>
              <p:cNvSpPr/>
              <p:nvPr/>
            </p:nvSpPr>
            <p:spPr>
              <a:xfrm>
                <a:off x="5870448" y="1883664"/>
                <a:ext cx="256032" cy="182880"/>
              </a:xfrm>
              <a:prstGeom prst="rect">
                <a:avLst/>
              </a:prstGeom>
              <a:solidFill>
                <a:srgbClr val="86BC25"/>
              </a:solidFill>
              <a:ln w="9525">
                <a:solidFill>
                  <a:srgbClr val="FFFFFF"/>
                </a:solidFill>
                <a:prstDash val="solid"/>
              </a:ln>
            </p:spPr>
            <p:txBody>
              <a:bodyPr/>
              <a:lstStyle/>
              <a:p>
                <a:endParaRPr lang="en-IN"/>
              </a:p>
            </p:txBody>
          </p:sp>
          <p:sp>
            <p:nvSpPr>
              <p:cNvPr id="13" name="Text 10">
                <a:extLst>
                  <a:ext uri="{FF2B5EF4-FFF2-40B4-BE49-F238E27FC236}">
                    <a16:creationId xmlns:a16="http://schemas.microsoft.com/office/drawing/2014/main" id="{A42B3442-0EC7-FA42-A197-C66758607365}"/>
                  </a:ext>
                </a:extLst>
              </p:cNvPr>
              <p:cNvSpPr/>
              <p:nvPr/>
            </p:nvSpPr>
            <p:spPr>
              <a:xfrm>
                <a:off x="6181344" y="1856232"/>
                <a:ext cx="1737360" cy="237744"/>
              </a:xfrm>
              <a:prstGeom prst="rect">
                <a:avLst/>
              </a:prstGeom>
              <a:noFill/>
              <a:ln/>
            </p:spPr>
            <p:txBody>
              <a:bodyPr wrap="square" lIns="0" tIns="0" rIns="0" bIns="0" rtlCol="0" anchor="ctr"/>
              <a:lstStyle/>
              <a:p>
                <a:pPr marL="0" indent="0">
                  <a:buNone/>
                </a:pPr>
                <a:r>
                  <a:rPr lang="en-US" sz="750">
                    <a:solidFill>
                      <a:srgbClr val="53565A"/>
                    </a:solidFill>
                    <a:latin typeface="Calibri" pitchFamily="34" charset="0"/>
                    <a:ea typeface="Calibri" pitchFamily="34" charset="-122"/>
                    <a:cs typeface="Calibri" pitchFamily="34" charset="-120"/>
                  </a:rPr>
                  <a:t>NE &amp; Hill States</a:t>
                </a:r>
                <a:endParaRPr lang="en-US" sz="750"/>
              </a:p>
            </p:txBody>
          </p:sp>
          <p:sp>
            <p:nvSpPr>
              <p:cNvPr id="14" name="Shape 11">
                <a:extLst>
                  <a:ext uri="{FF2B5EF4-FFF2-40B4-BE49-F238E27FC236}">
                    <a16:creationId xmlns:a16="http://schemas.microsoft.com/office/drawing/2014/main" id="{C7B09A40-0786-7F87-BD55-26D76797FA25}"/>
                  </a:ext>
                </a:extLst>
              </p:cNvPr>
              <p:cNvSpPr/>
              <p:nvPr/>
            </p:nvSpPr>
            <p:spPr>
              <a:xfrm>
                <a:off x="5870448" y="2157984"/>
                <a:ext cx="256032" cy="182880"/>
              </a:xfrm>
              <a:prstGeom prst="rect">
                <a:avLst/>
              </a:prstGeom>
              <a:solidFill>
                <a:srgbClr val="F2A900"/>
              </a:solidFill>
              <a:ln w="9525">
                <a:solidFill>
                  <a:srgbClr val="FFFFFF"/>
                </a:solidFill>
                <a:prstDash val="solid"/>
              </a:ln>
            </p:spPr>
            <p:txBody>
              <a:bodyPr/>
              <a:lstStyle/>
              <a:p>
                <a:endParaRPr lang="en-IN"/>
              </a:p>
            </p:txBody>
          </p:sp>
          <p:sp>
            <p:nvSpPr>
              <p:cNvPr id="15" name="Text 12">
                <a:extLst>
                  <a:ext uri="{FF2B5EF4-FFF2-40B4-BE49-F238E27FC236}">
                    <a16:creationId xmlns:a16="http://schemas.microsoft.com/office/drawing/2014/main" id="{2489CB8A-F0CE-55FA-0660-8A80041DA3DB}"/>
                  </a:ext>
                </a:extLst>
              </p:cNvPr>
              <p:cNvSpPr/>
              <p:nvPr/>
            </p:nvSpPr>
            <p:spPr>
              <a:xfrm>
                <a:off x="6181344" y="2130552"/>
                <a:ext cx="1737360" cy="237744"/>
              </a:xfrm>
              <a:prstGeom prst="rect">
                <a:avLst/>
              </a:prstGeom>
              <a:noFill/>
              <a:ln/>
            </p:spPr>
            <p:txBody>
              <a:bodyPr wrap="square" lIns="0" tIns="0" rIns="0" bIns="0" rtlCol="0" anchor="ctr"/>
              <a:lstStyle/>
              <a:p>
                <a:pPr marL="0" indent="0">
                  <a:buNone/>
                </a:pPr>
                <a:r>
                  <a:rPr lang="en-US" sz="750">
                    <a:solidFill>
                      <a:srgbClr val="53565A"/>
                    </a:solidFill>
                    <a:latin typeface="Calibri" pitchFamily="34" charset="0"/>
                    <a:ea typeface="Calibri" pitchFamily="34" charset="-122"/>
                    <a:cs typeface="Calibri" pitchFamily="34" charset="-120"/>
                  </a:rPr>
                  <a:t>UT with legislature</a:t>
                </a:r>
                <a:endParaRPr lang="en-US" sz="750"/>
              </a:p>
            </p:txBody>
          </p:sp>
          <p:sp>
            <p:nvSpPr>
              <p:cNvPr id="17" name="Shape 13">
                <a:extLst>
                  <a:ext uri="{FF2B5EF4-FFF2-40B4-BE49-F238E27FC236}">
                    <a16:creationId xmlns:a16="http://schemas.microsoft.com/office/drawing/2014/main" id="{CBD02FFD-88A7-BE79-0A56-8EE64C6F8378}"/>
                  </a:ext>
                </a:extLst>
              </p:cNvPr>
              <p:cNvSpPr/>
              <p:nvPr/>
            </p:nvSpPr>
            <p:spPr>
              <a:xfrm>
                <a:off x="5870448" y="2432304"/>
                <a:ext cx="256032" cy="182880"/>
              </a:xfrm>
              <a:prstGeom prst="rect">
                <a:avLst/>
              </a:prstGeom>
              <a:solidFill>
                <a:srgbClr val="E8EEF0"/>
              </a:solidFill>
              <a:ln w="9525">
                <a:solidFill>
                  <a:srgbClr val="FFFFFF"/>
                </a:solidFill>
                <a:prstDash val="solid"/>
              </a:ln>
            </p:spPr>
            <p:txBody>
              <a:bodyPr/>
              <a:lstStyle/>
              <a:p>
                <a:endParaRPr lang="en-IN"/>
              </a:p>
            </p:txBody>
          </p:sp>
          <p:sp>
            <p:nvSpPr>
              <p:cNvPr id="18" name="Text 14">
                <a:extLst>
                  <a:ext uri="{FF2B5EF4-FFF2-40B4-BE49-F238E27FC236}">
                    <a16:creationId xmlns:a16="http://schemas.microsoft.com/office/drawing/2014/main" id="{094420CA-86DC-946E-2B3E-F6225C4AD36C}"/>
                  </a:ext>
                </a:extLst>
              </p:cNvPr>
              <p:cNvSpPr/>
              <p:nvPr/>
            </p:nvSpPr>
            <p:spPr>
              <a:xfrm>
                <a:off x="6181344" y="2404872"/>
                <a:ext cx="1737360" cy="237744"/>
              </a:xfrm>
              <a:prstGeom prst="rect">
                <a:avLst/>
              </a:prstGeom>
              <a:noFill/>
              <a:ln/>
            </p:spPr>
            <p:txBody>
              <a:bodyPr wrap="square" lIns="0" tIns="0" rIns="0" bIns="0" rtlCol="0" anchor="ctr"/>
              <a:lstStyle/>
              <a:p>
                <a:pPr marL="0" indent="0">
                  <a:buNone/>
                </a:pPr>
                <a:r>
                  <a:rPr lang="en-US" sz="750">
                    <a:solidFill>
                      <a:srgbClr val="53565A"/>
                    </a:solidFill>
                    <a:latin typeface="Calibri" pitchFamily="34" charset="0"/>
                    <a:ea typeface="Calibri" pitchFamily="34" charset="-122"/>
                    <a:cs typeface="Calibri" pitchFamily="34" charset="-120"/>
                  </a:rPr>
                  <a:t>Macro panel only</a:t>
                </a:r>
                <a:endParaRPr lang="en-US" sz="750"/>
              </a:p>
            </p:txBody>
          </p:sp>
        </p:grpSp>
      </p:grpSp>
      <p:grpSp>
        <p:nvGrpSpPr>
          <p:cNvPr id="109" name="Group 108">
            <a:extLst>
              <a:ext uri="{FF2B5EF4-FFF2-40B4-BE49-F238E27FC236}">
                <a16:creationId xmlns:a16="http://schemas.microsoft.com/office/drawing/2014/main" id="{C5B9504D-90E3-D0BF-E09D-C277B2A4F9E2}"/>
              </a:ext>
            </a:extLst>
          </p:cNvPr>
          <p:cNvGrpSpPr/>
          <p:nvPr/>
        </p:nvGrpSpPr>
        <p:grpSpPr>
          <a:xfrm>
            <a:off x="3615570" y="996697"/>
            <a:ext cx="8137209" cy="4946904"/>
            <a:chOff x="3743895" y="913538"/>
            <a:chExt cx="7552944" cy="3764944"/>
          </a:xfrm>
        </p:grpSpPr>
        <p:sp>
          <p:nvSpPr>
            <p:cNvPr id="20" name="Shape 4">
              <a:extLst>
                <a:ext uri="{FF2B5EF4-FFF2-40B4-BE49-F238E27FC236}">
                  <a16:creationId xmlns:a16="http://schemas.microsoft.com/office/drawing/2014/main" id="{93C7D007-282A-165A-DC6B-39D67A6F28AC}"/>
                </a:ext>
              </a:extLst>
            </p:cNvPr>
            <p:cNvSpPr/>
            <p:nvPr/>
          </p:nvSpPr>
          <p:spPr>
            <a:xfrm>
              <a:off x="3743895" y="913538"/>
              <a:ext cx="3611880" cy="365760"/>
            </a:xfrm>
            <a:prstGeom prst="rect">
              <a:avLst/>
            </a:prstGeom>
            <a:solidFill>
              <a:srgbClr val="0A4A4E"/>
            </a:solidFill>
            <a:ln w="12700">
              <a:solidFill>
                <a:srgbClr val="333333"/>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47" name="Text 5">
              <a:extLst>
                <a:ext uri="{FF2B5EF4-FFF2-40B4-BE49-F238E27FC236}">
                  <a16:creationId xmlns:a16="http://schemas.microsoft.com/office/drawing/2014/main" id="{CE4FBA1C-79AC-EB29-9796-F23C4246C28D}"/>
                </a:ext>
              </a:extLst>
            </p:cNvPr>
            <p:cNvSpPr/>
            <p:nvPr/>
          </p:nvSpPr>
          <p:spPr>
            <a:xfrm>
              <a:off x="3871911" y="913538"/>
              <a:ext cx="3355848" cy="365760"/>
            </a:xfrm>
            <a:prstGeom prst="rect">
              <a:avLst/>
            </a:prstGeom>
            <a:noFill/>
            <a:ln/>
          </p:spPr>
          <p:txBody>
            <a:bodyPr wrap="square" lIns="0" tIns="0" rIns="0" bIns="0" rtlCol="0" anchor="ctr"/>
            <a:lstStyle/>
            <a:p>
              <a:pPr marL="0" indent="0" algn="ctr">
                <a:buNone/>
              </a:pPr>
              <a:r>
                <a:rPr lang="en-US" sz="1200" b="1">
                  <a:solidFill>
                    <a:srgbClr val="FFFFFF"/>
                  </a:solidFill>
                  <a:latin typeface="Verdana" panose="020B0604030504040204" pitchFamily="34" charset="0"/>
                  <a:ea typeface="Verdana" panose="020B0604030504040204" pitchFamily="34" charset="0"/>
                  <a:cs typeface="Calibri" pitchFamily="34" charset="-120"/>
                </a:rPr>
                <a:t>TIER 1 · MACRO PANEL</a:t>
              </a:r>
              <a:endParaRPr lang="en-US" sz="1200">
                <a:latin typeface="Verdana" panose="020B0604030504040204" pitchFamily="34" charset="0"/>
                <a:ea typeface="Verdana" panose="020B0604030504040204" pitchFamily="34" charset="0"/>
              </a:endParaRPr>
            </a:p>
          </p:txBody>
        </p:sp>
        <p:sp>
          <p:nvSpPr>
            <p:cNvPr id="48" name="Shape 6">
              <a:extLst>
                <a:ext uri="{FF2B5EF4-FFF2-40B4-BE49-F238E27FC236}">
                  <a16:creationId xmlns:a16="http://schemas.microsoft.com/office/drawing/2014/main" id="{AAA516BC-840C-61E0-370B-D4CD2B2A04EF}"/>
                </a:ext>
              </a:extLst>
            </p:cNvPr>
            <p:cNvSpPr/>
            <p:nvPr/>
          </p:nvSpPr>
          <p:spPr>
            <a:xfrm>
              <a:off x="3743895" y="1325017"/>
              <a:ext cx="3611880" cy="927717"/>
            </a:xfrm>
            <a:prstGeom prst="roundRect">
              <a:avLst>
                <a:gd name="adj" fmla="val 1951"/>
              </a:avLst>
            </a:prstGeom>
            <a:solidFill>
              <a:srgbClr val="FAFAFA"/>
            </a:solidFill>
            <a:ln w="9525">
              <a:solidFill>
                <a:srgbClr val="D9D9D9"/>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49" name="Text 7">
              <a:extLst>
                <a:ext uri="{FF2B5EF4-FFF2-40B4-BE49-F238E27FC236}">
                  <a16:creationId xmlns:a16="http://schemas.microsoft.com/office/drawing/2014/main" id="{5E7B4D61-68D4-48FF-9AE0-5823B22B2291}"/>
                </a:ext>
              </a:extLst>
            </p:cNvPr>
            <p:cNvSpPr/>
            <p:nvPr/>
          </p:nvSpPr>
          <p:spPr>
            <a:xfrm>
              <a:off x="3899343" y="1471322"/>
              <a:ext cx="3300984" cy="476350"/>
            </a:xfrm>
            <a:prstGeom prst="rect">
              <a:avLst/>
            </a:prstGeom>
            <a:noFill/>
            <a:ln/>
          </p:spPr>
          <p:txBody>
            <a:bodyPr wrap="square" lIns="0" tIns="0" rIns="0" bIns="0" rtlCol="0" anchor="t"/>
            <a:lstStyle/>
            <a:p>
              <a:pPr marL="0" indent="0">
                <a:lnSpc>
                  <a:spcPts val="1350"/>
                </a:lnSpc>
                <a:buNone/>
              </a:pPr>
              <a:r>
                <a:rPr lang="en-US" sz="1000">
                  <a:latin typeface="Verdana" panose="020B0604030504040204" pitchFamily="34" charset="0"/>
                  <a:ea typeface="Verdana" panose="020B0604030504040204" pitchFamily="34" charset="0"/>
                  <a:cs typeface="Calibri" pitchFamily="34" charset="-120"/>
                </a:rPr>
                <a:t>Macro-fiscal analysis and trend mapping across 21 large States (~95% of India's GDP) and the Central Government, over FY 2016-17 to FY 2025-26</a:t>
              </a:r>
              <a:r>
                <a:rPr lang="en-US" sz="1000" b="1">
                  <a:solidFill>
                    <a:srgbClr val="0A4A4E"/>
                  </a:solidFill>
                  <a:latin typeface="Verdana" panose="020B0604030504040204" pitchFamily="34" charset="0"/>
                  <a:ea typeface="Verdana" panose="020B0604030504040204" pitchFamily="34" charset="0"/>
                  <a:cs typeface="Calibri" pitchFamily="34" charset="-120"/>
                </a:rPr>
                <a:t>.</a:t>
              </a:r>
            </a:p>
          </p:txBody>
        </p:sp>
        <p:sp>
          <p:nvSpPr>
            <p:cNvPr id="50" name="Shape 8">
              <a:extLst>
                <a:ext uri="{FF2B5EF4-FFF2-40B4-BE49-F238E27FC236}">
                  <a16:creationId xmlns:a16="http://schemas.microsoft.com/office/drawing/2014/main" id="{6FC3E685-C99C-BBC8-4544-DC8CDBEED796}"/>
                </a:ext>
              </a:extLst>
            </p:cNvPr>
            <p:cNvSpPr/>
            <p:nvPr/>
          </p:nvSpPr>
          <p:spPr>
            <a:xfrm>
              <a:off x="7611807" y="935932"/>
              <a:ext cx="3611880" cy="365760"/>
            </a:xfrm>
            <a:prstGeom prst="rect">
              <a:avLst/>
            </a:prstGeom>
            <a:solidFill>
              <a:srgbClr val="0E6E70"/>
            </a:solidFill>
            <a:ln w="12700">
              <a:solidFill>
                <a:srgbClr val="333333"/>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51" name="Text 9">
              <a:extLst>
                <a:ext uri="{FF2B5EF4-FFF2-40B4-BE49-F238E27FC236}">
                  <a16:creationId xmlns:a16="http://schemas.microsoft.com/office/drawing/2014/main" id="{A7737CB6-5237-7957-75BE-EB522A1AE5BC}"/>
                </a:ext>
              </a:extLst>
            </p:cNvPr>
            <p:cNvSpPr/>
            <p:nvPr/>
          </p:nvSpPr>
          <p:spPr>
            <a:xfrm>
              <a:off x="3871911" y="3336698"/>
              <a:ext cx="3355848" cy="36576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TIER 2 · STRATIFICATION</a:t>
              </a:r>
              <a:endParaRPr lang="en-US" sz="1200"/>
            </a:p>
          </p:txBody>
        </p:sp>
        <p:sp>
          <p:nvSpPr>
            <p:cNvPr id="75" name="Shape 6">
              <a:extLst>
                <a:ext uri="{FF2B5EF4-FFF2-40B4-BE49-F238E27FC236}">
                  <a16:creationId xmlns:a16="http://schemas.microsoft.com/office/drawing/2014/main" id="{D05D59B0-DFA5-F13F-74D6-19F49C79D4DF}"/>
                </a:ext>
              </a:extLst>
            </p:cNvPr>
            <p:cNvSpPr/>
            <p:nvPr/>
          </p:nvSpPr>
          <p:spPr>
            <a:xfrm>
              <a:off x="7611807" y="1376365"/>
              <a:ext cx="3611880" cy="778102"/>
            </a:xfrm>
            <a:prstGeom prst="roundRect">
              <a:avLst>
                <a:gd name="adj" fmla="val 1951"/>
              </a:avLst>
            </a:prstGeom>
            <a:solidFill>
              <a:srgbClr val="FAFAFA"/>
            </a:solidFill>
            <a:ln w="9525">
              <a:solidFill>
                <a:srgbClr val="D9D9D9"/>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76" name="Text 5">
              <a:extLst>
                <a:ext uri="{FF2B5EF4-FFF2-40B4-BE49-F238E27FC236}">
                  <a16:creationId xmlns:a16="http://schemas.microsoft.com/office/drawing/2014/main" id="{77FFC0A7-D9BB-87AA-FBAD-1FCA0986D831}"/>
                </a:ext>
              </a:extLst>
            </p:cNvPr>
            <p:cNvSpPr/>
            <p:nvPr/>
          </p:nvSpPr>
          <p:spPr>
            <a:xfrm>
              <a:off x="7739823" y="913538"/>
              <a:ext cx="3355848" cy="365760"/>
            </a:xfrm>
            <a:prstGeom prst="rect">
              <a:avLst/>
            </a:prstGeom>
            <a:noFill/>
            <a:ln/>
          </p:spPr>
          <p:txBody>
            <a:bodyPr wrap="square" lIns="0" tIns="0" rIns="0" bIns="0" rtlCol="0" anchor="ctr"/>
            <a:lstStyle/>
            <a:p>
              <a:pPr marL="0" indent="0" algn="ctr">
                <a:buNone/>
              </a:pPr>
              <a:r>
                <a:rPr lang="en-US" sz="1200" b="1">
                  <a:solidFill>
                    <a:srgbClr val="FFFFFF"/>
                  </a:solidFill>
                  <a:latin typeface="Verdana" panose="020B0604030504040204" pitchFamily="34" charset="0"/>
                  <a:ea typeface="Verdana" panose="020B0604030504040204" pitchFamily="34" charset="0"/>
                  <a:cs typeface="Calibri" pitchFamily="34" charset="-120"/>
                </a:rPr>
                <a:t>TIER II · Stratification of the States</a:t>
              </a:r>
              <a:endParaRPr lang="en-US" sz="1200">
                <a:latin typeface="Verdana" panose="020B0604030504040204" pitchFamily="34" charset="0"/>
                <a:ea typeface="Verdana" panose="020B0604030504040204" pitchFamily="34" charset="0"/>
              </a:endParaRPr>
            </a:p>
          </p:txBody>
        </p:sp>
        <p:sp>
          <p:nvSpPr>
            <p:cNvPr id="78" name="TextBox 77">
              <a:extLst>
                <a:ext uri="{FF2B5EF4-FFF2-40B4-BE49-F238E27FC236}">
                  <a16:creationId xmlns:a16="http://schemas.microsoft.com/office/drawing/2014/main" id="{05E80F3E-7F11-2240-2CA4-E00EF37A2083}"/>
                </a:ext>
              </a:extLst>
            </p:cNvPr>
            <p:cNvSpPr txBox="1"/>
            <p:nvPr/>
          </p:nvSpPr>
          <p:spPr>
            <a:xfrm>
              <a:off x="7611807" y="1397967"/>
              <a:ext cx="3611880" cy="670953"/>
            </a:xfrm>
            <a:prstGeom prst="rect">
              <a:avLst/>
            </a:prstGeom>
            <a:noFill/>
          </p:spPr>
          <p:txBody>
            <a:bodyPr wrap="square">
              <a:spAutoFit/>
            </a:bodyPr>
            <a:lstStyle/>
            <a:p>
              <a:pPr marL="0" indent="0">
                <a:lnSpc>
                  <a:spcPct val="94000"/>
                </a:lnSpc>
                <a:buNone/>
              </a:pPr>
              <a:r>
                <a:rPr lang="en-US" sz="1000">
                  <a:solidFill>
                    <a:srgbClr val="1A1A1A"/>
                  </a:solidFill>
                  <a:latin typeface="Verdana" panose="020B0604030504040204" pitchFamily="34" charset="0"/>
                  <a:ea typeface="Verdana" panose="020B0604030504040204" pitchFamily="34" charset="0"/>
                  <a:cs typeface="Calibri" pitchFamily="34" charset="-120"/>
                </a:rPr>
                <a:t>Major general category States — high-subsidy/high-deficit 2) Fiscally prudent comparators 3) NE/Hill States for cost disabilities, and UTs with legislature for urban utility subsidy structures.</a:t>
              </a:r>
              <a:endParaRPr lang="en-US" sz="1000">
                <a:latin typeface="Verdana" panose="020B0604030504040204" pitchFamily="34" charset="0"/>
                <a:ea typeface="Verdana" panose="020B0604030504040204" pitchFamily="34" charset="0"/>
              </a:endParaRPr>
            </a:p>
          </p:txBody>
        </p:sp>
        <p:sp>
          <p:nvSpPr>
            <p:cNvPr id="80" name="Shape 12">
              <a:extLst>
                <a:ext uri="{FF2B5EF4-FFF2-40B4-BE49-F238E27FC236}">
                  <a16:creationId xmlns:a16="http://schemas.microsoft.com/office/drawing/2014/main" id="{7F3BB815-D78B-762A-37C5-A9413E737D79}"/>
                </a:ext>
              </a:extLst>
            </p:cNvPr>
            <p:cNvSpPr/>
            <p:nvPr/>
          </p:nvSpPr>
          <p:spPr>
            <a:xfrm>
              <a:off x="3743895" y="2299716"/>
              <a:ext cx="7552944" cy="365760"/>
            </a:xfrm>
            <a:prstGeom prst="rect">
              <a:avLst/>
            </a:prstGeom>
            <a:solidFill>
              <a:srgbClr val="1C7C7E"/>
            </a:solidFill>
            <a:ln w="12700">
              <a:solidFill>
                <a:srgbClr val="333333"/>
              </a:solidFill>
              <a:prstDash val="solid"/>
            </a:ln>
          </p:spPr>
          <p:txBody>
            <a:bodyPr/>
            <a:lstStyle/>
            <a:p>
              <a:endParaRPr lang="en-IN" sz="900">
                <a:latin typeface="Verdana" panose="020B0604030504040204" pitchFamily="34" charset="0"/>
                <a:ea typeface="Verdana" panose="020B0604030504040204" pitchFamily="34" charset="0"/>
              </a:endParaRPr>
            </a:p>
          </p:txBody>
        </p:sp>
        <p:sp>
          <p:nvSpPr>
            <p:cNvPr id="81" name="Text 13">
              <a:extLst>
                <a:ext uri="{FF2B5EF4-FFF2-40B4-BE49-F238E27FC236}">
                  <a16:creationId xmlns:a16="http://schemas.microsoft.com/office/drawing/2014/main" id="{7ECD76D9-E396-1A85-276C-F8F7BAE8FCB2}"/>
                </a:ext>
              </a:extLst>
            </p:cNvPr>
            <p:cNvSpPr/>
            <p:nvPr/>
          </p:nvSpPr>
          <p:spPr>
            <a:xfrm>
              <a:off x="3871911" y="2299716"/>
              <a:ext cx="7296912" cy="365760"/>
            </a:xfrm>
            <a:prstGeom prst="rect">
              <a:avLst/>
            </a:prstGeom>
            <a:noFill/>
            <a:ln/>
          </p:spPr>
          <p:txBody>
            <a:bodyPr wrap="square" lIns="0" tIns="0" rIns="0" bIns="0" rtlCol="0" anchor="ctr"/>
            <a:lstStyle/>
            <a:p>
              <a:pPr marL="0" indent="0" algn="ctr">
                <a:buNone/>
              </a:pPr>
              <a:r>
                <a:rPr lang="en-US" sz="1200" b="1">
                  <a:solidFill>
                    <a:srgbClr val="FFFFFF"/>
                  </a:solidFill>
                  <a:latin typeface="Verdana" panose="020B0604030504040204" pitchFamily="34" charset="0"/>
                  <a:ea typeface="Verdana" panose="020B0604030504040204" pitchFamily="34" charset="0"/>
                  <a:cs typeface="Calibri" pitchFamily="34" charset="-120"/>
                </a:rPr>
                <a:t>TIER 3 · DEEP-DIVE STATES AND THE PARAMETERS THAT SELECT THEM</a:t>
              </a:r>
              <a:endParaRPr lang="en-US" sz="1200">
                <a:latin typeface="Verdana" panose="020B0604030504040204" pitchFamily="34" charset="0"/>
                <a:ea typeface="Verdana" panose="020B0604030504040204" pitchFamily="34" charset="0"/>
              </a:endParaRPr>
            </a:p>
          </p:txBody>
        </p:sp>
        <p:sp>
          <p:nvSpPr>
            <p:cNvPr id="82" name="Shape 14">
              <a:extLst>
                <a:ext uri="{FF2B5EF4-FFF2-40B4-BE49-F238E27FC236}">
                  <a16:creationId xmlns:a16="http://schemas.microsoft.com/office/drawing/2014/main" id="{C170968E-DAA3-96CF-C908-2A3A226C16B1}"/>
                </a:ext>
              </a:extLst>
            </p:cNvPr>
            <p:cNvSpPr/>
            <p:nvPr/>
          </p:nvSpPr>
          <p:spPr>
            <a:xfrm>
              <a:off x="3743895" y="2711196"/>
              <a:ext cx="7552944" cy="952304"/>
            </a:xfrm>
            <a:prstGeom prst="roundRect">
              <a:avLst>
                <a:gd name="adj" fmla="val 3030"/>
              </a:avLst>
            </a:prstGeom>
            <a:solidFill>
              <a:srgbClr val="FAFAFA"/>
            </a:solidFill>
            <a:ln w="9525">
              <a:solidFill>
                <a:srgbClr val="D9D9D9"/>
              </a:solidFill>
              <a:prstDash val="solid"/>
            </a:ln>
          </p:spPr>
          <p:txBody>
            <a:bodyPr/>
            <a:lstStyle/>
            <a:p>
              <a:endParaRPr lang="en-IN" sz="900">
                <a:latin typeface="Verdana" panose="020B0604030504040204" pitchFamily="34" charset="0"/>
                <a:ea typeface="Verdana" panose="020B0604030504040204" pitchFamily="34" charset="0"/>
              </a:endParaRPr>
            </a:p>
          </p:txBody>
        </p:sp>
        <p:sp>
          <p:nvSpPr>
            <p:cNvPr id="83" name="Text 15">
              <a:extLst>
                <a:ext uri="{FF2B5EF4-FFF2-40B4-BE49-F238E27FC236}">
                  <a16:creationId xmlns:a16="http://schemas.microsoft.com/office/drawing/2014/main" id="{227634F5-23D4-2BAD-F5F9-1C4C452C5753}"/>
                </a:ext>
              </a:extLst>
            </p:cNvPr>
            <p:cNvSpPr/>
            <p:nvPr/>
          </p:nvSpPr>
          <p:spPr>
            <a:xfrm>
              <a:off x="3908487" y="2820924"/>
              <a:ext cx="7223760" cy="1005840"/>
            </a:xfrm>
            <a:prstGeom prst="rect">
              <a:avLst/>
            </a:prstGeom>
            <a:noFill/>
            <a:ln/>
          </p:spPr>
          <p:txBody>
            <a:bodyPr wrap="square" lIns="0" tIns="0" rIns="0" bIns="0" rtlCol="0" anchor="t"/>
            <a:lstStyle/>
            <a:p>
              <a:pPr marL="0" indent="0">
                <a:lnSpc>
                  <a:spcPts val="1350"/>
                </a:lnSpc>
                <a:buNone/>
              </a:pPr>
              <a:r>
                <a:rPr lang="en-US" sz="900" b="1">
                  <a:solidFill>
                    <a:srgbClr val="0A4A4E"/>
                  </a:solidFill>
                  <a:latin typeface="Verdana" panose="020B0604030504040204" pitchFamily="34" charset="0"/>
                  <a:ea typeface="Verdana" panose="020B0604030504040204" pitchFamily="34" charset="0"/>
                  <a:cs typeface="Calibri" pitchFamily="34" charset="-120"/>
                </a:rPr>
                <a:t>Reference set:  </a:t>
              </a:r>
              <a:r>
                <a:rPr lang="en-US" sz="900">
                  <a:solidFill>
                    <a:srgbClr val="333333"/>
                  </a:solidFill>
                  <a:latin typeface="Verdana" panose="020B0604030504040204" pitchFamily="34" charset="0"/>
                  <a:ea typeface="Verdana" panose="020B0604030504040204" pitchFamily="34" charset="0"/>
                  <a:cs typeface="Calibri" pitchFamily="34" charset="-120"/>
                </a:rPr>
                <a:t>Andhra Pradesh, Punjab, Rajasthan, West Bengal, Uttar Pradesh, Odisha and Nagaland — the seven States examined in the NITI Aayog-sponsored study, chosen because they span substantial variation in fiscal profile, subsidy dependence, regional characteristics and reliance on central transfers. The final shortlist will be confirmed against the eight parameters below and through consultation with NITI Aayog.</a:t>
              </a:r>
              <a:endParaRPr lang="en-US" sz="900">
                <a:latin typeface="Verdana" panose="020B0604030504040204" pitchFamily="34" charset="0"/>
                <a:ea typeface="Verdana" panose="020B0604030504040204" pitchFamily="34" charset="0"/>
              </a:endParaRPr>
            </a:p>
          </p:txBody>
        </p:sp>
        <p:sp>
          <p:nvSpPr>
            <p:cNvPr id="84" name="Shape 16">
              <a:extLst>
                <a:ext uri="{FF2B5EF4-FFF2-40B4-BE49-F238E27FC236}">
                  <a16:creationId xmlns:a16="http://schemas.microsoft.com/office/drawing/2014/main" id="{C7EB295A-F017-35E2-D69D-A0FF47602981}"/>
                </a:ext>
              </a:extLst>
            </p:cNvPr>
            <p:cNvSpPr/>
            <p:nvPr/>
          </p:nvSpPr>
          <p:spPr>
            <a:xfrm>
              <a:off x="3743895" y="3727506"/>
              <a:ext cx="1819656" cy="438912"/>
            </a:xfrm>
            <a:prstGeom prst="roundRect">
              <a:avLst>
                <a:gd name="adj" fmla="val 10417"/>
              </a:avLst>
            </a:prstGeom>
            <a:solidFill>
              <a:srgbClr val="FFFFFF"/>
            </a:solidFill>
            <a:ln w="9525">
              <a:solidFill>
                <a:srgbClr val="1C7C7E"/>
              </a:solidFill>
              <a:prstDash val="solid"/>
            </a:ln>
          </p:spPr>
          <p:txBody>
            <a:bodyPr/>
            <a:lstStyle/>
            <a:p>
              <a:endParaRPr lang="en-IN" sz="900">
                <a:latin typeface="Verdana" panose="020B0604030504040204" pitchFamily="34" charset="0"/>
                <a:ea typeface="Verdana" panose="020B0604030504040204" pitchFamily="34" charset="0"/>
              </a:endParaRPr>
            </a:p>
          </p:txBody>
        </p:sp>
        <p:sp>
          <p:nvSpPr>
            <p:cNvPr id="85" name="Text 17">
              <a:extLst>
                <a:ext uri="{FF2B5EF4-FFF2-40B4-BE49-F238E27FC236}">
                  <a16:creationId xmlns:a16="http://schemas.microsoft.com/office/drawing/2014/main" id="{4753ADF3-B813-87D5-1444-526CEF914E37}"/>
                </a:ext>
              </a:extLst>
            </p:cNvPr>
            <p:cNvSpPr/>
            <p:nvPr/>
          </p:nvSpPr>
          <p:spPr>
            <a:xfrm>
              <a:off x="3817047" y="3727506"/>
              <a:ext cx="1673352" cy="438912"/>
            </a:xfrm>
            <a:prstGeom prst="rect">
              <a:avLst/>
            </a:prstGeom>
            <a:noFill/>
            <a:ln/>
          </p:spPr>
          <p:txBody>
            <a:bodyPr wrap="square" lIns="0" tIns="0" rIns="0" bIns="0" rtlCol="0" anchor="ctr"/>
            <a:lstStyle/>
            <a:p>
              <a:pPr marL="0" indent="0" algn="ctr">
                <a:buNone/>
              </a:pPr>
              <a:r>
                <a:rPr lang="en-US" sz="900">
                  <a:solidFill>
                    <a:srgbClr val="0A4A4E"/>
                  </a:solidFill>
                  <a:latin typeface="Verdana" panose="020B0604030504040204" pitchFamily="34" charset="0"/>
                  <a:ea typeface="Verdana" panose="020B0604030504040204" pitchFamily="34" charset="0"/>
                  <a:cs typeface="Calibri" pitchFamily="34" charset="-120"/>
                </a:rPr>
                <a:t>Fiscal and revenue deficit as % of GSDP</a:t>
              </a:r>
              <a:endParaRPr lang="en-US" sz="900">
                <a:latin typeface="Verdana" panose="020B0604030504040204" pitchFamily="34" charset="0"/>
                <a:ea typeface="Verdana" panose="020B0604030504040204" pitchFamily="34" charset="0"/>
              </a:endParaRPr>
            </a:p>
          </p:txBody>
        </p:sp>
        <p:sp>
          <p:nvSpPr>
            <p:cNvPr id="86" name="Shape 18">
              <a:extLst>
                <a:ext uri="{FF2B5EF4-FFF2-40B4-BE49-F238E27FC236}">
                  <a16:creationId xmlns:a16="http://schemas.microsoft.com/office/drawing/2014/main" id="{2B5EAFCA-9049-CE90-5259-A0BDDC590021}"/>
                </a:ext>
              </a:extLst>
            </p:cNvPr>
            <p:cNvSpPr/>
            <p:nvPr/>
          </p:nvSpPr>
          <p:spPr>
            <a:xfrm>
              <a:off x="5654991" y="3727506"/>
              <a:ext cx="1819656" cy="438912"/>
            </a:xfrm>
            <a:prstGeom prst="roundRect">
              <a:avLst>
                <a:gd name="adj" fmla="val 10417"/>
              </a:avLst>
            </a:prstGeom>
            <a:solidFill>
              <a:srgbClr val="FFFFFF"/>
            </a:solidFill>
            <a:ln w="9525">
              <a:solidFill>
                <a:srgbClr val="1C7C7E"/>
              </a:solidFill>
              <a:prstDash val="solid"/>
            </a:ln>
          </p:spPr>
          <p:txBody>
            <a:bodyPr/>
            <a:lstStyle/>
            <a:p>
              <a:endParaRPr lang="en-IN" sz="900">
                <a:latin typeface="Verdana" panose="020B0604030504040204" pitchFamily="34" charset="0"/>
                <a:ea typeface="Verdana" panose="020B0604030504040204" pitchFamily="34" charset="0"/>
              </a:endParaRPr>
            </a:p>
          </p:txBody>
        </p:sp>
        <p:sp>
          <p:nvSpPr>
            <p:cNvPr id="87" name="Text 19">
              <a:extLst>
                <a:ext uri="{FF2B5EF4-FFF2-40B4-BE49-F238E27FC236}">
                  <a16:creationId xmlns:a16="http://schemas.microsoft.com/office/drawing/2014/main" id="{3E6F8FA3-59DE-5F4E-055C-DE1F599BCB7B}"/>
                </a:ext>
              </a:extLst>
            </p:cNvPr>
            <p:cNvSpPr/>
            <p:nvPr/>
          </p:nvSpPr>
          <p:spPr>
            <a:xfrm>
              <a:off x="5728143" y="3727506"/>
              <a:ext cx="1673352" cy="438912"/>
            </a:xfrm>
            <a:prstGeom prst="rect">
              <a:avLst/>
            </a:prstGeom>
            <a:noFill/>
            <a:ln/>
          </p:spPr>
          <p:txBody>
            <a:bodyPr wrap="square" lIns="0" tIns="0" rIns="0" bIns="0" rtlCol="0" anchor="ctr"/>
            <a:lstStyle/>
            <a:p>
              <a:pPr marL="0" indent="0" algn="ctr">
                <a:buNone/>
              </a:pPr>
              <a:r>
                <a:rPr lang="en-US" sz="900">
                  <a:solidFill>
                    <a:srgbClr val="0A4A4E"/>
                  </a:solidFill>
                  <a:latin typeface="Verdana" panose="020B0604030504040204" pitchFamily="34" charset="0"/>
                  <a:ea typeface="Verdana" panose="020B0604030504040204" pitchFamily="34" charset="0"/>
                  <a:cs typeface="Calibri" pitchFamily="34" charset="-120"/>
                </a:rPr>
                <a:t>Share of subsidies in total revenue expenditure</a:t>
              </a:r>
              <a:endParaRPr lang="en-US" sz="900">
                <a:latin typeface="Verdana" panose="020B0604030504040204" pitchFamily="34" charset="0"/>
                <a:ea typeface="Verdana" panose="020B0604030504040204" pitchFamily="34" charset="0"/>
              </a:endParaRPr>
            </a:p>
          </p:txBody>
        </p:sp>
        <p:sp>
          <p:nvSpPr>
            <p:cNvPr id="88" name="Shape 20">
              <a:extLst>
                <a:ext uri="{FF2B5EF4-FFF2-40B4-BE49-F238E27FC236}">
                  <a16:creationId xmlns:a16="http://schemas.microsoft.com/office/drawing/2014/main" id="{891600C0-29C6-20EB-3306-678A5856C56E}"/>
                </a:ext>
              </a:extLst>
            </p:cNvPr>
            <p:cNvSpPr/>
            <p:nvPr/>
          </p:nvSpPr>
          <p:spPr>
            <a:xfrm>
              <a:off x="7566087" y="3727506"/>
              <a:ext cx="1819656" cy="438912"/>
            </a:xfrm>
            <a:prstGeom prst="roundRect">
              <a:avLst>
                <a:gd name="adj" fmla="val 10417"/>
              </a:avLst>
            </a:prstGeom>
            <a:solidFill>
              <a:srgbClr val="FFFFFF"/>
            </a:solidFill>
            <a:ln w="9525">
              <a:solidFill>
                <a:srgbClr val="1C7C7E"/>
              </a:solidFill>
              <a:prstDash val="solid"/>
            </a:ln>
          </p:spPr>
          <p:txBody>
            <a:bodyPr/>
            <a:lstStyle/>
            <a:p>
              <a:endParaRPr lang="en-IN" sz="900">
                <a:latin typeface="Verdana" panose="020B0604030504040204" pitchFamily="34" charset="0"/>
                <a:ea typeface="Verdana" panose="020B0604030504040204" pitchFamily="34" charset="0"/>
              </a:endParaRPr>
            </a:p>
          </p:txBody>
        </p:sp>
        <p:sp>
          <p:nvSpPr>
            <p:cNvPr id="89" name="Text 21">
              <a:extLst>
                <a:ext uri="{FF2B5EF4-FFF2-40B4-BE49-F238E27FC236}">
                  <a16:creationId xmlns:a16="http://schemas.microsoft.com/office/drawing/2014/main" id="{79780C94-59EB-579D-9F3C-790E0A60EFE4}"/>
                </a:ext>
              </a:extLst>
            </p:cNvPr>
            <p:cNvSpPr/>
            <p:nvPr/>
          </p:nvSpPr>
          <p:spPr>
            <a:xfrm>
              <a:off x="7639239" y="3727506"/>
              <a:ext cx="1673352" cy="438912"/>
            </a:xfrm>
            <a:prstGeom prst="rect">
              <a:avLst/>
            </a:prstGeom>
            <a:noFill/>
            <a:ln/>
          </p:spPr>
          <p:txBody>
            <a:bodyPr wrap="square" lIns="0" tIns="0" rIns="0" bIns="0" rtlCol="0" anchor="ctr"/>
            <a:lstStyle/>
            <a:p>
              <a:pPr marL="0" indent="0" algn="ctr">
                <a:buNone/>
              </a:pPr>
              <a:r>
                <a:rPr lang="en-US" sz="900">
                  <a:solidFill>
                    <a:srgbClr val="0A4A4E"/>
                  </a:solidFill>
                  <a:latin typeface="Verdana" panose="020B0604030504040204" pitchFamily="34" charset="0"/>
                  <a:ea typeface="Verdana" panose="020B0604030504040204" pitchFamily="34" charset="0"/>
                  <a:cs typeface="Calibri" pitchFamily="34" charset="-120"/>
                </a:rPr>
                <a:t>Composition of subsidies</a:t>
              </a:r>
              <a:endParaRPr lang="en-US" sz="900">
                <a:latin typeface="Verdana" panose="020B0604030504040204" pitchFamily="34" charset="0"/>
                <a:ea typeface="Verdana" panose="020B0604030504040204" pitchFamily="34" charset="0"/>
              </a:endParaRPr>
            </a:p>
          </p:txBody>
        </p:sp>
        <p:sp>
          <p:nvSpPr>
            <p:cNvPr id="90" name="Shape 22">
              <a:extLst>
                <a:ext uri="{FF2B5EF4-FFF2-40B4-BE49-F238E27FC236}">
                  <a16:creationId xmlns:a16="http://schemas.microsoft.com/office/drawing/2014/main" id="{A335F015-C5F7-B678-6A5F-607E13B36C0E}"/>
                </a:ext>
              </a:extLst>
            </p:cNvPr>
            <p:cNvSpPr/>
            <p:nvPr/>
          </p:nvSpPr>
          <p:spPr>
            <a:xfrm>
              <a:off x="9477183" y="3727506"/>
              <a:ext cx="1819656" cy="438912"/>
            </a:xfrm>
            <a:prstGeom prst="roundRect">
              <a:avLst>
                <a:gd name="adj" fmla="val 10417"/>
              </a:avLst>
            </a:prstGeom>
            <a:solidFill>
              <a:srgbClr val="FFFFFF"/>
            </a:solidFill>
            <a:ln w="9525">
              <a:solidFill>
                <a:srgbClr val="1C7C7E"/>
              </a:solidFill>
              <a:prstDash val="solid"/>
            </a:ln>
          </p:spPr>
          <p:txBody>
            <a:bodyPr/>
            <a:lstStyle/>
            <a:p>
              <a:endParaRPr lang="en-IN" sz="900">
                <a:latin typeface="Verdana" panose="020B0604030504040204" pitchFamily="34" charset="0"/>
                <a:ea typeface="Verdana" panose="020B0604030504040204" pitchFamily="34" charset="0"/>
              </a:endParaRPr>
            </a:p>
          </p:txBody>
        </p:sp>
        <p:sp>
          <p:nvSpPr>
            <p:cNvPr id="91" name="Text 23">
              <a:extLst>
                <a:ext uri="{FF2B5EF4-FFF2-40B4-BE49-F238E27FC236}">
                  <a16:creationId xmlns:a16="http://schemas.microsoft.com/office/drawing/2014/main" id="{7B890885-A2EC-FFC8-02FF-151EDC4DBC2C}"/>
                </a:ext>
              </a:extLst>
            </p:cNvPr>
            <p:cNvSpPr/>
            <p:nvPr/>
          </p:nvSpPr>
          <p:spPr>
            <a:xfrm>
              <a:off x="9550335" y="3727506"/>
              <a:ext cx="1673352" cy="438912"/>
            </a:xfrm>
            <a:prstGeom prst="rect">
              <a:avLst/>
            </a:prstGeom>
            <a:noFill/>
            <a:ln/>
          </p:spPr>
          <p:txBody>
            <a:bodyPr wrap="square" lIns="0" tIns="0" rIns="0" bIns="0" rtlCol="0" anchor="ctr"/>
            <a:lstStyle/>
            <a:p>
              <a:pPr marL="0" indent="0" algn="ctr">
                <a:buNone/>
              </a:pPr>
              <a:r>
                <a:rPr lang="en-US" sz="900">
                  <a:solidFill>
                    <a:srgbClr val="0A4A4E"/>
                  </a:solidFill>
                  <a:latin typeface="Verdana" panose="020B0604030504040204" pitchFamily="34" charset="0"/>
                  <a:ea typeface="Verdana" panose="020B0604030504040204" pitchFamily="34" charset="0"/>
                  <a:cs typeface="Calibri" pitchFamily="34" charset="-120"/>
                </a:rPr>
                <a:t>Growth in subsidies over the last five years</a:t>
              </a:r>
              <a:endParaRPr lang="en-US" sz="900">
                <a:latin typeface="Verdana" panose="020B0604030504040204" pitchFamily="34" charset="0"/>
                <a:ea typeface="Verdana" panose="020B0604030504040204" pitchFamily="34" charset="0"/>
              </a:endParaRPr>
            </a:p>
          </p:txBody>
        </p:sp>
        <p:sp>
          <p:nvSpPr>
            <p:cNvPr id="92" name="Shape 24">
              <a:extLst>
                <a:ext uri="{FF2B5EF4-FFF2-40B4-BE49-F238E27FC236}">
                  <a16:creationId xmlns:a16="http://schemas.microsoft.com/office/drawing/2014/main" id="{4D99AE2D-4FBA-04B7-C5B4-B1333426B8E4}"/>
                </a:ext>
              </a:extLst>
            </p:cNvPr>
            <p:cNvSpPr/>
            <p:nvPr/>
          </p:nvSpPr>
          <p:spPr>
            <a:xfrm>
              <a:off x="3743895" y="4239570"/>
              <a:ext cx="1819656" cy="438912"/>
            </a:xfrm>
            <a:prstGeom prst="roundRect">
              <a:avLst>
                <a:gd name="adj" fmla="val 10417"/>
              </a:avLst>
            </a:prstGeom>
            <a:solidFill>
              <a:srgbClr val="FFFFFF"/>
            </a:solidFill>
            <a:ln w="9525">
              <a:solidFill>
                <a:srgbClr val="1C7C7E"/>
              </a:solidFill>
              <a:prstDash val="solid"/>
            </a:ln>
          </p:spPr>
          <p:txBody>
            <a:bodyPr/>
            <a:lstStyle/>
            <a:p>
              <a:endParaRPr lang="en-IN" sz="900">
                <a:latin typeface="Verdana" panose="020B0604030504040204" pitchFamily="34" charset="0"/>
                <a:ea typeface="Verdana" panose="020B0604030504040204" pitchFamily="34" charset="0"/>
              </a:endParaRPr>
            </a:p>
          </p:txBody>
        </p:sp>
        <p:sp>
          <p:nvSpPr>
            <p:cNvPr id="93" name="Text 25">
              <a:extLst>
                <a:ext uri="{FF2B5EF4-FFF2-40B4-BE49-F238E27FC236}">
                  <a16:creationId xmlns:a16="http://schemas.microsoft.com/office/drawing/2014/main" id="{01237E0E-CA94-E93D-81E5-A50FF620A6AA}"/>
                </a:ext>
              </a:extLst>
            </p:cNvPr>
            <p:cNvSpPr/>
            <p:nvPr/>
          </p:nvSpPr>
          <p:spPr>
            <a:xfrm>
              <a:off x="3817047" y="4239570"/>
              <a:ext cx="1673352" cy="438912"/>
            </a:xfrm>
            <a:prstGeom prst="rect">
              <a:avLst/>
            </a:prstGeom>
            <a:noFill/>
            <a:ln/>
          </p:spPr>
          <p:txBody>
            <a:bodyPr wrap="square" lIns="0" tIns="0" rIns="0" bIns="0" rtlCol="0" anchor="ctr"/>
            <a:lstStyle/>
            <a:p>
              <a:pPr marL="0" indent="0" algn="ctr">
                <a:buNone/>
              </a:pPr>
              <a:r>
                <a:rPr lang="en-US" sz="900">
                  <a:solidFill>
                    <a:srgbClr val="0A4A4E"/>
                  </a:solidFill>
                  <a:latin typeface="Verdana" panose="020B0604030504040204" pitchFamily="34" charset="0"/>
                  <a:ea typeface="Verdana" panose="020B0604030504040204" pitchFamily="34" charset="0"/>
                  <a:cs typeface="Calibri" pitchFamily="34" charset="-120"/>
                </a:rPr>
                <a:t>Committed expenditure as % of revenue receipts</a:t>
              </a:r>
              <a:endParaRPr lang="en-US" sz="900">
                <a:latin typeface="Verdana" panose="020B0604030504040204" pitchFamily="34" charset="0"/>
                <a:ea typeface="Verdana" panose="020B0604030504040204" pitchFamily="34" charset="0"/>
              </a:endParaRPr>
            </a:p>
          </p:txBody>
        </p:sp>
        <p:sp>
          <p:nvSpPr>
            <p:cNvPr id="94" name="Shape 26">
              <a:extLst>
                <a:ext uri="{FF2B5EF4-FFF2-40B4-BE49-F238E27FC236}">
                  <a16:creationId xmlns:a16="http://schemas.microsoft.com/office/drawing/2014/main" id="{D8B98AA9-C7C4-3E50-7A3E-7236D9F1410A}"/>
                </a:ext>
              </a:extLst>
            </p:cNvPr>
            <p:cNvSpPr/>
            <p:nvPr/>
          </p:nvSpPr>
          <p:spPr>
            <a:xfrm>
              <a:off x="5654991" y="4239570"/>
              <a:ext cx="1819656" cy="438912"/>
            </a:xfrm>
            <a:prstGeom prst="roundRect">
              <a:avLst>
                <a:gd name="adj" fmla="val 10417"/>
              </a:avLst>
            </a:prstGeom>
            <a:solidFill>
              <a:srgbClr val="FFFFFF"/>
            </a:solidFill>
            <a:ln w="9525">
              <a:solidFill>
                <a:srgbClr val="1C7C7E"/>
              </a:solidFill>
              <a:prstDash val="solid"/>
            </a:ln>
          </p:spPr>
          <p:txBody>
            <a:bodyPr/>
            <a:lstStyle/>
            <a:p>
              <a:endParaRPr lang="en-IN" sz="900">
                <a:latin typeface="Verdana" panose="020B0604030504040204" pitchFamily="34" charset="0"/>
                <a:ea typeface="Verdana" panose="020B0604030504040204" pitchFamily="34" charset="0"/>
              </a:endParaRPr>
            </a:p>
          </p:txBody>
        </p:sp>
        <p:sp>
          <p:nvSpPr>
            <p:cNvPr id="95" name="Text 27">
              <a:extLst>
                <a:ext uri="{FF2B5EF4-FFF2-40B4-BE49-F238E27FC236}">
                  <a16:creationId xmlns:a16="http://schemas.microsoft.com/office/drawing/2014/main" id="{6387C986-0FB3-84B9-787C-9BA941E70FAB}"/>
                </a:ext>
              </a:extLst>
            </p:cNvPr>
            <p:cNvSpPr/>
            <p:nvPr/>
          </p:nvSpPr>
          <p:spPr>
            <a:xfrm>
              <a:off x="5728143" y="4239570"/>
              <a:ext cx="1673352" cy="438912"/>
            </a:xfrm>
            <a:prstGeom prst="rect">
              <a:avLst/>
            </a:prstGeom>
            <a:noFill/>
            <a:ln/>
          </p:spPr>
          <p:txBody>
            <a:bodyPr wrap="square" lIns="0" tIns="0" rIns="0" bIns="0" rtlCol="0" anchor="ctr"/>
            <a:lstStyle/>
            <a:p>
              <a:pPr marL="0" indent="0" algn="ctr">
                <a:buNone/>
              </a:pPr>
              <a:r>
                <a:rPr lang="en-US" sz="900">
                  <a:solidFill>
                    <a:srgbClr val="0A4A4E"/>
                  </a:solidFill>
                  <a:latin typeface="Verdana" panose="020B0604030504040204" pitchFamily="34" charset="0"/>
                  <a:ea typeface="Verdana" panose="020B0604030504040204" pitchFamily="34" charset="0"/>
                  <a:cs typeface="Calibri" pitchFamily="34" charset="-120"/>
                </a:rPr>
                <a:t>Revenue and capital expenditure as % of GSDP</a:t>
              </a:r>
              <a:endParaRPr lang="en-US" sz="900">
                <a:latin typeface="Verdana" panose="020B0604030504040204" pitchFamily="34" charset="0"/>
                <a:ea typeface="Verdana" panose="020B0604030504040204" pitchFamily="34" charset="0"/>
              </a:endParaRPr>
            </a:p>
          </p:txBody>
        </p:sp>
        <p:sp>
          <p:nvSpPr>
            <p:cNvPr id="96" name="Shape 28">
              <a:extLst>
                <a:ext uri="{FF2B5EF4-FFF2-40B4-BE49-F238E27FC236}">
                  <a16:creationId xmlns:a16="http://schemas.microsoft.com/office/drawing/2014/main" id="{CAEDBF9D-8DBD-A34D-7973-2F999D346860}"/>
                </a:ext>
              </a:extLst>
            </p:cNvPr>
            <p:cNvSpPr/>
            <p:nvPr/>
          </p:nvSpPr>
          <p:spPr>
            <a:xfrm>
              <a:off x="7566087" y="4239570"/>
              <a:ext cx="1819656" cy="438912"/>
            </a:xfrm>
            <a:prstGeom prst="roundRect">
              <a:avLst>
                <a:gd name="adj" fmla="val 10417"/>
              </a:avLst>
            </a:prstGeom>
            <a:solidFill>
              <a:srgbClr val="FFFFFF"/>
            </a:solidFill>
            <a:ln w="9525">
              <a:solidFill>
                <a:srgbClr val="1C7C7E"/>
              </a:solidFill>
              <a:prstDash val="solid"/>
            </a:ln>
          </p:spPr>
          <p:txBody>
            <a:bodyPr/>
            <a:lstStyle/>
            <a:p>
              <a:endParaRPr lang="en-IN" sz="900">
                <a:latin typeface="Verdana" panose="020B0604030504040204" pitchFamily="34" charset="0"/>
                <a:ea typeface="Verdana" panose="020B0604030504040204" pitchFamily="34" charset="0"/>
              </a:endParaRPr>
            </a:p>
          </p:txBody>
        </p:sp>
        <p:sp>
          <p:nvSpPr>
            <p:cNvPr id="97" name="Text 29">
              <a:extLst>
                <a:ext uri="{FF2B5EF4-FFF2-40B4-BE49-F238E27FC236}">
                  <a16:creationId xmlns:a16="http://schemas.microsoft.com/office/drawing/2014/main" id="{ECAC7539-74A1-8563-001E-A2754AD4DCB5}"/>
                </a:ext>
              </a:extLst>
            </p:cNvPr>
            <p:cNvSpPr/>
            <p:nvPr/>
          </p:nvSpPr>
          <p:spPr>
            <a:xfrm>
              <a:off x="7639239" y="4239570"/>
              <a:ext cx="1673352" cy="438912"/>
            </a:xfrm>
            <a:prstGeom prst="rect">
              <a:avLst/>
            </a:prstGeom>
            <a:noFill/>
            <a:ln/>
          </p:spPr>
          <p:txBody>
            <a:bodyPr wrap="square" lIns="0" tIns="0" rIns="0" bIns="0" rtlCol="0" anchor="ctr"/>
            <a:lstStyle/>
            <a:p>
              <a:pPr marL="0" indent="0" algn="ctr">
                <a:buNone/>
              </a:pPr>
              <a:r>
                <a:rPr lang="en-US" sz="900">
                  <a:solidFill>
                    <a:srgbClr val="0A4A4E"/>
                  </a:solidFill>
                  <a:latin typeface="Verdana" panose="020B0604030504040204" pitchFamily="34" charset="0"/>
                  <a:ea typeface="Verdana" panose="020B0604030504040204" pitchFamily="34" charset="0"/>
                  <a:cs typeface="Calibri" pitchFamily="34" charset="-120"/>
                </a:rPr>
                <a:t>Debt to GSDP ratio</a:t>
              </a:r>
              <a:endParaRPr lang="en-US" sz="900">
                <a:latin typeface="Verdana" panose="020B0604030504040204" pitchFamily="34" charset="0"/>
                <a:ea typeface="Verdana" panose="020B0604030504040204" pitchFamily="34" charset="0"/>
              </a:endParaRPr>
            </a:p>
          </p:txBody>
        </p:sp>
        <p:sp>
          <p:nvSpPr>
            <p:cNvPr id="98" name="Shape 30">
              <a:extLst>
                <a:ext uri="{FF2B5EF4-FFF2-40B4-BE49-F238E27FC236}">
                  <a16:creationId xmlns:a16="http://schemas.microsoft.com/office/drawing/2014/main" id="{7929F302-6ABD-0184-1BA0-1A4FE557B2D4}"/>
                </a:ext>
              </a:extLst>
            </p:cNvPr>
            <p:cNvSpPr/>
            <p:nvPr/>
          </p:nvSpPr>
          <p:spPr>
            <a:xfrm>
              <a:off x="9477183" y="4239570"/>
              <a:ext cx="1819656" cy="438912"/>
            </a:xfrm>
            <a:prstGeom prst="roundRect">
              <a:avLst>
                <a:gd name="adj" fmla="val 10417"/>
              </a:avLst>
            </a:prstGeom>
            <a:solidFill>
              <a:srgbClr val="FFFFFF"/>
            </a:solidFill>
            <a:ln w="9525">
              <a:solidFill>
                <a:srgbClr val="1C7C7E"/>
              </a:solidFill>
              <a:prstDash val="solid"/>
            </a:ln>
          </p:spPr>
          <p:txBody>
            <a:bodyPr/>
            <a:lstStyle/>
            <a:p>
              <a:endParaRPr lang="en-IN" sz="900">
                <a:latin typeface="Verdana" panose="020B0604030504040204" pitchFamily="34" charset="0"/>
                <a:ea typeface="Verdana" panose="020B0604030504040204" pitchFamily="34" charset="0"/>
              </a:endParaRPr>
            </a:p>
          </p:txBody>
        </p:sp>
        <p:sp>
          <p:nvSpPr>
            <p:cNvPr id="99" name="Text 31">
              <a:extLst>
                <a:ext uri="{FF2B5EF4-FFF2-40B4-BE49-F238E27FC236}">
                  <a16:creationId xmlns:a16="http://schemas.microsoft.com/office/drawing/2014/main" id="{485445BD-48DA-9E95-EB08-7CBA8AC18671}"/>
                </a:ext>
              </a:extLst>
            </p:cNvPr>
            <p:cNvSpPr/>
            <p:nvPr/>
          </p:nvSpPr>
          <p:spPr>
            <a:xfrm>
              <a:off x="9550335" y="4239570"/>
              <a:ext cx="1673352" cy="438912"/>
            </a:xfrm>
            <a:prstGeom prst="rect">
              <a:avLst/>
            </a:prstGeom>
            <a:noFill/>
            <a:ln/>
          </p:spPr>
          <p:txBody>
            <a:bodyPr wrap="square" lIns="0" tIns="0" rIns="0" bIns="0" rtlCol="0" anchor="ctr"/>
            <a:lstStyle/>
            <a:p>
              <a:pPr marL="0" indent="0" algn="ctr">
                <a:buNone/>
              </a:pPr>
              <a:r>
                <a:rPr lang="en-US" sz="900">
                  <a:solidFill>
                    <a:srgbClr val="0A4A4E"/>
                  </a:solidFill>
                  <a:latin typeface="Verdana" panose="020B0604030504040204" pitchFamily="34" charset="0"/>
                  <a:ea typeface="Verdana" panose="020B0604030504040204" pitchFamily="34" charset="0"/>
                  <a:cs typeface="Calibri" pitchFamily="34" charset="-120"/>
                </a:rPr>
                <a:t>Interest payment to revenue receipts ratio</a:t>
              </a:r>
              <a:endParaRPr lang="en-US" sz="900">
                <a:latin typeface="Verdana" panose="020B0604030504040204" pitchFamily="34" charset="0"/>
                <a:ea typeface="Verdana" panose="020B0604030504040204" pitchFamily="34" charset="0"/>
              </a:endParaRPr>
            </a:p>
          </p:txBody>
        </p:sp>
      </p:grpSp>
      <p:sp>
        <p:nvSpPr>
          <p:cNvPr id="110" name="Isosceles Triangle 109">
            <a:extLst>
              <a:ext uri="{FF2B5EF4-FFF2-40B4-BE49-F238E27FC236}">
                <a16:creationId xmlns:a16="http://schemas.microsoft.com/office/drawing/2014/main" id="{1729463F-E2FB-6ED0-DCAA-8613CF877A3F}"/>
              </a:ext>
            </a:extLst>
          </p:cNvPr>
          <p:cNvSpPr/>
          <p:nvPr/>
        </p:nvSpPr>
        <p:spPr>
          <a:xfrm flipV="1">
            <a:off x="5575987" y="5997210"/>
            <a:ext cx="4775460" cy="190531"/>
          </a:xfrm>
          <a:prstGeom prst="triangle">
            <a:avLst>
              <a:gd name="adj" fmla="val 50000"/>
            </a:avLst>
          </a:prstGeom>
          <a:gradFill flip="none" rotWithShape="1">
            <a:gsLst>
              <a:gs pos="0">
                <a:schemeClr val="bg1"/>
              </a:gs>
              <a:gs pos="31000">
                <a:schemeClr val="bg1">
                  <a:lumMod val="95000"/>
                </a:schemeClr>
              </a:gs>
              <a:gs pos="64000">
                <a:schemeClr val="bg1">
                  <a:lumMod val="85000"/>
                </a:schemeClr>
              </a:gs>
              <a:gs pos="98000">
                <a:schemeClr val="bg1">
                  <a:lumMod val="7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grpSp>
        <p:nvGrpSpPr>
          <p:cNvPr id="111" name="Group 110">
            <a:extLst>
              <a:ext uri="{FF2B5EF4-FFF2-40B4-BE49-F238E27FC236}">
                <a16:creationId xmlns:a16="http://schemas.microsoft.com/office/drawing/2014/main" id="{82E17EB6-E277-FB5D-DD40-082381D63687}"/>
              </a:ext>
            </a:extLst>
          </p:cNvPr>
          <p:cNvGrpSpPr/>
          <p:nvPr/>
        </p:nvGrpSpPr>
        <p:grpSpPr>
          <a:xfrm>
            <a:off x="3561654" y="6250160"/>
            <a:ext cx="2534346" cy="311536"/>
            <a:chOff x="4224528" y="2688336"/>
            <a:chExt cx="1819656" cy="438912"/>
          </a:xfrm>
        </p:grpSpPr>
        <p:sp>
          <p:nvSpPr>
            <p:cNvPr id="112" name="Shape 16">
              <a:extLst>
                <a:ext uri="{FF2B5EF4-FFF2-40B4-BE49-F238E27FC236}">
                  <a16:creationId xmlns:a16="http://schemas.microsoft.com/office/drawing/2014/main" id="{E08A368C-9B95-1979-ADED-197FC1E77180}"/>
                </a:ext>
              </a:extLst>
            </p:cNvPr>
            <p:cNvSpPr/>
            <p:nvPr/>
          </p:nvSpPr>
          <p:spPr>
            <a:xfrm>
              <a:off x="4224528" y="2688336"/>
              <a:ext cx="1819656" cy="438912"/>
            </a:xfrm>
            <a:prstGeom prst="roundRect">
              <a:avLst>
                <a:gd name="adj" fmla="val 10417"/>
              </a:avLst>
            </a:prstGeom>
            <a:noFill/>
            <a:ln w="9525">
              <a:solidFill>
                <a:srgbClr val="C00000"/>
              </a:solidFill>
              <a:prstDash val="solid"/>
            </a:ln>
          </p:spPr>
          <p:txBody>
            <a:bodyPr/>
            <a:lstStyle/>
            <a:p>
              <a:endParaRPr lang="en-IN" sz="1050">
                <a:latin typeface="Verdana" panose="020B0604030504040204" pitchFamily="34" charset="0"/>
                <a:ea typeface="Verdana" panose="020B0604030504040204" pitchFamily="34" charset="0"/>
              </a:endParaRPr>
            </a:p>
          </p:txBody>
        </p:sp>
        <p:sp>
          <p:nvSpPr>
            <p:cNvPr id="113" name="Text 17">
              <a:extLst>
                <a:ext uri="{FF2B5EF4-FFF2-40B4-BE49-F238E27FC236}">
                  <a16:creationId xmlns:a16="http://schemas.microsoft.com/office/drawing/2014/main" id="{9AB7685D-F91F-AAEF-A07D-421B8C0F0984}"/>
                </a:ext>
              </a:extLst>
            </p:cNvPr>
            <p:cNvSpPr/>
            <p:nvPr/>
          </p:nvSpPr>
          <p:spPr>
            <a:xfrm>
              <a:off x="4297680" y="2688336"/>
              <a:ext cx="1673352" cy="438912"/>
            </a:xfrm>
            <a:prstGeom prst="rect">
              <a:avLst/>
            </a:prstGeom>
            <a:noFill/>
            <a:ln/>
          </p:spPr>
          <p:txBody>
            <a:bodyPr wrap="square" lIns="0" tIns="0" rIns="0" bIns="0" rtlCol="0" anchor="ctr"/>
            <a:lstStyle/>
            <a:p>
              <a:pPr marL="0" indent="0" algn="ctr">
                <a:buNone/>
              </a:pPr>
              <a:r>
                <a:rPr lang="en-US" sz="1050">
                  <a:solidFill>
                    <a:srgbClr val="DA291C"/>
                  </a:solidFill>
                  <a:latin typeface="Verdana" panose="020B0604030504040204" pitchFamily="34" charset="0"/>
                  <a:ea typeface="Verdana" panose="020B0604030504040204" pitchFamily="34" charset="0"/>
                  <a:cs typeface="Calibri" pitchFamily="34" charset="-120"/>
                </a:rPr>
                <a:t>High Risk</a:t>
              </a:r>
              <a:endParaRPr lang="en-US" sz="1050">
                <a:solidFill>
                  <a:srgbClr val="DA291C"/>
                </a:solidFill>
                <a:latin typeface="Verdana" panose="020B0604030504040204" pitchFamily="34" charset="0"/>
                <a:ea typeface="Verdana" panose="020B0604030504040204" pitchFamily="34" charset="0"/>
              </a:endParaRPr>
            </a:p>
          </p:txBody>
        </p:sp>
      </p:grpSp>
      <p:grpSp>
        <p:nvGrpSpPr>
          <p:cNvPr id="144" name="Group 143">
            <a:extLst>
              <a:ext uri="{FF2B5EF4-FFF2-40B4-BE49-F238E27FC236}">
                <a16:creationId xmlns:a16="http://schemas.microsoft.com/office/drawing/2014/main" id="{AF77DC40-6E55-64F8-33B6-B03B52AAD8E2}"/>
              </a:ext>
            </a:extLst>
          </p:cNvPr>
          <p:cNvGrpSpPr/>
          <p:nvPr/>
        </p:nvGrpSpPr>
        <p:grpSpPr>
          <a:xfrm>
            <a:off x="6286460" y="6254832"/>
            <a:ext cx="2330579" cy="293368"/>
            <a:chOff x="4224528" y="2688336"/>
            <a:chExt cx="1819656" cy="438912"/>
          </a:xfrm>
        </p:grpSpPr>
        <p:sp>
          <p:nvSpPr>
            <p:cNvPr id="145" name="Shape 16">
              <a:extLst>
                <a:ext uri="{FF2B5EF4-FFF2-40B4-BE49-F238E27FC236}">
                  <a16:creationId xmlns:a16="http://schemas.microsoft.com/office/drawing/2014/main" id="{5E834F16-2296-01A2-FB9A-39E8AADC9E6D}"/>
                </a:ext>
              </a:extLst>
            </p:cNvPr>
            <p:cNvSpPr/>
            <p:nvPr/>
          </p:nvSpPr>
          <p:spPr>
            <a:xfrm>
              <a:off x="4224528" y="2688336"/>
              <a:ext cx="1819656" cy="438912"/>
            </a:xfrm>
            <a:prstGeom prst="roundRect">
              <a:avLst>
                <a:gd name="adj" fmla="val 10417"/>
              </a:avLst>
            </a:prstGeom>
            <a:solidFill>
              <a:srgbClr val="FFFFFF"/>
            </a:solidFill>
            <a:ln w="9525">
              <a:solidFill>
                <a:srgbClr val="43B02A"/>
              </a:solidFill>
              <a:prstDash val="solid"/>
            </a:ln>
          </p:spPr>
          <p:txBody>
            <a:bodyPr/>
            <a:lstStyle/>
            <a:p>
              <a:endParaRPr lang="en-IN" sz="1050">
                <a:latin typeface="Verdana" panose="020B0604030504040204" pitchFamily="34" charset="0"/>
                <a:ea typeface="Verdana" panose="020B0604030504040204" pitchFamily="34" charset="0"/>
              </a:endParaRPr>
            </a:p>
          </p:txBody>
        </p:sp>
        <p:sp>
          <p:nvSpPr>
            <p:cNvPr id="146" name="Text 17">
              <a:extLst>
                <a:ext uri="{FF2B5EF4-FFF2-40B4-BE49-F238E27FC236}">
                  <a16:creationId xmlns:a16="http://schemas.microsoft.com/office/drawing/2014/main" id="{F0AF4CF5-355B-146D-EB84-4B3214C3A6F3}"/>
                </a:ext>
              </a:extLst>
            </p:cNvPr>
            <p:cNvSpPr/>
            <p:nvPr/>
          </p:nvSpPr>
          <p:spPr>
            <a:xfrm>
              <a:off x="4316794" y="2688337"/>
              <a:ext cx="1673353" cy="438911"/>
            </a:xfrm>
            <a:prstGeom prst="rect">
              <a:avLst/>
            </a:prstGeom>
            <a:noFill/>
            <a:ln/>
          </p:spPr>
          <p:txBody>
            <a:bodyPr wrap="square" lIns="0" tIns="0" rIns="0" bIns="0" rtlCol="0" anchor="ctr"/>
            <a:lstStyle/>
            <a:p>
              <a:pPr marL="0" indent="0" algn="ctr">
                <a:buNone/>
              </a:pPr>
              <a:r>
                <a:rPr lang="en-US" sz="1050">
                  <a:solidFill>
                    <a:srgbClr val="43B02A"/>
                  </a:solidFill>
                  <a:latin typeface="Verdana" panose="020B0604030504040204" pitchFamily="34" charset="0"/>
                  <a:ea typeface="Verdana" panose="020B0604030504040204" pitchFamily="34" charset="0"/>
                  <a:cs typeface="Calibri" pitchFamily="34" charset="-120"/>
                </a:rPr>
                <a:t>Moderate Risk</a:t>
              </a:r>
              <a:endParaRPr lang="en-US" sz="1050">
                <a:solidFill>
                  <a:srgbClr val="43B02A"/>
                </a:solidFill>
                <a:latin typeface="Verdana" panose="020B0604030504040204" pitchFamily="34" charset="0"/>
                <a:ea typeface="Verdana" panose="020B0604030504040204" pitchFamily="34" charset="0"/>
              </a:endParaRPr>
            </a:p>
          </p:txBody>
        </p:sp>
      </p:grpSp>
      <p:grpSp>
        <p:nvGrpSpPr>
          <p:cNvPr id="147" name="Group 146">
            <a:extLst>
              <a:ext uri="{FF2B5EF4-FFF2-40B4-BE49-F238E27FC236}">
                <a16:creationId xmlns:a16="http://schemas.microsoft.com/office/drawing/2014/main" id="{B534B3C4-9A66-E1E7-C8CC-3695E1F76CBB}"/>
              </a:ext>
            </a:extLst>
          </p:cNvPr>
          <p:cNvGrpSpPr/>
          <p:nvPr/>
        </p:nvGrpSpPr>
        <p:grpSpPr>
          <a:xfrm>
            <a:off x="8752493" y="6221767"/>
            <a:ext cx="2921475" cy="360462"/>
            <a:chOff x="4788596" y="698060"/>
            <a:chExt cx="4122296" cy="418787"/>
          </a:xfrm>
        </p:grpSpPr>
        <p:sp>
          <p:nvSpPr>
            <p:cNvPr id="148" name="Shape 16">
              <a:extLst>
                <a:ext uri="{FF2B5EF4-FFF2-40B4-BE49-F238E27FC236}">
                  <a16:creationId xmlns:a16="http://schemas.microsoft.com/office/drawing/2014/main" id="{9F90F4AB-7897-0D0E-3FFC-A1725DA55DFF}"/>
                </a:ext>
              </a:extLst>
            </p:cNvPr>
            <p:cNvSpPr/>
            <p:nvPr/>
          </p:nvSpPr>
          <p:spPr>
            <a:xfrm>
              <a:off x="4788596" y="698060"/>
              <a:ext cx="4122296" cy="379255"/>
            </a:xfrm>
            <a:prstGeom prst="roundRect">
              <a:avLst>
                <a:gd name="adj" fmla="val 10417"/>
              </a:avLst>
            </a:prstGeom>
            <a:solidFill>
              <a:srgbClr val="FFFFFF"/>
            </a:solidFill>
            <a:ln w="9525">
              <a:solidFill>
                <a:srgbClr val="1C7C7E"/>
              </a:solidFill>
              <a:prstDash val="solid"/>
            </a:ln>
          </p:spPr>
          <p:txBody>
            <a:bodyPr/>
            <a:lstStyle/>
            <a:p>
              <a:endParaRPr lang="en-IN" sz="1050">
                <a:latin typeface="Verdana" panose="020B0604030504040204" pitchFamily="34" charset="0"/>
                <a:ea typeface="Verdana" panose="020B0604030504040204" pitchFamily="34" charset="0"/>
              </a:endParaRPr>
            </a:p>
          </p:txBody>
        </p:sp>
        <p:sp>
          <p:nvSpPr>
            <p:cNvPr id="149" name="Text 17">
              <a:extLst>
                <a:ext uri="{FF2B5EF4-FFF2-40B4-BE49-F238E27FC236}">
                  <a16:creationId xmlns:a16="http://schemas.microsoft.com/office/drawing/2014/main" id="{56BAECDF-F851-CEF7-8F7C-FDE56EA88E44}"/>
                </a:ext>
              </a:extLst>
            </p:cNvPr>
            <p:cNvSpPr/>
            <p:nvPr/>
          </p:nvSpPr>
          <p:spPr>
            <a:xfrm>
              <a:off x="6143302" y="731046"/>
              <a:ext cx="1702260" cy="385801"/>
            </a:xfrm>
            <a:prstGeom prst="rect">
              <a:avLst/>
            </a:prstGeom>
            <a:noFill/>
            <a:ln/>
          </p:spPr>
          <p:txBody>
            <a:bodyPr wrap="square" lIns="0" tIns="0" rIns="0" bIns="0" rtlCol="0" anchor="ctr"/>
            <a:lstStyle/>
            <a:p>
              <a:pPr marL="0" indent="0" algn="ctr">
                <a:buNone/>
              </a:pPr>
              <a:r>
                <a:rPr lang="en-US" sz="1050">
                  <a:solidFill>
                    <a:srgbClr val="0A4A4E"/>
                  </a:solidFill>
                  <a:latin typeface="Verdana" panose="020B0604030504040204" pitchFamily="34" charset="0"/>
                  <a:ea typeface="Verdana" panose="020B0604030504040204" pitchFamily="34" charset="0"/>
                  <a:cs typeface="Calibri" pitchFamily="34" charset="-120"/>
                </a:rPr>
                <a:t>Low Risk</a:t>
              </a:r>
              <a:endParaRPr lang="en-US" sz="1050">
                <a:latin typeface="Verdana" panose="020B0604030504040204" pitchFamily="34" charset="0"/>
                <a:ea typeface="Verdana" panose="020B0604030504040204" pitchFamily="34" charset="0"/>
              </a:endParaRPr>
            </a:p>
          </p:txBody>
        </p:sp>
      </p:grpSp>
    </p:spTree>
    <p:extLst>
      <p:ext uri="{BB962C8B-B14F-4D97-AF65-F5344CB8AC3E}">
        <p14:creationId xmlns:p14="http://schemas.microsoft.com/office/powerpoint/2010/main" val="10046841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9EC92-AC9B-3341-829B-C942F9F1501C}"/>
            </a:ext>
          </a:extLst>
        </p:cNvPr>
        <p:cNvGrpSpPr/>
        <p:nvPr/>
      </p:nvGrpSpPr>
      <p:grpSpPr>
        <a:xfrm>
          <a:off x="0" y="0"/>
          <a:ext cx="0" cy="0"/>
          <a:chOff x="0" y="0"/>
          <a:chExt cx="0" cy="0"/>
        </a:xfrm>
      </p:grpSpPr>
      <p:cxnSp>
        <p:nvCxnSpPr>
          <p:cNvPr id="6" name="Straight Arrow Connector 5">
            <a:extLst>
              <a:ext uri="{FF2B5EF4-FFF2-40B4-BE49-F238E27FC236}">
                <a16:creationId xmlns:a16="http://schemas.microsoft.com/office/drawing/2014/main" id="{2ABE800F-04E9-EFFC-8EB0-80915F2DACBF}"/>
              </a:ext>
            </a:extLst>
          </p:cNvPr>
          <p:cNvCxnSpPr/>
          <p:nvPr/>
        </p:nvCxnSpPr>
        <p:spPr>
          <a:xfrm flipV="1">
            <a:off x="408972" y="778102"/>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27CAC09F-5D24-32D1-A52E-CBC1559BD697}"/>
              </a:ext>
            </a:extLst>
          </p:cNvPr>
          <p:cNvSpPr/>
          <p:nvPr/>
        </p:nvSpPr>
        <p:spPr bwMode="gray">
          <a:xfrm>
            <a:off x="380920" y="66871"/>
            <a:ext cx="11811080" cy="370522"/>
          </a:xfrm>
          <a:prstGeom prst="rect">
            <a:avLst/>
          </a:prstGeom>
          <a:noFill/>
          <a:ln w="19050" algn="ctr">
            <a:noFill/>
            <a:miter lim="800000"/>
            <a:headEnd/>
            <a:tailEnd/>
          </a:ln>
        </p:spPr>
        <p:txBody>
          <a:bodyPr wrap="square" lIns="88900" tIns="88900" rIns="88900" bIns="88900" rtlCol="0" anchor="ctr"/>
          <a:lstStyle/>
          <a:p>
            <a:r>
              <a:rPr lang="en-US" b="1">
                <a:latin typeface="+mj-lt"/>
              </a:rPr>
              <a:t>Phase -II: Assess &amp; Design Four </a:t>
            </a:r>
            <a:r>
              <a:rPr lang="en-US" b="1" err="1">
                <a:latin typeface="+mj-lt"/>
              </a:rPr>
              <a:t>Dimesion</a:t>
            </a:r>
            <a:r>
              <a:rPr lang="en-US" b="1">
                <a:latin typeface="+mj-lt"/>
              </a:rPr>
              <a:t> Evaluation Matrix</a:t>
            </a:r>
            <a:endParaRPr lang="en-US" sz="1800" b="1">
              <a:latin typeface="+mj-lt"/>
            </a:endParaRPr>
          </a:p>
        </p:txBody>
      </p:sp>
      <p:sp>
        <p:nvSpPr>
          <p:cNvPr id="12" name="Text Placeholder 1">
            <a:extLst>
              <a:ext uri="{FF2B5EF4-FFF2-40B4-BE49-F238E27FC236}">
                <a16:creationId xmlns:a16="http://schemas.microsoft.com/office/drawing/2014/main" id="{BB7A342A-794A-7136-2A42-2A661619981B}"/>
              </a:ext>
            </a:extLst>
          </p:cNvPr>
          <p:cNvSpPr txBox="1">
            <a:spLocks/>
          </p:cNvSpPr>
          <p:nvPr/>
        </p:nvSpPr>
        <p:spPr>
          <a:xfrm>
            <a:off x="439221" y="480431"/>
            <a:ext cx="11365992" cy="757255"/>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600" b="0" kern="1200">
                <a:solidFill>
                  <a:srgbClr val="575757"/>
                </a:solidFill>
                <a:latin typeface="Calibri" panose="020F0502020204030204" pitchFamily="34" charset="0"/>
                <a:ea typeface="+mn-ea"/>
                <a:cs typeface="Calibri" panose="020F0502020204030204" pitchFamily="34" charset="0"/>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1400">
                <a:latin typeface="+mj-lt"/>
              </a:rPr>
              <a:t>Measuring what the budget books do not show — four steps from published statement to defensible estimate</a:t>
            </a:r>
          </a:p>
        </p:txBody>
      </p:sp>
      <p:sp>
        <p:nvSpPr>
          <p:cNvPr id="16" name="Shape 4">
            <a:extLst>
              <a:ext uri="{FF2B5EF4-FFF2-40B4-BE49-F238E27FC236}">
                <a16:creationId xmlns:a16="http://schemas.microsoft.com/office/drawing/2014/main" id="{FE309457-36C3-77E6-BC60-B13DED9BF654}"/>
              </a:ext>
            </a:extLst>
          </p:cNvPr>
          <p:cNvSpPr/>
          <p:nvPr/>
        </p:nvSpPr>
        <p:spPr>
          <a:xfrm>
            <a:off x="429923" y="1005840"/>
            <a:ext cx="2743200" cy="3576793"/>
          </a:xfrm>
          <a:prstGeom prst="roundRect">
            <a:avLst>
              <a:gd name="adj" fmla="val 1333"/>
            </a:avLst>
          </a:prstGeom>
          <a:solidFill>
            <a:srgbClr val="FFFFFF"/>
          </a:solidFill>
          <a:ln w="9525">
            <a:solidFill>
              <a:srgbClr val="D9D9D9"/>
            </a:solidFill>
            <a:prstDash val="solid"/>
          </a:ln>
        </p:spPr>
        <p:txBody>
          <a:bodyPr/>
          <a:lstStyle/>
          <a:p>
            <a:endParaRPr lang="en-IN" sz="900">
              <a:latin typeface="Verdana" panose="020B0604030504040204" pitchFamily="34" charset="0"/>
              <a:ea typeface="Verdana" panose="020B0604030504040204" pitchFamily="34" charset="0"/>
            </a:endParaRPr>
          </a:p>
        </p:txBody>
      </p:sp>
      <p:sp>
        <p:nvSpPr>
          <p:cNvPr id="21" name="Shape 5">
            <a:extLst>
              <a:ext uri="{FF2B5EF4-FFF2-40B4-BE49-F238E27FC236}">
                <a16:creationId xmlns:a16="http://schemas.microsoft.com/office/drawing/2014/main" id="{3D68915E-13F5-AA51-8D73-283EDE9F00D4}"/>
              </a:ext>
            </a:extLst>
          </p:cNvPr>
          <p:cNvSpPr/>
          <p:nvPr/>
        </p:nvSpPr>
        <p:spPr>
          <a:xfrm>
            <a:off x="411480" y="1005839"/>
            <a:ext cx="2743200" cy="459579"/>
          </a:xfrm>
          <a:prstGeom prst="rect">
            <a:avLst/>
          </a:prstGeom>
          <a:solidFill>
            <a:srgbClr val="0A4A4E"/>
          </a:solidFill>
          <a:ln w="12700">
            <a:solidFill>
              <a:srgbClr val="333333"/>
            </a:solidFill>
            <a:prstDash val="solid"/>
          </a:ln>
        </p:spPr>
        <p:txBody>
          <a:bodyPr/>
          <a:lstStyle/>
          <a:p>
            <a:endParaRPr lang="en-IN" sz="900">
              <a:latin typeface="Verdana" panose="020B0604030504040204" pitchFamily="34" charset="0"/>
              <a:ea typeface="Verdana" panose="020B0604030504040204" pitchFamily="34" charset="0"/>
            </a:endParaRPr>
          </a:p>
        </p:txBody>
      </p:sp>
      <p:sp>
        <p:nvSpPr>
          <p:cNvPr id="22" name="Text 6">
            <a:extLst>
              <a:ext uri="{FF2B5EF4-FFF2-40B4-BE49-F238E27FC236}">
                <a16:creationId xmlns:a16="http://schemas.microsoft.com/office/drawing/2014/main" id="{1C4231F9-B5D2-71FF-FAEA-795612B8F3EE}"/>
              </a:ext>
            </a:extLst>
          </p:cNvPr>
          <p:cNvSpPr/>
          <p:nvPr/>
        </p:nvSpPr>
        <p:spPr>
          <a:xfrm>
            <a:off x="521208" y="1060704"/>
            <a:ext cx="2632662" cy="332430"/>
          </a:xfrm>
          <a:prstGeom prst="rect">
            <a:avLst/>
          </a:prstGeom>
          <a:noFill/>
          <a:ln/>
        </p:spPr>
        <p:txBody>
          <a:bodyPr wrap="square" lIns="0" tIns="0" rIns="0" bIns="0" rtlCol="0" anchor="ctr"/>
          <a:lstStyle/>
          <a:p>
            <a:pPr marL="0" indent="0">
              <a:buNone/>
            </a:pPr>
            <a:r>
              <a:rPr lang="en-US" sz="900" b="1">
                <a:solidFill>
                  <a:schemeClr val="bg1"/>
                </a:solidFill>
                <a:latin typeface="Verdana" panose="020B0604030504040204" pitchFamily="34" charset="0"/>
                <a:ea typeface="Verdana" panose="020B0604030504040204" pitchFamily="34" charset="0"/>
                <a:cs typeface="Calibri" pitchFamily="34" charset="-120"/>
              </a:rPr>
              <a:t>01 Compile the Fiscal Panel</a:t>
            </a:r>
            <a:endParaRPr lang="en-US" sz="900">
              <a:solidFill>
                <a:schemeClr val="bg1"/>
              </a:solidFill>
              <a:latin typeface="Verdana" panose="020B0604030504040204" pitchFamily="34" charset="0"/>
              <a:ea typeface="Verdana" panose="020B0604030504040204" pitchFamily="34" charset="0"/>
            </a:endParaRPr>
          </a:p>
        </p:txBody>
      </p:sp>
      <p:sp>
        <p:nvSpPr>
          <p:cNvPr id="24" name="Text 8">
            <a:extLst>
              <a:ext uri="{FF2B5EF4-FFF2-40B4-BE49-F238E27FC236}">
                <a16:creationId xmlns:a16="http://schemas.microsoft.com/office/drawing/2014/main" id="{95674701-BEAB-4A6D-67A8-24967FFEC61E}"/>
              </a:ext>
            </a:extLst>
          </p:cNvPr>
          <p:cNvSpPr/>
          <p:nvPr/>
        </p:nvSpPr>
        <p:spPr>
          <a:xfrm>
            <a:off x="439221" y="1578395"/>
            <a:ext cx="2487168" cy="3095350"/>
          </a:xfrm>
          <a:prstGeom prst="rect">
            <a:avLst/>
          </a:prstGeom>
          <a:noFill/>
          <a:ln/>
        </p:spPr>
        <p:txBody>
          <a:bodyPr wrap="square" lIns="0" tIns="0" rIns="0" bIns="0" rtlCol="0" anchor="t"/>
          <a:lstStyle/>
          <a:p>
            <a:pPr marL="342900" indent="-342900">
              <a:spcAft>
                <a:spcPts val="400"/>
              </a:spcAft>
              <a:buSzPct val="100000"/>
              <a:buChar char="▪"/>
            </a:pPr>
            <a:r>
              <a:rPr lang="en-US" sz="900">
                <a:solidFill>
                  <a:srgbClr val="333333"/>
                </a:solidFill>
                <a:latin typeface="Verdana" panose="020B0604030504040204" pitchFamily="34" charset="0"/>
                <a:ea typeface="Verdana" panose="020B0604030504040204" pitchFamily="34" charset="0"/>
                <a:cs typeface="Calibri" pitchFamily="34" charset="-120"/>
              </a:rPr>
              <a:t>Ten years of annual data across RBI State Finances, CAG Finance Accounts and audit reports, State Budgets, Indian Public Finance Statistics</a:t>
            </a:r>
            <a:endParaRPr lang="en-US" sz="900">
              <a:latin typeface="Verdana" panose="020B0604030504040204" pitchFamily="34" charset="0"/>
              <a:ea typeface="Verdana" panose="020B0604030504040204" pitchFamily="34" charset="0"/>
            </a:endParaRPr>
          </a:p>
          <a:p>
            <a:pPr marL="342900" indent="-342900">
              <a:spcAft>
                <a:spcPts val="400"/>
              </a:spcAft>
              <a:buSzPct val="100000"/>
              <a:buChar char="▪"/>
            </a:pPr>
            <a:r>
              <a:rPr lang="en-US" sz="900">
                <a:solidFill>
                  <a:srgbClr val="333333"/>
                </a:solidFill>
                <a:latin typeface="Verdana" panose="020B0604030504040204" pitchFamily="34" charset="0"/>
                <a:ea typeface="Verdana" panose="020B0604030504040204" pitchFamily="34" charset="0"/>
                <a:cs typeface="Calibri" pitchFamily="34" charset="-120"/>
              </a:rPr>
              <a:t>Journal literature and audit findings on mis-accounting of subsidy expenditure and spending on non-merit goods</a:t>
            </a:r>
            <a:endParaRPr lang="en-US" sz="900">
              <a:latin typeface="Verdana" panose="020B0604030504040204" pitchFamily="34" charset="0"/>
              <a:ea typeface="Verdana" panose="020B0604030504040204" pitchFamily="34" charset="0"/>
            </a:endParaRPr>
          </a:p>
          <a:p>
            <a:pPr marL="342900" indent="-342900">
              <a:spcAft>
                <a:spcPts val="400"/>
              </a:spcAft>
              <a:buSzPct val="100000"/>
              <a:buChar char="▪"/>
            </a:pPr>
            <a:r>
              <a:rPr lang="en-US" sz="900">
                <a:solidFill>
                  <a:srgbClr val="333333"/>
                </a:solidFill>
                <a:latin typeface="Verdana" panose="020B0604030504040204" pitchFamily="34" charset="0"/>
                <a:ea typeface="Verdana" panose="020B0604030504040204" pitchFamily="34" charset="0"/>
                <a:cs typeface="Calibri" pitchFamily="34" charset="-120"/>
              </a:rPr>
              <a:t>Reconciliation of the same item across sources before any analysis</a:t>
            </a:r>
            <a:endParaRPr lang="en-US" sz="900">
              <a:latin typeface="Verdana" panose="020B0604030504040204" pitchFamily="34" charset="0"/>
              <a:ea typeface="Verdana" panose="020B0604030504040204" pitchFamily="34" charset="0"/>
            </a:endParaRPr>
          </a:p>
        </p:txBody>
      </p:sp>
      <p:sp>
        <p:nvSpPr>
          <p:cNvPr id="26" name="Shape 10">
            <a:extLst>
              <a:ext uri="{FF2B5EF4-FFF2-40B4-BE49-F238E27FC236}">
                <a16:creationId xmlns:a16="http://schemas.microsoft.com/office/drawing/2014/main" id="{C22C4486-83D5-5228-9C46-610AC1A054C7}"/>
              </a:ext>
            </a:extLst>
          </p:cNvPr>
          <p:cNvSpPr/>
          <p:nvPr/>
        </p:nvSpPr>
        <p:spPr>
          <a:xfrm>
            <a:off x="3301139" y="1005840"/>
            <a:ext cx="2743200" cy="3576793"/>
          </a:xfrm>
          <a:prstGeom prst="roundRect">
            <a:avLst>
              <a:gd name="adj" fmla="val 1333"/>
            </a:avLst>
          </a:prstGeom>
          <a:solidFill>
            <a:srgbClr val="FFFFFF"/>
          </a:solidFill>
          <a:ln w="9525">
            <a:solidFill>
              <a:srgbClr val="D9D9D9"/>
            </a:solidFill>
            <a:prstDash val="solid"/>
          </a:ln>
        </p:spPr>
        <p:txBody>
          <a:bodyPr/>
          <a:lstStyle/>
          <a:p>
            <a:endParaRPr lang="en-IN" sz="900">
              <a:latin typeface="Verdana" panose="020B0604030504040204" pitchFamily="34" charset="0"/>
              <a:ea typeface="Verdana" panose="020B0604030504040204" pitchFamily="34" charset="0"/>
            </a:endParaRPr>
          </a:p>
        </p:txBody>
      </p:sp>
      <p:sp>
        <p:nvSpPr>
          <p:cNvPr id="27" name="Shape 11">
            <a:extLst>
              <a:ext uri="{FF2B5EF4-FFF2-40B4-BE49-F238E27FC236}">
                <a16:creationId xmlns:a16="http://schemas.microsoft.com/office/drawing/2014/main" id="{3080DEBA-655D-9C4C-7016-E6896577C26C}"/>
              </a:ext>
            </a:extLst>
          </p:cNvPr>
          <p:cNvSpPr/>
          <p:nvPr/>
        </p:nvSpPr>
        <p:spPr>
          <a:xfrm>
            <a:off x="3282696" y="1005840"/>
            <a:ext cx="2743200" cy="459580"/>
          </a:xfrm>
          <a:prstGeom prst="rect">
            <a:avLst/>
          </a:prstGeom>
          <a:solidFill>
            <a:srgbClr val="0E6E70"/>
          </a:solidFill>
          <a:ln w="12700">
            <a:solidFill>
              <a:srgbClr val="333333"/>
            </a:solidFill>
            <a:prstDash val="solid"/>
          </a:ln>
        </p:spPr>
        <p:txBody>
          <a:bodyPr/>
          <a:lstStyle/>
          <a:p>
            <a:endParaRPr lang="en-IN" sz="900">
              <a:latin typeface="Verdana" panose="020B0604030504040204" pitchFamily="34" charset="0"/>
              <a:ea typeface="Verdana" panose="020B0604030504040204" pitchFamily="34" charset="0"/>
            </a:endParaRPr>
          </a:p>
        </p:txBody>
      </p:sp>
      <p:sp>
        <p:nvSpPr>
          <p:cNvPr id="28" name="Text 12">
            <a:extLst>
              <a:ext uri="{FF2B5EF4-FFF2-40B4-BE49-F238E27FC236}">
                <a16:creationId xmlns:a16="http://schemas.microsoft.com/office/drawing/2014/main" id="{7B4EA96B-EBB2-FABB-B623-DDF9927442B9}"/>
              </a:ext>
            </a:extLst>
          </p:cNvPr>
          <p:cNvSpPr/>
          <p:nvPr/>
        </p:nvSpPr>
        <p:spPr>
          <a:xfrm>
            <a:off x="3346395" y="1132993"/>
            <a:ext cx="2551485" cy="332430"/>
          </a:xfrm>
          <a:prstGeom prst="rect">
            <a:avLst/>
          </a:prstGeom>
          <a:noFill/>
          <a:ln/>
        </p:spPr>
        <p:txBody>
          <a:bodyPr wrap="square" lIns="0" tIns="0" rIns="0" bIns="0" rtlCol="0" anchor="ctr"/>
          <a:lstStyle/>
          <a:p>
            <a:pPr marL="0" indent="0">
              <a:buNone/>
            </a:pPr>
            <a:r>
              <a:rPr lang="en-US" sz="900" b="1">
                <a:solidFill>
                  <a:schemeClr val="bg1"/>
                </a:solidFill>
                <a:latin typeface="Verdana" panose="020B0604030504040204" pitchFamily="34" charset="0"/>
                <a:ea typeface="Verdana" panose="020B0604030504040204" pitchFamily="34" charset="0"/>
                <a:cs typeface="Calibri" pitchFamily="34" charset="-120"/>
              </a:rPr>
              <a:t>02 Review Detailed Demands for Grants at object-head level</a:t>
            </a:r>
          </a:p>
          <a:p>
            <a:pPr marL="0" indent="0">
              <a:buNone/>
            </a:pPr>
            <a:r>
              <a:rPr lang="en-US" sz="900" b="1">
                <a:solidFill>
                  <a:schemeClr val="bg1"/>
                </a:solidFill>
                <a:latin typeface="Verdana" panose="020B0604030504040204" pitchFamily="34" charset="0"/>
                <a:ea typeface="Verdana" panose="020B0604030504040204" pitchFamily="34" charset="0"/>
                <a:cs typeface="Calibri" pitchFamily="34" charset="-120"/>
              </a:rPr>
              <a:t> </a:t>
            </a:r>
            <a:endParaRPr lang="en-US" sz="900">
              <a:solidFill>
                <a:schemeClr val="bg1"/>
              </a:solidFill>
              <a:latin typeface="Verdana" panose="020B0604030504040204" pitchFamily="34" charset="0"/>
              <a:ea typeface="Verdana" panose="020B0604030504040204" pitchFamily="34" charset="0"/>
            </a:endParaRPr>
          </a:p>
        </p:txBody>
      </p:sp>
      <p:sp>
        <p:nvSpPr>
          <p:cNvPr id="30" name="Text 14">
            <a:extLst>
              <a:ext uri="{FF2B5EF4-FFF2-40B4-BE49-F238E27FC236}">
                <a16:creationId xmlns:a16="http://schemas.microsoft.com/office/drawing/2014/main" id="{75D308BB-53A0-5916-735B-2183E30CD751}"/>
              </a:ext>
            </a:extLst>
          </p:cNvPr>
          <p:cNvSpPr/>
          <p:nvPr/>
        </p:nvSpPr>
        <p:spPr>
          <a:xfrm>
            <a:off x="3378553" y="1598384"/>
            <a:ext cx="2487168" cy="3095350"/>
          </a:xfrm>
          <a:prstGeom prst="rect">
            <a:avLst/>
          </a:prstGeom>
          <a:noFill/>
          <a:ln/>
        </p:spPr>
        <p:txBody>
          <a:bodyPr wrap="square" lIns="0" tIns="0" rIns="0" bIns="0" rtlCol="0" anchor="t"/>
          <a:lstStyle/>
          <a:p>
            <a:pPr marL="342900" indent="-342900">
              <a:spcAft>
                <a:spcPts val="400"/>
              </a:spcAft>
              <a:buSzPct val="100000"/>
              <a:buChar char="▪"/>
            </a:pPr>
            <a:r>
              <a:rPr lang="en-US" sz="900">
                <a:solidFill>
                  <a:srgbClr val="333333"/>
                </a:solidFill>
                <a:latin typeface="Verdana" panose="020B0604030504040204" pitchFamily="34" charset="0"/>
                <a:ea typeface="Verdana" panose="020B0604030504040204" pitchFamily="34" charset="0"/>
                <a:cs typeface="Calibri" pitchFamily="34" charset="-120"/>
              </a:rPr>
              <a:t>Reorganise expenditure by major, sub-major, minor, sub-minor, detailed and object head — the primary unit of account</a:t>
            </a:r>
            <a:endParaRPr lang="en-US" sz="900">
              <a:latin typeface="Verdana" panose="020B0604030504040204" pitchFamily="34" charset="0"/>
              <a:ea typeface="Verdana" panose="020B0604030504040204" pitchFamily="34" charset="0"/>
            </a:endParaRPr>
          </a:p>
          <a:p>
            <a:pPr marL="342900" indent="-342900">
              <a:spcAft>
                <a:spcPts val="400"/>
              </a:spcAft>
              <a:buSzPct val="100000"/>
              <a:buChar char="▪"/>
            </a:pPr>
            <a:r>
              <a:rPr lang="en-US" sz="900">
                <a:solidFill>
                  <a:srgbClr val="333333"/>
                </a:solidFill>
                <a:latin typeface="Verdana" panose="020B0604030504040204" pitchFamily="34" charset="0"/>
                <a:ea typeface="Verdana" panose="020B0604030504040204" pitchFamily="34" charset="0"/>
                <a:cs typeface="Calibri" pitchFamily="34" charset="-120"/>
              </a:rPr>
              <a:t>Identify expenditure explicitly classified as subsidy; scholarships, pensions and direct transfers meeting the adopted definition; non-salary grants providing concessions or private goods</a:t>
            </a:r>
            <a:endParaRPr lang="en-US" sz="900">
              <a:latin typeface="Verdana" panose="020B0604030504040204" pitchFamily="34" charset="0"/>
              <a:ea typeface="Verdana" panose="020B0604030504040204" pitchFamily="34" charset="0"/>
            </a:endParaRPr>
          </a:p>
          <a:p>
            <a:pPr marL="342900" indent="-342900">
              <a:spcAft>
                <a:spcPts val="400"/>
              </a:spcAft>
              <a:buSzPct val="100000"/>
              <a:buChar char="▪"/>
            </a:pPr>
            <a:r>
              <a:rPr lang="en-US" sz="900">
                <a:solidFill>
                  <a:srgbClr val="333333"/>
                </a:solidFill>
                <a:latin typeface="Verdana" panose="020B0604030504040204" pitchFamily="34" charset="0"/>
                <a:ea typeface="Verdana" panose="020B0604030504040204" pitchFamily="34" charset="0"/>
                <a:cs typeface="Calibri" pitchFamily="34" charset="-120"/>
              </a:rPr>
              <a:t>Assistance to PSUs, boards, corporations and cooperatives financing explicit benefits or compensating mandated price concessions</a:t>
            </a:r>
            <a:endParaRPr lang="en-US" sz="900">
              <a:latin typeface="Verdana" panose="020B0604030504040204" pitchFamily="34" charset="0"/>
              <a:ea typeface="Verdana" panose="020B0604030504040204" pitchFamily="34" charset="0"/>
            </a:endParaRPr>
          </a:p>
          <a:p>
            <a:pPr marL="342900" indent="-342900">
              <a:spcAft>
                <a:spcPts val="400"/>
              </a:spcAft>
              <a:buSzPct val="100000"/>
              <a:buChar char="▪"/>
            </a:pPr>
            <a:r>
              <a:rPr lang="en-US" sz="900">
                <a:solidFill>
                  <a:srgbClr val="333333"/>
                </a:solidFill>
                <a:latin typeface="Verdana" panose="020B0604030504040204" pitchFamily="34" charset="0"/>
                <a:ea typeface="Verdana" panose="020B0604030504040204" pitchFamily="34" charset="0"/>
                <a:cs typeface="Calibri" pitchFamily="34" charset="-120"/>
              </a:rPr>
              <a:t>Interest subvention, insurance premium support, fee waivers and loan-related assistance; subsidy-like spend routed through implementing agencies</a:t>
            </a:r>
            <a:endParaRPr lang="en-US" sz="900">
              <a:latin typeface="Verdana" panose="020B0604030504040204" pitchFamily="34" charset="0"/>
              <a:ea typeface="Verdana" panose="020B0604030504040204" pitchFamily="34" charset="0"/>
            </a:endParaRPr>
          </a:p>
        </p:txBody>
      </p:sp>
      <p:sp>
        <p:nvSpPr>
          <p:cNvPr id="32" name="Shape 16">
            <a:extLst>
              <a:ext uri="{FF2B5EF4-FFF2-40B4-BE49-F238E27FC236}">
                <a16:creationId xmlns:a16="http://schemas.microsoft.com/office/drawing/2014/main" id="{2D5B360A-F1D4-BD18-9E0A-AD3D7E01EA85}"/>
              </a:ext>
            </a:extLst>
          </p:cNvPr>
          <p:cNvSpPr/>
          <p:nvPr/>
        </p:nvSpPr>
        <p:spPr>
          <a:xfrm>
            <a:off x="6172355" y="1005840"/>
            <a:ext cx="2743200" cy="3576793"/>
          </a:xfrm>
          <a:prstGeom prst="roundRect">
            <a:avLst>
              <a:gd name="adj" fmla="val 1333"/>
            </a:avLst>
          </a:prstGeom>
          <a:solidFill>
            <a:srgbClr val="FFFFFF"/>
          </a:solidFill>
          <a:ln w="9525">
            <a:solidFill>
              <a:srgbClr val="D9D9D9"/>
            </a:solidFill>
            <a:prstDash val="solid"/>
          </a:ln>
        </p:spPr>
        <p:txBody>
          <a:bodyPr/>
          <a:lstStyle/>
          <a:p>
            <a:endParaRPr lang="en-IN" sz="900">
              <a:latin typeface="Verdana" panose="020B0604030504040204" pitchFamily="34" charset="0"/>
              <a:ea typeface="Verdana" panose="020B0604030504040204" pitchFamily="34" charset="0"/>
            </a:endParaRPr>
          </a:p>
        </p:txBody>
      </p:sp>
      <p:sp>
        <p:nvSpPr>
          <p:cNvPr id="33" name="Shape 17">
            <a:extLst>
              <a:ext uri="{FF2B5EF4-FFF2-40B4-BE49-F238E27FC236}">
                <a16:creationId xmlns:a16="http://schemas.microsoft.com/office/drawing/2014/main" id="{F4BA9B0E-3008-EC51-6C24-95DF8EC9A722}"/>
              </a:ext>
            </a:extLst>
          </p:cNvPr>
          <p:cNvSpPr/>
          <p:nvPr/>
        </p:nvSpPr>
        <p:spPr>
          <a:xfrm>
            <a:off x="6153912" y="1005840"/>
            <a:ext cx="2743200" cy="459576"/>
          </a:xfrm>
          <a:prstGeom prst="rect">
            <a:avLst/>
          </a:prstGeom>
          <a:solidFill>
            <a:schemeClr val="accent3">
              <a:lumMod val="75000"/>
            </a:schemeClr>
          </a:solidFill>
          <a:ln w="12700">
            <a:solidFill>
              <a:srgbClr val="333333"/>
            </a:solidFill>
            <a:prstDash val="solid"/>
          </a:ln>
        </p:spPr>
        <p:txBody>
          <a:bodyPr/>
          <a:lstStyle/>
          <a:p>
            <a:endParaRPr lang="en-IN" sz="900">
              <a:latin typeface="Verdana" panose="020B0604030504040204" pitchFamily="34" charset="0"/>
              <a:ea typeface="Verdana" panose="020B0604030504040204" pitchFamily="34" charset="0"/>
            </a:endParaRPr>
          </a:p>
        </p:txBody>
      </p:sp>
      <p:sp>
        <p:nvSpPr>
          <p:cNvPr id="34" name="Text 18">
            <a:extLst>
              <a:ext uri="{FF2B5EF4-FFF2-40B4-BE49-F238E27FC236}">
                <a16:creationId xmlns:a16="http://schemas.microsoft.com/office/drawing/2014/main" id="{3A193614-86F9-7C57-E7D2-E56055FCB678}"/>
              </a:ext>
            </a:extLst>
          </p:cNvPr>
          <p:cNvSpPr/>
          <p:nvPr/>
        </p:nvSpPr>
        <p:spPr>
          <a:xfrm>
            <a:off x="6263639" y="1060704"/>
            <a:ext cx="2359365" cy="332430"/>
          </a:xfrm>
          <a:prstGeom prst="rect">
            <a:avLst/>
          </a:prstGeom>
          <a:noFill/>
          <a:ln/>
        </p:spPr>
        <p:txBody>
          <a:bodyPr wrap="square" lIns="0" tIns="0" rIns="0" bIns="0" rtlCol="0" anchor="ctr"/>
          <a:lstStyle/>
          <a:p>
            <a:pPr marL="0" indent="0">
              <a:buNone/>
            </a:pPr>
            <a:r>
              <a:rPr lang="en-US" sz="900" b="1">
                <a:solidFill>
                  <a:schemeClr val="bg1"/>
                </a:solidFill>
                <a:latin typeface="Verdana" panose="020B0604030504040204" pitchFamily="34" charset="0"/>
                <a:ea typeface="Verdana" panose="020B0604030504040204" pitchFamily="34" charset="0"/>
                <a:cs typeface="Calibri" pitchFamily="34" charset="-120"/>
              </a:rPr>
              <a:t>03: Probe Beyond the Budget</a:t>
            </a:r>
            <a:endParaRPr lang="en-US" sz="900">
              <a:solidFill>
                <a:schemeClr val="bg1"/>
              </a:solidFill>
              <a:latin typeface="Verdana" panose="020B0604030504040204" pitchFamily="34" charset="0"/>
              <a:ea typeface="Verdana" panose="020B0604030504040204" pitchFamily="34" charset="0"/>
            </a:endParaRPr>
          </a:p>
        </p:txBody>
      </p:sp>
      <p:sp>
        <p:nvSpPr>
          <p:cNvPr id="36" name="Text 20">
            <a:extLst>
              <a:ext uri="{FF2B5EF4-FFF2-40B4-BE49-F238E27FC236}">
                <a16:creationId xmlns:a16="http://schemas.microsoft.com/office/drawing/2014/main" id="{6BB289A0-8109-5650-92DD-6D4FF5A03C79}"/>
              </a:ext>
            </a:extLst>
          </p:cNvPr>
          <p:cNvSpPr/>
          <p:nvPr/>
        </p:nvSpPr>
        <p:spPr>
          <a:xfrm>
            <a:off x="6199737" y="1578395"/>
            <a:ext cx="2487168" cy="3095350"/>
          </a:xfrm>
          <a:prstGeom prst="rect">
            <a:avLst/>
          </a:prstGeom>
          <a:noFill/>
          <a:ln/>
        </p:spPr>
        <p:txBody>
          <a:bodyPr wrap="square" lIns="0" tIns="0" rIns="0" bIns="0" rtlCol="0" anchor="t"/>
          <a:lstStyle/>
          <a:p>
            <a:pPr marL="342900" indent="-342900">
              <a:spcAft>
                <a:spcPts val="400"/>
              </a:spcAft>
              <a:buSzPct val="100000"/>
              <a:buChar char="▪"/>
            </a:pPr>
            <a:r>
              <a:rPr lang="en-US" sz="900">
                <a:solidFill>
                  <a:srgbClr val="333333"/>
                </a:solidFill>
                <a:latin typeface="Verdana" panose="020B0604030504040204" pitchFamily="34" charset="0"/>
                <a:ea typeface="Verdana" panose="020B0604030504040204" pitchFamily="34" charset="0"/>
                <a:cs typeface="Calibri" pitchFamily="34" charset="-120"/>
              </a:rPr>
              <a:t>Implicit subsidies from under-priced tariffs in power, transport and comparable sectors</a:t>
            </a:r>
            <a:endParaRPr lang="en-US" sz="900">
              <a:latin typeface="Verdana" panose="020B0604030504040204" pitchFamily="34" charset="0"/>
              <a:ea typeface="Verdana" panose="020B0604030504040204" pitchFamily="34" charset="0"/>
            </a:endParaRPr>
          </a:p>
          <a:p>
            <a:pPr marL="342900" indent="-342900">
              <a:spcAft>
                <a:spcPts val="400"/>
              </a:spcAft>
              <a:buSzPct val="100000"/>
              <a:buChar char="▪"/>
            </a:pPr>
            <a:r>
              <a:rPr lang="en-US" sz="900">
                <a:solidFill>
                  <a:srgbClr val="333333"/>
                </a:solidFill>
                <a:latin typeface="Verdana" panose="020B0604030504040204" pitchFamily="34" charset="0"/>
                <a:ea typeface="Verdana" panose="020B0604030504040204" pitchFamily="34" charset="0"/>
                <a:cs typeface="Calibri" pitchFamily="34" charset="-120"/>
              </a:rPr>
              <a:t>Off-budget financing and funds transferred through Personal Deposit accounts</a:t>
            </a:r>
            <a:endParaRPr lang="en-US" sz="900">
              <a:latin typeface="Verdana" panose="020B0604030504040204" pitchFamily="34" charset="0"/>
              <a:ea typeface="Verdana" panose="020B0604030504040204" pitchFamily="34" charset="0"/>
            </a:endParaRPr>
          </a:p>
          <a:p>
            <a:pPr marL="342900" indent="-342900">
              <a:spcAft>
                <a:spcPts val="400"/>
              </a:spcAft>
              <a:buSzPct val="100000"/>
              <a:buChar char="▪"/>
            </a:pPr>
            <a:r>
              <a:rPr lang="en-US" sz="900">
                <a:solidFill>
                  <a:srgbClr val="333333"/>
                </a:solidFill>
                <a:latin typeface="Verdana" panose="020B0604030504040204" pitchFamily="34" charset="0"/>
                <a:ea typeface="Verdana" panose="020B0604030504040204" pitchFamily="34" charset="0"/>
                <a:cs typeface="Calibri" pitchFamily="34" charset="-120"/>
              </a:rPr>
              <a:t>Contingent liability statements, guarantees and PSU-level data where off-budget borrowing has occurred</a:t>
            </a:r>
            <a:endParaRPr lang="en-US" sz="900">
              <a:latin typeface="Verdana" panose="020B0604030504040204" pitchFamily="34" charset="0"/>
              <a:ea typeface="Verdana" panose="020B0604030504040204" pitchFamily="34" charset="0"/>
            </a:endParaRPr>
          </a:p>
          <a:p>
            <a:pPr marL="342900" indent="-342900">
              <a:spcAft>
                <a:spcPts val="400"/>
              </a:spcAft>
              <a:buSzPct val="100000"/>
              <a:buChar char="▪"/>
            </a:pPr>
            <a:r>
              <a:rPr lang="en-US" sz="900">
                <a:solidFill>
                  <a:srgbClr val="333333"/>
                </a:solidFill>
                <a:latin typeface="Verdana" panose="020B0604030504040204" pitchFamily="34" charset="0"/>
                <a:ea typeface="Verdana" panose="020B0604030504040204" pitchFamily="34" charset="0"/>
                <a:cs typeface="Calibri" pitchFamily="34" charset="-120"/>
              </a:rPr>
              <a:t>Key informant interviews to surface scheme-level spend that is distortionary but not labelled as subsidy</a:t>
            </a:r>
            <a:endParaRPr lang="en-US" sz="900">
              <a:latin typeface="Verdana" panose="020B0604030504040204" pitchFamily="34" charset="0"/>
              <a:ea typeface="Verdana" panose="020B0604030504040204" pitchFamily="34" charset="0"/>
            </a:endParaRPr>
          </a:p>
        </p:txBody>
      </p:sp>
      <p:sp>
        <p:nvSpPr>
          <p:cNvPr id="38" name="Shape 22">
            <a:extLst>
              <a:ext uri="{FF2B5EF4-FFF2-40B4-BE49-F238E27FC236}">
                <a16:creationId xmlns:a16="http://schemas.microsoft.com/office/drawing/2014/main" id="{63EA44F2-A098-54C7-EEAD-34F582AD085B}"/>
              </a:ext>
            </a:extLst>
          </p:cNvPr>
          <p:cNvSpPr/>
          <p:nvPr/>
        </p:nvSpPr>
        <p:spPr>
          <a:xfrm>
            <a:off x="9025128" y="1005840"/>
            <a:ext cx="2743200" cy="3576793"/>
          </a:xfrm>
          <a:prstGeom prst="roundRect">
            <a:avLst>
              <a:gd name="adj" fmla="val 1333"/>
            </a:avLst>
          </a:prstGeom>
          <a:solidFill>
            <a:srgbClr val="FFFFFF"/>
          </a:solidFill>
          <a:ln w="9525">
            <a:solidFill>
              <a:srgbClr val="D9D9D9"/>
            </a:solidFill>
            <a:prstDash val="solid"/>
          </a:ln>
        </p:spPr>
        <p:txBody>
          <a:bodyPr/>
          <a:lstStyle/>
          <a:p>
            <a:endParaRPr lang="en-IN" sz="900">
              <a:latin typeface="Verdana" panose="020B0604030504040204" pitchFamily="34" charset="0"/>
              <a:ea typeface="Verdana" panose="020B0604030504040204" pitchFamily="34" charset="0"/>
            </a:endParaRPr>
          </a:p>
        </p:txBody>
      </p:sp>
      <p:sp>
        <p:nvSpPr>
          <p:cNvPr id="39" name="Shape 23">
            <a:extLst>
              <a:ext uri="{FF2B5EF4-FFF2-40B4-BE49-F238E27FC236}">
                <a16:creationId xmlns:a16="http://schemas.microsoft.com/office/drawing/2014/main" id="{41146171-9003-F0F3-FADE-D0BD1A759861}"/>
              </a:ext>
            </a:extLst>
          </p:cNvPr>
          <p:cNvSpPr/>
          <p:nvPr/>
        </p:nvSpPr>
        <p:spPr>
          <a:xfrm>
            <a:off x="9025128" y="1005840"/>
            <a:ext cx="2743200" cy="459574"/>
          </a:xfrm>
          <a:prstGeom prst="rect">
            <a:avLst/>
          </a:prstGeom>
          <a:solidFill>
            <a:srgbClr val="1C7C7E"/>
          </a:solidFill>
          <a:ln w="12700">
            <a:solidFill>
              <a:srgbClr val="333333"/>
            </a:solidFill>
            <a:prstDash val="solid"/>
          </a:ln>
        </p:spPr>
        <p:txBody>
          <a:bodyPr/>
          <a:lstStyle/>
          <a:p>
            <a:endParaRPr lang="en-IN" sz="900">
              <a:latin typeface="Verdana" panose="020B0604030504040204" pitchFamily="34" charset="0"/>
              <a:ea typeface="Verdana" panose="020B0604030504040204" pitchFamily="34" charset="0"/>
            </a:endParaRPr>
          </a:p>
        </p:txBody>
      </p:sp>
      <p:sp>
        <p:nvSpPr>
          <p:cNvPr id="40" name="Text 24">
            <a:extLst>
              <a:ext uri="{FF2B5EF4-FFF2-40B4-BE49-F238E27FC236}">
                <a16:creationId xmlns:a16="http://schemas.microsoft.com/office/drawing/2014/main" id="{9DEF0A38-AF0A-5DC4-CF02-96E9EA142D14}"/>
              </a:ext>
            </a:extLst>
          </p:cNvPr>
          <p:cNvSpPr/>
          <p:nvPr/>
        </p:nvSpPr>
        <p:spPr>
          <a:xfrm>
            <a:off x="9134855" y="1060704"/>
            <a:ext cx="2617923" cy="332430"/>
          </a:xfrm>
          <a:prstGeom prst="rect">
            <a:avLst/>
          </a:prstGeom>
          <a:noFill/>
          <a:ln/>
        </p:spPr>
        <p:txBody>
          <a:bodyPr wrap="square" lIns="0" tIns="0" rIns="0" bIns="0" rtlCol="0" anchor="ctr"/>
          <a:lstStyle/>
          <a:p>
            <a:pPr marL="0" indent="0">
              <a:buNone/>
            </a:pPr>
            <a:r>
              <a:rPr lang="en-US" sz="900" b="1">
                <a:solidFill>
                  <a:schemeClr val="bg1"/>
                </a:solidFill>
                <a:latin typeface="Verdana" panose="020B0604030504040204" pitchFamily="34" charset="0"/>
                <a:ea typeface="Verdana" panose="020B0604030504040204" pitchFamily="34" charset="0"/>
                <a:cs typeface="Calibri" pitchFamily="34" charset="-120"/>
              </a:rPr>
              <a:t>04: Access the Fiscal space</a:t>
            </a:r>
            <a:endParaRPr lang="en-US" sz="900">
              <a:solidFill>
                <a:schemeClr val="bg1"/>
              </a:solidFill>
              <a:latin typeface="Verdana" panose="020B0604030504040204" pitchFamily="34" charset="0"/>
              <a:ea typeface="Verdana" panose="020B0604030504040204" pitchFamily="34" charset="0"/>
            </a:endParaRPr>
          </a:p>
        </p:txBody>
      </p:sp>
      <p:sp>
        <p:nvSpPr>
          <p:cNvPr id="42" name="Text 26">
            <a:extLst>
              <a:ext uri="{FF2B5EF4-FFF2-40B4-BE49-F238E27FC236}">
                <a16:creationId xmlns:a16="http://schemas.microsoft.com/office/drawing/2014/main" id="{B25E3B8B-F91F-AB21-9642-2041867801E5}"/>
              </a:ext>
            </a:extLst>
          </p:cNvPr>
          <p:cNvSpPr/>
          <p:nvPr/>
        </p:nvSpPr>
        <p:spPr>
          <a:xfrm>
            <a:off x="9121447" y="1578395"/>
            <a:ext cx="2487168" cy="3095350"/>
          </a:xfrm>
          <a:prstGeom prst="rect">
            <a:avLst/>
          </a:prstGeom>
          <a:noFill/>
          <a:ln/>
        </p:spPr>
        <p:txBody>
          <a:bodyPr wrap="square" lIns="0" tIns="0" rIns="0" bIns="0" rtlCol="0" anchor="t"/>
          <a:lstStyle/>
          <a:p>
            <a:pPr marL="342900" indent="-342900">
              <a:spcAft>
                <a:spcPts val="400"/>
              </a:spcAft>
              <a:buSzPct val="100000"/>
              <a:buChar char="▪"/>
            </a:pPr>
            <a:r>
              <a:rPr lang="en-US" sz="900">
                <a:solidFill>
                  <a:srgbClr val="333333"/>
                </a:solidFill>
                <a:latin typeface="Verdana" panose="020B0604030504040204" pitchFamily="34" charset="0"/>
                <a:ea typeface="Verdana" panose="020B0604030504040204" pitchFamily="34" charset="0"/>
                <a:cs typeface="Calibri" pitchFamily="34" charset="-120"/>
              </a:rPr>
              <a:t>Revenue resources remaining after committed expenditure — salaries and wages, pensions, interest payments</a:t>
            </a:r>
            <a:endParaRPr lang="en-US" sz="900">
              <a:latin typeface="Verdana" panose="020B0604030504040204" pitchFamily="34" charset="0"/>
              <a:ea typeface="Verdana" panose="020B0604030504040204" pitchFamily="34" charset="0"/>
            </a:endParaRPr>
          </a:p>
          <a:p>
            <a:pPr marL="342900" indent="-342900">
              <a:spcAft>
                <a:spcPts val="400"/>
              </a:spcAft>
              <a:buSzPct val="100000"/>
              <a:buChar char="▪"/>
            </a:pPr>
            <a:r>
              <a:rPr lang="en-US" sz="900">
                <a:solidFill>
                  <a:srgbClr val="333333"/>
                </a:solidFill>
                <a:latin typeface="Verdana" panose="020B0604030504040204" pitchFamily="34" charset="0"/>
                <a:ea typeface="Verdana" panose="020B0604030504040204" pitchFamily="34" charset="0"/>
                <a:cs typeface="Calibri" pitchFamily="34" charset="-120"/>
              </a:rPr>
              <a:t>Statutory transfers to local bodies and other rigid obligations where the State has limited discretion</a:t>
            </a:r>
            <a:endParaRPr lang="en-US" sz="900">
              <a:latin typeface="Verdana" panose="020B0604030504040204" pitchFamily="34" charset="0"/>
              <a:ea typeface="Verdana" panose="020B0604030504040204" pitchFamily="34" charset="0"/>
            </a:endParaRPr>
          </a:p>
          <a:p>
            <a:pPr marL="342900" indent="-342900">
              <a:spcAft>
                <a:spcPts val="400"/>
              </a:spcAft>
              <a:buSzPct val="100000"/>
              <a:buChar char="▪"/>
            </a:pPr>
            <a:r>
              <a:rPr lang="en-US" sz="900">
                <a:solidFill>
                  <a:srgbClr val="333333"/>
                </a:solidFill>
                <a:latin typeface="Verdana" panose="020B0604030504040204" pitchFamily="34" charset="0"/>
                <a:ea typeface="Verdana" panose="020B0604030504040204" pitchFamily="34" charset="0"/>
                <a:cs typeface="Calibri" pitchFamily="34" charset="-120"/>
              </a:rPr>
              <a:t>No universal numerical ceiling is prescribed: the analysis shows how much revenue is pre-empted and how subsidy obligations interact with revenue balance, debt servicing and capital expenditure</a:t>
            </a:r>
            <a:endParaRPr lang="en-US" sz="900">
              <a:latin typeface="Verdana" panose="020B0604030504040204" pitchFamily="34" charset="0"/>
              <a:ea typeface="Verdana" panose="020B0604030504040204" pitchFamily="34" charset="0"/>
            </a:endParaRPr>
          </a:p>
        </p:txBody>
      </p:sp>
      <p:sp>
        <p:nvSpPr>
          <p:cNvPr id="110" name="Isosceles Triangle 109">
            <a:extLst>
              <a:ext uri="{FF2B5EF4-FFF2-40B4-BE49-F238E27FC236}">
                <a16:creationId xmlns:a16="http://schemas.microsoft.com/office/drawing/2014/main" id="{055AF373-D6AC-CAFB-98E0-F67F1D255825}"/>
              </a:ext>
            </a:extLst>
          </p:cNvPr>
          <p:cNvSpPr/>
          <p:nvPr/>
        </p:nvSpPr>
        <p:spPr>
          <a:xfrm rot="16200000" flipV="1">
            <a:off x="1304190" y="2922287"/>
            <a:ext cx="3894566" cy="171399"/>
          </a:xfrm>
          <a:prstGeom prst="triangle">
            <a:avLst>
              <a:gd name="adj" fmla="val 50000"/>
            </a:avLst>
          </a:prstGeom>
          <a:gradFill flip="none" rotWithShape="1">
            <a:gsLst>
              <a:gs pos="0">
                <a:schemeClr val="bg1"/>
              </a:gs>
              <a:gs pos="31000">
                <a:schemeClr val="bg1">
                  <a:lumMod val="95000"/>
                </a:schemeClr>
              </a:gs>
              <a:gs pos="64000">
                <a:schemeClr val="bg1">
                  <a:lumMod val="85000"/>
                </a:schemeClr>
              </a:gs>
              <a:gs pos="98000">
                <a:schemeClr val="bg1">
                  <a:lumMod val="7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45" name="Isosceles Triangle 44">
            <a:extLst>
              <a:ext uri="{FF2B5EF4-FFF2-40B4-BE49-F238E27FC236}">
                <a16:creationId xmlns:a16="http://schemas.microsoft.com/office/drawing/2014/main" id="{E418196F-A37D-5DF0-7FCF-46221DF3B48C}"/>
              </a:ext>
            </a:extLst>
          </p:cNvPr>
          <p:cNvSpPr/>
          <p:nvPr/>
        </p:nvSpPr>
        <p:spPr>
          <a:xfrm rot="16200000" flipV="1">
            <a:off x="4158062" y="2824458"/>
            <a:ext cx="3894566" cy="171399"/>
          </a:xfrm>
          <a:prstGeom prst="triangle">
            <a:avLst>
              <a:gd name="adj" fmla="val 50000"/>
            </a:avLst>
          </a:prstGeom>
          <a:gradFill flip="none" rotWithShape="1">
            <a:gsLst>
              <a:gs pos="0">
                <a:schemeClr val="bg1"/>
              </a:gs>
              <a:gs pos="31000">
                <a:schemeClr val="bg1">
                  <a:lumMod val="95000"/>
                </a:schemeClr>
              </a:gs>
              <a:gs pos="64000">
                <a:schemeClr val="bg1">
                  <a:lumMod val="85000"/>
                </a:schemeClr>
              </a:gs>
              <a:gs pos="98000">
                <a:schemeClr val="bg1">
                  <a:lumMod val="7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46" name="Isosceles Triangle 45">
            <a:extLst>
              <a:ext uri="{FF2B5EF4-FFF2-40B4-BE49-F238E27FC236}">
                <a16:creationId xmlns:a16="http://schemas.microsoft.com/office/drawing/2014/main" id="{E2FE45FE-8245-B87E-BCD7-EA958EDD2B61}"/>
              </a:ext>
            </a:extLst>
          </p:cNvPr>
          <p:cNvSpPr/>
          <p:nvPr/>
        </p:nvSpPr>
        <p:spPr>
          <a:xfrm rot="16200000" flipV="1">
            <a:off x="7044221" y="2824457"/>
            <a:ext cx="3894566" cy="171399"/>
          </a:xfrm>
          <a:prstGeom prst="triangle">
            <a:avLst>
              <a:gd name="adj" fmla="val 50000"/>
            </a:avLst>
          </a:prstGeom>
          <a:gradFill flip="none" rotWithShape="1">
            <a:gsLst>
              <a:gs pos="0">
                <a:schemeClr val="bg1"/>
              </a:gs>
              <a:gs pos="31000">
                <a:schemeClr val="bg1">
                  <a:lumMod val="95000"/>
                </a:schemeClr>
              </a:gs>
              <a:gs pos="64000">
                <a:schemeClr val="bg1">
                  <a:lumMod val="85000"/>
                </a:schemeClr>
              </a:gs>
              <a:gs pos="98000">
                <a:schemeClr val="bg1">
                  <a:lumMod val="7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grpSp>
        <p:nvGrpSpPr>
          <p:cNvPr id="126" name="Group 125">
            <a:extLst>
              <a:ext uri="{FF2B5EF4-FFF2-40B4-BE49-F238E27FC236}">
                <a16:creationId xmlns:a16="http://schemas.microsoft.com/office/drawing/2014/main" id="{0AAE7E22-8502-2B8F-46AE-FF0F96920393}"/>
              </a:ext>
            </a:extLst>
          </p:cNvPr>
          <p:cNvGrpSpPr/>
          <p:nvPr/>
        </p:nvGrpSpPr>
        <p:grpSpPr>
          <a:xfrm>
            <a:off x="303838" y="5042210"/>
            <a:ext cx="11645392" cy="1412522"/>
            <a:chOff x="521208" y="5033400"/>
            <a:chExt cx="13430650" cy="1446532"/>
          </a:xfrm>
        </p:grpSpPr>
        <p:grpSp>
          <p:nvGrpSpPr>
            <p:cNvPr id="122" name="Group 121">
              <a:extLst>
                <a:ext uri="{FF2B5EF4-FFF2-40B4-BE49-F238E27FC236}">
                  <a16:creationId xmlns:a16="http://schemas.microsoft.com/office/drawing/2014/main" id="{36406959-F52B-2857-925E-7EF5FC3F45C4}"/>
                </a:ext>
              </a:extLst>
            </p:cNvPr>
            <p:cNvGrpSpPr/>
            <p:nvPr/>
          </p:nvGrpSpPr>
          <p:grpSpPr>
            <a:xfrm>
              <a:off x="521208" y="5033400"/>
              <a:ext cx="3200400" cy="1446451"/>
              <a:chOff x="10247985" y="1933584"/>
              <a:chExt cx="3200400" cy="1446451"/>
            </a:xfrm>
          </p:grpSpPr>
          <p:sp>
            <p:nvSpPr>
              <p:cNvPr id="74" name="Shape 3">
                <a:extLst>
                  <a:ext uri="{FF2B5EF4-FFF2-40B4-BE49-F238E27FC236}">
                    <a16:creationId xmlns:a16="http://schemas.microsoft.com/office/drawing/2014/main" id="{A6EA28DE-EA6E-FCEC-301D-77C0DB420409}"/>
                  </a:ext>
                </a:extLst>
              </p:cNvPr>
              <p:cNvSpPr/>
              <p:nvPr/>
            </p:nvSpPr>
            <p:spPr>
              <a:xfrm>
                <a:off x="10247985" y="1933584"/>
                <a:ext cx="3200400" cy="1446451"/>
              </a:xfrm>
              <a:prstGeom prst="homePlate">
                <a:avLst/>
              </a:prstGeom>
              <a:solidFill>
                <a:srgbClr val="031D41"/>
              </a:solidFill>
              <a:ln/>
              <a:effectLst>
                <a:outerShdw blurRad="76200" dist="17780" dir="5400000" algn="bl" rotWithShape="0">
                  <a:srgbClr val="1A1A1A">
                    <a:alpha val="12000"/>
                  </a:srgbClr>
                </a:outerShdw>
              </a:effectLst>
            </p:spPr>
            <p:txBody>
              <a:bodyPr/>
              <a:lstStyle/>
              <a:p>
                <a:endParaRPr lang="en-IN">
                  <a:solidFill>
                    <a:prstClr val="black"/>
                  </a:solidFill>
                  <a:latin typeface="Calibri" panose="020F0502020204030204"/>
                </a:endParaRPr>
              </a:p>
            </p:txBody>
          </p:sp>
          <p:sp>
            <p:nvSpPr>
              <p:cNvPr id="77" name="Shape 4">
                <a:extLst>
                  <a:ext uri="{FF2B5EF4-FFF2-40B4-BE49-F238E27FC236}">
                    <a16:creationId xmlns:a16="http://schemas.microsoft.com/office/drawing/2014/main" id="{FFEF87AE-F6CF-CC62-9BFB-C798C068C7AA}"/>
                  </a:ext>
                </a:extLst>
              </p:cNvPr>
              <p:cNvSpPr/>
              <p:nvPr/>
            </p:nvSpPr>
            <p:spPr>
              <a:xfrm>
                <a:off x="10394289" y="2262769"/>
                <a:ext cx="384048" cy="384048"/>
              </a:xfrm>
              <a:prstGeom prst="ellipse">
                <a:avLst/>
              </a:prstGeom>
              <a:solidFill>
                <a:srgbClr val="FFFFFF"/>
              </a:solidFill>
              <a:ln/>
            </p:spPr>
            <p:txBody>
              <a:bodyPr/>
              <a:lstStyle/>
              <a:p>
                <a:endParaRPr lang="en-IN">
                  <a:solidFill>
                    <a:prstClr val="black"/>
                  </a:solidFill>
                  <a:latin typeface="Calibri" panose="020F0502020204030204"/>
                </a:endParaRPr>
              </a:p>
            </p:txBody>
          </p:sp>
          <p:sp>
            <p:nvSpPr>
              <p:cNvPr id="79" name="Text 5">
                <a:extLst>
                  <a:ext uri="{FF2B5EF4-FFF2-40B4-BE49-F238E27FC236}">
                    <a16:creationId xmlns:a16="http://schemas.microsoft.com/office/drawing/2014/main" id="{CD931955-52D2-0048-AB9D-73F216CBE567}"/>
                  </a:ext>
                </a:extLst>
              </p:cNvPr>
              <p:cNvSpPr/>
              <p:nvPr/>
            </p:nvSpPr>
            <p:spPr>
              <a:xfrm>
                <a:off x="10394289" y="2262769"/>
                <a:ext cx="384048" cy="384048"/>
              </a:xfrm>
              <a:prstGeom prst="rect">
                <a:avLst/>
              </a:prstGeom>
              <a:noFill/>
              <a:ln/>
            </p:spPr>
            <p:txBody>
              <a:bodyPr wrap="square" lIns="0" tIns="0" rIns="0" bIns="0" rtlCol="0" anchor="ctr"/>
              <a:lstStyle/>
              <a:p>
                <a:pPr algn="ctr"/>
                <a:r>
                  <a:rPr lang="en-US" sz="1200" b="1">
                    <a:solidFill>
                      <a:srgbClr val="031D41"/>
                    </a:solidFill>
                    <a:latin typeface="Arial" pitchFamily="34" charset="0"/>
                    <a:ea typeface="Arial" pitchFamily="34" charset="-122"/>
                    <a:cs typeface="Arial" pitchFamily="34" charset="-120"/>
                  </a:rPr>
                  <a:t>1</a:t>
                </a:r>
                <a:endParaRPr lang="en-US" sz="1200">
                  <a:solidFill>
                    <a:prstClr val="black"/>
                  </a:solidFill>
                  <a:latin typeface="Calibri" panose="020F0502020204030204"/>
                </a:endParaRPr>
              </a:p>
            </p:txBody>
          </p:sp>
          <p:sp>
            <p:nvSpPr>
              <p:cNvPr id="100" name="Text 6">
                <a:extLst>
                  <a:ext uri="{FF2B5EF4-FFF2-40B4-BE49-F238E27FC236}">
                    <a16:creationId xmlns:a16="http://schemas.microsoft.com/office/drawing/2014/main" id="{AD7207AB-78FD-CE5E-84A1-3F01DECBB262}"/>
                  </a:ext>
                </a:extLst>
              </p:cNvPr>
              <p:cNvSpPr/>
              <p:nvPr/>
            </p:nvSpPr>
            <p:spPr>
              <a:xfrm>
                <a:off x="10906353" y="2025025"/>
                <a:ext cx="1965960" cy="402336"/>
              </a:xfrm>
              <a:prstGeom prst="rect">
                <a:avLst/>
              </a:prstGeom>
              <a:noFill/>
              <a:ln/>
            </p:spPr>
            <p:txBody>
              <a:bodyPr wrap="square" lIns="0" tIns="0" rIns="0" bIns="0" rtlCol="0" anchor="ctr"/>
              <a:lstStyle/>
              <a:p>
                <a:pPr>
                  <a:lnSpc>
                    <a:spcPct val="92000"/>
                  </a:lnSpc>
                </a:pPr>
                <a:r>
                  <a:rPr lang="en-US" sz="1050" b="1">
                    <a:solidFill>
                      <a:srgbClr val="FFFFFF"/>
                    </a:solidFill>
                    <a:latin typeface="Arial" pitchFamily="34" charset="0"/>
                    <a:ea typeface="Arial" pitchFamily="34" charset="-122"/>
                    <a:cs typeface="Arial" pitchFamily="34" charset="-120"/>
                  </a:rPr>
                  <a:t>Universal vs. Targeted</a:t>
                </a:r>
                <a:endParaRPr lang="en-US" sz="1050">
                  <a:solidFill>
                    <a:prstClr val="black"/>
                  </a:solidFill>
                  <a:latin typeface="Calibri" panose="020F0502020204030204"/>
                </a:endParaRPr>
              </a:p>
            </p:txBody>
          </p:sp>
          <p:sp>
            <p:nvSpPr>
              <p:cNvPr id="101" name="Text 7">
                <a:extLst>
                  <a:ext uri="{FF2B5EF4-FFF2-40B4-BE49-F238E27FC236}">
                    <a16:creationId xmlns:a16="http://schemas.microsoft.com/office/drawing/2014/main" id="{41B6C436-1817-7136-B6FC-388D20E15E15}"/>
                  </a:ext>
                </a:extLst>
              </p:cNvPr>
              <p:cNvSpPr/>
              <p:nvPr/>
            </p:nvSpPr>
            <p:spPr>
              <a:xfrm>
                <a:off x="10906353" y="2427361"/>
                <a:ext cx="2011680" cy="847754"/>
              </a:xfrm>
              <a:prstGeom prst="rect">
                <a:avLst/>
              </a:prstGeom>
              <a:noFill/>
              <a:ln/>
            </p:spPr>
            <p:txBody>
              <a:bodyPr wrap="square" lIns="0" tIns="0" rIns="0" bIns="0" rtlCol="0" anchor="t"/>
              <a:lstStyle/>
              <a:p>
                <a:pPr>
                  <a:lnSpc>
                    <a:spcPct val="92000"/>
                  </a:lnSpc>
                </a:pPr>
                <a:r>
                  <a:rPr lang="en-US" sz="900">
                    <a:solidFill>
                      <a:srgbClr val="E4F3F5"/>
                    </a:solidFill>
                    <a:latin typeface="Verdana" panose="020B0604030504040204" pitchFamily="34" charset="0"/>
                    <a:ea typeface="Verdana" panose="020B0604030504040204" pitchFamily="34" charset="0"/>
                    <a:cs typeface="Calibri" pitchFamily="34" charset="-120"/>
                  </a:rPr>
                  <a:t>Universal or restricted to identified groups · clarity of eligibility · exclusion and deduplication arrangements</a:t>
                </a:r>
                <a:endParaRPr lang="en-US" sz="900">
                  <a:solidFill>
                    <a:prstClr val="black"/>
                  </a:solidFill>
                  <a:latin typeface="Verdana" panose="020B0604030504040204" pitchFamily="34" charset="0"/>
                  <a:ea typeface="Verdana" panose="020B0604030504040204" pitchFamily="34" charset="0"/>
                </a:endParaRPr>
              </a:p>
            </p:txBody>
          </p:sp>
        </p:grpSp>
        <p:grpSp>
          <p:nvGrpSpPr>
            <p:cNvPr id="123" name="Group 122">
              <a:extLst>
                <a:ext uri="{FF2B5EF4-FFF2-40B4-BE49-F238E27FC236}">
                  <a16:creationId xmlns:a16="http://schemas.microsoft.com/office/drawing/2014/main" id="{DE3D5F5A-4154-DDFD-7DFE-E97CB4B20859}"/>
                </a:ext>
              </a:extLst>
            </p:cNvPr>
            <p:cNvGrpSpPr/>
            <p:nvPr/>
          </p:nvGrpSpPr>
          <p:grpSpPr>
            <a:xfrm>
              <a:off x="4002076" y="5033479"/>
              <a:ext cx="3200400" cy="1446453"/>
              <a:chOff x="10247985" y="3067440"/>
              <a:chExt cx="3200400" cy="1446453"/>
            </a:xfrm>
          </p:grpSpPr>
          <p:sp>
            <p:nvSpPr>
              <p:cNvPr id="102" name="Shape 14">
                <a:extLst>
                  <a:ext uri="{FF2B5EF4-FFF2-40B4-BE49-F238E27FC236}">
                    <a16:creationId xmlns:a16="http://schemas.microsoft.com/office/drawing/2014/main" id="{C8627517-8E4F-A52D-0BDC-CABA0D530431}"/>
                  </a:ext>
                </a:extLst>
              </p:cNvPr>
              <p:cNvSpPr/>
              <p:nvPr/>
            </p:nvSpPr>
            <p:spPr>
              <a:xfrm>
                <a:off x="10247985" y="3067440"/>
                <a:ext cx="3200400" cy="1446453"/>
              </a:xfrm>
              <a:prstGeom prst="homePlate">
                <a:avLst/>
              </a:prstGeom>
              <a:solidFill>
                <a:srgbClr val="004F59"/>
              </a:solidFill>
              <a:ln/>
              <a:effectLst>
                <a:outerShdw blurRad="76200" dist="17780" dir="5400000" algn="bl" rotWithShape="0">
                  <a:srgbClr val="1A1A1A">
                    <a:alpha val="12000"/>
                  </a:srgbClr>
                </a:outerShdw>
              </a:effectLst>
            </p:spPr>
            <p:txBody>
              <a:bodyPr/>
              <a:lstStyle/>
              <a:p>
                <a:endParaRPr lang="en-IN">
                  <a:solidFill>
                    <a:prstClr val="black"/>
                  </a:solidFill>
                  <a:latin typeface="Calibri" panose="020F0502020204030204"/>
                </a:endParaRPr>
              </a:p>
            </p:txBody>
          </p:sp>
          <p:sp>
            <p:nvSpPr>
              <p:cNvPr id="103" name="Shape 15">
                <a:extLst>
                  <a:ext uri="{FF2B5EF4-FFF2-40B4-BE49-F238E27FC236}">
                    <a16:creationId xmlns:a16="http://schemas.microsoft.com/office/drawing/2014/main" id="{0C816F4D-9EB6-3AFD-E7EA-B5F4B3CB1E0C}"/>
                  </a:ext>
                </a:extLst>
              </p:cNvPr>
              <p:cNvSpPr/>
              <p:nvPr/>
            </p:nvSpPr>
            <p:spPr>
              <a:xfrm>
                <a:off x="10394289" y="3396625"/>
                <a:ext cx="384048" cy="384048"/>
              </a:xfrm>
              <a:prstGeom prst="ellipse">
                <a:avLst/>
              </a:prstGeom>
              <a:solidFill>
                <a:srgbClr val="FFFFFF"/>
              </a:solidFill>
              <a:ln/>
            </p:spPr>
            <p:txBody>
              <a:bodyPr/>
              <a:lstStyle/>
              <a:p>
                <a:endParaRPr lang="en-IN">
                  <a:solidFill>
                    <a:prstClr val="black"/>
                  </a:solidFill>
                  <a:latin typeface="Calibri" panose="020F0502020204030204"/>
                </a:endParaRPr>
              </a:p>
            </p:txBody>
          </p:sp>
          <p:sp>
            <p:nvSpPr>
              <p:cNvPr id="104" name="Text 16">
                <a:extLst>
                  <a:ext uri="{FF2B5EF4-FFF2-40B4-BE49-F238E27FC236}">
                    <a16:creationId xmlns:a16="http://schemas.microsoft.com/office/drawing/2014/main" id="{0CA16C20-4DD1-8BC8-C1E2-43E674312700}"/>
                  </a:ext>
                </a:extLst>
              </p:cNvPr>
              <p:cNvSpPr/>
              <p:nvPr/>
            </p:nvSpPr>
            <p:spPr>
              <a:xfrm>
                <a:off x="10394289" y="3396625"/>
                <a:ext cx="384048" cy="384048"/>
              </a:xfrm>
              <a:prstGeom prst="rect">
                <a:avLst/>
              </a:prstGeom>
              <a:noFill/>
              <a:ln/>
            </p:spPr>
            <p:txBody>
              <a:bodyPr wrap="square" lIns="0" tIns="0" rIns="0" bIns="0" rtlCol="0" anchor="ctr"/>
              <a:lstStyle/>
              <a:p>
                <a:pPr algn="ctr"/>
                <a:r>
                  <a:rPr lang="en-US" sz="1200" b="1">
                    <a:solidFill>
                      <a:srgbClr val="004F59"/>
                    </a:solidFill>
                    <a:latin typeface="Arial" pitchFamily="34" charset="0"/>
                    <a:ea typeface="Arial" pitchFamily="34" charset="-122"/>
                    <a:cs typeface="Arial" pitchFamily="34" charset="-120"/>
                  </a:rPr>
                  <a:t>2</a:t>
                </a:r>
                <a:endParaRPr lang="en-US" sz="1200">
                  <a:solidFill>
                    <a:prstClr val="black"/>
                  </a:solidFill>
                  <a:latin typeface="Calibri" panose="020F0502020204030204"/>
                </a:endParaRPr>
              </a:p>
            </p:txBody>
          </p:sp>
          <p:sp>
            <p:nvSpPr>
              <p:cNvPr id="105" name="Text 17">
                <a:extLst>
                  <a:ext uri="{FF2B5EF4-FFF2-40B4-BE49-F238E27FC236}">
                    <a16:creationId xmlns:a16="http://schemas.microsoft.com/office/drawing/2014/main" id="{BD6D244D-3B2D-8361-26F1-6CE4E36F5F18}"/>
                  </a:ext>
                </a:extLst>
              </p:cNvPr>
              <p:cNvSpPr/>
              <p:nvPr/>
            </p:nvSpPr>
            <p:spPr>
              <a:xfrm>
                <a:off x="10906353" y="3158881"/>
                <a:ext cx="1965960" cy="402336"/>
              </a:xfrm>
              <a:prstGeom prst="rect">
                <a:avLst/>
              </a:prstGeom>
              <a:noFill/>
              <a:ln/>
            </p:spPr>
            <p:txBody>
              <a:bodyPr wrap="square" lIns="0" tIns="0" rIns="0" bIns="0" rtlCol="0" anchor="ctr"/>
              <a:lstStyle/>
              <a:p>
                <a:pPr>
                  <a:lnSpc>
                    <a:spcPct val="92000"/>
                  </a:lnSpc>
                </a:pPr>
                <a:r>
                  <a:rPr lang="en-US" sz="1050" b="1">
                    <a:solidFill>
                      <a:srgbClr val="FFFFFF"/>
                    </a:solidFill>
                    <a:latin typeface="Arial" pitchFamily="34" charset="0"/>
                    <a:ea typeface="Arial" pitchFamily="34" charset="-122"/>
                    <a:cs typeface="Arial" pitchFamily="34" charset="-120"/>
                  </a:rPr>
                  <a:t>Consumption vs. Investment</a:t>
                </a:r>
                <a:endParaRPr lang="en-US" sz="1050">
                  <a:solidFill>
                    <a:prstClr val="black"/>
                  </a:solidFill>
                  <a:latin typeface="Calibri" panose="020F0502020204030204"/>
                </a:endParaRPr>
              </a:p>
            </p:txBody>
          </p:sp>
          <p:sp>
            <p:nvSpPr>
              <p:cNvPr id="106" name="Text 18">
                <a:extLst>
                  <a:ext uri="{FF2B5EF4-FFF2-40B4-BE49-F238E27FC236}">
                    <a16:creationId xmlns:a16="http://schemas.microsoft.com/office/drawing/2014/main" id="{A9D357AD-CE4D-DCEB-003C-BC340BE7BCC8}"/>
                  </a:ext>
                </a:extLst>
              </p:cNvPr>
              <p:cNvSpPr/>
              <p:nvPr/>
            </p:nvSpPr>
            <p:spPr>
              <a:xfrm>
                <a:off x="10906353" y="3561216"/>
                <a:ext cx="2011680" cy="749477"/>
              </a:xfrm>
              <a:prstGeom prst="rect">
                <a:avLst/>
              </a:prstGeom>
              <a:noFill/>
              <a:ln/>
            </p:spPr>
            <p:txBody>
              <a:bodyPr wrap="square" lIns="0" tIns="0" rIns="0" bIns="0" rtlCol="0" anchor="t"/>
              <a:lstStyle/>
              <a:p>
                <a:pPr>
                  <a:lnSpc>
                    <a:spcPct val="92000"/>
                  </a:lnSpc>
                </a:pPr>
                <a:r>
                  <a:rPr lang="en-US" sz="900">
                    <a:solidFill>
                      <a:srgbClr val="E4F3F5"/>
                    </a:solidFill>
                    <a:latin typeface="Verdana" panose="020B0604030504040204" pitchFamily="34" charset="0"/>
                    <a:ea typeface="Verdana" panose="020B0604030504040204" pitchFamily="34" charset="0"/>
                    <a:cs typeface="Calibri" pitchFamily="34" charset="-120"/>
                  </a:rPr>
                  <a:t>Supports immediate household consumption, or builds human capital, agricultural productivity and durable infrastructure</a:t>
                </a:r>
                <a:endParaRPr lang="en-US" sz="900">
                  <a:solidFill>
                    <a:prstClr val="black"/>
                  </a:solidFill>
                  <a:latin typeface="Verdana" panose="020B0604030504040204" pitchFamily="34" charset="0"/>
                  <a:ea typeface="Verdana" panose="020B0604030504040204" pitchFamily="34" charset="0"/>
                </a:endParaRPr>
              </a:p>
            </p:txBody>
          </p:sp>
        </p:grpSp>
        <p:grpSp>
          <p:nvGrpSpPr>
            <p:cNvPr id="124" name="Group 123">
              <a:extLst>
                <a:ext uri="{FF2B5EF4-FFF2-40B4-BE49-F238E27FC236}">
                  <a16:creationId xmlns:a16="http://schemas.microsoft.com/office/drawing/2014/main" id="{E510AD46-5AB0-B02F-EA74-81FF2F81D4F9}"/>
                </a:ext>
              </a:extLst>
            </p:cNvPr>
            <p:cNvGrpSpPr/>
            <p:nvPr/>
          </p:nvGrpSpPr>
          <p:grpSpPr>
            <a:xfrm>
              <a:off x="7376767" y="5033401"/>
              <a:ext cx="3200400" cy="1446450"/>
              <a:chOff x="10247985" y="4201297"/>
              <a:chExt cx="3200400" cy="1446450"/>
            </a:xfrm>
          </p:grpSpPr>
          <p:sp>
            <p:nvSpPr>
              <p:cNvPr id="107" name="Shape 25">
                <a:extLst>
                  <a:ext uri="{FF2B5EF4-FFF2-40B4-BE49-F238E27FC236}">
                    <a16:creationId xmlns:a16="http://schemas.microsoft.com/office/drawing/2014/main" id="{584C4CFB-685A-2E6F-E567-F1F7A643DBFE}"/>
                  </a:ext>
                </a:extLst>
              </p:cNvPr>
              <p:cNvSpPr/>
              <p:nvPr/>
            </p:nvSpPr>
            <p:spPr>
              <a:xfrm>
                <a:off x="10247985" y="4201297"/>
                <a:ext cx="3200400" cy="1446450"/>
              </a:xfrm>
              <a:prstGeom prst="homePlate">
                <a:avLst/>
              </a:prstGeom>
              <a:solidFill>
                <a:srgbClr val="007680"/>
              </a:solidFill>
              <a:ln/>
              <a:effectLst>
                <a:outerShdw blurRad="76200" dist="17780" dir="5400000" algn="bl" rotWithShape="0">
                  <a:srgbClr val="1A1A1A">
                    <a:alpha val="12000"/>
                  </a:srgbClr>
                </a:outerShdw>
              </a:effectLst>
            </p:spPr>
            <p:txBody>
              <a:bodyPr/>
              <a:lstStyle/>
              <a:p>
                <a:endParaRPr lang="en-IN">
                  <a:solidFill>
                    <a:prstClr val="black"/>
                  </a:solidFill>
                  <a:latin typeface="Calibri" panose="020F0502020204030204"/>
                </a:endParaRPr>
              </a:p>
            </p:txBody>
          </p:sp>
          <p:sp>
            <p:nvSpPr>
              <p:cNvPr id="108" name="Shape 26">
                <a:extLst>
                  <a:ext uri="{FF2B5EF4-FFF2-40B4-BE49-F238E27FC236}">
                    <a16:creationId xmlns:a16="http://schemas.microsoft.com/office/drawing/2014/main" id="{63983164-FA68-FD7F-AB28-1FEA316F6E6E}"/>
                  </a:ext>
                </a:extLst>
              </p:cNvPr>
              <p:cNvSpPr/>
              <p:nvPr/>
            </p:nvSpPr>
            <p:spPr>
              <a:xfrm>
                <a:off x="10394289" y="4530481"/>
                <a:ext cx="384048" cy="384048"/>
              </a:xfrm>
              <a:prstGeom prst="ellipse">
                <a:avLst/>
              </a:prstGeom>
              <a:solidFill>
                <a:srgbClr val="FFFFFF"/>
              </a:solidFill>
              <a:ln/>
            </p:spPr>
            <p:txBody>
              <a:bodyPr/>
              <a:lstStyle/>
              <a:p>
                <a:endParaRPr lang="en-IN">
                  <a:solidFill>
                    <a:prstClr val="black"/>
                  </a:solidFill>
                  <a:latin typeface="Calibri" panose="020F0502020204030204"/>
                </a:endParaRPr>
              </a:p>
            </p:txBody>
          </p:sp>
          <p:sp>
            <p:nvSpPr>
              <p:cNvPr id="114" name="Text 27">
                <a:extLst>
                  <a:ext uri="{FF2B5EF4-FFF2-40B4-BE49-F238E27FC236}">
                    <a16:creationId xmlns:a16="http://schemas.microsoft.com/office/drawing/2014/main" id="{A746EB53-F520-8D40-062C-F0E18B2B3F3A}"/>
                  </a:ext>
                </a:extLst>
              </p:cNvPr>
              <p:cNvSpPr/>
              <p:nvPr/>
            </p:nvSpPr>
            <p:spPr>
              <a:xfrm>
                <a:off x="10394289" y="4530481"/>
                <a:ext cx="384048" cy="384048"/>
              </a:xfrm>
              <a:prstGeom prst="rect">
                <a:avLst/>
              </a:prstGeom>
              <a:noFill/>
              <a:ln/>
            </p:spPr>
            <p:txBody>
              <a:bodyPr wrap="square" lIns="0" tIns="0" rIns="0" bIns="0" rtlCol="0" anchor="ctr"/>
              <a:lstStyle/>
              <a:p>
                <a:pPr algn="ctr"/>
                <a:r>
                  <a:rPr lang="en-US" sz="1200" b="1">
                    <a:solidFill>
                      <a:srgbClr val="007680"/>
                    </a:solidFill>
                    <a:latin typeface="Arial" pitchFamily="34" charset="0"/>
                    <a:ea typeface="Arial" pitchFamily="34" charset="-122"/>
                    <a:cs typeface="Arial" pitchFamily="34" charset="-120"/>
                  </a:rPr>
                  <a:t>3</a:t>
                </a:r>
                <a:endParaRPr lang="en-US" sz="1200">
                  <a:solidFill>
                    <a:prstClr val="black"/>
                  </a:solidFill>
                  <a:latin typeface="Calibri" panose="020F0502020204030204"/>
                </a:endParaRPr>
              </a:p>
            </p:txBody>
          </p:sp>
          <p:sp>
            <p:nvSpPr>
              <p:cNvPr id="115" name="Text 28">
                <a:extLst>
                  <a:ext uri="{FF2B5EF4-FFF2-40B4-BE49-F238E27FC236}">
                    <a16:creationId xmlns:a16="http://schemas.microsoft.com/office/drawing/2014/main" id="{DFB8C4D2-48CA-519A-7298-551DE2DADBF5}"/>
                  </a:ext>
                </a:extLst>
              </p:cNvPr>
              <p:cNvSpPr/>
              <p:nvPr/>
            </p:nvSpPr>
            <p:spPr>
              <a:xfrm>
                <a:off x="10906355" y="4292737"/>
                <a:ext cx="1965960" cy="402336"/>
              </a:xfrm>
              <a:prstGeom prst="rect">
                <a:avLst/>
              </a:prstGeom>
              <a:noFill/>
              <a:ln/>
            </p:spPr>
            <p:txBody>
              <a:bodyPr wrap="square" lIns="0" tIns="0" rIns="0" bIns="0" rtlCol="0" anchor="ctr"/>
              <a:lstStyle/>
              <a:p>
                <a:pPr>
                  <a:lnSpc>
                    <a:spcPct val="92000"/>
                  </a:lnSpc>
                </a:pPr>
                <a:r>
                  <a:rPr lang="en-US" sz="1050" b="1">
                    <a:solidFill>
                      <a:srgbClr val="FFFFFF"/>
                    </a:solidFill>
                    <a:latin typeface="Arial" pitchFamily="34" charset="0"/>
                    <a:ea typeface="Arial" pitchFamily="34" charset="-122"/>
                    <a:cs typeface="Arial" pitchFamily="34" charset="-120"/>
                  </a:rPr>
                  <a:t>Progressive vs. Regressive</a:t>
                </a:r>
                <a:endParaRPr lang="en-US" sz="1050">
                  <a:solidFill>
                    <a:prstClr val="black"/>
                  </a:solidFill>
                  <a:latin typeface="Calibri" panose="020F0502020204030204"/>
                </a:endParaRPr>
              </a:p>
            </p:txBody>
          </p:sp>
          <p:sp>
            <p:nvSpPr>
              <p:cNvPr id="116" name="Text 29">
                <a:extLst>
                  <a:ext uri="{FF2B5EF4-FFF2-40B4-BE49-F238E27FC236}">
                    <a16:creationId xmlns:a16="http://schemas.microsoft.com/office/drawing/2014/main" id="{20A68FD1-1B7E-7D76-D8F0-F0D9D141F0B8}"/>
                  </a:ext>
                </a:extLst>
              </p:cNvPr>
              <p:cNvSpPr/>
              <p:nvPr/>
            </p:nvSpPr>
            <p:spPr>
              <a:xfrm>
                <a:off x="10906353" y="4695073"/>
                <a:ext cx="2011680" cy="493776"/>
              </a:xfrm>
              <a:prstGeom prst="rect">
                <a:avLst/>
              </a:prstGeom>
              <a:noFill/>
              <a:ln/>
            </p:spPr>
            <p:txBody>
              <a:bodyPr wrap="square" lIns="0" tIns="0" rIns="0" bIns="0" rtlCol="0" anchor="t"/>
              <a:lstStyle/>
              <a:p>
                <a:pPr>
                  <a:lnSpc>
                    <a:spcPct val="92000"/>
                  </a:lnSpc>
                </a:pPr>
                <a:r>
                  <a:rPr lang="en-US" sz="900">
                    <a:solidFill>
                      <a:srgbClr val="E4F3F5"/>
                    </a:solidFill>
                    <a:latin typeface="Verdana" panose="020B0604030504040204" pitchFamily="34" charset="0"/>
                    <a:ea typeface="Verdana" panose="020B0604030504040204" pitchFamily="34" charset="0"/>
                    <a:cs typeface="Calibri" pitchFamily="34" charset="-120"/>
                  </a:rPr>
                  <a:t>Benefits flow to lower MPCE quantiles reducing inequality, or are captured by affluent quantiles consuming higher volumes</a:t>
                </a:r>
                <a:endParaRPr lang="en-US" sz="900">
                  <a:solidFill>
                    <a:prstClr val="black"/>
                  </a:solidFill>
                  <a:latin typeface="Verdana" panose="020B0604030504040204" pitchFamily="34" charset="0"/>
                  <a:ea typeface="Verdana" panose="020B0604030504040204" pitchFamily="34" charset="0"/>
                </a:endParaRPr>
              </a:p>
            </p:txBody>
          </p:sp>
        </p:grpSp>
        <p:grpSp>
          <p:nvGrpSpPr>
            <p:cNvPr id="125" name="Group 124">
              <a:extLst>
                <a:ext uri="{FF2B5EF4-FFF2-40B4-BE49-F238E27FC236}">
                  <a16:creationId xmlns:a16="http://schemas.microsoft.com/office/drawing/2014/main" id="{E7A568E4-147D-5D33-9F80-2D7051CA4198}"/>
                </a:ext>
              </a:extLst>
            </p:cNvPr>
            <p:cNvGrpSpPr/>
            <p:nvPr/>
          </p:nvGrpSpPr>
          <p:grpSpPr>
            <a:xfrm>
              <a:off x="10751458" y="5033400"/>
              <a:ext cx="3200400" cy="1446443"/>
              <a:chOff x="10247985" y="5335152"/>
              <a:chExt cx="3200400" cy="1446443"/>
            </a:xfrm>
          </p:grpSpPr>
          <p:sp>
            <p:nvSpPr>
              <p:cNvPr id="117" name="Shape 36">
                <a:extLst>
                  <a:ext uri="{FF2B5EF4-FFF2-40B4-BE49-F238E27FC236}">
                    <a16:creationId xmlns:a16="http://schemas.microsoft.com/office/drawing/2014/main" id="{E404E13F-0507-9364-E8CB-FA500E553E41}"/>
                  </a:ext>
                </a:extLst>
              </p:cNvPr>
              <p:cNvSpPr/>
              <p:nvPr/>
            </p:nvSpPr>
            <p:spPr>
              <a:xfrm>
                <a:off x="10247985" y="5335152"/>
                <a:ext cx="3200400" cy="1446443"/>
              </a:xfrm>
              <a:prstGeom prst="homePlate">
                <a:avLst/>
              </a:prstGeom>
              <a:solidFill>
                <a:srgbClr val="0097A9"/>
              </a:solidFill>
              <a:ln/>
              <a:effectLst>
                <a:outerShdw blurRad="76200" dist="17780" dir="5400000" algn="bl" rotWithShape="0">
                  <a:srgbClr val="1A1A1A">
                    <a:alpha val="12000"/>
                  </a:srgbClr>
                </a:outerShdw>
              </a:effectLst>
            </p:spPr>
            <p:txBody>
              <a:bodyPr/>
              <a:lstStyle/>
              <a:p>
                <a:endParaRPr lang="en-IN">
                  <a:solidFill>
                    <a:prstClr val="black"/>
                  </a:solidFill>
                  <a:latin typeface="Calibri" panose="020F0502020204030204"/>
                </a:endParaRPr>
              </a:p>
            </p:txBody>
          </p:sp>
          <p:sp>
            <p:nvSpPr>
              <p:cNvPr id="118" name="Shape 37">
                <a:extLst>
                  <a:ext uri="{FF2B5EF4-FFF2-40B4-BE49-F238E27FC236}">
                    <a16:creationId xmlns:a16="http://schemas.microsoft.com/office/drawing/2014/main" id="{6B02EE6E-129D-D8C1-BBB1-34322E7CCC6F}"/>
                  </a:ext>
                </a:extLst>
              </p:cNvPr>
              <p:cNvSpPr/>
              <p:nvPr/>
            </p:nvSpPr>
            <p:spPr>
              <a:xfrm>
                <a:off x="10394289" y="5664337"/>
                <a:ext cx="384048" cy="384048"/>
              </a:xfrm>
              <a:prstGeom prst="ellipse">
                <a:avLst/>
              </a:prstGeom>
              <a:solidFill>
                <a:srgbClr val="FFFFFF"/>
              </a:solidFill>
              <a:ln/>
            </p:spPr>
            <p:txBody>
              <a:bodyPr/>
              <a:lstStyle/>
              <a:p>
                <a:endParaRPr lang="en-IN">
                  <a:solidFill>
                    <a:prstClr val="black"/>
                  </a:solidFill>
                  <a:latin typeface="Calibri" panose="020F0502020204030204"/>
                </a:endParaRPr>
              </a:p>
            </p:txBody>
          </p:sp>
          <p:sp>
            <p:nvSpPr>
              <p:cNvPr id="119" name="Text 38">
                <a:extLst>
                  <a:ext uri="{FF2B5EF4-FFF2-40B4-BE49-F238E27FC236}">
                    <a16:creationId xmlns:a16="http://schemas.microsoft.com/office/drawing/2014/main" id="{65091E74-F903-6292-262F-2C8096FCCDE9}"/>
                  </a:ext>
                </a:extLst>
              </p:cNvPr>
              <p:cNvSpPr/>
              <p:nvPr/>
            </p:nvSpPr>
            <p:spPr>
              <a:xfrm>
                <a:off x="10394289" y="5664337"/>
                <a:ext cx="384048" cy="384048"/>
              </a:xfrm>
              <a:prstGeom prst="rect">
                <a:avLst/>
              </a:prstGeom>
              <a:noFill/>
              <a:ln/>
            </p:spPr>
            <p:txBody>
              <a:bodyPr wrap="square" lIns="0" tIns="0" rIns="0" bIns="0" rtlCol="0" anchor="ctr"/>
              <a:lstStyle/>
              <a:p>
                <a:pPr algn="ctr"/>
                <a:r>
                  <a:rPr lang="en-US" sz="1200" b="1">
                    <a:solidFill>
                      <a:srgbClr val="0097A9"/>
                    </a:solidFill>
                    <a:latin typeface="Arial" pitchFamily="34" charset="0"/>
                    <a:ea typeface="Arial" pitchFamily="34" charset="-122"/>
                    <a:cs typeface="Arial" pitchFamily="34" charset="-120"/>
                  </a:rPr>
                  <a:t>4</a:t>
                </a:r>
                <a:endParaRPr lang="en-US" sz="1200">
                  <a:solidFill>
                    <a:prstClr val="black"/>
                  </a:solidFill>
                  <a:latin typeface="Calibri" panose="020F0502020204030204"/>
                </a:endParaRPr>
              </a:p>
            </p:txBody>
          </p:sp>
          <p:sp>
            <p:nvSpPr>
              <p:cNvPr id="120" name="Text 39">
                <a:extLst>
                  <a:ext uri="{FF2B5EF4-FFF2-40B4-BE49-F238E27FC236}">
                    <a16:creationId xmlns:a16="http://schemas.microsoft.com/office/drawing/2014/main" id="{A7676065-4F59-F3B8-E86F-C46375C9B4C5}"/>
                  </a:ext>
                </a:extLst>
              </p:cNvPr>
              <p:cNvSpPr/>
              <p:nvPr/>
            </p:nvSpPr>
            <p:spPr>
              <a:xfrm>
                <a:off x="10906353" y="5426593"/>
                <a:ext cx="1965960" cy="402336"/>
              </a:xfrm>
              <a:prstGeom prst="rect">
                <a:avLst/>
              </a:prstGeom>
              <a:noFill/>
              <a:ln/>
            </p:spPr>
            <p:txBody>
              <a:bodyPr wrap="square" lIns="0" tIns="0" rIns="0" bIns="0" rtlCol="0" anchor="ctr"/>
              <a:lstStyle/>
              <a:p>
                <a:pPr>
                  <a:lnSpc>
                    <a:spcPct val="92000"/>
                  </a:lnSpc>
                </a:pPr>
                <a:r>
                  <a:rPr lang="en-US" sz="1050" b="1">
                    <a:solidFill>
                      <a:srgbClr val="FFFFFF"/>
                    </a:solidFill>
                    <a:latin typeface="Arial" pitchFamily="34" charset="0"/>
                    <a:ea typeface="Arial" pitchFamily="34" charset="-122"/>
                    <a:cs typeface="Arial" pitchFamily="34" charset="-120"/>
                  </a:rPr>
                  <a:t>Positive vs. Negative externalities</a:t>
                </a:r>
                <a:endParaRPr lang="en-US" sz="1050">
                  <a:solidFill>
                    <a:prstClr val="black"/>
                  </a:solidFill>
                  <a:latin typeface="Calibri" panose="020F0502020204030204"/>
                </a:endParaRPr>
              </a:p>
            </p:txBody>
          </p:sp>
          <p:sp>
            <p:nvSpPr>
              <p:cNvPr id="121" name="Text 40">
                <a:extLst>
                  <a:ext uri="{FF2B5EF4-FFF2-40B4-BE49-F238E27FC236}">
                    <a16:creationId xmlns:a16="http://schemas.microsoft.com/office/drawing/2014/main" id="{4CEAEE17-A70F-E79B-E4E2-676BCC794229}"/>
                  </a:ext>
                </a:extLst>
              </p:cNvPr>
              <p:cNvSpPr/>
              <p:nvPr/>
            </p:nvSpPr>
            <p:spPr>
              <a:xfrm>
                <a:off x="10906351" y="5828929"/>
                <a:ext cx="2011680" cy="493776"/>
              </a:xfrm>
              <a:prstGeom prst="rect">
                <a:avLst/>
              </a:prstGeom>
              <a:noFill/>
              <a:ln/>
            </p:spPr>
            <p:txBody>
              <a:bodyPr wrap="square" lIns="0" tIns="0" rIns="0" bIns="0" rtlCol="0" anchor="t"/>
              <a:lstStyle/>
              <a:p>
                <a:pPr>
                  <a:lnSpc>
                    <a:spcPct val="92000"/>
                  </a:lnSpc>
                </a:pPr>
                <a:r>
                  <a:rPr lang="en-US" sz="900">
                    <a:solidFill>
                      <a:srgbClr val="E4F3F5"/>
                    </a:solidFill>
                    <a:latin typeface="Verdana" panose="020B0604030504040204" pitchFamily="34" charset="0"/>
                    <a:ea typeface="Verdana" panose="020B0604030504040204" pitchFamily="34" charset="0"/>
                    <a:cs typeface="Calibri" pitchFamily="34" charset="-120"/>
                  </a:rPr>
                  <a:t>Creates uncompensated societal benefit in health, literacy or clean energy, or distorts pricing, depletes resources and erodes credit discipline</a:t>
                </a:r>
                <a:endParaRPr lang="en-US" sz="900">
                  <a:solidFill>
                    <a:prstClr val="black"/>
                  </a:solidFill>
                  <a:latin typeface="Verdana" panose="020B0604030504040204" pitchFamily="34" charset="0"/>
                  <a:ea typeface="Verdana" panose="020B0604030504040204" pitchFamily="34" charset="0"/>
                </a:endParaRPr>
              </a:p>
            </p:txBody>
          </p:sp>
        </p:grpSp>
      </p:grpSp>
      <p:sp>
        <p:nvSpPr>
          <p:cNvPr id="127" name="Text 2">
            <a:extLst>
              <a:ext uri="{FF2B5EF4-FFF2-40B4-BE49-F238E27FC236}">
                <a16:creationId xmlns:a16="http://schemas.microsoft.com/office/drawing/2014/main" id="{0513ACB2-0C36-65ED-F840-07832799545C}"/>
              </a:ext>
            </a:extLst>
          </p:cNvPr>
          <p:cNvSpPr/>
          <p:nvPr/>
        </p:nvSpPr>
        <p:spPr>
          <a:xfrm>
            <a:off x="460555" y="4743106"/>
            <a:ext cx="11525067" cy="192038"/>
          </a:xfrm>
          <a:prstGeom prst="rect">
            <a:avLst/>
          </a:prstGeom>
          <a:solidFill>
            <a:schemeClr val="tx1">
              <a:lumMod val="95000"/>
              <a:lumOff val="5000"/>
            </a:schemeClr>
          </a:solidFill>
          <a:ln/>
        </p:spPr>
        <p:txBody>
          <a:bodyPr wrap="square" lIns="0" tIns="0" rIns="0" bIns="0" rtlCol="0" anchor="ctr"/>
          <a:lstStyle/>
          <a:p>
            <a:pPr marL="0" indent="0" algn="ctr">
              <a:buNone/>
            </a:pPr>
            <a:r>
              <a:rPr lang="en-US" sz="1150" b="1">
                <a:solidFill>
                  <a:schemeClr val="bg1"/>
                </a:solidFill>
                <a:latin typeface="Verdana" panose="020B0604030504040204" pitchFamily="34" charset="0"/>
                <a:ea typeface="Verdana" panose="020B0604030504040204" pitchFamily="34" charset="0"/>
                <a:cs typeface="Calibri" pitchFamily="34" charset="-120"/>
              </a:rPr>
              <a:t>Every identified scheme is tested against four dimensions on documented evidence, never on its name or its sector</a:t>
            </a:r>
            <a:endParaRPr lang="en-US" sz="1150">
              <a:solidFill>
                <a:schemeClr val="bg1"/>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8617279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02CC2-26EF-88FC-C4C1-190A67796510}"/>
            </a:ext>
          </a:extLst>
        </p:cNvPr>
        <p:cNvGrpSpPr/>
        <p:nvPr/>
      </p:nvGrpSpPr>
      <p:grpSpPr>
        <a:xfrm>
          <a:off x="0" y="0"/>
          <a:ext cx="0" cy="0"/>
          <a:chOff x="0" y="0"/>
          <a:chExt cx="0" cy="0"/>
        </a:xfrm>
      </p:grpSpPr>
      <p:cxnSp>
        <p:nvCxnSpPr>
          <p:cNvPr id="6" name="Straight Arrow Connector 5">
            <a:extLst>
              <a:ext uri="{FF2B5EF4-FFF2-40B4-BE49-F238E27FC236}">
                <a16:creationId xmlns:a16="http://schemas.microsoft.com/office/drawing/2014/main" id="{8BF42E84-2B10-A33E-837A-63B2C81312E0}"/>
              </a:ext>
            </a:extLst>
          </p:cNvPr>
          <p:cNvCxnSpPr/>
          <p:nvPr/>
        </p:nvCxnSpPr>
        <p:spPr>
          <a:xfrm flipV="1">
            <a:off x="408972" y="778102"/>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A3F2A197-31D8-F168-067A-728B8444586F}"/>
              </a:ext>
            </a:extLst>
          </p:cNvPr>
          <p:cNvSpPr/>
          <p:nvPr/>
        </p:nvSpPr>
        <p:spPr bwMode="gray">
          <a:xfrm>
            <a:off x="380920" y="66871"/>
            <a:ext cx="11811080" cy="370522"/>
          </a:xfrm>
          <a:prstGeom prst="rect">
            <a:avLst/>
          </a:prstGeom>
          <a:noFill/>
          <a:ln w="19050" algn="ctr">
            <a:noFill/>
            <a:miter lim="800000"/>
            <a:headEnd/>
            <a:tailEnd/>
          </a:ln>
        </p:spPr>
        <p:txBody>
          <a:bodyPr wrap="square" lIns="88900" tIns="88900" rIns="88900" bIns="88900" rtlCol="0" anchor="ctr"/>
          <a:lstStyle/>
          <a:p>
            <a:r>
              <a:rPr lang="en-US" b="1">
                <a:latin typeface="+mj-lt"/>
              </a:rPr>
              <a:t>Classification: how a scheme resolves to Policy Response</a:t>
            </a:r>
          </a:p>
        </p:txBody>
      </p:sp>
      <p:sp>
        <p:nvSpPr>
          <p:cNvPr id="12" name="Text Placeholder 1">
            <a:extLst>
              <a:ext uri="{FF2B5EF4-FFF2-40B4-BE49-F238E27FC236}">
                <a16:creationId xmlns:a16="http://schemas.microsoft.com/office/drawing/2014/main" id="{99991BD9-4FFB-0502-3D36-295D0C1DA034}"/>
              </a:ext>
            </a:extLst>
          </p:cNvPr>
          <p:cNvSpPr txBox="1">
            <a:spLocks/>
          </p:cNvSpPr>
          <p:nvPr/>
        </p:nvSpPr>
        <p:spPr>
          <a:xfrm>
            <a:off x="439220" y="480431"/>
            <a:ext cx="11811079" cy="757255"/>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600" b="0" kern="1200">
                <a:solidFill>
                  <a:srgbClr val="575757"/>
                </a:solidFill>
                <a:latin typeface="Calibri" panose="020F0502020204030204" pitchFamily="34" charset="0"/>
                <a:ea typeface="+mn-ea"/>
                <a:cs typeface="Calibri" panose="020F0502020204030204" pitchFamily="34" charset="0"/>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1400">
                <a:latin typeface="Verdana" panose="020B0604030504040204" pitchFamily="34" charset="0"/>
                <a:ea typeface="Verdana" panose="020B0604030504040204" pitchFamily="34" charset="0"/>
              </a:rPr>
              <a:t>Composite scores place each scheme in one of three assessment categories</a:t>
            </a:r>
          </a:p>
        </p:txBody>
      </p:sp>
      <p:sp>
        <p:nvSpPr>
          <p:cNvPr id="2" name="Shape 4">
            <a:extLst>
              <a:ext uri="{FF2B5EF4-FFF2-40B4-BE49-F238E27FC236}">
                <a16:creationId xmlns:a16="http://schemas.microsoft.com/office/drawing/2014/main" id="{00494587-EBD9-A56E-1B82-207618541282}"/>
              </a:ext>
            </a:extLst>
          </p:cNvPr>
          <p:cNvSpPr/>
          <p:nvPr/>
        </p:nvSpPr>
        <p:spPr>
          <a:xfrm>
            <a:off x="411480" y="1005840"/>
            <a:ext cx="3685032" cy="2468880"/>
          </a:xfrm>
          <a:prstGeom prst="roundRect">
            <a:avLst>
              <a:gd name="adj" fmla="val 1481"/>
            </a:avLst>
          </a:prstGeom>
          <a:solidFill>
            <a:srgbClr val="FFFFFF"/>
          </a:solidFill>
          <a:ln w="9525">
            <a:solidFill>
              <a:srgbClr val="D9D9D9"/>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3" name="Shape 5">
            <a:extLst>
              <a:ext uri="{FF2B5EF4-FFF2-40B4-BE49-F238E27FC236}">
                <a16:creationId xmlns:a16="http://schemas.microsoft.com/office/drawing/2014/main" id="{81447320-48EA-A905-966D-B6856704AF81}"/>
              </a:ext>
            </a:extLst>
          </p:cNvPr>
          <p:cNvSpPr/>
          <p:nvPr/>
        </p:nvSpPr>
        <p:spPr>
          <a:xfrm>
            <a:off x="411480" y="1005840"/>
            <a:ext cx="3685032" cy="658368"/>
          </a:xfrm>
          <a:prstGeom prst="rect">
            <a:avLst/>
          </a:prstGeom>
          <a:solidFill>
            <a:schemeClr val="bg1">
              <a:lumMod val="95000"/>
            </a:schemeClr>
          </a:solidFill>
          <a:ln w="12700">
            <a:noFill/>
            <a:prstDash val="solid"/>
          </a:ln>
        </p:spPr>
        <p:txBody>
          <a:bodyPr/>
          <a:lstStyle/>
          <a:p>
            <a:endParaRPr lang="en-IN">
              <a:latin typeface="Verdana" panose="020B0604030504040204" pitchFamily="34" charset="0"/>
              <a:ea typeface="Verdana" panose="020B0604030504040204" pitchFamily="34" charset="0"/>
            </a:endParaRPr>
          </a:p>
        </p:txBody>
      </p:sp>
      <p:sp>
        <p:nvSpPr>
          <p:cNvPr id="4" name="Text 6">
            <a:extLst>
              <a:ext uri="{FF2B5EF4-FFF2-40B4-BE49-F238E27FC236}">
                <a16:creationId xmlns:a16="http://schemas.microsoft.com/office/drawing/2014/main" id="{0284B819-56F1-55AC-7F7A-40729BC57728}"/>
              </a:ext>
            </a:extLst>
          </p:cNvPr>
          <p:cNvSpPr/>
          <p:nvPr/>
        </p:nvSpPr>
        <p:spPr>
          <a:xfrm>
            <a:off x="539496" y="1005840"/>
            <a:ext cx="3429000" cy="658368"/>
          </a:xfrm>
          <a:prstGeom prst="rect">
            <a:avLst/>
          </a:prstGeom>
          <a:noFill/>
          <a:ln/>
        </p:spPr>
        <p:txBody>
          <a:bodyPr wrap="square" lIns="0" tIns="0" rIns="0" bIns="0" rtlCol="0" anchor="ctr"/>
          <a:lstStyle/>
          <a:p>
            <a:pPr marL="0" indent="0">
              <a:buNone/>
            </a:pPr>
            <a:r>
              <a:rPr lang="en-US" sz="1150" b="1">
                <a:latin typeface="Verdana" panose="020B0604030504040204" pitchFamily="34" charset="0"/>
                <a:ea typeface="Verdana" panose="020B0604030504040204" pitchFamily="34" charset="0"/>
                <a:cs typeface="Calibri" pitchFamily="34" charset="-120"/>
              </a:rPr>
              <a:t>Essential welfare or capability-enhancing expenditure</a:t>
            </a:r>
            <a:endParaRPr lang="en-US" sz="1150">
              <a:latin typeface="Verdana" panose="020B0604030504040204" pitchFamily="34" charset="0"/>
              <a:ea typeface="Verdana" panose="020B0604030504040204" pitchFamily="34" charset="0"/>
            </a:endParaRPr>
          </a:p>
        </p:txBody>
      </p:sp>
      <p:sp>
        <p:nvSpPr>
          <p:cNvPr id="5" name="Text 7">
            <a:extLst>
              <a:ext uri="{FF2B5EF4-FFF2-40B4-BE49-F238E27FC236}">
                <a16:creationId xmlns:a16="http://schemas.microsoft.com/office/drawing/2014/main" id="{EF5B283D-1FCB-B716-A6F8-D38A003BF484}"/>
              </a:ext>
            </a:extLst>
          </p:cNvPr>
          <p:cNvSpPr/>
          <p:nvPr/>
        </p:nvSpPr>
        <p:spPr>
          <a:xfrm>
            <a:off x="557784" y="1773936"/>
            <a:ext cx="3392424" cy="914400"/>
          </a:xfrm>
          <a:prstGeom prst="rect">
            <a:avLst/>
          </a:prstGeom>
          <a:noFill/>
          <a:ln/>
        </p:spPr>
        <p:txBody>
          <a:bodyPr wrap="square" lIns="0" tIns="0" rIns="0" bIns="0" rtlCol="0" anchor="t"/>
          <a:lstStyle/>
          <a:p>
            <a:pPr marL="0" indent="0">
              <a:lnSpc>
                <a:spcPts val="1300"/>
              </a:lnSpc>
              <a:buNone/>
            </a:pPr>
            <a:r>
              <a:rPr lang="en-US" sz="950">
                <a:solidFill>
                  <a:srgbClr val="333333"/>
                </a:solidFill>
                <a:latin typeface="Verdana" panose="020B0604030504040204" pitchFamily="34" charset="0"/>
                <a:ea typeface="Verdana" panose="020B0604030504040204" pitchFamily="34" charset="0"/>
                <a:cs typeface="Calibri" pitchFamily="34" charset="-120"/>
              </a:rPr>
              <a:t>Targeted, or justified by strong welfare, distributive or externality considerations, and supported by a sustainable delivery design.</a:t>
            </a:r>
            <a:endParaRPr lang="en-US" sz="950">
              <a:latin typeface="Verdana" panose="020B0604030504040204" pitchFamily="34" charset="0"/>
              <a:ea typeface="Verdana" panose="020B0604030504040204" pitchFamily="34" charset="0"/>
            </a:endParaRPr>
          </a:p>
        </p:txBody>
      </p:sp>
      <p:sp>
        <p:nvSpPr>
          <p:cNvPr id="7" name="Shape 8">
            <a:extLst>
              <a:ext uri="{FF2B5EF4-FFF2-40B4-BE49-F238E27FC236}">
                <a16:creationId xmlns:a16="http://schemas.microsoft.com/office/drawing/2014/main" id="{9F7D2B11-8096-5806-11AA-BA534C9555F0}"/>
              </a:ext>
            </a:extLst>
          </p:cNvPr>
          <p:cNvSpPr/>
          <p:nvPr/>
        </p:nvSpPr>
        <p:spPr>
          <a:xfrm>
            <a:off x="557784" y="2743200"/>
            <a:ext cx="3392424" cy="0"/>
          </a:xfrm>
          <a:prstGeom prst="line">
            <a:avLst/>
          </a:prstGeom>
          <a:noFill/>
          <a:ln w="9525">
            <a:solidFill>
              <a:srgbClr val="D9D9D9"/>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9" name="Text 9">
            <a:extLst>
              <a:ext uri="{FF2B5EF4-FFF2-40B4-BE49-F238E27FC236}">
                <a16:creationId xmlns:a16="http://schemas.microsoft.com/office/drawing/2014/main" id="{77507745-2105-AF3D-1830-808D55B8FB30}"/>
              </a:ext>
            </a:extLst>
          </p:cNvPr>
          <p:cNvSpPr/>
          <p:nvPr/>
        </p:nvSpPr>
        <p:spPr>
          <a:xfrm>
            <a:off x="557784" y="2798064"/>
            <a:ext cx="3392424" cy="603504"/>
          </a:xfrm>
          <a:prstGeom prst="rect">
            <a:avLst/>
          </a:prstGeom>
          <a:noFill/>
          <a:ln/>
        </p:spPr>
        <p:txBody>
          <a:bodyPr wrap="square" lIns="0" tIns="0" rIns="0" bIns="0" rtlCol="0" anchor="t"/>
          <a:lstStyle/>
          <a:p>
            <a:pPr marL="0" indent="0">
              <a:lnSpc>
                <a:spcPts val="1200"/>
              </a:lnSpc>
              <a:buNone/>
            </a:pPr>
            <a:r>
              <a:rPr lang="en-US" sz="900" b="1">
                <a:solidFill>
                  <a:srgbClr val="DA291C"/>
                </a:solidFill>
                <a:latin typeface="Verdana" panose="020B0604030504040204" pitchFamily="34" charset="0"/>
                <a:ea typeface="Verdana" panose="020B0604030504040204" pitchFamily="34" charset="0"/>
                <a:cs typeface="Calibri" pitchFamily="34" charset="-120"/>
              </a:rPr>
              <a:t>Policy consequence:  </a:t>
            </a:r>
            <a:r>
              <a:rPr lang="en-US" sz="900">
                <a:solidFill>
                  <a:srgbClr val="333333"/>
                </a:solidFill>
                <a:latin typeface="Verdana" panose="020B0604030504040204" pitchFamily="34" charset="0"/>
                <a:ea typeface="Verdana" panose="020B0604030504040204" pitchFamily="34" charset="0"/>
                <a:cs typeface="Calibri" pitchFamily="34" charset="-120"/>
              </a:rPr>
              <a:t>Retain and protect. Report separately so that welfare spending is not conflated with distortionary provision in fiscal commentary.</a:t>
            </a:r>
            <a:endParaRPr lang="en-US" sz="900">
              <a:latin typeface="Verdana" panose="020B0604030504040204" pitchFamily="34" charset="0"/>
              <a:ea typeface="Verdana" panose="020B0604030504040204" pitchFamily="34" charset="0"/>
            </a:endParaRPr>
          </a:p>
        </p:txBody>
      </p:sp>
      <p:sp>
        <p:nvSpPr>
          <p:cNvPr id="10" name="Shape 10">
            <a:extLst>
              <a:ext uri="{FF2B5EF4-FFF2-40B4-BE49-F238E27FC236}">
                <a16:creationId xmlns:a16="http://schemas.microsoft.com/office/drawing/2014/main" id="{1314258C-4257-F8E3-25FD-4136900D0D45}"/>
              </a:ext>
            </a:extLst>
          </p:cNvPr>
          <p:cNvSpPr/>
          <p:nvPr/>
        </p:nvSpPr>
        <p:spPr>
          <a:xfrm>
            <a:off x="4242816" y="1005840"/>
            <a:ext cx="3685032" cy="2468880"/>
          </a:xfrm>
          <a:prstGeom prst="roundRect">
            <a:avLst>
              <a:gd name="adj" fmla="val 1481"/>
            </a:avLst>
          </a:prstGeom>
          <a:solidFill>
            <a:srgbClr val="FFFFFF"/>
          </a:solidFill>
          <a:ln w="9525">
            <a:solidFill>
              <a:srgbClr val="D9D9D9"/>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11" name="Shape 11">
            <a:extLst>
              <a:ext uri="{FF2B5EF4-FFF2-40B4-BE49-F238E27FC236}">
                <a16:creationId xmlns:a16="http://schemas.microsoft.com/office/drawing/2014/main" id="{E7DC564A-5B66-3597-A7C9-419B4208281B}"/>
              </a:ext>
            </a:extLst>
          </p:cNvPr>
          <p:cNvSpPr/>
          <p:nvPr/>
        </p:nvSpPr>
        <p:spPr>
          <a:xfrm>
            <a:off x="4242816" y="1005840"/>
            <a:ext cx="3685032" cy="658368"/>
          </a:xfrm>
          <a:prstGeom prst="rect">
            <a:avLst/>
          </a:prstGeom>
          <a:solidFill>
            <a:schemeClr val="bg1">
              <a:lumMod val="95000"/>
            </a:schemeClr>
          </a:solidFill>
          <a:ln w="12700">
            <a:noFill/>
            <a:prstDash val="solid"/>
          </a:ln>
        </p:spPr>
        <p:txBody>
          <a:bodyPr/>
          <a:lstStyle/>
          <a:p>
            <a:endParaRPr lang="en-IN">
              <a:latin typeface="Verdana" panose="020B0604030504040204" pitchFamily="34" charset="0"/>
              <a:ea typeface="Verdana" panose="020B0604030504040204" pitchFamily="34" charset="0"/>
            </a:endParaRPr>
          </a:p>
        </p:txBody>
      </p:sp>
      <p:sp>
        <p:nvSpPr>
          <p:cNvPr id="13" name="Text 12">
            <a:extLst>
              <a:ext uri="{FF2B5EF4-FFF2-40B4-BE49-F238E27FC236}">
                <a16:creationId xmlns:a16="http://schemas.microsoft.com/office/drawing/2014/main" id="{F126F03D-3FE4-D79E-8E7F-B025002A7A02}"/>
              </a:ext>
            </a:extLst>
          </p:cNvPr>
          <p:cNvSpPr/>
          <p:nvPr/>
        </p:nvSpPr>
        <p:spPr>
          <a:xfrm>
            <a:off x="4370832" y="1005840"/>
            <a:ext cx="3429000" cy="658368"/>
          </a:xfrm>
          <a:prstGeom prst="rect">
            <a:avLst/>
          </a:prstGeom>
          <a:noFill/>
          <a:ln/>
        </p:spPr>
        <p:txBody>
          <a:bodyPr wrap="square" lIns="0" tIns="0" rIns="0" bIns="0" rtlCol="0" anchor="ctr"/>
          <a:lstStyle/>
          <a:p>
            <a:pPr marL="0" indent="0">
              <a:buNone/>
            </a:pPr>
            <a:r>
              <a:rPr lang="en-US" sz="1150" b="1">
                <a:latin typeface="Verdana" panose="020B0604030504040204" pitchFamily="34" charset="0"/>
                <a:ea typeface="Verdana" panose="020B0604030504040204" pitchFamily="34" charset="0"/>
                <a:cs typeface="Calibri" pitchFamily="34" charset="-120"/>
              </a:rPr>
              <a:t>Conditional or reformable subsidy</a:t>
            </a:r>
            <a:endParaRPr lang="en-US" sz="1150">
              <a:latin typeface="Verdana" panose="020B0604030504040204" pitchFamily="34" charset="0"/>
              <a:ea typeface="Verdana" panose="020B0604030504040204" pitchFamily="34" charset="0"/>
            </a:endParaRPr>
          </a:p>
        </p:txBody>
      </p:sp>
      <p:sp>
        <p:nvSpPr>
          <p:cNvPr id="14" name="Text 13">
            <a:extLst>
              <a:ext uri="{FF2B5EF4-FFF2-40B4-BE49-F238E27FC236}">
                <a16:creationId xmlns:a16="http://schemas.microsoft.com/office/drawing/2014/main" id="{958F171F-494A-7B04-96F1-7FF060676BB0}"/>
              </a:ext>
            </a:extLst>
          </p:cNvPr>
          <p:cNvSpPr/>
          <p:nvPr/>
        </p:nvSpPr>
        <p:spPr>
          <a:xfrm>
            <a:off x="4389120" y="1773936"/>
            <a:ext cx="3392424" cy="914400"/>
          </a:xfrm>
          <a:prstGeom prst="rect">
            <a:avLst/>
          </a:prstGeom>
          <a:noFill/>
          <a:ln/>
        </p:spPr>
        <p:txBody>
          <a:bodyPr wrap="square" lIns="0" tIns="0" rIns="0" bIns="0" rtlCol="0" anchor="t"/>
          <a:lstStyle/>
          <a:p>
            <a:pPr marL="0" indent="0">
              <a:lnSpc>
                <a:spcPts val="1300"/>
              </a:lnSpc>
              <a:buNone/>
            </a:pPr>
            <a:r>
              <a:rPr lang="en-US" sz="950">
                <a:solidFill>
                  <a:srgbClr val="333333"/>
                </a:solidFill>
                <a:latin typeface="Verdana" panose="020B0604030504040204" pitchFamily="34" charset="0"/>
                <a:ea typeface="Verdana" panose="020B0604030504040204" pitchFamily="34" charset="0"/>
                <a:cs typeface="Calibri" pitchFamily="34" charset="-120"/>
              </a:rPr>
              <a:t>Addresses a legitimate objective but requires improved targeting, redesign, time limits, metering, DBT conversion, periodic review or transition arrangements.</a:t>
            </a:r>
            <a:endParaRPr lang="en-US" sz="950">
              <a:latin typeface="Verdana" panose="020B0604030504040204" pitchFamily="34" charset="0"/>
              <a:ea typeface="Verdana" panose="020B0604030504040204" pitchFamily="34" charset="0"/>
            </a:endParaRPr>
          </a:p>
        </p:txBody>
      </p:sp>
      <p:sp>
        <p:nvSpPr>
          <p:cNvPr id="15" name="Shape 14">
            <a:extLst>
              <a:ext uri="{FF2B5EF4-FFF2-40B4-BE49-F238E27FC236}">
                <a16:creationId xmlns:a16="http://schemas.microsoft.com/office/drawing/2014/main" id="{DAA2940C-2525-FA30-7FBC-E7CF575F1F4C}"/>
              </a:ext>
            </a:extLst>
          </p:cNvPr>
          <p:cNvSpPr/>
          <p:nvPr/>
        </p:nvSpPr>
        <p:spPr>
          <a:xfrm>
            <a:off x="4389120" y="2743200"/>
            <a:ext cx="3392424" cy="0"/>
          </a:xfrm>
          <a:prstGeom prst="line">
            <a:avLst/>
          </a:prstGeom>
          <a:noFill/>
          <a:ln w="9525">
            <a:solidFill>
              <a:srgbClr val="D9D9D9"/>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17" name="Text 15">
            <a:extLst>
              <a:ext uri="{FF2B5EF4-FFF2-40B4-BE49-F238E27FC236}">
                <a16:creationId xmlns:a16="http://schemas.microsoft.com/office/drawing/2014/main" id="{6E9592A0-19C4-0E64-1862-8B807448381E}"/>
              </a:ext>
            </a:extLst>
          </p:cNvPr>
          <p:cNvSpPr/>
          <p:nvPr/>
        </p:nvSpPr>
        <p:spPr>
          <a:xfrm>
            <a:off x="4389120" y="2798064"/>
            <a:ext cx="3392424" cy="603504"/>
          </a:xfrm>
          <a:prstGeom prst="rect">
            <a:avLst/>
          </a:prstGeom>
          <a:noFill/>
          <a:ln/>
        </p:spPr>
        <p:txBody>
          <a:bodyPr wrap="square" lIns="0" tIns="0" rIns="0" bIns="0" rtlCol="0" anchor="t"/>
          <a:lstStyle/>
          <a:p>
            <a:pPr marL="0" indent="0">
              <a:lnSpc>
                <a:spcPts val="1200"/>
              </a:lnSpc>
              <a:buNone/>
            </a:pPr>
            <a:r>
              <a:rPr lang="en-US" sz="900" b="1">
                <a:solidFill>
                  <a:srgbClr val="DA291C"/>
                </a:solidFill>
                <a:latin typeface="Verdana" panose="020B0604030504040204" pitchFamily="34" charset="0"/>
                <a:ea typeface="Verdana" panose="020B0604030504040204" pitchFamily="34" charset="0"/>
                <a:cs typeface="Calibri" pitchFamily="34" charset="-120"/>
              </a:rPr>
              <a:t>Policy consequence:  </a:t>
            </a:r>
            <a:r>
              <a:rPr lang="en-US" sz="900">
                <a:solidFill>
                  <a:srgbClr val="333333"/>
                </a:solidFill>
                <a:latin typeface="Verdana" panose="020B0604030504040204" pitchFamily="34" charset="0"/>
                <a:ea typeface="Verdana" panose="020B0604030504040204" pitchFamily="34" charset="0"/>
                <a:cs typeface="Calibri" pitchFamily="34" charset="-120"/>
              </a:rPr>
              <a:t>Reform with a defined instrument and a defined date. This is where most of the fiscal opportunity sits.</a:t>
            </a:r>
            <a:endParaRPr lang="en-US" sz="900">
              <a:latin typeface="Verdana" panose="020B0604030504040204" pitchFamily="34" charset="0"/>
              <a:ea typeface="Verdana" panose="020B0604030504040204" pitchFamily="34" charset="0"/>
            </a:endParaRPr>
          </a:p>
        </p:txBody>
      </p:sp>
      <p:sp>
        <p:nvSpPr>
          <p:cNvPr id="18" name="Shape 16">
            <a:extLst>
              <a:ext uri="{FF2B5EF4-FFF2-40B4-BE49-F238E27FC236}">
                <a16:creationId xmlns:a16="http://schemas.microsoft.com/office/drawing/2014/main" id="{3EC65CF1-48BC-C425-4C9D-28572308352F}"/>
              </a:ext>
            </a:extLst>
          </p:cNvPr>
          <p:cNvSpPr/>
          <p:nvPr/>
        </p:nvSpPr>
        <p:spPr>
          <a:xfrm>
            <a:off x="8074152" y="1005840"/>
            <a:ext cx="3685032" cy="2468880"/>
          </a:xfrm>
          <a:prstGeom prst="roundRect">
            <a:avLst>
              <a:gd name="adj" fmla="val 1481"/>
            </a:avLst>
          </a:prstGeom>
          <a:solidFill>
            <a:srgbClr val="FFFFFF"/>
          </a:solidFill>
          <a:ln w="9525">
            <a:solidFill>
              <a:srgbClr val="D9D9D9"/>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19" name="Shape 17">
            <a:extLst>
              <a:ext uri="{FF2B5EF4-FFF2-40B4-BE49-F238E27FC236}">
                <a16:creationId xmlns:a16="http://schemas.microsoft.com/office/drawing/2014/main" id="{E03877FF-917B-6091-6B93-BFCB8CEA96CA}"/>
              </a:ext>
            </a:extLst>
          </p:cNvPr>
          <p:cNvSpPr/>
          <p:nvPr/>
        </p:nvSpPr>
        <p:spPr>
          <a:xfrm>
            <a:off x="8074152" y="1005840"/>
            <a:ext cx="3685032" cy="658368"/>
          </a:xfrm>
          <a:prstGeom prst="rect">
            <a:avLst/>
          </a:prstGeom>
          <a:solidFill>
            <a:schemeClr val="bg1">
              <a:lumMod val="95000"/>
            </a:schemeClr>
          </a:solidFill>
          <a:ln w="12700">
            <a:noFill/>
            <a:prstDash val="solid"/>
          </a:ln>
        </p:spPr>
        <p:txBody>
          <a:bodyPr/>
          <a:lstStyle/>
          <a:p>
            <a:endParaRPr lang="en-IN">
              <a:latin typeface="Verdana" panose="020B0604030504040204" pitchFamily="34" charset="0"/>
              <a:ea typeface="Verdana" panose="020B0604030504040204" pitchFamily="34" charset="0"/>
            </a:endParaRPr>
          </a:p>
        </p:txBody>
      </p:sp>
      <p:sp>
        <p:nvSpPr>
          <p:cNvPr id="20" name="Text 18">
            <a:extLst>
              <a:ext uri="{FF2B5EF4-FFF2-40B4-BE49-F238E27FC236}">
                <a16:creationId xmlns:a16="http://schemas.microsoft.com/office/drawing/2014/main" id="{0F8F87E3-18CC-0F21-4695-46F2251A4764}"/>
              </a:ext>
            </a:extLst>
          </p:cNvPr>
          <p:cNvSpPr/>
          <p:nvPr/>
        </p:nvSpPr>
        <p:spPr>
          <a:xfrm>
            <a:off x="8202168" y="1005840"/>
            <a:ext cx="3429000" cy="658368"/>
          </a:xfrm>
          <a:prstGeom prst="rect">
            <a:avLst/>
          </a:prstGeom>
          <a:noFill/>
          <a:ln/>
        </p:spPr>
        <p:txBody>
          <a:bodyPr wrap="square" lIns="0" tIns="0" rIns="0" bIns="0" rtlCol="0" anchor="ctr"/>
          <a:lstStyle/>
          <a:p>
            <a:pPr marL="0" indent="0">
              <a:buNone/>
            </a:pPr>
            <a:r>
              <a:rPr lang="en-US" sz="1150" b="1">
                <a:latin typeface="Verdana" panose="020B0604030504040204" pitchFamily="34" charset="0"/>
                <a:ea typeface="Verdana" panose="020B0604030504040204" pitchFamily="34" charset="0"/>
                <a:cs typeface="Calibri" pitchFamily="34" charset="-120"/>
              </a:rPr>
              <a:t>Distortionary or high-risk provision</a:t>
            </a:r>
            <a:endParaRPr lang="en-US" sz="1150">
              <a:latin typeface="Verdana" panose="020B0604030504040204" pitchFamily="34" charset="0"/>
              <a:ea typeface="Verdana" panose="020B0604030504040204" pitchFamily="34" charset="0"/>
            </a:endParaRPr>
          </a:p>
        </p:txBody>
      </p:sp>
      <p:sp>
        <p:nvSpPr>
          <p:cNvPr id="23" name="Text 19">
            <a:extLst>
              <a:ext uri="{FF2B5EF4-FFF2-40B4-BE49-F238E27FC236}">
                <a16:creationId xmlns:a16="http://schemas.microsoft.com/office/drawing/2014/main" id="{CD0645B1-E099-21E6-426A-213526F3D2E2}"/>
              </a:ext>
            </a:extLst>
          </p:cNvPr>
          <p:cNvSpPr/>
          <p:nvPr/>
        </p:nvSpPr>
        <p:spPr>
          <a:xfrm>
            <a:off x="8220456" y="1773936"/>
            <a:ext cx="3392424" cy="914400"/>
          </a:xfrm>
          <a:prstGeom prst="rect">
            <a:avLst/>
          </a:prstGeom>
          <a:noFill/>
          <a:ln/>
        </p:spPr>
        <p:txBody>
          <a:bodyPr wrap="square" lIns="0" tIns="0" rIns="0" bIns="0" rtlCol="0" anchor="t"/>
          <a:lstStyle/>
          <a:p>
            <a:pPr marL="0" indent="0">
              <a:lnSpc>
                <a:spcPts val="1300"/>
              </a:lnSpc>
              <a:buNone/>
            </a:pPr>
            <a:r>
              <a:rPr lang="en-US" sz="950">
                <a:solidFill>
                  <a:srgbClr val="333333"/>
                </a:solidFill>
                <a:latin typeface="Verdana" panose="020B0604030504040204" pitchFamily="34" charset="0"/>
                <a:ea typeface="Verdana" panose="020B0604030504040204" pitchFamily="34" charset="0"/>
                <a:cs typeface="Calibri" pitchFamily="34" charset="-120"/>
              </a:rPr>
              <a:t>Weakly targeted, open-ended, fiscally unaffordable, associated with adverse resource or market effects, or financed through repeated arrears and liabilities.</a:t>
            </a:r>
            <a:endParaRPr lang="en-US" sz="950">
              <a:latin typeface="Verdana" panose="020B0604030504040204" pitchFamily="34" charset="0"/>
              <a:ea typeface="Verdana" panose="020B0604030504040204" pitchFamily="34" charset="0"/>
            </a:endParaRPr>
          </a:p>
        </p:txBody>
      </p:sp>
      <p:sp>
        <p:nvSpPr>
          <p:cNvPr id="25" name="Shape 20">
            <a:extLst>
              <a:ext uri="{FF2B5EF4-FFF2-40B4-BE49-F238E27FC236}">
                <a16:creationId xmlns:a16="http://schemas.microsoft.com/office/drawing/2014/main" id="{7DCBD9A5-D64C-9AD9-F7DF-66B174365DBF}"/>
              </a:ext>
            </a:extLst>
          </p:cNvPr>
          <p:cNvSpPr/>
          <p:nvPr/>
        </p:nvSpPr>
        <p:spPr>
          <a:xfrm>
            <a:off x="8220456" y="2743200"/>
            <a:ext cx="3392424" cy="0"/>
          </a:xfrm>
          <a:prstGeom prst="line">
            <a:avLst/>
          </a:prstGeom>
          <a:noFill/>
          <a:ln w="9525">
            <a:solidFill>
              <a:srgbClr val="D9D9D9"/>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29" name="Text 21">
            <a:extLst>
              <a:ext uri="{FF2B5EF4-FFF2-40B4-BE49-F238E27FC236}">
                <a16:creationId xmlns:a16="http://schemas.microsoft.com/office/drawing/2014/main" id="{E62884E9-BF54-EE13-6951-8D84CB3DA059}"/>
              </a:ext>
            </a:extLst>
          </p:cNvPr>
          <p:cNvSpPr/>
          <p:nvPr/>
        </p:nvSpPr>
        <p:spPr>
          <a:xfrm>
            <a:off x="8220456" y="2798064"/>
            <a:ext cx="3392424" cy="603504"/>
          </a:xfrm>
          <a:prstGeom prst="rect">
            <a:avLst/>
          </a:prstGeom>
          <a:noFill/>
          <a:ln/>
        </p:spPr>
        <p:txBody>
          <a:bodyPr wrap="square" lIns="0" tIns="0" rIns="0" bIns="0" rtlCol="0" anchor="t"/>
          <a:lstStyle/>
          <a:p>
            <a:pPr marL="0" indent="0">
              <a:lnSpc>
                <a:spcPts val="1200"/>
              </a:lnSpc>
              <a:buNone/>
            </a:pPr>
            <a:r>
              <a:rPr lang="en-US" sz="900" b="1">
                <a:solidFill>
                  <a:srgbClr val="B0431F"/>
                </a:solidFill>
                <a:latin typeface="Verdana" panose="020B0604030504040204" pitchFamily="34" charset="0"/>
                <a:ea typeface="Verdana" panose="020B0604030504040204" pitchFamily="34" charset="0"/>
                <a:cs typeface="Calibri" pitchFamily="34" charset="-120"/>
              </a:rPr>
              <a:t>Policy consequence:  </a:t>
            </a:r>
            <a:r>
              <a:rPr lang="en-US" sz="900">
                <a:solidFill>
                  <a:srgbClr val="333333"/>
                </a:solidFill>
                <a:latin typeface="Verdana" panose="020B0604030504040204" pitchFamily="34" charset="0"/>
                <a:ea typeface="Verdana" panose="020B0604030504040204" pitchFamily="34" charset="0"/>
                <a:cs typeface="Calibri" pitchFamily="34" charset="-120"/>
              </a:rPr>
              <a:t>Phase out or restructure, with exit clauses and transition support, consistent with the 16th Finance Commission's recommendations.</a:t>
            </a:r>
            <a:endParaRPr lang="en-US" sz="900">
              <a:latin typeface="Verdana" panose="020B0604030504040204" pitchFamily="34" charset="0"/>
              <a:ea typeface="Verdana" panose="020B0604030504040204" pitchFamily="34" charset="0"/>
            </a:endParaRPr>
          </a:p>
        </p:txBody>
      </p:sp>
      <p:sp>
        <p:nvSpPr>
          <p:cNvPr id="31" name="Shape 22">
            <a:extLst>
              <a:ext uri="{FF2B5EF4-FFF2-40B4-BE49-F238E27FC236}">
                <a16:creationId xmlns:a16="http://schemas.microsoft.com/office/drawing/2014/main" id="{E482E293-8A36-5BF6-19BB-9D19850CF10B}"/>
              </a:ext>
            </a:extLst>
          </p:cNvPr>
          <p:cNvSpPr/>
          <p:nvPr/>
        </p:nvSpPr>
        <p:spPr>
          <a:xfrm>
            <a:off x="411480" y="3675888"/>
            <a:ext cx="11365992" cy="365760"/>
          </a:xfrm>
          <a:prstGeom prst="rect">
            <a:avLst/>
          </a:prstGeom>
          <a:solidFill>
            <a:srgbClr val="0A4A4E"/>
          </a:solidFill>
          <a:ln w="12700">
            <a:solidFill>
              <a:srgbClr val="333333"/>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35" name="Text 23">
            <a:extLst>
              <a:ext uri="{FF2B5EF4-FFF2-40B4-BE49-F238E27FC236}">
                <a16:creationId xmlns:a16="http://schemas.microsoft.com/office/drawing/2014/main" id="{0F9CFF6F-5CC0-F427-D5FB-AF638EB2354C}"/>
              </a:ext>
            </a:extLst>
          </p:cNvPr>
          <p:cNvSpPr/>
          <p:nvPr/>
        </p:nvSpPr>
        <p:spPr>
          <a:xfrm>
            <a:off x="539496" y="3675888"/>
            <a:ext cx="11109960" cy="365760"/>
          </a:xfrm>
          <a:prstGeom prst="rect">
            <a:avLst/>
          </a:prstGeom>
          <a:noFill/>
          <a:ln/>
        </p:spPr>
        <p:txBody>
          <a:bodyPr wrap="square" lIns="0" tIns="0" rIns="0" bIns="0" rtlCol="0" anchor="ctr"/>
          <a:lstStyle/>
          <a:p>
            <a:pPr marL="0" indent="0" algn="ctr">
              <a:buNone/>
            </a:pPr>
            <a:r>
              <a:rPr lang="en-US" sz="1200" b="1">
                <a:solidFill>
                  <a:srgbClr val="FFFFFF"/>
                </a:solidFill>
                <a:latin typeface="Verdana" panose="020B0604030504040204" pitchFamily="34" charset="0"/>
                <a:ea typeface="Verdana" panose="020B0604030504040204" pitchFamily="34" charset="0"/>
                <a:cs typeface="Calibri" pitchFamily="34" charset="-120"/>
              </a:rPr>
              <a:t>ILLUSTRATIVE OUTPUT OF THE CLASSIFICATION MATRIX</a:t>
            </a:r>
            <a:endParaRPr lang="en-US" sz="1200">
              <a:latin typeface="Verdana" panose="020B0604030504040204" pitchFamily="34" charset="0"/>
              <a:ea typeface="Verdana" panose="020B0604030504040204" pitchFamily="34" charset="0"/>
            </a:endParaRPr>
          </a:p>
        </p:txBody>
      </p:sp>
      <p:graphicFrame>
        <p:nvGraphicFramePr>
          <p:cNvPr id="37" name="Table 0">
            <a:extLst>
              <a:ext uri="{FF2B5EF4-FFF2-40B4-BE49-F238E27FC236}">
                <a16:creationId xmlns:a16="http://schemas.microsoft.com/office/drawing/2014/main" id="{6080F797-FF05-2857-BB0F-B6E2026604C5}"/>
              </a:ext>
            </a:extLst>
          </p:cNvPr>
          <p:cNvGraphicFramePr>
            <a:graphicFrameLocks noGrp="1"/>
          </p:cNvGraphicFramePr>
          <p:nvPr>
            <p:extLst>
              <p:ext uri="{D42A27DB-BD31-4B8C-83A1-F6EECF244321}">
                <p14:modId xmlns:p14="http://schemas.microsoft.com/office/powerpoint/2010/main" val="3919595766"/>
              </p:ext>
            </p:extLst>
          </p:nvPr>
        </p:nvGraphicFramePr>
        <p:xfrm>
          <a:off x="411480" y="4114800"/>
          <a:ext cx="11365992" cy="1594104"/>
        </p:xfrm>
        <a:graphic>
          <a:graphicData uri="http://schemas.openxmlformats.org/drawingml/2006/table">
            <a:tbl>
              <a:tblPr/>
              <a:tblGrid>
                <a:gridCol w="283464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2542032">
                  <a:extLst>
                    <a:ext uri="{9D8B030D-6E8A-4147-A177-3AD203B41FA5}">
                      <a16:colId xmlns:a16="http://schemas.microsoft.com/office/drawing/2014/main" val="20004"/>
                    </a:ext>
                  </a:extLst>
                </a:gridCol>
              </a:tblGrid>
              <a:tr h="329184">
                <a:tc>
                  <a:txBody>
                    <a:bodyPr/>
                    <a:lstStyle/>
                    <a:p>
                      <a:pPr marL="0" indent="0" algn="l">
                        <a:buNone/>
                      </a:pPr>
                      <a:r>
                        <a:rPr lang="en-US" sz="1000" b="1">
                          <a:solidFill>
                            <a:srgbClr val="0A4A4E"/>
                          </a:solidFill>
                          <a:latin typeface="Verdana" panose="020B0604030504040204" pitchFamily="34" charset="0"/>
                          <a:ea typeface="Verdana" panose="020B0604030504040204" pitchFamily="34" charset="0"/>
                          <a:cs typeface="Calibri" pitchFamily="34" charset="-120"/>
                        </a:rPr>
                        <a:t>Scheme / provision of public good</a:t>
                      </a:r>
                      <a:endParaRPr lang="en-US" sz="1000">
                        <a:latin typeface="Verdana" panose="020B0604030504040204" pitchFamily="34" charset="0"/>
                        <a:ea typeface="Verdana" panose="020B0604030504040204" pitchFamily="34" charset="0"/>
                        <a:cs typeface="Calibri" charset="0"/>
                      </a:endParaRPr>
                    </a:p>
                  </a:txBody>
                  <a:tcPr marL="88900" marR="889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ctr">
                        <a:buNone/>
                      </a:pPr>
                      <a:r>
                        <a:rPr lang="en-US" sz="1000" b="1">
                          <a:solidFill>
                            <a:srgbClr val="0A4A4E"/>
                          </a:solidFill>
                          <a:latin typeface="Verdana" panose="020B0604030504040204" pitchFamily="34" charset="0"/>
                          <a:ea typeface="Verdana" panose="020B0604030504040204" pitchFamily="34" charset="0"/>
                          <a:cs typeface="Calibri" pitchFamily="34" charset="-120"/>
                        </a:rPr>
                        <a:t>Essential welfare or capability-enhancing</a:t>
                      </a:r>
                      <a:endParaRPr lang="en-US" sz="1000">
                        <a:latin typeface="Verdana" panose="020B0604030504040204" pitchFamily="34" charset="0"/>
                        <a:ea typeface="Verdana" panose="020B0604030504040204" pitchFamily="34" charset="0"/>
                        <a:cs typeface="Calibri" charset="0"/>
                      </a:endParaRPr>
                    </a:p>
                  </a:txBody>
                  <a:tcPr marL="88900" marR="889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ctr">
                        <a:buNone/>
                      </a:pPr>
                      <a:r>
                        <a:rPr lang="en-US" sz="1000" b="1">
                          <a:solidFill>
                            <a:srgbClr val="0A4A4E"/>
                          </a:solidFill>
                          <a:latin typeface="Verdana" panose="020B0604030504040204" pitchFamily="34" charset="0"/>
                          <a:ea typeface="Verdana" panose="020B0604030504040204" pitchFamily="34" charset="0"/>
                          <a:cs typeface="Calibri" pitchFamily="34" charset="-120"/>
                        </a:rPr>
                        <a:t>Conditional or reformable</a:t>
                      </a:r>
                      <a:endParaRPr lang="en-US" sz="1000">
                        <a:latin typeface="Verdana" panose="020B0604030504040204" pitchFamily="34" charset="0"/>
                        <a:ea typeface="Verdana" panose="020B0604030504040204" pitchFamily="34" charset="0"/>
                        <a:cs typeface="Calibri" charset="0"/>
                      </a:endParaRPr>
                    </a:p>
                  </a:txBody>
                  <a:tcPr marL="88900" marR="889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ctr">
                        <a:buNone/>
                      </a:pPr>
                      <a:r>
                        <a:rPr lang="en-US" sz="1000" b="1">
                          <a:solidFill>
                            <a:srgbClr val="0A4A4E"/>
                          </a:solidFill>
                          <a:latin typeface="Verdana" panose="020B0604030504040204" pitchFamily="34" charset="0"/>
                          <a:ea typeface="Verdana" panose="020B0604030504040204" pitchFamily="34" charset="0"/>
                          <a:cs typeface="Calibri" pitchFamily="34" charset="-120"/>
                        </a:rPr>
                        <a:t>Distortionary or high-risk</a:t>
                      </a:r>
                      <a:endParaRPr lang="en-US" sz="1000">
                        <a:latin typeface="Verdana" panose="020B0604030504040204" pitchFamily="34" charset="0"/>
                        <a:ea typeface="Verdana" panose="020B0604030504040204" pitchFamily="34" charset="0"/>
                        <a:cs typeface="Calibri" charset="0"/>
                      </a:endParaRPr>
                    </a:p>
                  </a:txBody>
                  <a:tcPr marL="88900" marR="889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ctr">
                        <a:buNone/>
                      </a:pPr>
                      <a:r>
                        <a:rPr lang="en-US" sz="1000" b="1">
                          <a:solidFill>
                            <a:srgbClr val="0A4A4E"/>
                          </a:solidFill>
                          <a:latin typeface="Verdana" panose="020B0604030504040204" pitchFamily="34" charset="0"/>
                          <a:ea typeface="Verdana" panose="020B0604030504040204" pitchFamily="34" charset="0"/>
                          <a:cs typeface="Calibri" pitchFamily="34" charset="-120"/>
                        </a:rPr>
                        <a:t>Resulting classification</a:t>
                      </a:r>
                      <a:endParaRPr lang="en-US" sz="1000">
                        <a:latin typeface="Verdana" panose="020B0604030504040204" pitchFamily="34" charset="0"/>
                        <a:ea typeface="Verdana" panose="020B0604030504040204" pitchFamily="34" charset="0"/>
                        <a:cs typeface="Calibri" charset="0"/>
                      </a:endParaRPr>
                    </a:p>
                  </a:txBody>
                  <a:tcPr marL="88900" marR="889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329184">
                <a:tc>
                  <a:txBody>
                    <a:bodyPr/>
                    <a:lstStyle/>
                    <a:p>
                      <a:pPr marL="0" indent="0">
                        <a:buNone/>
                      </a:pPr>
                      <a:r>
                        <a:rPr lang="en-US" sz="950">
                          <a:solidFill>
                            <a:srgbClr val="333333"/>
                          </a:solidFill>
                          <a:latin typeface="Verdana" panose="020B0604030504040204" pitchFamily="34" charset="0"/>
                          <a:ea typeface="Verdana" panose="020B0604030504040204" pitchFamily="34" charset="0"/>
                          <a:cs typeface="Calibri" pitchFamily="34" charset="-120"/>
                        </a:rPr>
                        <a:t>Scheme 1</a:t>
                      </a:r>
                      <a:endParaRPr lang="en-US" sz="950">
                        <a:latin typeface="Verdana" panose="020B0604030504040204" pitchFamily="34" charset="0"/>
                        <a:ea typeface="Verdana" panose="020B0604030504040204" pitchFamily="34" charset="0"/>
                        <a:cs typeface="Calibri" charset="0"/>
                      </a:endParaRPr>
                    </a:p>
                  </a:txBody>
                  <a:tcPr marL="88900" marR="889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300" b="1">
                          <a:solidFill>
                            <a:srgbClr val="2E6B2E"/>
                          </a:solidFill>
                          <a:latin typeface="Verdana" panose="020B0604030504040204" pitchFamily="34" charset="0"/>
                          <a:ea typeface="Verdana" panose="020B0604030504040204" pitchFamily="34" charset="0"/>
                          <a:cs typeface="Calibri" pitchFamily="34" charset="-120"/>
                        </a:rPr>
                        <a:t>✓</a:t>
                      </a:r>
                      <a:endParaRPr lang="en-US" sz="1300">
                        <a:latin typeface="Verdana" panose="020B0604030504040204" pitchFamily="34" charset="0"/>
                        <a:ea typeface="Verdana" panose="020B0604030504040204" pitchFamily="34" charset="0"/>
                        <a:cs typeface="Calibri" charset="0"/>
                      </a:endParaRPr>
                    </a:p>
                  </a:txBody>
                  <a:tcPr marL="88900" marR="889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950">
                          <a:solidFill>
                            <a:srgbClr val="63666A"/>
                          </a:solidFill>
                          <a:latin typeface="Verdana" panose="020B0604030504040204" pitchFamily="34" charset="0"/>
                          <a:ea typeface="Verdana" panose="020B0604030504040204" pitchFamily="34" charset="0"/>
                          <a:cs typeface="Calibri" pitchFamily="34" charset="-120"/>
                        </a:rPr>
                        <a:t>—</a:t>
                      </a:r>
                      <a:endParaRPr lang="en-US" sz="950">
                        <a:latin typeface="Verdana" panose="020B0604030504040204" pitchFamily="34" charset="0"/>
                        <a:ea typeface="Verdana" panose="020B0604030504040204" pitchFamily="34" charset="0"/>
                        <a:cs typeface="Calibri" charset="0"/>
                      </a:endParaRPr>
                    </a:p>
                  </a:txBody>
                  <a:tcPr marL="88900" marR="889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950">
                          <a:solidFill>
                            <a:srgbClr val="63666A"/>
                          </a:solidFill>
                          <a:latin typeface="Verdana" panose="020B0604030504040204" pitchFamily="34" charset="0"/>
                          <a:ea typeface="Verdana" panose="020B0604030504040204" pitchFamily="34" charset="0"/>
                          <a:cs typeface="Calibri" pitchFamily="34" charset="-120"/>
                        </a:rPr>
                        <a:t>—</a:t>
                      </a:r>
                      <a:endParaRPr lang="en-US" sz="950">
                        <a:latin typeface="Verdana" panose="020B0604030504040204" pitchFamily="34" charset="0"/>
                        <a:ea typeface="Verdana" panose="020B0604030504040204" pitchFamily="34" charset="0"/>
                        <a:cs typeface="Calibri" charset="0"/>
                      </a:endParaRPr>
                    </a:p>
                  </a:txBody>
                  <a:tcPr marL="88900" marR="889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50" b="1">
                          <a:solidFill>
                            <a:srgbClr val="2E6B2E"/>
                          </a:solidFill>
                          <a:latin typeface="Verdana" panose="020B0604030504040204" pitchFamily="34" charset="0"/>
                          <a:ea typeface="Verdana" panose="020B0604030504040204" pitchFamily="34" charset="0"/>
                          <a:cs typeface="Calibri" pitchFamily="34" charset="-120"/>
                        </a:rPr>
                        <a:t>Welfare expenditure</a:t>
                      </a:r>
                      <a:endParaRPr lang="en-US" sz="950">
                        <a:latin typeface="Verdana" panose="020B0604030504040204" pitchFamily="34" charset="0"/>
                        <a:ea typeface="Verdana" panose="020B0604030504040204" pitchFamily="34" charset="0"/>
                        <a:cs typeface="Calibri" charset="0"/>
                      </a:endParaRPr>
                    </a:p>
                  </a:txBody>
                  <a:tcPr marL="88900" marR="889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950">
                          <a:solidFill>
                            <a:srgbClr val="333333"/>
                          </a:solidFill>
                          <a:latin typeface="Verdana" panose="020B0604030504040204" pitchFamily="34" charset="0"/>
                          <a:ea typeface="Verdana" panose="020B0604030504040204" pitchFamily="34" charset="0"/>
                          <a:cs typeface="Calibri" pitchFamily="34" charset="-120"/>
                        </a:rPr>
                        <a:t>Scheme 2</a:t>
                      </a:r>
                      <a:endParaRPr lang="en-US" sz="950">
                        <a:latin typeface="Verdana" panose="020B0604030504040204" pitchFamily="34" charset="0"/>
                        <a:ea typeface="Verdana" panose="020B0604030504040204" pitchFamily="34" charset="0"/>
                        <a:cs typeface="Calibri" charset="0"/>
                      </a:endParaRPr>
                    </a:p>
                  </a:txBody>
                  <a:tcPr marL="88900" marR="889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950">
                          <a:solidFill>
                            <a:srgbClr val="63666A"/>
                          </a:solidFill>
                          <a:latin typeface="Verdana" panose="020B0604030504040204" pitchFamily="34" charset="0"/>
                          <a:ea typeface="Verdana" panose="020B0604030504040204" pitchFamily="34" charset="0"/>
                          <a:cs typeface="Calibri" pitchFamily="34" charset="-120"/>
                        </a:rPr>
                        <a:t>—</a:t>
                      </a:r>
                      <a:endParaRPr lang="en-US" sz="950">
                        <a:latin typeface="Verdana" panose="020B0604030504040204" pitchFamily="34" charset="0"/>
                        <a:ea typeface="Verdana" panose="020B0604030504040204" pitchFamily="34" charset="0"/>
                        <a:cs typeface="Calibri" charset="0"/>
                      </a:endParaRPr>
                    </a:p>
                  </a:txBody>
                  <a:tcPr marL="88900" marR="889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300" b="1">
                          <a:solidFill>
                            <a:srgbClr val="ED8B00"/>
                          </a:solidFill>
                          <a:latin typeface="Verdana" panose="020B0604030504040204" pitchFamily="34" charset="0"/>
                          <a:ea typeface="Verdana" panose="020B0604030504040204" pitchFamily="34" charset="0"/>
                          <a:cs typeface="Calibri" pitchFamily="34" charset="-120"/>
                        </a:rPr>
                        <a:t>✓</a:t>
                      </a:r>
                      <a:endParaRPr lang="en-US" sz="1300">
                        <a:latin typeface="Verdana" panose="020B0604030504040204" pitchFamily="34" charset="0"/>
                        <a:ea typeface="Verdana" panose="020B0604030504040204" pitchFamily="34" charset="0"/>
                        <a:cs typeface="Calibri" charset="0"/>
                      </a:endParaRPr>
                    </a:p>
                  </a:txBody>
                  <a:tcPr marL="88900" marR="889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300" b="1">
                          <a:solidFill>
                            <a:srgbClr val="B0431F"/>
                          </a:solidFill>
                          <a:latin typeface="Verdana" panose="020B0604030504040204" pitchFamily="34" charset="0"/>
                          <a:ea typeface="Verdana" panose="020B0604030504040204" pitchFamily="34" charset="0"/>
                          <a:cs typeface="Calibri" pitchFamily="34" charset="-120"/>
                        </a:rPr>
                        <a:t>✓</a:t>
                      </a:r>
                      <a:endParaRPr lang="en-US" sz="1300">
                        <a:latin typeface="Verdana" panose="020B0604030504040204" pitchFamily="34" charset="0"/>
                        <a:ea typeface="Verdana" panose="020B0604030504040204" pitchFamily="34" charset="0"/>
                        <a:cs typeface="Calibri" charset="0"/>
                      </a:endParaRPr>
                    </a:p>
                  </a:txBody>
                  <a:tcPr marL="88900" marR="889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50" b="1">
                          <a:solidFill>
                            <a:srgbClr val="B0431F"/>
                          </a:solidFill>
                          <a:latin typeface="Verdana" panose="020B0604030504040204" pitchFamily="34" charset="0"/>
                          <a:ea typeface="Verdana" panose="020B0604030504040204" pitchFamily="34" charset="0"/>
                          <a:cs typeface="Calibri" pitchFamily="34" charset="-120"/>
                        </a:rPr>
                        <a:t>Distortionary partially/fully subsidised public good</a:t>
                      </a:r>
                      <a:endParaRPr lang="en-US" sz="950">
                        <a:latin typeface="Verdana" panose="020B0604030504040204" pitchFamily="34" charset="0"/>
                        <a:ea typeface="Verdana" panose="020B0604030504040204" pitchFamily="34" charset="0"/>
                        <a:cs typeface="Calibri" charset="0"/>
                      </a:endParaRPr>
                    </a:p>
                  </a:txBody>
                  <a:tcPr marL="88900" marR="889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buNone/>
                      </a:pPr>
                      <a:r>
                        <a:rPr lang="en-US" sz="950">
                          <a:solidFill>
                            <a:srgbClr val="333333"/>
                          </a:solidFill>
                          <a:latin typeface="Verdana" panose="020B0604030504040204" pitchFamily="34" charset="0"/>
                          <a:ea typeface="Verdana" panose="020B0604030504040204" pitchFamily="34" charset="0"/>
                          <a:cs typeface="Calibri" pitchFamily="34" charset="-120"/>
                        </a:rPr>
                        <a:t>Scheme 3</a:t>
                      </a:r>
                      <a:endParaRPr lang="en-US" sz="950">
                        <a:latin typeface="Verdana" panose="020B0604030504040204" pitchFamily="34" charset="0"/>
                        <a:ea typeface="Verdana" panose="020B0604030504040204" pitchFamily="34" charset="0"/>
                        <a:cs typeface="Calibri" charset="0"/>
                      </a:endParaRPr>
                    </a:p>
                  </a:txBody>
                  <a:tcPr marL="88900" marR="889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300" b="1">
                          <a:solidFill>
                            <a:srgbClr val="2E6B2E"/>
                          </a:solidFill>
                          <a:latin typeface="Verdana" panose="020B0604030504040204" pitchFamily="34" charset="0"/>
                          <a:ea typeface="Verdana" panose="020B0604030504040204" pitchFamily="34" charset="0"/>
                          <a:cs typeface="Calibri" pitchFamily="34" charset="-120"/>
                        </a:rPr>
                        <a:t>✓</a:t>
                      </a:r>
                      <a:endParaRPr lang="en-US" sz="1300">
                        <a:latin typeface="Verdana" panose="020B0604030504040204" pitchFamily="34" charset="0"/>
                        <a:ea typeface="Verdana" panose="020B0604030504040204" pitchFamily="34" charset="0"/>
                        <a:cs typeface="Calibri" charset="0"/>
                      </a:endParaRPr>
                    </a:p>
                  </a:txBody>
                  <a:tcPr marL="88900" marR="889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300" b="1">
                          <a:solidFill>
                            <a:srgbClr val="ED8B00"/>
                          </a:solidFill>
                          <a:latin typeface="Verdana" panose="020B0604030504040204" pitchFamily="34" charset="0"/>
                          <a:ea typeface="Verdana" panose="020B0604030504040204" pitchFamily="34" charset="0"/>
                          <a:cs typeface="Calibri" pitchFamily="34" charset="-120"/>
                        </a:rPr>
                        <a:t>✓</a:t>
                      </a:r>
                      <a:endParaRPr lang="en-US" sz="1300">
                        <a:latin typeface="Verdana" panose="020B0604030504040204" pitchFamily="34" charset="0"/>
                        <a:ea typeface="Verdana" panose="020B0604030504040204" pitchFamily="34" charset="0"/>
                        <a:cs typeface="Calibri" charset="0"/>
                      </a:endParaRPr>
                    </a:p>
                  </a:txBody>
                  <a:tcPr marL="88900" marR="889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950">
                          <a:solidFill>
                            <a:srgbClr val="63666A"/>
                          </a:solidFill>
                          <a:latin typeface="Verdana" panose="020B0604030504040204" pitchFamily="34" charset="0"/>
                          <a:ea typeface="Verdana" panose="020B0604030504040204" pitchFamily="34" charset="0"/>
                          <a:cs typeface="Calibri" pitchFamily="34" charset="-120"/>
                        </a:rPr>
                        <a:t>—</a:t>
                      </a:r>
                      <a:endParaRPr lang="en-US" sz="950">
                        <a:latin typeface="Verdana" panose="020B0604030504040204" pitchFamily="34" charset="0"/>
                        <a:ea typeface="Verdana" panose="020B0604030504040204" pitchFamily="34" charset="0"/>
                        <a:cs typeface="Calibri" charset="0"/>
                      </a:endParaRPr>
                    </a:p>
                  </a:txBody>
                  <a:tcPr marL="88900" marR="889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950" b="1">
                          <a:solidFill>
                            <a:srgbClr val="2E6B2E"/>
                          </a:solidFill>
                          <a:latin typeface="Verdana" panose="020B0604030504040204" pitchFamily="34" charset="0"/>
                          <a:ea typeface="Verdana" panose="020B0604030504040204" pitchFamily="34" charset="0"/>
                          <a:cs typeface="Calibri" pitchFamily="34" charset="-120"/>
                        </a:rPr>
                        <a:t>Welfare expenditure, flagged for redesign</a:t>
                      </a:r>
                      <a:endParaRPr lang="en-US" sz="950">
                        <a:latin typeface="Verdana" panose="020B0604030504040204" pitchFamily="34" charset="0"/>
                        <a:ea typeface="Verdana" panose="020B0604030504040204" pitchFamily="34" charset="0"/>
                        <a:cs typeface="Calibri" charset="0"/>
                      </a:endParaRPr>
                    </a:p>
                  </a:txBody>
                  <a:tcPr marL="88900" marR="889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41" name="Text 24">
            <a:extLst>
              <a:ext uri="{FF2B5EF4-FFF2-40B4-BE49-F238E27FC236}">
                <a16:creationId xmlns:a16="http://schemas.microsoft.com/office/drawing/2014/main" id="{D05BAFAA-B7FE-2030-9216-4DD9E4DDF943}"/>
              </a:ext>
            </a:extLst>
          </p:cNvPr>
          <p:cNvSpPr/>
          <p:nvPr/>
        </p:nvSpPr>
        <p:spPr>
          <a:xfrm>
            <a:off x="411480" y="6084961"/>
            <a:ext cx="11365992" cy="292608"/>
          </a:xfrm>
          <a:prstGeom prst="rect">
            <a:avLst/>
          </a:prstGeom>
          <a:solidFill>
            <a:schemeClr val="accent5">
              <a:lumMod val="75000"/>
            </a:schemeClr>
          </a:solidFill>
          <a:ln/>
        </p:spPr>
        <p:txBody>
          <a:bodyPr wrap="square" lIns="0" tIns="0" rIns="0" bIns="0" rtlCol="0" anchor="ctr"/>
          <a:lstStyle/>
          <a:p>
            <a:pPr marL="0" indent="0" algn="ctr">
              <a:buNone/>
            </a:pPr>
            <a:r>
              <a:rPr lang="en-US" sz="950" b="1">
                <a:solidFill>
                  <a:schemeClr val="bg1"/>
                </a:solidFill>
                <a:latin typeface="Verdana" panose="020B0604030504040204" pitchFamily="34" charset="0"/>
                <a:ea typeface="Verdana" panose="020B0604030504040204" pitchFamily="34" charset="0"/>
                <a:cs typeface="Calibri" pitchFamily="34" charset="-120"/>
              </a:rPr>
              <a:t>The draft framework is tabled for discussion at the close of Phase 2, so that NITI Aayog and consulted States shape the classification rules before they are applied at scale.</a:t>
            </a:r>
            <a:endParaRPr lang="en-US" sz="950" b="1">
              <a:solidFill>
                <a:schemeClr val="bg1"/>
              </a:solidFill>
              <a:latin typeface="Verdana" panose="020B0604030504040204" pitchFamily="34" charset="0"/>
              <a:ea typeface="Verdana" panose="020B0604030504040204" pitchFamily="34" charset="0"/>
            </a:endParaRPr>
          </a:p>
        </p:txBody>
      </p:sp>
      <p:sp>
        <p:nvSpPr>
          <p:cNvPr id="43" name="TextBox 42">
            <a:extLst>
              <a:ext uri="{FF2B5EF4-FFF2-40B4-BE49-F238E27FC236}">
                <a16:creationId xmlns:a16="http://schemas.microsoft.com/office/drawing/2014/main" id="{AAB5DBC0-769A-1561-542E-22CDB4526FAA}"/>
              </a:ext>
            </a:extLst>
          </p:cNvPr>
          <p:cNvSpPr txBox="1"/>
          <p:nvPr/>
        </p:nvSpPr>
        <p:spPr>
          <a:xfrm>
            <a:off x="439220" y="1613743"/>
            <a:ext cx="3670340" cy="45719"/>
          </a:xfrm>
          <a:prstGeom prst="rect">
            <a:avLst/>
          </a:prstGeom>
          <a:solidFill>
            <a:srgbClr val="046A38"/>
          </a:solidFill>
        </p:spPr>
        <p:txBody>
          <a:bodyPr wrap="square" lIns="0" tIns="0" rIns="0" bIns="0" rtlCol="0">
            <a:spAutoFit/>
          </a:bodyPr>
          <a:lstStyle/>
          <a:p>
            <a:pPr marL="203200" indent="-203200">
              <a:spcBef>
                <a:spcPts val="600"/>
              </a:spcBef>
              <a:buSzPct val="100000"/>
              <a:buFont typeface="Arial"/>
              <a:buChar char="•"/>
            </a:pPr>
            <a:endParaRPr lang="en-IN">
              <a:solidFill>
                <a:srgbClr val="313131"/>
              </a:solidFill>
            </a:endParaRPr>
          </a:p>
        </p:txBody>
      </p:sp>
      <p:sp>
        <p:nvSpPr>
          <p:cNvPr id="44" name="TextBox 43">
            <a:extLst>
              <a:ext uri="{FF2B5EF4-FFF2-40B4-BE49-F238E27FC236}">
                <a16:creationId xmlns:a16="http://schemas.microsoft.com/office/drawing/2014/main" id="{CFEDDF3F-06B2-AE11-0269-870CB9EA0747}"/>
              </a:ext>
            </a:extLst>
          </p:cNvPr>
          <p:cNvSpPr txBox="1"/>
          <p:nvPr/>
        </p:nvSpPr>
        <p:spPr>
          <a:xfrm>
            <a:off x="4250162" y="1587915"/>
            <a:ext cx="3670340" cy="45719"/>
          </a:xfrm>
          <a:prstGeom prst="rect">
            <a:avLst/>
          </a:prstGeom>
          <a:solidFill>
            <a:srgbClr val="046A38"/>
          </a:solidFill>
        </p:spPr>
        <p:txBody>
          <a:bodyPr wrap="square" lIns="0" tIns="0" rIns="0" bIns="0" rtlCol="0">
            <a:spAutoFit/>
          </a:bodyPr>
          <a:lstStyle/>
          <a:p>
            <a:pPr marL="203200" indent="-203200">
              <a:spcBef>
                <a:spcPts val="600"/>
              </a:spcBef>
              <a:buSzPct val="100000"/>
              <a:buFont typeface="Arial"/>
              <a:buChar char="•"/>
            </a:pPr>
            <a:endParaRPr lang="en-IN">
              <a:solidFill>
                <a:srgbClr val="313131"/>
              </a:solidFill>
            </a:endParaRPr>
          </a:p>
        </p:txBody>
      </p:sp>
      <p:sp>
        <p:nvSpPr>
          <p:cNvPr id="47" name="TextBox 46">
            <a:extLst>
              <a:ext uri="{FF2B5EF4-FFF2-40B4-BE49-F238E27FC236}">
                <a16:creationId xmlns:a16="http://schemas.microsoft.com/office/drawing/2014/main" id="{078D7C2A-58DA-2BC7-813E-98794735A394}"/>
              </a:ext>
            </a:extLst>
          </p:cNvPr>
          <p:cNvSpPr txBox="1"/>
          <p:nvPr/>
        </p:nvSpPr>
        <p:spPr>
          <a:xfrm>
            <a:off x="8107132" y="1587915"/>
            <a:ext cx="3670340" cy="45719"/>
          </a:xfrm>
          <a:prstGeom prst="rect">
            <a:avLst/>
          </a:prstGeom>
          <a:solidFill>
            <a:srgbClr val="046A38"/>
          </a:solidFill>
        </p:spPr>
        <p:txBody>
          <a:bodyPr wrap="square" lIns="0" tIns="0" rIns="0" bIns="0" rtlCol="0">
            <a:spAutoFit/>
          </a:bodyPr>
          <a:lstStyle/>
          <a:p>
            <a:pPr marL="203200" indent="-203200">
              <a:spcBef>
                <a:spcPts val="600"/>
              </a:spcBef>
              <a:buSzPct val="100000"/>
              <a:buFont typeface="Arial"/>
              <a:buChar char="•"/>
            </a:pPr>
            <a:endParaRPr lang="en-IN">
              <a:solidFill>
                <a:srgbClr val="313131"/>
              </a:solidFill>
            </a:endParaRPr>
          </a:p>
        </p:txBody>
      </p:sp>
    </p:spTree>
    <p:extLst>
      <p:ext uri="{BB962C8B-B14F-4D97-AF65-F5344CB8AC3E}">
        <p14:creationId xmlns:p14="http://schemas.microsoft.com/office/powerpoint/2010/main" val="39750188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71501-2DED-EC2B-E177-C7628502E3D2}"/>
            </a:ext>
          </a:extLst>
        </p:cNvPr>
        <p:cNvGrpSpPr/>
        <p:nvPr/>
      </p:nvGrpSpPr>
      <p:grpSpPr>
        <a:xfrm>
          <a:off x="0" y="0"/>
          <a:ext cx="0" cy="0"/>
          <a:chOff x="0" y="0"/>
          <a:chExt cx="0" cy="0"/>
        </a:xfrm>
      </p:grpSpPr>
      <p:cxnSp>
        <p:nvCxnSpPr>
          <p:cNvPr id="6" name="Straight Arrow Connector 5">
            <a:extLst>
              <a:ext uri="{FF2B5EF4-FFF2-40B4-BE49-F238E27FC236}">
                <a16:creationId xmlns:a16="http://schemas.microsoft.com/office/drawing/2014/main" id="{E450BD47-F03B-4340-1287-3B8BB04F8EC4}"/>
              </a:ext>
            </a:extLst>
          </p:cNvPr>
          <p:cNvCxnSpPr/>
          <p:nvPr/>
        </p:nvCxnSpPr>
        <p:spPr>
          <a:xfrm flipV="1">
            <a:off x="408972" y="778102"/>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2EE907F5-2867-7885-5F8E-18E65481496D}"/>
              </a:ext>
            </a:extLst>
          </p:cNvPr>
          <p:cNvSpPr/>
          <p:nvPr/>
        </p:nvSpPr>
        <p:spPr bwMode="gray">
          <a:xfrm>
            <a:off x="380920" y="66871"/>
            <a:ext cx="11811080" cy="370522"/>
          </a:xfrm>
          <a:prstGeom prst="rect">
            <a:avLst/>
          </a:prstGeom>
          <a:noFill/>
          <a:ln w="19050" algn="ctr">
            <a:noFill/>
            <a:miter lim="800000"/>
            <a:headEnd/>
            <a:tailEnd/>
          </a:ln>
        </p:spPr>
        <p:txBody>
          <a:bodyPr wrap="square" lIns="88900" tIns="88900" rIns="88900" bIns="88900" rtlCol="0" anchor="ctr"/>
          <a:lstStyle/>
          <a:p>
            <a:r>
              <a:rPr lang="en-US" b="1">
                <a:latin typeface="+mj-lt"/>
              </a:rPr>
              <a:t>Phase III: The Framework / Toolkit Governments Can Actually Operate</a:t>
            </a:r>
          </a:p>
        </p:txBody>
      </p:sp>
      <p:sp>
        <p:nvSpPr>
          <p:cNvPr id="12" name="Text Placeholder 1">
            <a:extLst>
              <a:ext uri="{FF2B5EF4-FFF2-40B4-BE49-F238E27FC236}">
                <a16:creationId xmlns:a16="http://schemas.microsoft.com/office/drawing/2014/main" id="{19E30DD1-4AD2-EE6F-ECB5-B2DF6B4A6A04}"/>
              </a:ext>
            </a:extLst>
          </p:cNvPr>
          <p:cNvSpPr txBox="1">
            <a:spLocks/>
          </p:cNvSpPr>
          <p:nvPr/>
        </p:nvSpPr>
        <p:spPr>
          <a:xfrm>
            <a:off x="439220" y="480431"/>
            <a:ext cx="11811079" cy="757255"/>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600" b="0" kern="1200">
                <a:solidFill>
                  <a:srgbClr val="575757"/>
                </a:solidFill>
                <a:latin typeface="Calibri" panose="020F0502020204030204" pitchFamily="34" charset="0"/>
                <a:ea typeface="+mn-ea"/>
                <a:cs typeface="Calibri" panose="020F0502020204030204" pitchFamily="34" charset="0"/>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1400">
                <a:latin typeface="Verdana" panose="020B0604030504040204" pitchFamily="34" charset="0"/>
                <a:ea typeface="Verdana" panose="020B0604030504040204" pitchFamily="34" charset="0"/>
              </a:rPr>
              <a:t>Self-contained MS Excel instrument with a user guide, in four modules </a:t>
            </a:r>
          </a:p>
        </p:txBody>
      </p:sp>
      <p:sp>
        <p:nvSpPr>
          <p:cNvPr id="16" name="Shape 3">
            <a:extLst>
              <a:ext uri="{FF2B5EF4-FFF2-40B4-BE49-F238E27FC236}">
                <a16:creationId xmlns:a16="http://schemas.microsoft.com/office/drawing/2014/main" id="{CA26175D-AC24-BA87-A0A1-9243ECBE3B6D}"/>
              </a:ext>
            </a:extLst>
          </p:cNvPr>
          <p:cNvSpPr/>
          <p:nvPr/>
        </p:nvSpPr>
        <p:spPr>
          <a:xfrm>
            <a:off x="457200" y="1207008"/>
            <a:ext cx="658368" cy="658368"/>
          </a:xfrm>
          <a:prstGeom prst="flowChartConnector">
            <a:avLst/>
          </a:prstGeom>
          <a:solidFill>
            <a:srgbClr val="000000"/>
          </a:solidFill>
          <a:ln/>
        </p:spPr>
        <p:txBody>
          <a:bodyPr/>
          <a:lstStyle/>
          <a:p>
            <a:endParaRPr lang="en-IN">
              <a:latin typeface="Verdana" panose="020B0604030504040204" pitchFamily="34" charset="0"/>
              <a:ea typeface="Verdana" panose="020B0604030504040204" pitchFamily="34" charset="0"/>
            </a:endParaRPr>
          </a:p>
        </p:txBody>
      </p:sp>
      <p:sp>
        <p:nvSpPr>
          <p:cNvPr id="21" name="Text 4">
            <a:extLst>
              <a:ext uri="{FF2B5EF4-FFF2-40B4-BE49-F238E27FC236}">
                <a16:creationId xmlns:a16="http://schemas.microsoft.com/office/drawing/2014/main" id="{5EC22639-DBD9-5173-BAA8-A955F17ABE82}"/>
              </a:ext>
            </a:extLst>
          </p:cNvPr>
          <p:cNvSpPr/>
          <p:nvPr/>
        </p:nvSpPr>
        <p:spPr>
          <a:xfrm>
            <a:off x="457200" y="1207008"/>
            <a:ext cx="658368" cy="658368"/>
          </a:xfrm>
          <a:prstGeom prst="rect">
            <a:avLst/>
          </a:prstGeom>
          <a:noFill/>
          <a:ln/>
        </p:spPr>
        <p:txBody>
          <a:bodyPr wrap="square" lIns="0" tIns="0" rIns="0" bIns="0" rtlCol="0" anchor="ctr"/>
          <a:lstStyle/>
          <a:p>
            <a:pPr marL="0" indent="0" algn="ctr">
              <a:buNone/>
            </a:pPr>
            <a:r>
              <a:rPr lang="en-US" sz="1200" b="1">
                <a:solidFill>
                  <a:srgbClr val="FFFFFF"/>
                </a:solidFill>
                <a:latin typeface="Verdana" panose="020B0604030504040204" pitchFamily="34" charset="0"/>
                <a:ea typeface="Verdana" panose="020B0604030504040204" pitchFamily="34" charset="0"/>
                <a:cs typeface="Arial" pitchFamily="34" charset="-120"/>
              </a:rPr>
              <a:t>01</a:t>
            </a:r>
            <a:endParaRPr lang="en-US" sz="1200">
              <a:latin typeface="Verdana" panose="020B0604030504040204" pitchFamily="34" charset="0"/>
              <a:ea typeface="Verdana" panose="020B0604030504040204" pitchFamily="34" charset="0"/>
            </a:endParaRPr>
          </a:p>
        </p:txBody>
      </p:sp>
      <p:sp>
        <p:nvSpPr>
          <p:cNvPr id="22" name="Shape 5">
            <a:extLst>
              <a:ext uri="{FF2B5EF4-FFF2-40B4-BE49-F238E27FC236}">
                <a16:creationId xmlns:a16="http://schemas.microsoft.com/office/drawing/2014/main" id="{1633EFB8-67FC-F0D5-E59A-C5A3816CCA19}"/>
              </a:ext>
            </a:extLst>
          </p:cNvPr>
          <p:cNvSpPr/>
          <p:nvPr/>
        </p:nvSpPr>
        <p:spPr>
          <a:xfrm>
            <a:off x="1280160" y="1152144"/>
            <a:ext cx="2834640" cy="768096"/>
          </a:xfrm>
          <a:prstGeom prst="homePlate">
            <a:avLst/>
          </a:prstGeom>
          <a:solidFill>
            <a:srgbClr val="004F59"/>
          </a:solidFill>
          <a:ln/>
          <a:effectLst>
            <a:outerShdw blurRad="76200" dist="17780" dir="5400000" algn="bl" rotWithShape="0">
              <a:srgbClr val="1A1A1A">
                <a:alpha val="12000"/>
              </a:srgbClr>
            </a:outerShdw>
          </a:effectLst>
        </p:spPr>
        <p:txBody>
          <a:bodyPr/>
          <a:lstStyle/>
          <a:p>
            <a:endParaRPr lang="en-IN">
              <a:latin typeface="Verdana" panose="020B0604030504040204" pitchFamily="34" charset="0"/>
              <a:ea typeface="Verdana" panose="020B0604030504040204" pitchFamily="34" charset="0"/>
            </a:endParaRPr>
          </a:p>
        </p:txBody>
      </p:sp>
      <p:sp>
        <p:nvSpPr>
          <p:cNvPr id="24" name="Text 6">
            <a:extLst>
              <a:ext uri="{FF2B5EF4-FFF2-40B4-BE49-F238E27FC236}">
                <a16:creationId xmlns:a16="http://schemas.microsoft.com/office/drawing/2014/main" id="{BE681179-4E98-64FE-8B78-407C835F08BA}"/>
              </a:ext>
            </a:extLst>
          </p:cNvPr>
          <p:cNvSpPr/>
          <p:nvPr/>
        </p:nvSpPr>
        <p:spPr>
          <a:xfrm>
            <a:off x="1426464" y="1152144"/>
            <a:ext cx="2377440" cy="768096"/>
          </a:xfrm>
          <a:prstGeom prst="rect">
            <a:avLst/>
          </a:prstGeom>
          <a:noFill/>
          <a:ln/>
        </p:spPr>
        <p:txBody>
          <a:bodyPr wrap="square" lIns="0" tIns="0" rIns="0" bIns="0" rtlCol="0" anchor="ctr"/>
          <a:lstStyle/>
          <a:p>
            <a:pPr marL="0" indent="0">
              <a:lnSpc>
                <a:spcPct val="93000"/>
              </a:lnSpc>
              <a:buNone/>
            </a:pPr>
            <a:r>
              <a:rPr lang="en-US" sz="1150" b="1">
                <a:solidFill>
                  <a:srgbClr val="FFFFFF"/>
                </a:solidFill>
                <a:latin typeface="Verdana" panose="020B0604030504040204" pitchFamily="34" charset="0"/>
                <a:ea typeface="Verdana" panose="020B0604030504040204" pitchFamily="34" charset="0"/>
                <a:cs typeface="Arial" pitchFamily="34" charset="-120"/>
              </a:rPr>
              <a:t>Scheme Intake Sheet</a:t>
            </a:r>
            <a:endParaRPr lang="en-US" sz="1150">
              <a:latin typeface="Verdana" panose="020B0604030504040204" pitchFamily="34" charset="0"/>
              <a:ea typeface="Verdana" panose="020B0604030504040204" pitchFamily="34" charset="0"/>
            </a:endParaRPr>
          </a:p>
        </p:txBody>
      </p:sp>
      <p:sp>
        <p:nvSpPr>
          <p:cNvPr id="26" name="Text 7">
            <a:extLst>
              <a:ext uri="{FF2B5EF4-FFF2-40B4-BE49-F238E27FC236}">
                <a16:creationId xmlns:a16="http://schemas.microsoft.com/office/drawing/2014/main" id="{8910D918-A81B-67F6-D7EF-7EC74BA2D901}"/>
              </a:ext>
            </a:extLst>
          </p:cNvPr>
          <p:cNvSpPr/>
          <p:nvPr/>
        </p:nvSpPr>
        <p:spPr>
          <a:xfrm>
            <a:off x="4315968" y="1170432"/>
            <a:ext cx="4023360" cy="731520"/>
          </a:xfrm>
          <a:prstGeom prst="rect">
            <a:avLst/>
          </a:prstGeom>
          <a:noFill/>
          <a:ln>
            <a:solidFill>
              <a:srgbClr val="2C5234"/>
            </a:solidFill>
            <a:prstDash val="dash"/>
          </a:ln>
        </p:spPr>
        <p:txBody>
          <a:bodyPr wrap="square" lIns="0" tIns="0" rIns="0" bIns="0" rtlCol="0" anchor="ctr"/>
          <a:lstStyle/>
          <a:p>
            <a:pPr marL="0" indent="0">
              <a:lnSpc>
                <a:spcPct val="94000"/>
              </a:lnSpc>
              <a:buNone/>
            </a:pPr>
            <a:r>
              <a:rPr lang="en-US" sz="900">
                <a:solidFill>
                  <a:srgbClr val="1A1A1A"/>
                </a:solidFill>
                <a:latin typeface="Verdana" panose="020B0604030504040204" pitchFamily="34" charset="0"/>
                <a:ea typeface="Verdana" panose="020B0604030504040204" pitchFamily="34" charset="0"/>
                <a:cs typeface="Calibri" pitchFamily="34" charset="-120"/>
              </a:rPr>
              <a:t> A structured template for any State or Ministry to enter a scheme's basic parameters — objective, budget head, beneficiary base, financing source and duration.</a:t>
            </a:r>
            <a:endParaRPr lang="en-US" sz="900">
              <a:latin typeface="Verdana" panose="020B0604030504040204" pitchFamily="34" charset="0"/>
              <a:ea typeface="Verdana" panose="020B0604030504040204" pitchFamily="34" charset="0"/>
            </a:endParaRPr>
          </a:p>
        </p:txBody>
      </p:sp>
      <p:sp>
        <p:nvSpPr>
          <p:cNvPr id="27" name="Shape 8">
            <a:extLst>
              <a:ext uri="{FF2B5EF4-FFF2-40B4-BE49-F238E27FC236}">
                <a16:creationId xmlns:a16="http://schemas.microsoft.com/office/drawing/2014/main" id="{CB4DC334-3B6E-E7C7-57EC-6561FFDC6FCE}"/>
              </a:ext>
            </a:extLst>
          </p:cNvPr>
          <p:cNvSpPr/>
          <p:nvPr/>
        </p:nvSpPr>
        <p:spPr>
          <a:xfrm>
            <a:off x="8503920" y="1188720"/>
            <a:ext cx="3227832" cy="694944"/>
          </a:xfrm>
          <a:prstGeom prst="roundRect">
            <a:avLst>
              <a:gd name="adj" fmla="val 5263"/>
            </a:avLst>
          </a:prstGeom>
          <a:solidFill>
            <a:srgbClr val="DDEFE8"/>
          </a:solidFill>
          <a:ln/>
        </p:spPr>
        <p:txBody>
          <a:bodyPr/>
          <a:lstStyle/>
          <a:p>
            <a:endParaRPr lang="en-IN">
              <a:latin typeface="Verdana" panose="020B0604030504040204" pitchFamily="34" charset="0"/>
              <a:ea typeface="Verdana" panose="020B0604030504040204" pitchFamily="34" charset="0"/>
            </a:endParaRPr>
          </a:p>
        </p:txBody>
      </p:sp>
      <p:sp>
        <p:nvSpPr>
          <p:cNvPr id="28" name="Text 9">
            <a:extLst>
              <a:ext uri="{FF2B5EF4-FFF2-40B4-BE49-F238E27FC236}">
                <a16:creationId xmlns:a16="http://schemas.microsoft.com/office/drawing/2014/main" id="{26D0FD3E-B1D7-6721-E187-4D681B57257C}"/>
              </a:ext>
            </a:extLst>
          </p:cNvPr>
          <p:cNvSpPr/>
          <p:nvPr/>
        </p:nvSpPr>
        <p:spPr>
          <a:xfrm>
            <a:off x="8631936" y="1188720"/>
            <a:ext cx="2971800" cy="694944"/>
          </a:xfrm>
          <a:prstGeom prst="rect">
            <a:avLst/>
          </a:prstGeom>
          <a:noFill/>
          <a:ln/>
        </p:spPr>
        <p:txBody>
          <a:bodyPr wrap="square" lIns="0" tIns="0" rIns="0" bIns="0" rtlCol="0" anchor="ctr"/>
          <a:lstStyle/>
          <a:p>
            <a:pPr marL="0" indent="0">
              <a:lnSpc>
                <a:spcPct val="93000"/>
              </a:lnSpc>
              <a:buNone/>
            </a:pPr>
            <a:r>
              <a:rPr lang="en-US" sz="850" b="1">
                <a:solidFill>
                  <a:srgbClr val="004F59"/>
                </a:solidFill>
                <a:latin typeface="Verdana" panose="020B0604030504040204" pitchFamily="34" charset="0"/>
                <a:ea typeface="Verdana" panose="020B0604030504040204" pitchFamily="34" charset="0"/>
                <a:cs typeface="Calibri" pitchFamily="34" charset="-120"/>
              </a:rPr>
              <a:t>Standardised, comparable scheme-level data across States</a:t>
            </a:r>
            <a:endParaRPr lang="en-US" sz="850">
              <a:latin typeface="Verdana" panose="020B0604030504040204" pitchFamily="34" charset="0"/>
              <a:ea typeface="Verdana" panose="020B0604030504040204" pitchFamily="34" charset="0"/>
            </a:endParaRPr>
          </a:p>
        </p:txBody>
      </p:sp>
      <p:sp>
        <p:nvSpPr>
          <p:cNvPr id="30" name="Shape 10">
            <a:extLst>
              <a:ext uri="{FF2B5EF4-FFF2-40B4-BE49-F238E27FC236}">
                <a16:creationId xmlns:a16="http://schemas.microsoft.com/office/drawing/2014/main" id="{08653797-3EC4-D873-E693-B67325389420}"/>
              </a:ext>
            </a:extLst>
          </p:cNvPr>
          <p:cNvSpPr/>
          <p:nvPr/>
        </p:nvSpPr>
        <p:spPr>
          <a:xfrm>
            <a:off x="457200" y="2267712"/>
            <a:ext cx="658368" cy="658368"/>
          </a:xfrm>
          <a:prstGeom prst="flowChartConnector">
            <a:avLst/>
          </a:prstGeom>
          <a:solidFill>
            <a:srgbClr val="000000"/>
          </a:solidFill>
          <a:ln/>
        </p:spPr>
        <p:txBody>
          <a:bodyPr/>
          <a:lstStyle/>
          <a:p>
            <a:endParaRPr lang="en-IN">
              <a:latin typeface="Verdana" panose="020B0604030504040204" pitchFamily="34" charset="0"/>
              <a:ea typeface="Verdana" panose="020B0604030504040204" pitchFamily="34" charset="0"/>
            </a:endParaRPr>
          </a:p>
        </p:txBody>
      </p:sp>
      <p:sp>
        <p:nvSpPr>
          <p:cNvPr id="32" name="Text 11">
            <a:extLst>
              <a:ext uri="{FF2B5EF4-FFF2-40B4-BE49-F238E27FC236}">
                <a16:creationId xmlns:a16="http://schemas.microsoft.com/office/drawing/2014/main" id="{8F04196B-CF39-8470-83E7-567F171F273C}"/>
              </a:ext>
            </a:extLst>
          </p:cNvPr>
          <p:cNvSpPr/>
          <p:nvPr/>
        </p:nvSpPr>
        <p:spPr>
          <a:xfrm>
            <a:off x="457200" y="2267712"/>
            <a:ext cx="658368" cy="658368"/>
          </a:xfrm>
          <a:prstGeom prst="rect">
            <a:avLst/>
          </a:prstGeom>
          <a:noFill/>
          <a:ln/>
        </p:spPr>
        <p:txBody>
          <a:bodyPr wrap="square" lIns="0" tIns="0" rIns="0" bIns="0" rtlCol="0" anchor="ctr"/>
          <a:lstStyle/>
          <a:p>
            <a:pPr marL="0" indent="0" algn="ctr">
              <a:buNone/>
            </a:pPr>
            <a:r>
              <a:rPr lang="en-US" sz="1200" b="1">
                <a:solidFill>
                  <a:srgbClr val="FFFFFF"/>
                </a:solidFill>
                <a:latin typeface="Verdana" panose="020B0604030504040204" pitchFamily="34" charset="0"/>
                <a:ea typeface="Verdana" panose="020B0604030504040204" pitchFamily="34" charset="0"/>
                <a:cs typeface="Arial" pitchFamily="34" charset="-120"/>
              </a:rPr>
              <a:t>02</a:t>
            </a:r>
            <a:endParaRPr lang="en-US" sz="1200">
              <a:latin typeface="Verdana" panose="020B0604030504040204" pitchFamily="34" charset="0"/>
              <a:ea typeface="Verdana" panose="020B0604030504040204" pitchFamily="34" charset="0"/>
            </a:endParaRPr>
          </a:p>
        </p:txBody>
      </p:sp>
      <p:sp>
        <p:nvSpPr>
          <p:cNvPr id="33" name="Shape 12">
            <a:extLst>
              <a:ext uri="{FF2B5EF4-FFF2-40B4-BE49-F238E27FC236}">
                <a16:creationId xmlns:a16="http://schemas.microsoft.com/office/drawing/2014/main" id="{6F22DFFE-EEEC-7316-5332-C2675FBC6F60}"/>
              </a:ext>
            </a:extLst>
          </p:cNvPr>
          <p:cNvSpPr/>
          <p:nvPr/>
        </p:nvSpPr>
        <p:spPr>
          <a:xfrm>
            <a:off x="1280160" y="2212848"/>
            <a:ext cx="2834640" cy="768096"/>
          </a:xfrm>
          <a:prstGeom prst="homePlate">
            <a:avLst/>
          </a:prstGeom>
          <a:solidFill>
            <a:srgbClr val="007680"/>
          </a:solidFill>
          <a:ln/>
          <a:effectLst>
            <a:outerShdw blurRad="76200" dist="17780" dir="5400000" algn="bl" rotWithShape="0">
              <a:srgbClr val="1A1A1A">
                <a:alpha val="12000"/>
              </a:srgbClr>
            </a:outerShdw>
          </a:effectLst>
        </p:spPr>
        <p:txBody>
          <a:bodyPr/>
          <a:lstStyle/>
          <a:p>
            <a:endParaRPr lang="en-IN">
              <a:latin typeface="Verdana" panose="020B0604030504040204" pitchFamily="34" charset="0"/>
              <a:ea typeface="Verdana" panose="020B0604030504040204" pitchFamily="34" charset="0"/>
            </a:endParaRPr>
          </a:p>
        </p:txBody>
      </p:sp>
      <p:sp>
        <p:nvSpPr>
          <p:cNvPr id="34" name="Text 13">
            <a:extLst>
              <a:ext uri="{FF2B5EF4-FFF2-40B4-BE49-F238E27FC236}">
                <a16:creationId xmlns:a16="http://schemas.microsoft.com/office/drawing/2014/main" id="{886475E4-9B7A-A760-96DE-3685DC7AC892}"/>
              </a:ext>
            </a:extLst>
          </p:cNvPr>
          <p:cNvSpPr/>
          <p:nvPr/>
        </p:nvSpPr>
        <p:spPr>
          <a:xfrm>
            <a:off x="1426464" y="2212848"/>
            <a:ext cx="2377440" cy="768096"/>
          </a:xfrm>
          <a:prstGeom prst="rect">
            <a:avLst/>
          </a:prstGeom>
          <a:noFill/>
          <a:ln/>
        </p:spPr>
        <p:txBody>
          <a:bodyPr wrap="square" lIns="0" tIns="0" rIns="0" bIns="0" rtlCol="0" anchor="ctr"/>
          <a:lstStyle/>
          <a:p>
            <a:pPr marL="0" indent="0">
              <a:lnSpc>
                <a:spcPct val="93000"/>
              </a:lnSpc>
              <a:buNone/>
            </a:pPr>
            <a:r>
              <a:rPr lang="en-US" sz="1150" b="1">
                <a:solidFill>
                  <a:srgbClr val="FFFFFF"/>
                </a:solidFill>
                <a:latin typeface="Verdana" panose="020B0604030504040204" pitchFamily="34" charset="0"/>
                <a:ea typeface="Verdana" panose="020B0604030504040204" pitchFamily="34" charset="0"/>
                <a:cs typeface="Arial" pitchFamily="34" charset="-120"/>
              </a:rPr>
              <a:t>Classification Engine</a:t>
            </a:r>
            <a:endParaRPr lang="en-US" sz="1150">
              <a:latin typeface="Verdana" panose="020B0604030504040204" pitchFamily="34" charset="0"/>
              <a:ea typeface="Verdana" panose="020B0604030504040204" pitchFamily="34" charset="0"/>
            </a:endParaRPr>
          </a:p>
        </p:txBody>
      </p:sp>
      <p:sp>
        <p:nvSpPr>
          <p:cNvPr id="36" name="Text 14">
            <a:extLst>
              <a:ext uri="{FF2B5EF4-FFF2-40B4-BE49-F238E27FC236}">
                <a16:creationId xmlns:a16="http://schemas.microsoft.com/office/drawing/2014/main" id="{19AC9192-4895-2067-0A34-100E0C05A661}"/>
              </a:ext>
            </a:extLst>
          </p:cNvPr>
          <p:cNvSpPr/>
          <p:nvPr/>
        </p:nvSpPr>
        <p:spPr>
          <a:xfrm>
            <a:off x="4315968" y="2231136"/>
            <a:ext cx="4023360" cy="731520"/>
          </a:xfrm>
          <a:prstGeom prst="rect">
            <a:avLst/>
          </a:prstGeom>
          <a:noFill/>
          <a:ln>
            <a:solidFill>
              <a:srgbClr val="2C5234"/>
            </a:solidFill>
            <a:prstDash val="dash"/>
          </a:ln>
        </p:spPr>
        <p:txBody>
          <a:bodyPr wrap="square" lIns="0" tIns="0" rIns="0" bIns="0" rtlCol="0" anchor="ctr"/>
          <a:lstStyle/>
          <a:p>
            <a:pPr marL="0" indent="0">
              <a:lnSpc>
                <a:spcPct val="94000"/>
              </a:lnSpc>
              <a:buNone/>
            </a:pPr>
            <a:r>
              <a:rPr lang="en-US" sz="900">
                <a:solidFill>
                  <a:srgbClr val="1A1A1A"/>
                </a:solidFill>
                <a:latin typeface="Verdana" panose="020B0604030504040204" pitchFamily="34" charset="0"/>
                <a:ea typeface="Verdana" panose="020B0604030504040204" pitchFamily="34" charset="0"/>
                <a:cs typeface="Calibri" pitchFamily="34" charset="-120"/>
              </a:rPr>
              <a:t> Applies the 4-Dimension Evaluation Matrix with pre-set weights, computing a composite score automatically from the intake data.</a:t>
            </a:r>
            <a:endParaRPr lang="en-US" sz="900">
              <a:latin typeface="Verdana" panose="020B0604030504040204" pitchFamily="34" charset="0"/>
              <a:ea typeface="Verdana" panose="020B0604030504040204" pitchFamily="34" charset="0"/>
            </a:endParaRPr>
          </a:p>
        </p:txBody>
      </p:sp>
      <p:sp>
        <p:nvSpPr>
          <p:cNvPr id="38" name="Shape 15">
            <a:extLst>
              <a:ext uri="{FF2B5EF4-FFF2-40B4-BE49-F238E27FC236}">
                <a16:creationId xmlns:a16="http://schemas.microsoft.com/office/drawing/2014/main" id="{C3A60E41-E619-0DEC-AE88-BBA75C50B64A}"/>
              </a:ext>
            </a:extLst>
          </p:cNvPr>
          <p:cNvSpPr/>
          <p:nvPr/>
        </p:nvSpPr>
        <p:spPr>
          <a:xfrm>
            <a:off x="8503920" y="2249424"/>
            <a:ext cx="3227832" cy="694944"/>
          </a:xfrm>
          <a:prstGeom prst="roundRect">
            <a:avLst>
              <a:gd name="adj" fmla="val 5263"/>
            </a:avLst>
          </a:prstGeom>
          <a:solidFill>
            <a:srgbClr val="DDEFE8"/>
          </a:solidFill>
          <a:ln/>
        </p:spPr>
        <p:txBody>
          <a:bodyPr/>
          <a:lstStyle/>
          <a:p>
            <a:endParaRPr lang="en-IN">
              <a:latin typeface="Verdana" panose="020B0604030504040204" pitchFamily="34" charset="0"/>
              <a:ea typeface="Verdana" panose="020B0604030504040204" pitchFamily="34" charset="0"/>
            </a:endParaRPr>
          </a:p>
        </p:txBody>
      </p:sp>
      <p:sp>
        <p:nvSpPr>
          <p:cNvPr id="39" name="Text 16">
            <a:extLst>
              <a:ext uri="{FF2B5EF4-FFF2-40B4-BE49-F238E27FC236}">
                <a16:creationId xmlns:a16="http://schemas.microsoft.com/office/drawing/2014/main" id="{87951D02-F3A6-9323-2C2A-59C03B10AE8F}"/>
              </a:ext>
            </a:extLst>
          </p:cNvPr>
          <p:cNvSpPr/>
          <p:nvPr/>
        </p:nvSpPr>
        <p:spPr>
          <a:xfrm>
            <a:off x="8631936" y="2249424"/>
            <a:ext cx="2971800" cy="694944"/>
          </a:xfrm>
          <a:prstGeom prst="rect">
            <a:avLst/>
          </a:prstGeom>
          <a:noFill/>
          <a:ln/>
        </p:spPr>
        <p:txBody>
          <a:bodyPr wrap="square" lIns="0" tIns="0" rIns="0" bIns="0" rtlCol="0" anchor="ctr"/>
          <a:lstStyle/>
          <a:p>
            <a:pPr marL="0" indent="0">
              <a:lnSpc>
                <a:spcPct val="93000"/>
              </a:lnSpc>
              <a:buNone/>
            </a:pPr>
            <a:r>
              <a:rPr lang="en-US" sz="850" b="1">
                <a:solidFill>
                  <a:srgbClr val="004F59"/>
                </a:solidFill>
                <a:latin typeface="Verdana" panose="020B0604030504040204" pitchFamily="34" charset="0"/>
                <a:ea typeface="Verdana" panose="020B0604030504040204" pitchFamily="34" charset="0"/>
                <a:cs typeface="Calibri" pitchFamily="34" charset="-120"/>
              </a:rPr>
              <a:t>Auto-generated verdict across the three assessment categories</a:t>
            </a:r>
            <a:endParaRPr lang="en-US" sz="850">
              <a:latin typeface="Verdana" panose="020B0604030504040204" pitchFamily="34" charset="0"/>
              <a:ea typeface="Verdana" panose="020B0604030504040204" pitchFamily="34" charset="0"/>
            </a:endParaRPr>
          </a:p>
        </p:txBody>
      </p:sp>
      <p:sp>
        <p:nvSpPr>
          <p:cNvPr id="40" name="Shape 17">
            <a:extLst>
              <a:ext uri="{FF2B5EF4-FFF2-40B4-BE49-F238E27FC236}">
                <a16:creationId xmlns:a16="http://schemas.microsoft.com/office/drawing/2014/main" id="{46A461AF-483F-C1B4-D42C-8A648DEBE3CB}"/>
              </a:ext>
            </a:extLst>
          </p:cNvPr>
          <p:cNvSpPr/>
          <p:nvPr/>
        </p:nvSpPr>
        <p:spPr>
          <a:xfrm>
            <a:off x="457200" y="3328416"/>
            <a:ext cx="658368" cy="658368"/>
          </a:xfrm>
          <a:prstGeom prst="flowChartConnector">
            <a:avLst/>
          </a:prstGeom>
          <a:solidFill>
            <a:srgbClr val="000000"/>
          </a:solidFill>
          <a:ln/>
        </p:spPr>
        <p:txBody>
          <a:bodyPr/>
          <a:lstStyle/>
          <a:p>
            <a:endParaRPr lang="en-IN">
              <a:latin typeface="Verdana" panose="020B0604030504040204" pitchFamily="34" charset="0"/>
              <a:ea typeface="Verdana" panose="020B0604030504040204" pitchFamily="34" charset="0"/>
            </a:endParaRPr>
          </a:p>
        </p:txBody>
      </p:sp>
      <p:sp>
        <p:nvSpPr>
          <p:cNvPr id="42" name="Text 18">
            <a:extLst>
              <a:ext uri="{FF2B5EF4-FFF2-40B4-BE49-F238E27FC236}">
                <a16:creationId xmlns:a16="http://schemas.microsoft.com/office/drawing/2014/main" id="{07DD9BCF-4222-BA99-BBE4-F89C05195827}"/>
              </a:ext>
            </a:extLst>
          </p:cNvPr>
          <p:cNvSpPr/>
          <p:nvPr/>
        </p:nvSpPr>
        <p:spPr>
          <a:xfrm>
            <a:off x="457200" y="3328416"/>
            <a:ext cx="658368" cy="658368"/>
          </a:xfrm>
          <a:prstGeom prst="rect">
            <a:avLst/>
          </a:prstGeom>
          <a:noFill/>
          <a:ln/>
        </p:spPr>
        <p:txBody>
          <a:bodyPr wrap="square" lIns="0" tIns="0" rIns="0" bIns="0" rtlCol="0" anchor="ctr"/>
          <a:lstStyle/>
          <a:p>
            <a:pPr marL="0" indent="0" algn="ctr">
              <a:buNone/>
            </a:pPr>
            <a:r>
              <a:rPr lang="en-US" sz="1200" b="1">
                <a:solidFill>
                  <a:srgbClr val="FFFFFF"/>
                </a:solidFill>
                <a:latin typeface="Verdana" panose="020B0604030504040204" pitchFamily="34" charset="0"/>
                <a:ea typeface="Verdana" panose="020B0604030504040204" pitchFamily="34" charset="0"/>
                <a:cs typeface="Arial" pitchFamily="34" charset="-120"/>
              </a:rPr>
              <a:t>03</a:t>
            </a:r>
            <a:endParaRPr lang="en-US" sz="1200">
              <a:latin typeface="Verdana" panose="020B0604030504040204" pitchFamily="34" charset="0"/>
              <a:ea typeface="Verdana" panose="020B0604030504040204" pitchFamily="34" charset="0"/>
            </a:endParaRPr>
          </a:p>
        </p:txBody>
      </p:sp>
      <p:sp>
        <p:nvSpPr>
          <p:cNvPr id="45" name="Shape 19">
            <a:extLst>
              <a:ext uri="{FF2B5EF4-FFF2-40B4-BE49-F238E27FC236}">
                <a16:creationId xmlns:a16="http://schemas.microsoft.com/office/drawing/2014/main" id="{F0816354-3F8D-36DD-F2F0-9F5A3621B8EC}"/>
              </a:ext>
            </a:extLst>
          </p:cNvPr>
          <p:cNvSpPr/>
          <p:nvPr/>
        </p:nvSpPr>
        <p:spPr>
          <a:xfrm>
            <a:off x="1280160" y="3273552"/>
            <a:ext cx="2834640" cy="768096"/>
          </a:xfrm>
          <a:prstGeom prst="homePlate">
            <a:avLst/>
          </a:prstGeom>
          <a:solidFill>
            <a:srgbClr val="0097A9"/>
          </a:solidFill>
          <a:ln/>
          <a:effectLst>
            <a:outerShdw blurRad="76200" dist="17780" dir="5400000" algn="bl" rotWithShape="0">
              <a:srgbClr val="1A1A1A">
                <a:alpha val="12000"/>
              </a:srgbClr>
            </a:outerShdw>
          </a:effectLst>
        </p:spPr>
        <p:txBody>
          <a:bodyPr/>
          <a:lstStyle/>
          <a:p>
            <a:endParaRPr lang="en-IN">
              <a:latin typeface="Verdana" panose="020B0604030504040204" pitchFamily="34" charset="0"/>
              <a:ea typeface="Verdana" panose="020B0604030504040204" pitchFamily="34" charset="0"/>
            </a:endParaRPr>
          </a:p>
        </p:txBody>
      </p:sp>
      <p:sp>
        <p:nvSpPr>
          <p:cNvPr id="46" name="Text 20">
            <a:extLst>
              <a:ext uri="{FF2B5EF4-FFF2-40B4-BE49-F238E27FC236}">
                <a16:creationId xmlns:a16="http://schemas.microsoft.com/office/drawing/2014/main" id="{6488EE93-5EB7-038D-A42A-E03E7DA474DB}"/>
              </a:ext>
            </a:extLst>
          </p:cNvPr>
          <p:cNvSpPr/>
          <p:nvPr/>
        </p:nvSpPr>
        <p:spPr>
          <a:xfrm>
            <a:off x="1426464" y="3273552"/>
            <a:ext cx="2377440" cy="768096"/>
          </a:xfrm>
          <a:prstGeom prst="rect">
            <a:avLst/>
          </a:prstGeom>
          <a:noFill/>
          <a:ln/>
        </p:spPr>
        <p:txBody>
          <a:bodyPr wrap="square" lIns="0" tIns="0" rIns="0" bIns="0" rtlCol="0" anchor="ctr"/>
          <a:lstStyle/>
          <a:p>
            <a:pPr marL="0" indent="0">
              <a:lnSpc>
                <a:spcPct val="93000"/>
              </a:lnSpc>
              <a:buNone/>
            </a:pPr>
            <a:r>
              <a:rPr lang="en-US" sz="1150" b="1">
                <a:solidFill>
                  <a:srgbClr val="FFFFFF"/>
                </a:solidFill>
                <a:latin typeface="Verdana" panose="020B0604030504040204" pitchFamily="34" charset="0"/>
                <a:ea typeface="Verdana" panose="020B0604030504040204" pitchFamily="34" charset="0"/>
                <a:cs typeface="Arial" pitchFamily="34" charset="-120"/>
              </a:rPr>
              <a:t>Fiscal Space Dashboard</a:t>
            </a:r>
            <a:endParaRPr lang="en-US" sz="1150">
              <a:latin typeface="Verdana" panose="020B0604030504040204" pitchFamily="34" charset="0"/>
              <a:ea typeface="Verdana" panose="020B0604030504040204" pitchFamily="34" charset="0"/>
            </a:endParaRPr>
          </a:p>
        </p:txBody>
      </p:sp>
      <p:sp>
        <p:nvSpPr>
          <p:cNvPr id="48" name="Text 21">
            <a:extLst>
              <a:ext uri="{FF2B5EF4-FFF2-40B4-BE49-F238E27FC236}">
                <a16:creationId xmlns:a16="http://schemas.microsoft.com/office/drawing/2014/main" id="{F2A7143F-8583-9571-2EDE-0B9F437CE736}"/>
              </a:ext>
            </a:extLst>
          </p:cNvPr>
          <p:cNvSpPr/>
          <p:nvPr/>
        </p:nvSpPr>
        <p:spPr>
          <a:xfrm>
            <a:off x="4315968" y="3291840"/>
            <a:ext cx="4023360" cy="731520"/>
          </a:xfrm>
          <a:prstGeom prst="rect">
            <a:avLst/>
          </a:prstGeom>
          <a:noFill/>
          <a:ln>
            <a:solidFill>
              <a:srgbClr val="2C5234"/>
            </a:solidFill>
            <a:prstDash val="dash"/>
          </a:ln>
        </p:spPr>
        <p:txBody>
          <a:bodyPr wrap="square" lIns="0" tIns="0" rIns="0" bIns="0" rtlCol="0" anchor="ctr"/>
          <a:lstStyle/>
          <a:p>
            <a:pPr marL="0" indent="0">
              <a:lnSpc>
                <a:spcPct val="94000"/>
              </a:lnSpc>
              <a:buNone/>
            </a:pPr>
            <a:r>
              <a:rPr lang="en-US" sz="900">
                <a:solidFill>
                  <a:srgbClr val="1A1A1A"/>
                </a:solidFill>
                <a:latin typeface="Verdana" panose="020B0604030504040204" pitchFamily="34" charset="0"/>
                <a:ea typeface="Verdana" panose="020B0604030504040204" pitchFamily="34" charset="0"/>
                <a:cs typeface="Calibri" pitchFamily="34" charset="-120"/>
              </a:rPr>
              <a:t> Pulls the six fiscal-space indicators for the relevant State alongside the scheme being assessed.</a:t>
            </a:r>
            <a:endParaRPr lang="en-US" sz="900">
              <a:latin typeface="Verdana" panose="020B0604030504040204" pitchFamily="34" charset="0"/>
              <a:ea typeface="Verdana" panose="020B0604030504040204" pitchFamily="34" charset="0"/>
            </a:endParaRPr>
          </a:p>
        </p:txBody>
      </p:sp>
      <p:sp>
        <p:nvSpPr>
          <p:cNvPr id="49" name="Shape 22">
            <a:extLst>
              <a:ext uri="{FF2B5EF4-FFF2-40B4-BE49-F238E27FC236}">
                <a16:creationId xmlns:a16="http://schemas.microsoft.com/office/drawing/2014/main" id="{785D7DDB-9405-2D5F-9AA0-79F72158432A}"/>
              </a:ext>
            </a:extLst>
          </p:cNvPr>
          <p:cNvSpPr/>
          <p:nvPr/>
        </p:nvSpPr>
        <p:spPr>
          <a:xfrm>
            <a:off x="8503920" y="3310128"/>
            <a:ext cx="3227832" cy="694944"/>
          </a:xfrm>
          <a:prstGeom prst="roundRect">
            <a:avLst>
              <a:gd name="adj" fmla="val 5263"/>
            </a:avLst>
          </a:prstGeom>
          <a:solidFill>
            <a:srgbClr val="DDEFE8"/>
          </a:solidFill>
          <a:ln/>
        </p:spPr>
        <p:txBody>
          <a:bodyPr/>
          <a:lstStyle/>
          <a:p>
            <a:endParaRPr lang="en-IN">
              <a:latin typeface="Verdana" panose="020B0604030504040204" pitchFamily="34" charset="0"/>
              <a:ea typeface="Verdana" panose="020B0604030504040204" pitchFamily="34" charset="0"/>
            </a:endParaRPr>
          </a:p>
        </p:txBody>
      </p:sp>
      <p:sp>
        <p:nvSpPr>
          <p:cNvPr id="50" name="Text 23">
            <a:extLst>
              <a:ext uri="{FF2B5EF4-FFF2-40B4-BE49-F238E27FC236}">
                <a16:creationId xmlns:a16="http://schemas.microsoft.com/office/drawing/2014/main" id="{751FC9CF-386C-78F3-E1A1-4A3EF258A78C}"/>
              </a:ext>
            </a:extLst>
          </p:cNvPr>
          <p:cNvSpPr/>
          <p:nvPr/>
        </p:nvSpPr>
        <p:spPr>
          <a:xfrm>
            <a:off x="8631936" y="3310128"/>
            <a:ext cx="2971800" cy="694944"/>
          </a:xfrm>
          <a:prstGeom prst="rect">
            <a:avLst/>
          </a:prstGeom>
          <a:noFill/>
          <a:ln/>
        </p:spPr>
        <p:txBody>
          <a:bodyPr wrap="square" lIns="0" tIns="0" rIns="0" bIns="0" rtlCol="0" anchor="ctr"/>
          <a:lstStyle/>
          <a:p>
            <a:pPr marL="0" indent="0">
              <a:lnSpc>
                <a:spcPct val="93000"/>
              </a:lnSpc>
              <a:buNone/>
            </a:pPr>
            <a:r>
              <a:rPr lang="en-US" sz="850" b="1">
                <a:solidFill>
                  <a:srgbClr val="004F59"/>
                </a:solidFill>
                <a:latin typeface="Verdana" panose="020B0604030504040204" pitchFamily="34" charset="0"/>
                <a:ea typeface="Verdana" panose="020B0604030504040204" pitchFamily="34" charset="0"/>
                <a:cs typeface="Calibri" pitchFamily="34" charset="-120"/>
              </a:rPr>
              <a:t>A one-page fiscal-context view sitting beside each classification</a:t>
            </a:r>
            <a:endParaRPr lang="en-US" sz="850">
              <a:latin typeface="Verdana" panose="020B0604030504040204" pitchFamily="34" charset="0"/>
              <a:ea typeface="Verdana" panose="020B0604030504040204" pitchFamily="34" charset="0"/>
            </a:endParaRPr>
          </a:p>
        </p:txBody>
      </p:sp>
      <p:sp>
        <p:nvSpPr>
          <p:cNvPr id="51" name="Shape 24">
            <a:extLst>
              <a:ext uri="{FF2B5EF4-FFF2-40B4-BE49-F238E27FC236}">
                <a16:creationId xmlns:a16="http://schemas.microsoft.com/office/drawing/2014/main" id="{6E7F8701-210D-6C81-1C0A-E24F97690D0D}"/>
              </a:ext>
            </a:extLst>
          </p:cNvPr>
          <p:cNvSpPr/>
          <p:nvPr/>
        </p:nvSpPr>
        <p:spPr>
          <a:xfrm>
            <a:off x="457200" y="4389120"/>
            <a:ext cx="658368" cy="658368"/>
          </a:xfrm>
          <a:prstGeom prst="flowChartConnector">
            <a:avLst/>
          </a:prstGeom>
          <a:solidFill>
            <a:srgbClr val="000000"/>
          </a:solidFill>
          <a:ln/>
        </p:spPr>
        <p:txBody>
          <a:bodyPr/>
          <a:lstStyle/>
          <a:p>
            <a:endParaRPr lang="en-IN">
              <a:latin typeface="Verdana" panose="020B0604030504040204" pitchFamily="34" charset="0"/>
              <a:ea typeface="Verdana" panose="020B0604030504040204" pitchFamily="34" charset="0"/>
            </a:endParaRPr>
          </a:p>
        </p:txBody>
      </p:sp>
      <p:sp>
        <p:nvSpPr>
          <p:cNvPr id="52" name="Text 25">
            <a:extLst>
              <a:ext uri="{FF2B5EF4-FFF2-40B4-BE49-F238E27FC236}">
                <a16:creationId xmlns:a16="http://schemas.microsoft.com/office/drawing/2014/main" id="{DAE00A26-40A3-40B8-EFAE-DF5476BE15BB}"/>
              </a:ext>
            </a:extLst>
          </p:cNvPr>
          <p:cNvSpPr/>
          <p:nvPr/>
        </p:nvSpPr>
        <p:spPr>
          <a:xfrm>
            <a:off x="457200" y="4389120"/>
            <a:ext cx="658368" cy="658368"/>
          </a:xfrm>
          <a:prstGeom prst="rect">
            <a:avLst/>
          </a:prstGeom>
          <a:noFill/>
          <a:ln/>
        </p:spPr>
        <p:txBody>
          <a:bodyPr wrap="square" lIns="0" tIns="0" rIns="0" bIns="0" rtlCol="0" anchor="ctr"/>
          <a:lstStyle/>
          <a:p>
            <a:pPr marL="0" indent="0" algn="ctr">
              <a:buNone/>
            </a:pPr>
            <a:r>
              <a:rPr lang="en-US" sz="1200" b="1">
                <a:solidFill>
                  <a:srgbClr val="FFFFFF"/>
                </a:solidFill>
                <a:latin typeface="Verdana" panose="020B0604030504040204" pitchFamily="34" charset="0"/>
                <a:ea typeface="Verdana" panose="020B0604030504040204" pitchFamily="34" charset="0"/>
                <a:cs typeface="Arial" pitchFamily="34" charset="-120"/>
              </a:rPr>
              <a:t>04</a:t>
            </a:r>
            <a:endParaRPr lang="en-US" sz="1200">
              <a:latin typeface="Verdana" panose="020B0604030504040204" pitchFamily="34" charset="0"/>
              <a:ea typeface="Verdana" panose="020B0604030504040204" pitchFamily="34" charset="0"/>
            </a:endParaRPr>
          </a:p>
        </p:txBody>
      </p:sp>
      <p:sp>
        <p:nvSpPr>
          <p:cNvPr id="53" name="Shape 26">
            <a:extLst>
              <a:ext uri="{FF2B5EF4-FFF2-40B4-BE49-F238E27FC236}">
                <a16:creationId xmlns:a16="http://schemas.microsoft.com/office/drawing/2014/main" id="{35FAA864-263B-343F-2C9C-CFDDAE97FED5}"/>
              </a:ext>
            </a:extLst>
          </p:cNvPr>
          <p:cNvSpPr/>
          <p:nvPr/>
        </p:nvSpPr>
        <p:spPr>
          <a:xfrm>
            <a:off x="1280160" y="4334256"/>
            <a:ext cx="2834640" cy="768096"/>
          </a:xfrm>
          <a:prstGeom prst="homePlate">
            <a:avLst/>
          </a:prstGeom>
          <a:solidFill>
            <a:srgbClr val="00ABAB"/>
          </a:solidFill>
          <a:ln/>
          <a:effectLst>
            <a:outerShdw blurRad="76200" dist="17780" dir="5400000" algn="bl" rotWithShape="0">
              <a:srgbClr val="1A1A1A">
                <a:alpha val="12000"/>
              </a:srgbClr>
            </a:outerShdw>
          </a:effectLst>
        </p:spPr>
        <p:txBody>
          <a:bodyPr/>
          <a:lstStyle/>
          <a:p>
            <a:endParaRPr lang="en-IN">
              <a:latin typeface="Verdana" panose="020B0604030504040204" pitchFamily="34" charset="0"/>
              <a:ea typeface="Verdana" panose="020B0604030504040204" pitchFamily="34" charset="0"/>
            </a:endParaRPr>
          </a:p>
        </p:txBody>
      </p:sp>
      <p:sp>
        <p:nvSpPr>
          <p:cNvPr id="54" name="Text 27">
            <a:extLst>
              <a:ext uri="{FF2B5EF4-FFF2-40B4-BE49-F238E27FC236}">
                <a16:creationId xmlns:a16="http://schemas.microsoft.com/office/drawing/2014/main" id="{7B0985F9-6C3F-AF1E-92EC-2D91A257356F}"/>
              </a:ext>
            </a:extLst>
          </p:cNvPr>
          <p:cNvSpPr/>
          <p:nvPr/>
        </p:nvSpPr>
        <p:spPr>
          <a:xfrm>
            <a:off x="1426464" y="4334256"/>
            <a:ext cx="2377440" cy="768096"/>
          </a:xfrm>
          <a:prstGeom prst="rect">
            <a:avLst/>
          </a:prstGeom>
          <a:noFill/>
          <a:ln/>
        </p:spPr>
        <p:txBody>
          <a:bodyPr wrap="square" lIns="0" tIns="0" rIns="0" bIns="0" rtlCol="0" anchor="ctr"/>
          <a:lstStyle/>
          <a:p>
            <a:pPr marL="0" indent="0">
              <a:lnSpc>
                <a:spcPct val="93000"/>
              </a:lnSpc>
              <a:buNone/>
            </a:pPr>
            <a:r>
              <a:rPr lang="en-US" sz="1150" b="1">
                <a:solidFill>
                  <a:srgbClr val="FFFFFF"/>
                </a:solidFill>
                <a:latin typeface="Verdana" panose="020B0604030504040204" pitchFamily="34" charset="0"/>
                <a:ea typeface="Verdana" panose="020B0604030504040204" pitchFamily="34" charset="0"/>
                <a:cs typeface="Arial" pitchFamily="34" charset="-120"/>
              </a:rPr>
              <a:t>State / National Roll-up</a:t>
            </a:r>
            <a:endParaRPr lang="en-US" sz="1150">
              <a:latin typeface="Verdana" panose="020B0604030504040204" pitchFamily="34" charset="0"/>
              <a:ea typeface="Verdana" panose="020B0604030504040204" pitchFamily="34" charset="0"/>
            </a:endParaRPr>
          </a:p>
        </p:txBody>
      </p:sp>
      <p:sp>
        <p:nvSpPr>
          <p:cNvPr id="55" name="Text 28">
            <a:extLst>
              <a:ext uri="{FF2B5EF4-FFF2-40B4-BE49-F238E27FC236}">
                <a16:creationId xmlns:a16="http://schemas.microsoft.com/office/drawing/2014/main" id="{D5FE0841-16AE-A28F-288B-0A134FD6F4A9}"/>
              </a:ext>
            </a:extLst>
          </p:cNvPr>
          <p:cNvSpPr/>
          <p:nvPr/>
        </p:nvSpPr>
        <p:spPr>
          <a:xfrm>
            <a:off x="4315968" y="4352544"/>
            <a:ext cx="4023360" cy="731520"/>
          </a:xfrm>
          <a:prstGeom prst="rect">
            <a:avLst/>
          </a:prstGeom>
          <a:noFill/>
          <a:ln>
            <a:solidFill>
              <a:srgbClr val="2C5234"/>
            </a:solidFill>
            <a:prstDash val="dash"/>
          </a:ln>
        </p:spPr>
        <p:txBody>
          <a:bodyPr wrap="square" lIns="0" tIns="0" rIns="0" bIns="0" rtlCol="0" anchor="ctr"/>
          <a:lstStyle/>
          <a:p>
            <a:pPr marL="0" indent="0">
              <a:lnSpc>
                <a:spcPct val="94000"/>
              </a:lnSpc>
              <a:buNone/>
            </a:pPr>
            <a:r>
              <a:rPr lang="en-US" sz="900">
                <a:solidFill>
                  <a:srgbClr val="1A1A1A"/>
                </a:solidFill>
                <a:latin typeface="Verdana" panose="020B0604030504040204" pitchFamily="34" charset="0"/>
                <a:ea typeface="Verdana" panose="020B0604030504040204" pitchFamily="34" charset="0"/>
                <a:cs typeface="Calibri" pitchFamily="34" charset="-120"/>
              </a:rPr>
              <a:t> Aggregates scheme-level classifications into a State-level and All-India summary.</a:t>
            </a:r>
            <a:endParaRPr lang="en-US" sz="900">
              <a:latin typeface="Verdana" panose="020B0604030504040204" pitchFamily="34" charset="0"/>
              <a:ea typeface="Verdana" panose="020B0604030504040204" pitchFamily="34" charset="0"/>
            </a:endParaRPr>
          </a:p>
        </p:txBody>
      </p:sp>
      <p:sp>
        <p:nvSpPr>
          <p:cNvPr id="56" name="Shape 29">
            <a:extLst>
              <a:ext uri="{FF2B5EF4-FFF2-40B4-BE49-F238E27FC236}">
                <a16:creationId xmlns:a16="http://schemas.microsoft.com/office/drawing/2014/main" id="{ACEEF500-6A1A-E9F9-6311-63375981E453}"/>
              </a:ext>
            </a:extLst>
          </p:cNvPr>
          <p:cNvSpPr/>
          <p:nvPr/>
        </p:nvSpPr>
        <p:spPr>
          <a:xfrm>
            <a:off x="8503920" y="4370832"/>
            <a:ext cx="3227832" cy="694944"/>
          </a:xfrm>
          <a:prstGeom prst="roundRect">
            <a:avLst>
              <a:gd name="adj" fmla="val 5263"/>
            </a:avLst>
          </a:prstGeom>
          <a:solidFill>
            <a:srgbClr val="DDEFE8"/>
          </a:solidFill>
          <a:ln/>
        </p:spPr>
        <p:txBody>
          <a:bodyPr/>
          <a:lstStyle/>
          <a:p>
            <a:endParaRPr lang="en-IN">
              <a:latin typeface="Verdana" panose="020B0604030504040204" pitchFamily="34" charset="0"/>
              <a:ea typeface="Verdana" panose="020B0604030504040204" pitchFamily="34" charset="0"/>
            </a:endParaRPr>
          </a:p>
        </p:txBody>
      </p:sp>
      <p:sp>
        <p:nvSpPr>
          <p:cNvPr id="57" name="Text 30">
            <a:extLst>
              <a:ext uri="{FF2B5EF4-FFF2-40B4-BE49-F238E27FC236}">
                <a16:creationId xmlns:a16="http://schemas.microsoft.com/office/drawing/2014/main" id="{B61813AD-0ED6-85A6-D902-63F0188C1FF7}"/>
              </a:ext>
            </a:extLst>
          </p:cNvPr>
          <p:cNvSpPr/>
          <p:nvPr/>
        </p:nvSpPr>
        <p:spPr>
          <a:xfrm>
            <a:off x="8631936" y="4370832"/>
            <a:ext cx="2971800" cy="694944"/>
          </a:xfrm>
          <a:prstGeom prst="rect">
            <a:avLst/>
          </a:prstGeom>
          <a:noFill/>
          <a:ln/>
        </p:spPr>
        <p:txBody>
          <a:bodyPr wrap="square" lIns="0" tIns="0" rIns="0" bIns="0" rtlCol="0" anchor="ctr"/>
          <a:lstStyle/>
          <a:p>
            <a:pPr marL="0" indent="0">
              <a:lnSpc>
                <a:spcPct val="93000"/>
              </a:lnSpc>
              <a:buNone/>
            </a:pPr>
            <a:r>
              <a:rPr lang="en-US" sz="850" b="1">
                <a:solidFill>
                  <a:srgbClr val="004F59"/>
                </a:solidFill>
                <a:latin typeface="Verdana" panose="020B0604030504040204" pitchFamily="34" charset="0"/>
                <a:ea typeface="Verdana" panose="020B0604030504040204" pitchFamily="34" charset="0"/>
                <a:cs typeface="Calibri" pitchFamily="34" charset="-120"/>
              </a:rPr>
              <a:t>Ready benchmarking — e.g. % of a State's subsidy budget that is high-risk</a:t>
            </a:r>
            <a:endParaRPr lang="en-US" sz="850">
              <a:latin typeface="Verdana" panose="020B0604030504040204" pitchFamily="34" charset="0"/>
              <a:ea typeface="Verdana" panose="020B0604030504040204" pitchFamily="34" charset="0"/>
            </a:endParaRPr>
          </a:p>
        </p:txBody>
      </p:sp>
      <p:sp>
        <p:nvSpPr>
          <p:cNvPr id="58" name="Text 31">
            <a:extLst>
              <a:ext uri="{FF2B5EF4-FFF2-40B4-BE49-F238E27FC236}">
                <a16:creationId xmlns:a16="http://schemas.microsoft.com/office/drawing/2014/main" id="{DF49ADC0-B4D0-D8BC-C87D-A7FDBD30D34F}"/>
              </a:ext>
            </a:extLst>
          </p:cNvPr>
          <p:cNvSpPr/>
          <p:nvPr/>
        </p:nvSpPr>
        <p:spPr>
          <a:xfrm>
            <a:off x="457200" y="5358384"/>
            <a:ext cx="5486400" cy="274320"/>
          </a:xfrm>
          <a:prstGeom prst="rect">
            <a:avLst/>
          </a:prstGeom>
          <a:noFill/>
          <a:ln/>
        </p:spPr>
        <p:txBody>
          <a:bodyPr wrap="square" lIns="0" tIns="0" rIns="0" bIns="0" rtlCol="0" anchor="ctr"/>
          <a:lstStyle/>
          <a:p>
            <a:pPr marL="0" indent="0">
              <a:buNone/>
            </a:pPr>
            <a:r>
              <a:rPr lang="en-US" sz="1150" b="1">
                <a:solidFill>
                  <a:srgbClr val="1A1A1A"/>
                </a:solidFill>
                <a:latin typeface="Verdana" panose="020B0604030504040204" pitchFamily="34" charset="0"/>
                <a:ea typeface="Verdana" panose="020B0604030504040204" pitchFamily="34" charset="0"/>
                <a:cs typeface="Arial" pitchFamily="34" charset="-120"/>
              </a:rPr>
              <a:t>Validation and benchmarking anchors</a:t>
            </a:r>
            <a:endParaRPr lang="en-US" sz="1150">
              <a:latin typeface="Verdana" panose="020B0604030504040204" pitchFamily="34" charset="0"/>
              <a:ea typeface="Verdana" panose="020B0604030504040204" pitchFamily="34" charset="0"/>
            </a:endParaRPr>
          </a:p>
        </p:txBody>
      </p:sp>
      <p:sp>
        <p:nvSpPr>
          <p:cNvPr id="59" name="Shape 32">
            <a:extLst>
              <a:ext uri="{FF2B5EF4-FFF2-40B4-BE49-F238E27FC236}">
                <a16:creationId xmlns:a16="http://schemas.microsoft.com/office/drawing/2014/main" id="{20F75A69-58A9-CAC9-BDD7-196DF2EEDA73}"/>
              </a:ext>
            </a:extLst>
          </p:cNvPr>
          <p:cNvSpPr/>
          <p:nvPr/>
        </p:nvSpPr>
        <p:spPr>
          <a:xfrm>
            <a:off x="457200" y="5669280"/>
            <a:ext cx="3630168" cy="713232"/>
          </a:xfrm>
          <a:prstGeom prst="roundRect">
            <a:avLst>
              <a:gd name="adj" fmla="val 6410"/>
            </a:avLst>
          </a:prstGeom>
          <a:solidFill>
            <a:srgbClr val="F3F8F9"/>
          </a:solidFill>
          <a:ln w="9525">
            <a:solidFill>
              <a:srgbClr val="D6DEE0"/>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60" name="Shape 33">
            <a:extLst>
              <a:ext uri="{FF2B5EF4-FFF2-40B4-BE49-F238E27FC236}">
                <a16:creationId xmlns:a16="http://schemas.microsoft.com/office/drawing/2014/main" id="{7FBA7F39-2F3B-2B75-6875-EABD0BBBA235}"/>
              </a:ext>
            </a:extLst>
          </p:cNvPr>
          <p:cNvSpPr/>
          <p:nvPr/>
        </p:nvSpPr>
        <p:spPr>
          <a:xfrm>
            <a:off x="457200" y="5669280"/>
            <a:ext cx="54864" cy="713232"/>
          </a:xfrm>
          <a:prstGeom prst="rect">
            <a:avLst/>
          </a:prstGeom>
          <a:solidFill>
            <a:srgbClr val="031D41"/>
          </a:solidFill>
          <a:ln/>
        </p:spPr>
        <p:txBody>
          <a:bodyPr/>
          <a:lstStyle/>
          <a:p>
            <a:endParaRPr lang="en-IN">
              <a:latin typeface="Verdana" panose="020B0604030504040204" pitchFamily="34" charset="0"/>
              <a:ea typeface="Verdana" panose="020B0604030504040204" pitchFamily="34" charset="0"/>
            </a:endParaRPr>
          </a:p>
        </p:txBody>
      </p:sp>
      <p:sp>
        <p:nvSpPr>
          <p:cNvPr id="61" name="Text 34">
            <a:extLst>
              <a:ext uri="{FF2B5EF4-FFF2-40B4-BE49-F238E27FC236}">
                <a16:creationId xmlns:a16="http://schemas.microsoft.com/office/drawing/2014/main" id="{AE28E8EA-261B-26D3-F5E9-C06FA62D68CF}"/>
              </a:ext>
            </a:extLst>
          </p:cNvPr>
          <p:cNvSpPr/>
          <p:nvPr/>
        </p:nvSpPr>
        <p:spPr>
          <a:xfrm>
            <a:off x="658368" y="5705856"/>
            <a:ext cx="3291840" cy="237744"/>
          </a:xfrm>
          <a:prstGeom prst="rect">
            <a:avLst/>
          </a:prstGeom>
          <a:noFill/>
          <a:ln/>
        </p:spPr>
        <p:txBody>
          <a:bodyPr wrap="square" lIns="0" tIns="0" rIns="0" bIns="0" rtlCol="0" anchor="ctr"/>
          <a:lstStyle/>
          <a:p>
            <a:pPr marL="0" indent="0">
              <a:buNone/>
            </a:pPr>
            <a:r>
              <a:rPr lang="en-US" sz="1000" b="1">
                <a:solidFill>
                  <a:srgbClr val="031D41"/>
                </a:solidFill>
                <a:latin typeface="Verdana" panose="020B0604030504040204" pitchFamily="34" charset="0"/>
                <a:ea typeface="Verdana" panose="020B0604030504040204" pitchFamily="34" charset="0"/>
                <a:cs typeface="Arial" pitchFamily="34" charset="-120"/>
              </a:rPr>
              <a:t>International</a:t>
            </a:r>
            <a:endParaRPr lang="en-US" sz="1000">
              <a:latin typeface="Verdana" panose="020B0604030504040204" pitchFamily="34" charset="0"/>
              <a:ea typeface="Verdana" panose="020B0604030504040204" pitchFamily="34" charset="0"/>
            </a:endParaRPr>
          </a:p>
        </p:txBody>
      </p:sp>
      <p:sp>
        <p:nvSpPr>
          <p:cNvPr id="62" name="Text 35">
            <a:extLst>
              <a:ext uri="{FF2B5EF4-FFF2-40B4-BE49-F238E27FC236}">
                <a16:creationId xmlns:a16="http://schemas.microsoft.com/office/drawing/2014/main" id="{652261D8-6D53-CE07-880E-BE1C7302E013}"/>
              </a:ext>
            </a:extLst>
          </p:cNvPr>
          <p:cNvSpPr/>
          <p:nvPr/>
        </p:nvSpPr>
        <p:spPr>
          <a:xfrm>
            <a:off x="658368" y="5943600"/>
            <a:ext cx="3291840" cy="402336"/>
          </a:xfrm>
          <a:prstGeom prst="rect">
            <a:avLst/>
          </a:prstGeom>
          <a:noFill/>
          <a:ln/>
        </p:spPr>
        <p:txBody>
          <a:bodyPr wrap="square" lIns="0" tIns="0" rIns="0" bIns="0" rtlCol="0" anchor="t"/>
          <a:lstStyle/>
          <a:p>
            <a:pPr marL="0" indent="0">
              <a:lnSpc>
                <a:spcPct val="92000"/>
              </a:lnSpc>
              <a:buNone/>
            </a:pPr>
            <a:r>
              <a:rPr lang="en-US" sz="800">
                <a:solidFill>
                  <a:srgbClr val="1A1A1A"/>
                </a:solidFill>
                <a:latin typeface="Verdana" panose="020B0604030504040204" pitchFamily="34" charset="0"/>
                <a:ea typeface="Verdana" panose="020B0604030504040204" pitchFamily="34" charset="0"/>
                <a:cs typeface="Calibri" pitchFamily="34" charset="-120"/>
              </a:rPr>
              <a:t>IMF GFSM 2014 and COFOG · OECD Producer and Consumer Support Estimate · World Bank quasi-fiscal-deficit and hidden-cost methodology</a:t>
            </a:r>
            <a:endParaRPr lang="en-US" sz="800">
              <a:latin typeface="Verdana" panose="020B0604030504040204" pitchFamily="34" charset="0"/>
              <a:ea typeface="Verdana" panose="020B0604030504040204" pitchFamily="34" charset="0"/>
            </a:endParaRPr>
          </a:p>
        </p:txBody>
      </p:sp>
      <p:sp>
        <p:nvSpPr>
          <p:cNvPr id="63" name="Shape 36">
            <a:extLst>
              <a:ext uri="{FF2B5EF4-FFF2-40B4-BE49-F238E27FC236}">
                <a16:creationId xmlns:a16="http://schemas.microsoft.com/office/drawing/2014/main" id="{0A21A6A6-4B78-D1DA-4391-2419BB32AE89}"/>
              </a:ext>
            </a:extLst>
          </p:cNvPr>
          <p:cNvSpPr/>
          <p:nvPr/>
        </p:nvSpPr>
        <p:spPr>
          <a:xfrm>
            <a:off x="4261104" y="5669280"/>
            <a:ext cx="3630168" cy="713232"/>
          </a:xfrm>
          <a:prstGeom prst="roundRect">
            <a:avLst>
              <a:gd name="adj" fmla="val 6410"/>
            </a:avLst>
          </a:prstGeom>
          <a:solidFill>
            <a:srgbClr val="F3F8F9"/>
          </a:solidFill>
          <a:ln w="9525">
            <a:solidFill>
              <a:srgbClr val="D6DEE0"/>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64" name="Shape 37">
            <a:extLst>
              <a:ext uri="{FF2B5EF4-FFF2-40B4-BE49-F238E27FC236}">
                <a16:creationId xmlns:a16="http://schemas.microsoft.com/office/drawing/2014/main" id="{13CE8D48-F8A8-FF59-2076-DB28FFC43564}"/>
              </a:ext>
            </a:extLst>
          </p:cNvPr>
          <p:cNvSpPr/>
          <p:nvPr/>
        </p:nvSpPr>
        <p:spPr>
          <a:xfrm>
            <a:off x="4261104" y="5669280"/>
            <a:ext cx="54864" cy="713232"/>
          </a:xfrm>
          <a:prstGeom prst="rect">
            <a:avLst/>
          </a:prstGeom>
          <a:solidFill>
            <a:srgbClr val="004F59"/>
          </a:solidFill>
          <a:ln/>
        </p:spPr>
        <p:txBody>
          <a:bodyPr/>
          <a:lstStyle/>
          <a:p>
            <a:endParaRPr lang="en-IN">
              <a:latin typeface="Verdana" panose="020B0604030504040204" pitchFamily="34" charset="0"/>
              <a:ea typeface="Verdana" panose="020B0604030504040204" pitchFamily="34" charset="0"/>
            </a:endParaRPr>
          </a:p>
        </p:txBody>
      </p:sp>
      <p:sp>
        <p:nvSpPr>
          <p:cNvPr id="65" name="Text 38">
            <a:extLst>
              <a:ext uri="{FF2B5EF4-FFF2-40B4-BE49-F238E27FC236}">
                <a16:creationId xmlns:a16="http://schemas.microsoft.com/office/drawing/2014/main" id="{58E71BFA-577A-B6A5-0CB8-36495E70132D}"/>
              </a:ext>
            </a:extLst>
          </p:cNvPr>
          <p:cNvSpPr/>
          <p:nvPr/>
        </p:nvSpPr>
        <p:spPr>
          <a:xfrm>
            <a:off x="4462272" y="5705856"/>
            <a:ext cx="3291840" cy="237744"/>
          </a:xfrm>
          <a:prstGeom prst="rect">
            <a:avLst/>
          </a:prstGeom>
          <a:noFill/>
          <a:ln/>
        </p:spPr>
        <p:txBody>
          <a:bodyPr wrap="square" lIns="0" tIns="0" rIns="0" bIns="0" rtlCol="0" anchor="ctr"/>
          <a:lstStyle/>
          <a:p>
            <a:pPr marL="0" indent="0">
              <a:buNone/>
            </a:pPr>
            <a:r>
              <a:rPr lang="en-US" sz="1000" b="1">
                <a:solidFill>
                  <a:srgbClr val="004F59"/>
                </a:solidFill>
                <a:latin typeface="Verdana" panose="020B0604030504040204" pitchFamily="34" charset="0"/>
                <a:ea typeface="Verdana" panose="020B0604030504040204" pitchFamily="34" charset="0"/>
                <a:cs typeface="Arial" pitchFamily="34" charset="-120"/>
              </a:rPr>
              <a:t>Domestic</a:t>
            </a:r>
            <a:endParaRPr lang="en-US" sz="1000">
              <a:latin typeface="Verdana" panose="020B0604030504040204" pitchFamily="34" charset="0"/>
              <a:ea typeface="Verdana" panose="020B0604030504040204" pitchFamily="34" charset="0"/>
            </a:endParaRPr>
          </a:p>
        </p:txBody>
      </p:sp>
      <p:sp>
        <p:nvSpPr>
          <p:cNvPr id="66" name="Text 39">
            <a:extLst>
              <a:ext uri="{FF2B5EF4-FFF2-40B4-BE49-F238E27FC236}">
                <a16:creationId xmlns:a16="http://schemas.microsoft.com/office/drawing/2014/main" id="{89262E42-1869-C371-B8C5-1418A8069FBB}"/>
              </a:ext>
            </a:extLst>
          </p:cNvPr>
          <p:cNvSpPr/>
          <p:nvPr/>
        </p:nvSpPr>
        <p:spPr>
          <a:xfrm>
            <a:off x="4462272" y="5943600"/>
            <a:ext cx="3291840" cy="402336"/>
          </a:xfrm>
          <a:prstGeom prst="rect">
            <a:avLst/>
          </a:prstGeom>
          <a:noFill/>
          <a:ln/>
        </p:spPr>
        <p:txBody>
          <a:bodyPr wrap="square" lIns="0" tIns="0" rIns="0" bIns="0" rtlCol="0" anchor="t"/>
          <a:lstStyle/>
          <a:p>
            <a:pPr marL="0" indent="0">
              <a:lnSpc>
                <a:spcPct val="92000"/>
              </a:lnSpc>
              <a:buNone/>
            </a:pPr>
            <a:r>
              <a:rPr lang="en-US" sz="800">
                <a:solidFill>
                  <a:srgbClr val="1A1A1A"/>
                </a:solidFill>
                <a:latin typeface="Verdana" panose="020B0604030504040204" pitchFamily="34" charset="0"/>
                <a:ea typeface="Verdana" panose="020B0604030504040204" pitchFamily="34" charset="0"/>
                <a:cs typeface="Calibri" pitchFamily="34" charset="-120"/>
              </a:rPr>
              <a:t>NIPFP merit / non-merit taxonomy · Odisha's implicit-subsidy reporting · NITI Aayog's Fiscal Health Index</a:t>
            </a:r>
            <a:endParaRPr lang="en-US" sz="800">
              <a:latin typeface="Verdana" panose="020B0604030504040204" pitchFamily="34" charset="0"/>
              <a:ea typeface="Verdana" panose="020B0604030504040204" pitchFamily="34" charset="0"/>
            </a:endParaRPr>
          </a:p>
        </p:txBody>
      </p:sp>
      <p:sp>
        <p:nvSpPr>
          <p:cNvPr id="67" name="Shape 40">
            <a:extLst>
              <a:ext uri="{FF2B5EF4-FFF2-40B4-BE49-F238E27FC236}">
                <a16:creationId xmlns:a16="http://schemas.microsoft.com/office/drawing/2014/main" id="{48161399-6345-92AC-D30B-E98B5B01B8E8}"/>
              </a:ext>
            </a:extLst>
          </p:cNvPr>
          <p:cNvSpPr/>
          <p:nvPr/>
        </p:nvSpPr>
        <p:spPr>
          <a:xfrm>
            <a:off x="8065008" y="5669280"/>
            <a:ext cx="3630168" cy="713232"/>
          </a:xfrm>
          <a:prstGeom prst="roundRect">
            <a:avLst>
              <a:gd name="adj" fmla="val 6410"/>
            </a:avLst>
          </a:prstGeom>
          <a:solidFill>
            <a:srgbClr val="F3F8F9"/>
          </a:solidFill>
          <a:ln w="9525">
            <a:solidFill>
              <a:srgbClr val="D6DEE0"/>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68" name="Shape 41">
            <a:extLst>
              <a:ext uri="{FF2B5EF4-FFF2-40B4-BE49-F238E27FC236}">
                <a16:creationId xmlns:a16="http://schemas.microsoft.com/office/drawing/2014/main" id="{3BF7C435-59E8-4E95-5E77-1B3DC85E5148}"/>
              </a:ext>
            </a:extLst>
          </p:cNvPr>
          <p:cNvSpPr/>
          <p:nvPr/>
        </p:nvSpPr>
        <p:spPr>
          <a:xfrm>
            <a:off x="8065008" y="5669280"/>
            <a:ext cx="54864" cy="713232"/>
          </a:xfrm>
          <a:prstGeom prst="rect">
            <a:avLst/>
          </a:prstGeom>
          <a:solidFill>
            <a:srgbClr val="0097A9"/>
          </a:solidFill>
          <a:ln/>
        </p:spPr>
        <p:txBody>
          <a:bodyPr/>
          <a:lstStyle/>
          <a:p>
            <a:endParaRPr lang="en-IN">
              <a:latin typeface="Verdana" panose="020B0604030504040204" pitchFamily="34" charset="0"/>
              <a:ea typeface="Verdana" panose="020B0604030504040204" pitchFamily="34" charset="0"/>
            </a:endParaRPr>
          </a:p>
        </p:txBody>
      </p:sp>
      <p:sp>
        <p:nvSpPr>
          <p:cNvPr id="69" name="Text 42">
            <a:extLst>
              <a:ext uri="{FF2B5EF4-FFF2-40B4-BE49-F238E27FC236}">
                <a16:creationId xmlns:a16="http://schemas.microsoft.com/office/drawing/2014/main" id="{8608E37C-3F06-D372-EF4B-967DAE2A2673}"/>
              </a:ext>
            </a:extLst>
          </p:cNvPr>
          <p:cNvSpPr/>
          <p:nvPr/>
        </p:nvSpPr>
        <p:spPr>
          <a:xfrm>
            <a:off x="8266176" y="5705856"/>
            <a:ext cx="3291840" cy="237744"/>
          </a:xfrm>
          <a:prstGeom prst="rect">
            <a:avLst/>
          </a:prstGeom>
          <a:noFill/>
          <a:ln/>
        </p:spPr>
        <p:txBody>
          <a:bodyPr wrap="square" lIns="0" tIns="0" rIns="0" bIns="0" rtlCol="0" anchor="ctr"/>
          <a:lstStyle/>
          <a:p>
            <a:pPr marL="0" indent="0">
              <a:buNone/>
            </a:pPr>
            <a:r>
              <a:rPr lang="en-US" sz="1000" b="1">
                <a:solidFill>
                  <a:srgbClr val="0097A9"/>
                </a:solidFill>
                <a:latin typeface="Verdana" panose="020B0604030504040204" pitchFamily="34" charset="0"/>
                <a:ea typeface="Verdana" panose="020B0604030504040204" pitchFamily="34" charset="0"/>
                <a:cs typeface="Arial" pitchFamily="34" charset="-120"/>
              </a:rPr>
              <a:t>Validation route</a:t>
            </a:r>
            <a:endParaRPr lang="en-US" sz="1000">
              <a:latin typeface="Verdana" panose="020B0604030504040204" pitchFamily="34" charset="0"/>
              <a:ea typeface="Verdana" panose="020B0604030504040204" pitchFamily="34" charset="0"/>
            </a:endParaRPr>
          </a:p>
        </p:txBody>
      </p:sp>
      <p:sp>
        <p:nvSpPr>
          <p:cNvPr id="70" name="Text 43">
            <a:extLst>
              <a:ext uri="{FF2B5EF4-FFF2-40B4-BE49-F238E27FC236}">
                <a16:creationId xmlns:a16="http://schemas.microsoft.com/office/drawing/2014/main" id="{690DD8E7-7DC2-BA4E-97D8-8B352077207D}"/>
              </a:ext>
            </a:extLst>
          </p:cNvPr>
          <p:cNvSpPr/>
          <p:nvPr/>
        </p:nvSpPr>
        <p:spPr>
          <a:xfrm>
            <a:off x="8266176" y="5943600"/>
            <a:ext cx="3291840" cy="402336"/>
          </a:xfrm>
          <a:prstGeom prst="rect">
            <a:avLst/>
          </a:prstGeom>
          <a:noFill/>
          <a:ln/>
        </p:spPr>
        <p:txBody>
          <a:bodyPr wrap="square" lIns="0" tIns="0" rIns="0" bIns="0" rtlCol="0" anchor="t"/>
          <a:lstStyle/>
          <a:p>
            <a:pPr marL="0" indent="0">
              <a:lnSpc>
                <a:spcPct val="92000"/>
              </a:lnSpc>
              <a:buNone/>
            </a:pPr>
            <a:r>
              <a:rPr lang="en-US" sz="800">
                <a:solidFill>
                  <a:srgbClr val="1A1A1A"/>
                </a:solidFill>
                <a:latin typeface="Verdana" panose="020B0604030504040204" pitchFamily="34" charset="0"/>
                <a:ea typeface="Verdana" panose="020B0604030504040204" pitchFamily="34" charset="0"/>
                <a:cs typeface="Calibri" pitchFamily="34" charset="-120"/>
              </a:rPr>
              <a:t>Periodic reviews with NITI Aayog · workshop on the draft framework · dissemination workshop on the final toolkit</a:t>
            </a:r>
            <a:endParaRPr lang="en-US" sz="800">
              <a:latin typeface="Verdana" panose="020B0604030504040204" pitchFamily="34" charset="0"/>
              <a:ea typeface="Verdana" panose="020B0604030504040204" pitchFamily="34" charset="0"/>
            </a:endParaRPr>
          </a:p>
        </p:txBody>
      </p:sp>
      <p:sp>
        <p:nvSpPr>
          <p:cNvPr id="71" name="Text 44">
            <a:extLst>
              <a:ext uri="{FF2B5EF4-FFF2-40B4-BE49-F238E27FC236}">
                <a16:creationId xmlns:a16="http://schemas.microsoft.com/office/drawing/2014/main" id="{BB5C45D9-3F33-1254-1446-9A5904144740}"/>
              </a:ext>
            </a:extLst>
          </p:cNvPr>
          <p:cNvSpPr/>
          <p:nvPr/>
        </p:nvSpPr>
        <p:spPr>
          <a:xfrm>
            <a:off x="274320" y="6547104"/>
            <a:ext cx="4114800" cy="219456"/>
          </a:xfrm>
          <a:prstGeom prst="rect">
            <a:avLst/>
          </a:prstGeom>
          <a:noFill/>
          <a:ln/>
        </p:spPr>
        <p:txBody>
          <a:bodyPr wrap="square" lIns="0" tIns="0" rIns="0" bIns="0" rtlCol="0" anchor="ctr"/>
          <a:lstStyle/>
          <a:p>
            <a:pPr marL="0" indent="0">
              <a:buNone/>
            </a:pPr>
            <a:r>
              <a:rPr lang="en-US" sz="750">
                <a:solidFill>
                  <a:srgbClr val="757980"/>
                </a:solidFill>
                <a:latin typeface="Verdana" panose="020B0604030504040204" pitchFamily="34" charset="0"/>
                <a:ea typeface="Verdana" panose="020B0604030504040204" pitchFamily="34" charset="0"/>
                <a:cs typeface="Calibri" pitchFamily="34" charset="-120"/>
              </a:rPr>
              <a:t>© 2026 Deloitte Touche Tohmatsu India LLP.</a:t>
            </a:r>
            <a:endParaRPr lang="en-US" sz="750">
              <a:latin typeface="Verdana" panose="020B0604030504040204" pitchFamily="34" charset="0"/>
              <a:ea typeface="Verdana" panose="020B0604030504040204" pitchFamily="34" charset="0"/>
            </a:endParaRPr>
          </a:p>
        </p:txBody>
      </p:sp>
      <p:sp>
        <p:nvSpPr>
          <p:cNvPr id="72" name="Text 45">
            <a:extLst>
              <a:ext uri="{FF2B5EF4-FFF2-40B4-BE49-F238E27FC236}">
                <a16:creationId xmlns:a16="http://schemas.microsoft.com/office/drawing/2014/main" id="{EE1883CD-0416-E26D-275A-450B1CBE3687}"/>
              </a:ext>
            </a:extLst>
          </p:cNvPr>
          <p:cNvSpPr/>
          <p:nvPr/>
        </p:nvSpPr>
        <p:spPr>
          <a:xfrm>
            <a:off x="5486400" y="6547104"/>
            <a:ext cx="6263640" cy="219456"/>
          </a:xfrm>
          <a:prstGeom prst="rect">
            <a:avLst/>
          </a:prstGeom>
          <a:noFill/>
          <a:ln/>
        </p:spPr>
        <p:txBody>
          <a:bodyPr wrap="square" lIns="0" tIns="0" rIns="0" bIns="0" rtlCol="0" anchor="ctr"/>
          <a:lstStyle/>
          <a:p>
            <a:pPr marL="0" indent="0" algn="r">
              <a:buNone/>
            </a:pPr>
            <a:r>
              <a:rPr lang="en-US" sz="750">
                <a:solidFill>
                  <a:srgbClr val="757980"/>
                </a:solidFill>
                <a:latin typeface="Verdana" panose="020B0604030504040204" pitchFamily="34" charset="0"/>
                <a:ea typeface="Verdana" panose="020B0604030504040204" pitchFamily="34" charset="0"/>
                <a:cs typeface="Calibri" pitchFamily="34" charset="-120"/>
              </a:rPr>
              <a:t>Ensuring Fiscal Prudence in Subsidised Public Goods &amp; Services  |  Technical Presentation to NITI Aayog</a:t>
            </a:r>
            <a:endParaRPr lang="en-US" sz="750">
              <a:latin typeface="Verdana" panose="020B0604030504040204" pitchFamily="34" charset="0"/>
              <a:ea typeface="Verdana" panose="020B0604030504040204" pitchFamily="34" charset="0"/>
            </a:endParaRPr>
          </a:p>
        </p:txBody>
      </p:sp>
      <p:sp>
        <p:nvSpPr>
          <p:cNvPr id="73" name="Text 46">
            <a:extLst>
              <a:ext uri="{FF2B5EF4-FFF2-40B4-BE49-F238E27FC236}">
                <a16:creationId xmlns:a16="http://schemas.microsoft.com/office/drawing/2014/main" id="{4A65D502-3C74-2618-2618-63D6D38F27E6}"/>
              </a:ext>
            </a:extLst>
          </p:cNvPr>
          <p:cNvSpPr/>
          <p:nvPr/>
        </p:nvSpPr>
        <p:spPr>
          <a:xfrm>
            <a:off x="11759184" y="6547104"/>
            <a:ext cx="365760" cy="219456"/>
          </a:xfrm>
          <a:prstGeom prst="rect">
            <a:avLst/>
          </a:prstGeom>
          <a:noFill/>
          <a:ln/>
        </p:spPr>
        <p:txBody>
          <a:bodyPr wrap="square" lIns="0" tIns="0" rIns="0" bIns="0" rtlCol="0" anchor="ctr"/>
          <a:lstStyle/>
          <a:p>
            <a:pPr marL="0" indent="0" algn="r">
              <a:buNone/>
            </a:pPr>
            <a:r>
              <a:rPr lang="en-US" sz="750">
                <a:solidFill>
                  <a:srgbClr val="757980"/>
                </a:solidFill>
                <a:latin typeface="Verdana" panose="020B0604030504040204" pitchFamily="34" charset="0"/>
                <a:ea typeface="Verdana" panose="020B0604030504040204" pitchFamily="34" charset="0"/>
                <a:cs typeface="Calibri" pitchFamily="34" charset="-120"/>
              </a:rPr>
              <a:t>20</a:t>
            </a:r>
            <a:endParaRPr lang="en-US" sz="75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2884974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6BB73-D880-B10B-1049-81A166AA1FEE}"/>
            </a:ext>
          </a:extLst>
        </p:cNvPr>
        <p:cNvGrpSpPr/>
        <p:nvPr/>
      </p:nvGrpSpPr>
      <p:grpSpPr>
        <a:xfrm>
          <a:off x="0" y="0"/>
          <a:ext cx="0" cy="0"/>
          <a:chOff x="0" y="0"/>
          <a:chExt cx="0" cy="0"/>
        </a:xfrm>
      </p:grpSpPr>
      <p:cxnSp>
        <p:nvCxnSpPr>
          <p:cNvPr id="6" name="Straight Arrow Connector 5">
            <a:extLst>
              <a:ext uri="{FF2B5EF4-FFF2-40B4-BE49-F238E27FC236}">
                <a16:creationId xmlns:a16="http://schemas.microsoft.com/office/drawing/2014/main" id="{8EF8A5A9-1CD3-F19B-E429-BE6C896BA610}"/>
              </a:ext>
            </a:extLst>
          </p:cNvPr>
          <p:cNvCxnSpPr/>
          <p:nvPr/>
        </p:nvCxnSpPr>
        <p:spPr>
          <a:xfrm flipV="1">
            <a:off x="408972" y="778102"/>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1299D0E5-6D7A-42F5-7328-F0F1A6EF0C59}"/>
              </a:ext>
            </a:extLst>
          </p:cNvPr>
          <p:cNvSpPr/>
          <p:nvPr/>
        </p:nvSpPr>
        <p:spPr bwMode="gray">
          <a:xfrm>
            <a:off x="380920" y="66871"/>
            <a:ext cx="11811080" cy="370522"/>
          </a:xfrm>
          <a:prstGeom prst="rect">
            <a:avLst/>
          </a:prstGeom>
          <a:noFill/>
          <a:ln w="19050" algn="ctr">
            <a:noFill/>
            <a:miter lim="800000"/>
            <a:headEnd/>
            <a:tailEnd/>
          </a:ln>
        </p:spPr>
        <p:txBody>
          <a:bodyPr wrap="square" lIns="88900" tIns="88900" rIns="88900" bIns="88900" rtlCol="0" anchor="ctr"/>
          <a:lstStyle/>
          <a:p>
            <a:r>
              <a:rPr lang="en-US" b="1">
                <a:latin typeface="+mj-lt"/>
              </a:rPr>
              <a:t>Benchmarking</a:t>
            </a:r>
          </a:p>
        </p:txBody>
      </p:sp>
      <p:sp>
        <p:nvSpPr>
          <p:cNvPr id="12" name="Text Placeholder 1">
            <a:extLst>
              <a:ext uri="{FF2B5EF4-FFF2-40B4-BE49-F238E27FC236}">
                <a16:creationId xmlns:a16="http://schemas.microsoft.com/office/drawing/2014/main" id="{2F82FE9E-4648-4792-EF7A-1273964CE674}"/>
              </a:ext>
            </a:extLst>
          </p:cNvPr>
          <p:cNvSpPr txBox="1">
            <a:spLocks/>
          </p:cNvSpPr>
          <p:nvPr/>
        </p:nvSpPr>
        <p:spPr>
          <a:xfrm>
            <a:off x="439220" y="480431"/>
            <a:ext cx="11811079" cy="757255"/>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600" b="0" kern="1200">
                <a:solidFill>
                  <a:srgbClr val="575757"/>
                </a:solidFill>
                <a:latin typeface="Calibri" panose="020F0502020204030204" pitchFamily="34" charset="0"/>
                <a:ea typeface="+mn-ea"/>
                <a:cs typeface="Calibri" panose="020F0502020204030204" pitchFamily="34" charset="0"/>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1400">
                <a:latin typeface="Verdana" panose="020B0604030504040204" pitchFamily="34" charset="0"/>
                <a:ea typeface="Verdana" panose="020B0604030504040204" pitchFamily="34" charset="0"/>
              </a:rPr>
              <a:t>Tested international building blocks, adapted for a federal structure they were not designed for</a:t>
            </a:r>
          </a:p>
        </p:txBody>
      </p:sp>
      <p:sp>
        <p:nvSpPr>
          <p:cNvPr id="72" name="Text 45">
            <a:extLst>
              <a:ext uri="{FF2B5EF4-FFF2-40B4-BE49-F238E27FC236}">
                <a16:creationId xmlns:a16="http://schemas.microsoft.com/office/drawing/2014/main" id="{C2DE17A4-1D56-CDC4-DFF0-4212A20A6BE3}"/>
              </a:ext>
            </a:extLst>
          </p:cNvPr>
          <p:cNvSpPr/>
          <p:nvPr/>
        </p:nvSpPr>
        <p:spPr>
          <a:xfrm>
            <a:off x="5525944" y="6437376"/>
            <a:ext cx="6263640" cy="219456"/>
          </a:xfrm>
          <a:prstGeom prst="rect">
            <a:avLst/>
          </a:prstGeom>
          <a:noFill/>
          <a:ln/>
        </p:spPr>
        <p:txBody>
          <a:bodyPr wrap="square" lIns="0" tIns="0" rIns="0" bIns="0" rtlCol="0" anchor="ctr"/>
          <a:lstStyle/>
          <a:p>
            <a:pPr marL="0" indent="0" algn="r">
              <a:buNone/>
            </a:pPr>
            <a:r>
              <a:rPr lang="en-US" sz="900">
                <a:solidFill>
                  <a:srgbClr val="757980"/>
                </a:solidFill>
                <a:latin typeface="Verdana" panose="020B0604030504040204" pitchFamily="34" charset="0"/>
                <a:ea typeface="Verdana" panose="020B0604030504040204" pitchFamily="34" charset="0"/>
                <a:cs typeface="Calibri" pitchFamily="34" charset="-120"/>
              </a:rPr>
              <a:t>Ensuring Fiscal Prudence in Subsidised Public Goods &amp; Services  |  Technical Presentation to NITI Aayog</a:t>
            </a:r>
            <a:endParaRPr lang="en-US" sz="900">
              <a:latin typeface="Verdana" panose="020B0604030504040204" pitchFamily="34" charset="0"/>
              <a:ea typeface="Verdana" panose="020B0604030504040204" pitchFamily="34" charset="0"/>
            </a:endParaRPr>
          </a:p>
        </p:txBody>
      </p:sp>
      <p:sp>
        <p:nvSpPr>
          <p:cNvPr id="73" name="Text 46">
            <a:extLst>
              <a:ext uri="{FF2B5EF4-FFF2-40B4-BE49-F238E27FC236}">
                <a16:creationId xmlns:a16="http://schemas.microsoft.com/office/drawing/2014/main" id="{DCE864B6-D8FE-4EDF-39FA-019D92057220}"/>
              </a:ext>
            </a:extLst>
          </p:cNvPr>
          <p:cNvSpPr/>
          <p:nvPr/>
        </p:nvSpPr>
        <p:spPr>
          <a:xfrm>
            <a:off x="11798728" y="6437376"/>
            <a:ext cx="365760" cy="219456"/>
          </a:xfrm>
          <a:prstGeom prst="rect">
            <a:avLst/>
          </a:prstGeom>
          <a:noFill/>
          <a:ln/>
        </p:spPr>
        <p:txBody>
          <a:bodyPr wrap="square" lIns="0" tIns="0" rIns="0" bIns="0" rtlCol="0" anchor="ctr"/>
          <a:lstStyle/>
          <a:p>
            <a:pPr marL="0" indent="0" algn="r">
              <a:buNone/>
            </a:pPr>
            <a:r>
              <a:rPr lang="en-US" sz="900">
                <a:solidFill>
                  <a:srgbClr val="757980"/>
                </a:solidFill>
                <a:latin typeface="Verdana" panose="020B0604030504040204" pitchFamily="34" charset="0"/>
                <a:ea typeface="Verdana" panose="020B0604030504040204" pitchFamily="34" charset="0"/>
                <a:cs typeface="Calibri" pitchFamily="34" charset="-120"/>
              </a:rPr>
              <a:t>20</a:t>
            </a:r>
            <a:endParaRPr lang="en-US" sz="900">
              <a:latin typeface="Verdana" panose="020B0604030504040204" pitchFamily="34" charset="0"/>
              <a:ea typeface="Verdana" panose="020B0604030504040204" pitchFamily="34" charset="0"/>
            </a:endParaRPr>
          </a:p>
        </p:txBody>
      </p:sp>
      <p:sp>
        <p:nvSpPr>
          <p:cNvPr id="10" name="Shape 4">
            <a:extLst>
              <a:ext uri="{FF2B5EF4-FFF2-40B4-BE49-F238E27FC236}">
                <a16:creationId xmlns:a16="http://schemas.microsoft.com/office/drawing/2014/main" id="{D47F4A6E-E196-6CD3-ED85-35023F1DC0F7}"/>
              </a:ext>
            </a:extLst>
          </p:cNvPr>
          <p:cNvSpPr/>
          <p:nvPr/>
        </p:nvSpPr>
        <p:spPr>
          <a:xfrm>
            <a:off x="411480" y="960120"/>
            <a:ext cx="5586984" cy="384048"/>
          </a:xfrm>
          <a:prstGeom prst="rect">
            <a:avLst/>
          </a:prstGeom>
          <a:solidFill>
            <a:srgbClr val="DDEFE8"/>
          </a:solidFill>
          <a:ln w="12700">
            <a:noFill/>
            <a:prstDash val="solid"/>
          </a:ln>
          <a:effectLst>
            <a:outerShdw blurRad="50800" dist="38100" algn="l" rotWithShape="0">
              <a:prstClr val="black">
                <a:alpha val="40000"/>
              </a:prstClr>
            </a:outerShdw>
          </a:effectLst>
        </p:spPr>
        <p:txBody>
          <a:bodyPr/>
          <a:lstStyle/>
          <a:p>
            <a:endParaRPr lang="en-IN">
              <a:latin typeface="Verdana" panose="020B0604030504040204" pitchFamily="34" charset="0"/>
              <a:ea typeface="Verdana" panose="020B0604030504040204" pitchFamily="34" charset="0"/>
            </a:endParaRPr>
          </a:p>
        </p:txBody>
      </p:sp>
      <p:sp>
        <p:nvSpPr>
          <p:cNvPr id="11" name="Text 5">
            <a:extLst>
              <a:ext uri="{FF2B5EF4-FFF2-40B4-BE49-F238E27FC236}">
                <a16:creationId xmlns:a16="http://schemas.microsoft.com/office/drawing/2014/main" id="{F1C6E0C7-3992-3ED7-DB16-20795B7EA2FD}"/>
              </a:ext>
            </a:extLst>
          </p:cNvPr>
          <p:cNvSpPr/>
          <p:nvPr/>
        </p:nvSpPr>
        <p:spPr>
          <a:xfrm>
            <a:off x="539496" y="960120"/>
            <a:ext cx="5330952" cy="384048"/>
          </a:xfrm>
          <a:prstGeom prst="rect">
            <a:avLst/>
          </a:prstGeom>
          <a:noFill/>
          <a:ln>
            <a:noFill/>
          </a:ln>
        </p:spPr>
        <p:txBody>
          <a:bodyPr wrap="square" lIns="0" tIns="0" rIns="0" bIns="0" rtlCol="0" anchor="ctr"/>
          <a:lstStyle/>
          <a:p>
            <a:pPr marL="0" indent="0" algn="ctr">
              <a:buNone/>
            </a:pPr>
            <a:r>
              <a:rPr lang="en-US" sz="1200" b="1">
                <a:latin typeface="Verdana" panose="020B0604030504040204" pitchFamily="34" charset="0"/>
                <a:ea typeface="Verdana" panose="020B0604030504040204" pitchFamily="34" charset="0"/>
                <a:cs typeface="Calibri" pitchFamily="34" charset="-120"/>
              </a:rPr>
              <a:t>INTERNATIONAL FRAMEWORKS</a:t>
            </a:r>
            <a:endParaRPr lang="en-US" sz="1200">
              <a:latin typeface="Verdana" panose="020B0604030504040204" pitchFamily="34" charset="0"/>
              <a:ea typeface="Verdana" panose="020B0604030504040204" pitchFamily="34" charset="0"/>
            </a:endParaRPr>
          </a:p>
        </p:txBody>
      </p:sp>
      <p:sp>
        <p:nvSpPr>
          <p:cNvPr id="13" name="Shape 6">
            <a:extLst>
              <a:ext uri="{FF2B5EF4-FFF2-40B4-BE49-F238E27FC236}">
                <a16:creationId xmlns:a16="http://schemas.microsoft.com/office/drawing/2014/main" id="{BD57E794-D9D2-3DD7-8505-D64573E50688}"/>
              </a:ext>
            </a:extLst>
          </p:cNvPr>
          <p:cNvSpPr/>
          <p:nvPr/>
        </p:nvSpPr>
        <p:spPr>
          <a:xfrm>
            <a:off x="411480" y="1444752"/>
            <a:ext cx="5586984" cy="1115568"/>
          </a:xfrm>
          <a:prstGeom prst="roundRect">
            <a:avLst>
              <a:gd name="adj" fmla="val 3279"/>
            </a:avLst>
          </a:prstGeom>
          <a:solidFill>
            <a:srgbClr val="FAFAFA"/>
          </a:solidFill>
          <a:ln w="9525">
            <a:solidFill>
              <a:srgbClr val="D9D9D9"/>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14" name="Text 7">
            <a:extLst>
              <a:ext uri="{FF2B5EF4-FFF2-40B4-BE49-F238E27FC236}">
                <a16:creationId xmlns:a16="http://schemas.microsoft.com/office/drawing/2014/main" id="{108EF332-9B59-8A67-3A29-B6AE874EC8CB}"/>
              </a:ext>
            </a:extLst>
          </p:cNvPr>
          <p:cNvSpPr/>
          <p:nvPr/>
        </p:nvSpPr>
        <p:spPr>
          <a:xfrm>
            <a:off x="566928" y="1536192"/>
            <a:ext cx="5285232" cy="292608"/>
          </a:xfrm>
          <a:prstGeom prst="rect">
            <a:avLst/>
          </a:prstGeom>
          <a:noFill/>
          <a:ln/>
        </p:spPr>
        <p:txBody>
          <a:bodyPr wrap="square" lIns="0" tIns="0" rIns="0" bIns="0" rtlCol="0" anchor="ctr"/>
          <a:lstStyle/>
          <a:p>
            <a:pPr marL="0" indent="0">
              <a:buNone/>
            </a:pPr>
            <a:r>
              <a:rPr lang="en-US" sz="1150" b="1">
                <a:solidFill>
                  <a:srgbClr val="0A4A4E"/>
                </a:solidFill>
                <a:latin typeface="Verdana" panose="020B0604030504040204" pitchFamily="34" charset="0"/>
                <a:ea typeface="Verdana" panose="020B0604030504040204" pitchFamily="34" charset="0"/>
                <a:cs typeface="Calibri" pitchFamily="34" charset="-120"/>
              </a:rPr>
              <a:t>IMF · GFSM 2014 and COFOG</a:t>
            </a:r>
            <a:endParaRPr lang="en-US" sz="1150">
              <a:latin typeface="Verdana" panose="020B0604030504040204" pitchFamily="34" charset="0"/>
              <a:ea typeface="Verdana" panose="020B0604030504040204" pitchFamily="34" charset="0"/>
            </a:endParaRPr>
          </a:p>
        </p:txBody>
      </p:sp>
      <p:sp>
        <p:nvSpPr>
          <p:cNvPr id="15" name="Text 8">
            <a:extLst>
              <a:ext uri="{FF2B5EF4-FFF2-40B4-BE49-F238E27FC236}">
                <a16:creationId xmlns:a16="http://schemas.microsoft.com/office/drawing/2014/main" id="{5D385610-226E-9957-01C9-EC5849A102E0}"/>
              </a:ext>
            </a:extLst>
          </p:cNvPr>
          <p:cNvSpPr/>
          <p:nvPr/>
        </p:nvSpPr>
        <p:spPr>
          <a:xfrm>
            <a:off x="566928" y="1828800"/>
            <a:ext cx="5285232" cy="640080"/>
          </a:xfrm>
          <a:prstGeom prst="rect">
            <a:avLst/>
          </a:prstGeom>
          <a:noFill/>
          <a:ln/>
        </p:spPr>
        <p:txBody>
          <a:bodyPr wrap="square" lIns="0" tIns="0" rIns="0" bIns="0" rtlCol="0" anchor="t"/>
          <a:lstStyle/>
          <a:p>
            <a:pPr marL="0" indent="0">
              <a:lnSpc>
                <a:spcPts val="1300"/>
              </a:lnSpc>
              <a:buNone/>
            </a:pPr>
            <a:r>
              <a:rPr lang="en-US" sz="950">
                <a:solidFill>
                  <a:srgbClr val="333333"/>
                </a:solidFill>
                <a:latin typeface="Verdana" panose="020B0604030504040204" pitchFamily="34" charset="0"/>
                <a:ea typeface="Verdana" panose="020B0604030504040204" pitchFamily="34" charset="0"/>
                <a:cs typeface="Calibri" pitchFamily="34" charset="-120"/>
              </a:rPr>
              <a:t>Subsidy classification and functional classification of expenditure. Treats subsidies as current unrequited transfers to producers, with direct transfers to households classified separately as social benefits.</a:t>
            </a:r>
            <a:endParaRPr lang="en-US" sz="950">
              <a:latin typeface="Verdana" panose="020B0604030504040204" pitchFamily="34" charset="0"/>
              <a:ea typeface="Verdana" panose="020B0604030504040204" pitchFamily="34" charset="0"/>
            </a:endParaRPr>
          </a:p>
        </p:txBody>
      </p:sp>
      <p:sp>
        <p:nvSpPr>
          <p:cNvPr id="17" name="Shape 9">
            <a:extLst>
              <a:ext uri="{FF2B5EF4-FFF2-40B4-BE49-F238E27FC236}">
                <a16:creationId xmlns:a16="http://schemas.microsoft.com/office/drawing/2014/main" id="{BC5090B5-1F3A-7D1F-B100-089D25B6DB1B}"/>
              </a:ext>
            </a:extLst>
          </p:cNvPr>
          <p:cNvSpPr/>
          <p:nvPr/>
        </p:nvSpPr>
        <p:spPr>
          <a:xfrm>
            <a:off x="411480" y="2670048"/>
            <a:ext cx="5586984" cy="1115568"/>
          </a:xfrm>
          <a:prstGeom prst="roundRect">
            <a:avLst>
              <a:gd name="adj" fmla="val 3279"/>
            </a:avLst>
          </a:prstGeom>
          <a:solidFill>
            <a:srgbClr val="FAFAFA"/>
          </a:solidFill>
          <a:ln w="9525">
            <a:solidFill>
              <a:srgbClr val="D9D9D9"/>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18" name="Text 10">
            <a:extLst>
              <a:ext uri="{FF2B5EF4-FFF2-40B4-BE49-F238E27FC236}">
                <a16:creationId xmlns:a16="http://schemas.microsoft.com/office/drawing/2014/main" id="{BEF2A752-D52F-411B-0DB5-E69A8F10F672}"/>
              </a:ext>
            </a:extLst>
          </p:cNvPr>
          <p:cNvSpPr/>
          <p:nvPr/>
        </p:nvSpPr>
        <p:spPr>
          <a:xfrm>
            <a:off x="566928" y="2761488"/>
            <a:ext cx="5285232" cy="292608"/>
          </a:xfrm>
          <a:prstGeom prst="rect">
            <a:avLst/>
          </a:prstGeom>
          <a:noFill/>
          <a:ln/>
        </p:spPr>
        <p:txBody>
          <a:bodyPr wrap="square" lIns="0" tIns="0" rIns="0" bIns="0" rtlCol="0" anchor="ctr"/>
          <a:lstStyle/>
          <a:p>
            <a:pPr marL="0" indent="0">
              <a:buNone/>
            </a:pPr>
            <a:r>
              <a:rPr lang="en-US" sz="1150" b="1">
                <a:solidFill>
                  <a:srgbClr val="0A4A4E"/>
                </a:solidFill>
                <a:latin typeface="Verdana" panose="020B0604030504040204" pitchFamily="34" charset="0"/>
                <a:ea typeface="Verdana" panose="020B0604030504040204" pitchFamily="34" charset="0"/>
                <a:cs typeface="Calibri" pitchFamily="34" charset="-120"/>
              </a:rPr>
              <a:t>OECD · Producer and Consumer Support Estimates</a:t>
            </a:r>
            <a:endParaRPr lang="en-US" sz="1150">
              <a:latin typeface="Verdana" panose="020B0604030504040204" pitchFamily="34" charset="0"/>
              <a:ea typeface="Verdana" panose="020B0604030504040204" pitchFamily="34" charset="0"/>
            </a:endParaRPr>
          </a:p>
        </p:txBody>
      </p:sp>
      <p:sp>
        <p:nvSpPr>
          <p:cNvPr id="19" name="Text 11">
            <a:extLst>
              <a:ext uri="{FF2B5EF4-FFF2-40B4-BE49-F238E27FC236}">
                <a16:creationId xmlns:a16="http://schemas.microsoft.com/office/drawing/2014/main" id="{CE5D59EF-C9C7-1C9C-742E-7C25702154F3}"/>
              </a:ext>
            </a:extLst>
          </p:cNvPr>
          <p:cNvSpPr/>
          <p:nvPr/>
        </p:nvSpPr>
        <p:spPr>
          <a:xfrm>
            <a:off x="566928" y="3054096"/>
            <a:ext cx="5285232" cy="640080"/>
          </a:xfrm>
          <a:prstGeom prst="rect">
            <a:avLst/>
          </a:prstGeom>
          <a:noFill/>
          <a:ln/>
        </p:spPr>
        <p:txBody>
          <a:bodyPr wrap="square" lIns="0" tIns="0" rIns="0" bIns="0" rtlCol="0" anchor="t"/>
          <a:lstStyle/>
          <a:p>
            <a:pPr marL="0" indent="0">
              <a:lnSpc>
                <a:spcPts val="1300"/>
              </a:lnSpc>
              <a:buNone/>
            </a:pPr>
            <a:r>
              <a:rPr lang="en-US" sz="950">
                <a:solidFill>
                  <a:srgbClr val="333333"/>
                </a:solidFill>
                <a:latin typeface="Verdana" panose="020B0604030504040204" pitchFamily="34" charset="0"/>
                <a:ea typeface="Verdana" panose="020B0604030504040204" pitchFamily="34" charset="0"/>
                <a:cs typeface="Calibri" pitchFamily="34" charset="-120"/>
              </a:rPr>
              <a:t>Inventory-based measurement that captures support delivered through price mechanisms as well as budget transfers — directly relevant to India's under-priced tariffs.</a:t>
            </a:r>
            <a:endParaRPr lang="en-US" sz="950">
              <a:latin typeface="Verdana" panose="020B0604030504040204" pitchFamily="34" charset="0"/>
              <a:ea typeface="Verdana" panose="020B0604030504040204" pitchFamily="34" charset="0"/>
            </a:endParaRPr>
          </a:p>
        </p:txBody>
      </p:sp>
      <p:sp>
        <p:nvSpPr>
          <p:cNvPr id="20" name="Shape 12">
            <a:extLst>
              <a:ext uri="{FF2B5EF4-FFF2-40B4-BE49-F238E27FC236}">
                <a16:creationId xmlns:a16="http://schemas.microsoft.com/office/drawing/2014/main" id="{3E687628-5712-E491-F236-08C03DD1F0C7}"/>
              </a:ext>
            </a:extLst>
          </p:cNvPr>
          <p:cNvSpPr/>
          <p:nvPr/>
        </p:nvSpPr>
        <p:spPr>
          <a:xfrm>
            <a:off x="411480" y="3895344"/>
            <a:ext cx="5586984" cy="1115568"/>
          </a:xfrm>
          <a:prstGeom prst="roundRect">
            <a:avLst>
              <a:gd name="adj" fmla="val 3279"/>
            </a:avLst>
          </a:prstGeom>
          <a:solidFill>
            <a:srgbClr val="FAFAFA"/>
          </a:solidFill>
          <a:ln w="9525">
            <a:solidFill>
              <a:srgbClr val="D9D9D9"/>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23" name="Text 13">
            <a:extLst>
              <a:ext uri="{FF2B5EF4-FFF2-40B4-BE49-F238E27FC236}">
                <a16:creationId xmlns:a16="http://schemas.microsoft.com/office/drawing/2014/main" id="{E76D2026-19D3-5736-6B3C-42A63895F520}"/>
              </a:ext>
            </a:extLst>
          </p:cNvPr>
          <p:cNvSpPr/>
          <p:nvPr/>
        </p:nvSpPr>
        <p:spPr>
          <a:xfrm>
            <a:off x="566928" y="3986784"/>
            <a:ext cx="5285232" cy="292608"/>
          </a:xfrm>
          <a:prstGeom prst="rect">
            <a:avLst/>
          </a:prstGeom>
          <a:noFill/>
          <a:ln/>
        </p:spPr>
        <p:txBody>
          <a:bodyPr wrap="square" lIns="0" tIns="0" rIns="0" bIns="0" rtlCol="0" anchor="ctr"/>
          <a:lstStyle/>
          <a:p>
            <a:pPr marL="0" indent="0">
              <a:buNone/>
            </a:pPr>
            <a:r>
              <a:rPr lang="en-US" sz="1150" b="1">
                <a:solidFill>
                  <a:srgbClr val="0A4A4E"/>
                </a:solidFill>
                <a:latin typeface="Verdana" panose="020B0604030504040204" pitchFamily="34" charset="0"/>
                <a:ea typeface="Verdana" panose="020B0604030504040204" pitchFamily="34" charset="0"/>
                <a:cs typeface="Calibri" pitchFamily="34" charset="-120"/>
              </a:rPr>
              <a:t>World Bank · Quasi-fiscal deficit and hidden cost</a:t>
            </a:r>
            <a:endParaRPr lang="en-US" sz="1150">
              <a:latin typeface="Verdana" panose="020B0604030504040204" pitchFamily="34" charset="0"/>
              <a:ea typeface="Verdana" panose="020B0604030504040204" pitchFamily="34" charset="0"/>
            </a:endParaRPr>
          </a:p>
        </p:txBody>
      </p:sp>
      <p:sp>
        <p:nvSpPr>
          <p:cNvPr id="25" name="Text 14">
            <a:extLst>
              <a:ext uri="{FF2B5EF4-FFF2-40B4-BE49-F238E27FC236}">
                <a16:creationId xmlns:a16="http://schemas.microsoft.com/office/drawing/2014/main" id="{906E1DD5-BB57-32AB-34B1-8DFE20610465}"/>
              </a:ext>
            </a:extLst>
          </p:cNvPr>
          <p:cNvSpPr/>
          <p:nvPr/>
        </p:nvSpPr>
        <p:spPr>
          <a:xfrm>
            <a:off x="566928" y="4279392"/>
            <a:ext cx="5285232" cy="640080"/>
          </a:xfrm>
          <a:prstGeom prst="rect">
            <a:avLst/>
          </a:prstGeom>
          <a:noFill/>
          <a:ln/>
        </p:spPr>
        <p:txBody>
          <a:bodyPr wrap="square" lIns="0" tIns="0" rIns="0" bIns="0" rtlCol="0" anchor="t"/>
          <a:lstStyle/>
          <a:p>
            <a:pPr marL="0" indent="0">
              <a:lnSpc>
                <a:spcPts val="1300"/>
              </a:lnSpc>
              <a:buNone/>
            </a:pPr>
            <a:r>
              <a:rPr lang="en-US" sz="950">
                <a:solidFill>
                  <a:srgbClr val="333333"/>
                </a:solidFill>
                <a:latin typeface="Verdana" panose="020B0604030504040204" pitchFamily="34" charset="0"/>
                <a:ea typeface="Verdana" panose="020B0604030504040204" pitchFamily="34" charset="0"/>
                <a:cs typeface="Calibri" pitchFamily="34" charset="-120"/>
              </a:rPr>
              <a:t>Methodology for measuring implicit subsidies, developed most fully in the power sector, where India's largest implicit exposure sits.</a:t>
            </a:r>
            <a:endParaRPr lang="en-US" sz="950">
              <a:latin typeface="Verdana" panose="020B0604030504040204" pitchFamily="34" charset="0"/>
              <a:ea typeface="Verdana" panose="020B0604030504040204" pitchFamily="34" charset="0"/>
            </a:endParaRPr>
          </a:p>
        </p:txBody>
      </p:sp>
      <p:sp>
        <p:nvSpPr>
          <p:cNvPr id="29" name="Shape 15">
            <a:extLst>
              <a:ext uri="{FF2B5EF4-FFF2-40B4-BE49-F238E27FC236}">
                <a16:creationId xmlns:a16="http://schemas.microsoft.com/office/drawing/2014/main" id="{6810E979-1199-87F5-28AD-1C5CDCD0432B}"/>
              </a:ext>
            </a:extLst>
          </p:cNvPr>
          <p:cNvSpPr/>
          <p:nvPr/>
        </p:nvSpPr>
        <p:spPr>
          <a:xfrm>
            <a:off x="6190488" y="960120"/>
            <a:ext cx="5586984" cy="384048"/>
          </a:xfrm>
          <a:prstGeom prst="rect">
            <a:avLst/>
          </a:prstGeom>
          <a:solidFill>
            <a:srgbClr val="DDEFE8"/>
          </a:solidFill>
          <a:ln w="12700">
            <a:noFill/>
            <a:prstDash val="solid"/>
          </a:ln>
          <a:effectLst>
            <a:outerShdw blurRad="50800" dist="38100" algn="l" rotWithShape="0">
              <a:prstClr val="black">
                <a:alpha val="40000"/>
              </a:prstClr>
            </a:outerShdw>
          </a:effectLst>
        </p:spPr>
        <p:txBody>
          <a:bodyPr/>
          <a:lstStyle/>
          <a:p>
            <a:endParaRPr lang="en-IN">
              <a:latin typeface="Verdana" panose="020B0604030504040204" pitchFamily="34" charset="0"/>
              <a:ea typeface="Verdana" panose="020B0604030504040204" pitchFamily="34" charset="0"/>
            </a:endParaRPr>
          </a:p>
        </p:txBody>
      </p:sp>
      <p:sp>
        <p:nvSpPr>
          <p:cNvPr id="31" name="Text 16">
            <a:extLst>
              <a:ext uri="{FF2B5EF4-FFF2-40B4-BE49-F238E27FC236}">
                <a16:creationId xmlns:a16="http://schemas.microsoft.com/office/drawing/2014/main" id="{1C56AB05-A166-89F8-C0F0-FEEE36E295B3}"/>
              </a:ext>
            </a:extLst>
          </p:cNvPr>
          <p:cNvSpPr/>
          <p:nvPr/>
        </p:nvSpPr>
        <p:spPr>
          <a:xfrm>
            <a:off x="6318504" y="960120"/>
            <a:ext cx="5330952" cy="384048"/>
          </a:xfrm>
          <a:prstGeom prst="rect">
            <a:avLst/>
          </a:prstGeom>
          <a:noFill/>
          <a:ln>
            <a:noFill/>
          </a:ln>
        </p:spPr>
        <p:txBody>
          <a:bodyPr wrap="square" lIns="0" tIns="0" rIns="0" bIns="0" rtlCol="0" anchor="ctr"/>
          <a:lstStyle/>
          <a:p>
            <a:pPr marL="0" indent="0" algn="ctr">
              <a:buNone/>
            </a:pPr>
            <a:r>
              <a:rPr lang="en-US" sz="1200" b="1">
                <a:latin typeface="Verdana" panose="020B0604030504040204" pitchFamily="34" charset="0"/>
                <a:ea typeface="Verdana" panose="020B0604030504040204" pitchFamily="34" charset="0"/>
                <a:cs typeface="Calibri" pitchFamily="34" charset="-120"/>
              </a:rPr>
              <a:t>DOMESTIC PRECEDENTS</a:t>
            </a:r>
            <a:endParaRPr lang="en-US" sz="1200">
              <a:latin typeface="Verdana" panose="020B0604030504040204" pitchFamily="34" charset="0"/>
              <a:ea typeface="Verdana" panose="020B0604030504040204" pitchFamily="34" charset="0"/>
            </a:endParaRPr>
          </a:p>
        </p:txBody>
      </p:sp>
      <p:sp>
        <p:nvSpPr>
          <p:cNvPr id="35" name="Shape 17">
            <a:extLst>
              <a:ext uri="{FF2B5EF4-FFF2-40B4-BE49-F238E27FC236}">
                <a16:creationId xmlns:a16="http://schemas.microsoft.com/office/drawing/2014/main" id="{A22B3F79-1D34-F62C-59C1-941F5B59D204}"/>
              </a:ext>
            </a:extLst>
          </p:cNvPr>
          <p:cNvSpPr/>
          <p:nvPr/>
        </p:nvSpPr>
        <p:spPr>
          <a:xfrm>
            <a:off x="6190488" y="1444752"/>
            <a:ext cx="5586984" cy="1115568"/>
          </a:xfrm>
          <a:prstGeom prst="roundRect">
            <a:avLst>
              <a:gd name="adj" fmla="val 3279"/>
            </a:avLst>
          </a:prstGeom>
          <a:solidFill>
            <a:srgbClr val="FAFAFA"/>
          </a:solidFill>
          <a:ln w="9525">
            <a:solidFill>
              <a:srgbClr val="D9D9D9"/>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37" name="Text 18">
            <a:extLst>
              <a:ext uri="{FF2B5EF4-FFF2-40B4-BE49-F238E27FC236}">
                <a16:creationId xmlns:a16="http://schemas.microsoft.com/office/drawing/2014/main" id="{971D8BAD-AEA7-8EE7-BEF2-F7C05EB31020}"/>
              </a:ext>
            </a:extLst>
          </p:cNvPr>
          <p:cNvSpPr/>
          <p:nvPr/>
        </p:nvSpPr>
        <p:spPr>
          <a:xfrm>
            <a:off x="6345936" y="1536192"/>
            <a:ext cx="5285232" cy="292608"/>
          </a:xfrm>
          <a:prstGeom prst="rect">
            <a:avLst/>
          </a:prstGeom>
          <a:noFill/>
          <a:ln/>
        </p:spPr>
        <p:txBody>
          <a:bodyPr wrap="square" lIns="0" tIns="0" rIns="0" bIns="0" rtlCol="0" anchor="ctr"/>
          <a:lstStyle/>
          <a:p>
            <a:pPr marL="0" indent="0">
              <a:buNone/>
            </a:pPr>
            <a:r>
              <a:rPr lang="en-US" sz="1150" b="1">
                <a:solidFill>
                  <a:srgbClr val="0E6E70"/>
                </a:solidFill>
                <a:latin typeface="Verdana" panose="020B0604030504040204" pitchFamily="34" charset="0"/>
                <a:ea typeface="Verdana" panose="020B0604030504040204" pitchFamily="34" charset="0"/>
                <a:cs typeface="Calibri" pitchFamily="34" charset="-120"/>
              </a:rPr>
              <a:t>NIPFP · merit and non-merit taxonomy</a:t>
            </a:r>
            <a:endParaRPr lang="en-US" sz="1150">
              <a:latin typeface="Verdana" panose="020B0604030504040204" pitchFamily="34" charset="0"/>
              <a:ea typeface="Verdana" panose="020B0604030504040204" pitchFamily="34" charset="0"/>
            </a:endParaRPr>
          </a:p>
        </p:txBody>
      </p:sp>
      <p:sp>
        <p:nvSpPr>
          <p:cNvPr id="41" name="Text 19">
            <a:extLst>
              <a:ext uri="{FF2B5EF4-FFF2-40B4-BE49-F238E27FC236}">
                <a16:creationId xmlns:a16="http://schemas.microsoft.com/office/drawing/2014/main" id="{66C29C58-6F72-70A4-BB25-E2571288E36D}"/>
              </a:ext>
            </a:extLst>
          </p:cNvPr>
          <p:cNvSpPr/>
          <p:nvPr/>
        </p:nvSpPr>
        <p:spPr>
          <a:xfrm>
            <a:off x="6345936" y="1828800"/>
            <a:ext cx="5285232" cy="640080"/>
          </a:xfrm>
          <a:prstGeom prst="rect">
            <a:avLst/>
          </a:prstGeom>
          <a:noFill/>
          <a:ln/>
        </p:spPr>
        <p:txBody>
          <a:bodyPr wrap="square" lIns="0" tIns="0" rIns="0" bIns="0" rtlCol="0" anchor="t"/>
          <a:lstStyle/>
          <a:p>
            <a:pPr marL="0" indent="0">
              <a:lnSpc>
                <a:spcPts val="1300"/>
              </a:lnSpc>
              <a:buNone/>
            </a:pPr>
            <a:r>
              <a:rPr lang="en-US" sz="950">
                <a:solidFill>
                  <a:srgbClr val="333333"/>
                </a:solidFill>
                <a:latin typeface="Verdana" panose="020B0604030504040204" pitchFamily="34" charset="0"/>
                <a:ea typeface="Verdana" panose="020B0604030504040204" pitchFamily="34" charset="0"/>
                <a:cs typeface="Calibri" pitchFamily="34" charset="-120"/>
              </a:rPr>
              <a:t>The unrecovered-cost concept (Mundle and Rao, 1991; Srivastava et al., 1997, 2003) defines budgetary subsidies as the difference between the cost of delivering a non-public good and the recoveries realised.</a:t>
            </a:r>
            <a:endParaRPr lang="en-US" sz="950">
              <a:latin typeface="Verdana" panose="020B0604030504040204" pitchFamily="34" charset="0"/>
              <a:ea typeface="Verdana" panose="020B0604030504040204" pitchFamily="34" charset="0"/>
            </a:endParaRPr>
          </a:p>
        </p:txBody>
      </p:sp>
      <p:sp>
        <p:nvSpPr>
          <p:cNvPr id="43" name="Shape 20">
            <a:extLst>
              <a:ext uri="{FF2B5EF4-FFF2-40B4-BE49-F238E27FC236}">
                <a16:creationId xmlns:a16="http://schemas.microsoft.com/office/drawing/2014/main" id="{1C0FA254-5421-8FA7-599D-BFD12AA1C500}"/>
              </a:ext>
            </a:extLst>
          </p:cNvPr>
          <p:cNvSpPr/>
          <p:nvPr/>
        </p:nvSpPr>
        <p:spPr>
          <a:xfrm>
            <a:off x="6190488" y="2670048"/>
            <a:ext cx="5586984" cy="1115568"/>
          </a:xfrm>
          <a:prstGeom prst="roundRect">
            <a:avLst>
              <a:gd name="adj" fmla="val 3279"/>
            </a:avLst>
          </a:prstGeom>
          <a:solidFill>
            <a:srgbClr val="FAFAFA"/>
          </a:solidFill>
          <a:ln w="9525">
            <a:solidFill>
              <a:srgbClr val="D9D9D9"/>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44" name="Text 21">
            <a:extLst>
              <a:ext uri="{FF2B5EF4-FFF2-40B4-BE49-F238E27FC236}">
                <a16:creationId xmlns:a16="http://schemas.microsoft.com/office/drawing/2014/main" id="{4295074C-95EB-EDDC-71A7-F2B638E714F6}"/>
              </a:ext>
            </a:extLst>
          </p:cNvPr>
          <p:cNvSpPr/>
          <p:nvPr/>
        </p:nvSpPr>
        <p:spPr>
          <a:xfrm>
            <a:off x="6345936" y="2761488"/>
            <a:ext cx="5285232" cy="292608"/>
          </a:xfrm>
          <a:prstGeom prst="rect">
            <a:avLst/>
          </a:prstGeom>
          <a:noFill/>
          <a:ln/>
        </p:spPr>
        <p:txBody>
          <a:bodyPr wrap="square" lIns="0" tIns="0" rIns="0" bIns="0" rtlCol="0" anchor="ctr"/>
          <a:lstStyle/>
          <a:p>
            <a:pPr marL="0" indent="0">
              <a:buNone/>
            </a:pPr>
            <a:r>
              <a:rPr lang="en-US" sz="1150" b="1">
                <a:solidFill>
                  <a:srgbClr val="0E6E70"/>
                </a:solidFill>
                <a:latin typeface="Verdana" panose="020B0604030504040204" pitchFamily="34" charset="0"/>
                <a:ea typeface="Verdana" panose="020B0604030504040204" pitchFamily="34" charset="0"/>
                <a:cs typeface="Calibri" pitchFamily="34" charset="-120"/>
              </a:rPr>
              <a:t>Odisha · implicit subsidy reporting</a:t>
            </a:r>
            <a:endParaRPr lang="en-US" sz="1150">
              <a:latin typeface="Verdana" panose="020B0604030504040204" pitchFamily="34" charset="0"/>
              <a:ea typeface="Verdana" panose="020B0604030504040204" pitchFamily="34" charset="0"/>
            </a:endParaRPr>
          </a:p>
        </p:txBody>
      </p:sp>
      <p:sp>
        <p:nvSpPr>
          <p:cNvPr id="47" name="Text 22">
            <a:extLst>
              <a:ext uri="{FF2B5EF4-FFF2-40B4-BE49-F238E27FC236}">
                <a16:creationId xmlns:a16="http://schemas.microsoft.com/office/drawing/2014/main" id="{E77B1892-EB30-A069-18E7-E8AF67B8A883}"/>
              </a:ext>
            </a:extLst>
          </p:cNvPr>
          <p:cNvSpPr/>
          <p:nvPr/>
        </p:nvSpPr>
        <p:spPr>
          <a:xfrm>
            <a:off x="6345936" y="3054096"/>
            <a:ext cx="5285232" cy="640080"/>
          </a:xfrm>
          <a:prstGeom prst="rect">
            <a:avLst/>
          </a:prstGeom>
          <a:noFill/>
          <a:ln/>
        </p:spPr>
        <p:txBody>
          <a:bodyPr wrap="square" lIns="0" tIns="0" rIns="0" bIns="0" rtlCol="0" anchor="t"/>
          <a:lstStyle/>
          <a:p>
            <a:pPr marL="0" indent="0">
              <a:lnSpc>
                <a:spcPts val="1300"/>
              </a:lnSpc>
              <a:buNone/>
            </a:pPr>
            <a:r>
              <a:rPr lang="en-US" sz="950">
                <a:solidFill>
                  <a:srgbClr val="333333"/>
                </a:solidFill>
                <a:latin typeface="Verdana" panose="020B0604030504040204" pitchFamily="34" charset="0"/>
                <a:ea typeface="Verdana" panose="020B0604030504040204" pitchFamily="34" charset="0"/>
                <a:cs typeface="Calibri" pitchFamily="34" charset="-120"/>
              </a:rPr>
              <a:t>A working State-level precedent for surfacing implicit subsidy in published fiscal documents rather than leaving it undisclosed.</a:t>
            </a:r>
            <a:endParaRPr lang="en-US" sz="950">
              <a:latin typeface="Verdana" panose="020B0604030504040204" pitchFamily="34" charset="0"/>
              <a:ea typeface="Verdana" panose="020B0604030504040204" pitchFamily="34" charset="0"/>
            </a:endParaRPr>
          </a:p>
        </p:txBody>
      </p:sp>
      <p:sp>
        <p:nvSpPr>
          <p:cNvPr id="74" name="Shape 23">
            <a:extLst>
              <a:ext uri="{FF2B5EF4-FFF2-40B4-BE49-F238E27FC236}">
                <a16:creationId xmlns:a16="http://schemas.microsoft.com/office/drawing/2014/main" id="{A061D720-2F9D-6391-2121-A843BCAB2C09}"/>
              </a:ext>
            </a:extLst>
          </p:cNvPr>
          <p:cNvSpPr/>
          <p:nvPr/>
        </p:nvSpPr>
        <p:spPr>
          <a:xfrm>
            <a:off x="6190488" y="3895344"/>
            <a:ext cx="5586984" cy="1115568"/>
          </a:xfrm>
          <a:prstGeom prst="roundRect">
            <a:avLst>
              <a:gd name="adj" fmla="val 3279"/>
            </a:avLst>
          </a:prstGeom>
          <a:solidFill>
            <a:srgbClr val="FAFAFA"/>
          </a:solidFill>
          <a:ln w="9525">
            <a:solidFill>
              <a:srgbClr val="D9D9D9"/>
            </a:solidFill>
            <a:prstDash val="solid"/>
          </a:ln>
        </p:spPr>
        <p:txBody>
          <a:bodyPr/>
          <a:lstStyle/>
          <a:p>
            <a:endParaRPr lang="en-IN">
              <a:latin typeface="Verdana" panose="020B0604030504040204" pitchFamily="34" charset="0"/>
              <a:ea typeface="Verdana" panose="020B0604030504040204" pitchFamily="34" charset="0"/>
            </a:endParaRPr>
          </a:p>
        </p:txBody>
      </p:sp>
      <p:sp>
        <p:nvSpPr>
          <p:cNvPr id="75" name="Text 24">
            <a:extLst>
              <a:ext uri="{FF2B5EF4-FFF2-40B4-BE49-F238E27FC236}">
                <a16:creationId xmlns:a16="http://schemas.microsoft.com/office/drawing/2014/main" id="{29D12221-2702-D425-527F-B346CF5882A5}"/>
              </a:ext>
            </a:extLst>
          </p:cNvPr>
          <p:cNvSpPr/>
          <p:nvPr/>
        </p:nvSpPr>
        <p:spPr>
          <a:xfrm>
            <a:off x="6345936" y="3986784"/>
            <a:ext cx="5285232" cy="292608"/>
          </a:xfrm>
          <a:prstGeom prst="rect">
            <a:avLst/>
          </a:prstGeom>
          <a:noFill/>
          <a:ln/>
        </p:spPr>
        <p:txBody>
          <a:bodyPr wrap="square" lIns="0" tIns="0" rIns="0" bIns="0" rtlCol="0" anchor="ctr"/>
          <a:lstStyle/>
          <a:p>
            <a:pPr marL="0" indent="0">
              <a:buNone/>
            </a:pPr>
            <a:r>
              <a:rPr lang="en-US" sz="1150" b="1">
                <a:solidFill>
                  <a:srgbClr val="0E6E70"/>
                </a:solidFill>
                <a:latin typeface="Verdana" panose="020B0604030504040204" pitchFamily="34" charset="0"/>
                <a:ea typeface="Verdana" panose="020B0604030504040204" pitchFamily="34" charset="0"/>
                <a:cs typeface="Calibri" pitchFamily="34" charset="-120"/>
              </a:rPr>
              <a:t>NITI Aayog · Fiscal Health Index</a:t>
            </a:r>
            <a:endParaRPr lang="en-US" sz="1150">
              <a:latin typeface="Verdana" panose="020B0604030504040204" pitchFamily="34" charset="0"/>
              <a:ea typeface="Verdana" panose="020B0604030504040204" pitchFamily="34" charset="0"/>
            </a:endParaRPr>
          </a:p>
        </p:txBody>
      </p:sp>
      <p:sp>
        <p:nvSpPr>
          <p:cNvPr id="76" name="Text 25">
            <a:extLst>
              <a:ext uri="{FF2B5EF4-FFF2-40B4-BE49-F238E27FC236}">
                <a16:creationId xmlns:a16="http://schemas.microsoft.com/office/drawing/2014/main" id="{AFBF7BCD-BB94-6F32-6661-009DADD7A3C2}"/>
              </a:ext>
            </a:extLst>
          </p:cNvPr>
          <p:cNvSpPr/>
          <p:nvPr/>
        </p:nvSpPr>
        <p:spPr>
          <a:xfrm>
            <a:off x="6345936" y="4279392"/>
            <a:ext cx="5285232" cy="640080"/>
          </a:xfrm>
          <a:prstGeom prst="rect">
            <a:avLst/>
          </a:prstGeom>
          <a:noFill/>
          <a:ln/>
        </p:spPr>
        <p:txBody>
          <a:bodyPr wrap="square" lIns="0" tIns="0" rIns="0" bIns="0" rtlCol="0" anchor="t"/>
          <a:lstStyle/>
          <a:p>
            <a:pPr marL="0" indent="0">
              <a:lnSpc>
                <a:spcPts val="1300"/>
              </a:lnSpc>
              <a:buNone/>
            </a:pPr>
            <a:r>
              <a:rPr lang="en-US" sz="950">
                <a:solidFill>
                  <a:srgbClr val="333333"/>
                </a:solidFill>
                <a:latin typeface="Verdana" panose="020B0604030504040204" pitchFamily="34" charset="0"/>
                <a:ea typeface="Verdana" panose="020B0604030504040204" pitchFamily="34" charset="0"/>
                <a:cs typeface="Calibri" pitchFamily="34" charset="-120"/>
              </a:rPr>
              <a:t>Ranks States on quality of expenditure, revenue mobilisation, fiscal prudence, debt level and debt sustainability — providing a ready normalisation layer for cross-State comparison.</a:t>
            </a:r>
            <a:endParaRPr lang="en-US" sz="950">
              <a:latin typeface="Verdana" panose="020B0604030504040204" pitchFamily="34" charset="0"/>
              <a:ea typeface="Verdana" panose="020B0604030504040204" pitchFamily="34" charset="0"/>
            </a:endParaRPr>
          </a:p>
        </p:txBody>
      </p:sp>
      <p:sp>
        <p:nvSpPr>
          <p:cNvPr id="77" name="Shape 26">
            <a:extLst>
              <a:ext uri="{FF2B5EF4-FFF2-40B4-BE49-F238E27FC236}">
                <a16:creationId xmlns:a16="http://schemas.microsoft.com/office/drawing/2014/main" id="{93198DA5-113B-8D92-94C2-C8EB5483588D}"/>
              </a:ext>
            </a:extLst>
          </p:cNvPr>
          <p:cNvSpPr/>
          <p:nvPr/>
        </p:nvSpPr>
        <p:spPr>
          <a:xfrm>
            <a:off x="380920" y="5303520"/>
            <a:ext cx="11365992" cy="987552"/>
          </a:xfrm>
          <a:prstGeom prst="rect">
            <a:avLst/>
          </a:prstGeom>
          <a:solidFill>
            <a:schemeClr val="accent1">
              <a:lumMod val="20000"/>
              <a:lumOff val="80000"/>
            </a:schemeClr>
          </a:solidFill>
          <a:ln w="12700">
            <a:noFill/>
            <a:prstDash val="solid"/>
          </a:ln>
        </p:spPr>
        <p:txBody>
          <a:bodyPr/>
          <a:lstStyle/>
          <a:p>
            <a:endParaRPr lang="en-IN" sz="1000">
              <a:latin typeface="Verdana" panose="020B0604030504040204" pitchFamily="34" charset="0"/>
              <a:ea typeface="Verdana" panose="020B0604030504040204" pitchFamily="34" charset="0"/>
            </a:endParaRPr>
          </a:p>
        </p:txBody>
      </p:sp>
      <p:sp>
        <p:nvSpPr>
          <p:cNvPr id="78" name="Text 27">
            <a:extLst>
              <a:ext uri="{FF2B5EF4-FFF2-40B4-BE49-F238E27FC236}">
                <a16:creationId xmlns:a16="http://schemas.microsoft.com/office/drawing/2014/main" id="{B2823AA0-6466-3707-3060-EEFC8AFA14FF}"/>
              </a:ext>
            </a:extLst>
          </p:cNvPr>
          <p:cNvSpPr/>
          <p:nvPr/>
        </p:nvSpPr>
        <p:spPr>
          <a:xfrm>
            <a:off x="609520" y="5376672"/>
            <a:ext cx="3657600" cy="292608"/>
          </a:xfrm>
          <a:prstGeom prst="rect">
            <a:avLst/>
          </a:prstGeom>
          <a:solidFill>
            <a:schemeClr val="accent1">
              <a:lumMod val="20000"/>
              <a:lumOff val="80000"/>
            </a:schemeClr>
          </a:solidFill>
          <a:ln/>
        </p:spPr>
        <p:txBody>
          <a:bodyPr wrap="square" lIns="0" tIns="0" rIns="0" bIns="0" rtlCol="0" anchor="ctr"/>
          <a:lstStyle/>
          <a:p>
            <a:pPr marL="0" indent="0">
              <a:buNone/>
            </a:pPr>
            <a:r>
              <a:rPr lang="en-US" sz="1000" b="1">
                <a:latin typeface="Verdana" panose="020B0604030504040204" pitchFamily="34" charset="0"/>
                <a:ea typeface="Verdana" panose="020B0604030504040204" pitchFamily="34" charset="0"/>
                <a:cs typeface="Calibri" pitchFamily="34" charset="-120"/>
              </a:rPr>
              <a:t>How comparator countries will be selected</a:t>
            </a:r>
            <a:endParaRPr lang="en-US" sz="1000">
              <a:latin typeface="Verdana" panose="020B0604030504040204" pitchFamily="34" charset="0"/>
              <a:ea typeface="Verdana" panose="020B0604030504040204" pitchFamily="34" charset="0"/>
            </a:endParaRPr>
          </a:p>
        </p:txBody>
      </p:sp>
      <p:sp>
        <p:nvSpPr>
          <p:cNvPr id="79" name="Text 28">
            <a:extLst>
              <a:ext uri="{FF2B5EF4-FFF2-40B4-BE49-F238E27FC236}">
                <a16:creationId xmlns:a16="http://schemas.microsoft.com/office/drawing/2014/main" id="{0C1B9A8A-F1F4-63C0-5BAF-14A055FD5DB8}"/>
              </a:ext>
            </a:extLst>
          </p:cNvPr>
          <p:cNvSpPr/>
          <p:nvPr/>
        </p:nvSpPr>
        <p:spPr>
          <a:xfrm>
            <a:off x="4450000" y="5468112"/>
            <a:ext cx="2331720" cy="768096"/>
          </a:xfrm>
          <a:prstGeom prst="rect">
            <a:avLst/>
          </a:prstGeom>
          <a:solidFill>
            <a:schemeClr val="accent1">
              <a:lumMod val="20000"/>
              <a:lumOff val="80000"/>
            </a:schemeClr>
          </a:solidFill>
          <a:ln/>
        </p:spPr>
        <p:txBody>
          <a:bodyPr wrap="square" lIns="0" tIns="0" rIns="0" bIns="0" rtlCol="0" anchor="t"/>
          <a:lstStyle/>
          <a:p>
            <a:pPr marL="0" indent="0">
              <a:lnSpc>
                <a:spcPts val="1200"/>
              </a:lnSpc>
              <a:buNone/>
            </a:pPr>
            <a:r>
              <a:rPr lang="en-US" sz="1000" b="1">
                <a:latin typeface="Verdana" panose="020B0604030504040204" pitchFamily="34" charset="0"/>
                <a:ea typeface="Verdana" panose="020B0604030504040204" pitchFamily="34" charset="0"/>
                <a:cs typeface="Calibri" pitchFamily="34" charset="-120"/>
              </a:rPr>
              <a:t>Scale of welfare expenditure
</a:t>
            </a:r>
            <a:r>
              <a:rPr lang="en-US" sz="1000">
                <a:latin typeface="Verdana" panose="020B0604030504040204" pitchFamily="34" charset="0"/>
                <a:ea typeface="Verdana" panose="020B0604030504040204" pitchFamily="34" charset="0"/>
                <a:cs typeface="Calibri" pitchFamily="34" charset="-120"/>
              </a:rPr>
              <a:t>In absolute and per capita terms, benchmarked against population size</a:t>
            </a:r>
            <a:endParaRPr lang="en-US" sz="1000">
              <a:latin typeface="Verdana" panose="020B0604030504040204" pitchFamily="34" charset="0"/>
              <a:ea typeface="Verdana" panose="020B0604030504040204" pitchFamily="34" charset="0"/>
            </a:endParaRPr>
          </a:p>
        </p:txBody>
      </p:sp>
      <p:sp>
        <p:nvSpPr>
          <p:cNvPr id="80" name="Text 29">
            <a:extLst>
              <a:ext uri="{FF2B5EF4-FFF2-40B4-BE49-F238E27FC236}">
                <a16:creationId xmlns:a16="http://schemas.microsoft.com/office/drawing/2014/main" id="{A1058D3F-6673-2AFC-374D-54FCA7984D9D}"/>
              </a:ext>
            </a:extLst>
          </p:cNvPr>
          <p:cNvSpPr/>
          <p:nvPr/>
        </p:nvSpPr>
        <p:spPr>
          <a:xfrm>
            <a:off x="6900592" y="5468112"/>
            <a:ext cx="2331720" cy="768096"/>
          </a:xfrm>
          <a:prstGeom prst="rect">
            <a:avLst/>
          </a:prstGeom>
          <a:solidFill>
            <a:schemeClr val="accent1">
              <a:lumMod val="20000"/>
              <a:lumOff val="80000"/>
            </a:schemeClr>
          </a:solidFill>
          <a:ln/>
        </p:spPr>
        <p:txBody>
          <a:bodyPr wrap="square" lIns="0" tIns="0" rIns="0" bIns="0" rtlCol="0" anchor="t"/>
          <a:lstStyle/>
          <a:p>
            <a:pPr marL="0" indent="0">
              <a:lnSpc>
                <a:spcPts val="1200"/>
              </a:lnSpc>
              <a:buNone/>
            </a:pPr>
            <a:r>
              <a:rPr lang="en-US" sz="1000" b="1">
                <a:latin typeface="Verdana" panose="020B0604030504040204" pitchFamily="34" charset="0"/>
                <a:ea typeface="Verdana" panose="020B0604030504040204" pitchFamily="34" charset="0"/>
                <a:cs typeface="Calibri" pitchFamily="34" charset="-120"/>
              </a:rPr>
              <a:t>Nature of the instrument</a:t>
            </a:r>
            <a:r>
              <a:rPr lang="en-US" sz="1000" b="1">
                <a:solidFill>
                  <a:srgbClr val="86BC25"/>
                </a:solidFill>
                <a:latin typeface="Verdana" panose="020B0604030504040204" pitchFamily="34" charset="0"/>
                <a:ea typeface="Verdana" panose="020B0604030504040204" pitchFamily="34" charset="0"/>
                <a:cs typeface="Calibri" pitchFamily="34" charset="-120"/>
              </a:rPr>
              <a:t>
</a:t>
            </a:r>
            <a:r>
              <a:rPr lang="en-US" sz="1000">
                <a:solidFill>
                  <a:srgbClr val="D6E4E4"/>
                </a:solidFill>
                <a:latin typeface="Verdana" panose="020B0604030504040204" pitchFamily="34" charset="0"/>
                <a:ea typeface="Verdana" panose="020B0604030504040204" pitchFamily="34" charset="0"/>
                <a:cs typeface="Calibri" pitchFamily="34" charset="-120"/>
              </a:rPr>
              <a:t>Weighting countries with a history of budgetary subsidies and cash transfers</a:t>
            </a:r>
            <a:endParaRPr lang="en-US" sz="1000">
              <a:latin typeface="Verdana" panose="020B0604030504040204" pitchFamily="34" charset="0"/>
              <a:ea typeface="Verdana" panose="020B0604030504040204" pitchFamily="34" charset="0"/>
            </a:endParaRPr>
          </a:p>
        </p:txBody>
      </p:sp>
      <p:sp>
        <p:nvSpPr>
          <p:cNvPr id="81" name="Text 30">
            <a:extLst>
              <a:ext uri="{FF2B5EF4-FFF2-40B4-BE49-F238E27FC236}">
                <a16:creationId xmlns:a16="http://schemas.microsoft.com/office/drawing/2014/main" id="{C4EEF9E8-EF60-3AF1-81A4-104748E99EEF}"/>
              </a:ext>
            </a:extLst>
          </p:cNvPr>
          <p:cNvSpPr/>
          <p:nvPr/>
        </p:nvSpPr>
        <p:spPr>
          <a:xfrm>
            <a:off x="9351184" y="5468112"/>
            <a:ext cx="2331720" cy="768096"/>
          </a:xfrm>
          <a:prstGeom prst="rect">
            <a:avLst/>
          </a:prstGeom>
          <a:solidFill>
            <a:schemeClr val="accent1">
              <a:lumMod val="20000"/>
              <a:lumOff val="80000"/>
            </a:schemeClr>
          </a:solidFill>
          <a:ln/>
        </p:spPr>
        <p:txBody>
          <a:bodyPr wrap="square" lIns="0" tIns="0" rIns="0" bIns="0" rtlCol="0" anchor="t"/>
          <a:lstStyle/>
          <a:p>
            <a:pPr marL="0" indent="0">
              <a:lnSpc>
                <a:spcPts val="1200"/>
              </a:lnSpc>
              <a:buNone/>
            </a:pPr>
            <a:r>
              <a:rPr lang="en-US" sz="1000" b="1">
                <a:latin typeface="Verdana" panose="020B0604030504040204" pitchFamily="34" charset="0"/>
                <a:ea typeface="Verdana" panose="020B0604030504040204" pitchFamily="34" charset="0"/>
                <a:cs typeface="Calibri" pitchFamily="34" charset="-120"/>
              </a:rPr>
              <a:t>Demonstrated impact</a:t>
            </a:r>
            <a:r>
              <a:rPr lang="en-US" sz="1000" b="1">
                <a:solidFill>
                  <a:srgbClr val="86BC25"/>
                </a:solidFill>
                <a:latin typeface="Verdana" panose="020B0604030504040204" pitchFamily="34" charset="0"/>
                <a:ea typeface="Verdana" panose="020B0604030504040204" pitchFamily="34" charset="0"/>
                <a:cs typeface="Calibri" pitchFamily="34" charset="-120"/>
              </a:rPr>
              <a:t>
</a:t>
            </a:r>
            <a:r>
              <a:rPr lang="en-US" sz="1000">
                <a:solidFill>
                  <a:srgbClr val="D6E4E4"/>
                </a:solidFill>
                <a:latin typeface="Verdana" panose="020B0604030504040204" pitchFamily="34" charset="0"/>
                <a:ea typeface="Verdana" panose="020B0604030504040204" pitchFamily="34" charset="0"/>
                <a:cs typeface="Calibri" pitchFamily="34" charset="-120"/>
              </a:rPr>
              <a:t>Effect of that expenditure on economic development outcomes</a:t>
            </a:r>
            <a:endParaRPr lang="en-US" sz="1000">
              <a:latin typeface="Verdana" panose="020B0604030504040204" pitchFamily="34" charset="0"/>
              <a:ea typeface="Verdana" panose="020B0604030504040204" pitchFamily="34" charset="0"/>
            </a:endParaRPr>
          </a:p>
        </p:txBody>
      </p:sp>
      <p:sp>
        <p:nvSpPr>
          <p:cNvPr id="82" name="Text 31">
            <a:extLst>
              <a:ext uri="{FF2B5EF4-FFF2-40B4-BE49-F238E27FC236}">
                <a16:creationId xmlns:a16="http://schemas.microsoft.com/office/drawing/2014/main" id="{9FCA0C94-84C8-D99C-B155-156E242261C8}"/>
              </a:ext>
            </a:extLst>
          </p:cNvPr>
          <p:cNvSpPr/>
          <p:nvPr/>
        </p:nvSpPr>
        <p:spPr>
          <a:xfrm>
            <a:off x="609520" y="5742432"/>
            <a:ext cx="3657600" cy="475488"/>
          </a:xfrm>
          <a:prstGeom prst="rect">
            <a:avLst/>
          </a:prstGeom>
          <a:solidFill>
            <a:schemeClr val="accent1">
              <a:lumMod val="20000"/>
              <a:lumOff val="80000"/>
            </a:schemeClr>
          </a:solidFill>
          <a:ln/>
        </p:spPr>
        <p:txBody>
          <a:bodyPr wrap="square" lIns="0" tIns="0" rIns="0" bIns="0" rtlCol="0" anchor="t"/>
          <a:lstStyle/>
          <a:p>
            <a:pPr marL="0" indent="0">
              <a:buNone/>
            </a:pPr>
            <a:r>
              <a:rPr lang="en-US" sz="1000">
                <a:latin typeface="Verdana" panose="020B0604030504040204" pitchFamily="34" charset="0"/>
                <a:ea typeface="Verdana" panose="020B0604030504040204" pitchFamily="34" charset="0"/>
                <a:cs typeface="Calibri" pitchFamily="34" charset="-120"/>
              </a:rPr>
              <a:t>Domestic benchmarking cases will be drawn from States identified in the literature review as exhibiting the relevant patterns.</a:t>
            </a:r>
            <a:endParaRPr lang="en-US" sz="100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2002075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B4759-ABA5-4E24-B557-54C1A29C490C}"/>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950CF27F-4846-B884-D519-68229C74AA41}"/>
              </a:ext>
            </a:extLst>
          </p:cNvPr>
          <p:cNvGrpSpPr/>
          <p:nvPr/>
        </p:nvGrpSpPr>
        <p:grpSpPr>
          <a:xfrm>
            <a:off x="187774" y="121358"/>
            <a:ext cx="11956772" cy="6473359"/>
            <a:chOff x="187774" y="121358"/>
            <a:chExt cx="11956772" cy="6473359"/>
          </a:xfrm>
        </p:grpSpPr>
        <p:sp>
          <p:nvSpPr>
            <p:cNvPr id="5" name="Rectangle 4">
              <a:extLst>
                <a:ext uri="{FF2B5EF4-FFF2-40B4-BE49-F238E27FC236}">
                  <a16:creationId xmlns:a16="http://schemas.microsoft.com/office/drawing/2014/main" id="{8B0F299E-40B7-6BC0-2B3F-AD64B089A04B}"/>
                </a:ext>
              </a:extLst>
            </p:cNvPr>
            <p:cNvSpPr/>
            <p:nvPr/>
          </p:nvSpPr>
          <p:spPr bwMode="gray">
            <a:xfrm>
              <a:off x="333466" y="121358"/>
              <a:ext cx="11811080" cy="370522"/>
            </a:xfrm>
            <a:prstGeom prst="rect">
              <a:avLst/>
            </a:prstGeom>
            <a:noFill/>
            <a:ln w="19050" algn="ctr">
              <a:noFill/>
              <a:miter lim="800000"/>
              <a:headEnd/>
              <a:tailEnd/>
            </a:ln>
          </p:spPr>
          <p:txBody>
            <a:bodyPr wrap="square" lIns="88900" tIns="88900" rIns="88900" bIns="88900" rtlCol="0" anchor="ctr"/>
            <a:lstStyle/>
            <a:p>
              <a:r>
                <a:rPr lang="en-US" sz="1800" b="1">
                  <a:latin typeface="+mj-lt"/>
                </a:rPr>
                <a:t>Work Plan</a:t>
              </a:r>
            </a:p>
          </p:txBody>
        </p:sp>
        <p:cxnSp>
          <p:nvCxnSpPr>
            <p:cNvPr id="6" name="Straight Arrow Connector 5">
              <a:extLst>
                <a:ext uri="{FF2B5EF4-FFF2-40B4-BE49-F238E27FC236}">
                  <a16:creationId xmlns:a16="http://schemas.microsoft.com/office/drawing/2014/main" id="{46C7DDDD-4CDF-1827-73A5-3C193CF6F6CA}"/>
                </a:ext>
              </a:extLst>
            </p:cNvPr>
            <p:cNvCxnSpPr/>
            <p:nvPr/>
          </p:nvCxnSpPr>
          <p:spPr>
            <a:xfrm flipV="1">
              <a:off x="333467" y="570159"/>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126CFB6C-473B-D022-F958-447C23B64C4B}"/>
                </a:ext>
              </a:extLst>
            </p:cNvPr>
            <p:cNvGrpSpPr/>
            <p:nvPr/>
          </p:nvGrpSpPr>
          <p:grpSpPr>
            <a:xfrm>
              <a:off x="187774" y="653805"/>
              <a:ext cx="11956772" cy="5940912"/>
              <a:chOff x="187774" y="653805"/>
              <a:chExt cx="11956772" cy="5940912"/>
            </a:xfrm>
          </p:grpSpPr>
          <p:grpSp>
            <p:nvGrpSpPr>
              <p:cNvPr id="708" name="Group 707">
                <a:extLst>
                  <a:ext uri="{FF2B5EF4-FFF2-40B4-BE49-F238E27FC236}">
                    <a16:creationId xmlns:a16="http://schemas.microsoft.com/office/drawing/2014/main" id="{7B6C9F0C-0F13-2309-D009-87726505F9AF}"/>
                  </a:ext>
                </a:extLst>
              </p:cNvPr>
              <p:cNvGrpSpPr/>
              <p:nvPr/>
            </p:nvGrpSpPr>
            <p:grpSpPr>
              <a:xfrm>
                <a:off x="8326152" y="2986204"/>
                <a:ext cx="3482042" cy="128467"/>
                <a:chOff x="1703441" y="1742762"/>
                <a:chExt cx="3482042" cy="128467"/>
              </a:xfrm>
            </p:grpSpPr>
            <p:cxnSp>
              <p:nvCxnSpPr>
                <p:cNvPr id="709" name="Straight Connector 708">
                  <a:extLst>
                    <a:ext uri="{FF2B5EF4-FFF2-40B4-BE49-F238E27FC236}">
                      <a16:creationId xmlns:a16="http://schemas.microsoft.com/office/drawing/2014/main" id="{5064567E-5EE7-339E-5A8E-FA61A25CF1E4}"/>
                    </a:ext>
                  </a:extLst>
                </p:cNvPr>
                <p:cNvCxnSpPr>
                  <a:cxnSpLocks/>
                </p:cNvCxnSpPr>
                <p:nvPr/>
              </p:nvCxnSpPr>
              <p:spPr>
                <a:xfrm flipV="1">
                  <a:off x="1780710" y="1796767"/>
                  <a:ext cx="3296937" cy="25374"/>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710" name="Flowchart: Connector 709">
                  <a:extLst>
                    <a:ext uri="{FF2B5EF4-FFF2-40B4-BE49-F238E27FC236}">
                      <a16:creationId xmlns:a16="http://schemas.microsoft.com/office/drawing/2014/main" id="{3A782804-31CE-443D-43DC-B59490A9C6C2}"/>
                    </a:ext>
                  </a:extLst>
                </p:cNvPr>
                <p:cNvSpPr/>
                <p:nvPr/>
              </p:nvSpPr>
              <p:spPr bwMode="gray">
                <a:xfrm>
                  <a:off x="1703441" y="1768778"/>
                  <a:ext cx="95786" cy="102451"/>
                </a:xfrm>
                <a:prstGeom prst="flowChartConnector">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711" name="Flowchart: Connector 710">
                  <a:extLst>
                    <a:ext uri="{FF2B5EF4-FFF2-40B4-BE49-F238E27FC236}">
                      <a16:creationId xmlns:a16="http://schemas.microsoft.com/office/drawing/2014/main" id="{BF2E81D8-40F0-3C30-0F9A-843009D3BF0E}"/>
                    </a:ext>
                  </a:extLst>
                </p:cNvPr>
                <p:cNvSpPr/>
                <p:nvPr/>
              </p:nvSpPr>
              <p:spPr bwMode="gray">
                <a:xfrm>
                  <a:off x="5089697" y="1742762"/>
                  <a:ext cx="95786" cy="102451"/>
                </a:xfrm>
                <a:prstGeom prst="flowChartConnector">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sp>
            <p:nvSpPr>
              <p:cNvPr id="29" name="Shape 37">
                <a:extLst>
                  <a:ext uri="{FF2B5EF4-FFF2-40B4-BE49-F238E27FC236}">
                    <a16:creationId xmlns:a16="http://schemas.microsoft.com/office/drawing/2014/main" id="{F43537C9-ACE2-863F-91F5-913F6D52419C}"/>
                  </a:ext>
                </a:extLst>
              </p:cNvPr>
              <p:cNvSpPr/>
              <p:nvPr/>
            </p:nvSpPr>
            <p:spPr>
              <a:xfrm flipV="1">
                <a:off x="2257808" y="1494717"/>
                <a:ext cx="9388751" cy="58172"/>
              </a:xfrm>
              <a:prstGeom prst="line">
                <a:avLst/>
              </a:prstGeom>
              <a:noFill/>
              <a:ln w="15875">
                <a:solidFill>
                  <a:srgbClr val="262626"/>
                </a:solidFill>
                <a:prstDash val="solid"/>
              </a:ln>
            </p:spPr>
            <p:txBody>
              <a:bodyPr/>
              <a:lstStyle/>
              <a:p>
                <a:endParaRPr lang="en-IN" dirty="0"/>
              </a:p>
            </p:txBody>
          </p:sp>
          <p:cxnSp>
            <p:nvCxnSpPr>
              <p:cNvPr id="3" name="Straight Connector 2">
                <a:extLst>
                  <a:ext uri="{FF2B5EF4-FFF2-40B4-BE49-F238E27FC236}">
                    <a16:creationId xmlns:a16="http://schemas.microsoft.com/office/drawing/2014/main" id="{946DBB9B-3289-AEC7-6D94-C02529E5A4F5}"/>
                  </a:ext>
                </a:extLst>
              </p:cNvPr>
              <p:cNvCxnSpPr>
                <a:cxnSpLocks/>
              </p:cNvCxnSpPr>
              <p:nvPr/>
            </p:nvCxnSpPr>
            <p:spPr>
              <a:xfrm>
                <a:off x="215376" y="999120"/>
                <a:ext cx="11578103"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7" name="Shape 66">
                <a:extLst>
                  <a:ext uri="{FF2B5EF4-FFF2-40B4-BE49-F238E27FC236}">
                    <a16:creationId xmlns:a16="http://schemas.microsoft.com/office/drawing/2014/main" id="{E77145D8-7E58-BECE-804A-BF8564C46DBB}"/>
                  </a:ext>
                </a:extLst>
              </p:cNvPr>
              <p:cNvSpPr/>
              <p:nvPr/>
            </p:nvSpPr>
            <p:spPr>
              <a:xfrm>
                <a:off x="215376" y="653805"/>
                <a:ext cx="872050" cy="178024"/>
              </a:xfrm>
              <a:prstGeom prst="rect">
                <a:avLst/>
              </a:prstGeom>
              <a:noFill/>
              <a:ln w="6350">
                <a:noFill/>
                <a:prstDash val="solid"/>
              </a:ln>
            </p:spPr>
            <p:txBody>
              <a:bodyPr/>
              <a:lstStyle/>
              <a:p>
                <a:r>
                  <a:rPr lang="en-US" sz="1050" b="1" dirty="0"/>
                  <a:t>Timeline</a:t>
                </a:r>
                <a:endParaRPr lang="en-IN" sz="900" b="1" dirty="0"/>
              </a:p>
            </p:txBody>
          </p:sp>
          <p:cxnSp>
            <p:nvCxnSpPr>
              <p:cNvPr id="9" name="Straight Arrow Connector 8">
                <a:extLst>
                  <a:ext uri="{FF2B5EF4-FFF2-40B4-BE49-F238E27FC236}">
                    <a16:creationId xmlns:a16="http://schemas.microsoft.com/office/drawing/2014/main" id="{A04CB718-50C5-0B23-AF4E-3C8DDA01B925}"/>
                  </a:ext>
                </a:extLst>
              </p:cNvPr>
              <p:cNvCxnSpPr>
                <a:cxnSpLocks/>
              </p:cNvCxnSpPr>
              <p:nvPr/>
            </p:nvCxnSpPr>
            <p:spPr>
              <a:xfrm>
                <a:off x="1065124" y="787421"/>
                <a:ext cx="1149429" cy="10976"/>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1" name="Shape 66">
                <a:extLst>
                  <a:ext uri="{FF2B5EF4-FFF2-40B4-BE49-F238E27FC236}">
                    <a16:creationId xmlns:a16="http://schemas.microsoft.com/office/drawing/2014/main" id="{6743BA8A-DF28-D0D2-7723-876C7589FC74}"/>
                  </a:ext>
                </a:extLst>
              </p:cNvPr>
              <p:cNvSpPr/>
              <p:nvPr/>
            </p:nvSpPr>
            <p:spPr>
              <a:xfrm>
                <a:off x="2257808" y="667341"/>
                <a:ext cx="872050" cy="178024"/>
              </a:xfrm>
              <a:prstGeom prst="rect">
                <a:avLst/>
              </a:prstGeom>
              <a:noFill/>
              <a:ln w="6350">
                <a:noFill/>
                <a:prstDash val="solid"/>
              </a:ln>
            </p:spPr>
            <p:txBody>
              <a:bodyPr/>
              <a:lstStyle/>
              <a:p>
                <a:r>
                  <a:rPr lang="en-US" sz="1050" b="1" dirty="0"/>
                  <a:t>T</a:t>
                </a:r>
                <a:endParaRPr lang="en-IN" sz="900" b="1" dirty="0"/>
              </a:p>
            </p:txBody>
          </p:sp>
          <p:sp>
            <p:nvSpPr>
              <p:cNvPr id="12" name="Shape 66">
                <a:extLst>
                  <a:ext uri="{FF2B5EF4-FFF2-40B4-BE49-F238E27FC236}">
                    <a16:creationId xmlns:a16="http://schemas.microsoft.com/office/drawing/2014/main" id="{3B857542-B75D-1527-CA51-291CC359808A}"/>
                  </a:ext>
                </a:extLst>
              </p:cNvPr>
              <p:cNvSpPr/>
              <p:nvPr/>
            </p:nvSpPr>
            <p:spPr>
              <a:xfrm>
                <a:off x="4744270" y="709469"/>
                <a:ext cx="872050" cy="178024"/>
              </a:xfrm>
              <a:prstGeom prst="rect">
                <a:avLst/>
              </a:prstGeom>
              <a:noFill/>
              <a:ln w="6350">
                <a:noFill/>
                <a:prstDash val="solid"/>
              </a:ln>
            </p:spPr>
            <p:txBody>
              <a:bodyPr/>
              <a:lstStyle/>
              <a:p>
                <a:r>
                  <a:rPr lang="en-US" sz="1050" b="1" dirty="0"/>
                  <a:t>M1</a:t>
                </a:r>
                <a:endParaRPr lang="en-IN" sz="900" b="1" dirty="0"/>
              </a:p>
            </p:txBody>
          </p:sp>
          <p:sp>
            <p:nvSpPr>
              <p:cNvPr id="13" name="Shape 66">
                <a:extLst>
                  <a:ext uri="{FF2B5EF4-FFF2-40B4-BE49-F238E27FC236}">
                    <a16:creationId xmlns:a16="http://schemas.microsoft.com/office/drawing/2014/main" id="{9FE64DE2-D602-4072-D4B5-1A7E21E0A608}"/>
                  </a:ext>
                </a:extLst>
              </p:cNvPr>
              <p:cNvSpPr/>
              <p:nvPr/>
            </p:nvSpPr>
            <p:spPr>
              <a:xfrm>
                <a:off x="7057787" y="714973"/>
                <a:ext cx="872050" cy="178024"/>
              </a:xfrm>
              <a:prstGeom prst="rect">
                <a:avLst/>
              </a:prstGeom>
              <a:noFill/>
              <a:ln w="6350">
                <a:noFill/>
                <a:prstDash val="solid"/>
              </a:ln>
            </p:spPr>
            <p:txBody>
              <a:bodyPr/>
              <a:lstStyle/>
              <a:p>
                <a:r>
                  <a:rPr lang="en-US" sz="1050" b="1" dirty="0"/>
                  <a:t>M2</a:t>
                </a:r>
                <a:endParaRPr lang="en-IN" sz="900" b="1" dirty="0"/>
              </a:p>
            </p:txBody>
          </p:sp>
          <p:sp>
            <p:nvSpPr>
              <p:cNvPr id="14" name="Shape 66">
                <a:extLst>
                  <a:ext uri="{FF2B5EF4-FFF2-40B4-BE49-F238E27FC236}">
                    <a16:creationId xmlns:a16="http://schemas.microsoft.com/office/drawing/2014/main" id="{0E833768-AC24-B531-7D43-152B47A85AAA}"/>
                  </a:ext>
                </a:extLst>
              </p:cNvPr>
              <p:cNvSpPr/>
              <p:nvPr/>
            </p:nvSpPr>
            <p:spPr>
              <a:xfrm>
                <a:off x="9371304" y="711933"/>
                <a:ext cx="872050" cy="178024"/>
              </a:xfrm>
              <a:prstGeom prst="rect">
                <a:avLst/>
              </a:prstGeom>
              <a:noFill/>
              <a:ln w="6350">
                <a:noFill/>
                <a:prstDash val="solid"/>
              </a:ln>
            </p:spPr>
            <p:txBody>
              <a:bodyPr/>
              <a:lstStyle/>
              <a:p>
                <a:r>
                  <a:rPr lang="en-US" sz="1050" b="1" dirty="0"/>
                  <a:t>M3</a:t>
                </a:r>
                <a:endParaRPr lang="en-IN" sz="900" b="1" dirty="0"/>
              </a:p>
            </p:txBody>
          </p:sp>
          <p:sp>
            <p:nvSpPr>
              <p:cNvPr id="15" name="Shape 66">
                <a:extLst>
                  <a:ext uri="{FF2B5EF4-FFF2-40B4-BE49-F238E27FC236}">
                    <a16:creationId xmlns:a16="http://schemas.microsoft.com/office/drawing/2014/main" id="{6184D51C-7632-1A13-D5F2-3F7568DB6530}"/>
                  </a:ext>
                </a:extLst>
              </p:cNvPr>
              <p:cNvSpPr/>
              <p:nvPr/>
            </p:nvSpPr>
            <p:spPr>
              <a:xfrm>
                <a:off x="11124404" y="673194"/>
                <a:ext cx="872050" cy="178024"/>
              </a:xfrm>
              <a:prstGeom prst="rect">
                <a:avLst/>
              </a:prstGeom>
              <a:noFill/>
              <a:ln w="6350">
                <a:noFill/>
                <a:prstDash val="solid"/>
              </a:ln>
            </p:spPr>
            <p:txBody>
              <a:bodyPr/>
              <a:lstStyle/>
              <a:p>
                <a:r>
                  <a:rPr lang="en-US" sz="1050" b="1" dirty="0"/>
                  <a:t>M4</a:t>
                </a:r>
                <a:endParaRPr lang="en-IN" sz="900" b="1" dirty="0"/>
              </a:p>
            </p:txBody>
          </p:sp>
          <p:sp>
            <p:nvSpPr>
              <p:cNvPr id="17" name="Shape 66">
                <a:extLst>
                  <a:ext uri="{FF2B5EF4-FFF2-40B4-BE49-F238E27FC236}">
                    <a16:creationId xmlns:a16="http://schemas.microsoft.com/office/drawing/2014/main" id="{F6588007-9184-60A4-C01F-DD82E951C21A}"/>
                  </a:ext>
                </a:extLst>
              </p:cNvPr>
              <p:cNvSpPr/>
              <p:nvPr/>
            </p:nvSpPr>
            <p:spPr>
              <a:xfrm>
                <a:off x="297156" y="1230586"/>
                <a:ext cx="1172445" cy="186985"/>
              </a:xfrm>
              <a:prstGeom prst="rect">
                <a:avLst/>
              </a:prstGeom>
              <a:noFill/>
              <a:ln w="6350">
                <a:noFill/>
                <a:prstDash val="solid"/>
              </a:ln>
            </p:spPr>
            <p:txBody>
              <a:bodyPr/>
              <a:lstStyle/>
              <a:p>
                <a:r>
                  <a:rPr lang="en-US" sz="1050" b="1" dirty="0"/>
                  <a:t>Cadence</a:t>
                </a:r>
                <a:endParaRPr lang="en-IN" sz="900" b="1" dirty="0"/>
              </a:p>
            </p:txBody>
          </p:sp>
          <p:sp>
            <p:nvSpPr>
              <p:cNvPr id="18" name="Shape 37">
                <a:extLst>
                  <a:ext uri="{FF2B5EF4-FFF2-40B4-BE49-F238E27FC236}">
                    <a16:creationId xmlns:a16="http://schemas.microsoft.com/office/drawing/2014/main" id="{4E7C2417-1580-A16D-9590-A37E3FBCE7C3}"/>
                  </a:ext>
                </a:extLst>
              </p:cNvPr>
              <p:cNvSpPr/>
              <p:nvPr/>
            </p:nvSpPr>
            <p:spPr>
              <a:xfrm flipV="1">
                <a:off x="2171789" y="1253370"/>
                <a:ext cx="9563981" cy="7414"/>
              </a:xfrm>
              <a:prstGeom prst="line">
                <a:avLst/>
              </a:prstGeom>
              <a:noFill/>
              <a:ln w="15875">
                <a:solidFill>
                  <a:srgbClr val="262626"/>
                </a:solidFill>
                <a:prstDash val="solid"/>
              </a:ln>
            </p:spPr>
            <p:txBody>
              <a:bodyPr/>
              <a:lstStyle/>
              <a:p>
                <a:endParaRPr lang="en-IN" dirty="0"/>
              </a:p>
            </p:txBody>
          </p:sp>
          <p:sp>
            <p:nvSpPr>
              <p:cNvPr id="21" name="Flowchart: Connector 20">
                <a:extLst>
                  <a:ext uri="{FF2B5EF4-FFF2-40B4-BE49-F238E27FC236}">
                    <a16:creationId xmlns:a16="http://schemas.microsoft.com/office/drawing/2014/main" id="{0FD81E1E-5E47-589F-22C6-4E4CB8A45920}"/>
                  </a:ext>
                </a:extLst>
              </p:cNvPr>
              <p:cNvSpPr/>
              <p:nvPr/>
            </p:nvSpPr>
            <p:spPr bwMode="gray">
              <a:xfrm>
                <a:off x="2153206" y="1203783"/>
                <a:ext cx="95786" cy="102451"/>
              </a:xfrm>
              <a:prstGeom prst="flowChartConnector">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38" name="Shape 66">
                <a:extLst>
                  <a:ext uri="{FF2B5EF4-FFF2-40B4-BE49-F238E27FC236}">
                    <a16:creationId xmlns:a16="http://schemas.microsoft.com/office/drawing/2014/main" id="{16859331-E15A-7F9C-6639-C1187D7A0EBC}"/>
                  </a:ext>
                </a:extLst>
              </p:cNvPr>
              <p:cNvSpPr/>
              <p:nvPr/>
            </p:nvSpPr>
            <p:spPr>
              <a:xfrm>
                <a:off x="4074740" y="1151313"/>
                <a:ext cx="1797747" cy="125275"/>
              </a:xfrm>
              <a:prstGeom prst="rect">
                <a:avLst/>
              </a:prstGeom>
              <a:solidFill>
                <a:srgbClr val="FFFFFF"/>
              </a:solidFill>
              <a:ln w="6350">
                <a:noFill/>
                <a:prstDash val="solid"/>
              </a:ln>
            </p:spPr>
            <p:txBody>
              <a:bodyPr/>
              <a:lstStyle/>
              <a:p>
                <a:pPr algn="ctr"/>
                <a:r>
                  <a:rPr lang="en-US" sz="800" b="1" dirty="0"/>
                  <a:t>Schedule Output/Deliverables</a:t>
                </a:r>
                <a:endParaRPr lang="en-IN" sz="600" b="1" dirty="0"/>
              </a:p>
            </p:txBody>
          </p:sp>
          <p:sp>
            <p:nvSpPr>
              <p:cNvPr id="40" name="Shape 47">
                <a:extLst>
                  <a:ext uri="{FF2B5EF4-FFF2-40B4-BE49-F238E27FC236}">
                    <a16:creationId xmlns:a16="http://schemas.microsoft.com/office/drawing/2014/main" id="{5BA3D328-D4A9-D1DA-9CA4-45B52CB8CDFC}"/>
                  </a:ext>
                </a:extLst>
              </p:cNvPr>
              <p:cNvSpPr/>
              <p:nvPr/>
            </p:nvSpPr>
            <p:spPr>
              <a:xfrm>
                <a:off x="3529139" y="1140799"/>
                <a:ext cx="201168" cy="164592"/>
              </a:xfrm>
              <a:prstGeom prst="triangle">
                <a:avLst/>
              </a:prstGeom>
              <a:solidFill>
                <a:srgbClr val="548235"/>
              </a:solidFill>
              <a:ln/>
            </p:spPr>
            <p:txBody>
              <a:bodyPr/>
              <a:lstStyle/>
              <a:p>
                <a:endParaRPr lang="en-IN"/>
              </a:p>
            </p:txBody>
          </p:sp>
          <p:sp>
            <p:nvSpPr>
              <p:cNvPr id="41" name="Shape 47">
                <a:extLst>
                  <a:ext uri="{FF2B5EF4-FFF2-40B4-BE49-F238E27FC236}">
                    <a16:creationId xmlns:a16="http://schemas.microsoft.com/office/drawing/2014/main" id="{26E74FC4-B2CC-0920-BB9E-2AC04BBDBC7F}"/>
                  </a:ext>
                </a:extLst>
              </p:cNvPr>
              <p:cNvSpPr/>
              <p:nvPr/>
            </p:nvSpPr>
            <p:spPr>
              <a:xfrm>
                <a:off x="6222816" y="1169144"/>
                <a:ext cx="201168" cy="164592"/>
              </a:xfrm>
              <a:prstGeom prst="triangle">
                <a:avLst/>
              </a:prstGeom>
              <a:solidFill>
                <a:srgbClr val="548235"/>
              </a:solidFill>
              <a:ln/>
            </p:spPr>
            <p:txBody>
              <a:bodyPr/>
              <a:lstStyle/>
              <a:p>
                <a:endParaRPr lang="en-IN"/>
              </a:p>
            </p:txBody>
          </p:sp>
          <p:sp>
            <p:nvSpPr>
              <p:cNvPr id="42" name="Shape 47">
                <a:extLst>
                  <a:ext uri="{FF2B5EF4-FFF2-40B4-BE49-F238E27FC236}">
                    <a16:creationId xmlns:a16="http://schemas.microsoft.com/office/drawing/2014/main" id="{12DD3934-EC28-8534-3049-3EE457658182}"/>
                  </a:ext>
                </a:extLst>
              </p:cNvPr>
              <p:cNvSpPr/>
              <p:nvPr/>
            </p:nvSpPr>
            <p:spPr>
              <a:xfrm>
                <a:off x="8651234" y="1159486"/>
                <a:ext cx="201168" cy="164592"/>
              </a:xfrm>
              <a:prstGeom prst="triangle">
                <a:avLst/>
              </a:prstGeom>
              <a:solidFill>
                <a:srgbClr val="548235"/>
              </a:solidFill>
              <a:ln/>
            </p:spPr>
            <p:txBody>
              <a:bodyPr/>
              <a:lstStyle/>
              <a:p>
                <a:endParaRPr lang="en-IN"/>
              </a:p>
            </p:txBody>
          </p:sp>
          <p:sp>
            <p:nvSpPr>
              <p:cNvPr id="43" name="Shape 47">
                <a:extLst>
                  <a:ext uri="{FF2B5EF4-FFF2-40B4-BE49-F238E27FC236}">
                    <a16:creationId xmlns:a16="http://schemas.microsoft.com/office/drawing/2014/main" id="{7B37A403-442F-E831-B083-A56868C9E8D0}"/>
                  </a:ext>
                </a:extLst>
              </p:cNvPr>
              <p:cNvSpPr/>
              <p:nvPr/>
            </p:nvSpPr>
            <p:spPr>
              <a:xfrm>
                <a:off x="11059530" y="1169144"/>
                <a:ext cx="201168" cy="164592"/>
              </a:xfrm>
              <a:prstGeom prst="triangle">
                <a:avLst/>
              </a:prstGeom>
              <a:solidFill>
                <a:srgbClr val="548235"/>
              </a:solidFill>
              <a:ln/>
            </p:spPr>
            <p:txBody>
              <a:bodyPr/>
              <a:lstStyle/>
              <a:p>
                <a:endParaRPr lang="en-IN"/>
              </a:p>
            </p:txBody>
          </p:sp>
          <p:sp>
            <p:nvSpPr>
              <p:cNvPr id="48" name="Shape 41">
                <a:extLst>
                  <a:ext uri="{FF2B5EF4-FFF2-40B4-BE49-F238E27FC236}">
                    <a16:creationId xmlns:a16="http://schemas.microsoft.com/office/drawing/2014/main" id="{E6CCD813-C70D-8D5F-1098-C7DF6DCAFC74}"/>
                  </a:ext>
                </a:extLst>
              </p:cNvPr>
              <p:cNvSpPr/>
              <p:nvPr/>
            </p:nvSpPr>
            <p:spPr>
              <a:xfrm>
                <a:off x="2803799" y="1466408"/>
                <a:ext cx="164592" cy="164592"/>
              </a:xfrm>
              <a:prstGeom prst="diamond">
                <a:avLst/>
              </a:prstGeom>
              <a:solidFill>
                <a:srgbClr val="00B0F0"/>
              </a:solidFill>
              <a:ln/>
            </p:spPr>
            <p:txBody>
              <a:bodyPr/>
              <a:lstStyle/>
              <a:p>
                <a:endParaRPr lang="en-IN"/>
              </a:p>
            </p:txBody>
          </p:sp>
          <p:sp>
            <p:nvSpPr>
              <p:cNvPr id="49" name="Shape 41">
                <a:extLst>
                  <a:ext uri="{FF2B5EF4-FFF2-40B4-BE49-F238E27FC236}">
                    <a16:creationId xmlns:a16="http://schemas.microsoft.com/office/drawing/2014/main" id="{16726FAB-11B0-694C-0E8D-85C4278187B6}"/>
                  </a:ext>
                </a:extLst>
              </p:cNvPr>
              <p:cNvSpPr/>
              <p:nvPr/>
            </p:nvSpPr>
            <p:spPr>
              <a:xfrm>
                <a:off x="4903135" y="1447243"/>
                <a:ext cx="164592" cy="164592"/>
              </a:xfrm>
              <a:prstGeom prst="diamond">
                <a:avLst/>
              </a:prstGeom>
              <a:solidFill>
                <a:srgbClr val="00B0F0"/>
              </a:solidFill>
              <a:ln/>
            </p:spPr>
            <p:txBody>
              <a:bodyPr/>
              <a:lstStyle/>
              <a:p>
                <a:endParaRPr lang="en-IN"/>
              </a:p>
            </p:txBody>
          </p:sp>
          <p:sp>
            <p:nvSpPr>
              <p:cNvPr id="50" name="Shape 41">
                <a:extLst>
                  <a:ext uri="{FF2B5EF4-FFF2-40B4-BE49-F238E27FC236}">
                    <a16:creationId xmlns:a16="http://schemas.microsoft.com/office/drawing/2014/main" id="{97638A83-F4F8-6D2B-3962-ACD645683782}"/>
                  </a:ext>
                </a:extLst>
              </p:cNvPr>
              <p:cNvSpPr/>
              <p:nvPr/>
            </p:nvSpPr>
            <p:spPr>
              <a:xfrm>
                <a:off x="7343920" y="1444106"/>
                <a:ext cx="164592" cy="164592"/>
              </a:xfrm>
              <a:prstGeom prst="diamond">
                <a:avLst/>
              </a:prstGeom>
              <a:solidFill>
                <a:srgbClr val="00B0F0"/>
              </a:solidFill>
              <a:ln/>
            </p:spPr>
            <p:txBody>
              <a:bodyPr/>
              <a:lstStyle/>
              <a:p>
                <a:endParaRPr lang="en-IN"/>
              </a:p>
            </p:txBody>
          </p:sp>
          <p:sp>
            <p:nvSpPr>
              <p:cNvPr id="56" name="Shape 41">
                <a:extLst>
                  <a:ext uri="{FF2B5EF4-FFF2-40B4-BE49-F238E27FC236}">
                    <a16:creationId xmlns:a16="http://schemas.microsoft.com/office/drawing/2014/main" id="{942FCB7F-04AB-CE34-4290-AFE1DEA6A219}"/>
                  </a:ext>
                </a:extLst>
              </p:cNvPr>
              <p:cNvSpPr/>
              <p:nvPr/>
            </p:nvSpPr>
            <p:spPr>
              <a:xfrm>
                <a:off x="10072251" y="1444106"/>
                <a:ext cx="164592" cy="164592"/>
              </a:xfrm>
              <a:prstGeom prst="diamond">
                <a:avLst/>
              </a:prstGeom>
              <a:solidFill>
                <a:srgbClr val="00B0F0"/>
              </a:solidFill>
              <a:ln/>
            </p:spPr>
            <p:txBody>
              <a:bodyPr/>
              <a:lstStyle/>
              <a:p>
                <a:endParaRPr lang="en-IN"/>
              </a:p>
            </p:txBody>
          </p:sp>
          <p:sp>
            <p:nvSpPr>
              <p:cNvPr id="497" name="Flowchart: Connector 496">
                <a:extLst>
                  <a:ext uri="{FF2B5EF4-FFF2-40B4-BE49-F238E27FC236}">
                    <a16:creationId xmlns:a16="http://schemas.microsoft.com/office/drawing/2014/main" id="{0110A911-86F1-75E9-41C7-7A0CFD59FFA9}"/>
                  </a:ext>
                </a:extLst>
              </p:cNvPr>
              <p:cNvSpPr/>
              <p:nvPr/>
            </p:nvSpPr>
            <p:spPr bwMode="gray">
              <a:xfrm>
                <a:off x="11646559" y="1449161"/>
                <a:ext cx="89210" cy="102451"/>
              </a:xfrm>
              <a:prstGeom prst="flowChartConnector">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498" name="Flowchart: Connector 497">
                <a:extLst>
                  <a:ext uri="{FF2B5EF4-FFF2-40B4-BE49-F238E27FC236}">
                    <a16:creationId xmlns:a16="http://schemas.microsoft.com/office/drawing/2014/main" id="{4B5776C9-A05E-6D05-C402-A975D82B1C28}"/>
                  </a:ext>
                </a:extLst>
              </p:cNvPr>
              <p:cNvSpPr/>
              <p:nvPr/>
            </p:nvSpPr>
            <p:spPr bwMode="gray">
              <a:xfrm>
                <a:off x="11665147" y="1188964"/>
                <a:ext cx="89210" cy="102451"/>
              </a:xfrm>
              <a:prstGeom prst="flowChartConnector">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nvGrpSpPr>
              <p:cNvPr id="524" name="Group 523">
                <a:extLst>
                  <a:ext uri="{FF2B5EF4-FFF2-40B4-BE49-F238E27FC236}">
                    <a16:creationId xmlns:a16="http://schemas.microsoft.com/office/drawing/2014/main" id="{8F704544-E080-F480-6B98-91F16913CEC4}"/>
                  </a:ext>
                </a:extLst>
              </p:cNvPr>
              <p:cNvGrpSpPr/>
              <p:nvPr/>
            </p:nvGrpSpPr>
            <p:grpSpPr>
              <a:xfrm>
                <a:off x="221797" y="4191678"/>
                <a:ext cx="11670759" cy="1593306"/>
                <a:chOff x="122719" y="4948743"/>
                <a:chExt cx="11670759" cy="1593306"/>
              </a:xfrm>
            </p:grpSpPr>
            <p:grpSp>
              <p:nvGrpSpPr>
                <p:cNvPr id="521" name="Group 520">
                  <a:extLst>
                    <a:ext uri="{FF2B5EF4-FFF2-40B4-BE49-F238E27FC236}">
                      <a16:creationId xmlns:a16="http://schemas.microsoft.com/office/drawing/2014/main" id="{6ED7A76A-68C2-624D-D002-25E0C994E38E}"/>
                    </a:ext>
                  </a:extLst>
                </p:cNvPr>
                <p:cNvGrpSpPr/>
                <p:nvPr/>
              </p:nvGrpSpPr>
              <p:grpSpPr>
                <a:xfrm>
                  <a:off x="122719" y="4948743"/>
                  <a:ext cx="11670759" cy="479264"/>
                  <a:chOff x="151198" y="4846995"/>
                  <a:chExt cx="11670759" cy="479264"/>
                </a:xfrm>
              </p:grpSpPr>
              <p:cxnSp>
                <p:nvCxnSpPr>
                  <p:cNvPr id="506" name="Straight Connector 505">
                    <a:extLst>
                      <a:ext uri="{FF2B5EF4-FFF2-40B4-BE49-F238E27FC236}">
                        <a16:creationId xmlns:a16="http://schemas.microsoft.com/office/drawing/2014/main" id="{42982311-D560-D599-531A-09DD9F0DCFF1}"/>
                      </a:ext>
                    </a:extLst>
                  </p:cNvPr>
                  <p:cNvCxnSpPr>
                    <a:cxnSpLocks/>
                  </p:cNvCxnSpPr>
                  <p:nvPr/>
                </p:nvCxnSpPr>
                <p:spPr>
                  <a:xfrm>
                    <a:off x="178798" y="4846995"/>
                    <a:ext cx="11643159" cy="0"/>
                  </a:xfrm>
                  <a:prstGeom prst="line">
                    <a:avLst/>
                  </a:prstGeom>
                  <a:ln>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508" name="Shape 85">
                    <a:extLst>
                      <a:ext uri="{FF2B5EF4-FFF2-40B4-BE49-F238E27FC236}">
                        <a16:creationId xmlns:a16="http://schemas.microsoft.com/office/drawing/2014/main" id="{BFDCD56F-EEF1-0D5A-4D75-70A3E281F81A}"/>
                      </a:ext>
                    </a:extLst>
                  </p:cNvPr>
                  <p:cNvSpPr/>
                  <p:nvPr/>
                </p:nvSpPr>
                <p:spPr>
                  <a:xfrm>
                    <a:off x="151198" y="4885234"/>
                    <a:ext cx="1492404" cy="439875"/>
                  </a:xfrm>
                  <a:prstGeom prst="rect">
                    <a:avLst/>
                  </a:prstGeom>
                  <a:solidFill>
                    <a:srgbClr val="767171"/>
                  </a:solidFill>
                  <a:ln/>
                </p:spPr>
                <p:txBody>
                  <a:bodyPr/>
                  <a:lstStyle/>
                  <a:p>
                    <a:endParaRPr lang="en-IN"/>
                  </a:p>
                </p:txBody>
              </p:sp>
              <p:sp>
                <p:nvSpPr>
                  <p:cNvPr id="509" name="Text 86">
                    <a:extLst>
                      <a:ext uri="{FF2B5EF4-FFF2-40B4-BE49-F238E27FC236}">
                        <a16:creationId xmlns:a16="http://schemas.microsoft.com/office/drawing/2014/main" id="{3950C939-9B03-2065-64CA-22E7C520DF71}"/>
                      </a:ext>
                    </a:extLst>
                  </p:cNvPr>
                  <p:cNvSpPr/>
                  <p:nvPr/>
                </p:nvSpPr>
                <p:spPr>
                  <a:xfrm>
                    <a:off x="151198" y="4885234"/>
                    <a:ext cx="1492404" cy="401638"/>
                  </a:xfrm>
                  <a:prstGeom prst="rect">
                    <a:avLst/>
                  </a:prstGeom>
                  <a:noFill/>
                  <a:ln/>
                </p:spPr>
                <p:txBody>
                  <a:bodyPr wrap="square" lIns="0" tIns="0" rIns="0" bIns="0" rtlCol="0" anchor="ctr"/>
                  <a:lstStyle/>
                  <a:p>
                    <a:pPr marL="0" indent="0" algn="ctr">
                      <a:buNone/>
                    </a:pPr>
                    <a:r>
                      <a:rPr lang="en-US" sz="800" b="1" dirty="0" err="1">
                        <a:solidFill>
                          <a:srgbClr val="FFFFFF"/>
                        </a:solidFill>
                        <a:ea typeface="Arial" pitchFamily="34" charset="-122"/>
                        <a:cs typeface="Arial" pitchFamily="34" charset="-120"/>
                      </a:rPr>
                      <a:t>Programme</a:t>
                    </a:r>
                    <a:r>
                      <a:rPr lang="en-US" sz="800" b="1" dirty="0">
                        <a:solidFill>
                          <a:srgbClr val="FFFFFF"/>
                        </a:solidFill>
                        <a:ea typeface="Arial" pitchFamily="34" charset="-122"/>
                        <a:cs typeface="Arial" pitchFamily="34" charset="-120"/>
                      </a:rPr>
                      <a:t> management . Quality &amp; Risk Assurance</a:t>
                    </a:r>
                    <a:endParaRPr lang="en-US" sz="800" dirty="0"/>
                  </a:p>
                </p:txBody>
              </p:sp>
              <p:sp>
                <p:nvSpPr>
                  <p:cNvPr id="510" name="Shape 87">
                    <a:extLst>
                      <a:ext uri="{FF2B5EF4-FFF2-40B4-BE49-F238E27FC236}">
                        <a16:creationId xmlns:a16="http://schemas.microsoft.com/office/drawing/2014/main" id="{B05C4767-F129-BC39-3822-C1E08BF55490}"/>
                      </a:ext>
                    </a:extLst>
                  </p:cNvPr>
                  <p:cNvSpPr/>
                  <p:nvPr/>
                </p:nvSpPr>
                <p:spPr>
                  <a:xfrm>
                    <a:off x="1734462" y="4902774"/>
                    <a:ext cx="10022439" cy="422336"/>
                  </a:xfrm>
                  <a:prstGeom prst="rect">
                    <a:avLst/>
                  </a:prstGeom>
                  <a:solidFill>
                    <a:srgbClr val="262626"/>
                  </a:solidFill>
                  <a:ln/>
                </p:spPr>
                <p:txBody>
                  <a:bodyPr/>
                  <a:lstStyle/>
                  <a:p>
                    <a:endParaRPr lang="en-IN"/>
                  </a:p>
                </p:txBody>
              </p:sp>
              <p:sp>
                <p:nvSpPr>
                  <p:cNvPr id="511" name="Text 88">
                    <a:extLst>
                      <a:ext uri="{FF2B5EF4-FFF2-40B4-BE49-F238E27FC236}">
                        <a16:creationId xmlns:a16="http://schemas.microsoft.com/office/drawing/2014/main" id="{6FCE60CD-3536-F6A7-70AB-E5EA010AEEA8}"/>
                      </a:ext>
                    </a:extLst>
                  </p:cNvPr>
                  <p:cNvSpPr/>
                  <p:nvPr/>
                </p:nvSpPr>
                <p:spPr>
                  <a:xfrm>
                    <a:off x="1837676" y="4881219"/>
                    <a:ext cx="9834962" cy="445040"/>
                  </a:xfrm>
                  <a:prstGeom prst="rect">
                    <a:avLst/>
                  </a:prstGeom>
                  <a:noFill/>
                  <a:ln/>
                </p:spPr>
                <p:txBody>
                  <a:bodyPr wrap="square" lIns="0" tIns="0" rIns="0" bIns="0" rtlCol="0" anchor="ctr"/>
                  <a:lstStyle/>
                  <a:p>
                    <a:pPr marL="0" indent="0" algn="ctr">
                      <a:buNone/>
                    </a:pPr>
                    <a:r>
                      <a:rPr lang="en-US" sz="900" b="1" dirty="0">
                        <a:solidFill>
                          <a:srgbClr val="FFFFFF"/>
                        </a:solidFill>
                        <a:ea typeface="Arial" pitchFamily="34" charset="-122"/>
                        <a:cs typeface="Arial" pitchFamily="34" charset="-120"/>
                      </a:rPr>
                      <a:t>Project charter and governance mechanism  |  Fortnightly progress reporting  |  Data-quality assurance and independent technical review  |  Plagiarism and IPR compliance  |  Risk identification and mitigation</a:t>
                    </a:r>
                    <a:endParaRPr lang="en-US" sz="900" dirty="0"/>
                  </a:p>
                </p:txBody>
              </p:sp>
            </p:grpSp>
            <p:cxnSp>
              <p:nvCxnSpPr>
                <p:cNvPr id="515" name="Straight Connector 514">
                  <a:extLst>
                    <a:ext uri="{FF2B5EF4-FFF2-40B4-BE49-F238E27FC236}">
                      <a16:creationId xmlns:a16="http://schemas.microsoft.com/office/drawing/2014/main" id="{11BF0C00-F372-3B24-C75A-F23F5B662257}"/>
                    </a:ext>
                  </a:extLst>
                </p:cNvPr>
                <p:cNvCxnSpPr/>
                <p:nvPr/>
              </p:nvCxnSpPr>
              <p:spPr>
                <a:xfrm>
                  <a:off x="154806" y="5488479"/>
                  <a:ext cx="11634183" cy="0"/>
                </a:xfrm>
                <a:prstGeom prst="line">
                  <a:avLst/>
                </a:prstGeom>
                <a:ln w="25400">
                  <a:solidFill>
                    <a:srgbClr val="97999B"/>
                  </a:solidFill>
                </a:ln>
              </p:spPr>
              <p:style>
                <a:lnRef idx="1">
                  <a:schemeClr val="dk1"/>
                </a:lnRef>
                <a:fillRef idx="0">
                  <a:schemeClr val="dk1"/>
                </a:fillRef>
                <a:effectRef idx="0">
                  <a:schemeClr val="dk1"/>
                </a:effectRef>
                <a:fontRef idx="minor">
                  <a:schemeClr val="tx1"/>
                </a:fontRef>
              </p:style>
            </p:cxnSp>
            <p:cxnSp>
              <p:nvCxnSpPr>
                <p:cNvPr id="516" name="Straight Connector 515">
                  <a:extLst>
                    <a:ext uri="{FF2B5EF4-FFF2-40B4-BE49-F238E27FC236}">
                      <a16:creationId xmlns:a16="http://schemas.microsoft.com/office/drawing/2014/main" id="{750325F4-93C6-D1D1-6A03-9F8969CA2B0E}"/>
                    </a:ext>
                  </a:extLst>
                </p:cNvPr>
                <p:cNvCxnSpPr/>
                <p:nvPr/>
              </p:nvCxnSpPr>
              <p:spPr>
                <a:xfrm>
                  <a:off x="154806" y="6542049"/>
                  <a:ext cx="11634183" cy="0"/>
                </a:xfrm>
                <a:prstGeom prst="line">
                  <a:avLst/>
                </a:prstGeom>
                <a:ln w="25400">
                  <a:solidFill>
                    <a:srgbClr val="97999B"/>
                  </a:solidFill>
                </a:ln>
              </p:spPr>
              <p:style>
                <a:lnRef idx="1">
                  <a:schemeClr val="dk1"/>
                </a:lnRef>
                <a:fillRef idx="0">
                  <a:schemeClr val="dk1"/>
                </a:fillRef>
                <a:effectRef idx="0">
                  <a:schemeClr val="dk1"/>
                </a:effectRef>
                <a:fontRef idx="minor">
                  <a:schemeClr val="tx1"/>
                </a:fontRef>
              </p:style>
            </p:cxnSp>
            <p:sp>
              <p:nvSpPr>
                <p:cNvPr id="518" name="TextBox 517">
                  <a:extLst>
                    <a:ext uri="{FF2B5EF4-FFF2-40B4-BE49-F238E27FC236}">
                      <a16:creationId xmlns:a16="http://schemas.microsoft.com/office/drawing/2014/main" id="{09BDE709-6E20-2471-18D9-5BC1D4D99FFA}"/>
                    </a:ext>
                  </a:extLst>
                </p:cNvPr>
                <p:cNvSpPr txBox="1"/>
                <p:nvPr/>
              </p:nvSpPr>
              <p:spPr>
                <a:xfrm>
                  <a:off x="1643552" y="5481853"/>
                  <a:ext cx="10092217" cy="707886"/>
                </a:xfrm>
                <a:prstGeom prst="rect">
                  <a:avLst/>
                </a:prstGeom>
                <a:noFill/>
              </p:spPr>
              <p:txBody>
                <a:bodyPr wrap="square">
                  <a:spAutoFit/>
                </a:bodyPr>
                <a:lstStyle/>
                <a:p>
                  <a:r>
                    <a:rPr lang="en-US" sz="1000" dirty="0">
                      <a:solidFill>
                        <a:srgbClr val="0070A0"/>
                      </a:solidFill>
                      <a:ea typeface="Arial" pitchFamily="34" charset="-122"/>
                      <a:cs typeface="Times New Roman" panose="02020603050405020304" pitchFamily="18" charset="0"/>
                    </a:rPr>
                    <a:t>D1 — Inception Report and presentation (T+20), </a:t>
                  </a:r>
                  <a:r>
                    <a:rPr lang="en-US" sz="1000" dirty="0" err="1">
                      <a:solidFill>
                        <a:srgbClr val="0070A0"/>
                      </a:solidFill>
                      <a:ea typeface="Arial" pitchFamily="34" charset="-122"/>
                      <a:cs typeface="Times New Roman" panose="02020603050405020304" pitchFamily="18" charset="0"/>
                    </a:rPr>
                    <a:t>finalised</a:t>
                  </a:r>
                  <a:r>
                    <a:rPr lang="en-US" sz="1000" dirty="0">
                      <a:solidFill>
                        <a:srgbClr val="0070A0"/>
                      </a:solidFill>
                      <a:ea typeface="Arial" pitchFamily="34" charset="-122"/>
                      <a:cs typeface="Times New Roman" panose="02020603050405020304" pitchFamily="18" charset="0"/>
                    </a:rPr>
                    <a:t> after NITI Aayog comments (T+30): confirmed scope, methodology, State sample, secondary-research findings and report structure;  D2 — Draft Final Report (T+90): recalculated subsidy estimates, Econometric model output, NSSO quantile targeting analysis, case studies and draft framework/toolkit;  D3 — Final Report and sign-off (T+120): executive synopsis, 10 book-bound hard copies and soft copy, verifiable raw data in MS Excel/CSV and consultation transcripts</a:t>
                  </a:r>
                  <a:endParaRPr lang="en-IN" sz="1000" dirty="0">
                    <a:cs typeface="Times New Roman" panose="02020603050405020304" pitchFamily="18" charset="0"/>
                  </a:endParaRPr>
                </a:p>
              </p:txBody>
            </p:sp>
            <p:sp>
              <p:nvSpPr>
                <p:cNvPr id="519" name="Text 86">
                  <a:extLst>
                    <a:ext uri="{FF2B5EF4-FFF2-40B4-BE49-F238E27FC236}">
                      <a16:creationId xmlns:a16="http://schemas.microsoft.com/office/drawing/2014/main" id="{9A298C5A-4C9D-1602-4432-36CEFF0EFFEF}"/>
                    </a:ext>
                  </a:extLst>
                </p:cNvPr>
                <p:cNvSpPr/>
                <p:nvPr/>
              </p:nvSpPr>
              <p:spPr>
                <a:xfrm>
                  <a:off x="299202" y="5579627"/>
                  <a:ext cx="1242535" cy="512339"/>
                </a:xfrm>
                <a:prstGeom prst="rect">
                  <a:avLst/>
                </a:prstGeom>
                <a:noFill/>
                <a:ln/>
              </p:spPr>
              <p:txBody>
                <a:bodyPr wrap="square" lIns="0" tIns="0" rIns="0" bIns="0" rtlCol="0" anchor="ctr"/>
                <a:lstStyle/>
                <a:p>
                  <a:pPr marL="0" indent="0" algn="ctr">
                    <a:buNone/>
                  </a:pPr>
                  <a:r>
                    <a:rPr lang="en-US" sz="1050" b="1" dirty="0">
                      <a:ea typeface="Arial" pitchFamily="34" charset="-122"/>
                      <a:cs typeface="Arial" pitchFamily="34" charset="-120"/>
                    </a:rPr>
                    <a:t>Key Output/ Deliverables:  </a:t>
                  </a:r>
                  <a:endParaRPr lang="en-US" sz="1050" dirty="0"/>
                </a:p>
              </p:txBody>
            </p:sp>
          </p:grpSp>
          <p:sp>
            <p:nvSpPr>
              <p:cNvPr id="525" name="Shape 66">
                <a:extLst>
                  <a:ext uri="{FF2B5EF4-FFF2-40B4-BE49-F238E27FC236}">
                    <a16:creationId xmlns:a16="http://schemas.microsoft.com/office/drawing/2014/main" id="{73495193-643D-DD76-7425-82DA670770DB}"/>
                  </a:ext>
                </a:extLst>
              </p:cNvPr>
              <p:cNvSpPr/>
              <p:nvPr/>
            </p:nvSpPr>
            <p:spPr>
              <a:xfrm>
                <a:off x="1735516" y="5384548"/>
                <a:ext cx="10152551" cy="309929"/>
              </a:xfrm>
              <a:prstGeom prst="rect">
                <a:avLst/>
              </a:prstGeom>
              <a:noFill/>
              <a:ln w="6350">
                <a:noFill/>
                <a:prstDash val="solid"/>
              </a:ln>
            </p:spPr>
            <p:txBody>
              <a:bodyPr/>
              <a:lstStyle/>
              <a:p>
                <a:pPr algn="ctr"/>
                <a:r>
                  <a:rPr lang="en-US" sz="900" b="1" i="1" dirty="0"/>
                  <a:t>Drafts of all output prepared will be presented to the officials for review. Discussions/meeting will be undertaken with the relevant officials and recommended changes will be incorporated in the final output. All final outputs/reports will then be submitted</a:t>
                </a:r>
                <a:endParaRPr lang="en-IN" sz="700" b="1" i="1" dirty="0"/>
              </a:p>
            </p:txBody>
          </p:sp>
          <p:cxnSp>
            <p:nvCxnSpPr>
              <p:cNvPr id="16" name="Straight Connector 15">
                <a:extLst>
                  <a:ext uri="{FF2B5EF4-FFF2-40B4-BE49-F238E27FC236}">
                    <a16:creationId xmlns:a16="http://schemas.microsoft.com/office/drawing/2014/main" id="{1AD19D53-BF75-E42E-5B9C-41AEFAD074EE}"/>
                  </a:ext>
                </a:extLst>
              </p:cNvPr>
              <p:cNvCxnSpPr>
                <a:cxnSpLocks/>
              </p:cNvCxnSpPr>
              <p:nvPr/>
            </p:nvCxnSpPr>
            <p:spPr>
              <a:xfrm>
                <a:off x="215375" y="1753687"/>
                <a:ext cx="11578103"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9" name="Shape 51">
                <a:extLst>
                  <a:ext uri="{FF2B5EF4-FFF2-40B4-BE49-F238E27FC236}">
                    <a16:creationId xmlns:a16="http://schemas.microsoft.com/office/drawing/2014/main" id="{476CBFB7-FDC2-DE1D-2DAF-BAE2A033D862}"/>
                  </a:ext>
                </a:extLst>
              </p:cNvPr>
              <p:cNvSpPr/>
              <p:nvPr/>
            </p:nvSpPr>
            <p:spPr>
              <a:xfrm>
                <a:off x="187774" y="1789098"/>
                <a:ext cx="1492404" cy="754360"/>
              </a:xfrm>
              <a:prstGeom prst="rect">
                <a:avLst/>
              </a:prstGeom>
              <a:solidFill>
                <a:srgbClr val="767171"/>
              </a:solidFill>
              <a:ln/>
            </p:spPr>
            <p:txBody>
              <a:bodyPr/>
              <a:lstStyle/>
              <a:p>
                <a:endParaRPr lang="en-IN"/>
              </a:p>
            </p:txBody>
          </p:sp>
          <p:sp>
            <p:nvSpPr>
              <p:cNvPr id="500" name="Shape 51">
                <a:extLst>
                  <a:ext uri="{FF2B5EF4-FFF2-40B4-BE49-F238E27FC236}">
                    <a16:creationId xmlns:a16="http://schemas.microsoft.com/office/drawing/2014/main" id="{8EE65623-3752-A45A-A356-C3CF6602D342}"/>
                  </a:ext>
                </a:extLst>
              </p:cNvPr>
              <p:cNvSpPr/>
              <p:nvPr/>
            </p:nvSpPr>
            <p:spPr>
              <a:xfrm>
                <a:off x="187774" y="2579075"/>
                <a:ext cx="1492404" cy="754360"/>
              </a:xfrm>
              <a:prstGeom prst="rect">
                <a:avLst/>
              </a:prstGeom>
              <a:solidFill>
                <a:srgbClr val="767171"/>
              </a:solidFill>
              <a:ln/>
            </p:spPr>
            <p:txBody>
              <a:bodyPr/>
              <a:lstStyle/>
              <a:p>
                <a:endParaRPr lang="en-IN"/>
              </a:p>
            </p:txBody>
          </p:sp>
          <p:sp>
            <p:nvSpPr>
              <p:cNvPr id="501" name="Shape 51">
                <a:extLst>
                  <a:ext uri="{FF2B5EF4-FFF2-40B4-BE49-F238E27FC236}">
                    <a16:creationId xmlns:a16="http://schemas.microsoft.com/office/drawing/2014/main" id="{6DDEADF4-B205-D0FF-4C27-068F942A6922}"/>
                  </a:ext>
                </a:extLst>
              </p:cNvPr>
              <p:cNvSpPr/>
              <p:nvPr/>
            </p:nvSpPr>
            <p:spPr>
              <a:xfrm>
                <a:off x="187774" y="3369747"/>
                <a:ext cx="1492404" cy="754360"/>
              </a:xfrm>
              <a:prstGeom prst="rect">
                <a:avLst/>
              </a:prstGeom>
              <a:solidFill>
                <a:srgbClr val="767171"/>
              </a:solidFill>
              <a:ln/>
            </p:spPr>
            <p:txBody>
              <a:bodyPr/>
              <a:lstStyle/>
              <a:p>
                <a:endParaRPr lang="en-IN"/>
              </a:p>
            </p:txBody>
          </p:sp>
          <p:cxnSp>
            <p:nvCxnSpPr>
              <p:cNvPr id="503" name="Straight Connector 502">
                <a:extLst>
                  <a:ext uri="{FF2B5EF4-FFF2-40B4-BE49-F238E27FC236}">
                    <a16:creationId xmlns:a16="http://schemas.microsoft.com/office/drawing/2014/main" id="{12ED8022-0423-746F-03BA-D0D891CA8109}"/>
                  </a:ext>
                </a:extLst>
              </p:cNvPr>
              <p:cNvCxnSpPr>
                <a:cxnSpLocks/>
              </p:cNvCxnSpPr>
              <p:nvPr/>
            </p:nvCxnSpPr>
            <p:spPr>
              <a:xfrm flipV="1">
                <a:off x="215375" y="2455326"/>
                <a:ext cx="11520394" cy="78961"/>
              </a:xfrm>
              <a:prstGeom prst="line">
                <a:avLst/>
              </a:prstGeom>
              <a:ln>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505" name="Straight Connector 504">
                <a:extLst>
                  <a:ext uri="{FF2B5EF4-FFF2-40B4-BE49-F238E27FC236}">
                    <a16:creationId xmlns:a16="http://schemas.microsoft.com/office/drawing/2014/main" id="{3F6F6A9C-E12E-0D56-4AA0-B41D12A0975E}"/>
                  </a:ext>
                </a:extLst>
              </p:cNvPr>
              <p:cNvCxnSpPr>
                <a:cxnSpLocks/>
              </p:cNvCxnSpPr>
              <p:nvPr/>
            </p:nvCxnSpPr>
            <p:spPr>
              <a:xfrm>
                <a:off x="215375" y="3333435"/>
                <a:ext cx="11643159" cy="0"/>
              </a:xfrm>
              <a:prstGeom prst="line">
                <a:avLst/>
              </a:prstGeom>
              <a:ln>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539" name="Shape 66">
                <a:extLst>
                  <a:ext uri="{FF2B5EF4-FFF2-40B4-BE49-F238E27FC236}">
                    <a16:creationId xmlns:a16="http://schemas.microsoft.com/office/drawing/2014/main" id="{D851D82A-24BF-AEEA-1ED7-D1AD8E1E9B72}"/>
                  </a:ext>
                </a:extLst>
              </p:cNvPr>
              <p:cNvSpPr/>
              <p:nvPr/>
            </p:nvSpPr>
            <p:spPr>
              <a:xfrm>
                <a:off x="398280" y="1884709"/>
                <a:ext cx="1254227" cy="570617"/>
              </a:xfrm>
              <a:prstGeom prst="rect">
                <a:avLst/>
              </a:prstGeom>
              <a:noFill/>
              <a:ln w="6350">
                <a:noFill/>
                <a:prstDash val="solid"/>
              </a:ln>
            </p:spPr>
            <p:txBody>
              <a:bodyPr/>
              <a:lstStyle/>
              <a:p>
                <a:pPr algn="ctr"/>
                <a:r>
                  <a:rPr lang="en-US" sz="1050" b="1" dirty="0">
                    <a:solidFill>
                      <a:srgbClr val="FFFFFF"/>
                    </a:solidFill>
                    <a:ea typeface="Arial" pitchFamily="34" charset="-122"/>
                    <a:cs typeface="Arial" pitchFamily="34" charset="-120"/>
                  </a:rPr>
                  <a:t>Phase 1</a:t>
                </a:r>
                <a:endParaRPr lang="en-US" sz="1050" dirty="0"/>
              </a:p>
              <a:p>
                <a:pPr algn="ctr"/>
                <a:r>
                  <a:rPr lang="en-US" sz="1050" b="1" dirty="0">
                    <a:solidFill>
                      <a:srgbClr val="FFFFFF"/>
                    </a:solidFill>
                    <a:ea typeface="Arial" pitchFamily="34" charset="-122"/>
                    <a:cs typeface="Arial" pitchFamily="34" charset="-120"/>
                  </a:rPr>
                  <a:t>Inception &amp; Planning</a:t>
                </a:r>
                <a:endParaRPr lang="en-US" sz="1050" dirty="0"/>
              </a:p>
              <a:p>
                <a:endParaRPr lang="en-IN" sz="900" dirty="0"/>
              </a:p>
            </p:txBody>
          </p:sp>
          <p:sp>
            <p:nvSpPr>
              <p:cNvPr id="540" name="Shape 66">
                <a:extLst>
                  <a:ext uri="{FF2B5EF4-FFF2-40B4-BE49-F238E27FC236}">
                    <a16:creationId xmlns:a16="http://schemas.microsoft.com/office/drawing/2014/main" id="{DAA5A124-29A8-5378-DD2E-EB02B9F124EA}"/>
                  </a:ext>
                </a:extLst>
              </p:cNvPr>
              <p:cNvSpPr/>
              <p:nvPr/>
            </p:nvSpPr>
            <p:spPr>
              <a:xfrm>
                <a:off x="215374" y="2678054"/>
                <a:ext cx="1254227" cy="570617"/>
              </a:xfrm>
              <a:prstGeom prst="rect">
                <a:avLst/>
              </a:prstGeom>
              <a:noFill/>
              <a:ln w="6350">
                <a:noFill/>
                <a:prstDash val="solid"/>
              </a:ln>
            </p:spPr>
            <p:txBody>
              <a:bodyPr/>
              <a:lstStyle/>
              <a:p>
                <a:pPr algn="ctr"/>
                <a:r>
                  <a:rPr lang="en-US" sz="1050" b="1" dirty="0">
                    <a:solidFill>
                      <a:srgbClr val="FFFFFF"/>
                    </a:solidFill>
                    <a:ea typeface="Arial" pitchFamily="34" charset="-122"/>
                    <a:cs typeface="Arial" pitchFamily="34" charset="-120"/>
                  </a:rPr>
                  <a:t>Phase II</a:t>
                </a:r>
                <a:endParaRPr lang="en-US" sz="1050" dirty="0"/>
              </a:p>
              <a:p>
                <a:pPr algn="ctr"/>
                <a:r>
                  <a:rPr lang="en-US" sz="1050" b="1" dirty="0">
                    <a:solidFill>
                      <a:srgbClr val="FFFFFF"/>
                    </a:solidFill>
                    <a:ea typeface="Arial" pitchFamily="34" charset="-122"/>
                    <a:cs typeface="Arial" pitchFamily="34" charset="-120"/>
                  </a:rPr>
                  <a:t>Assess &amp; Design</a:t>
                </a:r>
                <a:endParaRPr lang="en-IN" sz="900" dirty="0"/>
              </a:p>
            </p:txBody>
          </p:sp>
          <p:sp>
            <p:nvSpPr>
              <p:cNvPr id="541" name="Shape 66">
                <a:extLst>
                  <a:ext uri="{FF2B5EF4-FFF2-40B4-BE49-F238E27FC236}">
                    <a16:creationId xmlns:a16="http://schemas.microsoft.com/office/drawing/2014/main" id="{99DD3CA2-1F76-3CEC-5183-8D2FA02258F7}"/>
                  </a:ext>
                </a:extLst>
              </p:cNvPr>
              <p:cNvSpPr/>
              <p:nvPr/>
            </p:nvSpPr>
            <p:spPr>
              <a:xfrm>
                <a:off x="218868" y="3450223"/>
                <a:ext cx="1254227" cy="570617"/>
              </a:xfrm>
              <a:prstGeom prst="rect">
                <a:avLst/>
              </a:prstGeom>
              <a:noFill/>
              <a:ln w="6350">
                <a:noFill/>
                <a:prstDash val="solid"/>
              </a:ln>
            </p:spPr>
            <p:txBody>
              <a:bodyPr/>
              <a:lstStyle/>
              <a:p>
                <a:pPr algn="ctr"/>
                <a:r>
                  <a:rPr lang="en-US" sz="1050" b="1" dirty="0">
                    <a:solidFill>
                      <a:srgbClr val="FFFFFF"/>
                    </a:solidFill>
                    <a:ea typeface="Arial" pitchFamily="34" charset="-122"/>
                    <a:cs typeface="Arial" pitchFamily="34" charset="-120"/>
                  </a:rPr>
                  <a:t>Phase III</a:t>
                </a:r>
                <a:endParaRPr lang="en-US" sz="1050" dirty="0"/>
              </a:p>
              <a:p>
                <a:pPr algn="ctr"/>
                <a:r>
                  <a:rPr lang="en-US" sz="1050" b="1" dirty="0">
                    <a:solidFill>
                      <a:srgbClr val="FFFFFF"/>
                    </a:solidFill>
                    <a:ea typeface="Arial" pitchFamily="34" charset="-122"/>
                    <a:cs typeface="Arial" pitchFamily="34" charset="-120"/>
                  </a:rPr>
                  <a:t>Validate &amp; Report</a:t>
                </a:r>
                <a:endParaRPr lang="en-US" sz="1050" dirty="0"/>
              </a:p>
            </p:txBody>
          </p:sp>
          <p:sp>
            <p:nvSpPr>
              <p:cNvPr id="542" name="Shape 66">
                <a:extLst>
                  <a:ext uri="{FF2B5EF4-FFF2-40B4-BE49-F238E27FC236}">
                    <a16:creationId xmlns:a16="http://schemas.microsoft.com/office/drawing/2014/main" id="{AC057397-8E04-4ACB-B589-760B432572EE}"/>
                  </a:ext>
                </a:extLst>
              </p:cNvPr>
              <p:cNvSpPr/>
              <p:nvPr/>
            </p:nvSpPr>
            <p:spPr>
              <a:xfrm>
                <a:off x="6609638" y="1148036"/>
                <a:ext cx="1797747" cy="125275"/>
              </a:xfrm>
              <a:prstGeom prst="rect">
                <a:avLst/>
              </a:prstGeom>
              <a:solidFill>
                <a:srgbClr val="FFFFFF"/>
              </a:solidFill>
              <a:ln w="6350">
                <a:noFill/>
                <a:prstDash val="solid"/>
              </a:ln>
            </p:spPr>
            <p:txBody>
              <a:bodyPr/>
              <a:lstStyle/>
              <a:p>
                <a:pPr algn="ctr"/>
                <a:r>
                  <a:rPr lang="en-US" sz="800" b="1" dirty="0"/>
                  <a:t>Schedule Output/Deliverables</a:t>
                </a:r>
                <a:endParaRPr lang="en-IN" sz="600" b="1" dirty="0"/>
              </a:p>
            </p:txBody>
          </p:sp>
          <p:sp>
            <p:nvSpPr>
              <p:cNvPr id="543" name="Shape 66">
                <a:extLst>
                  <a:ext uri="{FF2B5EF4-FFF2-40B4-BE49-F238E27FC236}">
                    <a16:creationId xmlns:a16="http://schemas.microsoft.com/office/drawing/2014/main" id="{77192667-B000-9635-F4FC-468115D2776B}"/>
                  </a:ext>
                </a:extLst>
              </p:cNvPr>
              <p:cNvSpPr/>
              <p:nvPr/>
            </p:nvSpPr>
            <p:spPr>
              <a:xfrm>
                <a:off x="9123557" y="1143713"/>
                <a:ext cx="1797747" cy="125275"/>
              </a:xfrm>
              <a:prstGeom prst="rect">
                <a:avLst/>
              </a:prstGeom>
              <a:solidFill>
                <a:srgbClr val="FFFFFF"/>
              </a:solidFill>
              <a:ln w="6350">
                <a:noFill/>
                <a:prstDash val="solid"/>
              </a:ln>
            </p:spPr>
            <p:txBody>
              <a:bodyPr/>
              <a:lstStyle/>
              <a:p>
                <a:pPr algn="ctr"/>
                <a:r>
                  <a:rPr lang="en-US" sz="800" b="1" dirty="0"/>
                  <a:t>Schedule</a:t>
                </a:r>
                <a:r>
                  <a:rPr lang="en-US" sz="800" dirty="0"/>
                  <a:t> Output/Deliverables</a:t>
                </a:r>
                <a:endParaRPr lang="en-IN" sz="600" dirty="0"/>
              </a:p>
            </p:txBody>
          </p:sp>
          <p:sp>
            <p:nvSpPr>
              <p:cNvPr id="558" name="Flowchart: Connector 557">
                <a:extLst>
                  <a:ext uri="{FF2B5EF4-FFF2-40B4-BE49-F238E27FC236}">
                    <a16:creationId xmlns:a16="http://schemas.microsoft.com/office/drawing/2014/main" id="{B67FCAAA-4FD7-8039-0864-8E2E96F82224}"/>
                  </a:ext>
                </a:extLst>
              </p:cNvPr>
              <p:cNvSpPr/>
              <p:nvPr/>
            </p:nvSpPr>
            <p:spPr bwMode="gray">
              <a:xfrm>
                <a:off x="2171789" y="1501146"/>
                <a:ext cx="95786" cy="102451"/>
              </a:xfrm>
              <a:prstGeom prst="flowChartConnector">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559" name="Text 44">
                <a:extLst>
                  <a:ext uri="{FF2B5EF4-FFF2-40B4-BE49-F238E27FC236}">
                    <a16:creationId xmlns:a16="http://schemas.microsoft.com/office/drawing/2014/main" id="{AD7D5E11-C35D-5483-BD59-4F62032DE213}"/>
                  </a:ext>
                </a:extLst>
              </p:cNvPr>
              <p:cNvSpPr/>
              <p:nvPr/>
            </p:nvSpPr>
            <p:spPr>
              <a:xfrm>
                <a:off x="5483594" y="1407930"/>
                <a:ext cx="1328197" cy="214206"/>
              </a:xfrm>
              <a:prstGeom prst="rect">
                <a:avLst/>
              </a:prstGeom>
              <a:solidFill>
                <a:srgbClr val="FFFFFF"/>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effectLst/>
                    <a:uLnTx/>
                    <a:uFillTx/>
                    <a:ea typeface="Arial" pitchFamily="34" charset="-122"/>
                    <a:cs typeface="Arial" pitchFamily="34" charset="-120"/>
                  </a:rPr>
                  <a:t>Schedule reviews</a:t>
                </a:r>
                <a:endParaRPr kumimoji="0" lang="en-US" sz="900" u="none" strike="noStrike" kern="1200" cap="none" spc="0" normalizeH="0" baseline="0" noProof="0" dirty="0">
                  <a:ln>
                    <a:noFill/>
                  </a:ln>
                  <a:effectLst/>
                  <a:uLnTx/>
                  <a:uFillTx/>
                  <a:ea typeface="+mn-ea"/>
                  <a:cs typeface="+mn-cs"/>
                </a:endParaRPr>
              </a:p>
            </p:txBody>
          </p:sp>
          <p:sp>
            <p:nvSpPr>
              <p:cNvPr id="565" name="Shape 91">
                <a:extLst>
                  <a:ext uri="{FF2B5EF4-FFF2-40B4-BE49-F238E27FC236}">
                    <a16:creationId xmlns:a16="http://schemas.microsoft.com/office/drawing/2014/main" id="{28B28EB6-9126-5750-D2C9-B96592867932}"/>
                  </a:ext>
                </a:extLst>
              </p:cNvPr>
              <p:cNvSpPr/>
              <p:nvPr/>
            </p:nvSpPr>
            <p:spPr>
              <a:xfrm>
                <a:off x="229990" y="5902765"/>
                <a:ext cx="11914556" cy="682690"/>
              </a:xfrm>
              <a:prstGeom prst="roundRect">
                <a:avLst>
                  <a:gd name="adj" fmla="val 42857"/>
                </a:avLst>
              </a:prstGeom>
              <a:solidFill>
                <a:srgbClr val="FFFFFF"/>
              </a:solidFill>
              <a:ln w="9525">
                <a:solidFill>
                  <a:srgbClr val="BFBFBF"/>
                </a:solidFill>
                <a:prstDash val="solid"/>
              </a:ln>
            </p:spPr>
            <p:txBody>
              <a:bodyPr/>
              <a:lstStyle/>
              <a:p>
                <a:endParaRPr lang="en-IN" sz="900"/>
              </a:p>
            </p:txBody>
          </p:sp>
          <p:sp>
            <p:nvSpPr>
              <p:cNvPr id="566" name="Text 92">
                <a:extLst>
                  <a:ext uri="{FF2B5EF4-FFF2-40B4-BE49-F238E27FC236}">
                    <a16:creationId xmlns:a16="http://schemas.microsoft.com/office/drawing/2014/main" id="{1FBAE173-AD40-90ED-96B7-0E9B69DF8D31}"/>
                  </a:ext>
                </a:extLst>
              </p:cNvPr>
              <p:cNvSpPr/>
              <p:nvPr/>
            </p:nvSpPr>
            <p:spPr>
              <a:xfrm>
                <a:off x="352626" y="5902765"/>
                <a:ext cx="566012" cy="403639"/>
              </a:xfrm>
              <a:prstGeom prst="rect">
                <a:avLst/>
              </a:prstGeom>
              <a:noFill/>
              <a:ln/>
            </p:spPr>
            <p:txBody>
              <a:bodyPr wrap="square" lIns="0" tIns="0" rIns="0" bIns="0" rtlCol="0" anchor="ctr"/>
              <a:lstStyle/>
              <a:p>
                <a:pPr marL="0" indent="0">
                  <a:buNone/>
                </a:pPr>
                <a:r>
                  <a:rPr lang="en-US" sz="900" b="1" dirty="0">
                    <a:solidFill>
                      <a:srgbClr val="404040"/>
                    </a:solidFill>
                    <a:ea typeface="Arial" pitchFamily="34" charset="-122"/>
                    <a:cs typeface="Arial" pitchFamily="34" charset="-120"/>
                  </a:rPr>
                  <a:t>Legend:</a:t>
                </a:r>
                <a:endParaRPr lang="en-US" sz="900" dirty="0"/>
              </a:p>
            </p:txBody>
          </p:sp>
          <p:sp>
            <p:nvSpPr>
              <p:cNvPr id="567" name="Shape 93">
                <a:extLst>
                  <a:ext uri="{FF2B5EF4-FFF2-40B4-BE49-F238E27FC236}">
                    <a16:creationId xmlns:a16="http://schemas.microsoft.com/office/drawing/2014/main" id="{40C4CCFA-050C-A4BF-B0A4-4CD24579CDD3}"/>
                  </a:ext>
                </a:extLst>
              </p:cNvPr>
              <p:cNvSpPr/>
              <p:nvPr/>
            </p:nvSpPr>
            <p:spPr>
              <a:xfrm>
                <a:off x="890338" y="6018090"/>
                <a:ext cx="207538" cy="187404"/>
              </a:xfrm>
              <a:prstGeom prst="rect">
                <a:avLst/>
              </a:prstGeom>
              <a:solidFill>
                <a:srgbClr val="E2F0D9"/>
              </a:solidFill>
              <a:ln/>
            </p:spPr>
            <p:txBody>
              <a:bodyPr/>
              <a:lstStyle/>
              <a:p>
                <a:endParaRPr lang="en-IN" sz="900"/>
              </a:p>
            </p:txBody>
          </p:sp>
          <p:sp>
            <p:nvSpPr>
              <p:cNvPr id="568" name="Text 94">
                <a:extLst>
                  <a:ext uri="{FF2B5EF4-FFF2-40B4-BE49-F238E27FC236}">
                    <a16:creationId xmlns:a16="http://schemas.microsoft.com/office/drawing/2014/main" id="{583594B9-C6DD-828C-ABE8-0399A20428DD}"/>
                  </a:ext>
                </a:extLst>
              </p:cNvPr>
              <p:cNvSpPr/>
              <p:nvPr/>
            </p:nvSpPr>
            <p:spPr>
              <a:xfrm>
                <a:off x="1154477" y="5902767"/>
                <a:ext cx="1141457" cy="385076"/>
              </a:xfrm>
              <a:prstGeom prst="rect">
                <a:avLst/>
              </a:prstGeom>
              <a:noFill/>
              <a:ln/>
            </p:spPr>
            <p:txBody>
              <a:bodyPr wrap="square" lIns="0" tIns="0" rIns="0" bIns="0" rtlCol="0" anchor="ctr"/>
              <a:lstStyle/>
              <a:p>
                <a:pPr marL="0" indent="0">
                  <a:buNone/>
                </a:pPr>
                <a:r>
                  <a:rPr lang="en-US" sz="900" dirty="0">
                    <a:solidFill>
                      <a:srgbClr val="404040"/>
                    </a:solidFill>
                    <a:ea typeface="Arial" pitchFamily="34" charset="-122"/>
                    <a:cs typeface="Arial" pitchFamily="34" charset="-120"/>
                  </a:rPr>
                  <a:t>Assess — research and analysis</a:t>
                </a:r>
                <a:endParaRPr lang="en-US" sz="900" dirty="0"/>
              </a:p>
            </p:txBody>
          </p:sp>
          <p:sp>
            <p:nvSpPr>
              <p:cNvPr id="569" name="Shape 95">
                <a:extLst>
                  <a:ext uri="{FF2B5EF4-FFF2-40B4-BE49-F238E27FC236}">
                    <a16:creationId xmlns:a16="http://schemas.microsoft.com/office/drawing/2014/main" id="{72550A7A-74B3-FD2A-8C4C-EF0A2BE42FA1}"/>
                  </a:ext>
                </a:extLst>
              </p:cNvPr>
              <p:cNvSpPr/>
              <p:nvPr/>
            </p:nvSpPr>
            <p:spPr>
              <a:xfrm>
                <a:off x="890338" y="6258525"/>
                <a:ext cx="207538" cy="187404"/>
              </a:xfrm>
              <a:prstGeom prst="rect">
                <a:avLst/>
              </a:prstGeom>
              <a:solidFill>
                <a:srgbClr val="548235"/>
              </a:solidFill>
              <a:ln/>
            </p:spPr>
            <p:txBody>
              <a:bodyPr/>
              <a:lstStyle/>
              <a:p>
                <a:endParaRPr lang="en-IN" sz="900"/>
              </a:p>
            </p:txBody>
          </p:sp>
          <p:sp>
            <p:nvSpPr>
              <p:cNvPr id="570" name="Text 96">
                <a:extLst>
                  <a:ext uri="{FF2B5EF4-FFF2-40B4-BE49-F238E27FC236}">
                    <a16:creationId xmlns:a16="http://schemas.microsoft.com/office/drawing/2014/main" id="{7B8423A4-C7D1-A923-F0F9-F10FB331B00F}"/>
                  </a:ext>
                </a:extLst>
              </p:cNvPr>
              <p:cNvSpPr/>
              <p:nvPr/>
            </p:nvSpPr>
            <p:spPr>
              <a:xfrm>
                <a:off x="1120694" y="6205494"/>
                <a:ext cx="1374938" cy="389223"/>
              </a:xfrm>
              <a:prstGeom prst="rect">
                <a:avLst/>
              </a:prstGeom>
              <a:noFill/>
              <a:ln/>
            </p:spPr>
            <p:txBody>
              <a:bodyPr wrap="square" lIns="0" tIns="0" rIns="0" bIns="0" rtlCol="0" anchor="ctr"/>
              <a:lstStyle/>
              <a:p>
                <a:pPr marL="0" indent="0">
                  <a:buNone/>
                </a:pPr>
                <a:r>
                  <a:rPr lang="en-US" sz="900" dirty="0">
                    <a:solidFill>
                      <a:srgbClr val="404040"/>
                    </a:solidFill>
                    <a:ea typeface="Arial" pitchFamily="34" charset="-122"/>
                    <a:cs typeface="Arial" pitchFamily="34" charset="-120"/>
                  </a:rPr>
                  <a:t>Design &amp; Deliver — framework, reporting</a:t>
                </a:r>
                <a:endParaRPr lang="en-US" sz="900" dirty="0"/>
              </a:p>
            </p:txBody>
          </p:sp>
          <p:sp>
            <p:nvSpPr>
              <p:cNvPr id="571" name="Shape 97">
                <a:extLst>
                  <a:ext uri="{FF2B5EF4-FFF2-40B4-BE49-F238E27FC236}">
                    <a16:creationId xmlns:a16="http://schemas.microsoft.com/office/drawing/2014/main" id="{51850A1B-CDB0-6955-58CD-A4CBC27C3C07}"/>
                  </a:ext>
                </a:extLst>
              </p:cNvPr>
              <p:cNvSpPr/>
              <p:nvPr/>
            </p:nvSpPr>
            <p:spPr>
              <a:xfrm>
                <a:off x="4602798" y="5955457"/>
                <a:ext cx="328655" cy="201820"/>
              </a:xfrm>
              <a:prstGeom prst="triangle">
                <a:avLst/>
              </a:prstGeom>
              <a:solidFill>
                <a:srgbClr val="548235"/>
              </a:solidFill>
              <a:ln/>
            </p:spPr>
            <p:txBody>
              <a:bodyPr/>
              <a:lstStyle/>
              <a:p>
                <a:endParaRPr lang="en-IN" sz="900"/>
              </a:p>
            </p:txBody>
          </p:sp>
          <p:sp>
            <p:nvSpPr>
              <p:cNvPr id="572" name="Text 98">
                <a:extLst>
                  <a:ext uri="{FF2B5EF4-FFF2-40B4-BE49-F238E27FC236}">
                    <a16:creationId xmlns:a16="http://schemas.microsoft.com/office/drawing/2014/main" id="{95A67C06-10A7-59E6-D04A-FCC0B2727FC0}"/>
                  </a:ext>
                </a:extLst>
              </p:cNvPr>
              <p:cNvSpPr/>
              <p:nvPr/>
            </p:nvSpPr>
            <p:spPr>
              <a:xfrm>
                <a:off x="5006921" y="5883379"/>
                <a:ext cx="1905574" cy="403639"/>
              </a:xfrm>
              <a:prstGeom prst="rect">
                <a:avLst/>
              </a:prstGeom>
              <a:noFill/>
              <a:ln/>
            </p:spPr>
            <p:txBody>
              <a:bodyPr wrap="square" lIns="0" tIns="0" rIns="0" bIns="0" rtlCol="0" anchor="ctr"/>
              <a:lstStyle/>
              <a:p>
                <a:pPr marL="0" indent="0">
                  <a:buNone/>
                </a:pPr>
                <a:r>
                  <a:rPr lang="en-US" sz="900" dirty="0">
                    <a:solidFill>
                      <a:srgbClr val="404040"/>
                    </a:solidFill>
                    <a:ea typeface="Arial" pitchFamily="34" charset="-122"/>
                    <a:cs typeface="Arial" pitchFamily="34" charset="-120"/>
                  </a:rPr>
                  <a:t>Deliverable to NITI Aayog</a:t>
                </a:r>
                <a:endParaRPr lang="en-US" sz="900" dirty="0"/>
              </a:p>
            </p:txBody>
          </p:sp>
          <p:sp>
            <p:nvSpPr>
              <p:cNvPr id="573" name="Shape 99">
                <a:extLst>
                  <a:ext uri="{FF2B5EF4-FFF2-40B4-BE49-F238E27FC236}">
                    <a16:creationId xmlns:a16="http://schemas.microsoft.com/office/drawing/2014/main" id="{D3D4C1FE-F536-3A03-C9A0-F290FB211EB8}"/>
                  </a:ext>
                </a:extLst>
              </p:cNvPr>
              <p:cNvSpPr/>
              <p:nvPr/>
            </p:nvSpPr>
            <p:spPr>
              <a:xfrm>
                <a:off x="7441928" y="5946014"/>
                <a:ext cx="306590" cy="212786"/>
              </a:xfrm>
              <a:prstGeom prst="star5">
                <a:avLst/>
              </a:prstGeom>
              <a:solidFill>
                <a:srgbClr val="C00000"/>
              </a:solidFill>
              <a:ln/>
            </p:spPr>
            <p:txBody>
              <a:bodyPr/>
              <a:lstStyle/>
              <a:p>
                <a:endParaRPr lang="en-IN" sz="900"/>
              </a:p>
            </p:txBody>
          </p:sp>
          <p:sp>
            <p:nvSpPr>
              <p:cNvPr id="574" name="Text 100">
                <a:extLst>
                  <a:ext uri="{FF2B5EF4-FFF2-40B4-BE49-F238E27FC236}">
                    <a16:creationId xmlns:a16="http://schemas.microsoft.com/office/drawing/2014/main" id="{5669973A-C57D-273B-0F2E-E7F809C798CB}"/>
                  </a:ext>
                </a:extLst>
              </p:cNvPr>
              <p:cNvSpPr/>
              <p:nvPr/>
            </p:nvSpPr>
            <p:spPr>
              <a:xfrm>
                <a:off x="7805119" y="5902765"/>
                <a:ext cx="1905574" cy="403639"/>
              </a:xfrm>
              <a:prstGeom prst="rect">
                <a:avLst/>
              </a:prstGeom>
              <a:noFill/>
              <a:ln/>
            </p:spPr>
            <p:txBody>
              <a:bodyPr wrap="square" lIns="0" tIns="0" rIns="0" bIns="0" rtlCol="0" anchor="ctr"/>
              <a:lstStyle/>
              <a:p>
                <a:pPr marL="0" indent="0">
                  <a:buNone/>
                </a:pPr>
                <a:r>
                  <a:rPr lang="en-US" sz="900" dirty="0">
                    <a:solidFill>
                      <a:srgbClr val="404040"/>
                    </a:solidFill>
                    <a:ea typeface="Arial" pitchFamily="34" charset="-122"/>
                    <a:cs typeface="Arial" pitchFamily="34" charset="-120"/>
                  </a:rPr>
                  <a:t>Stakeholder workshop</a:t>
                </a:r>
                <a:endParaRPr lang="en-US" sz="900" dirty="0"/>
              </a:p>
            </p:txBody>
          </p:sp>
          <p:sp>
            <p:nvSpPr>
              <p:cNvPr id="575" name="Shape 101">
                <a:extLst>
                  <a:ext uri="{FF2B5EF4-FFF2-40B4-BE49-F238E27FC236}">
                    <a16:creationId xmlns:a16="http://schemas.microsoft.com/office/drawing/2014/main" id="{B1928E51-4672-D140-E073-1EF99FE27783}"/>
                  </a:ext>
                </a:extLst>
              </p:cNvPr>
              <p:cNvSpPr/>
              <p:nvPr/>
            </p:nvSpPr>
            <p:spPr>
              <a:xfrm>
                <a:off x="9627210" y="5974843"/>
                <a:ext cx="300455" cy="259482"/>
              </a:xfrm>
              <a:prstGeom prst="diamond">
                <a:avLst/>
              </a:prstGeom>
              <a:solidFill>
                <a:srgbClr val="00B0F0"/>
              </a:solidFill>
              <a:ln/>
            </p:spPr>
            <p:txBody>
              <a:bodyPr/>
              <a:lstStyle/>
              <a:p>
                <a:endParaRPr lang="en-IN" sz="900"/>
              </a:p>
            </p:txBody>
          </p:sp>
          <p:sp>
            <p:nvSpPr>
              <p:cNvPr id="576" name="Text 102">
                <a:extLst>
                  <a:ext uri="{FF2B5EF4-FFF2-40B4-BE49-F238E27FC236}">
                    <a16:creationId xmlns:a16="http://schemas.microsoft.com/office/drawing/2014/main" id="{B35D9906-9336-A545-77D4-99956BBBD077}"/>
                  </a:ext>
                </a:extLst>
              </p:cNvPr>
              <p:cNvSpPr/>
              <p:nvPr/>
            </p:nvSpPr>
            <p:spPr>
              <a:xfrm>
                <a:off x="10022000" y="5902765"/>
                <a:ext cx="1905574" cy="403639"/>
              </a:xfrm>
              <a:prstGeom prst="rect">
                <a:avLst/>
              </a:prstGeom>
              <a:noFill/>
              <a:ln/>
            </p:spPr>
            <p:txBody>
              <a:bodyPr wrap="square" lIns="0" tIns="0" rIns="0" bIns="0" rtlCol="0" anchor="ctr"/>
              <a:lstStyle/>
              <a:p>
                <a:pPr marL="0" indent="0">
                  <a:buNone/>
                </a:pPr>
                <a:r>
                  <a:rPr lang="en-US" sz="900" dirty="0">
                    <a:solidFill>
                      <a:srgbClr val="404040"/>
                    </a:solidFill>
                    <a:ea typeface="Arial" pitchFamily="34" charset="-122"/>
                    <a:cs typeface="Arial" pitchFamily="34" charset="-120"/>
                  </a:rPr>
                  <a:t>Fortnightly progress review</a:t>
                </a:r>
                <a:endParaRPr lang="en-US" sz="900" dirty="0"/>
              </a:p>
            </p:txBody>
          </p:sp>
          <p:sp>
            <p:nvSpPr>
              <p:cNvPr id="563" name="Shape 95">
                <a:extLst>
                  <a:ext uri="{FF2B5EF4-FFF2-40B4-BE49-F238E27FC236}">
                    <a16:creationId xmlns:a16="http://schemas.microsoft.com/office/drawing/2014/main" id="{0FFFE615-2CFC-4BA8-4F4C-D8B52D7BE0E7}"/>
                  </a:ext>
                </a:extLst>
              </p:cNvPr>
              <p:cNvSpPr/>
              <p:nvPr/>
            </p:nvSpPr>
            <p:spPr>
              <a:xfrm>
                <a:off x="3082964" y="5985711"/>
                <a:ext cx="279822" cy="248613"/>
              </a:xfrm>
              <a:prstGeom prst="rect">
                <a:avLst/>
              </a:prstGeom>
              <a:solidFill>
                <a:srgbClr val="00717F"/>
              </a:solidFill>
              <a:ln/>
            </p:spPr>
            <p:txBody>
              <a:bodyPr/>
              <a:lstStyle/>
              <a:p>
                <a:endParaRPr lang="en-IN"/>
              </a:p>
            </p:txBody>
          </p:sp>
          <p:sp>
            <p:nvSpPr>
              <p:cNvPr id="564" name="Text 98">
                <a:extLst>
                  <a:ext uri="{FF2B5EF4-FFF2-40B4-BE49-F238E27FC236}">
                    <a16:creationId xmlns:a16="http://schemas.microsoft.com/office/drawing/2014/main" id="{A03E9B72-28AF-5F63-A77A-34BF133745B0}"/>
                  </a:ext>
                </a:extLst>
              </p:cNvPr>
              <p:cNvSpPr/>
              <p:nvPr/>
            </p:nvSpPr>
            <p:spPr>
              <a:xfrm>
                <a:off x="3526295" y="5931849"/>
                <a:ext cx="506883" cy="345469"/>
              </a:xfrm>
              <a:prstGeom prst="rect">
                <a:avLst/>
              </a:prstGeom>
              <a:noFill/>
              <a:ln/>
            </p:spPr>
            <p:txBody>
              <a:bodyPr wrap="square" lIns="0" tIns="0" rIns="0" bIns="0" rtlCol="0" anchor="ctr"/>
              <a:lstStyle/>
              <a:p>
                <a:pPr marL="0" indent="0">
                  <a:buNone/>
                </a:pPr>
                <a:r>
                  <a:rPr lang="en-US" sz="900" dirty="0">
                    <a:solidFill>
                      <a:srgbClr val="404040"/>
                    </a:solidFill>
                    <a:ea typeface="Arial" pitchFamily="34" charset="-122"/>
                    <a:cs typeface="Arial" pitchFamily="34" charset="-120"/>
                  </a:rPr>
                  <a:t>Run</a:t>
                </a:r>
                <a:endParaRPr lang="en-US" sz="900" dirty="0"/>
              </a:p>
            </p:txBody>
          </p:sp>
          <p:sp>
            <p:nvSpPr>
              <p:cNvPr id="577" name="Text 44">
                <a:extLst>
                  <a:ext uri="{FF2B5EF4-FFF2-40B4-BE49-F238E27FC236}">
                    <a16:creationId xmlns:a16="http://schemas.microsoft.com/office/drawing/2014/main" id="{F2ABC916-58BF-E1B3-13AD-F494317B474E}"/>
                  </a:ext>
                </a:extLst>
              </p:cNvPr>
              <p:cNvSpPr/>
              <p:nvPr/>
            </p:nvSpPr>
            <p:spPr>
              <a:xfrm>
                <a:off x="8227917" y="1425326"/>
                <a:ext cx="1328197" cy="214206"/>
              </a:xfrm>
              <a:prstGeom prst="rect">
                <a:avLst/>
              </a:prstGeom>
              <a:solidFill>
                <a:srgbClr val="FFFFFF"/>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effectLst/>
                    <a:uLnTx/>
                    <a:uFillTx/>
                    <a:ea typeface="Arial" pitchFamily="34" charset="-122"/>
                    <a:cs typeface="Arial" pitchFamily="34" charset="-120"/>
                  </a:rPr>
                  <a:t>Schedule reviews</a:t>
                </a:r>
                <a:endParaRPr kumimoji="0" lang="en-US" sz="900" u="none" strike="noStrike" kern="1200" cap="none" spc="0" normalizeH="0" baseline="0" noProof="0" dirty="0">
                  <a:ln>
                    <a:noFill/>
                  </a:ln>
                  <a:effectLst/>
                  <a:uLnTx/>
                  <a:uFillTx/>
                  <a:ea typeface="+mn-ea"/>
                  <a:cs typeface="+mn-cs"/>
                </a:endParaRPr>
              </a:p>
            </p:txBody>
          </p:sp>
          <p:sp>
            <p:nvSpPr>
              <p:cNvPr id="578" name="Text 44">
                <a:extLst>
                  <a:ext uri="{FF2B5EF4-FFF2-40B4-BE49-F238E27FC236}">
                    <a16:creationId xmlns:a16="http://schemas.microsoft.com/office/drawing/2014/main" id="{D4D2363E-0462-631E-3914-E9CBEC6F6E88}"/>
                  </a:ext>
                </a:extLst>
              </p:cNvPr>
              <p:cNvSpPr/>
              <p:nvPr/>
            </p:nvSpPr>
            <p:spPr>
              <a:xfrm>
                <a:off x="3049910" y="1454653"/>
                <a:ext cx="1328197" cy="214206"/>
              </a:xfrm>
              <a:prstGeom prst="rect">
                <a:avLst/>
              </a:prstGeom>
              <a:solidFill>
                <a:srgbClr val="FFFFFF"/>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effectLst/>
                    <a:uLnTx/>
                    <a:uFillTx/>
                    <a:ea typeface="Arial" pitchFamily="34" charset="-122"/>
                    <a:cs typeface="Arial" pitchFamily="34" charset="-120"/>
                  </a:rPr>
                  <a:t>Schedule reviews</a:t>
                </a:r>
                <a:endParaRPr kumimoji="0" lang="en-US" sz="900" u="none" strike="noStrike" kern="1200" cap="none" spc="0" normalizeH="0" baseline="0" noProof="0" dirty="0">
                  <a:ln>
                    <a:noFill/>
                  </a:ln>
                  <a:effectLst/>
                  <a:uLnTx/>
                  <a:uFillTx/>
                  <a:ea typeface="+mn-ea"/>
                  <a:cs typeface="+mn-cs"/>
                </a:endParaRPr>
              </a:p>
            </p:txBody>
          </p:sp>
          <p:grpSp>
            <p:nvGrpSpPr>
              <p:cNvPr id="628" name="Group 627">
                <a:extLst>
                  <a:ext uri="{FF2B5EF4-FFF2-40B4-BE49-F238E27FC236}">
                    <a16:creationId xmlns:a16="http://schemas.microsoft.com/office/drawing/2014/main" id="{019CB396-6D89-B9B5-2F19-59A8C83FC8C1}"/>
                  </a:ext>
                </a:extLst>
              </p:cNvPr>
              <p:cNvGrpSpPr/>
              <p:nvPr/>
            </p:nvGrpSpPr>
            <p:grpSpPr>
              <a:xfrm>
                <a:off x="2033317" y="1882717"/>
                <a:ext cx="4062683" cy="1027328"/>
                <a:chOff x="2009780" y="1629226"/>
                <a:chExt cx="3091535" cy="1027328"/>
              </a:xfrm>
            </p:grpSpPr>
            <p:sp>
              <p:nvSpPr>
                <p:cNvPr id="630" name="Shape 53">
                  <a:extLst>
                    <a:ext uri="{FF2B5EF4-FFF2-40B4-BE49-F238E27FC236}">
                      <a16:creationId xmlns:a16="http://schemas.microsoft.com/office/drawing/2014/main" id="{1B12A702-084C-2EFE-CC03-41DBE8F9B482}"/>
                    </a:ext>
                  </a:extLst>
                </p:cNvPr>
                <p:cNvSpPr/>
                <p:nvPr/>
              </p:nvSpPr>
              <p:spPr>
                <a:xfrm>
                  <a:off x="2009780" y="1651981"/>
                  <a:ext cx="1681696" cy="259641"/>
                </a:xfrm>
                <a:prstGeom prst="rect">
                  <a:avLst/>
                </a:prstGeom>
                <a:solidFill>
                  <a:srgbClr val="E2F0D9"/>
                </a:solidFill>
                <a:ln/>
              </p:spPr>
              <p:txBody>
                <a:bodyPr/>
                <a:lstStyle/>
                <a:p>
                  <a:endParaRPr lang="en-IN" sz="900"/>
                </a:p>
              </p:txBody>
            </p:sp>
            <p:sp>
              <p:nvSpPr>
                <p:cNvPr id="631" name="Text 54">
                  <a:extLst>
                    <a:ext uri="{FF2B5EF4-FFF2-40B4-BE49-F238E27FC236}">
                      <a16:creationId xmlns:a16="http://schemas.microsoft.com/office/drawing/2014/main" id="{E10154EF-D384-440D-2278-34C2A5C4AC66}"/>
                    </a:ext>
                  </a:extLst>
                </p:cNvPr>
                <p:cNvSpPr/>
                <p:nvPr/>
              </p:nvSpPr>
              <p:spPr>
                <a:xfrm>
                  <a:off x="2123562" y="1629226"/>
                  <a:ext cx="1124712" cy="292608"/>
                </a:xfrm>
                <a:prstGeom prst="rect">
                  <a:avLst/>
                </a:prstGeom>
                <a:noFill/>
                <a:ln/>
              </p:spPr>
              <p:txBody>
                <a:bodyPr wrap="square" lIns="0" tIns="0" rIns="0" bIns="0" rtlCol="0" anchor="ctr"/>
                <a:lstStyle/>
                <a:p>
                  <a:pPr marL="0" indent="0" algn="ctr">
                    <a:lnSpc>
                      <a:spcPct val="90000"/>
                    </a:lnSpc>
                    <a:buNone/>
                  </a:pPr>
                  <a:r>
                    <a:rPr lang="en-US" sz="900" dirty="0">
                      <a:solidFill>
                        <a:srgbClr val="375623"/>
                      </a:solidFill>
                      <a:ea typeface="Arial" pitchFamily="34" charset="-122"/>
                      <a:cs typeface="Arial" pitchFamily="34" charset="-120"/>
                    </a:rPr>
                    <a:t>Kick-off and stakeholder identification</a:t>
                  </a:r>
                  <a:endParaRPr lang="en-US" sz="900" dirty="0"/>
                </a:p>
              </p:txBody>
            </p:sp>
            <p:sp>
              <p:nvSpPr>
                <p:cNvPr id="632" name="Shape 55">
                  <a:extLst>
                    <a:ext uri="{FF2B5EF4-FFF2-40B4-BE49-F238E27FC236}">
                      <a16:creationId xmlns:a16="http://schemas.microsoft.com/office/drawing/2014/main" id="{6793C5CE-4CDB-5178-5B9A-EBCD2CAB333E}"/>
                    </a:ext>
                  </a:extLst>
                </p:cNvPr>
                <p:cNvSpPr/>
                <p:nvPr/>
              </p:nvSpPr>
              <p:spPr>
                <a:xfrm>
                  <a:off x="2610612" y="1938527"/>
                  <a:ext cx="1547675" cy="282729"/>
                </a:xfrm>
                <a:prstGeom prst="rect">
                  <a:avLst/>
                </a:prstGeom>
                <a:solidFill>
                  <a:srgbClr val="E2F0D9"/>
                </a:solidFill>
                <a:ln/>
              </p:spPr>
              <p:txBody>
                <a:bodyPr/>
                <a:lstStyle/>
                <a:p>
                  <a:endParaRPr lang="en-IN"/>
                </a:p>
              </p:txBody>
            </p:sp>
            <p:sp>
              <p:nvSpPr>
                <p:cNvPr id="633" name="Text 56">
                  <a:extLst>
                    <a:ext uri="{FF2B5EF4-FFF2-40B4-BE49-F238E27FC236}">
                      <a16:creationId xmlns:a16="http://schemas.microsoft.com/office/drawing/2014/main" id="{91CF8585-7D69-1F0C-2B84-CA03209E2114}"/>
                    </a:ext>
                  </a:extLst>
                </p:cNvPr>
                <p:cNvSpPr/>
                <p:nvPr/>
              </p:nvSpPr>
              <p:spPr>
                <a:xfrm>
                  <a:off x="2638044" y="1938527"/>
                  <a:ext cx="1475690" cy="282729"/>
                </a:xfrm>
                <a:prstGeom prst="rect">
                  <a:avLst/>
                </a:prstGeom>
                <a:noFill/>
                <a:ln/>
              </p:spPr>
              <p:txBody>
                <a:bodyPr wrap="square" lIns="0" tIns="0" rIns="0" bIns="0" rtlCol="0" anchor="ctr"/>
                <a:lstStyle/>
                <a:p>
                  <a:pPr marL="0" indent="0" algn="ctr">
                    <a:lnSpc>
                      <a:spcPct val="90000"/>
                    </a:lnSpc>
                    <a:buNone/>
                  </a:pPr>
                  <a:r>
                    <a:rPr lang="en-US" sz="900" dirty="0">
                      <a:solidFill>
                        <a:srgbClr val="375623"/>
                      </a:solidFill>
                      <a:ea typeface="Arial" pitchFamily="34" charset="-122"/>
                      <a:cs typeface="Arial" pitchFamily="34" charset="-120"/>
                    </a:rPr>
                    <a:t>State selection and stratification</a:t>
                  </a:r>
                  <a:endParaRPr lang="en-US" sz="900" dirty="0"/>
                </a:p>
              </p:txBody>
            </p:sp>
            <p:sp>
              <p:nvSpPr>
                <p:cNvPr id="634" name="Shape 57">
                  <a:extLst>
                    <a:ext uri="{FF2B5EF4-FFF2-40B4-BE49-F238E27FC236}">
                      <a16:creationId xmlns:a16="http://schemas.microsoft.com/office/drawing/2014/main" id="{FDF4E48A-6769-D974-CFE7-A276D9D7BEDD}"/>
                    </a:ext>
                  </a:extLst>
                </p:cNvPr>
                <p:cNvSpPr/>
                <p:nvPr/>
              </p:nvSpPr>
              <p:spPr>
                <a:xfrm>
                  <a:off x="2610611" y="2258567"/>
                  <a:ext cx="2390171" cy="397987"/>
                </a:xfrm>
                <a:prstGeom prst="rect">
                  <a:avLst/>
                </a:prstGeom>
                <a:solidFill>
                  <a:srgbClr val="548235"/>
                </a:solidFill>
                <a:ln/>
              </p:spPr>
              <p:txBody>
                <a:bodyPr/>
                <a:lstStyle/>
                <a:p>
                  <a:endParaRPr lang="en-IN"/>
                </a:p>
              </p:txBody>
            </p:sp>
            <p:sp>
              <p:nvSpPr>
                <p:cNvPr id="635" name="Text 58">
                  <a:extLst>
                    <a:ext uri="{FF2B5EF4-FFF2-40B4-BE49-F238E27FC236}">
                      <a16:creationId xmlns:a16="http://schemas.microsoft.com/office/drawing/2014/main" id="{0FC6452B-8458-15D9-1472-2A94B285F24D}"/>
                    </a:ext>
                  </a:extLst>
                </p:cNvPr>
                <p:cNvSpPr/>
                <p:nvPr/>
              </p:nvSpPr>
              <p:spPr>
                <a:xfrm>
                  <a:off x="2672689" y="2300568"/>
                  <a:ext cx="2428626" cy="286474"/>
                </a:xfrm>
                <a:prstGeom prst="rect">
                  <a:avLst/>
                </a:prstGeom>
                <a:noFill/>
                <a:ln/>
              </p:spPr>
              <p:txBody>
                <a:bodyPr wrap="square" lIns="0" tIns="0" rIns="0" bIns="0" rtlCol="0" anchor="ctr"/>
                <a:lstStyle/>
                <a:p>
                  <a:pPr marL="0" indent="0" algn="ctr">
                    <a:lnSpc>
                      <a:spcPct val="90000"/>
                    </a:lnSpc>
                    <a:buNone/>
                  </a:pPr>
                  <a:r>
                    <a:rPr lang="en-US" sz="900" b="1" dirty="0">
                      <a:solidFill>
                        <a:srgbClr val="FFFFFF"/>
                      </a:solidFill>
                      <a:ea typeface="Arial" pitchFamily="34" charset="-122"/>
                      <a:cs typeface="Arial" pitchFamily="34" charset="-120"/>
                    </a:rPr>
                    <a:t>Secondary research and meta-analysis; scope, methodology and report structure finalised</a:t>
                  </a:r>
                  <a:endParaRPr lang="en-US" sz="900" dirty="0"/>
                </a:p>
              </p:txBody>
            </p:sp>
          </p:grpSp>
          <p:grpSp>
            <p:nvGrpSpPr>
              <p:cNvPr id="668" name="Group 667">
                <a:extLst>
                  <a:ext uri="{FF2B5EF4-FFF2-40B4-BE49-F238E27FC236}">
                    <a16:creationId xmlns:a16="http://schemas.microsoft.com/office/drawing/2014/main" id="{32468179-8E78-F9C5-A348-B2A2723F6933}"/>
                  </a:ext>
                </a:extLst>
              </p:cNvPr>
              <p:cNvGrpSpPr/>
              <p:nvPr/>
            </p:nvGrpSpPr>
            <p:grpSpPr>
              <a:xfrm>
                <a:off x="1813902" y="2580177"/>
                <a:ext cx="961211" cy="713246"/>
                <a:chOff x="6849160" y="2569096"/>
                <a:chExt cx="1796796" cy="306324"/>
              </a:xfrm>
            </p:grpSpPr>
            <p:sp>
              <p:nvSpPr>
                <p:cNvPr id="656" name="Shape 61">
                  <a:extLst>
                    <a:ext uri="{FF2B5EF4-FFF2-40B4-BE49-F238E27FC236}">
                      <a16:creationId xmlns:a16="http://schemas.microsoft.com/office/drawing/2014/main" id="{5DFD5958-9E83-FB20-295B-ACCA74D896BD}"/>
                    </a:ext>
                  </a:extLst>
                </p:cNvPr>
                <p:cNvSpPr/>
                <p:nvPr/>
              </p:nvSpPr>
              <p:spPr>
                <a:xfrm>
                  <a:off x="6849160" y="2569096"/>
                  <a:ext cx="1796796" cy="292608"/>
                </a:xfrm>
                <a:prstGeom prst="rect">
                  <a:avLst/>
                </a:prstGeom>
                <a:solidFill>
                  <a:srgbClr val="E2F0D9"/>
                </a:solidFill>
                <a:ln/>
              </p:spPr>
              <p:txBody>
                <a:bodyPr/>
                <a:lstStyle/>
                <a:p>
                  <a:endParaRPr lang="en-IN" sz="900"/>
                </a:p>
              </p:txBody>
            </p:sp>
            <p:sp>
              <p:nvSpPr>
                <p:cNvPr id="657" name="Text 62">
                  <a:extLst>
                    <a:ext uri="{FF2B5EF4-FFF2-40B4-BE49-F238E27FC236}">
                      <a16:creationId xmlns:a16="http://schemas.microsoft.com/office/drawing/2014/main" id="{8DA0B288-637C-89F9-C725-9B0E44B6E94F}"/>
                    </a:ext>
                  </a:extLst>
                </p:cNvPr>
                <p:cNvSpPr/>
                <p:nvPr/>
              </p:nvSpPr>
              <p:spPr>
                <a:xfrm>
                  <a:off x="6882776" y="2582812"/>
                  <a:ext cx="1741932" cy="292608"/>
                </a:xfrm>
                <a:prstGeom prst="rect">
                  <a:avLst/>
                </a:prstGeom>
                <a:noFill/>
                <a:ln/>
              </p:spPr>
              <p:txBody>
                <a:bodyPr wrap="square" lIns="0" tIns="0" rIns="0" bIns="0" rtlCol="0" anchor="ctr"/>
                <a:lstStyle/>
                <a:p>
                  <a:pPr marL="0" indent="0" algn="ctr">
                    <a:lnSpc>
                      <a:spcPct val="90000"/>
                    </a:lnSpc>
                    <a:buNone/>
                  </a:pPr>
                  <a:r>
                    <a:rPr lang="en-US" sz="900" dirty="0">
                      <a:solidFill>
                        <a:srgbClr val="375623"/>
                      </a:solidFill>
                      <a:ea typeface="Arial" pitchFamily="34" charset="-122"/>
                      <a:cs typeface="Arial" pitchFamily="34" charset="-120"/>
                    </a:rPr>
                    <a:t>Ten-year fiscal dataset: RBI, CAG Finance Accounts, State budgets</a:t>
                  </a:r>
                  <a:endParaRPr lang="en-US" sz="900" dirty="0"/>
                </a:p>
              </p:txBody>
            </p:sp>
          </p:grpSp>
          <p:sp>
            <p:nvSpPr>
              <p:cNvPr id="658" name="Shape 63">
                <a:extLst>
                  <a:ext uri="{FF2B5EF4-FFF2-40B4-BE49-F238E27FC236}">
                    <a16:creationId xmlns:a16="http://schemas.microsoft.com/office/drawing/2014/main" id="{ADB63ADE-C72F-766C-5500-480B457F78EA}"/>
                  </a:ext>
                </a:extLst>
              </p:cNvPr>
              <p:cNvSpPr/>
              <p:nvPr/>
            </p:nvSpPr>
            <p:spPr>
              <a:xfrm>
                <a:off x="2886095" y="2965328"/>
                <a:ext cx="3073613" cy="268564"/>
              </a:xfrm>
              <a:prstGeom prst="rect">
                <a:avLst/>
              </a:prstGeom>
              <a:solidFill>
                <a:srgbClr val="E2F0D9"/>
              </a:solidFill>
              <a:ln/>
            </p:spPr>
            <p:txBody>
              <a:bodyPr/>
              <a:lstStyle/>
              <a:p>
                <a:endParaRPr lang="en-IN" sz="900"/>
              </a:p>
            </p:txBody>
          </p:sp>
          <p:sp>
            <p:nvSpPr>
              <p:cNvPr id="659" name="Text 64">
                <a:extLst>
                  <a:ext uri="{FF2B5EF4-FFF2-40B4-BE49-F238E27FC236}">
                    <a16:creationId xmlns:a16="http://schemas.microsoft.com/office/drawing/2014/main" id="{6A1D936C-BC39-6A49-3669-B1F12FF27220}"/>
                  </a:ext>
                </a:extLst>
              </p:cNvPr>
              <p:cNvSpPr/>
              <p:nvPr/>
            </p:nvSpPr>
            <p:spPr>
              <a:xfrm>
                <a:off x="2886095" y="2966330"/>
                <a:ext cx="3016644" cy="287790"/>
              </a:xfrm>
              <a:prstGeom prst="rect">
                <a:avLst/>
              </a:prstGeom>
              <a:noFill/>
              <a:ln/>
            </p:spPr>
            <p:txBody>
              <a:bodyPr wrap="square" lIns="0" tIns="0" rIns="0" bIns="0" rtlCol="0" anchor="ctr"/>
              <a:lstStyle/>
              <a:p>
                <a:pPr marL="0" indent="0" algn="ctr">
                  <a:lnSpc>
                    <a:spcPct val="90000"/>
                  </a:lnSpc>
                  <a:buNone/>
                </a:pPr>
                <a:r>
                  <a:rPr lang="en-US" sz="900" dirty="0">
                    <a:solidFill>
                      <a:srgbClr val="375623"/>
                    </a:solidFill>
                    <a:ea typeface="Arial" pitchFamily="34" charset="-122"/>
                    <a:cs typeface="Arial" pitchFamily="34" charset="-120"/>
                  </a:rPr>
                  <a:t>DDG review, major head to object head; implicit, off-budget and EBR exposure</a:t>
                </a:r>
                <a:endParaRPr lang="en-US" sz="900" dirty="0"/>
              </a:p>
            </p:txBody>
          </p:sp>
          <p:grpSp>
            <p:nvGrpSpPr>
              <p:cNvPr id="669" name="Group 668">
                <a:extLst>
                  <a:ext uri="{FF2B5EF4-FFF2-40B4-BE49-F238E27FC236}">
                    <a16:creationId xmlns:a16="http://schemas.microsoft.com/office/drawing/2014/main" id="{50EE781E-F743-2041-8E5C-D01DA4ACBA5C}"/>
                  </a:ext>
                </a:extLst>
              </p:cNvPr>
              <p:cNvGrpSpPr/>
              <p:nvPr/>
            </p:nvGrpSpPr>
            <p:grpSpPr>
              <a:xfrm>
                <a:off x="5959708" y="2455326"/>
                <a:ext cx="2603001" cy="450196"/>
                <a:chOff x="6048233" y="2554892"/>
                <a:chExt cx="2401845" cy="311725"/>
              </a:xfrm>
            </p:grpSpPr>
            <p:sp>
              <p:nvSpPr>
                <p:cNvPr id="660" name="Shape 65">
                  <a:extLst>
                    <a:ext uri="{FF2B5EF4-FFF2-40B4-BE49-F238E27FC236}">
                      <a16:creationId xmlns:a16="http://schemas.microsoft.com/office/drawing/2014/main" id="{08A967C9-928B-F18F-0A26-CE19B42718AB}"/>
                    </a:ext>
                  </a:extLst>
                </p:cNvPr>
                <p:cNvSpPr/>
                <p:nvPr/>
              </p:nvSpPr>
              <p:spPr>
                <a:xfrm>
                  <a:off x="6090926" y="2574009"/>
                  <a:ext cx="2359152" cy="292608"/>
                </a:xfrm>
                <a:prstGeom prst="rect">
                  <a:avLst/>
                </a:prstGeom>
                <a:solidFill>
                  <a:srgbClr val="548235"/>
                </a:solidFill>
                <a:ln/>
              </p:spPr>
              <p:txBody>
                <a:bodyPr/>
                <a:lstStyle/>
                <a:p>
                  <a:endParaRPr lang="en-IN" sz="900"/>
                </a:p>
              </p:txBody>
            </p:sp>
            <p:sp>
              <p:nvSpPr>
                <p:cNvPr id="661" name="Text 66">
                  <a:extLst>
                    <a:ext uri="{FF2B5EF4-FFF2-40B4-BE49-F238E27FC236}">
                      <a16:creationId xmlns:a16="http://schemas.microsoft.com/office/drawing/2014/main" id="{67644CBE-D09F-8455-21A9-4910AD37C576}"/>
                    </a:ext>
                  </a:extLst>
                </p:cNvPr>
                <p:cNvSpPr/>
                <p:nvPr/>
              </p:nvSpPr>
              <p:spPr>
                <a:xfrm>
                  <a:off x="6048233" y="2554892"/>
                  <a:ext cx="2359152" cy="292608"/>
                </a:xfrm>
                <a:prstGeom prst="rect">
                  <a:avLst/>
                </a:prstGeom>
                <a:noFill/>
                <a:ln/>
              </p:spPr>
              <p:txBody>
                <a:bodyPr wrap="square" lIns="0" tIns="0" rIns="0" bIns="0" rtlCol="0" anchor="ctr"/>
                <a:lstStyle/>
                <a:p>
                  <a:pPr marL="0" indent="0" algn="ctr">
                    <a:lnSpc>
                      <a:spcPct val="90000"/>
                    </a:lnSpc>
                    <a:buNone/>
                  </a:pPr>
                  <a:r>
                    <a:rPr lang="en-US" sz="900" b="1" dirty="0">
                      <a:solidFill>
                        <a:srgbClr val="FFFFFF"/>
                      </a:solidFill>
                      <a:ea typeface="Arial" pitchFamily="34" charset="-122"/>
                      <a:cs typeface="Arial" pitchFamily="34" charset="-120"/>
                    </a:rPr>
                    <a:t>Fiscal-space assessment; KIIs and FGDs with States; benchmarking</a:t>
                  </a:r>
                  <a:endParaRPr lang="en-US" sz="900" dirty="0"/>
                </a:p>
              </p:txBody>
            </p:sp>
          </p:grpSp>
          <p:grpSp>
            <p:nvGrpSpPr>
              <p:cNvPr id="672" name="Group 671">
                <a:extLst>
                  <a:ext uri="{FF2B5EF4-FFF2-40B4-BE49-F238E27FC236}">
                    <a16:creationId xmlns:a16="http://schemas.microsoft.com/office/drawing/2014/main" id="{296600BF-322C-8C92-90E4-0759D2DA3DD5}"/>
                  </a:ext>
                </a:extLst>
              </p:cNvPr>
              <p:cNvGrpSpPr/>
              <p:nvPr/>
            </p:nvGrpSpPr>
            <p:grpSpPr>
              <a:xfrm>
                <a:off x="5999900" y="2969907"/>
                <a:ext cx="1267634" cy="554653"/>
                <a:chOff x="5999900" y="2969908"/>
                <a:chExt cx="1179576" cy="292608"/>
              </a:xfrm>
            </p:grpSpPr>
            <p:sp>
              <p:nvSpPr>
                <p:cNvPr id="662" name="Shape 69">
                  <a:extLst>
                    <a:ext uri="{FF2B5EF4-FFF2-40B4-BE49-F238E27FC236}">
                      <a16:creationId xmlns:a16="http://schemas.microsoft.com/office/drawing/2014/main" id="{506EE077-50CE-1F33-ADF2-F2F1BC96BD6C}"/>
                    </a:ext>
                  </a:extLst>
                </p:cNvPr>
                <p:cNvSpPr/>
                <p:nvPr/>
              </p:nvSpPr>
              <p:spPr>
                <a:xfrm>
                  <a:off x="5999900" y="2969908"/>
                  <a:ext cx="1179576" cy="292608"/>
                </a:xfrm>
                <a:prstGeom prst="rect">
                  <a:avLst/>
                </a:prstGeom>
                <a:solidFill>
                  <a:srgbClr val="E2F0D9"/>
                </a:solidFill>
                <a:ln/>
              </p:spPr>
              <p:txBody>
                <a:bodyPr/>
                <a:lstStyle/>
                <a:p>
                  <a:endParaRPr lang="en-IN" sz="900"/>
                </a:p>
              </p:txBody>
            </p:sp>
            <p:sp>
              <p:nvSpPr>
                <p:cNvPr id="663" name="Text 70">
                  <a:extLst>
                    <a:ext uri="{FF2B5EF4-FFF2-40B4-BE49-F238E27FC236}">
                      <a16:creationId xmlns:a16="http://schemas.microsoft.com/office/drawing/2014/main" id="{FB6F5B61-7BBD-9ADC-F48B-EA8EF2BDA51D}"/>
                    </a:ext>
                  </a:extLst>
                </p:cNvPr>
                <p:cNvSpPr/>
                <p:nvPr/>
              </p:nvSpPr>
              <p:spPr>
                <a:xfrm>
                  <a:off x="6048129" y="2969908"/>
                  <a:ext cx="1124712" cy="292608"/>
                </a:xfrm>
                <a:prstGeom prst="rect">
                  <a:avLst/>
                </a:prstGeom>
                <a:noFill/>
                <a:ln/>
              </p:spPr>
              <p:txBody>
                <a:bodyPr wrap="square" lIns="0" tIns="0" rIns="0" bIns="0" rtlCol="0" anchor="ctr"/>
                <a:lstStyle/>
                <a:p>
                  <a:pPr marL="0" indent="0" algn="ctr">
                    <a:lnSpc>
                      <a:spcPct val="90000"/>
                    </a:lnSpc>
                    <a:buNone/>
                  </a:pPr>
                  <a:r>
                    <a:rPr lang="en-US" sz="900" dirty="0">
                      <a:solidFill>
                        <a:srgbClr val="375623"/>
                      </a:solidFill>
                      <a:ea typeface="Arial" pitchFamily="34" charset="-122"/>
                      <a:cs typeface="Arial" pitchFamily="34" charset="-120"/>
                    </a:rPr>
                    <a:t>Scheme shortlisting and evaluation matrix</a:t>
                  </a:r>
                  <a:endParaRPr lang="en-US" sz="900" dirty="0"/>
                </a:p>
              </p:txBody>
            </p:sp>
          </p:grpSp>
          <p:sp>
            <p:nvSpPr>
              <p:cNvPr id="664" name="Shape 71">
                <a:extLst>
                  <a:ext uri="{FF2B5EF4-FFF2-40B4-BE49-F238E27FC236}">
                    <a16:creationId xmlns:a16="http://schemas.microsoft.com/office/drawing/2014/main" id="{5106D3DD-DFD5-3D65-E2B1-9B32632F30AE}"/>
                  </a:ext>
                </a:extLst>
              </p:cNvPr>
              <p:cNvSpPr/>
              <p:nvPr/>
            </p:nvSpPr>
            <p:spPr>
              <a:xfrm>
                <a:off x="7324502" y="2946007"/>
                <a:ext cx="2466269" cy="268562"/>
              </a:xfrm>
              <a:prstGeom prst="rect">
                <a:avLst/>
              </a:prstGeom>
              <a:solidFill>
                <a:srgbClr val="548235"/>
              </a:solidFill>
              <a:ln/>
            </p:spPr>
            <p:txBody>
              <a:bodyPr/>
              <a:lstStyle/>
              <a:p>
                <a:endParaRPr lang="en-IN"/>
              </a:p>
            </p:txBody>
          </p:sp>
          <p:sp>
            <p:nvSpPr>
              <p:cNvPr id="665" name="Text 72">
                <a:extLst>
                  <a:ext uri="{FF2B5EF4-FFF2-40B4-BE49-F238E27FC236}">
                    <a16:creationId xmlns:a16="http://schemas.microsoft.com/office/drawing/2014/main" id="{BC82D5DB-F7F3-5974-AEB7-42F21D562B24}"/>
                  </a:ext>
                </a:extLst>
              </p:cNvPr>
              <p:cNvSpPr/>
              <p:nvPr/>
            </p:nvSpPr>
            <p:spPr>
              <a:xfrm>
                <a:off x="7267533" y="2941796"/>
                <a:ext cx="2466269" cy="261549"/>
              </a:xfrm>
              <a:prstGeom prst="rect">
                <a:avLst/>
              </a:prstGeom>
              <a:noFill/>
              <a:ln/>
            </p:spPr>
            <p:txBody>
              <a:bodyPr wrap="square" lIns="0" tIns="0" rIns="0" bIns="0" rtlCol="0" anchor="ctr"/>
              <a:lstStyle/>
              <a:p>
                <a:pPr marL="0" indent="0" algn="ctr">
                  <a:lnSpc>
                    <a:spcPct val="90000"/>
                  </a:lnSpc>
                  <a:buNone/>
                </a:pPr>
                <a:r>
                  <a:rPr lang="en-US" sz="900" b="1" dirty="0">
                    <a:solidFill>
                      <a:srgbClr val="FFFFFF"/>
                    </a:solidFill>
                    <a:ea typeface="Arial" pitchFamily="34" charset="-122"/>
                    <a:cs typeface="Arial" pitchFamily="34" charset="-120"/>
                  </a:rPr>
                  <a:t>Classification framework: welfare, reformable, distortionary</a:t>
                </a:r>
                <a:endParaRPr lang="en-US" sz="900" dirty="0"/>
              </a:p>
            </p:txBody>
          </p:sp>
          <p:grpSp>
            <p:nvGrpSpPr>
              <p:cNvPr id="671" name="Group 670">
                <a:extLst>
                  <a:ext uri="{FF2B5EF4-FFF2-40B4-BE49-F238E27FC236}">
                    <a16:creationId xmlns:a16="http://schemas.microsoft.com/office/drawing/2014/main" id="{411F0323-BFED-EFB8-5B17-4D03FF6C8987}"/>
                  </a:ext>
                </a:extLst>
              </p:cNvPr>
              <p:cNvGrpSpPr/>
              <p:nvPr/>
            </p:nvGrpSpPr>
            <p:grpSpPr>
              <a:xfrm>
                <a:off x="7508511" y="3242320"/>
                <a:ext cx="1492403" cy="389871"/>
                <a:chOff x="7941723" y="3266047"/>
                <a:chExt cx="1179576" cy="292608"/>
              </a:xfrm>
            </p:grpSpPr>
            <p:sp>
              <p:nvSpPr>
                <p:cNvPr id="666" name="Shape 73">
                  <a:extLst>
                    <a:ext uri="{FF2B5EF4-FFF2-40B4-BE49-F238E27FC236}">
                      <a16:creationId xmlns:a16="http://schemas.microsoft.com/office/drawing/2014/main" id="{7AFB3537-BD8D-0D48-7B20-B5249A083763}"/>
                    </a:ext>
                  </a:extLst>
                </p:cNvPr>
                <p:cNvSpPr/>
                <p:nvPr/>
              </p:nvSpPr>
              <p:spPr>
                <a:xfrm>
                  <a:off x="7941723" y="3266047"/>
                  <a:ext cx="1179576" cy="292608"/>
                </a:xfrm>
                <a:prstGeom prst="rect">
                  <a:avLst/>
                </a:prstGeom>
                <a:solidFill>
                  <a:srgbClr val="548235"/>
                </a:solidFill>
                <a:ln/>
              </p:spPr>
              <p:txBody>
                <a:bodyPr/>
                <a:lstStyle/>
                <a:p>
                  <a:endParaRPr lang="en-IN"/>
                </a:p>
              </p:txBody>
            </p:sp>
            <p:sp>
              <p:nvSpPr>
                <p:cNvPr id="667" name="Text 74">
                  <a:extLst>
                    <a:ext uri="{FF2B5EF4-FFF2-40B4-BE49-F238E27FC236}">
                      <a16:creationId xmlns:a16="http://schemas.microsoft.com/office/drawing/2014/main" id="{685C4DB7-36FC-FFAD-D179-B90D950AB303}"/>
                    </a:ext>
                  </a:extLst>
                </p:cNvPr>
                <p:cNvSpPr/>
                <p:nvPr/>
              </p:nvSpPr>
              <p:spPr>
                <a:xfrm>
                  <a:off x="7969155" y="3266047"/>
                  <a:ext cx="1124712" cy="292608"/>
                </a:xfrm>
                <a:prstGeom prst="rect">
                  <a:avLst/>
                </a:prstGeom>
                <a:noFill/>
                <a:ln/>
              </p:spPr>
              <p:txBody>
                <a:bodyPr wrap="square" lIns="0" tIns="0" rIns="0" bIns="0" rtlCol="0" anchor="ctr"/>
                <a:lstStyle/>
                <a:p>
                  <a:pPr marL="0" indent="0" algn="ctr">
                    <a:lnSpc>
                      <a:spcPct val="90000"/>
                    </a:lnSpc>
                    <a:buNone/>
                  </a:pPr>
                  <a:r>
                    <a:rPr lang="en-US" sz="900" b="1" dirty="0">
                      <a:solidFill>
                        <a:srgbClr val="FFFFFF"/>
                      </a:solidFill>
                      <a:ea typeface="Arial" pitchFamily="34" charset="-122"/>
                      <a:cs typeface="Arial" pitchFamily="34" charset="-120"/>
                    </a:rPr>
                    <a:t>Excel framework build &amp; recommendations</a:t>
                  </a:r>
                  <a:endParaRPr lang="en-US" sz="900" dirty="0"/>
                </a:p>
              </p:txBody>
            </p:sp>
          </p:grpSp>
          <p:sp>
            <p:nvSpPr>
              <p:cNvPr id="675" name="Shape 80">
                <a:extLst>
                  <a:ext uri="{FF2B5EF4-FFF2-40B4-BE49-F238E27FC236}">
                    <a16:creationId xmlns:a16="http://schemas.microsoft.com/office/drawing/2014/main" id="{D3D1BB35-6C1C-8C64-A7DA-911FCFD9E54E}"/>
                  </a:ext>
                </a:extLst>
              </p:cNvPr>
              <p:cNvSpPr/>
              <p:nvPr/>
            </p:nvSpPr>
            <p:spPr>
              <a:xfrm>
                <a:off x="9032577" y="3325020"/>
                <a:ext cx="1904831" cy="309903"/>
              </a:xfrm>
              <a:prstGeom prst="rect">
                <a:avLst/>
              </a:prstGeom>
              <a:solidFill>
                <a:srgbClr val="E2F0D9"/>
              </a:solidFill>
              <a:ln/>
            </p:spPr>
            <p:txBody>
              <a:bodyPr/>
              <a:lstStyle/>
              <a:p>
                <a:endParaRPr lang="en-IN"/>
              </a:p>
            </p:txBody>
          </p:sp>
          <p:sp>
            <p:nvSpPr>
              <p:cNvPr id="676" name="Text 81">
                <a:extLst>
                  <a:ext uri="{FF2B5EF4-FFF2-40B4-BE49-F238E27FC236}">
                    <a16:creationId xmlns:a16="http://schemas.microsoft.com/office/drawing/2014/main" id="{8592FB11-3C05-E210-7A2D-F5FC8A651A14}"/>
                  </a:ext>
                </a:extLst>
              </p:cNvPr>
              <p:cNvSpPr/>
              <p:nvPr/>
            </p:nvSpPr>
            <p:spPr>
              <a:xfrm>
                <a:off x="9029835" y="3335737"/>
                <a:ext cx="1904830" cy="292604"/>
              </a:xfrm>
              <a:prstGeom prst="rect">
                <a:avLst/>
              </a:prstGeom>
              <a:noFill/>
              <a:ln/>
            </p:spPr>
            <p:txBody>
              <a:bodyPr wrap="square" lIns="0" tIns="0" rIns="0" bIns="0" rtlCol="0" anchor="ctr"/>
              <a:lstStyle/>
              <a:p>
                <a:pPr marL="0" indent="0" algn="ctr">
                  <a:lnSpc>
                    <a:spcPct val="90000"/>
                  </a:lnSpc>
                  <a:buNone/>
                </a:pPr>
                <a:r>
                  <a:rPr lang="en-US" sz="900" dirty="0">
                    <a:solidFill>
                      <a:srgbClr val="375623"/>
                    </a:solidFill>
                    <a:ea typeface="Arial" pitchFamily="34" charset="-122"/>
                    <a:cs typeface="Arial" pitchFamily="34" charset="-120"/>
                  </a:rPr>
                  <a:t>NITI Aayog comments and feedback</a:t>
                </a:r>
                <a:endParaRPr lang="en-US" sz="900" dirty="0"/>
              </a:p>
            </p:txBody>
          </p:sp>
          <p:grpSp>
            <p:nvGrpSpPr>
              <p:cNvPr id="713" name="Group 712">
                <a:extLst>
                  <a:ext uri="{FF2B5EF4-FFF2-40B4-BE49-F238E27FC236}">
                    <a16:creationId xmlns:a16="http://schemas.microsoft.com/office/drawing/2014/main" id="{F664E632-3AF2-D679-773C-1D8C2D3EDA4B}"/>
                  </a:ext>
                </a:extLst>
              </p:cNvPr>
              <p:cNvGrpSpPr/>
              <p:nvPr/>
            </p:nvGrpSpPr>
            <p:grpSpPr>
              <a:xfrm>
                <a:off x="7700257" y="3790070"/>
                <a:ext cx="3995779" cy="411475"/>
                <a:chOff x="7700257" y="3723164"/>
                <a:chExt cx="3995779" cy="411475"/>
              </a:xfrm>
            </p:grpSpPr>
            <p:sp>
              <p:nvSpPr>
                <p:cNvPr id="673" name="Shape 77">
                  <a:extLst>
                    <a:ext uri="{FF2B5EF4-FFF2-40B4-BE49-F238E27FC236}">
                      <a16:creationId xmlns:a16="http://schemas.microsoft.com/office/drawing/2014/main" id="{9A560A79-62A7-31EF-1CCC-FCC8A9C70AAE}"/>
                    </a:ext>
                  </a:extLst>
                </p:cNvPr>
                <p:cNvSpPr/>
                <p:nvPr/>
              </p:nvSpPr>
              <p:spPr>
                <a:xfrm>
                  <a:off x="7700257" y="3723164"/>
                  <a:ext cx="2163719" cy="309917"/>
                </a:xfrm>
                <a:prstGeom prst="rect">
                  <a:avLst/>
                </a:prstGeom>
                <a:solidFill>
                  <a:srgbClr val="548235"/>
                </a:solidFill>
                <a:ln/>
              </p:spPr>
              <p:txBody>
                <a:bodyPr/>
                <a:lstStyle/>
                <a:p>
                  <a:endParaRPr lang="en-IN" sz="900"/>
                </a:p>
              </p:txBody>
            </p:sp>
            <p:sp>
              <p:nvSpPr>
                <p:cNvPr id="674" name="Text 78">
                  <a:extLst>
                    <a:ext uri="{FF2B5EF4-FFF2-40B4-BE49-F238E27FC236}">
                      <a16:creationId xmlns:a16="http://schemas.microsoft.com/office/drawing/2014/main" id="{68692AE2-28DE-8D86-BD7F-46B56D6CE428}"/>
                    </a:ext>
                  </a:extLst>
                </p:cNvPr>
                <p:cNvSpPr/>
                <p:nvPr/>
              </p:nvSpPr>
              <p:spPr>
                <a:xfrm>
                  <a:off x="7727689" y="3723164"/>
                  <a:ext cx="2063081" cy="309917"/>
                </a:xfrm>
                <a:prstGeom prst="rect">
                  <a:avLst/>
                </a:prstGeom>
                <a:noFill/>
                <a:ln/>
              </p:spPr>
              <p:txBody>
                <a:bodyPr wrap="square" lIns="0" tIns="0" rIns="0" bIns="0" rtlCol="0" anchor="ctr"/>
                <a:lstStyle/>
                <a:p>
                  <a:pPr marL="0" indent="0" algn="ctr">
                    <a:lnSpc>
                      <a:spcPct val="90000"/>
                    </a:lnSpc>
                    <a:buNone/>
                  </a:pPr>
                  <a:r>
                    <a:rPr lang="en-US" sz="900" b="1" dirty="0">
                      <a:solidFill>
                        <a:srgbClr val="FFFFFF"/>
                      </a:solidFill>
                      <a:ea typeface="Arial" pitchFamily="34" charset="-122"/>
                      <a:cs typeface="Arial" pitchFamily="34" charset="-120"/>
                    </a:rPr>
                    <a:t>Validation workshop on draft report</a:t>
                  </a:r>
                  <a:endParaRPr lang="en-US" sz="900" dirty="0"/>
                </a:p>
              </p:txBody>
            </p:sp>
            <p:sp>
              <p:nvSpPr>
                <p:cNvPr id="677" name="Shape 82">
                  <a:extLst>
                    <a:ext uri="{FF2B5EF4-FFF2-40B4-BE49-F238E27FC236}">
                      <a16:creationId xmlns:a16="http://schemas.microsoft.com/office/drawing/2014/main" id="{D30A657A-A6B3-26FD-FBB6-54A620F66096}"/>
                    </a:ext>
                  </a:extLst>
                </p:cNvPr>
                <p:cNvSpPr/>
                <p:nvPr/>
              </p:nvSpPr>
              <p:spPr>
                <a:xfrm>
                  <a:off x="9984993" y="3735506"/>
                  <a:ext cx="1680154" cy="399133"/>
                </a:xfrm>
                <a:prstGeom prst="rect">
                  <a:avLst/>
                </a:prstGeom>
                <a:solidFill>
                  <a:srgbClr val="548235"/>
                </a:solidFill>
                <a:ln/>
              </p:spPr>
              <p:txBody>
                <a:bodyPr/>
                <a:lstStyle/>
                <a:p>
                  <a:endParaRPr lang="en-IN"/>
                </a:p>
              </p:txBody>
            </p:sp>
            <p:sp>
              <p:nvSpPr>
                <p:cNvPr id="678" name="Text 83">
                  <a:extLst>
                    <a:ext uri="{FF2B5EF4-FFF2-40B4-BE49-F238E27FC236}">
                      <a16:creationId xmlns:a16="http://schemas.microsoft.com/office/drawing/2014/main" id="{B01866EB-8CF9-8397-2C2E-430085738E84}"/>
                    </a:ext>
                  </a:extLst>
                </p:cNvPr>
                <p:cNvSpPr/>
                <p:nvPr/>
              </p:nvSpPr>
              <p:spPr>
                <a:xfrm>
                  <a:off x="9954104" y="3734466"/>
                  <a:ext cx="1741932" cy="399132"/>
                </a:xfrm>
                <a:prstGeom prst="rect">
                  <a:avLst/>
                </a:prstGeom>
                <a:noFill/>
                <a:ln/>
              </p:spPr>
              <p:txBody>
                <a:bodyPr wrap="square" lIns="0" tIns="0" rIns="0" bIns="0" rtlCol="0" anchor="ctr"/>
                <a:lstStyle/>
                <a:p>
                  <a:pPr marL="0" indent="0" algn="ctr">
                    <a:lnSpc>
                      <a:spcPct val="90000"/>
                    </a:lnSpc>
                    <a:buNone/>
                  </a:pPr>
                  <a:r>
                    <a:rPr lang="en-US" sz="900" b="1" dirty="0">
                      <a:solidFill>
                        <a:srgbClr val="FFFFFF"/>
                      </a:solidFill>
                      <a:ea typeface="Arial" pitchFamily="34" charset="-122"/>
                      <a:cs typeface="Arial" pitchFamily="34" charset="-120"/>
                    </a:rPr>
                    <a:t>Final report, synopsis &amp; data repository; dissemination workshop</a:t>
                  </a:r>
                  <a:endParaRPr lang="en-US" sz="900" dirty="0"/>
                </a:p>
              </p:txBody>
            </p:sp>
          </p:grpSp>
          <p:sp>
            <p:nvSpPr>
              <p:cNvPr id="692" name="Shape 101">
                <a:extLst>
                  <a:ext uri="{FF2B5EF4-FFF2-40B4-BE49-F238E27FC236}">
                    <a16:creationId xmlns:a16="http://schemas.microsoft.com/office/drawing/2014/main" id="{721D7338-4633-A282-951A-2047F560E2FC}"/>
                  </a:ext>
                </a:extLst>
              </p:cNvPr>
              <p:cNvSpPr/>
              <p:nvPr/>
            </p:nvSpPr>
            <p:spPr>
              <a:xfrm>
                <a:off x="4596176" y="6231932"/>
                <a:ext cx="300455" cy="259482"/>
              </a:xfrm>
              <a:prstGeom prst="diamond">
                <a:avLst/>
              </a:prstGeom>
              <a:solidFill>
                <a:srgbClr val="ED8B00"/>
              </a:solidFill>
              <a:ln/>
            </p:spPr>
            <p:txBody>
              <a:bodyPr/>
              <a:lstStyle/>
              <a:p>
                <a:endParaRPr lang="en-IN" sz="900"/>
              </a:p>
            </p:txBody>
          </p:sp>
          <p:sp>
            <p:nvSpPr>
              <p:cNvPr id="693" name="Text 98">
                <a:extLst>
                  <a:ext uri="{FF2B5EF4-FFF2-40B4-BE49-F238E27FC236}">
                    <a16:creationId xmlns:a16="http://schemas.microsoft.com/office/drawing/2014/main" id="{DB55A50C-1308-4D0F-0353-7871DC54E139}"/>
                  </a:ext>
                </a:extLst>
              </p:cNvPr>
              <p:cNvSpPr/>
              <p:nvPr/>
            </p:nvSpPr>
            <p:spPr>
              <a:xfrm>
                <a:off x="5012395" y="6190575"/>
                <a:ext cx="1905574" cy="403639"/>
              </a:xfrm>
              <a:prstGeom prst="rect">
                <a:avLst/>
              </a:prstGeom>
              <a:noFill/>
              <a:ln/>
            </p:spPr>
            <p:txBody>
              <a:bodyPr wrap="square" lIns="0" tIns="0" rIns="0" bIns="0" rtlCol="0" anchor="ctr"/>
              <a:lstStyle/>
              <a:p>
                <a:pPr marL="0" indent="0">
                  <a:buNone/>
                </a:pPr>
                <a:r>
                  <a:rPr lang="en-US" sz="900" dirty="0">
                    <a:solidFill>
                      <a:srgbClr val="404040"/>
                    </a:solidFill>
                    <a:ea typeface="Arial" pitchFamily="34" charset="-122"/>
                    <a:cs typeface="Arial" pitchFamily="34" charset="-120"/>
                  </a:rPr>
                  <a:t>Advocacy Content, material</a:t>
                </a:r>
                <a:endParaRPr lang="en-US" sz="900" dirty="0"/>
              </a:p>
            </p:txBody>
          </p:sp>
          <p:grpSp>
            <p:nvGrpSpPr>
              <p:cNvPr id="696" name="Group 695">
                <a:extLst>
                  <a:ext uri="{FF2B5EF4-FFF2-40B4-BE49-F238E27FC236}">
                    <a16:creationId xmlns:a16="http://schemas.microsoft.com/office/drawing/2014/main" id="{F459A23B-E2B0-C75C-6A76-0D0908B22CB5}"/>
                  </a:ext>
                </a:extLst>
              </p:cNvPr>
              <p:cNvGrpSpPr/>
              <p:nvPr/>
            </p:nvGrpSpPr>
            <p:grpSpPr>
              <a:xfrm>
                <a:off x="4367234" y="1889574"/>
                <a:ext cx="7418405" cy="259482"/>
                <a:chOff x="4367234" y="1889574"/>
                <a:chExt cx="7418405" cy="259482"/>
              </a:xfrm>
            </p:grpSpPr>
            <p:cxnSp>
              <p:nvCxnSpPr>
                <p:cNvPr id="687" name="Straight Connector 686">
                  <a:extLst>
                    <a:ext uri="{FF2B5EF4-FFF2-40B4-BE49-F238E27FC236}">
                      <a16:creationId xmlns:a16="http://schemas.microsoft.com/office/drawing/2014/main" id="{95621E22-FC20-62F0-7714-07BA0DFE7175}"/>
                    </a:ext>
                  </a:extLst>
                </p:cNvPr>
                <p:cNvCxnSpPr>
                  <a:cxnSpLocks/>
                </p:cNvCxnSpPr>
                <p:nvPr/>
              </p:nvCxnSpPr>
              <p:spPr>
                <a:xfrm flipV="1">
                  <a:off x="4552301" y="1975648"/>
                  <a:ext cx="7202056" cy="4177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88" name="Flowchart: Connector 687">
                  <a:extLst>
                    <a:ext uri="{FF2B5EF4-FFF2-40B4-BE49-F238E27FC236}">
                      <a16:creationId xmlns:a16="http://schemas.microsoft.com/office/drawing/2014/main" id="{21097C37-F0C1-B0D0-7987-CFA7D121C82A}"/>
                    </a:ext>
                  </a:extLst>
                </p:cNvPr>
                <p:cNvSpPr/>
                <p:nvPr/>
              </p:nvSpPr>
              <p:spPr bwMode="gray">
                <a:xfrm>
                  <a:off x="4367234" y="1986842"/>
                  <a:ext cx="95786" cy="102451"/>
                </a:xfrm>
                <a:prstGeom prst="flowChartConnector">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689" name="Flowchart: Connector 688">
                  <a:extLst>
                    <a:ext uri="{FF2B5EF4-FFF2-40B4-BE49-F238E27FC236}">
                      <a16:creationId xmlns:a16="http://schemas.microsoft.com/office/drawing/2014/main" id="{E26E07A4-1635-C0E3-01EA-376ACEAC1887}"/>
                    </a:ext>
                  </a:extLst>
                </p:cNvPr>
                <p:cNvSpPr/>
                <p:nvPr/>
              </p:nvSpPr>
              <p:spPr bwMode="gray">
                <a:xfrm>
                  <a:off x="11689853" y="1938524"/>
                  <a:ext cx="95786" cy="102451"/>
                </a:xfrm>
                <a:prstGeom prst="flowChartConnector">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695" name="Shape 101">
                  <a:extLst>
                    <a:ext uri="{FF2B5EF4-FFF2-40B4-BE49-F238E27FC236}">
                      <a16:creationId xmlns:a16="http://schemas.microsoft.com/office/drawing/2014/main" id="{2B6B44E8-610A-1D11-FE07-A51B3AFC6D1C}"/>
                    </a:ext>
                  </a:extLst>
                </p:cNvPr>
                <p:cNvSpPr/>
                <p:nvPr/>
              </p:nvSpPr>
              <p:spPr>
                <a:xfrm>
                  <a:off x="7358283" y="1889574"/>
                  <a:ext cx="300455" cy="259482"/>
                </a:xfrm>
                <a:prstGeom prst="diamond">
                  <a:avLst/>
                </a:prstGeom>
                <a:solidFill>
                  <a:srgbClr val="ED8B00"/>
                </a:solidFill>
                <a:ln/>
              </p:spPr>
              <p:txBody>
                <a:bodyPr/>
                <a:lstStyle/>
                <a:p>
                  <a:endParaRPr lang="en-IN" sz="900" dirty="0"/>
                </a:p>
              </p:txBody>
            </p:sp>
          </p:grpSp>
          <p:grpSp>
            <p:nvGrpSpPr>
              <p:cNvPr id="697" name="Group 696">
                <a:extLst>
                  <a:ext uri="{FF2B5EF4-FFF2-40B4-BE49-F238E27FC236}">
                    <a16:creationId xmlns:a16="http://schemas.microsoft.com/office/drawing/2014/main" id="{3327380F-06D8-DBC6-CF66-1A25ECCDFB73}"/>
                  </a:ext>
                </a:extLst>
              </p:cNvPr>
              <p:cNvGrpSpPr/>
              <p:nvPr/>
            </p:nvGrpSpPr>
            <p:grpSpPr>
              <a:xfrm>
                <a:off x="4966596" y="2254715"/>
                <a:ext cx="6824928" cy="131304"/>
                <a:chOff x="4367234" y="1949675"/>
                <a:chExt cx="7367080" cy="139618"/>
              </a:xfrm>
            </p:grpSpPr>
            <p:cxnSp>
              <p:nvCxnSpPr>
                <p:cNvPr id="698" name="Straight Connector 697">
                  <a:extLst>
                    <a:ext uri="{FF2B5EF4-FFF2-40B4-BE49-F238E27FC236}">
                      <a16:creationId xmlns:a16="http://schemas.microsoft.com/office/drawing/2014/main" id="{734A0A3F-DBA5-695E-F9F7-3E43432CF06C}"/>
                    </a:ext>
                  </a:extLst>
                </p:cNvPr>
                <p:cNvCxnSpPr>
                  <a:cxnSpLocks/>
                </p:cNvCxnSpPr>
                <p:nvPr/>
              </p:nvCxnSpPr>
              <p:spPr>
                <a:xfrm flipV="1">
                  <a:off x="4444503" y="1998426"/>
                  <a:ext cx="7202056" cy="4177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99" name="Flowchart: Connector 698">
                  <a:extLst>
                    <a:ext uri="{FF2B5EF4-FFF2-40B4-BE49-F238E27FC236}">
                      <a16:creationId xmlns:a16="http://schemas.microsoft.com/office/drawing/2014/main" id="{A6840791-D3CE-1566-CB47-68B1729D2DC2}"/>
                    </a:ext>
                  </a:extLst>
                </p:cNvPr>
                <p:cNvSpPr/>
                <p:nvPr/>
              </p:nvSpPr>
              <p:spPr bwMode="gray">
                <a:xfrm>
                  <a:off x="4367234" y="1986842"/>
                  <a:ext cx="95786" cy="102451"/>
                </a:xfrm>
                <a:prstGeom prst="flowChartConnector">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700" name="Flowchart: Connector 699">
                  <a:extLst>
                    <a:ext uri="{FF2B5EF4-FFF2-40B4-BE49-F238E27FC236}">
                      <a16:creationId xmlns:a16="http://schemas.microsoft.com/office/drawing/2014/main" id="{DA0C5321-1D75-31EA-99ED-01C56B0B508B}"/>
                    </a:ext>
                  </a:extLst>
                </p:cNvPr>
                <p:cNvSpPr/>
                <p:nvPr/>
              </p:nvSpPr>
              <p:spPr bwMode="gray">
                <a:xfrm>
                  <a:off x="11638528" y="1949675"/>
                  <a:ext cx="95786" cy="102451"/>
                </a:xfrm>
                <a:prstGeom prst="flowChartConnector">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sp>
            <p:nvSpPr>
              <p:cNvPr id="702" name="Text 44">
                <a:extLst>
                  <a:ext uri="{FF2B5EF4-FFF2-40B4-BE49-F238E27FC236}">
                    <a16:creationId xmlns:a16="http://schemas.microsoft.com/office/drawing/2014/main" id="{5FC5237C-E9D1-4F28-6575-45E8605B8371}"/>
                  </a:ext>
                </a:extLst>
              </p:cNvPr>
              <p:cNvSpPr/>
              <p:nvPr/>
            </p:nvSpPr>
            <p:spPr>
              <a:xfrm>
                <a:off x="6337130" y="2197222"/>
                <a:ext cx="1328197" cy="214206"/>
              </a:xfrm>
              <a:prstGeom prst="rect">
                <a:avLst/>
              </a:prstGeom>
              <a:solidFill>
                <a:srgbClr val="FFFFFF"/>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srgbClr val="00717F"/>
                    </a:solidFill>
                    <a:effectLst/>
                    <a:uLnTx/>
                    <a:uFillTx/>
                    <a:ea typeface="Arial" pitchFamily="34" charset="-122"/>
                    <a:cs typeface="Arial" pitchFamily="34" charset="-120"/>
                  </a:rPr>
                  <a:t>Run-Scale</a:t>
                </a:r>
                <a:endParaRPr kumimoji="0" lang="en-US" sz="900" u="none" strike="noStrike" kern="1200" cap="none" spc="0" normalizeH="0" baseline="0" noProof="0" dirty="0">
                  <a:ln>
                    <a:noFill/>
                  </a:ln>
                  <a:solidFill>
                    <a:srgbClr val="00717F"/>
                  </a:solidFill>
                  <a:effectLst/>
                  <a:uLnTx/>
                  <a:uFillTx/>
                  <a:ea typeface="+mn-ea"/>
                  <a:cs typeface="+mn-cs"/>
                </a:endParaRPr>
              </a:p>
            </p:txBody>
          </p:sp>
          <p:grpSp>
            <p:nvGrpSpPr>
              <p:cNvPr id="703" name="Group 702">
                <a:extLst>
                  <a:ext uri="{FF2B5EF4-FFF2-40B4-BE49-F238E27FC236}">
                    <a16:creationId xmlns:a16="http://schemas.microsoft.com/office/drawing/2014/main" id="{B37A3EB7-EDBA-4DEF-A783-C10BBEF47704}"/>
                  </a:ext>
                </a:extLst>
              </p:cNvPr>
              <p:cNvGrpSpPr/>
              <p:nvPr/>
            </p:nvGrpSpPr>
            <p:grpSpPr>
              <a:xfrm>
                <a:off x="8162689" y="3509758"/>
                <a:ext cx="3693911" cy="221354"/>
                <a:chOff x="1703441" y="1649875"/>
                <a:chExt cx="3693911" cy="221354"/>
              </a:xfrm>
            </p:grpSpPr>
            <p:cxnSp>
              <p:nvCxnSpPr>
                <p:cNvPr id="704" name="Straight Connector 703">
                  <a:extLst>
                    <a:ext uri="{FF2B5EF4-FFF2-40B4-BE49-F238E27FC236}">
                      <a16:creationId xmlns:a16="http://schemas.microsoft.com/office/drawing/2014/main" id="{33F83C69-EFDC-A86F-8AA4-AAAED3DEEA20}"/>
                    </a:ext>
                  </a:extLst>
                </p:cNvPr>
                <p:cNvCxnSpPr>
                  <a:cxnSpLocks/>
                </p:cNvCxnSpPr>
                <p:nvPr/>
              </p:nvCxnSpPr>
              <p:spPr>
                <a:xfrm flipV="1">
                  <a:off x="1780710" y="1799280"/>
                  <a:ext cx="3529210" cy="2286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705" name="Flowchart: Connector 704">
                  <a:extLst>
                    <a:ext uri="{FF2B5EF4-FFF2-40B4-BE49-F238E27FC236}">
                      <a16:creationId xmlns:a16="http://schemas.microsoft.com/office/drawing/2014/main" id="{E2743480-9671-BB63-EE6F-AF64C3CD3B0D}"/>
                    </a:ext>
                  </a:extLst>
                </p:cNvPr>
                <p:cNvSpPr/>
                <p:nvPr/>
              </p:nvSpPr>
              <p:spPr bwMode="gray">
                <a:xfrm>
                  <a:off x="1703441" y="1768778"/>
                  <a:ext cx="95786" cy="102451"/>
                </a:xfrm>
                <a:prstGeom prst="flowChartConnector">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706" name="Flowchart: Connector 705">
                  <a:extLst>
                    <a:ext uri="{FF2B5EF4-FFF2-40B4-BE49-F238E27FC236}">
                      <a16:creationId xmlns:a16="http://schemas.microsoft.com/office/drawing/2014/main" id="{0C5DA78D-300F-060B-0476-925004E009D9}"/>
                    </a:ext>
                  </a:extLst>
                </p:cNvPr>
                <p:cNvSpPr/>
                <p:nvPr/>
              </p:nvSpPr>
              <p:spPr bwMode="gray">
                <a:xfrm>
                  <a:off x="5301566" y="1765064"/>
                  <a:ext cx="95786" cy="102451"/>
                </a:xfrm>
                <a:prstGeom prst="flowChartConnector">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707" name="Shape 99">
                  <a:extLst>
                    <a:ext uri="{FF2B5EF4-FFF2-40B4-BE49-F238E27FC236}">
                      <a16:creationId xmlns:a16="http://schemas.microsoft.com/office/drawing/2014/main" id="{04C13EEB-8E77-6044-D8C9-E9EB1DB0CEAC}"/>
                    </a:ext>
                  </a:extLst>
                </p:cNvPr>
                <p:cNvSpPr/>
                <p:nvPr/>
              </p:nvSpPr>
              <p:spPr>
                <a:xfrm>
                  <a:off x="4776238" y="1649875"/>
                  <a:ext cx="306590" cy="212786"/>
                </a:xfrm>
                <a:prstGeom prst="star5">
                  <a:avLst/>
                </a:prstGeom>
                <a:solidFill>
                  <a:srgbClr val="C00000"/>
                </a:solidFill>
                <a:ln/>
              </p:spPr>
              <p:txBody>
                <a:bodyPr/>
                <a:lstStyle/>
                <a:p>
                  <a:endParaRPr lang="en-IN" sz="900" dirty="0"/>
                </a:p>
              </p:txBody>
            </p:sp>
          </p:grpSp>
          <p:sp>
            <p:nvSpPr>
              <p:cNvPr id="722" name="Shape 99">
                <a:extLst>
                  <a:ext uri="{FF2B5EF4-FFF2-40B4-BE49-F238E27FC236}">
                    <a16:creationId xmlns:a16="http://schemas.microsoft.com/office/drawing/2014/main" id="{48A4C320-A8F5-F3E7-A3EF-8EA08D8DF29F}"/>
                  </a:ext>
                </a:extLst>
              </p:cNvPr>
              <p:cNvSpPr/>
              <p:nvPr/>
            </p:nvSpPr>
            <p:spPr>
              <a:xfrm>
                <a:off x="11666542" y="3914447"/>
                <a:ext cx="306590" cy="212786"/>
              </a:xfrm>
              <a:prstGeom prst="star5">
                <a:avLst/>
              </a:prstGeom>
              <a:solidFill>
                <a:srgbClr val="C00000"/>
              </a:solidFill>
              <a:ln/>
            </p:spPr>
            <p:txBody>
              <a:bodyPr/>
              <a:lstStyle/>
              <a:p>
                <a:endParaRPr lang="en-IN" sz="900" dirty="0"/>
              </a:p>
            </p:txBody>
          </p:sp>
          <p:cxnSp>
            <p:nvCxnSpPr>
              <p:cNvPr id="728" name="Straight Connector 727">
                <a:extLst>
                  <a:ext uri="{FF2B5EF4-FFF2-40B4-BE49-F238E27FC236}">
                    <a16:creationId xmlns:a16="http://schemas.microsoft.com/office/drawing/2014/main" id="{A3D8179F-EAA2-10CE-DF91-D3D2594B1353}"/>
                  </a:ext>
                </a:extLst>
              </p:cNvPr>
              <p:cNvCxnSpPr>
                <a:cxnSpLocks/>
              </p:cNvCxnSpPr>
              <p:nvPr/>
            </p:nvCxnSpPr>
            <p:spPr>
              <a:xfrm>
                <a:off x="8557636" y="2674175"/>
                <a:ext cx="3178133" cy="137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732" name="Shape 101">
                <a:extLst>
                  <a:ext uri="{FF2B5EF4-FFF2-40B4-BE49-F238E27FC236}">
                    <a16:creationId xmlns:a16="http://schemas.microsoft.com/office/drawing/2014/main" id="{A5DEE380-89F0-404F-B2B2-18166B8148CB}"/>
                  </a:ext>
                </a:extLst>
              </p:cNvPr>
              <p:cNvSpPr/>
              <p:nvPr/>
            </p:nvSpPr>
            <p:spPr>
              <a:xfrm>
                <a:off x="9448937" y="2210109"/>
                <a:ext cx="300455" cy="259482"/>
              </a:xfrm>
              <a:prstGeom prst="diamond">
                <a:avLst/>
              </a:prstGeom>
              <a:solidFill>
                <a:srgbClr val="ED8B00"/>
              </a:solidFill>
              <a:ln/>
            </p:spPr>
            <p:txBody>
              <a:bodyPr/>
              <a:lstStyle/>
              <a:p>
                <a:endParaRPr lang="en-IN" sz="900" dirty="0"/>
              </a:p>
            </p:txBody>
          </p:sp>
          <p:sp>
            <p:nvSpPr>
              <p:cNvPr id="733" name="Shape 101">
                <a:extLst>
                  <a:ext uri="{FF2B5EF4-FFF2-40B4-BE49-F238E27FC236}">
                    <a16:creationId xmlns:a16="http://schemas.microsoft.com/office/drawing/2014/main" id="{88989A9C-58F6-B057-BA25-CA37D1270369}"/>
                  </a:ext>
                </a:extLst>
              </p:cNvPr>
              <p:cNvSpPr/>
              <p:nvPr/>
            </p:nvSpPr>
            <p:spPr>
              <a:xfrm>
                <a:off x="10082190" y="2894441"/>
                <a:ext cx="300455" cy="259482"/>
              </a:xfrm>
              <a:prstGeom prst="diamond">
                <a:avLst/>
              </a:prstGeom>
              <a:solidFill>
                <a:srgbClr val="ED8B00"/>
              </a:solidFill>
              <a:ln/>
            </p:spPr>
            <p:txBody>
              <a:bodyPr/>
              <a:lstStyle/>
              <a:p>
                <a:endParaRPr lang="en-IN" sz="900" dirty="0"/>
              </a:p>
            </p:txBody>
          </p:sp>
        </p:grpSp>
        <p:sp>
          <p:nvSpPr>
            <p:cNvPr id="4" name="Shape 66">
              <a:extLst>
                <a:ext uri="{FF2B5EF4-FFF2-40B4-BE49-F238E27FC236}">
                  <a16:creationId xmlns:a16="http://schemas.microsoft.com/office/drawing/2014/main" id="{4E182834-4178-337F-1C04-15C9E1218511}"/>
                </a:ext>
              </a:extLst>
            </p:cNvPr>
            <p:cNvSpPr/>
            <p:nvPr/>
          </p:nvSpPr>
          <p:spPr>
            <a:xfrm rot="16200000" flipH="1">
              <a:off x="478001" y="2858111"/>
              <a:ext cx="2515976" cy="210504"/>
            </a:xfrm>
            <a:prstGeom prst="rect">
              <a:avLst/>
            </a:prstGeom>
            <a:solidFill>
              <a:srgbClr val="FFFFFF"/>
            </a:solidFill>
            <a:ln w="6350">
              <a:noFill/>
              <a:prstDash val="solid"/>
            </a:ln>
          </p:spPr>
          <p:txBody>
            <a:bodyPr/>
            <a:lstStyle/>
            <a:p>
              <a:pPr algn="ctr"/>
              <a:r>
                <a:rPr lang="en-US" sz="800" b="1" dirty="0"/>
                <a:t>Activities</a:t>
              </a:r>
              <a:endParaRPr lang="en-IN" sz="600" b="1" dirty="0"/>
            </a:p>
          </p:txBody>
        </p:sp>
      </p:grpSp>
    </p:spTree>
    <p:extLst>
      <p:ext uri="{BB962C8B-B14F-4D97-AF65-F5344CB8AC3E}">
        <p14:creationId xmlns:p14="http://schemas.microsoft.com/office/powerpoint/2010/main" val="15846820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7" name="Object 6"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Chronicle Display Black" pitchFamily="50" charset="0"/>
              <a:ea typeface="+mn-ea"/>
              <a:cs typeface="+mn-cs"/>
              <a:sym typeface="Chronicle Display Black" pitchFamily="50" charset="0"/>
            </a:endParaRPr>
          </a:p>
        </p:txBody>
      </p:sp>
      <p:pic>
        <p:nvPicPr>
          <p:cNvPr id="33" name="Picture 32"/>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bwMode="gray">
          <a:xfrm>
            <a:off x="0" y="0"/>
            <a:ext cx="12192000" cy="6858000"/>
          </a:xfrm>
          <a:prstGeom prst="rect">
            <a:avLst/>
          </a:prstGeom>
        </p:spPr>
      </p:pic>
      <p:sp>
        <p:nvSpPr>
          <p:cNvPr id="34" name="Flowchart: Process 33"/>
          <p:cNvSpPr/>
          <p:nvPr/>
        </p:nvSpPr>
        <p:spPr bwMode="gray">
          <a:xfrm>
            <a:off x="1343139" y="1283297"/>
            <a:ext cx="9512456" cy="4332512"/>
          </a:xfrm>
          <a:prstGeom prst="flowChartProcess">
            <a:avLst/>
          </a:prstGeom>
          <a:solidFill>
            <a:schemeClr val="tx1">
              <a:alpha val="38000"/>
            </a:schemeClr>
          </a:solidFill>
          <a:ln w="19050" algn="ctr">
            <a:noFill/>
            <a:miter lim="800000"/>
            <a:headEnd/>
            <a:tailEnd/>
          </a:ln>
        </p:spPr>
        <p:txBody>
          <a:bodyPr wrap="square" lIns="1080000" tIns="88900" rIns="1080000" bIns="88900" rtlCol="0" anchor="ct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400" b="0" i="0" u="none" strike="noStrike" kern="1200" cap="none" spc="0" normalizeH="0" baseline="0" noProof="0">
                <a:ln>
                  <a:noFill/>
                </a:ln>
                <a:solidFill>
                  <a:srgbClr val="0097A9"/>
                </a:solidFill>
                <a:effectLst/>
                <a:uLnTx/>
                <a:uFillTx/>
                <a:latin typeface="Verdana" panose="020B0604030504040204" pitchFamily="34" charset="0"/>
                <a:ea typeface="Verdana" panose="020B0604030504040204" pitchFamily="34" charset="0"/>
                <a:cs typeface="Calibri" panose="020F0502020204030204" pitchFamily="34" charset="0"/>
              </a:rPr>
              <a:t>Profile of the key personnel</a:t>
            </a:r>
          </a:p>
        </p:txBody>
      </p:sp>
      <p:grpSp>
        <p:nvGrpSpPr>
          <p:cNvPr id="35" name="Group 541"/>
          <p:cNvGrpSpPr>
            <a:grpSpLocks noChangeAspect="1"/>
          </p:cNvGrpSpPr>
          <p:nvPr/>
        </p:nvGrpSpPr>
        <p:grpSpPr bwMode="gray">
          <a:xfrm>
            <a:off x="2043454" y="743296"/>
            <a:ext cx="1080000" cy="1080000"/>
            <a:chOff x="5326" y="2494"/>
            <a:chExt cx="340" cy="340"/>
          </a:xfrm>
          <a:solidFill>
            <a:srgbClr val="0097A9"/>
          </a:solidFill>
        </p:grpSpPr>
        <p:sp>
          <p:nvSpPr>
            <p:cNvPr id="36" name="Freeform 542"/>
            <p:cNvSpPr>
              <a:spLocks noEditPoints="1"/>
            </p:cNvSpPr>
            <p:nvPr/>
          </p:nvSpPr>
          <p:spPr bwMode="gray">
            <a:xfrm>
              <a:off x="5430" y="2558"/>
              <a:ext cx="132" cy="212"/>
            </a:xfrm>
            <a:custGeom>
              <a:avLst/>
              <a:gdLst>
                <a:gd name="T0" fmla="*/ 99 w 199"/>
                <a:gd name="T1" fmla="*/ 0 h 320"/>
                <a:gd name="T2" fmla="*/ 99 w 199"/>
                <a:gd name="T3" fmla="*/ 0 h 320"/>
                <a:gd name="T4" fmla="*/ 99 w 199"/>
                <a:gd name="T5" fmla="*/ 0 h 320"/>
                <a:gd name="T6" fmla="*/ 99 w 199"/>
                <a:gd name="T7" fmla="*/ 0 h 320"/>
                <a:gd name="T8" fmla="*/ 98 w 199"/>
                <a:gd name="T9" fmla="*/ 0 h 320"/>
                <a:gd name="T10" fmla="*/ 0 w 199"/>
                <a:gd name="T11" fmla="*/ 95 h 320"/>
                <a:gd name="T12" fmla="*/ 19 w 199"/>
                <a:gd name="T13" fmla="*/ 158 h 320"/>
                <a:gd name="T14" fmla="*/ 45 w 199"/>
                <a:gd name="T15" fmla="*/ 213 h 320"/>
                <a:gd name="T16" fmla="*/ 45 w 199"/>
                <a:gd name="T17" fmla="*/ 245 h 320"/>
                <a:gd name="T18" fmla="*/ 46 w 199"/>
                <a:gd name="T19" fmla="*/ 246 h 320"/>
                <a:gd name="T20" fmla="*/ 45 w 199"/>
                <a:gd name="T21" fmla="*/ 247 h 320"/>
                <a:gd name="T22" fmla="*/ 56 w 199"/>
                <a:gd name="T23" fmla="*/ 311 h 320"/>
                <a:gd name="T24" fmla="*/ 67 w 199"/>
                <a:gd name="T25" fmla="*/ 320 h 320"/>
                <a:gd name="T26" fmla="*/ 131 w 199"/>
                <a:gd name="T27" fmla="*/ 320 h 320"/>
                <a:gd name="T28" fmla="*/ 141 w 199"/>
                <a:gd name="T29" fmla="*/ 311 h 320"/>
                <a:gd name="T30" fmla="*/ 152 w 199"/>
                <a:gd name="T31" fmla="*/ 247 h 320"/>
                <a:gd name="T32" fmla="*/ 152 w 199"/>
                <a:gd name="T33" fmla="*/ 246 h 320"/>
                <a:gd name="T34" fmla="*/ 152 w 199"/>
                <a:gd name="T35" fmla="*/ 245 h 320"/>
                <a:gd name="T36" fmla="*/ 152 w 199"/>
                <a:gd name="T37" fmla="*/ 213 h 320"/>
                <a:gd name="T38" fmla="*/ 179 w 199"/>
                <a:gd name="T39" fmla="*/ 158 h 320"/>
                <a:gd name="T40" fmla="*/ 199 w 199"/>
                <a:gd name="T41" fmla="*/ 95 h 320"/>
                <a:gd name="T42" fmla="*/ 99 w 199"/>
                <a:gd name="T43" fmla="*/ 0 h 320"/>
                <a:gd name="T44" fmla="*/ 122 w 199"/>
                <a:gd name="T45" fmla="*/ 298 h 320"/>
                <a:gd name="T46" fmla="*/ 76 w 199"/>
                <a:gd name="T47" fmla="*/ 298 h 320"/>
                <a:gd name="T48" fmla="*/ 69 w 199"/>
                <a:gd name="T49" fmla="*/ 256 h 320"/>
                <a:gd name="T50" fmla="*/ 129 w 199"/>
                <a:gd name="T51" fmla="*/ 256 h 320"/>
                <a:gd name="T52" fmla="*/ 122 w 199"/>
                <a:gd name="T53" fmla="*/ 298 h 320"/>
                <a:gd name="T54" fmla="*/ 161 w 199"/>
                <a:gd name="T55" fmla="*/ 147 h 320"/>
                <a:gd name="T56" fmla="*/ 131 w 199"/>
                <a:gd name="T57" fmla="*/ 213 h 320"/>
                <a:gd name="T58" fmla="*/ 131 w 199"/>
                <a:gd name="T59" fmla="*/ 234 h 320"/>
                <a:gd name="T60" fmla="*/ 109 w 199"/>
                <a:gd name="T61" fmla="*/ 234 h 320"/>
                <a:gd name="T62" fmla="*/ 109 w 199"/>
                <a:gd name="T63" fmla="*/ 153 h 320"/>
                <a:gd name="T64" fmla="*/ 128 w 199"/>
                <a:gd name="T65" fmla="*/ 135 h 320"/>
                <a:gd name="T66" fmla="*/ 128 w 199"/>
                <a:gd name="T67" fmla="*/ 120 h 320"/>
                <a:gd name="T68" fmla="*/ 112 w 199"/>
                <a:gd name="T69" fmla="*/ 120 h 320"/>
                <a:gd name="T70" fmla="*/ 99 w 199"/>
                <a:gd name="T71" fmla="*/ 134 h 320"/>
                <a:gd name="T72" fmla="*/ 85 w 199"/>
                <a:gd name="T73" fmla="*/ 120 h 320"/>
                <a:gd name="T74" fmla="*/ 70 w 199"/>
                <a:gd name="T75" fmla="*/ 120 h 320"/>
                <a:gd name="T76" fmla="*/ 70 w 199"/>
                <a:gd name="T77" fmla="*/ 135 h 320"/>
                <a:gd name="T78" fmla="*/ 88 w 199"/>
                <a:gd name="T79" fmla="*/ 153 h 320"/>
                <a:gd name="T80" fmla="*/ 88 w 199"/>
                <a:gd name="T81" fmla="*/ 234 h 320"/>
                <a:gd name="T82" fmla="*/ 67 w 199"/>
                <a:gd name="T83" fmla="*/ 234 h 320"/>
                <a:gd name="T84" fmla="*/ 67 w 199"/>
                <a:gd name="T85" fmla="*/ 213 h 320"/>
                <a:gd name="T86" fmla="*/ 37 w 199"/>
                <a:gd name="T87" fmla="*/ 146 h 320"/>
                <a:gd name="T88" fmla="*/ 21 w 199"/>
                <a:gd name="T89" fmla="*/ 95 h 320"/>
                <a:gd name="T90" fmla="*/ 99 w 199"/>
                <a:gd name="T91" fmla="*/ 21 h 320"/>
                <a:gd name="T92" fmla="*/ 177 w 199"/>
                <a:gd name="T93" fmla="*/ 95 h 320"/>
                <a:gd name="T94" fmla="*/ 161 w 199"/>
                <a:gd name="T95" fmla="*/ 147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320">
                  <a:moveTo>
                    <a:pt x="99" y="0"/>
                  </a:moveTo>
                  <a:cubicBezTo>
                    <a:pt x="99" y="0"/>
                    <a:pt x="99" y="0"/>
                    <a:pt x="99" y="0"/>
                  </a:cubicBezTo>
                  <a:cubicBezTo>
                    <a:pt x="99" y="0"/>
                    <a:pt x="99" y="0"/>
                    <a:pt x="99" y="0"/>
                  </a:cubicBezTo>
                  <a:cubicBezTo>
                    <a:pt x="99" y="0"/>
                    <a:pt x="99" y="0"/>
                    <a:pt x="99" y="0"/>
                  </a:cubicBezTo>
                  <a:cubicBezTo>
                    <a:pt x="99" y="0"/>
                    <a:pt x="99" y="0"/>
                    <a:pt x="98" y="0"/>
                  </a:cubicBezTo>
                  <a:cubicBezTo>
                    <a:pt x="45" y="0"/>
                    <a:pt x="0" y="44"/>
                    <a:pt x="0" y="95"/>
                  </a:cubicBezTo>
                  <a:cubicBezTo>
                    <a:pt x="0" y="129"/>
                    <a:pt x="18" y="157"/>
                    <a:pt x="19" y="158"/>
                  </a:cubicBezTo>
                  <a:cubicBezTo>
                    <a:pt x="32" y="179"/>
                    <a:pt x="45" y="206"/>
                    <a:pt x="45" y="213"/>
                  </a:cubicBezTo>
                  <a:cubicBezTo>
                    <a:pt x="45" y="245"/>
                    <a:pt x="45" y="245"/>
                    <a:pt x="45" y="245"/>
                  </a:cubicBezTo>
                  <a:cubicBezTo>
                    <a:pt x="45" y="245"/>
                    <a:pt x="45" y="246"/>
                    <a:pt x="46" y="246"/>
                  </a:cubicBezTo>
                  <a:cubicBezTo>
                    <a:pt x="46" y="246"/>
                    <a:pt x="45" y="246"/>
                    <a:pt x="45" y="247"/>
                  </a:cubicBezTo>
                  <a:cubicBezTo>
                    <a:pt x="56" y="311"/>
                    <a:pt x="56" y="311"/>
                    <a:pt x="56" y="311"/>
                  </a:cubicBezTo>
                  <a:cubicBezTo>
                    <a:pt x="57" y="316"/>
                    <a:pt x="61" y="320"/>
                    <a:pt x="67" y="320"/>
                  </a:cubicBezTo>
                  <a:cubicBezTo>
                    <a:pt x="131" y="320"/>
                    <a:pt x="131" y="320"/>
                    <a:pt x="131" y="320"/>
                  </a:cubicBezTo>
                  <a:cubicBezTo>
                    <a:pt x="136" y="320"/>
                    <a:pt x="140" y="316"/>
                    <a:pt x="141" y="311"/>
                  </a:cubicBezTo>
                  <a:cubicBezTo>
                    <a:pt x="152" y="247"/>
                    <a:pt x="152" y="247"/>
                    <a:pt x="152" y="247"/>
                  </a:cubicBezTo>
                  <a:cubicBezTo>
                    <a:pt x="152" y="246"/>
                    <a:pt x="152" y="246"/>
                    <a:pt x="152" y="246"/>
                  </a:cubicBezTo>
                  <a:cubicBezTo>
                    <a:pt x="152" y="246"/>
                    <a:pt x="152" y="245"/>
                    <a:pt x="152" y="245"/>
                  </a:cubicBezTo>
                  <a:cubicBezTo>
                    <a:pt x="152" y="213"/>
                    <a:pt x="152" y="213"/>
                    <a:pt x="152" y="213"/>
                  </a:cubicBezTo>
                  <a:cubicBezTo>
                    <a:pt x="152" y="206"/>
                    <a:pt x="166" y="179"/>
                    <a:pt x="179" y="158"/>
                  </a:cubicBezTo>
                  <a:cubicBezTo>
                    <a:pt x="180" y="157"/>
                    <a:pt x="199" y="129"/>
                    <a:pt x="199" y="95"/>
                  </a:cubicBezTo>
                  <a:cubicBezTo>
                    <a:pt x="199" y="44"/>
                    <a:pt x="153" y="0"/>
                    <a:pt x="99" y="0"/>
                  </a:cubicBezTo>
                  <a:close/>
                  <a:moveTo>
                    <a:pt x="122" y="298"/>
                  </a:moveTo>
                  <a:cubicBezTo>
                    <a:pt x="76" y="298"/>
                    <a:pt x="76" y="298"/>
                    <a:pt x="76" y="298"/>
                  </a:cubicBezTo>
                  <a:cubicBezTo>
                    <a:pt x="69" y="256"/>
                    <a:pt x="69" y="256"/>
                    <a:pt x="69" y="256"/>
                  </a:cubicBezTo>
                  <a:cubicBezTo>
                    <a:pt x="129" y="256"/>
                    <a:pt x="129" y="256"/>
                    <a:pt x="129" y="256"/>
                  </a:cubicBezTo>
                  <a:lnTo>
                    <a:pt x="122" y="298"/>
                  </a:lnTo>
                  <a:close/>
                  <a:moveTo>
                    <a:pt x="161" y="147"/>
                  </a:moveTo>
                  <a:cubicBezTo>
                    <a:pt x="154" y="158"/>
                    <a:pt x="131" y="196"/>
                    <a:pt x="131" y="213"/>
                  </a:cubicBezTo>
                  <a:cubicBezTo>
                    <a:pt x="131" y="234"/>
                    <a:pt x="131" y="234"/>
                    <a:pt x="131" y="234"/>
                  </a:cubicBezTo>
                  <a:cubicBezTo>
                    <a:pt x="109" y="234"/>
                    <a:pt x="109" y="234"/>
                    <a:pt x="109" y="234"/>
                  </a:cubicBezTo>
                  <a:cubicBezTo>
                    <a:pt x="109" y="153"/>
                    <a:pt x="109" y="153"/>
                    <a:pt x="109" y="153"/>
                  </a:cubicBezTo>
                  <a:cubicBezTo>
                    <a:pt x="128" y="135"/>
                    <a:pt x="128" y="135"/>
                    <a:pt x="128" y="135"/>
                  </a:cubicBezTo>
                  <a:cubicBezTo>
                    <a:pt x="132" y="131"/>
                    <a:pt x="132" y="124"/>
                    <a:pt x="128" y="120"/>
                  </a:cubicBezTo>
                  <a:cubicBezTo>
                    <a:pt x="123" y="116"/>
                    <a:pt x="117" y="116"/>
                    <a:pt x="112" y="120"/>
                  </a:cubicBezTo>
                  <a:cubicBezTo>
                    <a:pt x="99" y="134"/>
                    <a:pt x="99" y="134"/>
                    <a:pt x="99" y="134"/>
                  </a:cubicBezTo>
                  <a:cubicBezTo>
                    <a:pt x="85" y="120"/>
                    <a:pt x="85" y="120"/>
                    <a:pt x="85" y="120"/>
                  </a:cubicBezTo>
                  <a:cubicBezTo>
                    <a:pt x="81" y="116"/>
                    <a:pt x="74" y="116"/>
                    <a:pt x="70" y="120"/>
                  </a:cubicBezTo>
                  <a:cubicBezTo>
                    <a:pt x="66" y="124"/>
                    <a:pt x="66" y="131"/>
                    <a:pt x="70" y="135"/>
                  </a:cubicBezTo>
                  <a:cubicBezTo>
                    <a:pt x="88" y="153"/>
                    <a:pt x="88" y="153"/>
                    <a:pt x="88" y="153"/>
                  </a:cubicBezTo>
                  <a:cubicBezTo>
                    <a:pt x="88" y="234"/>
                    <a:pt x="88" y="234"/>
                    <a:pt x="88" y="234"/>
                  </a:cubicBezTo>
                  <a:cubicBezTo>
                    <a:pt x="67" y="234"/>
                    <a:pt x="67" y="234"/>
                    <a:pt x="67" y="234"/>
                  </a:cubicBezTo>
                  <a:cubicBezTo>
                    <a:pt x="67" y="213"/>
                    <a:pt x="67" y="213"/>
                    <a:pt x="67" y="213"/>
                  </a:cubicBezTo>
                  <a:cubicBezTo>
                    <a:pt x="67" y="196"/>
                    <a:pt x="44" y="158"/>
                    <a:pt x="37" y="146"/>
                  </a:cubicBezTo>
                  <a:cubicBezTo>
                    <a:pt x="37" y="146"/>
                    <a:pt x="21" y="123"/>
                    <a:pt x="21" y="95"/>
                  </a:cubicBezTo>
                  <a:cubicBezTo>
                    <a:pt x="21" y="55"/>
                    <a:pt x="57" y="21"/>
                    <a:pt x="99" y="21"/>
                  </a:cubicBezTo>
                  <a:cubicBezTo>
                    <a:pt x="141" y="21"/>
                    <a:pt x="177" y="55"/>
                    <a:pt x="177" y="95"/>
                  </a:cubicBezTo>
                  <a:cubicBezTo>
                    <a:pt x="177" y="122"/>
                    <a:pt x="161" y="146"/>
                    <a:pt x="161" y="14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Freeform 543"/>
            <p:cNvSpPr>
              <a:spLocks noEditPoints="1"/>
            </p:cNvSpPr>
            <p:nvPr/>
          </p:nvSpPr>
          <p:spPr bwMode="gray">
            <a:xfrm>
              <a:off x="5326" y="249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8" name="Group 37"/>
          <p:cNvGrpSpPr/>
          <p:nvPr/>
        </p:nvGrpSpPr>
        <p:grpSpPr bwMode="gray">
          <a:xfrm>
            <a:off x="1332253" y="1283296"/>
            <a:ext cx="9535886" cy="4341335"/>
            <a:chOff x="1332253" y="1283296"/>
            <a:chExt cx="9535886" cy="4341335"/>
          </a:xfrm>
        </p:grpSpPr>
        <p:cxnSp>
          <p:nvCxnSpPr>
            <p:cNvPr id="39" name="Straight Connector 38"/>
            <p:cNvCxnSpPr/>
            <p:nvPr/>
          </p:nvCxnSpPr>
          <p:spPr bwMode="gray">
            <a:xfrm flipH="1">
              <a:off x="1332253" y="1283296"/>
              <a:ext cx="551543"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gray">
            <a:xfrm flipH="1">
              <a:off x="1332253" y="5615809"/>
              <a:ext cx="551543"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gray">
            <a:xfrm>
              <a:off x="1332253" y="1283296"/>
              <a:ext cx="0" cy="4341335"/>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gray">
            <a:xfrm>
              <a:off x="10868139" y="1283296"/>
              <a:ext cx="0" cy="4341335"/>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gray">
            <a:xfrm flipH="1">
              <a:off x="3320709" y="1283296"/>
              <a:ext cx="7524000"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gray">
            <a:xfrm flipH="1">
              <a:off x="1763486" y="5615809"/>
              <a:ext cx="9089909"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70347086"/>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F06B8-C7F2-32F9-D1CA-BF4A84EBAF1E}"/>
            </a:ext>
          </a:extLst>
        </p:cNvPr>
        <p:cNvGrpSpPr/>
        <p:nvPr/>
      </p:nvGrpSpPr>
      <p:grpSpPr>
        <a:xfrm>
          <a:off x="0" y="0"/>
          <a:ext cx="0" cy="0"/>
          <a:chOff x="0" y="0"/>
          <a:chExt cx="0" cy="0"/>
        </a:xfrm>
      </p:grpSpPr>
      <p:sp>
        <p:nvSpPr>
          <p:cNvPr id="11" name="Title 2">
            <a:extLst>
              <a:ext uri="{FF2B5EF4-FFF2-40B4-BE49-F238E27FC236}">
                <a16:creationId xmlns:a16="http://schemas.microsoft.com/office/drawing/2014/main" id="{77BC82C4-8847-12C7-A6DD-C6215A24D26F}"/>
              </a:ext>
            </a:extLst>
          </p:cNvPr>
          <p:cNvSpPr txBox="1">
            <a:spLocks/>
          </p:cNvSpPr>
          <p:nvPr/>
        </p:nvSpPr>
        <p:spPr>
          <a:xfrm>
            <a:off x="411118" y="213764"/>
            <a:ext cx="11369764" cy="243926"/>
          </a:xfrm>
        </p:spPr>
        <p:txBody>
          <a:bodyPr vert="horz" lIns="0" tIns="0" rIns="0" bIns="0" rtlCol="0" anchor="t" anchorCtr="0">
            <a:noAutofit/>
          </a:bodyPr>
          <a:lstStyle>
            <a:lvl1pPr algn="l" defTabSz="914400" rtl="0" eaLnBrk="1" latinLnBrk="0" hangingPunct="1">
              <a:spcBef>
                <a:spcPct val="0"/>
              </a:spcBef>
              <a:buNone/>
              <a:defRPr sz="2000" kern="1200">
                <a:solidFill>
                  <a:schemeClr val="tx1"/>
                </a:solidFill>
                <a:latin typeface="Calibri" panose="020F0502020204030204" pitchFamily="34" charset="0"/>
                <a:ea typeface="+mj-ea"/>
                <a:cs typeface="Calibri" panose="020F0502020204030204" pitchFamily="34" charset="0"/>
              </a:defRPr>
            </a:lvl1pPr>
          </a:lstStyle>
          <a:p>
            <a:r>
              <a:rPr lang="en-US" sz="1800" b="1" dirty="0">
                <a:latin typeface="+mj-lt"/>
              </a:rPr>
              <a:t>Proposed team structure and staffing</a:t>
            </a:r>
          </a:p>
        </p:txBody>
      </p:sp>
      <p:sp>
        <p:nvSpPr>
          <p:cNvPr id="2" name="Text 2">
            <a:extLst>
              <a:ext uri="{FF2B5EF4-FFF2-40B4-BE49-F238E27FC236}">
                <a16:creationId xmlns:a16="http://schemas.microsoft.com/office/drawing/2014/main" id="{B7D8981E-3141-43B6-1F7C-02A77F75CD46}"/>
              </a:ext>
            </a:extLst>
          </p:cNvPr>
          <p:cNvSpPr/>
          <p:nvPr/>
        </p:nvSpPr>
        <p:spPr>
          <a:xfrm>
            <a:off x="310896" y="621792"/>
            <a:ext cx="11567160" cy="274320"/>
          </a:xfrm>
          <a:prstGeom prst="rect">
            <a:avLst/>
          </a:prstGeom>
          <a:noFill/>
          <a:ln/>
        </p:spPr>
        <p:txBody>
          <a:bodyPr wrap="square" lIns="0" tIns="0" rIns="0" bIns="0" rtlCol="0" anchor="ctr"/>
          <a:lstStyle/>
          <a:p>
            <a:pPr marL="0" indent="0">
              <a:buNone/>
            </a:pPr>
            <a:endParaRPr lang="en-US" sz="900"/>
          </a:p>
        </p:txBody>
      </p:sp>
      <p:cxnSp>
        <p:nvCxnSpPr>
          <p:cNvPr id="12" name="Straight Arrow Connector 11">
            <a:extLst>
              <a:ext uri="{FF2B5EF4-FFF2-40B4-BE49-F238E27FC236}">
                <a16:creationId xmlns:a16="http://schemas.microsoft.com/office/drawing/2014/main" id="{52D6C76C-A86E-12C2-A637-D5C945B7D739}"/>
              </a:ext>
            </a:extLst>
          </p:cNvPr>
          <p:cNvCxnSpPr/>
          <p:nvPr/>
        </p:nvCxnSpPr>
        <p:spPr>
          <a:xfrm flipV="1">
            <a:off x="367370" y="896112"/>
            <a:ext cx="11510686"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F215A21E-5AD3-16AC-8215-8C19F1B374B6}"/>
              </a:ext>
            </a:extLst>
          </p:cNvPr>
          <p:cNvGrpSpPr/>
          <p:nvPr/>
        </p:nvGrpSpPr>
        <p:grpSpPr>
          <a:xfrm>
            <a:off x="144942" y="532879"/>
            <a:ext cx="11758640" cy="5955314"/>
            <a:chOff x="144942" y="532879"/>
            <a:chExt cx="11758640" cy="5955314"/>
          </a:xfrm>
        </p:grpSpPr>
        <p:sp>
          <p:nvSpPr>
            <p:cNvPr id="10" name="Text Placeholder 1">
              <a:extLst>
                <a:ext uri="{FF2B5EF4-FFF2-40B4-BE49-F238E27FC236}">
                  <a16:creationId xmlns:a16="http://schemas.microsoft.com/office/drawing/2014/main" id="{084D32BB-7847-20D9-DD18-992A4056BD2A}"/>
                </a:ext>
              </a:extLst>
            </p:cNvPr>
            <p:cNvSpPr txBox="1">
              <a:spLocks/>
            </p:cNvSpPr>
            <p:nvPr/>
          </p:nvSpPr>
          <p:spPr>
            <a:xfrm>
              <a:off x="411118" y="532879"/>
              <a:ext cx="11188700" cy="757255"/>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600" b="0" kern="1200">
                  <a:solidFill>
                    <a:srgbClr val="575757"/>
                  </a:solidFill>
                  <a:latin typeface="Calibri" panose="020F0502020204030204" pitchFamily="34" charset="0"/>
                  <a:ea typeface="+mn-ea"/>
                  <a:cs typeface="Calibri" panose="020F0502020204030204" pitchFamily="34" charset="0"/>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1400" dirty="0">
                  <a:latin typeface="+mj-lt"/>
                </a:rPr>
                <a:t>A three-tier structure — leadership and quality assurance, key experts, and project</a:t>
              </a:r>
            </a:p>
            <a:p>
              <a:endParaRPr lang="en-US" sz="1400" dirty="0">
                <a:latin typeface="+mj-lt"/>
              </a:endParaRPr>
            </a:p>
          </p:txBody>
        </p:sp>
        <p:grpSp>
          <p:nvGrpSpPr>
            <p:cNvPr id="21" name="Group 20">
              <a:extLst>
                <a:ext uri="{FF2B5EF4-FFF2-40B4-BE49-F238E27FC236}">
                  <a16:creationId xmlns:a16="http://schemas.microsoft.com/office/drawing/2014/main" id="{BD440CBB-E0D5-44E4-C795-33EBE31C372A}"/>
                </a:ext>
              </a:extLst>
            </p:cNvPr>
            <p:cNvGrpSpPr/>
            <p:nvPr/>
          </p:nvGrpSpPr>
          <p:grpSpPr>
            <a:xfrm>
              <a:off x="144942" y="1038660"/>
              <a:ext cx="11758640" cy="5449533"/>
              <a:chOff x="144942" y="1038660"/>
              <a:chExt cx="11758640" cy="5449533"/>
            </a:xfrm>
          </p:grpSpPr>
          <p:sp>
            <p:nvSpPr>
              <p:cNvPr id="84" name="Shape 8">
                <a:extLst>
                  <a:ext uri="{FF2B5EF4-FFF2-40B4-BE49-F238E27FC236}">
                    <a16:creationId xmlns:a16="http://schemas.microsoft.com/office/drawing/2014/main" id="{864B25C8-256F-D2C8-5DF3-6295E0B47371}"/>
                  </a:ext>
                </a:extLst>
              </p:cNvPr>
              <p:cNvSpPr/>
              <p:nvPr/>
            </p:nvSpPr>
            <p:spPr>
              <a:xfrm>
                <a:off x="144942" y="1217138"/>
                <a:ext cx="673953" cy="5194805"/>
              </a:xfrm>
              <a:prstGeom prst="upArrow">
                <a:avLst/>
              </a:prstGeom>
              <a:solidFill>
                <a:srgbClr val="004F58"/>
              </a:solidFill>
              <a:ln/>
            </p:spPr>
            <p:txBody>
              <a:bodyPr/>
              <a:lstStyle/>
              <a:p>
                <a:endParaRPr lang="en-IN" sz="900" dirty="0">
                  <a:solidFill>
                    <a:prstClr val="black"/>
                  </a:solidFill>
                </a:endParaRPr>
              </a:p>
            </p:txBody>
          </p:sp>
          <p:sp>
            <p:nvSpPr>
              <p:cNvPr id="85" name="Shape 9">
                <a:extLst>
                  <a:ext uri="{FF2B5EF4-FFF2-40B4-BE49-F238E27FC236}">
                    <a16:creationId xmlns:a16="http://schemas.microsoft.com/office/drawing/2014/main" id="{24AC0A76-42DD-6AFA-C9EA-D8F80E30C557}"/>
                  </a:ext>
                </a:extLst>
              </p:cNvPr>
              <p:cNvSpPr/>
              <p:nvPr/>
            </p:nvSpPr>
            <p:spPr>
              <a:xfrm>
                <a:off x="670258" y="1293388"/>
                <a:ext cx="596168" cy="5194805"/>
              </a:xfrm>
              <a:prstGeom prst="downArrow">
                <a:avLst/>
              </a:prstGeom>
              <a:solidFill>
                <a:srgbClr val="004B77"/>
              </a:solidFill>
              <a:ln/>
            </p:spPr>
            <p:txBody>
              <a:bodyPr/>
              <a:lstStyle/>
              <a:p>
                <a:endParaRPr lang="en-IN" sz="900">
                  <a:solidFill>
                    <a:prstClr val="black"/>
                  </a:solidFill>
                </a:endParaRPr>
              </a:p>
            </p:txBody>
          </p:sp>
          <p:sp>
            <p:nvSpPr>
              <p:cNvPr id="86" name="Text 10">
                <a:extLst>
                  <a:ext uri="{FF2B5EF4-FFF2-40B4-BE49-F238E27FC236}">
                    <a16:creationId xmlns:a16="http://schemas.microsoft.com/office/drawing/2014/main" id="{0F11C983-165F-97FA-3591-1B70CFA1BDBE}"/>
                  </a:ext>
                </a:extLst>
              </p:cNvPr>
              <p:cNvSpPr/>
              <p:nvPr/>
            </p:nvSpPr>
            <p:spPr>
              <a:xfrm>
                <a:off x="321711" y="1437688"/>
                <a:ext cx="304799" cy="4653679"/>
              </a:xfrm>
              <a:prstGeom prst="rect">
                <a:avLst/>
              </a:prstGeom>
              <a:noFill/>
              <a:ln/>
            </p:spPr>
            <p:txBody>
              <a:bodyPr vert="vert270" wrap="square" lIns="0" tIns="0" rIns="0" bIns="0" rtlCol="0" anchor="ctr"/>
              <a:lstStyle/>
              <a:p>
                <a:pPr algn="ctr"/>
                <a:r>
                  <a:rPr lang="en-US" sz="900" b="1" dirty="0">
                    <a:solidFill>
                      <a:srgbClr val="FFFFFF"/>
                    </a:solidFill>
                    <a:ea typeface="Arial" pitchFamily="34" charset="-122"/>
                    <a:cs typeface="Arial" pitchFamily="34" charset="-120"/>
                  </a:rPr>
                  <a:t>Report status, escalate issues and risks</a:t>
                </a:r>
                <a:endParaRPr lang="en-US" sz="900" dirty="0">
                  <a:solidFill>
                    <a:prstClr val="black"/>
                  </a:solidFill>
                </a:endParaRPr>
              </a:p>
            </p:txBody>
          </p:sp>
          <p:sp>
            <p:nvSpPr>
              <p:cNvPr id="87" name="Text 11">
                <a:extLst>
                  <a:ext uri="{FF2B5EF4-FFF2-40B4-BE49-F238E27FC236}">
                    <a16:creationId xmlns:a16="http://schemas.microsoft.com/office/drawing/2014/main" id="{23D63FBB-3BE1-DD6B-0904-98973258CEE6}"/>
                  </a:ext>
                </a:extLst>
              </p:cNvPr>
              <p:cNvSpPr/>
              <p:nvPr/>
            </p:nvSpPr>
            <p:spPr>
              <a:xfrm>
                <a:off x="813826" y="1437688"/>
                <a:ext cx="304799" cy="4653679"/>
              </a:xfrm>
              <a:prstGeom prst="rect">
                <a:avLst/>
              </a:prstGeom>
              <a:noFill/>
              <a:ln/>
            </p:spPr>
            <p:txBody>
              <a:bodyPr vert="vert270" wrap="square" lIns="0" tIns="0" rIns="0" bIns="0" rtlCol="0" anchor="ctr"/>
              <a:lstStyle/>
              <a:p>
                <a:pPr algn="ctr"/>
                <a:r>
                  <a:rPr lang="en-US" sz="1000" b="1" dirty="0">
                    <a:solidFill>
                      <a:srgbClr val="FFFFFF"/>
                    </a:solidFill>
                    <a:ea typeface="Arial" pitchFamily="34" charset="-122"/>
                    <a:cs typeface="Arial" pitchFamily="34" charset="-120"/>
                  </a:rPr>
                  <a:t>Cascade direction, decisions and approvals</a:t>
                </a:r>
                <a:endParaRPr lang="en-US" sz="1000" dirty="0">
                  <a:solidFill>
                    <a:prstClr val="black"/>
                  </a:solidFill>
                </a:endParaRPr>
              </a:p>
            </p:txBody>
          </p:sp>
          <p:sp>
            <p:nvSpPr>
              <p:cNvPr id="88" name="Text 12">
                <a:extLst>
                  <a:ext uri="{FF2B5EF4-FFF2-40B4-BE49-F238E27FC236}">
                    <a16:creationId xmlns:a16="http://schemas.microsoft.com/office/drawing/2014/main" id="{67BE373B-7A5E-8C03-63DA-4BA2700A7FC8}"/>
                  </a:ext>
                </a:extLst>
              </p:cNvPr>
              <p:cNvSpPr/>
              <p:nvPr/>
            </p:nvSpPr>
            <p:spPr>
              <a:xfrm>
                <a:off x="1243769" y="1167126"/>
                <a:ext cx="6049815" cy="252525"/>
              </a:xfrm>
              <a:prstGeom prst="rect">
                <a:avLst/>
              </a:prstGeom>
              <a:noFill/>
              <a:ln/>
            </p:spPr>
            <p:txBody>
              <a:bodyPr wrap="square" lIns="0" tIns="0" rIns="0" bIns="0" rtlCol="0" anchor="ctr"/>
              <a:lstStyle/>
              <a:p>
                <a:pPr algn="ctr"/>
                <a:r>
                  <a:rPr lang="en-US" sz="900" b="1">
                    <a:solidFill>
                      <a:srgbClr val="404040"/>
                    </a:solidFill>
                    <a:ea typeface="Arial" pitchFamily="34" charset="-122"/>
                    <a:cs typeface="Arial" pitchFamily="34" charset="-120"/>
                  </a:rPr>
                  <a:t>PROJECT LEADERSHIP &amp; QUALITY ASSURANCE</a:t>
                </a:r>
                <a:endParaRPr lang="en-US" sz="900">
                  <a:solidFill>
                    <a:prstClr val="black"/>
                  </a:solidFill>
                </a:endParaRPr>
              </a:p>
            </p:txBody>
          </p:sp>
          <p:sp>
            <p:nvSpPr>
              <p:cNvPr id="89" name="Shape 13">
                <a:extLst>
                  <a:ext uri="{FF2B5EF4-FFF2-40B4-BE49-F238E27FC236}">
                    <a16:creationId xmlns:a16="http://schemas.microsoft.com/office/drawing/2014/main" id="{78E12F05-9A11-7491-59D9-149A139E6D60}"/>
                  </a:ext>
                </a:extLst>
              </p:cNvPr>
              <p:cNvSpPr/>
              <p:nvPr/>
            </p:nvSpPr>
            <p:spPr>
              <a:xfrm>
                <a:off x="1243769" y="1455726"/>
                <a:ext cx="2724726" cy="1172438"/>
              </a:xfrm>
              <a:prstGeom prst="roundRect">
                <a:avLst>
                  <a:gd name="adj" fmla="val 6154"/>
                </a:avLst>
              </a:prstGeom>
              <a:solidFill>
                <a:srgbClr val="012169"/>
              </a:solidFill>
              <a:ln/>
            </p:spPr>
            <p:txBody>
              <a:bodyPr/>
              <a:lstStyle/>
              <a:p>
                <a:endParaRPr lang="en-IN" sz="900">
                  <a:solidFill>
                    <a:prstClr val="black"/>
                  </a:solidFill>
                </a:endParaRPr>
              </a:p>
            </p:txBody>
          </p:sp>
          <p:sp>
            <p:nvSpPr>
              <p:cNvPr id="90" name="Shape 14">
                <a:extLst>
                  <a:ext uri="{FF2B5EF4-FFF2-40B4-BE49-F238E27FC236}">
                    <a16:creationId xmlns:a16="http://schemas.microsoft.com/office/drawing/2014/main" id="{560DF621-F46E-FF5A-EB4F-697A790341B9}"/>
                  </a:ext>
                </a:extLst>
              </p:cNvPr>
              <p:cNvSpPr/>
              <p:nvPr/>
            </p:nvSpPr>
            <p:spPr>
              <a:xfrm>
                <a:off x="4337948" y="1455726"/>
                <a:ext cx="2955635" cy="1172438"/>
              </a:xfrm>
              <a:prstGeom prst="roundRect">
                <a:avLst>
                  <a:gd name="adj" fmla="val 6154"/>
                </a:avLst>
              </a:prstGeom>
              <a:solidFill>
                <a:srgbClr val="012169"/>
              </a:solidFill>
              <a:ln/>
            </p:spPr>
            <p:txBody>
              <a:bodyPr/>
              <a:lstStyle/>
              <a:p>
                <a:endParaRPr lang="en-IN" sz="900">
                  <a:solidFill>
                    <a:prstClr val="black"/>
                  </a:solidFill>
                </a:endParaRPr>
              </a:p>
            </p:txBody>
          </p:sp>
          <p:sp>
            <p:nvSpPr>
              <p:cNvPr id="91" name="Text 15">
                <a:extLst>
                  <a:ext uri="{FF2B5EF4-FFF2-40B4-BE49-F238E27FC236}">
                    <a16:creationId xmlns:a16="http://schemas.microsoft.com/office/drawing/2014/main" id="{862A230D-8BF9-9EB8-B77E-9A7212C0A515}"/>
                  </a:ext>
                </a:extLst>
              </p:cNvPr>
              <p:cNvSpPr/>
              <p:nvPr/>
            </p:nvSpPr>
            <p:spPr>
              <a:xfrm>
                <a:off x="1336133" y="1527876"/>
                <a:ext cx="2539998" cy="1028138"/>
              </a:xfrm>
              <a:prstGeom prst="rect">
                <a:avLst/>
              </a:prstGeom>
              <a:noFill/>
              <a:ln/>
            </p:spPr>
            <p:txBody>
              <a:bodyPr wrap="square" lIns="0" tIns="0" rIns="0" bIns="0" rtlCol="0" anchor="ctr"/>
              <a:lstStyle/>
              <a:p>
                <a:pPr algn="ctr">
                  <a:lnSpc>
                    <a:spcPct val="95000"/>
                  </a:lnSpc>
                </a:pPr>
                <a:r>
                  <a:rPr lang="en-US" sz="900" b="1" dirty="0">
                    <a:solidFill>
                      <a:srgbClr val="FFFFFF"/>
                    </a:solidFill>
                    <a:ea typeface="Arial" pitchFamily="34" charset="-122"/>
                    <a:cs typeface="Arial" pitchFamily="34" charset="-120"/>
                  </a:rPr>
                  <a:t>NITI Aayog - Governance</a:t>
                </a:r>
                <a:endParaRPr lang="en-US" sz="900" dirty="0">
                  <a:solidFill>
                    <a:prstClr val="black"/>
                  </a:solidFill>
                </a:endParaRPr>
              </a:p>
            </p:txBody>
          </p:sp>
          <p:sp>
            <p:nvSpPr>
              <p:cNvPr id="92" name="Text 16">
                <a:extLst>
                  <a:ext uri="{FF2B5EF4-FFF2-40B4-BE49-F238E27FC236}">
                    <a16:creationId xmlns:a16="http://schemas.microsoft.com/office/drawing/2014/main" id="{AAB5C59C-AE83-A259-FE3D-34ECD6F6C526}"/>
                  </a:ext>
                </a:extLst>
              </p:cNvPr>
              <p:cNvSpPr/>
              <p:nvPr/>
            </p:nvSpPr>
            <p:spPr>
              <a:xfrm>
                <a:off x="4430312" y="1527876"/>
                <a:ext cx="2770908" cy="1028138"/>
              </a:xfrm>
              <a:prstGeom prst="rect">
                <a:avLst/>
              </a:prstGeom>
              <a:noFill/>
              <a:ln/>
            </p:spPr>
            <p:txBody>
              <a:bodyPr wrap="square" lIns="0" tIns="0" rIns="0" bIns="0" rtlCol="0" anchor="ctr"/>
              <a:lstStyle/>
              <a:p>
                <a:pPr algn="ctr">
                  <a:lnSpc>
                    <a:spcPct val="95000"/>
                  </a:lnSpc>
                </a:pPr>
                <a:r>
                  <a:rPr lang="en-US" sz="900" b="1" dirty="0">
                    <a:solidFill>
                      <a:srgbClr val="FFFFFF"/>
                    </a:solidFill>
                    <a:ea typeface="Arial" pitchFamily="34" charset="-122"/>
                    <a:cs typeface="Arial" pitchFamily="34" charset="-120"/>
                  </a:rPr>
                  <a:t>Deloitte Leadership &amp; QA</a:t>
                </a:r>
                <a:endParaRPr lang="en-US" sz="900" dirty="0">
                  <a:solidFill>
                    <a:prstClr val="black"/>
                  </a:solidFill>
                </a:endParaRPr>
              </a:p>
              <a:p>
                <a:pPr algn="ctr">
                  <a:lnSpc>
                    <a:spcPct val="95000"/>
                  </a:lnSpc>
                </a:pPr>
                <a:r>
                  <a:rPr lang="en-US" sz="900" dirty="0">
                    <a:solidFill>
                      <a:srgbClr val="D6E0F5"/>
                    </a:solidFill>
                    <a:ea typeface="Arial" pitchFamily="34" charset="-122"/>
                    <a:cs typeface="Arial" pitchFamily="34" charset="-120"/>
                  </a:rPr>
                  <a:t>Partner, Public Finance Practice — Project Sponsor</a:t>
                </a:r>
                <a:endParaRPr lang="en-US" sz="900" dirty="0">
                  <a:solidFill>
                    <a:prstClr val="black"/>
                  </a:solidFill>
                </a:endParaRPr>
              </a:p>
              <a:p>
                <a:pPr algn="ctr">
                  <a:lnSpc>
                    <a:spcPct val="95000"/>
                  </a:lnSpc>
                </a:pPr>
                <a:r>
                  <a:rPr lang="en-US" sz="900" dirty="0">
                    <a:solidFill>
                      <a:srgbClr val="D6E0F5"/>
                    </a:solidFill>
                    <a:ea typeface="Arial" pitchFamily="34" charset="-122"/>
                    <a:cs typeface="Arial" pitchFamily="34" charset="-120"/>
                  </a:rPr>
                  <a:t>Independent Quality &amp; Risk Reviewer</a:t>
                </a:r>
                <a:endParaRPr lang="en-US" sz="900" dirty="0">
                  <a:solidFill>
                    <a:prstClr val="black"/>
                  </a:solidFill>
                </a:endParaRPr>
              </a:p>
            </p:txBody>
          </p:sp>
          <p:sp>
            <p:nvSpPr>
              <p:cNvPr id="93" name="Shape 17">
                <a:extLst>
                  <a:ext uri="{FF2B5EF4-FFF2-40B4-BE49-F238E27FC236}">
                    <a16:creationId xmlns:a16="http://schemas.microsoft.com/office/drawing/2014/main" id="{62674BF9-C93E-071F-AA9D-0F9778626392}"/>
                  </a:ext>
                </a:extLst>
              </p:cNvPr>
              <p:cNvSpPr/>
              <p:nvPr/>
            </p:nvSpPr>
            <p:spPr>
              <a:xfrm>
                <a:off x="3986967" y="1924702"/>
                <a:ext cx="314036" cy="234487"/>
              </a:xfrm>
              <a:prstGeom prst="leftRightArrow">
                <a:avLst/>
              </a:prstGeom>
              <a:solidFill>
                <a:srgbClr val="A6A6A6"/>
              </a:solidFill>
              <a:ln/>
            </p:spPr>
            <p:txBody>
              <a:bodyPr/>
              <a:lstStyle/>
              <a:p>
                <a:endParaRPr lang="en-IN" sz="900">
                  <a:solidFill>
                    <a:prstClr val="black"/>
                  </a:solidFill>
                </a:endParaRPr>
              </a:p>
            </p:txBody>
          </p:sp>
          <p:sp>
            <p:nvSpPr>
              <p:cNvPr id="94" name="Shape 18">
                <a:extLst>
                  <a:ext uri="{FF2B5EF4-FFF2-40B4-BE49-F238E27FC236}">
                    <a16:creationId xmlns:a16="http://schemas.microsoft.com/office/drawing/2014/main" id="{B85AA185-2891-BB3B-FD4A-45BFD01A8813}"/>
                  </a:ext>
                </a:extLst>
              </p:cNvPr>
              <p:cNvSpPr/>
              <p:nvPr/>
            </p:nvSpPr>
            <p:spPr>
              <a:xfrm>
                <a:off x="1423927" y="2660917"/>
                <a:ext cx="258619" cy="306637"/>
              </a:xfrm>
              <a:prstGeom prst="downArrow">
                <a:avLst/>
              </a:prstGeom>
              <a:solidFill>
                <a:srgbClr val="BFBFBF"/>
              </a:solidFill>
              <a:ln/>
            </p:spPr>
            <p:txBody>
              <a:bodyPr/>
              <a:lstStyle/>
              <a:p>
                <a:endParaRPr lang="en-IN" sz="900">
                  <a:solidFill>
                    <a:prstClr val="black"/>
                  </a:solidFill>
                </a:endParaRPr>
              </a:p>
            </p:txBody>
          </p:sp>
          <p:sp>
            <p:nvSpPr>
              <p:cNvPr id="95" name="Shape 19">
                <a:extLst>
                  <a:ext uri="{FF2B5EF4-FFF2-40B4-BE49-F238E27FC236}">
                    <a16:creationId xmlns:a16="http://schemas.microsoft.com/office/drawing/2014/main" id="{41712FBF-B459-4EB0-7968-E39701797DF5}"/>
                  </a:ext>
                </a:extLst>
              </p:cNvPr>
              <p:cNvSpPr/>
              <p:nvPr/>
            </p:nvSpPr>
            <p:spPr>
              <a:xfrm>
                <a:off x="6813293" y="2664240"/>
                <a:ext cx="258619" cy="306637"/>
              </a:xfrm>
              <a:prstGeom prst="downArrow">
                <a:avLst/>
              </a:prstGeom>
              <a:solidFill>
                <a:srgbClr val="BFBFBF"/>
              </a:solidFill>
              <a:ln/>
            </p:spPr>
            <p:txBody>
              <a:bodyPr/>
              <a:lstStyle/>
              <a:p>
                <a:endParaRPr lang="en-IN" sz="900">
                  <a:solidFill>
                    <a:prstClr val="black"/>
                  </a:solidFill>
                </a:endParaRPr>
              </a:p>
            </p:txBody>
          </p:sp>
          <p:sp>
            <p:nvSpPr>
              <p:cNvPr id="96" name="Text 20">
                <a:extLst>
                  <a:ext uri="{FF2B5EF4-FFF2-40B4-BE49-F238E27FC236}">
                    <a16:creationId xmlns:a16="http://schemas.microsoft.com/office/drawing/2014/main" id="{05358126-AA2D-EE34-D742-A66052099380}"/>
                  </a:ext>
                </a:extLst>
              </p:cNvPr>
              <p:cNvSpPr/>
              <p:nvPr/>
            </p:nvSpPr>
            <p:spPr>
              <a:xfrm>
                <a:off x="1243769" y="2718352"/>
                <a:ext cx="6049815" cy="252525"/>
              </a:xfrm>
              <a:prstGeom prst="rect">
                <a:avLst/>
              </a:prstGeom>
              <a:noFill/>
              <a:ln/>
            </p:spPr>
            <p:txBody>
              <a:bodyPr wrap="square" lIns="0" tIns="0" rIns="0" bIns="0" rtlCol="0" anchor="ctr"/>
              <a:lstStyle/>
              <a:p>
                <a:pPr algn="ctr"/>
                <a:r>
                  <a:rPr lang="en-US" sz="900" b="1">
                    <a:solidFill>
                      <a:srgbClr val="404040"/>
                    </a:solidFill>
                    <a:ea typeface="Arial" pitchFamily="34" charset="-122"/>
                    <a:cs typeface="Arial" pitchFamily="34" charset="-120"/>
                  </a:rPr>
                  <a:t>KEY EXPERTS — CORE TECHNICAL TEAM</a:t>
                </a:r>
                <a:endParaRPr lang="en-US" sz="900">
                  <a:solidFill>
                    <a:prstClr val="black"/>
                  </a:solidFill>
                </a:endParaRPr>
              </a:p>
            </p:txBody>
          </p:sp>
          <p:sp>
            <p:nvSpPr>
              <p:cNvPr id="97" name="Shape 21">
                <a:extLst>
                  <a:ext uri="{FF2B5EF4-FFF2-40B4-BE49-F238E27FC236}">
                    <a16:creationId xmlns:a16="http://schemas.microsoft.com/office/drawing/2014/main" id="{2ADBC540-5A65-C38A-D374-C130AACFD198}"/>
                  </a:ext>
                </a:extLst>
              </p:cNvPr>
              <p:cNvSpPr/>
              <p:nvPr/>
            </p:nvSpPr>
            <p:spPr>
              <a:xfrm>
                <a:off x="1243769" y="3006952"/>
                <a:ext cx="2724726" cy="1397908"/>
              </a:xfrm>
              <a:prstGeom prst="roundRect">
                <a:avLst>
                  <a:gd name="adj" fmla="val 5161"/>
                </a:avLst>
              </a:prstGeom>
              <a:solidFill>
                <a:srgbClr val="007680"/>
              </a:solidFill>
              <a:ln/>
            </p:spPr>
            <p:txBody>
              <a:bodyPr/>
              <a:lstStyle/>
              <a:p>
                <a:endParaRPr lang="en-IN" sz="900">
                  <a:solidFill>
                    <a:prstClr val="black"/>
                  </a:solidFill>
                </a:endParaRPr>
              </a:p>
            </p:txBody>
          </p:sp>
          <p:sp>
            <p:nvSpPr>
              <p:cNvPr id="98" name="Shape 22">
                <a:extLst>
                  <a:ext uri="{FF2B5EF4-FFF2-40B4-BE49-F238E27FC236}">
                    <a16:creationId xmlns:a16="http://schemas.microsoft.com/office/drawing/2014/main" id="{59943ABB-ABFC-C8A7-E129-DF584DE8FC2D}"/>
                  </a:ext>
                </a:extLst>
              </p:cNvPr>
              <p:cNvSpPr/>
              <p:nvPr/>
            </p:nvSpPr>
            <p:spPr>
              <a:xfrm>
                <a:off x="4337948" y="3006952"/>
                <a:ext cx="2955635" cy="1397908"/>
              </a:xfrm>
              <a:prstGeom prst="roundRect">
                <a:avLst>
                  <a:gd name="adj" fmla="val 5161"/>
                </a:avLst>
              </a:prstGeom>
              <a:solidFill>
                <a:srgbClr val="007680"/>
              </a:solidFill>
              <a:ln/>
            </p:spPr>
            <p:txBody>
              <a:bodyPr/>
              <a:lstStyle/>
              <a:p>
                <a:endParaRPr lang="en-IN" sz="900">
                  <a:solidFill>
                    <a:prstClr val="black"/>
                  </a:solidFill>
                </a:endParaRPr>
              </a:p>
            </p:txBody>
          </p:sp>
          <p:sp>
            <p:nvSpPr>
              <p:cNvPr id="99" name="Text 23">
                <a:extLst>
                  <a:ext uri="{FF2B5EF4-FFF2-40B4-BE49-F238E27FC236}">
                    <a16:creationId xmlns:a16="http://schemas.microsoft.com/office/drawing/2014/main" id="{D5049062-5A58-42EB-AD02-08A54D0FBA49}"/>
                  </a:ext>
                </a:extLst>
              </p:cNvPr>
              <p:cNvSpPr/>
              <p:nvPr/>
            </p:nvSpPr>
            <p:spPr>
              <a:xfrm>
                <a:off x="1336133" y="3079102"/>
                <a:ext cx="2539998" cy="1253608"/>
              </a:xfrm>
              <a:prstGeom prst="rect">
                <a:avLst/>
              </a:prstGeom>
              <a:noFill/>
              <a:ln/>
            </p:spPr>
            <p:txBody>
              <a:bodyPr wrap="square" lIns="0" tIns="0" rIns="0" bIns="0" rtlCol="0" anchor="ctr"/>
              <a:lstStyle/>
              <a:p>
                <a:pPr algn="ctr">
                  <a:lnSpc>
                    <a:spcPct val="95000"/>
                  </a:lnSpc>
                </a:pPr>
                <a:r>
                  <a:rPr lang="en-US" sz="900" b="1">
                    <a:solidFill>
                      <a:srgbClr val="FFFFFF"/>
                    </a:solidFill>
                    <a:ea typeface="Arial" pitchFamily="34" charset="-122"/>
                    <a:cs typeface="Arial" pitchFamily="34" charset="-120"/>
                  </a:rPr>
                  <a:t>State Finance Departments &amp; Line Ministries</a:t>
                </a:r>
                <a:endParaRPr lang="en-US" sz="900">
                  <a:solidFill>
                    <a:prstClr val="black"/>
                  </a:solidFill>
                </a:endParaRPr>
              </a:p>
              <a:p>
                <a:pPr algn="ctr">
                  <a:lnSpc>
                    <a:spcPct val="95000"/>
                  </a:lnSpc>
                </a:pPr>
                <a:r>
                  <a:rPr lang="en-US" sz="900">
                    <a:solidFill>
                      <a:srgbClr val="D3ECEF"/>
                    </a:solidFill>
                    <a:ea typeface="Arial" pitchFamily="34" charset="-122"/>
                    <a:cs typeface="Arial" pitchFamily="34" charset="-120"/>
                  </a:rPr>
                  <a:t>Finance Secretaries, Budget Directors, DISCOM and implementing-agency officials</a:t>
                </a:r>
                <a:endParaRPr lang="en-US" sz="900">
                  <a:solidFill>
                    <a:prstClr val="black"/>
                  </a:solidFill>
                </a:endParaRPr>
              </a:p>
              <a:p>
                <a:pPr algn="ctr">
                  <a:lnSpc>
                    <a:spcPct val="95000"/>
                  </a:lnSpc>
                </a:pPr>
                <a:r>
                  <a:rPr lang="en-US" sz="900">
                    <a:solidFill>
                      <a:srgbClr val="D3ECEF"/>
                    </a:solidFill>
                    <a:ea typeface="Arial" pitchFamily="34" charset="-122"/>
                    <a:cs typeface="Arial" pitchFamily="34" charset="-120"/>
                  </a:rPr>
                  <a:t>Academia, think tanks and multilateral experts facilitated by NITI Aayog</a:t>
                </a:r>
                <a:endParaRPr lang="en-US" sz="900">
                  <a:solidFill>
                    <a:prstClr val="black"/>
                  </a:solidFill>
                </a:endParaRPr>
              </a:p>
            </p:txBody>
          </p:sp>
          <p:sp>
            <p:nvSpPr>
              <p:cNvPr id="100" name="Text 24">
                <a:extLst>
                  <a:ext uri="{FF2B5EF4-FFF2-40B4-BE49-F238E27FC236}">
                    <a16:creationId xmlns:a16="http://schemas.microsoft.com/office/drawing/2014/main" id="{1EA1A791-0E8B-1820-AF21-3D78C894D528}"/>
                  </a:ext>
                </a:extLst>
              </p:cNvPr>
              <p:cNvSpPr/>
              <p:nvPr/>
            </p:nvSpPr>
            <p:spPr>
              <a:xfrm>
                <a:off x="4430312" y="3079102"/>
                <a:ext cx="2770908" cy="1253608"/>
              </a:xfrm>
              <a:prstGeom prst="rect">
                <a:avLst/>
              </a:prstGeom>
              <a:noFill/>
              <a:ln/>
            </p:spPr>
            <p:txBody>
              <a:bodyPr wrap="square" lIns="0" tIns="0" rIns="0" bIns="0" rtlCol="0" anchor="ctr"/>
              <a:lstStyle/>
              <a:p>
                <a:pPr algn="ctr">
                  <a:lnSpc>
                    <a:spcPct val="95000"/>
                  </a:lnSpc>
                </a:pPr>
                <a:r>
                  <a:rPr lang="en-US" sz="900" b="1">
                    <a:solidFill>
                      <a:srgbClr val="FFFFFF"/>
                    </a:solidFill>
                    <a:ea typeface="Arial" pitchFamily="34" charset="-122"/>
                    <a:cs typeface="Arial" pitchFamily="34" charset="-120"/>
                  </a:rPr>
                  <a:t>Principal Investigator — Tapas Kumar Sen</a:t>
                </a:r>
                <a:endParaRPr lang="en-US" sz="900">
                  <a:solidFill>
                    <a:prstClr val="black"/>
                  </a:solidFill>
                </a:endParaRPr>
              </a:p>
              <a:p>
                <a:pPr algn="ctr">
                  <a:lnSpc>
                    <a:spcPct val="95000"/>
                  </a:lnSpc>
                </a:pPr>
                <a:r>
                  <a:rPr lang="en-US" sz="900">
                    <a:solidFill>
                      <a:srgbClr val="D3ECEF"/>
                    </a:solidFill>
                    <a:ea typeface="Arial" pitchFamily="34" charset="-122"/>
                    <a:cs typeface="Arial" pitchFamily="34" charset="-120"/>
                  </a:rPr>
                  <a:t>45+ years | Public finance, subsidy incidence, fiscal federalism</a:t>
                </a:r>
                <a:endParaRPr lang="en-US" sz="900">
                  <a:solidFill>
                    <a:prstClr val="black"/>
                  </a:solidFill>
                </a:endParaRPr>
              </a:p>
              <a:p>
                <a:pPr algn="ctr">
                  <a:lnSpc>
                    <a:spcPct val="95000"/>
                  </a:lnSpc>
                </a:pPr>
                <a:r>
                  <a:rPr lang="en-US" sz="900" b="1">
                    <a:solidFill>
                      <a:srgbClr val="FFFFFF"/>
                    </a:solidFill>
                    <a:ea typeface="Arial" pitchFamily="34" charset="-122"/>
                    <a:cs typeface="Arial" pitchFamily="34" charset="-120"/>
                  </a:rPr>
                  <a:t>Co-Principal Investigator — Rishav Singh</a:t>
                </a:r>
                <a:endParaRPr lang="en-US" sz="900">
                  <a:solidFill>
                    <a:prstClr val="black"/>
                  </a:solidFill>
                </a:endParaRPr>
              </a:p>
              <a:p>
                <a:pPr algn="ctr">
                  <a:lnSpc>
                    <a:spcPct val="95000"/>
                  </a:lnSpc>
                </a:pPr>
                <a:r>
                  <a:rPr lang="en-US" sz="900">
                    <a:solidFill>
                      <a:srgbClr val="D3ECEF"/>
                    </a:solidFill>
                    <a:ea typeface="Arial" pitchFamily="34" charset="-122"/>
                    <a:cs typeface="Arial" pitchFamily="34" charset="-120"/>
                  </a:rPr>
                  <a:t>23+ years | PFM, expenditure management, fiscal sustainability</a:t>
                </a:r>
                <a:endParaRPr lang="en-US" sz="900">
                  <a:solidFill>
                    <a:prstClr val="black"/>
                  </a:solidFill>
                </a:endParaRPr>
              </a:p>
            </p:txBody>
          </p:sp>
          <p:sp>
            <p:nvSpPr>
              <p:cNvPr id="101" name="Shape 25">
                <a:extLst>
                  <a:ext uri="{FF2B5EF4-FFF2-40B4-BE49-F238E27FC236}">
                    <a16:creationId xmlns:a16="http://schemas.microsoft.com/office/drawing/2014/main" id="{1F9A9AB9-12D5-F0A9-E897-31A7A1C662C1}"/>
                  </a:ext>
                </a:extLst>
              </p:cNvPr>
              <p:cNvSpPr/>
              <p:nvPr/>
            </p:nvSpPr>
            <p:spPr>
              <a:xfrm>
                <a:off x="3986967" y="3588662"/>
                <a:ext cx="314036" cy="234487"/>
              </a:xfrm>
              <a:prstGeom prst="leftRightArrow">
                <a:avLst/>
              </a:prstGeom>
              <a:solidFill>
                <a:srgbClr val="A6A6A6"/>
              </a:solidFill>
              <a:ln/>
            </p:spPr>
            <p:txBody>
              <a:bodyPr/>
              <a:lstStyle/>
              <a:p>
                <a:endParaRPr lang="en-IN" sz="900">
                  <a:solidFill>
                    <a:prstClr val="black"/>
                  </a:solidFill>
                </a:endParaRPr>
              </a:p>
            </p:txBody>
          </p:sp>
          <p:sp>
            <p:nvSpPr>
              <p:cNvPr id="102" name="Shape 26">
                <a:extLst>
                  <a:ext uri="{FF2B5EF4-FFF2-40B4-BE49-F238E27FC236}">
                    <a16:creationId xmlns:a16="http://schemas.microsoft.com/office/drawing/2014/main" id="{D1D53237-8E94-D472-A15C-0F74A041C6FB}"/>
                  </a:ext>
                </a:extLst>
              </p:cNvPr>
              <p:cNvSpPr/>
              <p:nvPr/>
            </p:nvSpPr>
            <p:spPr>
              <a:xfrm>
                <a:off x="1493151" y="4440935"/>
                <a:ext cx="258619" cy="306637"/>
              </a:xfrm>
              <a:prstGeom prst="downArrow">
                <a:avLst/>
              </a:prstGeom>
              <a:solidFill>
                <a:srgbClr val="BFBFBF"/>
              </a:solidFill>
              <a:ln/>
            </p:spPr>
            <p:txBody>
              <a:bodyPr/>
              <a:lstStyle/>
              <a:p>
                <a:endParaRPr lang="en-IN" sz="900">
                  <a:solidFill>
                    <a:prstClr val="black"/>
                  </a:solidFill>
                </a:endParaRPr>
              </a:p>
            </p:txBody>
          </p:sp>
          <p:sp>
            <p:nvSpPr>
              <p:cNvPr id="103" name="Shape 27">
                <a:extLst>
                  <a:ext uri="{FF2B5EF4-FFF2-40B4-BE49-F238E27FC236}">
                    <a16:creationId xmlns:a16="http://schemas.microsoft.com/office/drawing/2014/main" id="{3ECD054F-E5C7-0ED0-1B8F-24BB2B85A63F}"/>
                  </a:ext>
                </a:extLst>
              </p:cNvPr>
              <p:cNvSpPr/>
              <p:nvPr/>
            </p:nvSpPr>
            <p:spPr>
              <a:xfrm>
                <a:off x="6813293" y="4440935"/>
                <a:ext cx="258619" cy="306637"/>
              </a:xfrm>
              <a:prstGeom prst="downArrow">
                <a:avLst/>
              </a:prstGeom>
              <a:solidFill>
                <a:srgbClr val="BFBFBF"/>
              </a:solidFill>
              <a:ln/>
            </p:spPr>
            <p:txBody>
              <a:bodyPr/>
              <a:lstStyle/>
              <a:p>
                <a:endParaRPr lang="en-IN" sz="900">
                  <a:solidFill>
                    <a:prstClr val="black"/>
                  </a:solidFill>
                </a:endParaRPr>
              </a:p>
            </p:txBody>
          </p:sp>
          <p:sp>
            <p:nvSpPr>
              <p:cNvPr id="104" name="Text 28">
                <a:extLst>
                  <a:ext uri="{FF2B5EF4-FFF2-40B4-BE49-F238E27FC236}">
                    <a16:creationId xmlns:a16="http://schemas.microsoft.com/office/drawing/2014/main" id="{540FB913-5089-FDC3-D35C-2054A047408B}"/>
                  </a:ext>
                </a:extLst>
              </p:cNvPr>
              <p:cNvSpPr/>
              <p:nvPr/>
            </p:nvSpPr>
            <p:spPr>
              <a:xfrm>
                <a:off x="1243769" y="4495047"/>
                <a:ext cx="6049815" cy="252525"/>
              </a:xfrm>
              <a:prstGeom prst="rect">
                <a:avLst/>
              </a:prstGeom>
              <a:noFill/>
              <a:ln/>
            </p:spPr>
            <p:txBody>
              <a:bodyPr wrap="square" lIns="0" tIns="0" rIns="0" bIns="0" rtlCol="0" anchor="ctr"/>
              <a:lstStyle/>
              <a:p>
                <a:pPr algn="ctr"/>
                <a:r>
                  <a:rPr lang="en-US" sz="900" b="1">
                    <a:solidFill>
                      <a:srgbClr val="404040"/>
                    </a:solidFill>
                    <a:ea typeface="Arial" pitchFamily="34" charset="-122"/>
                    <a:cs typeface="Arial" pitchFamily="34" charset="-120"/>
                  </a:rPr>
                  <a:t>PROJECT SUPPORT TEAM</a:t>
                </a:r>
                <a:endParaRPr lang="en-US" sz="900">
                  <a:solidFill>
                    <a:prstClr val="black"/>
                  </a:solidFill>
                </a:endParaRPr>
              </a:p>
            </p:txBody>
          </p:sp>
          <p:sp>
            <p:nvSpPr>
              <p:cNvPr id="105" name="Shape 29">
                <a:extLst>
                  <a:ext uri="{FF2B5EF4-FFF2-40B4-BE49-F238E27FC236}">
                    <a16:creationId xmlns:a16="http://schemas.microsoft.com/office/drawing/2014/main" id="{779E45B0-7BB6-C00E-C844-F71874E5F8D5}"/>
                  </a:ext>
                </a:extLst>
              </p:cNvPr>
              <p:cNvSpPr/>
              <p:nvPr/>
            </p:nvSpPr>
            <p:spPr>
              <a:xfrm>
                <a:off x="1243769" y="4783647"/>
                <a:ext cx="2724726" cy="1578283"/>
              </a:xfrm>
              <a:prstGeom prst="roundRect">
                <a:avLst>
                  <a:gd name="adj" fmla="val 4571"/>
                </a:avLst>
              </a:prstGeom>
              <a:solidFill>
                <a:srgbClr val="0076A8"/>
              </a:solidFill>
              <a:ln/>
            </p:spPr>
            <p:txBody>
              <a:bodyPr/>
              <a:lstStyle/>
              <a:p>
                <a:endParaRPr lang="en-IN" sz="900">
                  <a:solidFill>
                    <a:prstClr val="black"/>
                  </a:solidFill>
                </a:endParaRPr>
              </a:p>
            </p:txBody>
          </p:sp>
          <p:sp>
            <p:nvSpPr>
              <p:cNvPr id="106" name="Shape 30">
                <a:extLst>
                  <a:ext uri="{FF2B5EF4-FFF2-40B4-BE49-F238E27FC236}">
                    <a16:creationId xmlns:a16="http://schemas.microsoft.com/office/drawing/2014/main" id="{52CBB7F3-72A7-87A0-D579-6ADAA5D443B1}"/>
                  </a:ext>
                </a:extLst>
              </p:cNvPr>
              <p:cNvSpPr/>
              <p:nvPr/>
            </p:nvSpPr>
            <p:spPr>
              <a:xfrm>
                <a:off x="4337948" y="4783647"/>
                <a:ext cx="2955635" cy="1578283"/>
              </a:xfrm>
              <a:prstGeom prst="roundRect">
                <a:avLst>
                  <a:gd name="adj" fmla="val 4571"/>
                </a:avLst>
              </a:prstGeom>
              <a:solidFill>
                <a:srgbClr val="0076A8"/>
              </a:solidFill>
              <a:ln/>
            </p:spPr>
            <p:txBody>
              <a:bodyPr/>
              <a:lstStyle/>
              <a:p>
                <a:endParaRPr lang="en-IN" sz="900">
                  <a:solidFill>
                    <a:prstClr val="black"/>
                  </a:solidFill>
                </a:endParaRPr>
              </a:p>
            </p:txBody>
          </p:sp>
          <p:sp>
            <p:nvSpPr>
              <p:cNvPr id="107" name="Text 31">
                <a:extLst>
                  <a:ext uri="{FF2B5EF4-FFF2-40B4-BE49-F238E27FC236}">
                    <a16:creationId xmlns:a16="http://schemas.microsoft.com/office/drawing/2014/main" id="{577F2C32-56A1-6076-5F91-20CB32DEF24F}"/>
                  </a:ext>
                </a:extLst>
              </p:cNvPr>
              <p:cNvSpPr/>
              <p:nvPr/>
            </p:nvSpPr>
            <p:spPr>
              <a:xfrm>
                <a:off x="1336133" y="4855797"/>
                <a:ext cx="2539998" cy="1433983"/>
              </a:xfrm>
              <a:prstGeom prst="rect">
                <a:avLst/>
              </a:prstGeom>
              <a:noFill/>
              <a:ln/>
            </p:spPr>
            <p:txBody>
              <a:bodyPr wrap="square" lIns="0" tIns="0" rIns="0" bIns="0" rtlCol="0" anchor="ctr"/>
              <a:lstStyle/>
              <a:p>
                <a:pPr algn="ctr">
                  <a:lnSpc>
                    <a:spcPct val="95000"/>
                  </a:lnSpc>
                </a:pPr>
                <a:r>
                  <a:rPr lang="en-US" sz="900" b="1">
                    <a:solidFill>
                      <a:srgbClr val="FFFFFF"/>
                    </a:solidFill>
                    <a:ea typeface="Arial" pitchFamily="34" charset="-122"/>
                    <a:cs typeface="Arial" pitchFamily="34" charset="-120"/>
                  </a:rPr>
                  <a:t>NITI Aayog nodal support</a:t>
                </a:r>
                <a:endParaRPr lang="en-US" sz="900">
                  <a:solidFill>
                    <a:prstClr val="black"/>
                  </a:solidFill>
                </a:endParaRPr>
              </a:p>
              <a:p>
                <a:pPr algn="ctr">
                  <a:lnSpc>
                    <a:spcPct val="95000"/>
                  </a:lnSpc>
                </a:pPr>
                <a:r>
                  <a:rPr lang="en-US" sz="900">
                    <a:solidFill>
                      <a:srgbClr val="D5E9F4"/>
                    </a:solidFill>
                    <a:ea typeface="Arial" pitchFamily="34" charset="-122"/>
                    <a:cs typeface="Arial" pitchFamily="34" charset="-120"/>
                  </a:rPr>
                  <a:t>Facilitation of stakeholder connections, datasets, parameters and report structure</a:t>
                </a:r>
                <a:endParaRPr lang="en-US" sz="900">
                  <a:solidFill>
                    <a:prstClr val="black"/>
                  </a:solidFill>
                </a:endParaRPr>
              </a:p>
              <a:p>
                <a:pPr algn="ctr">
                  <a:lnSpc>
                    <a:spcPct val="95000"/>
                  </a:lnSpc>
                </a:pPr>
                <a:r>
                  <a:rPr lang="en-US" sz="900">
                    <a:solidFill>
                      <a:srgbClr val="D5E9F4"/>
                    </a:solidFill>
                    <a:ea typeface="Arial" pitchFamily="34" charset="-122"/>
                    <a:cs typeface="Arial" pitchFamily="34" charset="-120"/>
                  </a:rPr>
                  <a:t>Data custodians — RBI, CAG, State Finance Departments</a:t>
                </a:r>
                <a:endParaRPr lang="en-US" sz="900">
                  <a:solidFill>
                    <a:prstClr val="black"/>
                  </a:solidFill>
                </a:endParaRPr>
              </a:p>
            </p:txBody>
          </p:sp>
          <p:sp>
            <p:nvSpPr>
              <p:cNvPr id="108" name="Text 32">
                <a:extLst>
                  <a:ext uri="{FF2B5EF4-FFF2-40B4-BE49-F238E27FC236}">
                    <a16:creationId xmlns:a16="http://schemas.microsoft.com/office/drawing/2014/main" id="{00BB1990-6382-F479-9D83-7890F4490013}"/>
                  </a:ext>
                </a:extLst>
              </p:cNvPr>
              <p:cNvSpPr/>
              <p:nvPr/>
            </p:nvSpPr>
            <p:spPr>
              <a:xfrm>
                <a:off x="4430312" y="4855797"/>
                <a:ext cx="2770908" cy="1433983"/>
              </a:xfrm>
              <a:prstGeom prst="rect">
                <a:avLst/>
              </a:prstGeom>
              <a:noFill/>
              <a:ln/>
            </p:spPr>
            <p:txBody>
              <a:bodyPr wrap="square" lIns="0" tIns="0" rIns="0" bIns="0" rtlCol="0" anchor="ctr"/>
              <a:lstStyle/>
              <a:p>
                <a:pPr algn="ctr">
                  <a:lnSpc>
                    <a:spcPct val="95000"/>
                  </a:lnSpc>
                </a:pPr>
                <a:r>
                  <a:rPr lang="en-US" sz="900" b="1">
                    <a:solidFill>
                      <a:srgbClr val="FFFFFF"/>
                    </a:solidFill>
                    <a:ea typeface="Arial" pitchFamily="34" charset="-122"/>
                    <a:cs typeface="Arial" pitchFamily="34" charset="-120"/>
                  </a:rPr>
                  <a:t>Research Staff cum Project Manager — Kartik Agarwal</a:t>
                </a:r>
                <a:endParaRPr lang="en-US" sz="900">
                  <a:solidFill>
                    <a:prstClr val="black"/>
                  </a:solidFill>
                </a:endParaRPr>
              </a:p>
              <a:p>
                <a:pPr algn="ctr">
                  <a:lnSpc>
                    <a:spcPct val="95000"/>
                  </a:lnSpc>
                </a:pPr>
                <a:r>
                  <a:rPr lang="en-US" sz="900">
                    <a:solidFill>
                      <a:srgbClr val="D5E9F4"/>
                    </a:solidFill>
                    <a:ea typeface="Arial" pitchFamily="34" charset="-122"/>
                    <a:cs typeface="Arial" pitchFamily="34" charset="-120"/>
                  </a:rPr>
                  <a:t>13+ years | State fiscal analysis, outcome budgeting, econometrics</a:t>
                </a:r>
                <a:endParaRPr lang="en-US" sz="900">
                  <a:solidFill>
                    <a:prstClr val="black"/>
                  </a:solidFill>
                </a:endParaRPr>
              </a:p>
              <a:p>
                <a:pPr algn="ctr">
                  <a:lnSpc>
                    <a:spcPct val="95000"/>
                  </a:lnSpc>
                </a:pPr>
                <a:r>
                  <a:rPr lang="en-US" sz="900" b="1">
                    <a:solidFill>
                      <a:srgbClr val="FFFFFF"/>
                    </a:solidFill>
                    <a:ea typeface="Arial" pitchFamily="34" charset="-122"/>
                    <a:cs typeface="Arial" pitchFamily="34" charset="-120"/>
                  </a:rPr>
                  <a:t>Field Staff (2 members) — Purvi Chaturvedi (6+ yrs), Aanchal Karnani (2+ yrs)</a:t>
                </a:r>
                <a:endParaRPr lang="en-US" sz="900">
                  <a:solidFill>
                    <a:prstClr val="black"/>
                  </a:solidFill>
                </a:endParaRPr>
              </a:p>
              <a:p>
                <a:pPr algn="ctr">
                  <a:lnSpc>
                    <a:spcPct val="95000"/>
                  </a:lnSpc>
                </a:pPr>
                <a:r>
                  <a:rPr lang="en-US" sz="900">
                    <a:solidFill>
                      <a:srgbClr val="D5E9F4"/>
                    </a:solidFill>
                    <a:ea typeface="Arial" pitchFamily="34" charset="-122"/>
                    <a:cs typeface="Arial" pitchFamily="34" charset="-120"/>
                  </a:rPr>
                  <a:t>Budget analysis, KII/FGD administration, welfare-scheme research</a:t>
                </a:r>
                <a:endParaRPr lang="en-US" sz="900">
                  <a:solidFill>
                    <a:prstClr val="black"/>
                  </a:solidFill>
                </a:endParaRPr>
              </a:p>
            </p:txBody>
          </p:sp>
          <p:sp>
            <p:nvSpPr>
              <p:cNvPr id="109" name="Shape 33">
                <a:extLst>
                  <a:ext uri="{FF2B5EF4-FFF2-40B4-BE49-F238E27FC236}">
                    <a16:creationId xmlns:a16="http://schemas.microsoft.com/office/drawing/2014/main" id="{DC2DB6A9-3829-9182-1FB0-71A62C213B81}"/>
                  </a:ext>
                </a:extLst>
              </p:cNvPr>
              <p:cNvSpPr/>
              <p:nvPr/>
            </p:nvSpPr>
            <p:spPr>
              <a:xfrm>
                <a:off x="3986967" y="5455545"/>
                <a:ext cx="314036" cy="234487"/>
              </a:xfrm>
              <a:prstGeom prst="leftRightArrow">
                <a:avLst/>
              </a:prstGeom>
              <a:solidFill>
                <a:srgbClr val="A6A6A6"/>
              </a:solidFill>
              <a:ln/>
            </p:spPr>
            <p:txBody>
              <a:bodyPr/>
              <a:lstStyle/>
              <a:p>
                <a:endParaRPr lang="en-IN" sz="900">
                  <a:solidFill>
                    <a:prstClr val="black"/>
                  </a:solidFill>
                </a:endParaRPr>
              </a:p>
            </p:txBody>
          </p:sp>
          <p:sp>
            <p:nvSpPr>
              <p:cNvPr id="110" name="Shape 34">
                <a:extLst>
                  <a:ext uri="{FF2B5EF4-FFF2-40B4-BE49-F238E27FC236}">
                    <a16:creationId xmlns:a16="http://schemas.microsoft.com/office/drawing/2014/main" id="{6F66BF7A-CF46-8FA1-018F-0FC046D20E89}"/>
                  </a:ext>
                </a:extLst>
              </p:cNvPr>
              <p:cNvSpPr/>
              <p:nvPr/>
            </p:nvSpPr>
            <p:spPr>
              <a:xfrm>
                <a:off x="7524493" y="1167126"/>
                <a:ext cx="3602180" cy="270562"/>
              </a:xfrm>
              <a:prstGeom prst="rect">
                <a:avLst/>
              </a:prstGeom>
              <a:solidFill>
                <a:srgbClr val="44546A"/>
              </a:solidFill>
              <a:ln/>
            </p:spPr>
            <p:txBody>
              <a:bodyPr/>
              <a:lstStyle/>
              <a:p>
                <a:endParaRPr lang="en-IN" sz="900">
                  <a:solidFill>
                    <a:prstClr val="black"/>
                  </a:solidFill>
                </a:endParaRPr>
              </a:p>
            </p:txBody>
          </p:sp>
          <p:sp>
            <p:nvSpPr>
              <p:cNvPr id="111" name="Text 35">
                <a:extLst>
                  <a:ext uri="{FF2B5EF4-FFF2-40B4-BE49-F238E27FC236}">
                    <a16:creationId xmlns:a16="http://schemas.microsoft.com/office/drawing/2014/main" id="{0717D721-BBB7-38D3-6F30-63036FA4F91E}"/>
                  </a:ext>
                </a:extLst>
              </p:cNvPr>
              <p:cNvSpPr/>
              <p:nvPr/>
            </p:nvSpPr>
            <p:spPr>
              <a:xfrm>
                <a:off x="7524493" y="1167126"/>
                <a:ext cx="3602180" cy="270562"/>
              </a:xfrm>
              <a:prstGeom prst="rect">
                <a:avLst/>
              </a:prstGeom>
              <a:noFill/>
              <a:ln/>
            </p:spPr>
            <p:txBody>
              <a:bodyPr wrap="square" lIns="0" tIns="0" rIns="0" bIns="0" rtlCol="0" anchor="ctr"/>
              <a:lstStyle/>
              <a:p>
                <a:pPr algn="ctr"/>
                <a:r>
                  <a:rPr lang="en-US" sz="900" b="1">
                    <a:solidFill>
                      <a:srgbClr val="FFFFFF"/>
                    </a:solidFill>
                    <a:ea typeface="Arial" pitchFamily="34" charset="-122"/>
                    <a:cs typeface="Arial" pitchFamily="34" charset="-120"/>
                  </a:rPr>
                  <a:t>KEY ROLES AND CONTRIBUTION</a:t>
                </a:r>
                <a:endParaRPr lang="en-US" sz="900">
                  <a:solidFill>
                    <a:prstClr val="black"/>
                  </a:solidFill>
                </a:endParaRPr>
              </a:p>
            </p:txBody>
          </p:sp>
          <p:sp>
            <p:nvSpPr>
              <p:cNvPr id="112" name="Text 36">
                <a:extLst>
                  <a:ext uri="{FF2B5EF4-FFF2-40B4-BE49-F238E27FC236}">
                    <a16:creationId xmlns:a16="http://schemas.microsoft.com/office/drawing/2014/main" id="{75412DD1-D24C-184A-017E-A5B978ED2DC3}"/>
                  </a:ext>
                </a:extLst>
              </p:cNvPr>
              <p:cNvSpPr/>
              <p:nvPr/>
            </p:nvSpPr>
            <p:spPr>
              <a:xfrm>
                <a:off x="7524493" y="1455726"/>
                <a:ext cx="3602180" cy="1172438"/>
              </a:xfrm>
              <a:prstGeom prst="rect">
                <a:avLst/>
              </a:prstGeom>
              <a:noFill/>
              <a:ln/>
            </p:spPr>
            <p:txBody>
              <a:bodyPr wrap="square" lIns="0" tIns="0" rIns="0" bIns="0" rtlCol="0" anchor="ctr"/>
              <a:lstStyle/>
              <a:p>
                <a:pPr marL="152400" indent="-152400">
                  <a:spcAft>
                    <a:spcPts val="400"/>
                  </a:spcAft>
                  <a:buSzPct val="100000"/>
                  <a:buFontTx/>
                  <a:buChar char="•"/>
                </a:pPr>
                <a:r>
                  <a:rPr lang="en-US" sz="900">
                    <a:solidFill>
                      <a:srgbClr val="404040"/>
                    </a:solidFill>
                    <a:ea typeface="Arial" pitchFamily="34" charset="-122"/>
                    <a:cs typeface="Arial" pitchFamily="34" charset="-120"/>
                  </a:rPr>
                  <a:t>Sets strategic direction, resolves policy-level and stuck issues, and owns the relationship with NITI Aayog</a:t>
                </a:r>
                <a:endParaRPr lang="en-US" sz="900">
                  <a:solidFill>
                    <a:prstClr val="black"/>
                  </a:solidFill>
                </a:endParaRPr>
              </a:p>
              <a:p>
                <a:pPr marL="152400" indent="-152400">
                  <a:spcAft>
                    <a:spcPts val="400"/>
                  </a:spcAft>
                  <a:buSzPct val="100000"/>
                  <a:buFontTx/>
                  <a:buChar char="•"/>
                </a:pPr>
                <a:r>
                  <a:rPr lang="en-US" sz="900">
                    <a:solidFill>
                      <a:srgbClr val="404040"/>
                    </a:solidFill>
                    <a:ea typeface="Arial" pitchFamily="34" charset="-122"/>
                    <a:cs typeface="Arial" pitchFamily="34" charset="-120"/>
                  </a:rPr>
                  <a:t>Independent quality and risk review of the Inception, Draft Final and Final Reports before submission</a:t>
                </a:r>
                <a:endParaRPr lang="en-US" sz="900">
                  <a:solidFill>
                    <a:prstClr val="black"/>
                  </a:solidFill>
                </a:endParaRPr>
              </a:p>
              <a:p>
                <a:pPr marL="152400" indent="-152400">
                  <a:spcAft>
                    <a:spcPts val="400"/>
                  </a:spcAft>
                  <a:buSzPct val="100000"/>
                  <a:buFontTx/>
                  <a:buChar char="•"/>
                </a:pPr>
                <a:r>
                  <a:rPr lang="en-US" sz="900">
                    <a:solidFill>
                      <a:srgbClr val="404040"/>
                    </a:solidFill>
                    <a:ea typeface="Arial" pitchFamily="34" charset="-122"/>
                    <a:cs typeface="Arial" pitchFamily="34" charset="-120"/>
                  </a:rPr>
                  <a:t>Guarantees continuity of the PI for the full study period, as undertaken in Form 1</a:t>
                </a:r>
                <a:endParaRPr lang="en-US" sz="900">
                  <a:solidFill>
                    <a:prstClr val="black"/>
                  </a:solidFill>
                </a:endParaRPr>
              </a:p>
            </p:txBody>
          </p:sp>
          <p:sp>
            <p:nvSpPr>
              <p:cNvPr id="113" name="Shape 37">
                <a:extLst>
                  <a:ext uri="{FF2B5EF4-FFF2-40B4-BE49-F238E27FC236}">
                    <a16:creationId xmlns:a16="http://schemas.microsoft.com/office/drawing/2014/main" id="{960F6B42-F721-B883-F6CF-8EDE40E25668}"/>
                  </a:ext>
                </a:extLst>
              </p:cNvPr>
              <p:cNvSpPr/>
              <p:nvPr/>
            </p:nvSpPr>
            <p:spPr>
              <a:xfrm>
                <a:off x="7524493" y="2772465"/>
                <a:ext cx="3602180" cy="0"/>
              </a:xfrm>
              <a:prstGeom prst="line">
                <a:avLst/>
              </a:prstGeom>
              <a:noFill/>
              <a:ln w="12700">
                <a:solidFill>
                  <a:srgbClr val="808080"/>
                </a:solidFill>
                <a:prstDash val="solid"/>
              </a:ln>
            </p:spPr>
            <p:txBody>
              <a:bodyPr/>
              <a:lstStyle/>
              <a:p>
                <a:endParaRPr lang="en-IN" sz="900">
                  <a:solidFill>
                    <a:prstClr val="black"/>
                  </a:solidFill>
                </a:endParaRPr>
              </a:p>
            </p:txBody>
          </p:sp>
          <p:sp>
            <p:nvSpPr>
              <p:cNvPr id="114" name="Text 38">
                <a:extLst>
                  <a:ext uri="{FF2B5EF4-FFF2-40B4-BE49-F238E27FC236}">
                    <a16:creationId xmlns:a16="http://schemas.microsoft.com/office/drawing/2014/main" id="{389FA6FA-EDC1-2CBA-AC8E-98ADFD9B73E7}"/>
                  </a:ext>
                </a:extLst>
              </p:cNvPr>
              <p:cNvSpPr/>
              <p:nvPr/>
            </p:nvSpPr>
            <p:spPr>
              <a:xfrm>
                <a:off x="7524493" y="3006952"/>
                <a:ext cx="3602180" cy="1397908"/>
              </a:xfrm>
              <a:prstGeom prst="rect">
                <a:avLst/>
              </a:prstGeom>
              <a:noFill/>
              <a:ln/>
            </p:spPr>
            <p:txBody>
              <a:bodyPr wrap="square" lIns="0" tIns="0" rIns="0" bIns="0" rtlCol="0" anchor="ctr"/>
              <a:lstStyle/>
              <a:p>
                <a:pPr marL="152400" indent="-152400">
                  <a:spcAft>
                    <a:spcPts val="400"/>
                  </a:spcAft>
                  <a:buSzPct val="100000"/>
                  <a:buFontTx/>
                  <a:buChar char="•"/>
                </a:pPr>
                <a:r>
                  <a:rPr lang="en-US" sz="900">
                    <a:solidFill>
                      <a:srgbClr val="404040"/>
                    </a:solidFill>
                    <a:ea typeface="Arial" pitchFamily="34" charset="-122"/>
                    <a:cs typeface="Arial" pitchFamily="34" charset="-120"/>
                  </a:rPr>
                  <a:t>PI owns the definition, the classification framework and the final policy recommendations, and signs off every deliverable</a:t>
                </a:r>
                <a:endParaRPr lang="en-US" sz="900">
                  <a:solidFill>
                    <a:prstClr val="black"/>
                  </a:solidFill>
                </a:endParaRPr>
              </a:p>
              <a:p>
                <a:pPr marL="152400" indent="-152400">
                  <a:spcAft>
                    <a:spcPts val="400"/>
                  </a:spcAft>
                  <a:buSzPct val="100000"/>
                  <a:buFontTx/>
                  <a:buChar char="•"/>
                </a:pPr>
                <a:r>
                  <a:rPr lang="en-US" sz="900">
                    <a:solidFill>
                      <a:srgbClr val="404040"/>
                    </a:solidFill>
                    <a:ea typeface="Arial" pitchFamily="34" charset="-122"/>
                    <a:cs typeface="Arial" pitchFamily="34" charset="-120"/>
                  </a:rPr>
                  <a:t>Co-PI co-leads the four-dimension evaluation matrix, fiscal-space assessment and national/international benchmarking</a:t>
                </a:r>
                <a:endParaRPr lang="en-US" sz="900">
                  <a:solidFill>
                    <a:prstClr val="black"/>
                  </a:solidFill>
                </a:endParaRPr>
              </a:p>
              <a:p>
                <a:pPr marL="152400" indent="-152400">
                  <a:spcAft>
                    <a:spcPts val="400"/>
                  </a:spcAft>
                  <a:buSzPct val="100000"/>
                  <a:buFontTx/>
                  <a:buChar char="•"/>
                </a:pPr>
                <a:r>
                  <a:rPr lang="en-US" sz="900">
                    <a:solidFill>
                      <a:srgbClr val="404040"/>
                    </a:solidFill>
                    <a:ea typeface="Arial" pitchFamily="34" charset="-122"/>
                    <a:cs typeface="Arial" pitchFamily="34" charset="-120"/>
                  </a:rPr>
                  <a:t>Lead the KIIs, FGDs and validation workshops with States, ministries and domain experts</a:t>
                </a:r>
                <a:endParaRPr lang="en-US" sz="900">
                  <a:solidFill>
                    <a:prstClr val="black"/>
                  </a:solidFill>
                </a:endParaRPr>
              </a:p>
            </p:txBody>
          </p:sp>
          <p:sp>
            <p:nvSpPr>
              <p:cNvPr id="115" name="Shape 39">
                <a:extLst>
                  <a:ext uri="{FF2B5EF4-FFF2-40B4-BE49-F238E27FC236}">
                    <a16:creationId xmlns:a16="http://schemas.microsoft.com/office/drawing/2014/main" id="{45A97DB8-EA49-3ADC-F5FC-4650423F0FB5}"/>
                  </a:ext>
                </a:extLst>
              </p:cNvPr>
              <p:cNvSpPr/>
              <p:nvPr/>
            </p:nvSpPr>
            <p:spPr>
              <a:xfrm>
                <a:off x="7524493" y="4549160"/>
                <a:ext cx="3602180" cy="0"/>
              </a:xfrm>
              <a:prstGeom prst="line">
                <a:avLst/>
              </a:prstGeom>
              <a:noFill/>
              <a:ln w="12700">
                <a:solidFill>
                  <a:srgbClr val="808080"/>
                </a:solidFill>
                <a:prstDash val="solid"/>
              </a:ln>
            </p:spPr>
            <p:txBody>
              <a:bodyPr/>
              <a:lstStyle/>
              <a:p>
                <a:endParaRPr lang="en-IN" sz="900">
                  <a:solidFill>
                    <a:prstClr val="black"/>
                  </a:solidFill>
                </a:endParaRPr>
              </a:p>
            </p:txBody>
          </p:sp>
          <p:sp>
            <p:nvSpPr>
              <p:cNvPr id="116" name="Text 40">
                <a:extLst>
                  <a:ext uri="{FF2B5EF4-FFF2-40B4-BE49-F238E27FC236}">
                    <a16:creationId xmlns:a16="http://schemas.microsoft.com/office/drawing/2014/main" id="{0BAA63CE-804A-FCB3-8D8A-0615F019F131}"/>
                  </a:ext>
                </a:extLst>
              </p:cNvPr>
              <p:cNvSpPr/>
              <p:nvPr/>
            </p:nvSpPr>
            <p:spPr>
              <a:xfrm>
                <a:off x="7524493" y="4783647"/>
                <a:ext cx="3602180" cy="1578283"/>
              </a:xfrm>
              <a:prstGeom prst="rect">
                <a:avLst/>
              </a:prstGeom>
              <a:noFill/>
              <a:ln/>
            </p:spPr>
            <p:txBody>
              <a:bodyPr wrap="square" lIns="0" tIns="0" rIns="0" bIns="0" rtlCol="0" anchor="ctr"/>
              <a:lstStyle/>
              <a:p>
                <a:pPr marL="152400" indent="-152400">
                  <a:spcAft>
                    <a:spcPts val="400"/>
                  </a:spcAft>
                  <a:buSzPct val="100000"/>
                  <a:buFontTx/>
                  <a:buChar char="•"/>
                </a:pPr>
                <a:r>
                  <a:rPr lang="en-US" sz="900">
                    <a:solidFill>
                      <a:srgbClr val="404040"/>
                    </a:solidFill>
                    <a:ea typeface="Arial" pitchFamily="34" charset="-122"/>
                    <a:cs typeface="Arial" pitchFamily="34" charset="-120"/>
                  </a:rPr>
                  <a:t>Compiles the ten-year dataset from RBI State Finances, CAG Finance Accounts, DDGs and State budgets, with data-quality checks</a:t>
                </a:r>
                <a:endParaRPr lang="en-US" sz="900">
                  <a:solidFill>
                    <a:prstClr val="black"/>
                  </a:solidFill>
                </a:endParaRPr>
              </a:p>
              <a:p>
                <a:pPr marL="152400" indent="-152400">
                  <a:spcAft>
                    <a:spcPts val="400"/>
                  </a:spcAft>
                  <a:buSzPct val="100000"/>
                  <a:buFontTx/>
                  <a:buChar char="•"/>
                </a:pPr>
                <a:r>
                  <a:rPr lang="en-US" sz="900">
                    <a:solidFill>
                      <a:srgbClr val="404040"/>
                    </a:solidFill>
                    <a:ea typeface="Arial" pitchFamily="34" charset="-122"/>
                    <a:cs typeface="Arial" pitchFamily="34" charset="-120"/>
                  </a:rPr>
                  <a:t>Builds and tests the MS Excel framework/toolkit and assembles the verifiable raw-data repository for NITI Aayog</a:t>
                </a:r>
                <a:endParaRPr lang="en-US" sz="900">
                  <a:solidFill>
                    <a:prstClr val="black"/>
                  </a:solidFill>
                </a:endParaRPr>
              </a:p>
              <a:p>
                <a:pPr marL="152400" indent="-152400">
                  <a:spcAft>
                    <a:spcPts val="400"/>
                  </a:spcAft>
                  <a:buSzPct val="100000"/>
                  <a:buFontTx/>
                  <a:buChar char="•"/>
                </a:pPr>
                <a:r>
                  <a:rPr lang="en-US" sz="900">
                    <a:solidFill>
                      <a:srgbClr val="404040"/>
                    </a:solidFill>
                    <a:ea typeface="Arial" pitchFamily="34" charset="-122"/>
                    <a:cs typeface="Arial" pitchFamily="34" charset="-120"/>
                  </a:rPr>
                  <a:t>Owns the workplan, fortnightly progress reporting and coordination with the NITI Aayog nodal officer</a:t>
                </a:r>
                <a:endParaRPr lang="en-US" sz="900">
                  <a:solidFill>
                    <a:prstClr val="black"/>
                  </a:solidFill>
                </a:endParaRPr>
              </a:p>
              <a:p>
                <a:pPr marL="152400" indent="-152400">
                  <a:spcAft>
                    <a:spcPts val="400"/>
                  </a:spcAft>
                  <a:buSzPct val="100000"/>
                  <a:buFontTx/>
                  <a:buChar char="•"/>
                </a:pPr>
                <a:r>
                  <a:rPr lang="en-US" sz="900">
                    <a:solidFill>
                      <a:srgbClr val="404040"/>
                    </a:solidFill>
                    <a:ea typeface="Arial" pitchFamily="34" charset="-122"/>
                    <a:cs typeface="Arial" pitchFamily="34" charset="-120"/>
                  </a:rPr>
                  <a:t>Administers the State questionnaire and prepares consultation transcripts and field notes</a:t>
                </a:r>
                <a:endParaRPr lang="en-US" sz="900">
                  <a:solidFill>
                    <a:prstClr val="black"/>
                  </a:solidFill>
                </a:endParaRPr>
              </a:p>
            </p:txBody>
          </p:sp>
          <p:pic>
            <p:nvPicPr>
              <p:cNvPr id="131" name="Picture 130">
                <a:extLst>
                  <a:ext uri="{FF2B5EF4-FFF2-40B4-BE49-F238E27FC236}">
                    <a16:creationId xmlns:a16="http://schemas.microsoft.com/office/drawing/2014/main" id="{8B21E413-B587-F3F3-BB0D-10F8E9EC11D7}"/>
                  </a:ext>
                </a:extLst>
              </p:cNvPr>
              <p:cNvPicPr>
                <a:picLocks noChangeAspect="1"/>
              </p:cNvPicPr>
              <p:nvPr/>
            </p:nvPicPr>
            <p:blipFill>
              <a:blip r:embed="rId3">
                <a:duotone>
                  <a:schemeClr val="accent3">
                    <a:shade val="45000"/>
                    <a:satMod val="135000"/>
                  </a:schemeClr>
                  <a:prstClr val="white"/>
                </a:duotone>
              </a:blip>
              <a:stretch>
                <a:fillRect/>
              </a:stretch>
            </p:blipFill>
            <p:spPr>
              <a:xfrm>
                <a:off x="2180824" y="1038660"/>
                <a:ext cx="486137" cy="407270"/>
              </a:xfrm>
              <a:prstGeom prst="rect">
                <a:avLst/>
              </a:prstGeom>
            </p:spPr>
          </p:pic>
          <p:pic>
            <p:nvPicPr>
              <p:cNvPr id="133" name="Picture 132">
                <a:extLst>
                  <a:ext uri="{FF2B5EF4-FFF2-40B4-BE49-F238E27FC236}">
                    <a16:creationId xmlns:a16="http://schemas.microsoft.com/office/drawing/2014/main" id="{775D596D-2F50-C2CC-B797-15C03CD63115}"/>
                  </a:ext>
                </a:extLst>
              </p:cNvPr>
              <p:cNvPicPr>
                <a:picLocks noChangeAspect="1"/>
              </p:cNvPicPr>
              <p:nvPr/>
            </p:nvPicPr>
            <p:blipFill>
              <a:blip r:embed="rId4">
                <a:duotone>
                  <a:prstClr val="black"/>
                  <a:srgbClr val="BBBCBC">
                    <a:tint val="45000"/>
                    <a:satMod val="400000"/>
                  </a:srgbClr>
                </a:duotone>
              </a:blip>
              <a:stretch>
                <a:fillRect/>
              </a:stretch>
            </p:blipFill>
            <p:spPr>
              <a:xfrm>
                <a:off x="2379843" y="2682324"/>
                <a:ext cx="507999" cy="300243"/>
              </a:xfrm>
              <a:prstGeom prst="rect">
                <a:avLst/>
              </a:prstGeom>
            </p:spPr>
          </p:pic>
          <p:pic>
            <p:nvPicPr>
              <p:cNvPr id="135" name="Picture 134">
                <a:extLst>
                  <a:ext uri="{FF2B5EF4-FFF2-40B4-BE49-F238E27FC236}">
                    <a16:creationId xmlns:a16="http://schemas.microsoft.com/office/drawing/2014/main" id="{26152DD9-5D3E-F2CC-0832-5A53FBC93CF2}"/>
                  </a:ext>
                </a:extLst>
              </p:cNvPr>
              <p:cNvPicPr>
                <a:picLocks noChangeAspect="1"/>
              </p:cNvPicPr>
              <p:nvPr/>
            </p:nvPicPr>
            <p:blipFill>
              <a:blip r:embed="rId5">
                <a:duotone>
                  <a:schemeClr val="accent5">
                    <a:shade val="45000"/>
                    <a:satMod val="135000"/>
                  </a:schemeClr>
                  <a:prstClr val="white"/>
                </a:duotone>
              </a:blip>
              <a:stretch>
                <a:fillRect/>
              </a:stretch>
            </p:blipFill>
            <p:spPr>
              <a:xfrm>
                <a:off x="3030754" y="4407661"/>
                <a:ext cx="375383" cy="340903"/>
              </a:xfrm>
              <a:prstGeom prst="rect">
                <a:avLst/>
              </a:prstGeom>
            </p:spPr>
          </p:pic>
          <p:sp>
            <p:nvSpPr>
              <p:cNvPr id="3" name="TextBox 2">
                <a:extLst>
                  <a:ext uri="{FF2B5EF4-FFF2-40B4-BE49-F238E27FC236}">
                    <a16:creationId xmlns:a16="http://schemas.microsoft.com/office/drawing/2014/main" id="{281E20BB-2B4F-2C2D-18DA-AA2E4840E521}"/>
                  </a:ext>
                </a:extLst>
              </p:cNvPr>
              <p:cNvSpPr txBox="1"/>
              <p:nvPr/>
            </p:nvSpPr>
            <p:spPr>
              <a:xfrm>
                <a:off x="11214006" y="1454236"/>
                <a:ext cx="664050" cy="5033957"/>
              </a:xfrm>
              <a:prstGeom prst="rect">
                <a:avLst/>
              </a:prstGeom>
              <a:gradFill flip="none" rotWithShape="1">
                <a:gsLst>
                  <a:gs pos="0">
                    <a:srgbClr val="2C5234"/>
                  </a:gs>
                  <a:gs pos="50000">
                    <a:srgbClr val="86BC25"/>
                  </a:gs>
                  <a:gs pos="100000">
                    <a:schemeClr val="bg1"/>
                  </a:gs>
                </a:gsLst>
                <a:lin ang="13800000" scaled="0"/>
                <a:tileRect/>
              </a:gradFill>
            </p:spPr>
            <p:txBody>
              <a:bodyPr wrap="square" lIns="0" tIns="0" rIns="0" bIns="0" rtlCol="0">
                <a:spAutoFit/>
              </a:bodyPr>
              <a:lstStyle/>
              <a:p>
                <a:pPr marL="203200" indent="-203200">
                  <a:spcBef>
                    <a:spcPts val="600"/>
                  </a:spcBef>
                  <a:buSzPct val="100000"/>
                  <a:buFont typeface="Arial"/>
                  <a:buChar char="•"/>
                </a:pPr>
                <a:endParaRPr lang="en-IN" dirty="0">
                  <a:solidFill>
                    <a:srgbClr val="313131"/>
                  </a:solidFill>
                </a:endParaRPr>
              </a:p>
            </p:txBody>
          </p:sp>
          <p:sp>
            <p:nvSpPr>
              <p:cNvPr id="6" name="Oval 5">
                <a:extLst>
                  <a:ext uri="{FF2B5EF4-FFF2-40B4-BE49-F238E27FC236}">
                    <a16:creationId xmlns:a16="http://schemas.microsoft.com/office/drawing/2014/main" id="{3EDDA16F-5CB5-0536-EEB3-C44201E91DE8}"/>
                  </a:ext>
                </a:extLst>
              </p:cNvPr>
              <p:cNvSpPr/>
              <p:nvPr/>
            </p:nvSpPr>
            <p:spPr bwMode="gray">
              <a:xfrm>
                <a:off x="11247299" y="1266800"/>
                <a:ext cx="656283" cy="611447"/>
              </a:xfrm>
              <a:prstGeom prst="ellipse">
                <a:avLst/>
              </a:prstGeom>
              <a:solidFill>
                <a:schemeClr val="accent2">
                  <a:lumMod val="40000"/>
                  <a:lumOff val="60000"/>
                </a:schemeClr>
              </a:solidFill>
              <a:ln w="19050" algn="ctr">
                <a:solidFill>
                  <a:srgbClr val="007680"/>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pic>
            <p:nvPicPr>
              <p:cNvPr id="7" name="Graphic 6" descr="Caret Up with solid fill">
                <a:extLst>
                  <a:ext uri="{FF2B5EF4-FFF2-40B4-BE49-F238E27FC236}">
                    <a16:creationId xmlns:a16="http://schemas.microsoft.com/office/drawing/2014/main" id="{A4DB0583-CDE9-0C9A-4E85-57B865D6ABA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279976" y="1247726"/>
                <a:ext cx="623606" cy="623606"/>
              </a:xfrm>
              <a:prstGeom prst="rect">
                <a:avLst/>
              </a:prstGeom>
            </p:spPr>
          </p:pic>
          <p:sp>
            <p:nvSpPr>
              <p:cNvPr id="8" name="Text 50">
                <a:extLst>
                  <a:ext uri="{FF2B5EF4-FFF2-40B4-BE49-F238E27FC236}">
                    <a16:creationId xmlns:a16="http://schemas.microsoft.com/office/drawing/2014/main" id="{B22BD0FE-920A-CD6B-173C-4767984EE102}"/>
                  </a:ext>
                </a:extLst>
              </p:cNvPr>
              <p:cNvSpPr/>
              <p:nvPr/>
            </p:nvSpPr>
            <p:spPr>
              <a:xfrm>
                <a:off x="11205271" y="3158438"/>
                <a:ext cx="665018" cy="270562"/>
              </a:xfrm>
              <a:prstGeom prst="rect">
                <a:avLst/>
              </a:prstGeom>
              <a:noFill/>
              <a:ln/>
            </p:spPr>
            <p:txBody>
              <a:bodyPr wrap="square" lIns="0" tIns="0" rIns="0" bIns="0" rtlCol="0" anchor="ctr"/>
              <a:lstStyle/>
              <a:p>
                <a:pPr algn="ctr"/>
                <a:r>
                  <a:rPr lang="en-US" sz="900" b="1" dirty="0">
                    <a:ea typeface="Arial" pitchFamily="34" charset="-122"/>
                    <a:cs typeface="Arial" pitchFamily="34" charset="-120"/>
                  </a:rPr>
                  <a:t>% of issues resolved at each tier</a:t>
                </a:r>
                <a:endParaRPr lang="en-US" sz="900" dirty="0"/>
              </a:p>
            </p:txBody>
          </p:sp>
          <p:sp>
            <p:nvSpPr>
              <p:cNvPr id="9" name="Shape 42">
                <a:extLst>
                  <a:ext uri="{FF2B5EF4-FFF2-40B4-BE49-F238E27FC236}">
                    <a16:creationId xmlns:a16="http://schemas.microsoft.com/office/drawing/2014/main" id="{A3291BBB-108F-20FD-72C4-D8CE0E55DB74}"/>
                  </a:ext>
                </a:extLst>
              </p:cNvPr>
              <p:cNvSpPr/>
              <p:nvPr/>
            </p:nvSpPr>
            <p:spPr>
              <a:xfrm>
                <a:off x="11297132" y="2173904"/>
                <a:ext cx="498763" cy="487013"/>
              </a:xfrm>
              <a:prstGeom prst="ellipse">
                <a:avLst/>
              </a:prstGeom>
              <a:solidFill>
                <a:srgbClr val="000000"/>
              </a:solidFill>
              <a:ln/>
            </p:spPr>
            <p:txBody>
              <a:bodyPr/>
              <a:lstStyle/>
              <a:p>
                <a:endParaRPr lang="en-IN" sz="900">
                  <a:solidFill>
                    <a:prstClr val="black"/>
                  </a:solidFill>
                </a:endParaRPr>
              </a:p>
            </p:txBody>
          </p:sp>
          <p:sp>
            <p:nvSpPr>
              <p:cNvPr id="13" name="Text 43">
                <a:extLst>
                  <a:ext uri="{FF2B5EF4-FFF2-40B4-BE49-F238E27FC236}">
                    <a16:creationId xmlns:a16="http://schemas.microsoft.com/office/drawing/2014/main" id="{6E1EBD73-1D14-61B2-0D9E-3DEC88F03F0A}"/>
                  </a:ext>
                </a:extLst>
              </p:cNvPr>
              <p:cNvSpPr/>
              <p:nvPr/>
            </p:nvSpPr>
            <p:spPr>
              <a:xfrm>
                <a:off x="11297132" y="2173904"/>
                <a:ext cx="498763" cy="487013"/>
              </a:xfrm>
              <a:prstGeom prst="rect">
                <a:avLst/>
              </a:prstGeom>
              <a:noFill/>
              <a:ln/>
            </p:spPr>
            <p:txBody>
              <a:bodyPr wrap="square" lIns="0" tIns="0" rIns="0" bIns="0" rtlCol="0" anchor="ctr"/>
              <a:lstStyle/>
              <a:p>
                <a:pPr algn="ctr"/>
                <a:r>
                  <a:rPr lang="en-US" sz="900" b="1" dirty="0">
                    <a:solidFill>
                      <a:srgbClr val="FFFFFF"/>
                    </a:solidFill>
                    <a:ea typeface="Arial" pitchFamily="34" charset="-122"/>
                    <a:cs typeface="Arial" pitchFamily="34" charset="-120"/>
                  </a:rPr>
                  <a:t>10%</a:t>
                </a:r>
                <a:endParaRPr lang="en-US" sz="900" dirty="0">
                  <a:solidFill>
                    <a:prstClr val="black"/>
                  </a:solidFill>
                </a:endParaRPr>
              </a:p>
            </p:txBody>
          </p:sp>
          <p:sp>
            <p:nvSpPr>
              <p:cNvPr id="14" name="Shape 45">
                <a:extLst>
                  <a:ext uri="{FF2B5EF4-FFF2-40B4-BE49-F238E27FC236}">
                    <a16:creationId xmlns:a16="http://schemas.microsoft.com/office/drawing/2014/main" id="{5994147A-5C78-A1DA-CBA3-2A83C0CE2474}"/>
                  </a:ext>
                </a:extLst>
              </p:cNvPr>
              <p:cNvSpPr/>
              <p:nvPr/>
            </p:nvSpPr>
            <p:spPr>
              <a:xfrm>
                <a:off x="11252828" y="3838782"/>
                <a:ext cx="498763" cy="487013"/>
              </a:xfrm>
              <a:prstGeom prst="ellipse">
                <a:avLst/>
              </a:prstGeom>
              <a:solidFill>
                <a:srgbClr val="000000"/>
              </a:solidFill>
              <a:ln/>
            </p:spPr>
            <p:txBody>
              <a:bodyPr/>
              <a:lstStyle/>
              <a:p>
                <a:endParaRPr lang="en-IN" sz="900">
                  <a:solidFill>
                    <a:prstClr val="black"/>
                  </a:solidFill>
                </a:endParaRPr>
              </a:p>
            </p:txBody>
          </p:sp>
          <p:sp>
            <p:nvSpPr>
              <p:cNvPr id="15" name="Text 46">
                <a:extLst>
                  <a:ext uri="{FF2B5EF4-FFF2-40B4-BE49-F238E27FC236}">
                    <a16:creationId xmlns:a16="http://schemas.microsoft.com/office/drawing/2014/main" id="{AD0015BC-05BE-363B-683F-DDD313FD3817}"/>
                  </a:ext>
                </a:extLst>
              </p:cNvPr>
              <p:cNvSpPr/>
              <p:nvPr/>
            </p:nvSpPr>
            <p:spPr>
              <a:xfrm>
                <a:off x="11277601" y="3845697"/>
                <a:ext cx="498763" cy="487013"/>
              </a:xfrm>
              <a:prstGeom prst="rect">
                <a:avLst/>
              </a:prstGeom>
              <a:noFill/>
              <a:ln/>
            </p:spPr>
            <p:txBody>
              <a:bodyPr wrap="square" lIns="0" tIns="0" rIns="0" bIns="0" rtlCol="0" anchor="ctr"/>
              <a:lstStyle/>
              <a:p>
                <a:pPr algn="ctr"/>
                <a:r>
                  <a:rPr lang="en-US" sz="900" b="1" dirty="0">
                    <a:solidFill>
                      <a:srgbClr val="FFFFFF"/>
                    </a:solidFill>
                    <a:ea typeface="Arial" pitchFamily="34" charset="-122"/>
                    <a:cs typeface="Arial" pitchFamily="34" charset="-120"/>
                  </a:rPr>
                  <a:t>15%</a:t>
                </a:r>
                <a:endParaRPr lang="en-US" sz="900" dirty="0">
                  <a:solidFill>
                    <a:prstClr val="black"/>
                  </a:solidFill>
                </a:endParaRPr>
              </a:p>
            </p:txBody>
          </p:sp>
          <p:grpSp>
            <p:nvGrpSpPr>
              <p:cNvPr id="17" name="Group 16">
                <a:extLst>
                  <a:ext uri="{FF2B5EF4-FFF2-40B4-BE49-F238E27FC236}">
                    <a16:creationId xmlns:a16="http://schemas.microsoft.com/office/drawing/2014/main" id="{50B4787E-B451-C12A-E000-3EB5E087D083}"/>
                  </a:ext>
                </a:extLst>
              </p:cNvPr>
              <p:cNvGrpSpPr/>
              <p:nvPr/>
            </p:nvGrpSpPr>
            <p:grpSpPr>
              <a:xfrm>
                <a:off x="11277601" y="5511822"/>
                <a:ext cx="498763" cy="487013"/>
                <a:chOff x="12888290" y="5526373"/>
                <a:chExt cx="498763" cy="487013"/>
              </a:xfrm>
            </p:grpSpPr>
            <p:sp>
              <p:nvSpPr>
                <p:cNvPr id="18" name="Shape 48">
                  <a:extLst>
                    <a:ext uri="{FF2B5EF4-FFF2-40B4-BE49-F238E27FC236}">
                      <a16:creationId xmlns:a16="http://schemas.microsoft.com/office/drawing/2014/main" id="{EAB58683-6B70-6C36-883F-7C28AF36B404}"/>
                    </a:ext>
                  </a:extLst>
                </p:cNvPr>
                <p:cNvSpPr/>
                <p:nvPr/>
              </p:nvSpPr>
              <p:spPr>
                <a:xfrm>
                  <a:off x="12888290" y="5526373"/>
                  <a:ext cx="498763" cy="487013"/>
                </a:xfrm>
                <a:prstGeom prst="ellipse">
                  <a:avLst/>
                </a:prstGeom>
                <a:solidFill>
                  <a:srgbClr val="000000"/>
                </a:solidFill>
                <a:ln/>
              </p:spPr>
              <p:txBody>
                <a:bodyPr/>
                <a:lstStyle/>
                <a:p>
                  <a:endParaRPr lang="en-IN" sz="900">
                    <a:solidFill>
                      <a:prstClr val="black"/>
                    </a:solidFill>
                  </a:endParaRPr>
                </a:p>
              </p:txBody>
            </p:sp>
            <p:sp>
              <p:nvSpPr>
                <p:cNvPr id="19" name="Text 49">
                  <a:extLst>
                    <a:ext uri="{FF2B5EF4-FFF2-40B4-BE49-F238E27FC236}">
                      <a16:creationId xmlns:a16="http://schemas.microsoft.com/office/drawing/2014/main" id="{9AAA553D-C7F2-E924-7C76-6E09E2269A79}"/>
                    </a:ext>
                  </a:extLst>
                </p:cNvPr>
                <p:cNvSpPr/>
                <p:nvPr/>
              </p:nvSpPr>
              <p:spPr>
                <a:xfrm>
                  <a:off x="12888290" y="5526373"/>
                  <a:ext cx="498763" cy="487013"/>
                </a:xfrm>
                <a:prstGeom prst="rect">
                  <a:avLst/>
                </a:prstGeom>
                <a:noFill/>
                <a:ln/>
              </p:spPr>
              <p:txBody>
                <a:bodyPr wrap="square" lIns="0" tIns="0" rIns="0" bIns="0" rtlCol="0" anchor="ctr"/>
                <a:lstStyle/>
                <a:p>
                  <a:pPr algn="ctr"/>
                  <a:r>
                    <a:rPr lang="en-US" sz="900" b="1">
                      <a:solidFill>
                        <a:srgbClr val="FFFFFF"/>
                      </a:solidFill>
                      <a:ea typeface="Arial" pitchFamily="34" charset="-122"/>
                      <a:cs typeface="Arial" pitchFamily="34" charset="-120"/>
                    </a:rPr>
                    <a:t>75%</a:t>
                  </a:r>
                  <a:endParaRPr lang="en-US" sz="900">
                    <a:solidFill>
                      <a:prstClr val="black"/>
                    </a:solidFill>
                  </a:endParaRPr>
                </a:p>
              </p:txBody>
            </p:sp>
          </p:grpSp>
        </p:grpSp>
      </p:grpSp>
    </p:spTree>
    <p:extLst>
      <p:ext uri="{BB962C8B-B14F-4D97-AF65-F5344CB8AC3E}">
        <p14:creationId xmlns:p14="http://schemas.microsoft.com/office/powerpoint/2010/main" val="13166351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0A4DC-100F-6391-3DEB-DDB147E5DE3A}"/>
            </a:ext>
          </a:extLst>
        </p:cNvPr>
        <p:cNvGrpSpPr/>
        <p:nvPr/>
      </p:nvGrpSpPr>
      <p:grpSpPr>
        <a:xfrm>
          <a:off x="0" y="0"/>
          <a:ext cx="0" cy="0"/>
          <a:chOff x="0" y="0"/>
          <a:chExt cx="0" cy="0"/>
        </a:xfrm>
      </p:grpSpPr>
      <p:sp>
        <p:nvSpPr>
          <p:cNvPr id="10" name="Text Placeholder 1">
            <a:extLst>
              <a:ext uri="{FF2B5EF4-FFF2-40B4-BE49-F238E27FC236}">
                <a16:creationId xmlns:a16="http://schemas.microsoft.com/office/drawing/2014/main" id="{9C4A92F6-69AE-7925-B8E6-49B75AD0531A}"/>
              </a:ext>
            </a:extLst>
          </p:cNvPr>
          <p:cNvSpPr txBox="1">
            <a:spLocks/>
          </p:cNvSpPr>
          <p:nvPr/>
        </p:nvSpPr>
        <p:spPr>
          <a:xfrm>
            <a:off x="411118" y="532879"/>
            <a:ext cx="11188700" cy="757255"/>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600" b="0" kern="1200">
                <a:solidFill>
                  <a:srgbClr val="575757"/>
                </a:solidFill>
                <a:latin typeface="Calibri" panose="020F0502020204030204" pitchFamily="34" charset="0"/>
                <a:ea typeface="+mn-ea"/>
                <a:cs typeface="Calibri" panose="020F0502020204030204" pitchFamily="34" charset="0"/>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1400">
                <a:latin typeface="+mj-lt"/>
              </a:rPr>
              <a:t>A five-member core team, with the engagement partner carrying dual responsibility for delivery and for governance</a:t>
            </a:r>
          </a:p>
          <a:p>
            <a:endParaRPr lang="en-US" sz="1400">
              <a:latin typeface="+mj-lt"/>
            </a:endParaRPr>
          </a:p>
        </p:txBody>
      </p:sp>
      <p:sp>
        <p:nvSpPr>
          <p:cNvPr id="11" name="Title 2">
            <a:extLst>
              <a:ext uri="{FF2B5EF4-FFF2-40B4-BE49-F238E27FC236}">
                <a16:creationId xmlns:a16="http://schemas.microsoft.com/office/drawing/2014/main" id="{33BD8DED-F61F-967C-C7A4-EF28BC671A51}"/>
              </a:ext>
            </a:extLst>
          </p:cNvPr>
          <p:cNvSpPr txBox="1">
            <a:spLocks/>
          </p:cNvSpPr>
          <p:nvPr/>
        </p:nvSpPr>
        <p:spPr>
          <a:xfrm>
            <a:off x="411118" y="213764"/>
            <a:ext cx="11369764" cy="243926"/>
          </a:xfrm>
        </p:spPr>
        <p:txBody>
          <a:bodyPr vert="horz" lIns="0" tIns="0" rIns="0" bIns="0" rtlCol="0" anchor="t" anchorCtr="0">
            <a:noAutofit/>
          </a:bodyPr>
          <a:lstStyle>
            <a:lvl1pPr algn="l" defTabSz="914400" rtl="0" eaLnBrk="1" latinLnBrk="0" hangingPunct="1">
              <a:spcBef>
                <a:spcPct val="0"/>
              </a:spcBef>
              <a:buNone/>
              <a:defRPr sz="2000" kern="1200">
                <a:solidFill>
                  <a:schemeClr val="tx1"/>
                </a:solidFill>
                <a:latin typeface="Calibri" panose="020F0502020204030204" pitchFamily="34" charset="0"/>
                <a:ea typeface="+mj-ea"/>
                <a:cs typeface="Calibri" panose="020F0502020204030204" pitchFamily="34" charset="0"/>
              </a:defRPr>
            </a:lvl1pPr>
          </a:lstStyle>
          <a:p>
            <a:r>
              <a:rPr lang="en-US" sz="1800" b="1">
                <a:latin typeface="+mj-lt"/>
              </a:rPr>
              <a:t>Information on the qualification of key staff</a:t>
            </a:r>
          </a:p>
        </p:txBody>
      </p:sp>
      <p:sp>
        <p:nvSpPr>
          <p:cNvPr id="2" name="Text 2">
            <a:extLst>
              <a:ext uri="{FF2B5EF4-FFF2-40B4-BE49-F238E27FC236}">
                <a16:creationId xmlns:a16="http://schemas.microsoft.com/office/drawing/2014/main" id="{CF7DE2ED-D10B-9AD5-AF5A-EB3C7DF559CE}"/>
              </a:ext>
            </a:extLst>
          </p:cNvPr>
          <p:cNvSpPr/>
          <p:nvPr/>
        </p:nvSpPr>
        <p:spPr>
          <a:xfrm>
            <a:off x="310896" y="621792"/>
            <a:ext cx="11567160" cy="274320"/>
          </a:xfrm>
          <a:prstGeom prst="rect">
            <a:avLst/>
          </a:prstGeom>
          <a:noFill/>
          <a:ln/>
        </p:spPr>
        <p:txBody>
          <a:bodyPr wrap="square" lIns="0" tIns="0" rIns="0" bIns="0" rtlCol="0" anchor="ctr"/>
          <a:lstStyle/>
          <a:p>
            <a:pPr marL="0" indent="0">
              <a:buNone/>
            </a:pPr>
            <a:endParaRPr lang="en-US" sz="1100"/>
          </a:p>
        </p:txBody>
      </p:sp>
      <p:grpSp>
        <p:nvGrpSpPr>
          <p:cNvPr id="5" name="Group 4">
            <a:extLst>
              <a:ext uri="{FF2B5EF4-FFF2-40B4-BE49-F238E27FC236}">
                <a16:creationId xmlns:a16="http://schemas.microsoft.com/office/drawing/2014/main" id="{A5EB1333-4168-AE2B-EF6A-FB6FD5DD0CAF}"/>
              </a:ext>
            </a:extLst>
          </p:cNvPr>
          <p:cNvGrpSpPr/>
          <p:nvPr/>
        </p:nvGrpSpPr>
        <p:grpSpPr>
          <a:xfrm>
            <a:off x="333466" y="826438"/>
            <a:ext cx="11544590" cy="5520337"/>
            <a:chOff x="333466" y="826438"/>
            <a:chExt cx="11544590" cy="5520337"/>
          </a:xfrm>
        </p:grpSpPr>
        <p:cxnSp>
          <p:nvCxnSpPr>
            <p:cNvPr id="12" name="Straight Arrow Connector 11">
              <a:extLst>
                <a:ext uri="{FF2B5EF4-FFF2-40B4-BE49-F238E27FC236}">
                  <a16:creationId xmlns:a16="http://schemas.microsoft.com/office/drawing/2014/main" id="{2122AA69-F431-1525-D057-2C829941DD44}"/>
                </a:ext>
              </a:extLst>
            </p:cNvPr>
            <p:cNvCxnSpPr/>
            <p:nvPr/>
          </p:nvCxnSpPr>
          <p:spPr>
            <a:xfrm flipV="1">
              <a:off x="333466" y="826438"/>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 name="Shape 3">
              <a:extLst>
                <a:ext uri="{FF2B5EF4-FFF2-40B4-BE49-F238E27FC236}">
                  <a16:creationId xmlns:a16="http://schemas.microsoft.com/office/drawing/2014/main" id="{72347318-B3D1-DBE8-B1AB-07D72E6CE4ED}"/>
                </a:ext>
              </a:extLst>
            </p:cNvPr>
            <p:cNvSpPr/>
            <p:nvPr/>
          </p:nvSpPr>
          <p:spPr>
            <a:xfrm>
              <a:off x="4035064" y="1178685"/>
              <a:ext cx="4693904" cy="915598"/>
            </a:xfrm>
            <a:prstGeom prst="roundRect">
              <a:avLst>
                <a:gd name="adj" fmla="val 6098"/>
              </a:avLst>
            </a:prstGeom>
            <a:solidFill>
              <a:srgbClr val="031D41"/>
            </a:solidFill>
            <a:ln/>
            <a:effectLst>
              <a:outerShdw blurRad="76200" dist="17780" dir="5400000" algn="bl" rotWithShape="0">
                <a:srgbClr val="1A1A1A">
                  <a:alpha val="16000"/>
                </a:srgbClr>
              </a:outerShdw>
            </a:effectLst>
          </p:spPr>
          <p:txBody>
            <a:bodyPr/>
            <a:lstStyle/>
            <a:p>
              <a:endParaRPr lang="en-IN"/>
            </a:p>
          </p:txBody>
        </p:sp>
        <p:sp>
          <p:nvSpPr>
            <p:cNvPr id="4" name="Text 4">
              <a:extLst>
                <a:ext uri="{FF2B5EF4-FFF2-40B4-BE49-F238E27FC236}">
                  <a16:creationId xmlns:a16="http://schemas.microsoft.com/office/drawing/2014/main" id="{C90D3AA3-6555-DBB8-9B90-A2E0B76D0F08}"/>
                </a:ext>
              </a:extLst>
            </p:cNvPr>
            <p:cNvSpPr/>
            <p:nvPr/>
          </p:nvSpPr>
          <p:spPr>
            <a:xfrm>
              <a:off x="4689994" y="1245680"/>
              <a:ext cx="4038974" cy="327310"/>
            </a:xfrm>
            <a:prstGeom prst="rect">
              <a:avLst/>
            </a:prstGeom>
            <a:noFill/>
            <a:ln/>
          </p:spPr>
          <p:txBody>
            <a:bodyPr wrap="square" lIns="0" tIns="0" rIns="0" bIns="0" rtlCol="0" anchor="ctr"/>
            <a:lstStyle/>
            <a:p>
              <a:pPr marL="0" indent="0" algn="ctr">
                <a:buNone/>
              </a:pPr>
              <a:r>
                <a:rPr lang="en-US" sz="1350" b="1">
                  <a:solidFill>
                    <a:srgbClr val="FFFFFF"/>
                  </a:solidFill>
                  <a:ea typeface="Arial" pitchFamily="34" charset="-122"/>
                  <a:cs typeface="Arial" pitchFamily="34" charset="-120"/>
                </a:rPr>
                <a:t>Dr. Tapas Kumar Sen</a:t>
              </a:r>
              <a:endParaRPr lang="en-US" sz="1350"/>
            </a:p>
          </p:txBody>
        </p:sp>
        <p:sp>
          <p:nvSpPr>
            <p:cNvPr id="6" name="Text 5">
              <a:extLst>
                <a:ext uri="{FF2B5EF4-FFF2-40B4-BE49-F238E27FC236}">
                  <a16:creationId xmlns:a16="http://schemas.microsoft.com/office/drawing/2014/main" id="{A1D7DBC4-792F-DDB2-96FB-BAAD8D771E53}"/>
                </a:ext>
              </a:extLst>
            </p:cNvPr>
            <p:cNvSpPr/>
            <p:nvPr/>
          </p:nvSpPr>
          <p:spPr>
            <a:xfrm>
              <a:off x="4689994" y="1625318"/>
              <a:ext cx="3831890" cy="334975"/>
            </a:xfrm>
            <a:prstGeom prst="rect">
              <a:avLst/>
            </a:prstGeom>
            <a:noFill/>
            <a:ln/>
          </p:spPr>
          <p:txBody>
            <a:bodyPr wrap="square" lIns="0" tIns="0" rIns="0" bIns="0" rtlCol="0" anchor="ctr"/>
            <a:lstStyle/>
            <a:p>
              <a:pPr marL="0" indent="0" algn="ctr">
                <a:buNone/>
              </a:pPr>
              <a:r>
                <a:rPr lang="en-US" sz="1000" b="1">
                  <a:solidFill>
                    <a:schemeClr val="bg1"/>
                  </a:solidFill>
                  <a:ea typeface="Calibri" pitchFamily="34" charset="-122"/>
                  <a:cs typeface="Calibri" pitchFamily="34" charset="-120"/>
                </a:rPr>
                <a:t>Principal Investigator · Public Finance Specialist · 45+ years</a:t>
              </a:r>
              <a:endParaRPr lang="en-US" sz="1000" b="1">
                <a:solidFill>
                  <a:schemeClr val="bg1"/>
                </a:solidFill>
              </a:endParaRPr>
            </a:p>
          </p:txBody>
        </p:sp>
        <p:sp>
          <p:nvSpPr>
            <p:cNvPr id="8" name="Shape 6">
              <a:extLst>
                <a:ext uri="{FF2B5EF4-FFF2-40B4-BE49-F238E27FC236}">
                  <a16:creationId xmlns:a16="http://schemas.microsoft.com/office/drawing/2014/main" id="{5D1B372D-7B8B-D8FE-764E-7FCAA71BEB97}"/>
                </a:ext>
              </a:extLst>
            </p:cNvPr>
            <p:cNvSpPr/>
            <p:nvPr/>
          </p:nvSpPr>
          <p:spPr>
            <a:xfrm>
              <a:off x="6382016" y="2094283"/>
              <a:ext cx="0" cy="424302"/>
            </a:xfrm>
            <a:prstGeom prst="line">
              <a:avLst/>
            </a:prstGeom>
            <a:noFill/>
            <a:ln w="25400">
              <a:solidFill>
                <a:srgbClr val="BBBCBC"/>
              </a:solidFill>
              <a:prstDash val="solid"/>
              <a:tailEnd type="triangle"/>
            </a:ln>
          </p:spPr>
          <p:txBody>
            <a:bodyPr/>
            <a:lstStyle/>
            <a:p>
              <a:endParaRPr lang="en-IN"/>
            </a:p>
          </p:txBody>
        </p:sp>
        <p:sp>
          <p:nvSpPr>
            <p:cNvPr id="9" name="Shape 7">
              <a:extLst>
                <a:ext uri="{FF2B5EF4-FFF2-40B4-BE49-F238E27FC236}">
                  <a16:creationId xmlns:a16="http://schemas.microsoft.com/office/drawing/2014/main" id="{9FBB85F3-E72A-8D31-BB9B-18CE61DF7D11}"/>
                </a:ext>
              </a:extLst>
            </p:cNvPr>
            <p:cNvSpPr/>
            <p:nvPr/>
          </p:nvSpPr>
          <p:spPr>
            <a:xfrm>
              <a:off x="4035064" y="2518585"/>
              <a:ext cx="4693904" cy="915598"/>
            </a:xfrm>
            <a:prstGeom prst="roundRect">
              <a:avLst>
                <a:gd name="adj" fmla="val 6098"/>
              </a:avLst>
            </a:prstGeom>
            <a:solidFill>
              <a:srgbClr val="004F59"/>
            </a:solidFill>
            <a:ln/>
            <a:effectLst>
              <a:outerShdw blurRad="76200" dist="17780" dir="5400000" algn="bl" rotWithShape="0">
                <a:srgbClr val="1A1A1A">
                  <a:alpha val="16000"/>
                </a:srgbClr>
              </a:outerShdw>
            </a:effectLst>
          </p:spPr>
          <p:txBody>
            <a:bodyPr/>
            <a:lstStyle/>
            <a:p>
              <a:endParaRPr lang="en-IN"/>
            </a:p>
          </p:txBody>
        </p:sp>
        <p:sp>
          <p:nvSpPr>
            <p:cNvPr id="13" name="Text 8">
              <a:extLst>
                <a:ext uri="{FF2B5EF4-FFF2-40B4-BE49-F238E27FC236}">
                  <a16:creationId xmlns:a16="http://schemas.microsoft.com/office/drawing/2014/main" id="{27CE2077-CA0E-AEF8-94FB-F52A527CFD24}"/>
                </a:ext>
              </a:extLst>
            </p:cNvPr>
            <p:cNvSpPr/>
            <p:nvPr/>
          </p:nvSpPr>
          <p:spPr>
            <a:xfrm>
              <a:off x="4362529" y="2531441"/>
              <a:ext cx="4693904" cy="379638"/>
            </a:xfrm>
            <a:prstGeom prst="rect">
              <a:avLst/>
            </a:prstGeom>
            <a:noFill/>
            <a:ln/>
          </p:spPr>
          <p:txBody>
            <a:bodyPr wrap="square" lIns="0" tIns="0" rIns="0" bIns="0" rtlCol="0" anchor="ctr"/>
            <a:lstStyle/>
            <a:p>
              <a:pPr marL="0" indent="0" algn="ctr">
                <a:buNone/>
              </a:pPr>
              <a:r>
                <a:rPr lang="en-US" sz="1350" b="1">
                  <a:solidFill>
                    <a:srgbClr val="FFFFFF"/>
                  </a:solidFill>
                  <a:ea typeface="Arial" pitchFamily="34" charset="-122"/>
                  <a:cs typeface="Arial" pitchFamily="34" charset="-120"/>
                </a:rPr>
                <a:t>Rishav Singh</a:t>
              </a:r>
              <a:endParaRPr lang="en-US" sz="1350"/>
            </a:p>
          </p:txBody>
        </p:sp>
        <p:sp>
          <p:nvSpPr>
            <p:cNvPr id="14" name="Text 9">
              <a:extLst>
                <a:ext uri="{FF2B5EF4-FFF2-40B4-BE49-F238E27FC236}">
                  <a16:creationId xmlns:a16="http://schemas.microsoft.com/office/drawing/2014/main" id="{39DA61B5-2550-0146-6BAE-EAAA376FFAA0}"/>
                </a:ext>
              </a:extLst>
            </p:cNvPr>
            <p:cNvSpPr/>
            <p:nvPr/>
          </p:nvSpPr>
          <p:spPr>
            <a:xfrm>
              <a:off x="4897078" y="2946267"/>
              <a:ext cx="3831890" cy="401970"/>
            </a:xfrm>
            <a:prstGeom prst="rect">
              <a:avLst/>
            </a:prstGeom>
            <a:noFill/>
            <a:ln/>
          </p:spPr>
          <p:txBody>
            <a:bodyPr wrap="square" lIns="0" tIns="0" rIns="0" bIns="0" rtlCol="0" anchor="ctr"/>
            <a:lstStyle/>
            <a:p>
              <a:pPr marL="0" indent="0" algn="ctr">
                <a:buNone/>
              </a:pPr>
              <a:r>
                <a:rPr lang="en-US" sz="1000" b="1">
                  <a:solidFill>
                    <a:schemeClr val="bg1"/>
                  </a:solidFill>
                  <a:ea typeface="Calibri" pitchFamily="34" charset="-122"/>
                  <a:cs typeface="Calibri" pitchFamily="34" charset="-120"/>
                </a:rPr>
                <a:t>Co-Principal Investigator · Engagement Partner · 23+ years</a:t>
              </a:r>
              <a:endParaRPr lang="en-US" sz="1000" b="1">
                <a:solidFill>
                  <a:schemeClr val="bg1"/>
                </a:solidFill>
              </a:endParaRPr>
            </a:p>
          </p:txBody>
        </p:sp>
        <p:sp>
          <p:nvSpPr>
            <p:cNvPr id="15" name="Shape 10">
              <a:extLst>
                <a:ext uri="{FF2B5EF4-FFF2-40B4-BE49-F238E27FC236}">
                  <a16:creationId xmlns:a16="http://schemas.microsoft.com/office/drawing/2014/main" id="{84CC1DC3-4A66-3C4F-13E9-9DF6FBB67CD7}"/>
                </a:ext>
              </a:extLst>
            </p:cNvPr>
            <p:cNvSpPr/>
            <p:nvPr/>
          </p:nvSpPr>
          <p:spPr>
            <a:xfrm>
              <a:off x="6382016" y="3434183"/>
              <a:ext cx="0" cy="424302"/>
            </a:xfrm>
            <a:prstGeom prst="line">
              <a:avLst/>
            </a:prstGeom>
            <a:noFill/>
            <a:ln w="25400">
              <a:solidFill>
                <a:srgbClr val="BBBCBC"/>
              </a:solidFill>
              <a:prstDash val="solid"/>
              <a:tailEnd type="triangle"/>
            </a:ln>
          </p:spPr>
          <p:txBody>
            <a:bodyPr/>
            <a:lstStyle/>
            <a:p>
              <a:endParaRPr lang="en-IN"/>
            </a:p>
          </p:txBody>
        </p:sp>
        <p:sp>
          <p:nvSpPr>
            <p:cNvPr id="17" name="Shape 11">
              <a:extLst>
                <a:ext uri="{FF2B5EF4-FFF2-40B4-BE49-F238E27FC236}">
                  <a16:creationId xmlns:a16="http://schemas.microsoft.com/office/drawing/2014/main" id="{F706A7CA-D784-25D2-932C-AE994653EFB8}"/>
                </a:ext>
              </a:extLst>
            </p:cNvPr>
            <p:cNvSpPr/>
            <p:nvPr/>
          </p:nvSpPr>
          <p:spPr>
            <a:xfrm>
              <a:off x="4035064" y="3912843"/>
              <a:ext cx="4693904" cy="861240"/>
            </a:xfrm>
            <a:prstGeom prst="roundRect">
              <a:avLst>
                <a:gd name="adj" fmla="val 6098"/>
              </a:avLst>
            </a:prstGeom>
            <a:solidFill>
              <a:srgbClr val="007680"/>
            </a:solidFill>
            <a:ln/>
            <a:effectLst>
              <a:outerShdw blurRad="76200" dist="17780" dir="5400000" algn="bl" rotWithShape="0">
                <a:srgbClr val="1A1A1A">
                  <a:alpha val="16000"/>
                </a:srgbClr>
              </a:outerShdw>
            </a:effectLst>
          </p:spPr>
          <p:txBody>
            <a:bodyPr/>
            <a:lstStyle/>
            <a:p>
              <a:endParaRPr lang="en-IN"/>
            </a:p>
          </p:txBody>
        </p:sp>
        <p:sp>
          <p:nvSpPr>
            <p:cNvPr id="25" name="Text 12">
              <a:extLst>
                <a:ext uri="{FF2B5EF4-FFF2-40B4-BE49-F238E27FC236}">
                  <a16:creationId xmlns:a16="http://schemas.microsoft.com/office/drawing/2014/main" id="{8B0B413C-489A-86B6-573B-F9AC62B569FE}"/>
                </a:ext>
              </a:extLst>
            </p:cNvPr>
            <p:cNvSpPr/>
            <p:nvPr/>
          </p:nvSpPr>
          <p:spPr>
            <a:xfrm>
              <a:off x="4035064" y="3925480"/>
              <a:ext cx="4693904" cy="379638"/>
            </a:xfrm>
            <a:prstGeom prst="rect">
              <a:avLst/>
            </a:prstGeom>
            <a:noFill/>
            <a:ln/>
          </p:spPr>
          <p:txBody>
            <a:bodyPr wrap="square" lIns="0" tIns="0" rIns="0" bIns="0" rtlCol="0" anchor="ctr"/>
            <a:lstStyle/>
            <a:p>
              <a:pPr marL="0" indent="0" algn="ctr">
                <a:buNone/>
              </a:pPr>
              <a:r>
                <a:rPr lang="en-US" sz="1350" b="1">
                  <a:solidFill>
                    <a:srgbClr val="FFFFFF"/>
                  </a:solidFill>
                  <a:ea typeface="Arial" pitchFamily="34" charset="-122"/>
                  <a:cs typeface="Arial" pitchFamily="34" charset="-120"/>
                </a:rPr>
                <a:t>Kartik Agarwal</a:t>
              </a:r>
              <a:endParaRPr lang="en-US" sz="1350"/>
            </a:p>
          </p:txBody>
        </p:sp>
        <p:sp>
          <p:nvSpPr>
            <p:cNvPr id="26" name="Text 13">
              <a:extLst>
                <a:ext uri="{FF2B5EF4-FFF2-40B4-BE49-F238E27FC236}">
                  <a16:creationId xmlns:a16="http://schemas.microsoft.com/office/drawing/2014/main" id="{A44FFF07-863A-6C66-C015-4A3FB1CF1BAB}"/>
                </a:ext>
              </a:extLst>
            </p:cNvPr>
            <p:cNvSpPr/>
            <p:nvPr/>
          </p:nvSpPr>
          <p:spPr>
            <a:xfrm>
              <a:off x="4689994" y="4305119"/>
              <a:ext cx="3831890" cy="334975"/>
            </a:xfrm>
            <a:prstGeom prst="rect">
              <a:avLst/>
            </a:prstGeom>
            <a:noFill/>
            <a:ln/>
          </p:spPr>
          <p:txBody>
            <a:bodyPr wrap="square" lIns="0" tIns="0" rIns="0" bIns="0" rtlCol="0" anchor="ctr"/>
            <a:lstStyle/>
            <a:p>
              <a:pPr marL="0" indent="0" algn="ctr">
                <a:buNone/>
              </a:pPr>
              <a:r>
                <a:rPr lang="en-US" sz="1000" b="1">
                  <a:solidFill>
                    <a:schemeClr val="bg1"/>
                  </a:solidFill>
                  <a:ea typeface="Calibri" pitchFamily="34" charset="-122"/>
                  <a:cs typeface="Calibri" pitchFamily="34" charset="-120"/>
                </a:rPr>
                <a:t>Research Staff-1 · Project Manager · 13+ years</a:t>
              </a:r>
              <a:endParaRPr lang="en-US" sz="1000" b="1">
                <a:solidFill>
                  <a:schemeClr val="bg1"/>
                </a:solidFill>
              </a:endParaRPr>
            </a:p>
          </p:txBody>
        </p:sp>
        <p:sp>
          <p:nvSpPr>
            <p:cNvPr id="27" name="Shape 14">
              <a:extLst>
                <a:ext uri="{FF2B5EF4-FFF2-40B4-BE49-F238E27FC236}">
                  <a16:creationId xmlns:a16="http://schemas.microsoft.com/office/drawing/2014/main" id="{CCE217F3-C3EF-BA55-6812-3E83BC27906A}"/>
                </a:ext>
              </a:extLst>
            </p:cNvPr>
            <p:cNvSpPr/>
            <p:nvPr/>
          </p:nvSpPr>
          <p:spPr>
            <a:xfrm>
              <a:off x="6382016" y="4774084"/>
              <a:ext cx="0" cy="312643"/>
            </a:xfrm>
            <a:prstGeom prst="line">
              <a:avLst/>
            </a:prstGeom>
            <a:noFill/>
            <a:ln w="25400">
              <a:solidFill>
                <a:srgbClr val="BBBCBC"/>
              </a:solidFill>
              <a:prstDash val="solid"/>
            </a:ln>
          </p:spPr>
          <p:txBody>
            <a:bodyPr/>
            <a:lstStyle/>
            <a:p>
              <a:endParaRPr lang="en-IN"/>
            </a:p>
          </p:txBody>
        </p:sp>
        <p:sp>
          <p:nvSpPr>
            <p:cNvPr id="28" name="Shape 15">
              <a:extLst>
                <a:ext uri="{FF2B5EF4-FFF2-40B4-BE49-F238E27FC236}">
                  <a16:creationId xmlns:a16="http://schemas.microsoft.com/office/drawing/2014/main" id="{A0B36095-741B-94C0-D2EE-32FB07A09A0C}"/>
                </a:ext>
              </a:extLst>
            </p:cNvPr>
            <p:cNvSpPr/>
            <p:nvPr/>
          </p:nvSpPr>
          <p:spPr>
            <a:xfrm>
              <a:off x="3206728" y="5086727"/>
              <a:ext cx="6350575" cy="0"/>
            </a:xfrm>
            <a:prstGeom prst="line">
              <a:avLst/>
            </a:prstGeom>
            <a:noFill/>
            <a:ln w="25400">
              <a:solidFill>
                <a:srgbClr val="BBBCBC"/>
              </a:solidFill>
              <a:prstDash val="solid"/>
            </a:ln>
          </p:spPr>
          <p:txBody>
            <a:bodyPr/>
            <a:lstStyle/>
            <a:p>
              <a:endParaRPr lang="en-IN"/>
            </a:p>
          </p:txBody>
        </p:sp>
        <p:sp>
          <p:nvSpPr>
            <p:cNvPr id="29" name="Shape 16">
              <a:extLst>
                <a:ext uri="{FF2B5EF4-FFF2-40B4-BE49-F238E27FC236}">
                  <a16:creationId xmlns:a16="http://schemas.microsoft.com/office/drawing/2014/main" id="{925BA659-F498-BD46-CBF5-42F7B9F41125}"/>
                </a:ext>
              </a:extLst>
            </p:cNvPr>
            <p:cNvSpPr/>
            <p:nvPr/>
          </p:nvSpPr>
          <p:spPr>
            <a:xfrm>
              <a:off x="3206728" y="5086727"/>
              <a:ext cx="0" cy="312643"/>
            </a:xfrm>
            <a:prstGeom prst="line">
              <a:avLst/>
            </a:prstGeom>
            <a:noFill/>
            <a:ln w="25400">
              <a:solidFill>
                <a:srgbClr val="BBBCBC"/>
              </a:solidFill>
              <a:prstDash val="solid"/>
              <a:tailEnd type="triangle"/>
            </a:ln>
          </p:spPr>
          <p:txBody>
            <a:bodyPr/>
            <a:lstStyle/>
            <a:p>
              <a:endParaRPr lang="en-IN"/>
            </a:p>
          </p:txBody>
        </p:sp>
        <p:sp>
          <p:nvSpPr>
            <p:cNvPr id="30" name="Shape 17">
              <a:extLst>
                <a:ext uri="{FF2B5EF4-FFF2-40B4-BE49-F238E27FC236}">
                  <a16:creationId xmlns:a16="http://schemas.microsoft.com/office/drawing/2014/main" id="{6E4611EF-CEC0-7470-0C58-45AB7FCFC03B}"/>
                </a:ext>
              </a:extLst>
            </p:cNvPr>
            <p:cNvSpPr/>
            <p:nvPr/>
          </p:nvSpPr>
          <p:spPr>
            <a:xfrm>
              <a:off x="1066861" y="5466365"/>
              <a:ext cx="4279736" cy="803940"/>
            </a:xfrm>
            <a:prstGeom prst="roundRect">
              <a:avLst>
                <a:gd name="adj" fmla="val 6944"/>
              </a:avLst>
            </a:prstGeom>
            <a:solidFill>
              <a:srgbClr val="0097A9"/>
            </a:solidFill>
            <a:ln/>
            <a:effectLst>
              <a:outerShdw blurRad="76200" dist="17780" dir="5400000" algn="bl" rotWithShape="0">
                <a:srgbClr val="1A1A1A">
                  <a:alpha val="12000"/>
                </a:srgbClr>
              </a:outerShdw>
            </a:effectLst>
          </p:spPr>
          <p:txBody>
            <a:bodyPr/>
            <a:lstStyle/>
            <a:p>
              <a:endParaRPr lang="en-IN"/>
            </a:p>
          </p:txBody>
        </p:sp>
        <p:sp>
          <p:nvSpPr>
            <p:cNvPr id="31" name="Text 18">
              <a:extLst>
                <a:ext uri="{FF2B5EF4-FFF2-40B4-BE49-F238E27FC236}">
                  <a16:creationId xmlns:a16="http://schemas.microsoft.com/office/drawing/2014/main" id="{048D6830-CB59-E2D6-6618-5BBCEB2E5AB2}"/>
                </a:ext>
              </a:extLst>
            </p:cNvPr>
            <p:cNvSpPr/>
            <p:nvPr/>
          </p:nvSpPr>
          <p:spPr>
            <a:xfrm>
              <a:off x="1260313" y="5461277"/>
              <a:ext cx="4279736" cy="379638"/>
            </a:xfrm>
            <a:prstGeom prst="rect">
              <a:avLst/>
            </a:prstGeom>
            <a:noFill/>
            <a:ln/>
          </p:spPr>
          <p:txBody>
            <a:bodyPr wrap="square" lIns="0" tIns="0" rIns="0" bIns="0" rtlCol="0" anchor="ctr"/>
            <a:lstStyle/>
            <a:p>
              <a:pPr marL="0" indent="0" algn="ctr">
                <a:buNone/>
              </a:pPr>
              <a:r>
                <a:rPr lang="en-US" sz="1250" b="1" dirty="0">
                  <a:solidFill>
                    <a:srgbClr val="FFFFFF"/>
                  </a:solidFill>
                  <a:ea typeface="Arial" pitchFamily="34" charset="-122"/>
                  <a:cs typeface="Arial" pitchFamily="34" charset="-120"/>
                </a:rPr>
                <a:t>Purvi Chaturvedi</a:t>
              </a:r>
              <a:endParaRPr lang="en-US" sz="1250" dirty="0"/>
            </a:p>
          </p:txBody>
        </p:sp>
        <p:sp>
          <p:nvSpPr>
            <p:cNvPr id="32" name="Text 19">
              <a:extLst>
                <a:ext uri="{FF2B5EF4-FFF2-40B4-BE49-F238E27FC236}">
                  <a16:creationId xmlns:a16="http://schemas.microsoft.com/office/drawing/2014/main" id="{87C7052C-9986-E61F-6DB9-BDF7F1775596}"/>
                </a:ext>
              </a:extLst>
            </p:cNvPr>
            <p:cNvSpPr/>
            <p:nvPr/>
          </p:nvSpPr>
          <p:spPr>
            <a:xfrm>
              <a:off x="1810717" y="5873438"/>
              <a:ext cx="3020289" cy="334974"/>
            </a:xfrm>
            <a:prstGeom prst="rect">
              <a:avLst/>
            </a:prstGeom>
            <a:noFill/>
            <a:ln/>
          </p:spPr>
          <p:txBody>
            <a:bodyPr wrap="square" lIns="0" tIns="0" rIns="0" bIns="0" rtlCol="0" anchor="ctr"/>
            <a:lstStyle/>
            <a:p>
              <a:pPr marL="0" indent="0" algn="ctr">
                <a:buNone/>
              </a:pPr>
              <a:r>
                <a:rPr lang="en-US" sz="1000" b="1">
                  <a:solidFill>
                    <a:schemeClr val="bg1"/>
                  </a:solidFill>
                  <a:ea typeface="Calibri" pitchFamily="34" charset="-122"/>
                  <a:cs typeface="Calibri" pitchFamily="34" charset="-120"/>
                </a:rPr>
                <a:t>Field Staff-1 · 6+ years</a:t>
              </a:r>
              <a:endParaRPr lang="en-US" sz="1000" b="1">
                <a:solidFill>
                  <a:schemeClr val="bg1"/>
                </a:solidFill>
              </a:endParaRPr>
            </a:p>
          </p:txBody>
        </p:sp>
        <p:sp>
          <p:nvSpPr>
            <p:cNvPr id="33" name="Shape 20">
              <a:extLst>
                <a:ext uri="{FF2B5EF4-FFF2-40B4-BE49-F238E27FC236}">
                  <a16:creationId xmlns:a16="http://schemas.microsoft.com/office/drawing/2014/main" id="{74461F47-FE84-4A01-4622-A0B701C7E4E1}"/>
                </a:ext>
              </a:extLst>
            </p:cNvPr>
            <p:cNvSpPr/>
            <p:nvPr/>
          </p:nvSpPr>
          <p:spPr>
            <a:xfrm>
              <a:off x="9557304" y="5086727"/>
              <a:ext cx="0" cy="312643"/>
            </a:xfrm>
            <a:prstGeom prst="line">
              <a:avLst/>
            </a:prstGeom>
            <a:noFill/>
            <a:ln w="25400">
              <a:solidFill>
                <a:srgbClr val="BBBCBC"/>
              </a:solidFill>
              <a:prstDash val="solid"/>
              <a:tailEnd type="triangle"/>
            </a:ln>
          </p:spPr>
          <p:txBody>
            <a:bodyPr/>
            <a:lstStyle/>
            <a:p>
              <a:endParaRPr lang="en-IN"/>
            </a:p>
          </p:txBody>
        </p:sp>
        <p:sp>
          <p:nvSpPr>
            <p:cNvPr id="34" name="Shape 21">
              <a:extLst>
                <a:ext uri="{FF2B5EF4-FFF2-40B4-BE49-F238E27FC236}">
                  <a16:creationId xmlns:a16="http://schemas.microsoft.com/office/drawing/2014/main" id="{25F40885-CC15-F978-7639-4019C904152D}"/>
                </a:ext>
              </a:extLst>
            </p:cNvPr>
            <p:cNvSpPr/>
            <p:nvPr/>
          </p:nvSpPr>
          <p:spPr>
            <a:xfrm>
              <a:off x="7417436" y="5466365"/>
              <a:ext cx="4279736" cy="803940"/>
            </a:xfrm>
            <a:prstGeom prst="roundRect">
              <a:avLst>
                <a:gd name="adj" fmla="val 6944"/>
              </a:avLst>
            </a:prstGeom>
            <a:solidFill>
              <a:srgbClr val="0097A9"/>
            </a:solidFill>
            <a:ln/>
            <a:effectLst>
              <a:outerShdw blurRad="76200" dist="17780" dir="5400000" algn="bl" rotWithShape="0">
                <a:srgbClr val="1A1A1A">
                  <a:alpha val="12000"/>
                </a:srgbClr>
              </a:outerShdw>
            </a:effectLst>
          </p:spPr>
          <p:txBody>
            <a:bodyPr/>
            <a:lstStyle/>
            <a:p>
              <a:endParaRPr lang="en-IN"/>
            </a:p>
          </p:txBody>
        </p:sp>
        <p:sp>
          <p:nvSpPr>
            <p:cNvPr id="36" name="Text 22">
              <a:extLst>
                <a:ext uri="{FF2B5EF4-FFF2-40B4-BE49-F238E27FC236}">
                  <a16:creationId xmlns:a16="http://schemas.microsoft.com/office/drawing/2014/main" id="{56EF22E0-3F20-3499-9719-D8F070BDE79C}"/>
                </a:ext>
              </a:extLst>
            </p:cNvPr>
            <p:cNvSpPr/>
            <p:nvPr/>
          </p:nvSpPr>
          <p:spPr>
            <a:xfrm>
              <a:off x="7598320" y="5477562"/>
              <a:ext cx="4279736" cy="379638"/>
            </a:xfrm>
            <a:prstGeom prst="rect">
              <a:avLst/>
            </a:prstGeom>
            <a:noFill/>
            <a:ln/>
          </p:spPr>
          <p:txBody>
            <a:bodyPr wrap="square" lIns="0" tIns="0" rIns="0" bIns="0" rtlCol="0" anchor="ctr"/>
            <a:lstStyle/>
            <a:p>
              <a:pPr marL="0" indent="0" algn="ctr">
                <a:buNone/>
              </a:pPr>
              <a:r>
                <a:rPr lang="en-US" sz="1250" b="1">
                  <a:solidFill>
                    <a:srgbClr val="FFFFFF"/>
                  </a:solidFill>
                  <a:ea typeface="Arial" pitchFamily="34" charset="-122"/>
                  <a:cs typeface="Arial" pitchFamily="34" charset="-120"/>
                </a:rPr>
                <a:t>Aanchal Karnani</a:t>
              </a:r>
              <a:endParaRPr lang="en-US" sz="1250"/>
            </a:p>
          </p:txBody>
        </p:sp>
        <p:sp>
          <p:nvSpPr>
            <p:cNvPr id="41" name="Text 23">
              <a:extLst>
                <a:ext uri="{FF2B5EF4-FFF2-40B4-BE49-F238E27FC236}">
                  <a16:creationId xmlns:a16="http://schemas.microsoft.com/office/drawing/2014/main" id="{F7E8A67B-C2D6-9D4C-7205-D526E2DF873A}"/>
                </a:ext>
              </a:extLst>
            </p:cNvPr>
            <p:cNvSpPr/>
            <p:nvPr/>
          </p:nvSpPr>
          <p:spPr>
            <a:xfrm>
              <a:off x="8064886" y="5857200"/>
              <a:ext cx="3346603" cy="401970"/>
            </a:xfrm>
            <a:prstGeom prst="rect">
              <a:avLst/>
            </a:prstGeom>
            <a:noFill/>
            <a:ln/>
          </p:spPr>
          <p:txBody>
            <a:bodyPr wrap="square" lIns="0" tIns="0" rIns="0" bIns="0" rtlCol="0" anchor="ctr"/>
            <a:lstStyle/>
            <a:p>
              <a:pPr marL="0" indent="0" algn="ctr">
                <a:buNone/>
              </a:pPr>
              <a:r>
                <a:rPr lang="en-US" sz="1000" b="1">
                  <a:solidFill>
                    <a:schemeClr val="bg1"/>
                  </a:solidFill>
                  <a:ea typeface="Calibri" pitchFamily="34" charset="-122"/>
                  <a:cs typeface="Calibri" pitchFamily="34" charset="-120"/>
                </a:rPr>
                <a:t>Field Staff-2 · 2+ years</a:t>
              </a:r>
              <a:endParaRPr lang="en-US" sz="1000" b="1">
                <a:solidFill>
                  <a:schemeClr val="bg1"/>
                </a:solidFill>
              </a:endParaRPr>
            </a:p>
          </p:txBody>
        </p:sp>
        <p:grpSp>
          <p:nvGrpSpPr>
            <p:cNvPr id="50" name="Group 49">
              <a:extLst>
                <a:ext uri="{FF2B5EF4-FFF2-40B4-BE49-F238E27FC236}">
                  <a16:creationId xmlns:a16="http://schemas.microsoft.com/office/drawing/2014/main" id="{A9E3483F-0C06-C038-3A0B-275AE42AEC89}"/>
                </a:ext>
              </a:extLst>
            </p:cNvPr>
            <p:cNvGrpSpPr/>
            <p:nvPr/>
          </p:nvGrpSpPr>
          <p:grpSpPr>
            <a:xfrm>
              <a:off x="3595013" y="1207653"/>
              <a:ext cx="923248" cy="925555"/>
              <a:chOff x="-1274507" y="1826673"/>
              <a:chExt cx="1189265" cy="1107176"/>
            </a:xfrm>
          </p:grpSpPr>
          <p:sp>
            <p:nvSpPr>
              <p:cNvPr id="51" name="Flowchart: Connector 50">
                <a:extLst>
                  <a:ext uri="{FF2B5EF4-FFF2-40B4-BE49-F238E27FC236}">
                    <a16:creationId xmlns:a16="http://schemas.microsoft.com/office/drawing/2014/main" id="{EC278AB0-9E8F-7DD9-5AA6-EDB22273F26C}"/>
                  </a:ext>
                </a:extLst>
              </p:cNvPr>
              <p:cNvSpPr/>
              <p:nvPr/>
            </p:nvSpPr>
            <p:spPr bwMode="gray">
              <a:xfrm>
                <a:off x="-1274507" y="1826673"/>
                <a:ext cx="1189265" cy="1107176"/>
              </a:xfrm>
              <a:prstGeom prst="flowChartConnector">
                <a:avLst/>
              </a:prstGeom>
              <a:noFill/>
              <a:ln w="19050" algn="ctr">
                <a:solidFill>
                  <a:srgbClr val="0097A9"/>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pic>
            <p:nvPicPr>
              <p:cNvPr id="52" name="Picture 51">
                <a:extLst>
                  <a:ext uri="{FF2B5EF4-FFF2-40B4-BE49-F238E27FC236}">
                    <a16:creationId xmlns:a16="http://schemas.microsoft.com/office/drawing/2014/main" id="{244B6DF8-D425-8146-9FE7-A2DFC42EF2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6661" y="1858061"/>
                <a:ext cx="1028700" cy="1000124"/>
              </a:xfrm>
              <a:prstGeom prst="flowChartConnector">
                <a:avLst/>
              </a:prstGeom>
            </p:spPr>
          </p:pic>
        </p:grpSp>
        <p:sp>
          <p:nvSpPr>
            <p:cNvPr id="53" name="Oval 52">
              <a:extLst>
                <a:ext uri="{FF2B5EF4-FFF2-40B4-BE49-F238E27FC236}">
                  <a16:creationId xmlns:a16="http://schemas.microsoft.com/office/drawing/2014/main" id="{9E6F0582-5204-91B8-2F97-221A25E05934}"/>
                </a:ext>
              </a:extLst>
            </p:cNvPr>
            <p:cNvSpPr/>
            <p:nvPr/>
          </p:nvSpPr>
          <p:spPr bwMode="gray">
            <a:xfrm>
              <a:off x="3578158" y="2486265"/>
              <a:ext cx="956957" cy="924691"/>
            </a:xfrm>
            <a:prstGeom prst="ellipse">
              <a:avLst/>
            </a:prstGeom>
            <a:blipFill>
              <a:blip r:embed="rId3"/>
              <a:stretch>
                <a:fillRect/>
              </a:stretch>
            </a:blipFill>
            <a:ln w="19050" algn="ctr">
              <a:solidFill>
                <a:srgbClr val="0097A9"/>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pSp>
          <p:nvGrpSpPr>
            <p:cNvPr id="56" name="Group 55">
              <a:extLst>
                <a:ext uri="{FF2B5EF4-FFF2-40B4-BE49-F238E27FC236}">
                  <a16:creationId xmlns:a16="http://schemas.microsoft.com/office/drawing/2014/main" id="{A26AD3D6-ED04-A2DA-2DAE-9F071FDEEF01}"/>
                </a:ext>
              </a:extLst>
            </p:cNvPr>
            <p:cNvGrpSpPr/>
            <p:nvPr/>
          </p:nvGrpSpPr>
          <p:grpSpPr>
            <a:xfrm>
              <a:off x="3673353" y="3889616"/>
              <a:ext cx="956957" cy="915598"/>
              <a:chOff x="3869534" y="3355016"/>
              <a:chExt cx="470876" cy="499386"/>
            </a:xfrm>
          </p:grpSpPr>
          <p:pic>
            <p:nvPicPr>
              <p:cNvPr id="54" name="Picture 53">
                <a:extLst>
                  <a:ext uri="{FF2B5EF4-FFF2-40B4-BE49-F238E27FC236}">
                    <a16:creationId xmlns:a16="http://schemas.microsoft.com/office/drawing/2014/main" id="{B3427855-569D-7612-7598-A66F24E6989B}"/>
                  </a:ext>
                </a:extLst>
              </p:cNvPr>
              <p:cNvPicPr>
                <a:picLocks noChangeAspect="1"/>
              </p:cNvPicPr>
              <p:nvPr/>
            </p:nvPicPr>
            <p:blipFill>
              <a:blip r:embed="rId4"/>
              <a:stretch>
                <a:fillRect/>
              </a:stretch>
            </p:blipFill>
            <p:spPr>
              <a:xfrm>
                <a:off x="3869534" y="3355016"/>
                <a:ext cx="470876" cy="499383"/>
              </a:xfrm>
              <a:prstGeom prst="flowChartConnector">
                <a:avLst/>
              </a:prstGeom>
            </p:spPr>
          </p:pic>
          <p:sp>
            <p:nvSpPr>
              <p:cNvPr id="55" name="Flowchart: Connector 54">
                <a:extLst>
                  <a:ext uri="{FF2B5EF4-FFF2-40B4-BE49-F238E27FC236}">
                    <a16:creationId xmlns:a16="http://schemas.microsoft.com/office/drawing/2014/main" id="{91FC3E36-76C0-115F-24EF-199146CBD466}"/>
                  </a:ext>
                </a:extLst>
              </p:cNvPr>
              <p:cNvSpPr/>
              <p:nvPr/>
            </p:nvSpPr>
            <p:spPr bwMode="gray">
              <a:xfrm>
                <a:off x="3869534" y="3355017"/>
                <a:ext cx="470876" cy="499385"/>
              </a:xfrm>
              <a:prstGeom prst="flowChartConnector">
                <a:avLst/>
              </a:prstGeom>
              <a:noFill/>
              <a:ln w="19050" algn="ctr">
                <a:solidFill>
                  <a:srgbClr val="0097A9"/>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grpSp>
        <p:grpSp>
          <p:nvGrpSpPr>
            <p:cNvPr id="58" name="Group 57">
              <a:extLst>
                <a:ext uri="{FF2B5EF4-FFF2-40B4-BE49-F238E27FC236}">
                  <a16:creationId xmlns:a16="http://schemas.microsoft.com/office/drawing/2014/main" id="{3332C28F-3155-8986-7DA8-4C6C9A8EC849}"/>
                </a:ext>
              </a:extLst>
            </p:cNvPr>
            <p:cNvGrpSpPr/>
            <p:nvPr/>
          </p:nvGrpSpPr>
          <p:grpSpPr>
            <a:xfrm>
              <a:off x="808049" y="5389894"/>
              <a:ext cx="1000772" cy="956881"/>
              <a:chOff x="613402" y="1147185"/>
              <a:chExt cx="1025609" cy="1014639"/>
            </a:xfrm>
          </p:grpSpPr>
          <p:pic>
            <p:nvPicPr>
              <p:cNvPr id="59" name="Picture 58">
                <a:extLst>
                  <a:ext uri="{FF2B5EF4-FFF2-40B4-BE49-F238E27FC236}">
                    <a16:creationId xmlns:a16="http://schemas.microsoft.com/office/drawing/2014/main" id="{BFE71817-0090-0EED-CE33-8538BE5815DE}"/>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3029" y="1181594"/>
                <a:ext cx="1015982" cy="968011"/>
              </a:xfrm>
              <a:prstGeom prst="flowChartConnector">
                <a:avLst/>
              </a:prstGeom>
              <a:noFill/>
              <a:ln>
                <a:noFill/>
              </a:ln>
            </p:spPr>
          </p:pic>
          <p:sp>
            <p:nvSpPr>
              <p:cNvPr id="60" name="Flowchart: Connector 59">
                <a:extLst>
                  <a:ext uri="{FF2B5EF4-FFF2-40B4-BE49-F238E27FC236}">
                    <a16:creationId xmlns:a16="http://schemas.microsoft.com/office/drawing/2014/main" id="{BB78A1BA-0456-C0AE-81F9-2A748869C2DA}"/>
                  </a:ext>
                </a:extLst>
              </p:cNvPr>
              <p:cNvSpPr/>
              <p:nvPr/>
            </p:nvSpPr>
            <p:spPr bwMode="gray">
              <a:xfrm>
                <a:off x="613402" y="1147185"/>
                <a:ext cx="1015982" cy="1014639"/>
              </a:xfrm>
              <a:prstGeom prst="flowChartConnector">
                <a:avLst/>
              </a:prstGeom>
              <a:noFill/>
              <a:ln w="19050" algn="ctr">
                <a:solidFill>
                  <a:srgbClr val="0097A9"/>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grpSp>
        <p:grpSp>
          <p:nvGrpSpPr>
            <p:cNvPr id="61" name="Group 60">
              <a:extLst>
                <a:ext uri="{FF2B5EF4-FFF2-40B4-BE49-F238E27FC236}">
                  <a16:creationId xmlns:a16="http://schemas.microsoft.com/office/drawing/2014/main" id="{DC82CADA-B409-612F-5D19-618B9C959FE7}"/>
                </a:ext>
              </a:extLst>
            </p:cNvPr>
            <p:cNvGrpSpPr/>
            <p:nvPr/>
          </p:nvGrpSpPr>
          <p:grpSpPr>
            <a:xfrm>
              <a:off x="7142089" y="5421703"/>
              <a:ext cx="984348" cy="915598"/>
              <a:chOff x="411118" y="982891"/>
              <a:chExt cx="1251777" cy="1273455"/>
            </a:xfrm>
          </p:grpSpPr>
          <p:sp>
            <p:nvSpPr>
              <p:cNvPr id="62" name="Flowchart: Connector 61">
                <a:extLst>
                  <a:ext uri="{FF2B5EF4-FFF2-40B4-BE49-F238E27FC236}">
                    <a16:creationId xmlns:a16="http://schemas.microsoft.com/office/drawing/2014/main" id="{D1826D19-9B2F-8464-7567-5D153B671B3A}"/>
                  </a:ext>
                </a:extLst>
              </p:cNvPr>
              <p:cNvSpPr/>
              <p:nvPr/>
            </p:nvSpPr>
            <p:spPr bwMode="gray">
              <a:xfrm>
                <a:off x="417935" y="982891"/>
                <a:ext cx="1233690" cy="1273455"/>
              </a:xfrm>
              <a:prstGeom prst="flowChartConnector">
                <a:avLst/>
              </a:prstGeom>
              <a:noFill/>
              <a:ln w="19050" algn="ctr">
                <a:solidFill>
                  <a:srgbClr val="0097A9"/>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pic>
            <p:nvPicPr>
              <p:cNvPr id="63" name="Picture 62">
                <a:extLst>
                  <a:ext uri="{FF2B5EF4-FFF2-40B4-BE49-F238E27FC236}">
                    <a16:creationId xmlns:a16="http://schemas.microsoft.com/office/drawing/2014/main" id="{EC1E98C3-61F2-FAF5-200C-718AD609D26D}"/>
                  </a:ext>
                </a:extLst>
              </p:cNvPr>
              <p:cNvPicPr>
                <a:picLocks noChangeAspect="1"/>
              </p:cNvPicPr>
              <p:nvPr/>
            </p:nvPicPr>
            <p:blipFill>
              <a:blip r:embed="rId6" r:link="rId7" cstate="print">
                <a:extLst>
                  <a:ext uri="{28A0092B-C50C-407E-A947-70E740481C1C}">
                    <a14:useLocalDpi xmlns:a14="http://schemas.microsoft.com/office/drawing/2010/main" val="0"/>
                  </a:ext>
                </a:extLst>
              </a:blip>
              <a:srcRect/>
              <a:stretch>
                <a:fillRect/>
              </a:stretch>
            </p:blipFill>
            <p:spPr bwMode="auto">
              <a:xfrm>
                <a:off x="411118" y="1009419"/>
                <a:ext cx="1251777" cy="1220398"/>
              </a:xfrm>
              <a:prstGeom prst="flowChartConnector">
                <a:avLst/>
              </a:prstGeom>
              <a:noFill/>
              <a:ln>
                <a:noFill/>
              </a:ln>
            </p:spPr>
          </p:pic>
        </p:grpSp>
      </p:grpSp>
    </p:spTree>
    <p:extLst>
      <p:ext uri="{BB962C8B-B14F-4D97-AF65-F5344CB8AC3E}">
        <p14:creationId xmlns:p14="http://schemas.microsoft.com/office/powerpoint/2010/main" val="28563058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06376162-474A-43ED-80CC-FBC8B202EAAF}"/>
              </a:ext>
            </a:extLst>
          </p:cNvPr>
          <p:cNvGrpSpPr/>
          <p:nvPr/>
        </p:nvGrpSpPr>
        <p:grpSpPr>
          <a:xfrm>
            <a:off x="4789575" y="1026306"/>
            <a:ext cx="2919133" cy="226409"/>
            <a:chOff x="6384510" y="982412"/>
            <a:chExt cx="3878709" cy="226409"/>
          </a:xfrm>
        </p:grpSpPr>
        <p:cxnSp>
          <p:nvCxnSpPr>
            <p:cNvPr id="39" name="Straight Connector 38">
              <a:extLst>
                <a:ext uri="{FF2B5EF4-FFF2-40B4-BE49-F238E27FC236}">
                  <a16:creationId xmlns:a16="http://schemas.microsoft.com/office/drawing/2014/main" id="{821673F3-0CD8-486C-910C-16DBF8D2D823}"/>
                </a:ext>
              </a:extLst>
            </p:cNvPr>
            <p:cNvCxnSpPr/>
            <p:nvPr/>
          </p:nvCxnSpPr>
          <p:spPr bwMode="auto">
            <a:xfrm>
              <a:off x="6384510" y="1091239"/>
              <a:ext cx="3878709"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0" name="TextBox 39">
              <a:extLst>
                <a:ext uri="{FF2B5EF4-FFF2-40B4-BE49-F238E27FC236}">
                  <a16:creationId xmlns:a16="http://schemas.microsoft.com/office/drawing/2014/main" id="{9131A7A7-3CAA-41E3-9A6B-D1FA75622F43}"/>
                </a:ext>
              </a:extLst>
            </p:cNvPr>
            <p:cNvSpPr txBox="1"/>
            <p:nvPr/>
          </p:nvSpPr>
          <p:spPr>
            <a:xfrm>
              <a:off x="7565225" y="982412"/>
              <a:ext cx="1497298" cy="226409"/>
            </a:xfrm>
            <a:prstGeom prst="rect">
              <a:avLst/>
            </a:prstGeom>
            <a:solidFill>
              <a:schemeClr val="bg1"/>
            </a:solidFill>
          </p:spPr>
          <p:txBody>
            <a:bodyPr wrap="square" rtlCol="0">
              <a:spAutoFit/>
            </a:bodyPr>
            <a:lstStyle/>
            <a:p>
              <a:pPr marL="1588" marR="0" lvl="0" indent="0" algn="ctr" defTabSz="914400" rtl="0" eaLnBrk="1" fontAlgn="base" latinLnBrk="0" hangingPunct="1">
                <a:lnSpc>
                  <a:spcPct val="106000"/>
                </a:lnSpc>
                <a:spcBef>
                  <a:spcPct val="80000"/>
                </a:spcBef>
                <a:spcAft>
                  <a:spcPct val="0"/>
                </a:spcAft>
                <a:buClr>
                  <a:srgbClr val="000000"/>
                </a:buClr>
                <a:buSzTx/>
                <a:buFontTx/>
                <a:buNone/>
                <a:tabLst/>
                <a:defRPr/>
              </a:pPr>
              <a:r>
                <a:rPr kumimoji="0" lang="en-US" sz="9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Education</a:t>
              </a:r>
            </a:p>
          </p:txBody>
        </p:sp>
      </p:grpSp>
      <p:sp>
        <p:nvSpPr>
          <p:cNvPr id="38" name="Rectangle 12">
            <a:extLst>
              <a:ext uri="{FF2B5EF4-FFF2-40B4-BE49-F238E27FC236}">
                <a16:creationId xmlns:a16="http://schemas.microsoft.com/office/drawing/2014/main" id="{C7496292-1817-4CE3-AF79-AC61B3398EAE}"/>
              </a:ext>
            </a:extLst>
          </p:cNvPr>
          <p:cNvSpPr>
            <a:spLocks noChangeArrowheads="1"/>
          </p:cNvSpPr>
          <p:nvPr/>
        </p:nvSpPr>
        <p:spPr bwMode="auto">
          <a:xfrm>
            <a:off x="4789575" y="1193956"/>
            <a:ext cx="2919133" cy="646896"/>
          </a:xfrm>
          <a:prstGeom prst="rect">
            <a:avLst/>
          </a:prstGeom>
          <a:noFill/>
          <a:ln w="9525" algn="ctr">
            <a:noFill/>
            <a:miter lim="800000"/>
            <a:headEnd/>
            <a:tailEnd/>
          </a:ln>
          <a:effectLst>
            <a:outerShdw blurRad="50800" dist="50800" dir="5400000" algn="ctr" rotWithShape="0">
              <a:schemeClr val="bg1"/>
            </a:outerShdw>
          </a:effectLst>
        </p:spPr>
        <p:txBody>
          <a:bodyPr wrap="square" lIns="92002" tIns="46000" rIns="92002" bIns="46000">
            <a:spAutoFit/>
          </a:bodyPr>
          <a:lstStyle/>
          <a:p>
            <a:pPr marL="118698" marR="0" lvl="1" indent="-118698" defTabSz="914378"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he-IL" sz="900" kern="0">
                <a:latin typeface="Verdana"/>
              </a:rPr>
              <a:t>Ph.D. — University of Pune </a:t>
            </a:r>
          </a:p>
          <a:p>
            <a:pPr marL="118698" marR="0" lvl="1" indent="-118698" defTabSz="914378"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he-IL" sz="900" kern="0">
                <a:latin typeface="Verdana"/>
              </a:rPr>
              <a:t>M.A. (Economics) — Sambalpur University</a:t>
            </a:r>
          </a:p>
          <a:p>
            <a:pPr marL="118698" marR="0" lvl="1" indent="-118698" defTabSz="914378"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he-IL" sz="900" kern="0">
                <a:latin typeface="Verdana"/>
              </a:rPr>
              <a:t>B.A. (Hons. in Economics) — Sambalpur University </a:t>
            </a:r>
          </a:p>
        </p:txBody>
      </p:sp>
      <p:sp>
        <p:nvSpPr>
          <p:cNvPr id="16" name="Title 1">
            <a:extLst>
              <a:ext uri="{FF2B5EF4-FFF2-40B4-BE49-F238E27FC236}">
                <a16:creationId xmlns:a16="http://schemas.microsoft.com/office/drawing/2014/main" id="{76EEC528-E78F-4878-9020-FD2A6263A738}"/>
              </a:ext>
            </a:extLst>
          </p:cNvPr>
          <p:cNvSpPr txBox="1">
            <a:spLocks/>
          </p:cNvSpPr>
          <p:nvPr/>
        </p:nvSpPr>
        <p:spPr bwMode="gray">
          <a:xfrm>
            <a:off x="1864179" y="1384689"/>
            <a:ext cx="2350787" cy="208583"/>
          </a:xfrm>
          <a:prstGeom prst="rect">
            <a:avLst/>
          </a:prstGeom>
          <a:noFill/>
          <a:ln w="9525">
            <a:noFill/>
            <a:miter lim="800000"/>
            <a:headEnd/>
            <a:tailEnd/>
          </a:ln>
        </p:spPr>
        <p:txBody>
          <a:bodyPr vert="horz" wrap="square" lIns="0" tIns="0" rIns="0" bIns="0" numCol="1" anchor="b" anchorCtr="0" compatLnSpc="1">
            <a:prstTxWarp prst="textNoShape">
              <a:avLst/>
            </a:prstTxWarp>
            <a:spAutoFit/>
          </a:bodyPr>
          <a:lstStyle>
            <a:lvl1pPr algn="l" rtl="0" eaLnBrk="0" fontAlgn="base" hangingPunct="0">
              <a:lnSpc>
                <a:spcPct val="106000"/>
              </a:lnSpc>
              <a:spcBef>
                <a:spcPct val="0"/>
              </a:spcBef>
              <a:spcAft>
                <a:spcPct val="0"/>
              </a:spcAft>
              <a:defRPr sz="1600" b="1">
                <a:solidFill>
                  <a:schemeClr val="tx1"/>
                </a:solidFill>
                <a:latin typeface="+mj-lt"/>
                <a:ea typeface="+mj-ea"/>
                <a:cs typeface="+mj-cs"/>
              </a:defRPr>
            </a:lvl1pPr>
            <a:lvl2pPr algn="l" rtl="0" eaLnBrk="0" fontAlgn="base" hangingPunct="0">
              <a:lnSpc>
                <a:spcPct val="106000"/>
              </a:lnSpc>
              <a:spcBef>
                <a:spcPct val="0"/>
              </a:spcBef>
              <a:spcAft>
                <a:spcPct val="0"/>
              </a:spcAft>
              <a:defRPr sz="1600" b="1">
                <a:solidFill>
                  <a:schemeClr val="tx1"/>
                </a:solidFill>
                <a:latin typeface="Arial" charset="0"/>
              </a:defRPr>
            </a:lvl2pPr>
            <a:lvl3pPr algn="l" rtl="0" eaLnBrk="0" fontAlgn="base" hangingPunct="0">
              <a:lnSpc>
                <a:spcPct val="106000"/>
              </a:lnSpc>
              <a:spcBef>
                <a:spcPct val="0"/>
              </a:spcBef>
              <a:spcAft>
                <a:spcPct val="0"/>
              </a:spcAft>
              <a:defRPr sz="1600" b="1">
                <a:solidFill>
                  <a:schemeClr val="tx1"/>
                </a:solidFill>
                <a:latin typeface="Arial" charset="0"/>
              </a:defRPr>
            </a:lvl3pPr>
            <a:lvl4pPr algn="l" rtl="0" eaLnBrk="0" fontAlgn="base" hangingPunct="0">
              <a:lnSpc>
                <a:spcPct val="106000"/>
              </a:lnSpc>
              <a:spcBef>
                <a:spcPct val="0"/>
              </a:spcBef>
              <a:spcAft>
                <a:spcPct val="0"/>
              </a:spcAft>
              <a:defRPr sz="1600" b="1">
                <a:solidFill>
                  <a:schemeClr val="tx1"/>
                </a:solidFill>
                <a:latin typeface="Arial" charset="0"/>
              </a:defRPr>
            </a:lvl4pPr>
            <a:lvl5pPr algn="l" rtl="0" eaLnBrk="0" fontAlgn="base" hangingPunct="0">
              <a:lnSpc>
                <a:spcPct val="106000"/>
              </a:lnSpc>
              <a:spcBef>
                <a:spcPct val="0"/>
              </a:spcBef>
              <a:spcAft>
                <a:spcPct val="0"/>
              </a:spcAft>
              <a:defRPr sz="1600" b="1">
                <a:solidFill>
                  <a:schemeClr val="tx1"/>
                </a:solidFill>
                <a:latin typeface="Arial" charset="0"/>
              </a:defRPr>
            </a:lvl5pPr>
            <a:lvl6pPr marL="457200" algn="l" rtl="0" eaLnBrk="1" fontAlgn="base" hangingPunct="1">
              <a:lnSpc>
                <a:spcPct val="106000"/>
              </a:lnSpc>
              <a:spcBef>
                <a:spcPct val="0"/>
              </a:spcBef>
              <a:spcAft>
                <a:spcPct val="0"/>
              </a:spcAft>
              <a:defRPr sz="1600" b="1">
                <a:solidFill>
                  <a:schemeClr val="tx1"/>
                </a:solidFill>
                <a:latin typeface="Arial" charset="0"/>
              </a:defRPr>
            </a:lvl6pPr>
            <a:lvl7pPr marL="914400" algn="l" rtl="0" eaLnBrk="1" fontAlgn="base" hangingPunct="1">
              <a:lnSpc>
                <a:spcPct val="106000"/>
              </a:lnSpc>
              <a:spcBef>
                <a:spcPct val="0"/>
              </a:spcBef>
              <a:spcAft>
                <a:spcPct val="0"/>
              </a:spcAft>
              <a:defRPr sz="1600" b="1">
                <a:solidFill>
                  <a:schemeClr val="tx1"/>
                </a:solidFill>
                <a:latin typeface="Arial" charset="0"/>
              </a:defRPr>
            </a:lvl7pPr>
            <a:lvl8pPr marL="1371600" algn="l" rtl="0" eaLnBrk="1" fontAlgn="base" hangingPunct="1">
              <a:lnSpc>
                <a:spcPct val="106000"/>
              </a:lnSpc>
              <a:spcBef>
                <a:spcPct val="0"/>
              </a:spcBef>
              <a:spcAft>
                <a:spcPct val="0"/>
              </a:spcAft>
              <a:defRPr sz="1600" b="1">
                <a:solidFill>
                  <a:schemeClr val="tx1"/>
                </a:solidFill>
                <a:latin typeface="Arial" charset="0"/>
              </a:defRPr>
            </a:lvl8pPr>
            <a:lvl9pPr marL="1828800" algn="l" rtl="0" eaLnBrk="1" fontAlgn="base" hangingPunct="1">
              <a:lnSpc>
                <a:spcPct val="106000"/>
              </a:lnSpc>
              <a:spcBef>
                <a:spcPct val="0"/>
              </a:spcBef>
              <a:spcAft>
                <a:spcPct val="0"/>
              </a:spcAft>
              <a:defRPr sz="1600" b="1">
                <a:solidFill>
                  <a:schemeClr val="tx1"/>
                </a:solidFill>
                <a:latin typeface="Arial" charset="0"/>
              </a:defRPr>
            </a:lvl9pPr>
          </a:lstStyle>
          <a:p>
            <a:pPr marL="0" marR="0" lvl="0" indent="0" algn="l" defTabSz="914400" rtl="0" eaLnBrk="0" fontAlgn="base" latinLnBrk="0" hangingPunct="0">
              <a:lnSpc>
                <a:spcPct val="106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Tapas Kumar Sen</a:t>
            </a:r>
          </a:p>
        </p:txBody>
      </p:sp>
      <p:grpSp>
        <p:nvGrpSpPr>
          <p:cNvPr id="18" name="Group 17">
            <a:extLst>
              <a:ext uri="{FF2B5EF4-FFF2-40B4-BE49-F238E27FC236}">
                <a16:creationId xmlns:a16="http://schemas.microsoft.com/office/drawing/2014/main" id="{E22934C1-DFFC-48CE-A1D2-0BD5C39629A2}"/>
              </a:ext>
            </a:extLst>
          </p:cNvPr>
          <p:cNvGrpSpPr/>
          <p:nvPr/>
        </p:nvGrpSpPr>
        <p:grpSpPr>
          <a:xfrm>
            <a:off x="8857925" y="1046575"/>
            <a:ext cx="2649212" cy="226409"/>
            <a:chOff x="6384510" y="1200125"/>
            <a:chExt cx="3878709" cy="226409"/>
          </a:xfrm>
        </p:grpSpPr>
        <p:cxnSp>
          <p:nvCxnSpPr>
            <p:cNvPr id="20" name="Straight Connector 19">
              <a:extLst>
                <a:ext uri="{FF2B5EF4-FFF2-40B4-BE49-F238E27FC236}">
                  <a16:creationId xmlns:a16="http://schemas.microsoft.com/office/drawing/2014/main" id="{0341D36B-462C-4DDF-AF3A-3F69ADDD0522}"/>
                </a:ext>
              </a:extLst>
            </p:cNvPr>
            <p:cNvCxnSpPr/>
            <p:nvPr/>
          </p:nvCxnSpPr>
          <p:spPr bwMode="auto">
            <a:xfrm>
              <a:off x="6384510" y="1308952"/>
              <a:ext cx="3878709"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7D29F64D-643C-446E-95CC-C810A6B25640}"/>
                </a:ext>
              </a:extLst>
            </p:cNvPr>
            <p:cNvSpPr txBox="1"/>
            <p:nvPr/>
          </p:nvSpPr>
          <p:spPr>
            <a:xfrm>
              <a:off x="6970148" y="1200125"/>
              <a:ext cx="2692976" cy="226409"/>
            </a:xfrm>
            <a:prstGeom prst="rect">
              <a:avLst/>
            </a:prstGeom>
            <a:solidFill>
              <a:schemeClr val="bg1"/>
            </a:solidFill>
          </p:spPr>
          <p:txBody>
            <a:bodyPr wrap="square" rtlCol="0">
              <a:spAutoFit/>
            </a:bodyPr>
            <a:lstStyle/>
            <a:p>
              <a:pPr marL="1588" marR="0" lvl="0" indent="0" algn="ctr" defTabSz="914400" rtl="0" eaLnBrk="1" fontAlgn="base" latinLnBrk="0" hangingPunct="1">
                <a:lnSpc>
                  <a:spcPct val="106000"/>
                </a:lnSpc>
                <a:spcBef>
                  <a:spcPct val="80000"/>
                </a:spcBef>
                <a:spcAft>
                  <a:spcPct val="0"/>
                </a:spcAft>
                <a:buClr>
                  <a:srgbClr val="000000"/>
                </a:buClr>
                <a:buSzTx/>
                <a:buFontTx/>
                <a:buNone/>
                <a:tabLst/>
                <a:defRPr/>
              </a:pPr>
              <a:r>
                <a:rPr kumimoji="0" lang="en-US" sz="9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Subject Matter Expertise</a:t>
              </a:r>
            </a:p>
          </p:txBody>
        </p:sp>
      </p:grpSp>
      <p:sp>
        <p:nvSpPr>
          <p:cNvPr id="19" name="Rectangle 12">
            <a:extLst>
              <a:ext uri="{FF2B5EF4-FFF2-40B4-BE49-F238E27FC236}">
                <a16:creationId xmlns:a16="http://schemas.microsoft.com/office/drawing/2014/main" id="{7426BBBC-32CD-4E28-8650-87B86355E9C0}"/>
              </a:ext>
            </a:extLst>
          </p:cNvPr>
          <p:cNvSpPr>
            <a:spLocks noChangeArrowheads="1"/>
          </p:cNvSpPr>
          <p:nvPr/>
        </p:nvSpPr>
        <p:spPr bwMode="auto">
          <a:xfrm>
            <a:off x="8857925" y="1193956"/>
            <a:ext cx="2649212" cy="1200894"/>
          </a:xfrm>
          <a:prstGeom prst="rect">
            <a:avLst/>
          </a:prstGeom>
          <a:noFill/>
          <a:ln w="9525" algn="ctr">
            <a:noFill/>
            <a:miter lim="800000"/>
            <a:headEnd/>
            <a:tailEnd/>
          </a:ln>
          <a:effectLst>
            <a:outerShdw blurRad="50800" dist="50800" dir="5400000" algn="ctr" rotWithShape="0">
              <a:schemeClr val="bg1"/>
            </a:outerShdw>
          </a:effectLst>
        </p:spPr>
        <p:txBody>
          <a:bodyPr wrap="square" lIns="92002" tIns="46000" rIns="92002" bIns="46000">
            <a:spAutoFit/>
          </a:bodyPr>
          <a:lstStyle/>
          <a:p>
            <a:pPr marL="171450" marR="0" indent="-171450">
              <a:spcBef>
                <a:spcPts val="0"/>
              </a:spcBef>
              <a:spcAft>
                <a:spcPts val="0"/>
              </a:spcAft>
              <a:buFont typeface="Arial" panose="020B0604020202020204" pitchFamily="34" charset="0"/>
              <a:buChar char="•"/>
            </a:pPr>
            <a:r>
              <a:rPr lang="en-IN" sz="900"/>
              <a:t>Public Finance &amp; Fiscal Policy</a:t>
            </a:r>
          </a:p>
          <a:p>
            <a:pPr marL="171450" marR="0" indent="-171450">
              <a:spcBef>
                <a:spcPts val="0"/>
              </a:spcBef>
              <a:spcAft>
                <a:spcPts val="0"/>
              </a:spcAft>
              <a:buFont typeface="Arial" panose="020B0604020202020204" pitchFamily="34" charset="0"/>
              <a:buChar char="•"/>
            </a:pPr>
            <a:r>
              <a:rPr lang="en-SG" sz="900" kern="1200">
                <a:solidFill>
                  <a:srgbClr val="000000"/>
                </a:solidFill>
                <a:effectLst/>
                <a:ea typeface="PMingLiU" panose="02020500000000000000" pitchFamily="18" charset="-120"/>
                <a:cs typeface="Verdana" panose="020B0604030504040204" pitchFamily="34" charset="0"/>
              </a:rPr>
              <a:t>Sectoral Strategy Preparation</a:t>
            </a:r>
          </a:p>
          <a:p>
            <a:pPr marL="171450" marR="0" indent="-171450">
              <a:spcBef>
                <a:spcPts val="0"/>
              </a:spcBef>
              <a:spcAft>
                <a:spcPts val="0"/>
              </a:spcAft>
              <a:buFont typeface="Arial" panose="020B0604020202020204" pitchFamily="34" charset="0"/>
              <a:buChar char="•"/>
            </a:pPr>
            <a:r>
              <a:rPr lang="en-IN" sz="900"/>
              <a:t>Subsidy Policy &amp; Rationalisation</a:t>
            </a:r>
          </a:p>
          <a:p>
            <a:pPr marL="171450" marR="0" indent="-171450">
              <a:spcBef>
                <a:spcPts val="0"/>
              </a:spcBef>
              <a:spcAft>
                <a:spcPts val="0"/>
              </a:spcAft>
              <a:buFont typeface="Arial" panose="020B0604020202020204" pitchFamily="34" charset="0"/>
              <a:buChar char="•"/>
            </a:pPr>
            <a:r>
              <a:rPr lang="en-IN" sz="900">
                <a:effectLst/>
                <a:ea typeface="PMingLiU" panose="02020500000000000000" pitchFamily="18" charset="-120"/>
              </a:rPr>
              <a:t>Revenue Mobilization and Fiscal Risk Assessment</a:t>
            </a:r>
            <a:endParaRPr lang="en-US" sz="1400">
              <a:effectLst/>
              <a:ea typeface="PMingLiU" panose="02020500000000000000" pitchFamily="18" charset="-120"/>
            </a:endParaRPr>
          </a:p>
          <a:p>
            <a:pPr marL="171450" marR="0" indent="-171450">
              <a:spcBef>
                <a:spcPts val="0"/>
              </a:spcBef>
              <a:spcAft>
                <a:spcPts val="0"/>
              </a:spcAft>
              <a:buFont typeface="Arial" panose="020B0604020202020204" pitchFamily="34" charset="0"/>
              <a:buChar char="•"/>
            </a:pPr>
            <a:r>
              <a:rPr lang="en-SG" sz="900" kern="1200">
                <a:solidFill>
                  <a:srgbClr val="000000"/>
                </a:solidFill>
                <a:effectLst/>
                <a:ea typeface="PMingLiU" panose="02020500000000000000" pitchFamily="18" charset="-120"/>
                <a:cs typeface="Verdana" panose="020B0604030504040204" pitchFamily="34" charset="0"/>
              </a:rPr>
              <a:t>Program Management</a:t>
            </a:r>
            <a:endParaRPr lang="en-US" sz="1400">
              <a:effectLst/>
              <a:ea typeface="PMingLiU" panose="02020500000000000000" pitchFamily="18" charset="-120"/>
            </a:endParaRPr>
          </a:p>
          <a:p>
            <a:pPr marL="171450" marR="0" indent="-171450">
              <a:spcBef>
                <a:spcPts val="0"/>
              </a:spcBef>
              <a:spcAft>
                <a:spcPts val="0"/>
              </a:spcAft>
              <a:buFont typeface="Arial" panose="020B0604020202020204" pitchFamily="34" charset="0"/>
              <a:buChar char="•"/>
            </a:pPr>
            <a:r>
              <a:rPr lang="en-IN" sz="900"/>
              <a:t>Public Expenditure &amp; Budget Analysis</a:t>
            </a:r>
          </a:p>
          <a:p>
            <a:pPr marL="171450" marR="0" indent="-171450">
              <a:spcBef>
                <a:spcPts val="0"/>
              </a:spcBef>
              <a:spcAft>
                <a:spcPts val="0"/>
              </a:spcAft>
              <a:buFont typeface="Arial" panose="020B0604020202020204" pitchFamily="34" charset="0"/>
              <a:buChar char="•"/>
            </a:pPr>
            <a:r>
              <a:rPr lang="en-IN" sz="900"/>
              <a:t>Welfare Expenditure &amp; Merit Goods</a:t>
            </a:r>
            <a:endParaRPr kumimoji="0" lang="en-US" sz="900" b="0" i="0" u="none" strike="noStrike" kern="1200" cap="none" spc="0" normalizeH="0" baseline="0" noProof="0">
              <a:ln>
                <a:noFill/>
              </a:ln>
              <a:solidFill>
                <a:prstClr val="black"/>
              </a:solidFill>
              <a:effectLst/>
              <a:uLnTx/>
              <a:uFillTx/>
              <a:ea typeface="Verdana" panose="020B0604030504040204" pitchFamily="34" charset="0"/>
              <a:cs typeface="Verdana" panose="020B0604030504040204" pitchFamily="34" charset="0"/>
            </a:endParaRPr>
          </a:p>
        </p:txBody>
      </p:sp>
      <p:sp>
        <p:nvSpPr>
          <p:cNvPr id="35" name="Rectangle 12">
            <a:extLst>
              <a:ext uri="{FF2B5EF4-FFF2-40B4-BE49-F238E27FC236}">
                <a16:creationId xmlns:a16="http://schemas.microsoft.com/office/drawing/2014/main" id="{530D1B5A-12FB-4389-8B87-68B69AB2E100}"/>
              </a:ext>
            </a:extLst>
          </p:cNvPr>
          <p:cNvSpPr>
            <a:spLocks noChangeArrowheads="1"/>
          </p:cNvSpPr>
          <p:nvPr/>
        </p:nvSpPr>
        <p:spPr bwMode="auto">
          <a:xfrm>
            <a:off x="468922" y="2530311"/>
            <a:ext cx="11280313" cy="3139886"/>
          </a:xfrm>
          <a:prstGeom prst="rect">
            <a:avLst/>
          </a:prstGeom>
          <a:noFill/>
          <a:ln w="9525" algn="ctr">
            <a:noFill/>
            <a:miter lim="800000"/>
            <a:headEnd/>
            <a:tailEnd/>
          </a:ln>
          <a:effectLst>
            <a:outerShdw blurRad="50800" dist="50800" dir="5400000" algn="ctr" rotWithShape="0">
              <a:schemeClr val="bg1"/>
            </a:outerShdw>
          </a:effectLst>
        </p:spPr>
        <p:txBody>
          <a:bodyPr wrap="square" lIns="92002" tIns="46000" rIns="0" bIns="46000">
            <a:spAutoFit/>
          </a:bodyPr>
          <a:lstStyle/>
          <a:p>
            <a:pPr algn="just"/>
            <a:r>
              <a:rPr lang="en-US" sz="900" dirty="0"/>
              <a:t>Public Finance Specialist with extensive experience in fiscal policy, public expenditure management, welfare financing and fiscal sustainability, with a strong focus on assessing the fiscal burden of government support </a:t>
            </a:r>
            <a:r>
              <a:rPr lang="en-US" sz="900" dirty="0" err="1"/>
              <a:t>programmes</a:t>
            </a:r>
            <a:r>
              <a:rPr lang="en-US" sz="900" dirty="0"/>
              <a:t> and public service commitments. Experienced in expenditure rationalization, fiscal risk assessment, intergovernmental transfers and evidence-based resource allocation for Central and State Governments</a:t>
            </a:r>
          </a:p>
          <a:p>
            <a:pPr algn="just"/>
            <a:endParaRPr kumimoji="0" lang="en-US" sz="900" b="1" i="0" u="none" strike="noStrike" kern="0" cap="none" spc="0" normalizeH="0" baseline="0" noProof="0" dirty="0">
              <a:ln>
                <a:noFill/>
              </a:ln>
              <a:solidFill>
                <a:prstClr val="black"/>
              </a:solidFill>
              <a:effectLst/>
              <a:uLnTx/>
              <a:uFillTx/>
              <a:latin typeface="Verdana"/>
              <a:ea typeface="+mn-ea"/>
              <a:cs typeface="Arial" charset="0"/>
            </a:endParaRPr>
          </a:p>
          <a:p>
            <a:pPr algn="just"/>
            <a:r>
              <a:rPr kumimoji="0" lang="en-US" sz="900" b="1" i="0" u="none" strike="noStrike" kern="0" cap="none" spc="0" normalizeH="0" baseline="0" noProof="0" dirty="0">
                <a:ln>
                  <a:noFill/>
                </a:ln>
                <a:solidFill>
                  <a:prstClr val="black"/>
                </a:solidFill>
                <a:effectLst/>
                <a:uLnTx/>
                <a:uFillTx/>
                <a:latin typeface="Verdana"/>
                <a:ea typeface="+mn-ea"/>
                <a:cs typeface="Arial" charset="0"/>
              </a:rPr>
              <a:t>Relevant experience</a:t>
            </a:r>
          </a:p>
          <a:p>
            <a:endParaRPr lang="en-IN" sz="900" b="1" dirty="0"/>
          </a:p>
          <a:p>
            <a:pPr marL="171450" indent="-171450">
              <a:buFont typeface="Arial" panose="020B0604020202020204" pitchFamily="34" charset="0"/>
              <a:buChar char="•"/>
            </a:pPr>
            <a:r>
              <a:rPr lang="en-IN" sz="900" b="1" dirty="0"/>
              <a:t>Fiscal Impact &amp; Expenditure Assessment:</a:t>
            </a:r>
            <a:r>
              <a:rPr lang="en-IN" sz="900" dirty="0"/>
              <a:t> Assessed the fiscal implications of </a:t>
            </a:r>
            <a:r>
              <a:rPr lang="en-IN" sz="900" b="1" dirty="0"/>
              <a:t>government support programmes, welfare commitments and public expenditure</a:t>
            </a:r>
            <a:r>
              <a:rPr lang="en-IN" sz="900" dirty="0"/>
              <a:t>, including their impact on State fiscal balances and sustainability. </a:t>
            </a:r>
          </a:p>
          <a:p>
            <a:pPr marL="171450" indent="-171450">
              <a:buFont typeface="Arial" panose="020B0604020202020204" pitchFamily="34" charset="0"/>
              <a:buChar char="•"/>
            </a:pPr>
            <a:r>
              <a:rPr lang="en-IN" sz="900" b="1" dirty="0"/>
              <a:t>Expenditure Rationalisation:</a:t>
            </a:r>
            <a:r>
              <a:rPr lang="en-IN" sz="900" dirty="0"/>
              <a:t> Analysed </a:t>
            </a:r>
            <a:r>
              <a:rPr lang="en-IN" sz="900" b="1" dirty="0"/>
              <a:t>expenditure composition, prioritisation and efficiency of government interventions</a:t>
            </a:r>
            <a:r>
              <a:rPr lang="en-IN" sz="900" dirty="0"/>
              <a:t>, including measures to rationalise non-merit and low-impact expenditure. </a:t>
            </a:r>
          </a:p>
          <a:p>
            <a:pPr marL="171450" indent="-171450">
              <a:buFont typeface="Arial" panose="020B0604020202020204" pitchFamily="34" charset="0"/>
              <a:buChar char="•"/>
            </a:pPr>
            <a:r>
              <a:rPr lang="en-IN" sz="900" b="1" dirty="0"/>
              <a:t>Welfare &amp; Public Service Financing:</a:t>
            </a:r>
            <a:r>
              <a:rPr lang="en-IN" sz="900" dirty="0"/>
              <a:t> Evaluated </a:t>
            </a:r>
            <a:r>
              <a:rPr lang="en-IN" sz="900" b="1" dirty="0"/>
              <a:t>welfare-sector financing, merit goods and subsidised public services</a:t>
            </a:r>
            <a:r>
              <a:rPr lang="en-IN" sz="900" dirty="0"/>
              <a:t>, considering coverage, fiscal affordability and competing development priorities. </a:t>
            </a:r>
          </a:p>
          <a:p>
            <a:pPr marL="171450" indent="-171450">
              <a:buFont typeface="Arial" panose="020B0604020202020204" pitchFamily="34" charset="0"/>
              <a:buChar char="•"/>
            </a:pPr>
            <a:r>
              <a:rPr lang="en-IN" sz="900" b="1" dirty="0"/>
              <a:t>Fiscal Risk Analysis:</a:t>
            </a:r>
            <a:r>
              <a:rPr lang="en-IN" sz="900" dirty="0"/>
              <a:t> Assessed </a:t>
            </a:r>
            <a:r>
              <a:rPr lang="en-IN" sz="900" b="1" dirty="0"/>
              <a:t>endogenous fiscal risks arising from government support commitments, pensions, public debt and other liabilities</a:t>
            </a:r>
            <a:r>
              <a:rPr lang="en-IN" sz="900" dirty="0"/>
              <a:t>, including under the ADB-supported Jharkhand assignment. </a:t>
            </a:r>
          </a:p>
          <a:p>
            <a:pPr marL="171450" indent="-171450">
              <a:buFont typeface="Arial" panose="020B0604020202020204" pitchFamily="34" charset="0"/>
              <a:buChar char="•"/>
            </a:pPr>
            <a:r>
              <a:rPr lang="en-IN" sz="900" b="1" dirty="0"/>
              <a:t>Fiscal Forecasting &amp; Policy Analysis:</a:t>
            </a:r>
            <a:r>
              <a:rPr lang="en-IN" sz="900" dirty="0"/>
              <a:t> Undertook </a:t>
            </a:r>
            <a:r>
              <a:rPr lang="en-IN" sz="900" b="1" dirty="0"/>
              <a:t>estimation and forecasting of major government support expenditures</a:t>
            </a:r>
            <a:r>
              <a:rPr lang="en-IN" sz="900" dirty="0"/>
              <a:t> and analysed their medium-term implications for fiscal management.</a:t>
            </a:r>
          </a:p>
          <a:p>
            <a:pPr marL="171450" indent="-171450">
              <a:buFont typeface="Arial" panose="020B0604020202020204" pitchFamily="34" charset="0"/>
              <a:buChar char="•"/>
            </a:pPr>
            <a:r>
              <a:rPr lang="en-IN" sz="900" b="1" dirty="0"/>
              <a:t>Centre–State Fiscal Framework:</a:t>
            </a:r>
            <a:r>
              <a:rPr lang="en-IN" sz="900" dirty="0"/>
              <a:t> Examined </a:t>
            </a:r>
            <a:r>
              <a:rPr lang="en-IN" sz="900" b="1" dirty="0"/>
              <a:t>welfare expenditure requirements, expenditure commitments and resource-sharing arrangements</a:t>
            </a:r>
            <a:r>
              <a:rPr lang="en-IN" sz="900" dirty="0"/>
              <a:t> in the preparation of Madhya Pradesh and Odisha memoranda for the 15th Finance Commission. </a:t>
            </a:r>
          </a:p>
          <a:p>
            <a:pPr marL="171450" indent="-171450">
              <a:buFont typeface="Arial" panose="020B0604020202020204" pitchFamily="34" charset="0"/>
              <a:buChar char="•"/>
            </a:pPr>
            <a:r>
              <a:rPr lang="en-IN" sz="900" b="1" dirty="0"/>
              <a:t>Public Finance Research:</a:t>
            </a:r>
            <a:r>
              <a:rPr lang="en-IN" sz="900" dirty="0"/>
              <a:t> Co-authored key studies on </a:t>
            </a:r>
            <a:r>
              <a:rPr lang="en-IN" sz="900" b="1" dirty="0"/>
              <a:t>Government Subsidies in India, Subsidies of the Government of India and Forecasting Major Subsidies of the Central Government</a:t>
            </a:r>
            <a:r>
              <a:rPr lang="en-IN" sz="900" dirty="0"/>
              <a:t>, covering the scale, incidence and fiscal implications of government support. </a:t>
            </a:r>
          </a:p>
          <a:p>
            <a:pPr marL="171450" indent="-171450">
              <a:buFont typeface="Arial" panose="020B0604020202020204" pitchFamily="34" charset="0"/>
              <a:buChar char="•"/>
            </a:pPr>
            <a:r>
              <a:rPr lang="en-IN" sz="900" b="1" dirty="0"/>
              <a:t>Resource Allocation &amp; Fiscal Prudence:</a:t>
            </a:r>
            <a:r>
              <a:rPr lang="en-IN" sz="900" dirty="0"/>
              <a:t> Provided policy inputs on </a:t>
            </a:r>
            <a:r>
              <a:rPr lang="en-IN" sz="900" b="1" dirty="0"/>
              <a:t>resource allocation, expenditure prioritisation and fiscal consolidation</a:t>
            </a:r>
            <a:r>
              <a:rPr lang="en-IN" sz="900" dirty="0"/>
              <a:t>, balancing social-sector commitments with available fiscal space.</a:t>
            </a:r>
          </a:p>
        </p:txBody>
      </p:sp>
      <p:grpSp>
        <p:nvGrpSpPr>
          <p:cNvPr id="22" name="Group 21">
            <a:extLst>
              <a:ext uri="{FF2B5EF4-FFF2-40B4-BE49-F238E27FC236}">
                <a16:creationId xmlns:a16="http://schemas.microsoft.com/office/drawing/2014/main" id="{A276BA3C-2C57-4AB3-B58D-1D06587C7BDB}"/>
              </a:ext>
            </a:extLst>
          </p:cNvPr>
          <p:cNvGrpSpPr/>
          <p:nvPr/>
        </p:nvGrpSpPr>
        <p:grpSpPr>
          <a:xfrm>
            <a:off x="564313" y="2266425"/>
            <a:ext cx="11267234" cy="263886"/>
            <a:chOff x="566664" y="1911318"/>
            <a:chExt cx="11082488" cy="399693"/>
          </a:xfrm>
        </p:grpSpPr>
        <p:cxnSp>
          <p:nvCxnSpPr>
            <p:cNvPr id="23" name="Straight Connector 22">
              <a:extLst>
                <a:ext uri="{FF2B5EF4-FFF2-40B4-BE49-F238E27FC236}">
                  <a16:creationId xmlns:a16="http://schemas.microsoft.com/office/drawing/2014/main" id="{D8E54776-0F62-4EFA-9251-AED4611CA82F}"/>
                </a:ext>
              </a:extLst>
            </p:cNvPr>
            <p:cNvCxnSpPr/>
            <p:nvPr/>
          </p:nvCxnSpPr>
          <p:spPr bwMode="auto">
            <a:xfrm>
              <a:off x="566664" y="2311011"/>
              <a:ext cx="11082488"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E1A5DAED-D6A9-4696-BD5C-B6DEE78D3516}"/>
                </a:ext>
              </a:extLst>
            </p:cNvPr>
            <p:cNvSpPr txBox="1"/>
            <p:nvPr/>
          </p:nvSpPr>
          <p:spPr>
            <a:xfrm>
              <a:off x="5105154" y="1911318"/>
              <a:ext cx="1930387" cy="226409"/>
            </a:xfrm>
            <a:prstGeom prst="rect">
              <a:avLst/>
            </a:prstGeom>
            <a:solidFill>
              <a:schemeClr val="bg1"/>
            </a:solidFill>
          </p:spPr>
          <p:txBody>
            <a:bodyPr wrap="square" rtlCol="0">
              <a:spAutoFit/>
            </a:bodyPr>
            <a:lstStyle/>
            <a:p>
              <a:pPr marL="1588" marR="0" lvl="0" indent="0" algn="l" defTabSz="914400" rtl="0" eaLnBrk="1" fontAlgn="base" latinLnBrk="0" hangingPunct="1">
                <a:lnSpc>
                  <a:spcPct val="106000"/>
                </a:lnSpc>
                <a:spcBef>
                  <a:spcPct val="80000"/>
                </a:spcBef>
                <a:spcAft>
                  <a:spcPct val="0"/>
                </a:spcAft>
                <a:buClr>
                  <a:srgbClr val="000000"/>
                </a:buClr>
                <a:buSzTx/>
                <a:buFontTx/>
                <a:buNone/>
                <a:tabLst/>
                <a:defRPr/>
              </a:pPr>
              <a:r>
                <a:rPr kumimoji="0" lang="en-US" sz="9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Professional Highlights</a:t>
              </a:r>
            </a:p>
          </p:txBody>
        </p:sp>
      </p:grpSp>
      <p:sp>
        <p:nvSpPr>
          <p:cNvPr id="10" name="Text Placeholder 1">
            <a:extLst>
              <a:ext uri="{FF2B5EF4-FFF2-40B4-BE49-F238E27FC236}">
                <a16:creationId xmlns:a16="http://schemas.microsoft.com/office/drawing/2014/main" id="{1394625C-D45B-E2CE-4523-BF372CFF0295}"/>
              </a:ext>
            </a:extLst>
          </p:cNvPr>
          <p:cNvSpPr txBox="1">
            <a:spLocks/>
          </p:cNvSpPr>
          <p:nvPr/>
        </p:nvSpPr>
        <p:spPr>
          <a:xfrm>
            <a:off x="411118" y="532879"/>
            <a:ext cx="11188700" cy="757255"/>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600" b="0" kern="1200">
                <a:solidFill>
                  <a:srgbClr val="575757"/>
                </a:solidFill>
                <a:latin typeface="Calibri" panose="020F0502020204030204" pitchFamily="34" charset="0"/>
                <a:ea typeface="+mn-ea"/>
                <a:cs typeface="Calibri" panose="020F0502020204030204" pitchFamily="34" charset="0"/>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fr-FR" sz="1400">
                <a:latin typeface="+mj-lt"/>
              </a:rPr>
              <a:t>Deloitte Touche </a:t>
            </a:r>
            <a:r>
              <a:rPr lang="fr-FR" sz="1400" err="1">
                <a:latin typeface="+mj-lt"/>
              </a:rPr>
              <a:t>Tohmatsu</a:t>
            </a:r>
            <a:r>
              <a:rPr lang="fr-FR" sz="1400">
                <a:latin typeface="+mj-lt"/>
              </a:rPr>
              <a:t> </a:t>
            </a:r>
            <a:r>
              <a:rPr lang="fr-FR" sz="1400" err="1">
                <a:latin typeface="+mj-lt"/>
              </a:rPr>
              <a:t>India</a:t>
            </a:r>
            <a:r>
              <a:rPr lang="fr-FR" sz="1400">
                <a:latin typeface="+mj-lt"/>
              </a:rPr>
              <a:t> LLP</a:t>
            </a:r>
            <a:endParaRPr lang="en-US" sz="1400">
              <a:latin typeface="+mj-lt"/>
            </a:endParaRPr>
          </a:p>
          <a:p>
            <a:endParaRPr lang="en-US" sz="1400">
              <a:latin typeface="+mj-lt"/>
            </a:endParaRPr>
          </a:p>
        </p:txBody>
      </p:sp>
      <p:sp>
        <p:nvSpPr>
          <p:cNvPr id="11" name="Title 2">
            <a:extLst>
              <a:ext uri="{FF2B5EF4-FFF2-40B4-BE49-F238E27FC236}">
                <a16:creationId xmlns:a16="http://schemas.microsoft.com/office/drawing/2014/main" id="{40AFC15B-FF4C-CEAD-887D-AF5CD42E1D50}"/>
              </a:ext>
            </a:extLst>
          </p:cNvPr>
          <p:cNvSpPr txBox="1">
            <a:spLocks/>
          </p:cNvSpPr>
          <p:nvPr/>
        </p:nvSpPr>
        <p:spPr>
          <a:xfrm>
            <a:off x="411118" y="213764"/>
            <a:ext cx="11369764" cy="243926"/>
          </a:xfrm>
        </p:spPr>
        <p:txBody>
          <a:bodyPr vert="horz" lIns="0" tIns="0" rIns="0" bIns="0" rtlCol="0" anchor="t" anchorCtr="0">
            <a:noAutofit/>
          </a:bodyPr>
          <a:lstStyle>
            <a:lvl1pPr algn="l" defTabSz="914400" rtl="0" eaLnBrk="1" latinLnBrk="0" hangingPunct="1">
              <a:spcBef>
                <a:spcPct val="0"/>
              </a:spcBef>
              <a:buNone/>
              <a:defRPr sz="2000" kern="1200">
                <a:solidFill>
                  <a:schemeClr val="tx1"/>
                </a:solidFill>
                <a:latin typeface="Calibri" panose="020F0502020204030204" pitchFamily="34" charset="0"/>
                <a:ea typeface="+mj-ea"/>
                <a:cs typeface="Calibri" panose="020F0502020204030204" pitchFamily="34" charset="0"/>
              </a:defRPr>
            </a:lvl1pPr>
          </a:lstStyle>
          <a:p>
            <a:r>
              <a:rPr lang="en-US" sz="1800" b="1">
                <a:latin typeface="+mj-lt"/>
              </a:rPr>
              <a:t>Information on the qualification of key staff</a:t>
            </a:r>
          </a:p>
        </p:txBody>
      </p:sp>
      <p:cxnSp>
        <p:nvCxnSpPr>
          <p:cNvPr id="12" name="Straight Arrow Connector 11">
            <a:extLst>
              <a:ext uri="{FF2B5EF4-FFF2-40B4-BE49-F238E27FC236}">
                <a16:creationId xmlns:a16="http://schemas.microsoft.com/office/drawing/2014/main" id="{4DC9D77A-EA7C-A8E1-9BF4-ABED6ADC09D5}"/>
              </a:ext>
            </a:extLst>
          </p:cNvPr>
          <p:cNvCxnSpPr/>
          <p:nvPr/>
        </p:nvCxnSpPr>
        <p:spPr>
          <a:xfrm flipV="1">
            <a:off x="333466" y="826438"/>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EA54202D-783F-4C26-1176-8EB5C53E46AC}"/>
              </a:ext>
            </a:extLst>
          </p:cNvPr>
          <p:cNvGrpSpPr/>
          <p:nvPr/>
        </p:nvGrpSpPr>
        <p:grpSpPr>
          <a:xfrm>
            <a:off x="527633" y="1119998"/>
            <a:ext cx="1189265" cy="1107175"/>
            <a:chOff x="527633" y="1119998"/>
            <a:chExt cx="1189265" cy="1107175"/>
          </a:xfrm>
        </p:grpSpPr>
        <p:sp>
          <p:nvSpPr>
            <p:cNvPr id="5" name="Flowchart: Connector 4">
              <a:extLst>
                <a:ext uri="{FF2B5EF4-FFF2-40B4-BE49-F238E27FC236}">
                  <a16:creationId xmlns:a16="http://schemas.microsoft.com/office/drawing/2014/main" id="{34FF21B5-A9EC-3E4F-CD48-E5C3C3353B3B}"/>
                </a:ext>
              </a:extLst>
            </p:cNvPr>
            <p:cNvSpPr/>
            <p:nvPr/>
          </p:nvSpPr>
          <p:spPr bwMode="gray">
            <a:xfrm>
              <a:off x="527633" y="1119998"/>
              <a:ext cx="1189265" cy="1107175"/>
            </a:xfrm>
            <a:prstGeom prst="flowChartConnector">
              <a:avLst/>
            </a:prstGeom>
            <a:noFill/>
            <a:ln w="19050" algn="ctr">
              <a:solidFill>
                <a:srgbClr val="0097A9"/>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pic>
          <p:nvPicPr>
            <p:cNvPr id="7" name="Picture 6">
              <a:extLst>
                <a:ext uri="{FF2B5EF4-FFF2-40B4-BE49-F238E27FC236}">
                  <a16:creationId xmlns:a16="http://schemas.microsoft.com/office/drawing/2014/main" id="{A8126784-4691-C1F4-B8A6-34E214A41B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480" y="1151387"/>
              <a:ext cx="1028700" cy="1000125"/>
            </a:xfrm>
            <a:prstGeom prst="flowChartConnector">
              <a:avLst/>
            </a:prstGeom>
          </p:spPr>
        </p:pic>
      </p:grpSp>
    </p:spTree>
    <p:extLst>
      <p:ext uri="{BB962C8B-B14F-4D97-AF65-F5344CB8AC3E}">
        <p14:creationId xmlns:p14="http://schemas.microsoft.com/office/powerpoint/2010/main" val="6318912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5090C-D271-31D6-C37F-E7886D9F4653}"/>
            </a:ext>
          </a:extLst>
        </p:cNvPr>
        <p:cNvGrpSpPr/>
        <p:nvPr/>
      </p:nvGrpSpPr>
      <p:grpSpPr>
        <a:xfrm>
          <a:off x="0" y="0"/>
          <a:ext cx="0" cy="0"/>
          <a:chOff x="0" y="0"/>
          <a:chExt cx="0" cy="0"/>
        </a:xfrm>
      </p:grpSpPr>
      <p:sp>
        <p:nvSpPr>
          <p:cNvPr id="10" name="Text Placeholder 1">
            <a:extLst>
              <a:ext uri="{FF2B5EF4-FFF2-40B4-BE49-F238E27FC236}">
                <a16:creationId xmlns:a16="http://schemas.microsoft.com/office/drawing/2014/main" id="{DDACB045-0513-AC5C-930D-197E01DC2AAA}"/>
              </a:ext>
            </a:extLst>
          </p:cNvPr>
          <p:cNvSpPr txBox="1">
            <a:spLocks/>
          </p:cNvSpPr>
          <p:nvPr/>
        </p:nvSpPr>
        <p:spPr>
          <a:xfrm>
            <a:off x="411118" y="532879"/>
            <a:ext cx="11188700" cy="757255"/>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600" b="0" kern="1200">
                <a:solidFill>
                  <a:srgbClr val="575757"/>
                </a:solidFill>
                <a:latin typeface="Calibri" panose="020F0502020204030204" pitchFamily="34" charset="0"/>
                <a:ea typeface="+mn-ea"/>
                <a:cs typeface="Calibri" panose="020F0502020204030204" pitchFamily="34" charset="0"/>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fr-FR" sz="1400">
                <a:latin typeface="+mj-lt"/>
              </a:rPr>
              <a:t>Deloitte Touche </a:t>
            </a:r>
            <a:r>
              <a:rPr lang="fr-FR" sz="1400" err="1">
                <a:latin typeface="+mj-lt"/>
              </a:rPr>
              <a:t>Tohmatsu</a:t>
            </a:r>
            <a:r>
              <a:rPr lang="fr-FR" sz="1400">
                <a:latin typeface="+mj-lt"/>
              </a:rPr>
              <a:t> </a:t>
            </a:r>
            <a:r>
              <a:rPr lang="fr-FR" sz="1400" err="1">
                <a:latin typeface="+mj-lt"/>
              </a:rPr>
              <a:t>India</a:t>
            </a:r>
            <a:r>
              <a:rPr lang="fr-FR" sz="1400">
                <a:latin typeface="+mj-lt"/>
              </a:rPr>
              <a:t> LLP</a:t>
            </a:r>
            <a:endParaRPr lang="en-US" sz="1400">
              <a:latin typeface="+mj-lt"/>
            </a:endParaRPr>
          </a:p>
          <a:p>
            <a:endParaRPr lang="en-US" sz="1400">
              <a:latin typeface="+mj-lt"/>
            </a:endParaRPr>
          </a:p>
        </p:txBody>
      </p:sp>
      <p:sp>
        <p:nvSpPr>
          <p:cNvPr id="11" name="Title 2">
            <a:extLst>
              <a:ext uri="{FF2B5EF4-FFF2-40B4-BE49-F238E27FC236}">
                <a16:creationId xmlns:a16="http://schemas.microsoft.com/office/drawing/2014/main" id="{2DBA50E6-1250-EC49-1C9D-3129CC882A5D}"/>
              </a:ext>
            </a:extLst>
          </p:cNvPr>
          <p:cNvSpPr txBox="1">
            <a:spLocks/>
          </p:cNvSpPr>
          <p:nvPr/>
        </p:nvSpPr>
        <p:spPr>
          <a:xfrm>
            <a:off x="411118" y="213764"/>
            <a:ext cx="11369764" cy="243926"/>
          </a:xfrm>
        </p:spPr>
        <p:txBody>
          <a:bodyPr vert="horz" lIns="0" tIns="0" rIns="0" bIns="0" rtlCol="0" anchor="t" anchorCtr="0">
            <a:noAutofit/>
          </a:bodyPr>
          <a:lstStyle>
            <a:lvl1pPr algn="l" defTabSz="914400" rtl="0" eaLnBrk="1" latinLnBrk="0" hangingPunct="1">
              <a:spcBef>
                <a:spcPct val="0"/>
              </a:spcBef>
              <a:buNone/>
              <a:defRPr sz="2000" kern="1200">
                <a:solidFill>
                  <a:schemeClr val="tx1"/>
                </a:solidFill>
                <a:latin typeface="Calibri" panose="020F0502020204030204" pitchFamily="34" charset="0"/>
                <a:ea typeface="+mj-ea"/>
                <a:cs typeface="Calibri" panose="020F0502020204030204" pitchFamily="34" charset="0"/>
              </a:defRPr>
            </a:lvl1pPr>
          </a:lstStyle>
          <a:p>
            <a:r>
              <a:rPr lang="en-US" sz="1800" b="1" err="1">
                <a:latin typeface="+mj-lt"/>
              </a:rPr>
              <a:t>LoA</a:t>
            </a:r>
            <a:r>
              <a:rPr lang="en-US" sz="1800" b="1">
                <a:latin typeface="+mj-lt"/>
              </a:rPr>
              <a:t> of the qualification of key staff</a:t>
            </a:r>
          </a:p>
        </p:txBody>
      </p:sp>
      <p:cxnSp>
        <p:nvCxnSpPr>
          <p:cNvPr id="12" name="Straight Arrow Connector 11">
            <a:extLst>
              <a:ext uri="{FF2B5EF4-FFF2-40B4-BE49-F238E27FC236}">
                <a16:creationId xmlns:a16="http://schemas.microsoft.com/office/drawing/2014/main" id="{E68EA1AC-BBF6-3242-E055-6D4A0E98CA0C}"/>
              </a:ext>
            </a:extLst>
          </p:cNvPr>
          <p:cNvCxnSpPr/>
          <p:nvPr/>
        </p:nvCxnSpPr>
        <p:spPr>
          <a:xfrm flipV="1">
            <a:off x="333466" y="826438"/>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4C2EB713-9157-669F-DAF6-3DBCA84B5831}"/>
              </a:ext>
            </a:extLst>
          </p:cNvPr>
          <p:cNvPicPr>
            <a:picLocks noChangeAspect="1"/>
          </p:cNvPicPr>
          <p:nvPr/>
        </p:nvPicPr>
        <p:blipFill>
          <a:blip r:embed="rId2">
            <a:extLst>
              <a:ext uri="{28A0092B-C50C-407E-A947-70E740481C1C}">
                <a14:useLocalDpi xmlns:a14="http://schemas.microsoft.com/office/drawing/2010/main" val="0"/>
              </a:ext>
            </a:extLst>
          </a:blip>
          <a:srcRect l="11005" t="6036" r="12342" b="26464"/>
          <a:stretch>
            <a:fillRect/>
          </a:stretch>
        </p:blipFill>
        <p:spPr>
          <a:xfrm>
            <a:off x="592182" y="1139712"/>
            <a:ext cx="10571118" cy="5388085"/>
          </a:xfrm>
          <a:prstGeom prst="rect">
            <a:avLst/>
          </a:prstGeom>
        </p:spPr>
      </p:pic>
    </p:spTree>
    <p:extLst>
      <p:ext uri="{BB962C8B-B14F-4D97-AF65-F5344CB8AC3E}">
        <p14:creationId xmlns:p14="http://schemas.microsoft.com/office/powerpoint/2010/main" val="35322326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06376162-474A-43ED-80CC-FBC8B202EAAF}"/>
              </a:ext>
            </a:extLst>
          </p:cNvPr>
          <p:cNvGrpSpPr/>
          <p:nvPr/>
        </p:nvGrpSpPr>
        <p:grpSpPr>
          <a:xfrm>
            <a:off x="4789575" y="1026306"/>
            <a:ext cx="2919133" cy="226409"/>
            <a:chOff x="6384510" y="982412"/>
            <a:chExt cx="3878709" cy="226409"/>
          </a:xfrm>
        </p:grpSpPr>
        <p:cxnSp>
          <p:nvCxnSpPr>
            <p:cNvPr id="39" name="Straight Connector 38">
              <a:extLst>
                <a:ext uri="{FF2B5EF4-FFF2-40B4-BE49-F238E27FC236}">
                  <a16:creationId xmlns:a16="http://schemas.microsoft.com/office/drawing/2014/main" id="{821673F3-0CD8-486C-910C-16DBF8D2D823}"/>
                </a:ext>
              </a:extLst>
            </p:cNvPr>
            <p:cNvCxnSpPr/>
            <p:nvPr/>
          </p:nvCxnSpPr>
          <p:spPr bwMode="auto">
            <a:xfrm>
              <a:off x="6384510" y="1091239"/>
              <a:ext cx="3878709"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0" name="TextBox 39">
              <a:extLst>
                <a:ext uri="{FF2B5EF4-FFF2-40B4-BE49-F238E27FC236}">
                  <a16:creationId xmlns:a16="http://schemas.microsoft.com/office/drawing/2014/main" id="{9131A7A7-3CAA-41E3-9A6B-D1FA75622F43}"/>
                </a:ext>
              </a:extLst>
            </p:cNvPr>
            <p:cNvSpPr txBox="1"/>
            <p:nvPr/>
          </p:nvSpPr>
          <p:spPr>
            <a:xfrm>
              <a:off x="7565225" y="982412"/>
              <a:ext cx="1497298" cy="226409"/>
            </a:xfrm>
            <a:prstGeom prst="rect">
              <a:avLst/>
            </a:prstGeom>
            <a:solidFill>
              <a:schemeClr val="bg1"/>
            </a:solidFill>
          </p:spPr>
          <p:txBody>
            <a:bodyPr wrap="square" rtlCol="0">
              <a:spAutoFit/>
            </a:bodyPr>
            <a:lstStyle/>
            <a:p>
              <a:pPr marL="1588" marR="0" lvl="0" indent="0" algn="ctr" defTabSz="914400" rtl="0" eaLnBrk="1" fontAlgn="base" latinLnBrk="0" hangingPunct="1">
                <a:lnSpc>
                  <a:spcPct val="106000"/>
                </a:lnSpc>
                <a:spcBef>
                  <a:spcPct val="80000"/>
                </a:spcBef>
                <a:spcAft>
                  <a:spcPct val="0"/>
                </a:spcAft>
                <a:buClr>
                  <a:srgbClr val="000000"/>
                </a:buClr>
                <a:buSzTx/>
                <a:buFontTx/>
                <a:buNone/>
                <a:tabLst/>
                <a:defRPr/>
              </a:pPr>
              <a:r>
                <a:rPr kumimoji="0" lang="en-US" sz="9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Education</a:t>
              </a:r>
            </a:p>
          </p:txBody>
        </p:sp>
      </p:grpSp>
      <p:sp>
        <p:nvSpPr>
          <p:cNvPr id="38" name="Rectangle 12">
            <a:extLst>
              <a:ext uri="{FF2B5EF4-FFF2-40B4-BE49-F238E27FC236}">
                <a16:creationId xmlns:a16="http://schemas.microsoft.com/office/drawing/2014/main" id="{C7496292-1817-4CE3-AF79-AC61B3398EAE}"/>
              </a:ext>
            </a:extLst>
          </p:cNvPr>
          <p:cNvSpPr>
            <a:spLocks noChangeArrowheads="1"/>
          </p:cNvSpPr>
          <p:nvPr/>
        </p:nvSpPr>
        <p:spPr bwMode="auto">
          <a:xfrm>
            <a:off x="4789575" y="1193956"/>
            <a:ext cx="2919133" cy="646896"/>
          </a:xfrm>
          <a:prstGeom prst="rect">
            <a:avLst/>
          </a:prstGeom>
          <a:noFill/>
          <a:ln w="9525" algn="ctr">
            <a:noFill/>
            <a:miter lim="800000"/>
            <a:headEnd/>
            <a:tailEnd/>
          </a:ln>
          <a:effectLst>
            <a:outerShdw blurRad="50800" dist="50800" dir="5400000" algn="ctr" rotWithShape="0">
              <a:schemeClr val="bg1"/>
            </a:outerShdw>
          </a:effectLst>
        </p:spPr>
        <p:txBody>
          <a:bodyPr wrap="square" lIns="92002" tIns="46000" rIns="92002" bIns="46000">
            <a:spAutoFit/>
          </a:bodyPr>
          <a:lstStyle/>
          <a:p>
            <a:pPr marL="171450" lvl="2" indent="-171450">
              <a:buClr>
                <a:prstClr val="black"/>
              </a:buClr>
              <a:buSzPct val="80000"/>
              <a:buFont typeface="Arial" panose="020B0604020202020204" pitchFamily="34" charset="0"/>
              <a:buChar char="•"/>
              <a:defRPr/>
            </a:pPr>
            <a:r>
              <a:rPr lang="it-IT" sz="900">
                <a:ea typeface="Verdana"/>
                <a:cs typeface="Verdana" panose="020B0604030504040204" pitchFamily="34" charset="0"/>
              </a:rPr>
              <a:t>PGDM from Indian Institute of Management (</a:t>
            </a:r>
            <a:r>
              <a:rPr lang="en-US" sz="900">
                <a:ea typeface="Verdana"/>
                <a:cs typeface="Verdana" panose="020B0604030504040204" pitchFamily="34" charset="0"/>
              </a:rPr>
              <a:t>Premier B school of India),</a:t>
            </a:r>
            <a:r>
              <a:rPr lang="it-IT" sz="900">
                <a:ea typeface="Verdana"/>
                <a:cs typeface="Verdana" panose="020B0604030504040204" pitchFamily="34" charset="0"/>
              </a:rPr>
              <a:t> Calcutta</a:t>
            </a:r>
          </a:p>
          <a:p>
            <a:pPr marL="171450" lvl="2" indent="-171450">
              <a:buClr>
                <a:prstClr val="black"/>
              </a:buClr>
              <a:buSzPct val="80000"/>
              <a:buFont typeface="Arial" panose="020B0604020202020204" pitchFamily="34" charset="0"/>
              <a:buChar char="•"/>
              <a:defRPr/>
            </a:pPr>
            <a:r>
              <a:rPr lang="it-IT" sz="900">
                <a:ea typeface="Verdana"/>
                <a:cs typeface="Verdana" panose="020B0604030504040204" pitchFamily="34" charset="0"/>
              </a:rPr>
              <a:t>MA Economics</a:t>
            </a:r>
          </a:p>
          <a:p>
            <a:pPr marL="171450" lvl="2" indent="-171450">
              <a:buClr>
                <a:prstClr val="black"/>
              </a:buClr>
              <a:buSzPct val="80000"/>
              <a:buFont typeface="Arial" panose="020B0604020202020204" pitchFamily="34" charset="0"/>
              <a:buChar char="•"/>
              <a:defRPr/>
            </a:pPr>
            <a:r>
              <a:rPr lang="it-IT" sz="900">
                <a:ea typeface="Verdana"/>
                <a:cs typeface="Verdana" panose="020B0604030504040204" pitchFamily="34" charset="0"/>
              </a:rPr>
              <a:t>BA Economics</a:t>
            </a:r>
          </a:p>
        </p:txBody>
      </p:sp>
      <p:sp>
        <p:nvSpPr>
          <p:cNvPr id="16" name="Title 1">
            <a:extLst>
              <a:ext uri="{FF2B5EF4-FFF2-40B4-BE49-F238E27FC236}">
                <a16:creationId xmlns:a16="http://schemas.microsoft.com/office/drawing/2014/main" id="{76EEC528-E78F-4878-9020-FD2A6263A738}"/>
              </a:ext>
            </a:extLst>
          </p:cNvPr>
          <p:cNvSpPr txBox="1">
            <a:spLocks/>
          </p:cNvSpPr>
          <p:nvPr/>
        </p:nvSpPr>
        <p:spPr bwMode="gray">
          <a:xfrm>
            <a:off x="1891034" y="1082917"/>
            <a:ext cx="2350787" cy="893771"/>
          </a:xfrm>
          <a:prstGeom prst="rect">
            <a:avLst/>
          </a:prstGeom>
          <a:noFill/>
          <a:ln w="9525">
            <a:noFill/>
            <a:miter lim="800000"/>
            <a:headEnd/>
            <a:tailEnd/>
          </a:ln>
        </p:spPr>
        <p:txBody>
          <a:bodyPr vert="horz" wrap="square" lIns="0" tIns="0" rIns="0" bIns="0" numCol="1" anchor="b" anchorCtr="0" compatLnSpc="1">
            <a:prstTxWarp prst="textNoShape">
              <a:avLst/>
            </a:prstTxWarp>
            <a:spAutoFit/>
          </a:bodyPr>
          <a:lstStyle>
            <a:lvl1pPr algn="l" rtl="0" eaLnBrk="0" fontAlgn="base" hangingPunct="0">
              <a:lnSpc>
                <a:spcPct val="106000"/>
              </a:lnSpc>
              <a:spcBef>
                <a:spcPct val="0"/>
              </a:spcBef>
              <a:spcAft>
                <a:spcPct val="0"/>
              </a:spcAft>
              <a:defRPr sz="1600" b="1">
                <a:solidFill>
                  <a:schemeClr val="tx1"/>
                </a:solidFill>
                <a:latin typeface="+mj-lt"/>
                <a:ea typeface="+mj-ea"/>
                <a:cs typeface="+mj-cs"/>
              </a:defRPr>
            </a:lvl1pPr>
            <a:lvl2pPr algn="l" rtl="0" eaLnBrk="0" fontAlgn="base" hangingPunct="0">
              <a:lnSpc>
                <a:spcPct val="106000"/>
              </a:lnSpc>
              <a:spcBef>
                <a:spcPct val="0"/>
              </a:spcBef>
              <a:spcAft>
                <a:spcPct val="0"/>
              </a:spcAft>
              <a:defRPr sz="1600" b="1">
                <a:solidFill>
                  <a:schemeClr val="tx1"/>
                </a:solidFill>
                <a:latin typeface="Arial" charset="0"/>
              </a:defRPr>
            </a:lvl2pPr>
            <a:lvl3pPr algn="l" rtl="0" eaLnBrk="0" fontAlgn="base" hangingPunct="0">
              <a:lnSpc>
                <a:spcPct val="106000"/>
              </a:lnSpc>
              <a:spcBef>
                <a:spcPct val="0"/>
              </a:spcBef>
              <a:spcAft>
                <a:spcPct val="0"/>
              </a:spcAft>
              <a:defRPr sz="1600" b="1">
                <a:solidFill>
                  <a:schemeClr val="tx1"/>
                </a:solidFill>
                <a:latin typeface="Arial" charset="0"/>
              </a:defRPr>
            </a:lvl3pPr>
            <a:lvl4pPr algn="l" rtl="0" eaLnBrk="0" fontAlgn="base" hangingPunct="0">
              <a:lnSpc>
                <a:spcPct val="106000"/>
              </a:lnSpc>
              <a:spcBef>
                <a:spcPct val="0"/>
              </a:spcBef>
              <a:spcAft>
                <a:spcPct val="0"/>
              </a:spcAft>
              <a:defRPr sz="1600" b="1">
                <a:solidFill>
                  <a:schemeClr val="tx1"/>
                </a:solidFill>
                <a:latin typeface="Arial" charset="0"/>
              </a:defRPr>
            </a:lvl4pPr>
            <a:lvl5pPr algn="l" rtl="0" eaLnBrk="0" fontAlgn="base" hangingPunct="0">
              <a:lnSpc>
                <a:spcPct val="106000"/>
              </a:lnSpc>
              <a:spcBef>
                <a:spcPct val="0"/>
              </a:spcBef>
              <a:spcAft>
                <a:spcPct val="0"/>
              </a:spcAft>
              <a:defRPr sz="1600" b="1">
                <a:solidFill>
                  <a:schemeClr val="tx1"/>
                </a:solidFill>
                <a:latin typeface="Arial" charset="0"/>
              </a:defRPr>
            </a:lvl5pPr>
            <a:lvl6pPr marL="457200" algn="l" rtl="0" eaLnBrk="1" fontAlgn="base" hangingPunct="1">
              <a:lnSpc>
                <a:spcPct val="106000"/>
              </a:lnSpc>
              <a:spcBef>
                <a:spcPct val="0"/>
              </a:spcBef>
              <a:spcAft>
                <a:spcPct val="0"/>
              </a:spcAft>
              <a:defRPr sz="1600" b="1">
                <a:solidFill>
                  <a:schemeClr val="tx1"/>
                </a:solidFill>
                <a:latin typeface="Arial" charset="0"/>
              </a:defRPr>
            </a:lvl6pPr>
            <a:lvl7pPr marL="914400" algn="l" rtl="0" eaLnBrk="1" fontAlgn="base" hangingPunct="1">
              <a:lnSpc>
                <a:spcPct val="106000"/>
              </a:lnSpc>
              <a:spcBef>
                <a:spcPct val="0"/>
              </a:spcBef>
              <a:spcAft>
                <a:spcPct val="0"/>
              </a:spcAft>
              <a:defRPr sz="1600" b="1">
                <a:solidFill>
                  <a:schemeClr val="tx1"/>
                </a:solidFill>
                <a:latin typeface="Arial" charset="0"/>
              </a:defRPr>
            </a:lvl7pPr>
            <a:lvl8pPr marL="1371600" algn="l" rtl="0" eaLnBrk="1" fontAlgn="base" hangingPunct="1">
              <a:lnSpc>
                <a:spcPct val="106000"/>
              </a:lnSpc>
              <a:spcBef>
                <a:spcPct val="0"/>
              </a:spcBef>
              <a:spcAft>
                <a:spcPct val="0"/>
              </a:spcAft>
              <a:defRPr sz="1600" b="1">
                <a:solidFill>
                  <a:schemeClr val="tx1"/>
                </a:solidFill>
                <a:latin typeface="Arial" charset="0"/>
              </a:defRPr>
            </a:lvl8pPr>
            <a:lvl9pPr marL="1828800" algn="l" rtl="0" eaLnBrk="1" fontAlgn="base" hangingPunct="1">
              <a:lnSpc>
                <a:spcPct val="106000"/>
              </a:lnSpc>
              <a:spcBef>
                <a:spcPct val="0"/>
              </a:spcBef>
              <a:spcAft>
                <a:spcPct val="0"/>
              </a:spcAft>
              <a:defRPr sz="1600" b="1">
                <a:solidFill>
                  <a:schemeClr val="tx1"/>
                </a:solidFill>
                <a:latin typeface="Arial" charset="0"/>
              </a:defRPr>
            </a:lvl9pPr>
          </a:lstStyle>
          <a:p>
            <a:pPr marL="0" marR="0" lvl="0" indent="0" algn="l" defTabSz="914400" rtl="0" eaLnBrk="0" fontAlgn="base" latinLnBrk="0" hangingPunct="0">
              <a:lnSpc>
                <a:spcPct val="106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Rishav Singh</a:t>
            </a:r>
          </a:p>
          <a:p>
            <a:pPr marL="0" marR="0" lvl="0" indent="0" algn="l" defTabSz="914400" rtl="0" eaLnBrk="0" fontAlgn="base" latinLnBrk="0" hangingPunct="0">
              <a:lnSpc>
                <a:spcPct val="106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Executive Director, Deloitte </a:t>
            </a:r>
            <a:r>
              <a:rPr kumimoji="0" lang="en-US" sz="1400" b="0" i="0" u="none" strike="noStrike" kern="1200" cap="none" spc="0" normalizeH="0" baseline="0" noProof="0" err="1">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Touche</a:t>
            </a:r>
            <a:r>
              <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Tohmatsu India LLP</a:t>
            </a:r>
          </a:p>
        </p:txBody>
      </p:sp>
      <p:grpSp>
        <p:nvGrpSpPr>
          <p:cNvPr id="18" name="Group 17">
            <a:extLst>
              <a:ext uri="{FF2B5EF4-FFF2-40B4-BE49-F238E27FC236}">
                <a16:creationId xmlns:a16="http://schemas.microsoft.com/office/drawing/2014/main" id="{E22934C1-DFFC-48CE-A1D2-0BD5C39629A2}"/>
              </a:ext>
            </a:extLst>
          </p:cNvPr>
          <p:cNvGrpSpPr/>
          <p:nvPr/>
        </p:nvGrpSpPr>
        <p:grpSpPr>
          <a:xfrm>
            <a:off x="9089419" y="1046575"/>
            <a:ext cx="2649212" cy="226409"/>
            <a:chOff x="6384510" y="1200125"/>
            <a:chExt cx="3878709" cy="226409"/>
          </a:xfrm>
        </p:grpSpPr>
        <p:cxnSp>
          <p:nvCxnSpPr>
            <p:cNvPr id="20" name="Straight Connector 19">
              <a:extLst>
                <a:ext uri="{FF2B5EF4-FFF2-40B4-BE49-F238E27FC236}">
                  <a16:creationId xmlns:a16="http://schemas.microsoft.com/office/drawing/2014/main" id="{0341D36B-462C-4DDF-AF3A-3F69ADDD0522}"/>
                </a:ext>
              </a:extLst>
            </p:cNvPr>
            <p:cNvCxnSpPr/>
            <p:nvPr/>
          </p:nvCxnSpPr>
          <p:spPr bwMode="auto">
            <a:xfrm>
              <a:off x="6384510" y="1308952"/>
              <a:ext cx="3878709"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7D29F64D-643C-446E-95CC-C810A6B25640}"/>
                </a:ext>
              </a:extLst>
            </p:cNvPr>
            <p:cNvSpPr txBox="1"/>
            <p:nvPr/>
          </p:nvSpPr>
          <p:spPr>
            <a:xfrm>
              <a:off x="6970148" y="1200125"/>
              <a:ext cx="2692976" cy="226409"/>
            </a:xfrm>
            <a:prstGeom prst="rect">
              <a:avLst/>
            </a:prstGeom>
            <a:solidFill>
              <a:schemeClr val="bg1"/>
            </a:solidFill>
          </p:spPr>
          <p:txBody>
            <a:bodyPr wrap="square" rtlCol="0">
              <a:spAutoFit/>
            </a:bodyPr>
            <a:lstStyle/>
            <a:p>
              <a:pPr marL="1588" marR="0" lvl="0" indent="0" algn="ctr" defTabSz="914400" rtl="0" eaLnBrk="1" fontAlgn="base" latinLnBrk="0" hangingPunct="1">
                <a:lnSpc>
                  <a:spcPct val="106000"/>
                </a:lnSpc>
                <a:spcBef>
                  <a:spcPct val="80000"/>
                </a:spcBef>
                <a:spcAft>
                  <a:spcPct val="0"/>
                </a:spcAft>
                <a:buClr>
                  <a:srgbClr val="000000"/>
                </a:buClr>
                <a:buSzTx/>
                <a:buFontTx/>
                <a:buNone/>
                <a:tabLst/>
                <a:defRPr/>
              </a:pPr>
              <a:r>
                <a:rPr kumimoji="0" lang="en-US" sz="9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Subject Matter Expertise</a:t>
              </a:r>
            </a:p>
          </p:txBody>
        </p:sp>
      </p:grpSp>
      <p:sp>
        <p:nvSpPr>
          <p:cNvPr id="19" name="Rectangle 12">
            <a:extLst>
              <a:ext uri="{FF2B5EF4-FFF2-40B4-BE49-F238E27FC236}">
                <a16:creationId xmlns:a16="http://schemas.microsoft.com/office/drawing/2014/main" id="{7426BBBC-32CD-4E28-8650-87B86355E9C0}"/>
              </a:ext>
            </a:extLst>
          </p:cNvPr>
          <p:cNvSpPr>
            <a:spLocks noChangeArrowheads="1"/>
          </p:cNvSpPr>
          <p:nvPr/>
        </p:nvSpPr>
        <p:spPr bwMode="auto">
          <a:xfrm>
            <a:off x="9089419" y="1193956"/>
            <a:ext cx="2691464" cy="1062395"/>
          </a:xfrm>
          <a:prstGeom prst="rect">
            <a:avLst/>
          </a:prstGeom>
          <a:noFill/>
          <a:ln w="9525" algn="ctr">
            <a:noFill/>
            <a:miter lim="800000"/>
            <a:headEnd/>
            <a:tailEnd/>
          </a:ln>
          <a:effectLst>
            <a:outerShdw blurRad="50800" dist="50800" dir="5400000" algn="ctr" rotWithShape="0">
              <a:schemeClr val="bg1"/>
            </a:outerShdw>
          </a:effectLst>
        </p:spPr>
        <p:txBody>
          <a:bodyPr wrap="square" lIns="92002" tIns="46000" rIns="92002" bIns="46000">
            <a:spAutoFit/>
          </a:bodyPr>
          <a:lstStyle/>
          <a:p>
            <a:pPr marL="82064" marR="0" lvl="1" indent="-82064" algn="just" defTabSz="883644" rtl="0" eaLnBrk="0" fontAlgn="auto" latinLnBrk="0" hangingPunct="0">
              <a:lnSpc>
                <a:spcPct val="100000"/>
              </a:lnSpc>
              <a:spcBef>
                <a:spcPts val="0"/>
              </a:spcBef>
              <a:spcAft>
                <a:spcPts val="0"/>
              </a:spcAft>
              <a:buClr>
                <a:prstClr val="black">
                  <a:lumMod val="75000"/>
                  <a:lumOff val="25000"/>
                </a:prstClr>
              </a:buClr>
              <a:buSzTx/>
              <a:buFont typeface="Arial" pitchFamily="34" charset="0"/>
              <a:buChar char="•"/>
              <a:tabLst/>
              <a:defRPr/>
            </a:pPr>
            <a:r>
              <a:rPr lang="en-US" sz="900" kern="0">
                <a:solidFill>
                  <a:prstClr val="black"/>
                </a:solidFill>
                <a:latin typeface="Verdana"/>
                <a:cs typeface="Arial" pitchFamily="34" charset="0"/>
              </a:rPr>
              <a:t>Macro-fiscal Analysis</a:t>
            </a:r>
          </a:p>
          <a:p>
            <a:pPr marL="82064" marR="0" lvl="1" indent="-82064" algn="just" defTabSz="883644" rtl="0" eaLnBrk="0" fontAlgn="auto" latinLnBrk="0" hangingPunct="0">
              <a:lnSpc>
                <a:spcPct val="100000"/>
              </a:lnSpc>
              <a:spcBef>
                <a:spcPts val="0"/>
              </a:spcBef>
              <a:spcAft>
                <a:spcPts val="0"/>
              </a:spcAft>
              <a:buClr>
                <a:prstClr val="black">
                  <a:lumMod val="75000"/>
                  <a:lumOff val="25000"/>
                </a:prstClr>
              </a:buClr>
              <a:buSzTx/>
              <a:buFont typeface="Arial" pitchFamily="34" charset="0"/>
              <a:buChar char="•"/>
              <a:tabLst/>
              <a:defRPr/>
            </a:pPr>
            <a:r>
              <a:rPr lang="en-US" sz="900" kern="0">
                <a:solidFill>
                  <a:prstClr val="black"/>
                </a:solidFill>
                <a:latin typeface="Verdana"/>
                <a:cs typeface="Arial" pitchFamily="34" charset="0"/>
              </a:rPr>
              <a:t>Policy Analysis, Data Analysis</a:t>
            </a:r>
          </a:p>
          <a:p>
            <a:pPr marL="82064" marR="0" lvl="1" indent="-82064" algn="just" defTabSz="883644" rtl="0" eaLnBrk="0" fontAlgn="auto" latinLnBrk="0" hangingPunct="0">
              <a:lnSpc>
                <a:spcPct val="100000"/>
              </a:lnSpc>
              <a:spcBef>
                <a:spcPts val="0"/>
              </a:spcBef>
              <a:spcAft>
                <a:spcPts val="0"/>
              </a:spcAft>
              <a:buClr>
                <a:prstClr val="black">
                  <a:lumMod val="75000"/>
                  <a:lumOff val="25000"/>
                </a:prstClr>
              </a:buClr>
              <a:buSzTx/>
              <a:buFont typeface="Arial" pitchFamily="34" charset="0"/>
              <a:buChar char="•"/>
              <a:tabLst/>
              <a:defRPr/>
            </a:pPr>
            <a:r>
              <a:rPr lang="en-US" sz="900" kern="0">
                <a:solidFill>
                  <a:prstClr val="black"/>
                </a:solidFill>
                <a:latin typeface="Verdana"/>
                <a:cs typeface="Arial" pitchFamily="34" charset="0"/>
              </a:rPr>
              <a:t>Public Finance Reforms</a:t>
            </a:r>
          </a:p>
          <a:p>
            <a:pPr marL="82064" marR="0" lvl="1" indent="-82064" algn="just" defTabSz="883644" rtl="0" eaLnBrk="0" fontAlgn="auto" latinLnBrk="0" hangingPunct="0">
              <a:lnSpc>
                <a:spcPct val="100000"/>
              </a:lnSpc>
              <a:spcBef>
                <a:spcPts val="0"/>
              </a:spcBef>
              <a:spcAft>
                <a:spcPts val="0"/>
              </a:spcAft>
              <a:buClr>
                <a:prstClr val="black">
                  <a:lumMod val="75000"/>
                  <a:lumOff val="25000"/>
                </a:prstClr>
              </a:buClr>
              <a:buSzTx/>
              <a:buFont typeface="Arial" pitchFamily="34" charset="0"/>
              <a:buChar char="•"/>
              <a:tabLst/>
              <a:defRPr/>
            </a:pPr>
            <a:r>
              <a:rPr lang="en-US" sz="900" kern="0">
                <a:solidFill>
                  <a:prstClr val="black"/>
                </a:solidFill>
                <a:latin typeface="Verdana"/>
                <a:cs typeface="Arial" pitchFamily="34" charset="0"/>
              </a:rPr>
              <a:t>Risk &amp; Compliance Management</a:t>
            </a:r>
          </a:p>
          <a:p>
            <a:pPr marL="82064" marR="0" lvl="1" indent="-82064" algn="just" defTabSz="883644" rtl="0" eaLnBrk="0" fontAlgn="auto" latinLnBrk="0" hangingPunct="0">
              <a:lnSpc>
                <a:spcPct val="100000"/>
              </a:lnSpc>
              <a:spcBef>
                <a:spcPts val="0"/>
              </a:spcBef>
              <a:spcAft>
                <a:spcPts val="0"/>
              </a:spcAft>
              <a:buClr>
                <a:prstClr val="black">
                  <a:lumMod val="75000"/>
                  <a:lumOff val="25000"/>
                </a:prstClr>
              </a:buClr>
              <a:buSzTx/>
              <a:buFont typeface="Arial" pitchFamily="34" charset="0"/>
              <a:buChar char="•"/>
              <a:tabLst/>
              <a:defRPr/>
            </a:pPr>
            <a:r>
              <a:rPr lang="en-US" sz="900" kern="0">
                <a:solidFill>
                  <a:prstClr val="black"/>
                </a:solidFill>
                <a:latin typeface="Verdana"/>
                <a:cs typeface="Arial" pitchFamily="34" charset="0"/>
              </a:rPr>
              <a:t>Project Management</a:t>
            </a:r>
          </a:p>
          <a:p>
            <a:pPr marL="82064" marR="0" lvl="1" indent="-82064" algn="just" defTabSz="883644" rtl="0" eaLnBrk="0" fontAlgn="auto" latinLnBrk="0" hangingPunct="0">
              <a:lnSpc>
                <a:spcPct val="100000"/>
              </a:lnSpc>
              <a:spcBef>
                <a:spcPts val="0"/>
              </a:spcBef>
              <a:spcAft>
                <a:spcPts val="0"/>
              </a:spcAft>
              <a:buClr>
                <a:prstClr val="black">
                  <a:lumMod val="75000"/>
                  <a:lumOff val="25000"/>
                </a:prstClr>
              </a:buClr>
              <a:buSzTx/>
              <a:buFont typeface="Arial" pitchFamily="34" charset="0"/>
              <a:buChar char="•"/>
              <a:tabLst/>
              <a:defRPr/>
            </a:pPr>
            <a:r>
              <a:rPr lang="en-US" sz="900" kern="0">
                <a:solidFill>
                  <a:prstClr val="black"/>
                </a:solidFill>
                <a:latin typeface="Verdana"/>
                <a:cs typeface="Arial" pitchFamily="34" charset="0"/>
              </a:rPr>
              <a:t>Tax Policy, Tax Administration</a:t>
            </a:r>
          </a:p>
          <a:p>
            <a:pPr marL="82064" marR="0" lvl="1" indent="-82064" algn="just" defTabSz="883644" rtl="0" eaLnBrk="0" fontAlgn="auto" latinLnBrk="0" hangingPunct="0">
              <a:lnSpc>
                <a:spcPct val="100000"/>
              </a:lnSpc>
              <a:spcBef>
                <a:spcPts val="0"/>
              </a:spcBef>
              <a:spcAft>
                <a:spcPts val="0"/>
              </a:spcAft>
              <a:buClr>
                <a:prstClr val="black">
                  <a:lumMod val="75000"/>
                  <a:lumOff val="25000"/>
                </a:prstClr>
              </a:buClr>
              <a:buSzTx/>
              <a:buFont typeface="Arial" pitchFamily="34" charset="0"/>
              <a:buChar char="•"/>
              <a:tabLst/>
              <a:defRPr/>
            </a:pPr>
            <a:r>
              <a:rPr lang="en-US" sz="900" kern="0">
                <a:solidFill>
                  <a:prstClr val="black"/>
                </a:solidFill>
                <a:latin typeface="Verdana"/>
                <a:cs typeface="Arial" pitchFamily="34" charset="0"/>
              </a:rPr>
              <a:t>Debt Management</a:t>
            </a:r>
            <a:endParaRPr kumimoji="0" lang="en-US" sz="900" b="0" i="0" u="none" strike="noStrike" kern="1200" cap="none" spc="0" normalizeH="0" baseline="0" noProof="0">
              <a:ln>
                <a:noFill/>
              </a:ln>
              <a:solidFill>
                <a:prstClr val="black"/>
              </a:solidFill>
              <a:effectLst/>
              <a:uLnTx/>
              <a:uFillTx/>
              <a:latin typeface="Verdana"/>
              <a:ea typeface="Verdana" panose="020B0604030504040204" pitchFamily="34" charset="0"/>
              <a:cs typeface="Verdana" panose="020B0604030504040204" pitchFamily="34" charset="0"/>
            </a:endParaRPr>
          </a:p>
        </p:txBody>
      </p:sp>
      <p:sp>
        <p:nvSpPr>
          <p:cNvPr id="35" name="Rectangle 12">
            <a:extLst>
              <a:ext uri="{FF2B5EF4-FFF2-40B4-BE49-F238E27FC236}">
                <a16:creationId xmlns:a16="http://schemas.microsoft.com/office/drawing/2014/main" id="{530D1B5A-12FB-4389-8B87-68B69AB2E100}"/>
              </a:ext>
            </a:extLst>
          </p:cNvPr>
          <p:cNvSpPr>
            <a:spLocks noChangeArrowheads="1"/>
          </p:cNvSpPr>
          <p:nvPr/>
        </p:nvSpPr>
        <p:spPr bwMode="auto">
          <a:xfrm>
            <a:off x="468922" y="2530311"/>
            <a:ext cx="11280313" cy="4086299"/>
          </a:xfrm>
          <a:prstGeom prst="rect">
            <a:avLst/>
          </a:prstGeom>
          <a:noFill/>
          <a:ln w="9525" algn="ctr">
            <a:noFill/>
            <a:miter lim="800000"/>
            <a:headEnd/>
            <a:tailEnd/>
          </a:ln>
          <a:effectLst>
            <a:outerShdw blurRad="50800" dist="50800" dir="5400000" algn="ctr" rotWithShape="0">
              <a:schemeClr val="bg1"/>
            </a:outerShdw>
          </a:effectLst>
        </p:spPr>
        <p:txBody>
          <a:bodyPr wrap="square" lIns="92002" tIns="46000" rIns="0" bIns="46000">
            <a:spAutoFit/>
          </a:bodyPr>
          <a:lstStyle/>
          <a:p>
            <a:pPr algn="just" defTabSz="913521">
              <a:spcAft>
                <a:spcPts val="300"/>
              </a:spcAft>
              <a:defRPr/>
            </a:pPr>
            <a:r>
              <a:rPr kumimoji="0" lang="en-US" sz="900" b="0" i="0" u="none" strike="noStrike" kern="1200" cap="none" spc="0" normalizeH="0" baseline="0" noProof="0">
                <a:ln>
                  <a:noFill/>
                </a:ln>
                <a:effectLst/>
                <a:uLnTx/>
                <a:uFillTx/>
                <a:ea typeface="Verdana"/>
                <a:cs typeface="Verdana" panose="020B0604030504040204" pitchFamily="34" charset="0"/>
              </a:rPr>
              <a:t>Rishav is an Executive Director with the Public Finance Practice of Deloitte India with more than </a:t>
            </a:r>
            <a:r>
              <a:rPr kumimoji="0" lang="en-US" sz="900" b="1" i="0" u="none" strike="noStrike" kern="1200" cap="none" spc="0" normalizeH="0" baseline="0" noProof="0">
                <a:ln>
                  <a:noFill/>
                </a:ln>
                <a:effectLst/>
                <a:uLnTx/>
                <a:uFillTx/>
                <a:ea typeface="Verdana"/>
                <a:cs typeface="Verdana" panose="020B0604030504040204" pitchFamily="34" charset="0"/>
              </a:rPr>
              <a:t>15 years </a:t>
            </a:r>
            <a:r>
              <a:rPr kumimoji="0" lang="en-US" sz="900" b="0" i="0" u="none" strike="noStrike" kern="1200" cap="none" spc="0" normalizeH="0" baseline="0" noProof="0">
                <a:ln>
                  <a:noFill/>
                </a:ln>
                <a:effectLst/>
                <a:uLnTx/>
                <a:uFillTx/>
                <a:ea typeface="Verdana"/>
                <a:cs typeface="Verdana" panose="020B0604030504040204" pitchFamily="34" charset="0"/>
              </a:rPr>
              <a:t>of professional experience in </a:t>
            </a:r>
            <a:r>
              <a:rPr kumimoji="0" lang="en-US" sz="900" b="1" i="0" u="none" strike="noStrike" kern="1200" cap="none" spc="0" normalizeH="0" baseline="0" noProof="0">
                <a:ln>
                  <a:noFill/>
                </a:ln>
                <a:effectLst/>
                <a:uLnTx/>
                <a:uFillTx/>
                <a:ea typeface="Verdana"/>
                <a:cs typeface="Verdana" panose="020B0604030504040204" pitchFamily="34" charset="0"/>
              </a:rPr>
              <a:t>Government Consulting. </a:t>
            </a:r>
            <a:r>
              <a:rPr lang="en-US" sz="900">
                <a:ea typeface="Verdana"/>
                <a:cs typeface="Verdana" panose="020B0604030504040204" pitchFamily="34" charset="0"/>
              </a:rPr>
              <a:t>He has </a:t>
            </a:r>
            <a:r>
              <a:rPr kumimoji="0" lang="en-US" sz="900" b="0" i="0" u="none" strike="noStrike" kern="1200" cap="none" spc="0" normalizeH="0" baseline="0" noProof="0">
                <a:ln>
                  <a:noFill/>
                </a:ln>
                <a:effectLst/>
                <a:uLnTx/>
                <a:uFillTx/>
                <a:ea typeface="Verdana"/>
                <a:cs typeface="Verdana" panose="020B0604030504040204" pitchFamily="34" charset="0"/>
              </a:rPr>
              <a:t>worked for </a:t>
            </a:r>
            <a:r>
              <a:rPr kumimoji="0" lang="en-US" sz="900" b="1" i="0" u="none" strike="noStrike" kern="1200" cap="none" spc="0" normalizeH="0" baseline="0" noProof="0">
                <a:ln>
                  <a:noFill/>
                </a:ln>
                <a:effectLst/>
                <a:uLnTx/>
                <a:uFillTx/>
                <a:ea typeface="Verdana"/>
                <a:cs typeface="Verdana" panose="020B0604030504040204" pitchFamily="34" charset="0"/>
              </a:rPr>
              <a:t>bilateral/ multilateral funded projects </a:t>
            </a:r>
            <a:r>
              <a:rPr kumimoji="0" lang="en-US" sz="900" b="0" i="0" u="none" strike="noStrike" kern="1200" cap="none" spc="0" normalizeH="0" baseline="0" noProof="0">
                <a:ln>
                  <a:noFill/>
                </a:ln>
                <a:effectLst/>
                <a:uLnTx/>
                <a:uFillTx/>
                <a:ea typeface="Verdana"/>
                <a:cs typeface="Verdana" panose="020B0604030504040204" pitchFamily="34" charset="0"/>
              </a:rPr>
              <a:t>for DFID, World Bank and ADB especially in the area of </a:t>
            </a:r>
            <a:r>
              <a:rPr kumimoji="0" lang="en-US" sz="900" b="1" i="0" u="none" strike="noStrike" kern="1200" cap="none" spc="0" normalizeH="0" baseline="0" noProof="0">
                <a:ln>
                  <a:noFill/>
                </a:ln>
                <a:effectLst/>
                <a:uLnTx/>
                <a:uFillTx/>
                <a:ea typeface="Verdana"/>
                <a:cs typeface="Verdana" panose="020B0604030504040204" pitchFamily="34" charset="0"/>
              </a:rPr>
              <a:t>economic development</a:t>
            </a:r>
            <a:r>
              <a:rPr kumimoji="0" lang="en-US" sz="900" b="0" i="0" u="none" strike="noStrike" kern="1200" cap="none" spc="0" normalizeH="0" baseline="0" noProof="0">
                <a:ln>
                  <a:noFill/>
                </a:ln>
                <a:effectLst/>
                <a:uLnTx/>
                <a:uFillTx/>
                <a:ea typeface="Verdana"/>
                <a:cs typeface="Verdana" panose="020B0604030504040204" pitchFamily="34" charset="0"/>
              </a:rPr>
              <a:t>, </a:t>
            </a:r>
            <a:r>
              <a:rPr kumimoji="0" lang="en-US" sz="900" b="1" i="0" u="none" strike="noStrike" kern="1200" cap="none" spc="0" normalizeH="0" baseline="0" noProof="0">
                <a:ln>
                  <a:noFill/>
                </a:ln>
                <a:effectLst/>
                <a:uLnTx/>
                <a:uFillTx/>
                <a:ea typeface="Verdana"/>
                <a:cs typeface="Verdana" panose="020B0604030504040204" pitchFamily="34" charset="0"/>
              </a:rPr>
              <a:t>gender budgeting</a:t>
            </a:r>
            <a:r>
              <a:rPr kumimoji="0" lang="en-US" sz="900" b="0" i="0" u="none" strike="noStrike" kern="1200" cap="none" spc="0" normalizeH="0" baseline="0" noProof="0">
                <a:ln>
                  <a:noFill/>
                </a:ln>
                <a:effectLst/>
                <a:uLnTx/>
                <a:uFillTx/>
                <a:ea typeface="Verdana"/>
                <a:cs typeface="Verdana" panose="020B0604030504040204" pitchFamily="34" charset="0"/>
              </a:rPr>
              <a:t>, </a:t>
            </a:r>
            <a:r>
              <a:rPr kumimoji="0" lang="en-US" sz="900" b="1" i="0" u="none" strike="noStrike" kern="1200" cap="none" spc="0" normalizeH="0" baseline="0" noProof="0">
                <a:ln>
                  <a:noFill/>
                </a:ln>
                <a:effectLst/>
                <a:uLnTx/>
                <a:uFillTx/>
                <a:ea typeface="Verdana"/>
                <a:cs typeface="Verdana" panose="020B0604030504040204" pitchFamily="34" charset="0"/>
              </a:rPr>
              <a:t>Macro fiscal modelling</a:t>
            </a:r>
            <a:r>
              <a:rPr kumimoji="0" lang="en-US" sz="900" b="0" i="0" u="none" strike="noStrike" kern="1200" cap="none" spc="0" normalizeH="0" baseline="0" noProof="0">
                <a:ln>
                  <a:noFill/>
                </a:ln>
                <a:effectLst/>
                <a:uLnTx/>
                <a:uFillTx/>
                <a:ea typeface="Verdana"/>
                <a:cs typeface="Verdana" panose="020B0604030504040204" pitchFamily="34" charset="0"/>
              </a:rPr>
              <a:t>, </a:t>
            </a:r>
            <a:r>
              <a:rPr kumimoji="0" lang="en-US" sz="900" b="1" i="0" u="none" strike="noStrike" kern="1200" cap="none" spc="0" normalizeH="0" baseline="0" noProof="0">
                <a:ln>
                  <a:noFill/>
                </a:ln>
                <a:effectLst/>
                <a:uLnTx/>
                <a:uFillTx/>
                <a:ea typeface="Verdana"/>
                <a:cs typeface="Verdana" panose="020B0604030504040204" pitchFamily="34" charset="0"/>
              </a:rPr>
              <a:t>assessing correlation between sectors and GDP</a:t>
            </a:r>
            <a:r>
              <a:rPr kumimoji="0" lang="en-US" sz="900" b="0" i="0" u="none" strike="noStrike" kern="1200" cap="none" spc="0" normalizeH="0" baseline="0" noProof="0">
                <a:ln>
                  <a:noFill/>
                </a:ln>
                <a:effectLst/>
                <a:uLnTx/>
                <a:uFillTx/>
                <a:ea typeface="Verdana"/>
                <a:cs typeface="Verdana" panose="020B0604030504040204" pitchFamily="34" charset="0"/>
              </a:rPr>
              <a:t>, </a:t>
            </a:r>
            <a:r>
              <a:rPr kumimoji="0" lang="en-US" sz="900" b="1" i="0" u="none" strike="noStrike" kern="1200" cap="none" spc="0" normalizeH="0" baseline="0" noProof="0">
                <a:ln>
                  <a:noFill/>
                </a:ln>
                <a:effectLst/>
                <a:uLnTx/>
                <a:uFillTx/>
                <a:ea typeface="Verdana"/>
                <a:cs typeface="Verdana" panose="020B0604030504040204" pitchFamily="34" charset="0"/>
              </a:rPr>
              <a:t>outcome budgeting</a:t>
            </a:r>
            <a:r>
              <a:rPr kumimoji="0" lang="en-US" sz="900" b="0" i="0" u="none" strike="noStrike" kern="1200" cap="none" spc="0" normalizeH="0" baseline="0" noProof="0">
                <a:ln>
                  <a:noFill/>
                </a:ln>
                <a:effectLst/>
                <a:uLnTx/>
                <a:uFillTx/>
                <a:ea typeface="Verdana"/>
                <a:cs typeface="Verdana" panose="020B0604030504040204" pitchFamily="34" charset="0"/>
              </a:rPr>
              <a:t>, debt management reforms, procurement reforms and Fundamental Rules and Pension Rules management.</a:t>
            </a:r>
            <a:r>
              <a:rPr lang="en-US" sz="900">
                <a:ea typeface="Verdana"/>
                <a:cs typeface="Verdana" panose="020B0604030504040204" pitchFamily="34" charset="0"/>
              </a:rPr>
              <a:t> Rishav  is currently working on an </a:t>
            </a:r>
            <a:r>
              <a:rPr lang="en-US" sz="900" b="1">
                <a:ea typeface="Verdana"/>
                <a:cs typeface="Verdana" panose="020B0604030504040204" pitchFamily="34" charset="0"/>
              </a:rPr>
              <a:t>economic growth </a:t>
            </a:r>
            <a:r>
              <a:rPr lang="en-US" sz="900">
                <a:ea typeface="Verdana"/>
                <a:cs typeface="Verdana" panose="020B0604030504040204" pitchFamily="34" charset="0"/>
              </a:rPr>
              <a:t>and </a:t>
            </a:r>
            <a:r>
              <a:rPr lang="en-US" sz="900" b="1">
                <a:ea typeface="Verdana"/>
                <a:cs typeface="Verdana" panose="020B0604030504040204" pitchFamily="34" charset="0"/>
              </a:rPr>
              <a:t>transformation</a:t>
            </a:r>
            <a:r>
              <a:rPr lang="en-US" sz="900">
                <a:ea typeface="Verdana"/>
                <a:cs typeface="Verdana" panose="020B0604030504040204" pitchFamily="34" charset="0"/>
              </a:rPr>
              <a:t> project with the Government of Uttar Pradesh, India. Rishav is leading the module on </a:t>
            </a:r>
            <a:r>
              <a:rPr lang="en-US" sz="900" b="1">
                <a:ea typeface="Verdana"/>
                <a:cs typeface="Verdana" panose="020B0604030504040204" pitchFamily="34" charset="0"/>
              </a:rPr>
              <a:t>macro fiscal analysis </a:t>
            </a:r>
            <a:r>
              <a:rPr lang="en-US" sz="900">
                <a:ea typeface="Verdana"/>
                <a:cs typeface="Verdana" panose="020B0604030504040204" pitchFamily="34" charset="0"/>
              </a:rPr>
              <a:t>and </a:t>
            </a:r>
            <a:r>
              <a:rPr lang="en-US" sz="900" b="1">
                <a:ea typeface="Verdana"/>
                <a:cs typeface="Verdana" panose="020B0604030504040204" pitchFamily="34" charset="0"/>
              </a:rPr>
              <a:t>revenue augmentation</a:t>
            </a:r>
            <a:r>
              <a:rPr lang="en-US" sz="900">
                <a:ea typeface="Verdana"/>
                <a:cs typeface="Verdana" panose="020B0604030504040204" pitchFamily="34" charset="0"/>
              </a:rPr>
              <a:t>. This includes analysis of the </a:t>
            </a:r>
            <a:r>
              <a:rPr lang="en-US" sz="900" b="1">
                <a:ea typeface="Verdana"/>
                <a:cs typeface="Verdana" panose="020B0604030504040204" pitchFamily="34" charset="0"/>
              </a:rPr>
              <a:t>macroeconomic</a:t>
            </a:r>
            <a:r>
              <a:rPr lang="en-US" sz="900">
                <a:ea typeface="Verdana"/>
                <a:cs typeface="Verdana" panose="020B0604030504040204" pitchFamily="34" charset="0"/>
              </a:rPr>
              <a:t> profile of the state, </a:t>
            </a:r>
            <a:r>
              <a:rPr lang="en-US" sz="900" b="1">
                <a:ea typeface="Verdana"/>
                <a:cs typeface="Verdana" panose="020B0604030504040204" pitchFamily="34" charset="0"/>
              </a:rPr>
              <a:t>fiscal analysis </a:t>
            </a:r>
            <a:r>
              <a:rPr lang="en-US" sz="900">
                <a:ea typeface="Verdana"/>
                <a:cs typeface="Verdana" panose="020B0604030504040204" pitchFamily="34" charset="0"/>
              </a:rPr>
              <a:t>and </a:t>
            </a:r>
            <a:r>
              <a:rPr lang="en-US" sz="900" b="1">
                <a:ea typeface="Verdana"/>
                <a:cs typeface="Verdana" panose="020B0604030504040204" pitchFamily="34" charset="0"/>
              </a:rPr>
              <a:t>assessment of the impact of female </a:t>
            </a:r>
            <a:r>
              <a:rPr lang="en-US" sz="900" b="1" err="1">
                <a:ea typeface="Verdana"/>
                <a:cs typeface="Verdana" panose="020B0604030504040204" pitchFamily="34" charset="0"/>
              </a:rPr>
              <a:t>labour</a:t>
            </a:r>
            <a:r>
              <a:rPr lang="en-US" sz="900" b="1">
                <a:ea typeface="Verdana"/>
                <a:cs typeface="Verdana" panose="020B0604030504040204" pitchFamily="34" charset="0"/>
              </a:rPr>
              <a:t> force participation on the economic growth</a:t>
            </a:r>
            <a:r>
              <a:rPr lang="en-US" sz="900">
                <a:ea typeface="Verdana"/>
                <a:cs typeface="Verdana" panose="020B0604030504040204" pitchFamily="34" charset="0"/>
              </a:rPr>
              <a:t>. </a:t>
            </a:r>
            <a:endParaRPr kumimoji="0" lang="en-US" sz="900" b="0" i="0" u="none" strike="noStrike" kern="1200" cap="none" spc="0" normalizeH="0" baseline="0" noProof="0">
              <a:ln>
                <a:noFill/>
              </a:ln>
              <a:effectLst/>
              <a:uLnTx/>
              <a:uFillTx/>
              <a:ea typeface="Verdana"/>
              <a:cs typeface="Verdana" panose="020B0604030504040204" pitchFamily="34" charset="0"/>
            </a:endParaRPr>
          </a:p>
          <a:p>
            <a:pPr marL="0" marR="0" lvl="0" indent="0" algn="just" defTabSz="913521" rtl="0" eaLnBrk="1" fontAlgn="auto" latinLnBrk="0" hangingPunct="1">
              <a:lnSpc>
                <a:spcPct val="100000"/>
              </a:lnSpc>
              <a:spcBef>
                <a:spcPts val="0"/>
              </a:spcBef>
              <a:spcAft>
                <a:spcPts val="300"/>
              </a:spcAft>
              <a:buClrTx/>
              <a:buSzTx/>
              <a:buFontTx/>
              <a:buNone/>
              <a:tabLst/>
              <a:defRPr/>
            </a:pPr>
            <a:endParaRPr kumimoji="0" lang="en-US" sz="900" b="1" i="0" u="none" strike="noStrike" kern="0" cap="none" spc="0" normalizeH="0" baseline="0" noProof="0">
              <a:ln>
                <a:noFill/>
              </a:ln>
              <a:solidFill>
                <a:prstClr val="black"/>
              </a:solidFill>
              <a:effectLst/>
              <a:uLnTx/>
              <a:uFillTx/>
              <a:latin typeface="Verdana"/>
              <a:ea typeface="+mn-ea"/>
              <a:cs typeface="Arial" charset="0"/>
            </a:endParaRPr>
          </a:p>
          <a:p>
            <a:pPr marL="0" marR="0" lvl="0" indent="0" algn="just" defTabSz="913521" rtl="0" eaLnBrk="1" fontAlgn="auto" latinLnBrk="0" hangingPunct="1">
              <a:lnSpc>
                <a:spcPct val="100000"/>
              </a:lnSpc>
              <a:spcBef>
                <a:spcPts val="0"/>
              </a:spcBef>
              <a:spcAft>
                <a:spcPts val="300"/>
              </a:spcAft>
              <a:buClrTx/>
              <a:buSzTx/>
              <a:buFontTx/>
              <a:buNone/>
              <a:tabLst/>
              <a:defRPr/>
            </a:pPr>
            <a:r>
              <a:rPr kumimoji="0" lang="en-US" sz="900" b="1" i="0" u="none" strike="noStrike" kern="0" cap="none" spc="0" normalizeH="0" baseline="0" noProof="0">
                <a:ln>
                  <a:noFill/>
                </a:ln>
                <a:solidFill>
                  <a:prstClr val="black"/>
                </a:solidFill>
                <a:effectLst/>
                <a:uLnTx/>
                <a:uFillTx/>
                <a:latin typeface="Verdana"/>
                <a:ea typeface="+mn-ea"/>
                <a:cs typeface="Arial" charset="0"/>
              </a:rPr>
              <a:t>Relevant experience</a:t>
            </a:r>
          </a:p>
          <a:p>
            <a:pPr marL="133017" lvl="1" indent="-133017" algn="just" defTabSz="945878" fontAlgn="base">
              <a:buSzPct val="100000"/>
              <a:buFont typeface="Arial" panose="020B0604020202020204" pitchFamily="34" charset="0"/>
              <a:buChar char="•"/>
              <a:defRPr/>
            </a:pPr>
            <a:r>
              <a:rPr lang="en-US" sz="900">
                <a:solidFill>
                  <a:srgbClr val="000000"/>
                </a:solidFill>
                <a:latin typeface="+mj-lt"/>
                <a:ea typeface="Verdana" panose="020B0604030504040204" pitchFamily="34" charset="0"/>
                <a:cs typeface="Arial" panose="020B0604020202020204" pitchFamily="34" charset="0"/>
              </a:rPr>
              <a:t>Guiding the team in implementation of large-scale reform project of boosting up the size of </a:t>
            </a:r>
            <a:r>
              <a:rPr lang="en-US" sz="900" b="1">
                <a:solidFill>
                  <a:srgbClr val="000000"/>
                </a:solidFill>
                <a:latin typeface="+mj-lt"/>
                <a:ea typeface="Verdana" panose="020B0604030504040204" pitchFamily="34" charset="0"/>
                <a:cs typeface="Arial" panose="020B0604020202020204" pitchFamily="34" charset="0"/>
              </a:rPr>
              <a:t>Gross State Domestic Product (GSDP) of Uttar Pradesh to One Trillion Dollar in five years</a:t>
            </a:r>
            <a:r>
              <a:rPr lang="en-US" sz="900">
                <a:solidFill>
                  <a:srgbClr val="000000"/>
                </a:solidFill>
                <a:latin typeface="+mj-lt"/>
                <a:ea typeface="Verdana" panose="020B0604030504040204" pitchFamily="34" charset="0"/>
                <a:cs typeface="Arial" panose="020B0604020202020204" pitchFamily="34" charset="0"/>
              </a:rPr>
              <a:t>. </a:t>
            </a:r>
            <a:r>
              <a:rPr lang="en-US" sz="900">
                <a:effectLst/>
                <a:latin typeface="Verdana" panose="020B0604030504040204" pitchFamily="34" charset="0"/>
                <a:ea typeface="Verdana" panose="020B0604030504040204" pitchFamily="34" charset="0"/>
                <a:cs typeface="Arial" panose="020B0604020202020204" pitchFamily="34" charset="0"/>
              </a:rPr>
              <a:t>Performed critical analysis </a:t>
            </a:r>
            <a:r>
              <a:rPr lang="en-US" sz="900">
                <a:solidFill>
                  <a:srgbClr val="000000"/>
                </a:solidFill>
                <a:effectLst/>
                <a:latin typeface="Verdana" panose="020B0604030504040204" pitchFamily="34" charset="0"/>
                <a:ea typeface="Calibri" panose="020F0502020204030204" pitchFamily="34" charset="0"/>
                <a:cs typeface="Arial" panose="020B0604020202020204" pitchFamily="34" charset="0"/>
              </a:rPr>
              <a:t>of </a:t>
            </a:r>
            <a:r>
              <a:rPr lang="en-US" sz="900" b="1">
                <a:solidFill>
                  <a:srgbClr val="000000"/>
                </a:solidFill>
                <a:effectLst/>
                <a:latin typeface="Verdana" panose="020B0604030504040204" pitchFamily="34" charset="0"/>
                <a:ea typeface="Calibri" panose="020F0502020204030204" pitchFamily="34" charset="0"/>
                <a:cs typeface="Arial" panose="020B0604020202020204" pitchFamily="34" charset="0"/>
              </a:rPr>
              <a:t>macro and micro economic sectoral data </a:t>
            </a:r>
            <a:r>
              <a:rPr lang="en-US" sz="900">
                <a:solidFill>
                  <a:srgbClr val="000000"/>
                </a:solidFill>
                <a:effectLst/>
                <a:latin typeface="Verdana" panose="020B0604030504040204" pitchFamily="34" charset="0"/>
                <a:ea typeface="Calibri" panose="020F0502020204030204" pitchFamily="34" charset="0"/>
                <a:cs typeface="Arial" panose="020B0604020202020204" pitchFamily="34" charset="0"/>
              </a:rPr>
              <a:t>around GSDP, </a:t>
            </a:r>
            <a:r>
              <a:rPr lang="en-US" sz="900" b="1">
                <a:solidFill>
                  <a:srgbClr val="000000"/>
                </a:solidFill>
                <a:effectLst/>
                <a:latin typeface="Verdana" panose="020B0604030504040204" pitchFamily="34" charset="0"/>
                <a:ea typeface="Calibri" panose="020F0502020204030204" pitchFamily="34" charset="0"/>
                <a:cs typeface="Arial" panose="020B0604020202020204" pitchFamily="34" charset="0"/>
              </a:rPr>
              <a:t>trade, investment, expenditure, saving, workforce participation, inflation, import and export </a:t>
            </a:r>
            <a:r>
              <a:rPr lang="en-US" sz="900">
                <a:solidFill>
                  <a:srgbClr val="000000"/>
                </a:solidFill>
                <a:effectLst/>
                <a:latin typeface="Verdana" panose="020B0604030504040204" pitchFamily="34" charset="0"/>
                <a:ea typeface="Calibri" panose="020F0502020204030204" pitchFamily="34" charset="0"/>
                <a:cs typeface="Arial" panose="020B0604020202020204" pitchFamily="34" charset="0"/>
              </a:rPr>
              <a:t>in the State. Analyzed the status and recent trends to </a:t>
            </a:r>
            <a:r>
              <a:rPr lang="en-US" sz="900" b="1">
                <a:solidFill>
                  <a:srgbClr val="000000"/>
                </a:solidFill>
                <a:effectLst/>
                <a:latin typeface="Verdana" panose="020B0604030504040204" pitchFamily="34" charset="0"/>
                <a:ea typeface="Calibri" panose="020F0502020204030204" pitchFamily="34" charset="0"/>
                <a:cs typeface="Arial" panose="020B0604020202020204" pitchFamily="34" charset="0"/>
              </a:rPr>
              <a:t>determine multipliers between sectoral growth and impact on the GSDP</a:t>
            </a:r>
            <a:r>
              <a:rPr lang="en-US" sz="900">
                <a:solidFill>
                  <a:srgbClr val="000000"/>
                </a:solidFill>
                <a:effectLst/>
                <a:latin typeface="Verdana" panose="020B0604030504040204" pitchFamily="34" charset="0"/>
                <a:ea typeface="Calibri" panose="020F0502020204030204" pitchFamily="34" charset="0"/>
                <a:cs typeface="Arial" panose="020B0604020202020204" pitchFamily="34" charset="0"/>
              </a:rPr>
              <a:t>; and </a:t>
            </a:r>
            <a:r>
              <a:rPr lang="en-US" sz="900" b="1">
                <a:solidFill>
                  <a:srgbClr val="000000"/>
                </a:solidFill>
                <a:effectLst/>
                <a:latin typeface="Verdana" panose="020B0604030504040204" pitchFamily="34" charset="0"/>
                <a:ea typeface="Calibri" panose="020F0502020204030204" pitchFamily="34" charset="0"/>
                <a:cs typeface="Arial" panose="020B0604020202020204" pitchFamily="34" charset="0"/>
              </a:rPr>
              <a:t>assign targets and how to achieve them for each sector</a:t>
            </a:r>
            <a:r>
              <a:rPr lang="en-US" sz="900">
                <a:solidFill>
                  <a:srgbClr val="000000"/>
                </a:solidFill>
                <a:latin typeface="Verdana" panose="020B0604030504040204" pitchFamily="34" charset="0"/>
                <a:ea typeface="Calibri" panose="020F0502020204030204" pitchFamily="34" charset="0"/>
                <a:cs typeface="Arial" panose="020B0604020202020204" pitchFamily="34" charset="0"/>
              </a:rPr>
              <a:t>.</a:t>
            </a:r>
            <a:r>
              <a:rPr lang="en-US" sz="900">
                <a:solidFill>
                  <a:srgbClr val="000000"/>
                </a:solidFill>
                <a:effectLst/>
                <a:latin typeface="Verdana" panose="020B0604030504040204" pitchFamily="34" charset="0"/>
                <a:ea typeface="Calibri" panose="020F0502020204030204" pitchFamily="34" charset="0"/>
                <a:cs typeface="Arial" panose="020B0604020202020204" pitchFamily="34" charset="0"/>
              </a:rPr>
              <a:t> Designed robust methodologies </a:t>
            </a:r>
            <a:r>
              <a:rPr lang="en-US" sz="900" b="1">
                <a:solidFill>
                  <a:srgbClr val="000000"/>
                </a:solidFill>
                <a:effectLst/>
                <a:latin typeface="Verdana" panose="020B0604030504040204" pitchFamily="34" charset="0"/>
                <a:ea typeface="Calibri" panose="020F0502020204030204" pitchFamily="34" charset="0"/>
                <a:cs typeface="Arial" panose="020B0604020202020204" pitchFamily="34" charset="0"/>
              </a:rPr>
              <a:t>on potential social impact of each proposed intervention</a:t>
            </a:r>
            <a:r>
              <a:rPr lang="en-US" sz="900">
                <a:solidFill>
                  <a:srgbClr val="000000"/>
                </a:solidFill>
                <a:effectLst/>
                <a:latin typeface="Verdana" panose="020B0604030504040204" pitchFamily="34" charset="0"/>
                <a:ea typeface="Calibri" panose="020F0502020204030204" pitchFamily="34" charset="0"/>
                <a:cs typeface="Arial" panose="020B0604020202020204" pitchFamily="34" charset="0"/>
              </a:rPr>
              <a:t>. Currently providing continuous </a:t>
            </a:r>
            <a:r>
              <a:rPr lang="en-US" sz="900" b="1">
                <a:solidFill>
                  <a:srgbClr val="000000"/>
                </a:solidFill>
                <a:effectLst/>
                <a:latin typeface="Verdana" panose="020B0604030504040204" pitchFamily="34" charset="0"/>
                <a:ea typeface="Calibri" panose="020F0502020204030204" pitchFamily="34" charset="0"/>
                <a:cs typeface="Arial" panose="020B0604020202020204" pitchFamily="34" charset="0"/>
              </a:rPr>
              <a:t>technical handholding support </a:t>
            </a:r>
            <a:r>
              <a:rPr lang="en-US" sz="900">
                <a:solidFill>
                  <a:srgbClr val="000000"/>
                </a:solidFill>
                <a:effectLst/>
                <a:latin typeface="Verdana" panose="020B0604030504040204" pitchFamily="34" charset="0"/>
                <a:ea typeface="Calibri" panose="020F0502020204030204" pitchFamily="34" charset="0"/>
                <a:cs typeface="Arial" panose="020B0604020202020204" pitchFamily="34" charset="0"/>
              </a:rPr>
              <a:t>to implementing departments/ agencies to ensure </a:t>
            </a:r>
            <a:r>
              <a:rPr lang="en-US" sz="900" b="1">
                <a:solidFill>
                  <a:srgbClr val="000000"/>
                </a:solidFill>
                <a:effectLst/>
                <a:latin typeface="Verdana" panose="020B0604030504040204" pitchFamily="34" charset="0"/>
                <a:ea typeface="Calibri" panose="020F0502020204030204" pitchFamily="34" charset="0"/>
                <a:cs typeface="Arial" panose="020B0604020202020204" pitchFamily="34" charset="0"/>
              </a:rPr>
              <a:t>seamless coordination and delivery </a:t>
            </a:r>
            <a:r>
              <a:rPr lang="en-US" sz="900">
                <a:solidFill>
                  <a:srgbClr val="000000"/>
                </a:solidFill>
                <a:effectLst/>
                <a:latin typeface="Verdana" panose="020B0604030504040204" pitchFamily="34" charset="0"/>
                <a:ea typeface="Calibri" panose="020F0502020204030204" pitchFamily="34" charset="0"/>
                <a:cs typeface="Arial" panose="020B0604020202020204" pitchFamily="34" charset="0"/>
              </a:rPr>
              <a:t>in a time bound manner.</a:t>
            </a:r>
            <a:endParaRPr lang="en-US" sz="900" b="1">
              <a:solidFill>
                <a:srgbClr val="000000"/>
              </a:solidFill>
              <a:latin typeface="+mj-lt"/>
              <a:ea typeface="Verdana" panose="020B0604030504040204" pitchFamily="34" charset="0"/>
              <a:cs typeface="Arial" panose="020B0604020202020204" pitchFamily="34" charset="0"/>
            </a:endParaRPr>
          </a:p>
          <a:p>
            <a:pPr marL="133017" lvl="1" indent="-133017" algn="just" defTabSz="945878" fontAlgn="base">
              <a:buSzPct val="100000"/>
              <a:buFont typeface="Arial" panose="020B0604020202020204" pitchFamily="34" charset="0"/>
              <a:buChar char="•"/>
              <a:defRPr/>
            </a:pPr>
            <a:r>
              <a:rPr lang="en-US" sz="900"/>
              <a:t>Guided the team in analyzing the feasibility and methodology for estimating </a:t>
            </a:r>
            <a:r>
              <a:rPr lang="en-US" sz="900" b="1"/>
              <a:t>Green GSDP for Uttar Pradesh </a:t>
            </a:r>
            <a:r>
              <a:rPr lang="en-US" sz="900"/>
              <a:t>(one of the large state in India)</a:t>
            </a:r>
            <a:endParaRPr lang="en-US" sz="900">
              <a:solidFill>
                <a:srgbClr val="000000"/>
              </a:solidFill>
              <a:latin typeface="+mj-lt"/>
              <a:ea typeface="Verdana" panose="020B0604030504040204" pitchFamily="34" charset="0"/>
              <a:cs typeface="Arial" panose="020B0604020202020204" pitchFamily="34" charset="0"/>
            </a:endParaRPr>
          </a:p>
          <a:p>
            <a:pPr marL="133017" lvl="1" indent="-133017" algn="just" defTabSz="945878" fontAlgn="base">
              <a:buSzPct val="100000"/>
              <a:buFont typeface="Arial" panose="020B0604020202020204" pitchFamily="34" charset="0"/>
              <a:buChar char="•"/>
              <a:defRPr/>
            </a:pPr>
            <a:r>
              <a:rPr lang="en-US" sz="900">
                <a:solidFill>
                  <a:srgbClr val="000000"/>
                </a:solidFill>
                <a:latin typeface="+mj-lt"/>
                <a:ea typeface="Verdana" panose="020B0604030504040204" pitchFamily="34" charset="0"/>
                <a:cs typeface="Arial" panose="020B0604020202020204" pitchFamily="34" charset="0"/>
              </a:rPr>
              <a:t>Build and </a:t>
            </a:r>
            <a:r>
              <a:rPr lang="en-US" sz="900" b="1">
                <a:solidFill>
                  <a:srgbClr val="000000"/>
                </a:solidFill>
                <a:latin typeface="+mj-lt"/>
                <a:ea typeface="Verdana" panose="020B0604030504040204" pitchFamily="34" charset="0"/>
                <a:cs typeface="Arial" panose="020B0604020202020204" pitchFamily="34" charset="0"/>
              </a:rPr>
              <a:t>implementation of Financial Consolidation</a:t>
            </a:r>
            <a:r>
              <a:rPr lang="en-US" sz="900">
                <a:solidFill>
                  <a:srgbClr val="000000"/>
                </a:solidFill>
                <a:latin typeface="+mj-lt"/>
                <a:ea typeface="Verdana" panose="020B0604030504040204" pitchFamily="34" charset="0"/>
                <a:cs typeface="Arial" panose="020B0604020202020204" pitchFamily="34" charset="0"/>
              </a:rPr>
              <a:t> System for Department of Finance, Abu Dhabi </a:t>
            </a:r>
          </a:p>
          <a:p>
            <a:pPr marL="133017" lvl="1" indent="-133017" algn="just" defTabSz="945878" fontAlgn="base">
              <a:buSzPct val="100000"/>
              <a:buFont typeface="Arial" panose="020B0604020202020204" pitchFamily="34" charset="0"/>
              <a:buChar char="•"/>
              <a:defRPr/>
            </a:pPr>
            <a:r>
              <a:rPr lang="en-US" sz="900">
                <a:solidFill>
                  <a:srgbClr val="000000"/>
                </a:solidFill>
                <a:latin typeface="+mj-lt"/>
                <a:ea typeface="Verdana" panose="020B0604030504040204" pitchFamily="34" charset="0"/>
                <a:cs typeface="Arial" panose="020B0604020202020204" pitchFamily="34" charset="0"/>
              </a:rPr>
              <a:t>Supporting the Second West Bengal Development Finance Program, West Bengal -  led the fiscal policy and expenditure reforms for </a:t>
            </a:r>
            <a:r>
              <a:rPr lang="en-US" sz="900" b="1">
                <a:solidFill>
                  <a:srgbClr val="000000"/>
                </a:solidFill>
                <a:latin typeface="+mj-lt"/>
                <a:ea typeface="Verdana" panose="020B0604030504040204" pitchFamily="34" charset="0"/>
                <a:cs typeface="Arial" panose="020B0604020202020204" pitchFamily="34" charset="0"/>
              </a:rPr>
              <a:t>comprehensive fiscal consolidation program </a:t>
            </a:r>
            <a:r>
              <a:rPr lang="en-US" sz="900">
                <a:solidFill>
                  <a:srgbClr val="000000"/>
                </a:solidFill>
                <a:latin typeface="+mj-lt"/>
                <a:ea typeface="Verdana" panose="020B0604030504040204" pitchFamily="34" charset="0"/>
                <a:cs typeface="Arial" panose="020B0604020202020204" pitchFamily="34" charset="0"/>
              </a:rPr>
              <a:t>that aims to </a:t>
            </a:r>
            <a:r>
              <a:rPr lang="en-US" sz="900" b="1">
                <a:solidFill>
                  <a:srgbClr val="000000"/>
                </a:solidFill>
                <a:latin typeface="+mj-lt"/>
                <a:ea typeface="Verdana" panose="020B0604030504040204" pitchFamily="34" charset="0"/>
                <a:cs typeface="Arial" panose="020B0604020202020204" pitchFamily="34" charset="0"/>
              </a:rPr>
              <a:t>generate fiscal savings</a:t>
            </a:r>
            <a:r>
              <a:rPr lang="en-US" sz="900">
                <a:solidFill>
                  <a:srgbClr val="000000"/>
                </a:solidFill>
                <a:latin typeface="+mj-lt"/>
                <a:ea typeface="Verdana" panose="020B0604030504040204" pitchFamily="34" charset="0"/>
                <a:cs typeface="Arial" panose="020B0604020202020204" pitchFamily="34" charset="0"/>
              </a:rPr>
              <a:t>. Required to provide assistance to West Bengal to </a:t>
            </a:r>
            <a:r>
              <a:rPr lang="en-US" sz="900" b="1">
                <a:solidFill>
                  <a:srgbClr val="000000"/>
                </a:solidFill>
                <a:latin typeface="+mj-lt"/>
                <a:ea typeface="Verdana" panose="020B0604030504040204" pitchFamily="34" charset="0"/>
                <a:cs typeface="Arial" panose="020B0604020202020204" pitchFamily="34" charset="0"/>
              </a:rPr>
              <a:t>augment growth enhancing development financing </a:t>
            </a:r>
            <a:r>
              <a:rPr lang="en-US" sz="900">
                <a:solidFill>
                  <a:srgbClr val="000000"/>
                </a:solidFill>
                <a:latin typeface="+mj-lt"/>
                <a:ea typeface="Verdana" panose="020B0604030504040204" pitchFamily="34" charset="0"/>
                <a:cs typeface="Arial" panose="020B0604020202020204" pitchFamily="34" charset="0"/>
              </a:rPr>
              <a:t>and </a:t>
            </a:r>
            <a:r>
              <a:rPr lang="en-US" sz="900" b="1">
                <a:solidFill>
                  <a:srgbClr val="000000"/>
                </a:solidFill>
                <a:latin typeface="+mj-lt"/>
                <a:ea typeface="Verdana" panose="020B0604030504040204" pitchFamily="34" charset="0"/>
                <a:cs typeface="Arial" panose="020B0604020202020204" pitchFamily="34" charset="0"/>
              </a:rPr>
              <a:t>improve delivery of public services</a:t>
            </a:r>
            <a:r>
              <a:rPr lang="en-US" sz="900">
                <a:solidFill>
                  <a:srgbClr val="000000"/>
                </a:solidFill>
                <a:latin typeface="+mj-lt"/>
                <a:ea typeface="Verdana" panose="020B0604030504040204" pitchFamily="34" charset="0"/>
                <a:cs typeface="Arial" panose="020B0604020202020204" pitchFamily="34" charset="0"/>
              </a:rPr>
              <a:t>.</a:t>
            </a:r>
          </a:p>
          <a:p>
            <a:pPr marL="133017" lvl="1" indent="-133017" algn="just" defTabSz="945878" fontAlgn="base">
              <a:buSzPct val="100000"/>
              <a:buFont typeface="Arial" panose="020B0604020202020204" pitchFamily="34" charset="0"/>
              <a:buChar char="•"/>
              <a:defRPr/>
            </a:pPr>
            <a:r>
              <a:rPr lang="en-US" sz="900" b="1">
                <a:solidFill>
                  <a:srgbClr val="000000"/>
                </a:solidFill>
                <a:latin typeface="+mj-lt"/>
                <a:ea typeface="Verdana" panose="020B0604030504040204" pitchFamily="34" charset="0"/>
                <a:cs typeface="Arial" panose="020B0604020202020204" pitchFamily="34" charset="0"/>
              </a:rPr>
              <a:t>Strengthening Decentralized Participative Planning </a:t>
            </a:r>
            <a:r>
              <a:rPr lang="en-US" sz="900">
                <a:solidFill>
                  <a:srgbClr val="000000"/>
                </a:solidFill>
                <a:latin typeface="+mj-lt"/>
                <a:ea typeface="Verdana" panose="020B0604030504040204" pitchFamily="34" charset="0"/>
                <a:cs typeface="Arial" panose="020B0604020202020204" pitchFamily="34" charset="0"/>
              </a:rPr>
              <a:t>in Rajasthan under Strengthening Public Financial Management, Rajasthan</a:t>
            </a:r>
          </a:p>
          <a:p>
            <a:pPr marL="133017" lvl="1" indent="-133017" algn="just" defTabSz="945878" fontAlgn="base">
              <a:buSzPct val="100000"/>
              <a:buFont typeface="Arial" panose="020B0604020202020204" pitchFamily="34" charset="0"/>
              <a:buChar char="•"/>
              <a:defRPr/>
            </a:pPr>
            <a:r>
              <a:rPr lang="en-US" sz="900">
                <a:solidFill>
                  <a:srgbClr val="000000"/>
                </a:solidFill>
                <a:latin typeface="+mj-lt"/>
                <a:ea typeface="Verdana" panose="020B0604030504040204" pitchFamily="34" charset="0"/>
                <a:cs typeface="Arial" panose="020B0604020202020204" pitchFamily="34" charset="0"/>
              </a:rPr>
              <a:t>Preparation of </a:t>
            </a:r>
            <a:r>
              <a:rPr lang="en-US" sz="900" b="1">
                <a:solidFill>
                  <a:srgbClr val="000000"/>
                </a:solidFill>
                <a:latin typeface="+mj-lt"/>
                <a:ea typeface="Verdana" panose="020B0604030504040204" pitchFamily="34" charset="0"/>
                <a:cs typeface="Arial" panose="020B0604020202020204" pitchFamily="34" charset="0"/>
              </a:rPr>
              <a:t>Memorandum for Fifteenth Finance Commission (FFC)</a:t>
            </a:r>
            <a:r>
              <a:rPr lang="en-US" sz="900">
                <a:solidFill>
                  <a:srgbClr val="000000"/>
                </a:solidFill>
                <a:latin typeface="+mj-lt"/>
                <a:ea typeface="Verdana" panose="020B0604030504040204" pitchFamily="34" charset="0"/>
                <a:cs typeface="Arial" panose="020B0604020202020204" pitchFamily="34" charset="0"/>
              </a:rPr>
              <a:t> for Government of West Bengal - </a:t>
            </a:r>
            <a:r>
              <a:rPr lang="en-US" sz="900"/>
              <a:t>Led the team to </a:t>
            </a:r>
            <a:r>
              <a:rPr lang="en-US" sz="900" b="1"/>
              <a:t>analyze the state finances, deficit, and debt levels </a:t>
            </a:r>
            <a:r>
              <a:rPr lang="en-US" sz="900"/>
              <a:t>of Government of West Bengal; Studied the </a:t>
            </a:r>
            <a:r>
              <a:rPr lang="en-US" sz="900" b="1"/>
              <a:t>distribution of previous Finance Commissions </a:t>
            </a:r>
            <a:r>
              <a:rPr lang="en-US" sz="900"/>
              <a:t>between the Union and the states and recommended a criterion/parameter for inter-se distribution on behalf of the government which included social sector including education and health; Performed </a:t>
            </a:r>
            <a:r>
              <a:rPr lang="en-US" sz="900" b="1"/>
              <a:t>analysis of revenue performance </a:t>
            </a:r>
            <a:r>
              <a:rPr lang="en-US" sz="900"/>
              <a:t>of the State.</a:t>
            </a:r>
            <a:endParaRPr lang="en-US" sz="900">
              <a:solidFill>
                <a:srgbClr val="000000"/>
              </a:solidFill>
              <a:latin typeface="+mj-lt"/>
              <a:ea typeface="Verdana" panose="020B0604030504040204" pitchFamily="34" charset="0"/>
              <a:cs typeface="Arial" panose="020B0604020202020204" pitchFamily="34" charset="0"/>
            </a:endParaRPr>
          </a:p>
          <a:p>
            <a:pPr marL="133017" lvl="1" indent="-133017" algn="just" defTabSz="945878" fontAlgn="base">
              <a:buSzPct val="100000"/>
              <a:buFont typeface="Arial" panose="020B0604020202020204" pitchFamily="34" charset="0"/>
              <a:buChar char="•"/>
              <a:defRPr/>
            </a:pPr>
            <a:r>
              <a:rPr lang="en-US" sz="900">
                <a:solidFill>
                  <a:srgbClr val="000000"/>
                </a:solidFill>
                <a:latin typeface="+mj-lt"/>
                <a:ea typeface="Verdana" panose="020B0604030504040204" pitchFamily="34" charset="0"/>
                <a:cs typeface="Arial" panose="020B0604020202020204" pitchFamily="34" charset="0"/>
              </a:rPr>
              <a:t>Preparing Memorandum to Thirteenth Finance Commission for Government of Madhya Pradesh</a:t>
            </a:r>
          </a:p>
          <a:p>
            <a:pPr marL="133017" lvl="1" indent="-133017" algn="just" defTabSz="945878" fontAlgn="base">
              <a:buSzPct val="100000"/>
              <a:buFont typeface="Arial" panose="020B0604020202020204" pitchFamily="34" charset="0"/>
              <a:buChar char="•"/>
              <a:defRPr/>
            </a:pPr>
            <a:r>
              <a:rPr lang="en-US" sz="900">
                <a:effectLst/>
                <a:latin typeface="Verdana" panose="020B0604030504040204" pitchFamily="34" charset="0"/>
                <a:ea typeface="Calibri" panose="020F0502020204030204" pitchFamily="34" charset="0"/>
                <a:cs typeface="Arial" panose="020B0604020202020204" pitchFamily="34" charset="0"/>
              </a:rPr>
              <a:t>Prepared a</a:t>
            </a:r>
            <a:r>
              <a:rPr lang="en-US" sz="900" b="1">
                <a:effectLst/>
                <a:latin typeface="Verdana" panose="020B0604030504040204" pitchFamily="34" charset="0"/>
                <a:ea typeface="Calibri" panose="020F0502020204030204" pitchFamily="34" charset="0"/>
                <a:cs typeface="Arial" panose="020B0604020202020204" pitchFamily="34" charset="0"/>
              </a:rPr>
              <a:t> Medium-term fiscal framework</a:t>
            </a:r>
            <a:r>
              <a:rPr lang="en-US" sz="900">
                <a:effectLst/>
                <a:latin typeface="Verdana" panose="020B0604030504040204" pitchFamily="34" charset="0"/>
                <a:ea typeface="Calibri" panose="020F0502020204030204" pitchFamily="34" charset="0"/>
                <a:cs typeface="Arial" panose="020B0604020202020204" pitchFamily="34" charset="0"/>
              </a:rPr>
              <a:t> for Government of </a:t>
            </a:r>
            <a:r>
              <a:rPr lang="en-US" sz="900">
                <a:latin typeface="Verdana" panose="020B0604030504040204" pitchFamily="34" charset="0"/>
                <a:ea typeface="Calibri" panose="020F0502020204030204" pitchFamily="34" charset="0"/>
                <a:cs typeface="Arial" panose="020B0604020202020204" pitchFamily="34" charset="0"/>
              </a:rPr>
              <a:t>Madhya Pradesh - Undertook </a:t>
            </a:r>
            <a:r>
              <a:rPr lang="en-US" sz="900" b="1">
                <a:latin typeface="Verdana" panose="020B0604030504040204" pitchFamily="34" charset="0"/>
                <a:ea typeface="Calibri" panose="020F0502020204030204" pitchFamily="34" charset="0"/>
                <a:cs typeface="Arial" panose="020B0604020202020204" pitchFamily="34" charset="0"/>
              </a:rPr>
              <a:t>sectorial reviews, review of past expenditure</a:t>
            </a:r>
            <a:r>
              <a:rPr lang="en-US" sz="900">
                <a:latin typeface="Verdana" panose="020B0604030504040204" pitchFamily="34" charset="0"/>
                <a:ea typeface="Calibri" panose="020F0502020204030204" pitchFamily="34" charset="0"/>
                <a:cs typeface="Arial" panose="020B0604020202020204" pitchFamily="34" charset="0"/>
              </a:rPr>
              <a:t>, identification of performance indicators and costing of </a:t>
            </a:r>
            <a:r>
              <a:rPr lang="en-US" sz="900" err="1">
                <a:latin typeface="Verdana" panose="020B0604030504040204" pitchFamily="34" charset="0"/>
                <a:ea typeface="Calibri" panose="020F0502020204030204" pitchFamily="34" charset="0"/>
                <a:cs typeface="Arial" panose="020B0604020202020204" pitchFamily="34" charset="0"/>
              </a:rPr>
              <a:t>programmes</a:t>
            </a:r>
            <a:r>
              <a:rPr lang="en-US" sz="900">
                <a:latin typeface="Verdana" panose="020B0604030504040204" pitchFamily="34" charset="0"/>
                <a:ea typeface="Calibri" panose="020F0502020204030204" pitchFamily="34" charset="0"/>
                <a:cs typeface="Arial" panose="020B0604020202020204" pitchFamily="34" charset="0"/>
              </a:rPr>
              <a:t> and policies. Undertook </a:t>
            </a:r>
            <a:r>
              <a:rPr lang="en-US" sz="900" b="1">
                <a:latin typeface="Verdana" panose="020B0604030504040204" pitchFamily="34" charset="0"/>
                <a:ea typeface="Calibri" panose="020F0502020204030204" pitchFamily="34" charset="0"/>
                <a:cs typeface="Arial" panose="020B0604020202020204" pitchFamily="34" charset="0"/>
              </a:rPr>
              <a:t>fiscal projections </a:t>
            </a:r>
            <a:r>
              <a:rPr lang="en-US" sz="900">
                <a:latin typeface="Verdana" panose="020B0604030504040204" pitchFamily="34" charset="0"/>
                <a:ea typeface="Calibri" panose="020F0502020204030204" pitchFamily="34" charset="0"/>
                <a:cs typeface="Arial" panose="020B0604020202020204" pitchFamily="34" charset="0"/>
              </a:rPr>
              <a:t>for the Government over next five years based on proposed strategy and intervention; Carried Capacity Building workshops of stakeholders on budget preparation and management and MTFF Macroeconomic analysis and forecast of resources based on </a:t>
            </a:r>
            <a:r>
              <a:rPr lang="en-US" sz="900" b="1">
                <a:latin typeface="Verdana" panose="020B0604030504040204" pitchFamily="34" charset="0"/>
                <a:ea typeface="Calibri" panose="020F0502020204030204" pitchFamily="34" charset="0"/>
                <a:cs typeface="Arial" panose="020B0604020202020204" pitchFamily="34" charset="0"/>
              </a:rPr>
              <a:t>socio economic objectives </a:t>
            </a:r>
            <a:r>
              <a:rPr lang="en-US" sz="900">
                <a:latin typeface="Verdana" panose="020B0604030504040204" pitchFamily="34" charset="0"/>
                <a:ea typeface="Calibri" panose="020F0502020204030204" pitchFamily="34" charset="0"/>
                <a:cs typeface="Arial" panose="020B0604020202020204" pitchFamily="34" charset="0"/>
              </a:rPr>
              <a:t>of the state.</a:t>
            </a:r>
            <a:endParaRPr lang="en-US" sz="900">
              <a:effectLst/>
              <a:latin typeface="Verdana" panose="020B0604030504040204" pitchFamily="34" charset="0"/>
              <a:ea typeface="Calibri" panose="020F0502020204030204" pitchFamily="34" charset="0"/>
              <a:cs typeface="Arial" panose="020B0604020202020204" pitchFamily="34" charset="0"/>
            </a:endParaRPr>
          </a:p>
          <a:p>
            <a:pPr marL="133017" lvl="1" indent="-133017" algn="just" defTabSz="945878" fontAlgn="base">
              <a:buSzPct val="100000"/>
              <a:buFont typeface="Arial" panose="020B0604020202020204" pitchFamily="34" charset="0"/>
              <a:buChar char="•"/>
              <a:defRPr/>
            </a:pPr>
            <a:r>
              <a:rPr lang="en-US" sz="900">
                <a:effectLst/>
                <a:latin typeface="Verdana" panose="020B0604030504040204" pitchFamily="34" charset="0"/>
                <a:ea typeface="Calibri" panose="020F0502020204030204" pitchFamily="34" charset="0"/>
                <a:cs typeface="Arial" panose="020B0604020202020204" pitchFamily="34" charset="0"/>
              </a:rPr>
              <a:t>Prepared a vision framework for </a:t>
            </a:r>
            <a:r>
              <a:rPr lang="en-US" sz="900" b="1">
                <a:effectLst/>
                <a:latin typeface="Verdana" panose="020B0604030504040204" pitchFamily="34" charset="0"/>
                <a:ea typeface="Calibri" panose="020F0502020204030204" pitchFamily="34" charset="0"/>
                <a:cs typeface="Arial" panose="020B0604020202020204" pitchFamily="34" charset="0"/>
              </a:rPr>
              <a:t>Government of Andhra Pradesh </a:t>
            </a:r>
            <a:r>
              <a:rPr lang="en-US" sz="900">
                <a:effectLst/>
                <a:latin typeface="Verdana" panose="020B0604030504040204" pitchFamily="34" charset="0"/>
                <a:ea typeface="Calibri" panose="020F0502020204030204" pitchFamily="34" charset="0"/>
                <a:cs typeface="Arial" panose="020B0604020202020204" pitchFamily="34" charset="0"/>
              </a:rPr>
              <a:t>encompassing current trends in </a:t>
            </a:r>
            <a:r>
              <a:rPr lang="en-US" sz="900" b="1">
                <a:effectLst/>
                <a:latin typeface="Verdana" panose="020B0604030504040204" pitchFamily="34" charset="0"/>
                <a:ea typeface="Calibri" panose="020F0502020204030204" pitchFamily="34" charset="0"/>
                <a:cs typeface="Arial" panose="020B0604020202020204" pitchFamily="34" charset="0"/>
              </a:rPr>
              <a:t>public finance </a:t>
            </a:r>
            <a:r>
              <a:rPr lang="en-US" sz="900">
                <a:effectLst/>
                <a:latin typeface="Verdana" panose="020B0604030504040204" pitchFamily="34" charset="0"/>
                <a:ea typeface="Calibri" panose="020F0502020204030204" pitchFamily="34" charset="0"/>
                <a:cs typeface="Arial" panose="020B0604020202020204" pitchFamily="34" charset="0"/>
              </a:rPr>
              <a:t>and </a:t>
            </a:r>
            <a:r>
              <a:rPr lang="en-US" sz="900" b="1">
                <a:effectLst/>
                <a:latin typeface="Verdana" panose="020B0604030504040204" pitchFamily="34" charset="0"/>
                <a:ea typeface="Calibri" panose="020F0502020204030204" pitchFamily="34" charset="0"/>
                <a:cs typeface="Arial" panose="020B0604020202020204" pitchFamily="34" charset="0"/>
              </a:rPr>
              <a:t>reforms in expenditure management - </a:t>
            </a:r>
            <a:r>
              <a:rPr lang="en-US" sz="900">
                <a:effectLst/>
                <a:latin typeface="Verdana" panose="020B0604030504040204" pitchFamily="34" charset="0"/>
                <a:ea typeface="Calibri" panose="020F0502020204030204" pitchFamily="34" charset="0"/>
                <a:cs typeface="Arial" panose="020B0604020202020204" pitchFamily="34" charset="0"/>
              </a:rPr>
              <a:t>M</a:t>
            </a:r>
            <a:r>
              <a:rPr lang="en-US" sz="900"/>
              <a:t>apped key </a:t>
            </a:r>
            <a:r>
              <a:rPr lang="en-US" sz="900" b="1"/>
              <a:t>revenue processes </a:t>
            </a:r>
            <a:r>
              <a:rPr lang="en-US" sz="900"/>
              <a:t>and suggested process improvements for RAMIS.</a:t>
            </a:r>
            <a:endParaRPr lang="en-US" sz="900" b="1">
              <a:effectLst/>
              <a:latin typeface="Verdana" panose="020B0604030504040204" pitchFamily="34" charset="0"/>
              <a:ea typeface="Calibri" panose="020F0502020204030204" pitchFamily="34" charset="0"/>
              <a:cs typeface="Arial" panose="020B0604020202020204" pitchFamily="34" charset="0"/>
            </a:endParaRPr>
          </a:p>
          <a:p>
            <a:pPr marL="133017" lvl="1" indent="-133017" algn="just" defTabSz="945878" fontAlgn="base">
              <a:buSzPct val="100000"/>
              <a:buFont typeface="Arial" panose="020B0604020202020204" pitchFamily="34" charset="0"/>
              <a:buChar char="•"/>
              <a:defRPr/>
            </a:pPr>
            <a:r>
              <a:rPr lang="en-US" sz="900">
                <a:solidFill>
                  <a:srgbClr val="000000"/>
                </a:solidFill>
                <a:latin typeface="Verdana" panose="020B0604030504040204" pitchFamily="34" charset="0"/>
                <a:ea typeface="Verdana" panose="020B0604030504040204" pitchFamily="34" charset="0"/>
                <a:cs typeface="Arial" panose="020B0604020202020204" pitchFamily="34" charset="0"/>
              </a:rPr>
              <a:t>Supported</a:t>
            </a:r>
            <a:r>
              <a:rPr lang="en-US" sz="900" b="1">
                <a:solidFill>
                  <a:srgbClr val="000000"/>
                </a:solidFill>
                <a:latin typeface="Verdana" panose="020B0604030504040204" pitchFamily="34" charset="0"/>
                <a:ea typeface="Verdana" panose="020B0604030504040204" pitchFamily="34" charset="0"/>
                <a:cs typeface="Arial" panose="020B0604020202020204" pitchFamily="34" charset="0"/>
              </a:rPr>
              <a:t> Government of Sri Lanka </a:t>
            </a:r>
            <a:r>
              <a:rPr lang="en-US" sz="900">
                <a:solidFill>
                  <a:srgbClr val="000000"/>
                </a:solidFill>
                <a:latin typeface="Verdana" panose="020B0604030504040204" pitchFamily="34" charset="0"/>
                <a:ea typeface="Verdana" panose="020B0604030504040204" pitchFamily="34" charset="0"/>
                <a:cs typeface="Arial" panose="020B0604020202020204" pitchFamily="34" charset="0"/>
              </a:rPr>
              <a:t>to </a:t>
            </a:r>
            <a:r>
              <a:rPr lang="it-IT" sz="900" b="1">
                <a:effectLst/>
                <a:latin typeface="Verdana" panose="020B0604030504040204" pitchFamily="34" charset="0"/>
                <a:ea typeface="Calibri" panose="020F0502020204030204" pitchFamily="34" charset="0"/>
                <a:cs typeface="Arial" panose="020B0604020202020204" pitchFamily="34" charset="0"/>
              </a:rPr>
              <a:t>achieve the modernization of revenue administration </a:t>
            </a:r>
            <a:r>
              <a:rPr lang="it-IT" sz="900">
                <a:effectLst/>
                <a:latin typeface="Verdana" panose="020B0604030504040204" pitchFamily="34" charset="0"/>
                <a:ea typeface="Calibri" panose="020F0502020204030204" pitchFamily="34" charset="0"/>
                <a:cs typeface="Arial" panose="020B0604020202020204" pitchFamily="34" charset="0"/>
              </a:rPr>
              <a:t>and the </a:t>
            </a:r>
            <a:r>
              <a:rPr lang="it-IT" sz="900" b="1">
                <a:effectLst/>
                <a:latin typeface="Verdana" panose="020B0604030504040204" pitchFamily="34" charset="0"/>
                <a:ea typeface="Calibri" panose="020F0502020204030204" pitchFamily="34" charset="0"/>
                <a:cs typeface="Arial" panose="020B0604020202020204" pitchFamily="34" charset="0"/>
              </a:rPr>
              <a:t>strengthening of the system of financial management </a:t>
            </a:r>
            <a:r>
              <a:rPr lang="it-IT" sz="900">
                <a:effectLst/>
                <a:latin typeface="Verdana" panose="020B0604030504040204" pitchFamily="34" charset="0"/>
                <a:ea typeface="Calibri" panose="020F0502020204030204" pitchFamily="34" charset="0"/>
                <a:cs typeface="Arial" panose="020B0604020202020204" pitchFamily="34" charset="0"/>
              </a:rPr>
              <a:t>in order to help contain the size of fiscal deficit.</a:t>
            </a:r>
            <a:endParaRPr lang="en-US" sz="900">
              <a:solidFill>
                <a:srgbClr val="000000"/>
              </a:solidFill>
              <a:highlight>
                <a:srgbClr val="FFFF00"/>
              </a:highlight>
              <a:latin typeface="+mj-lt"/>
              <a:ea typeface="Verdana" panose="020B0604030504040204" pitchFamily="34" charset="0"/>
              <a:cs typeface="Arial" panose="020B0604020202020204" pitchFamily="34" charset="0"/>
            </a:endParaRPr>
          </a:p>
        </p:txBody>
      </p:sp>
      <p:grpSp>
        <p:nvGrpSpPr>
          <p:cNvPr id="22" name="Group 21">
            <a:extLst>
              <a:ext uri="{FF2B5EF4-FFF2-40B4-BE49-F238E27FC236}">
                <a16:creationId xmlns:a16="http://schemas.microsoft.com/office/drawing/2014/main" id="{A276BA3C-2C57-4AB3-B58D-1D06587C7BDB}"/>
              </a:ext>
            </a:extLst>
          </p:cNvPr>
          <p:cNvGrpSpPr/>
          <p:nvPr/>
        </p:nvGrpSpPr>
        <p:grpSpPr>
          <a:xfrm>
            <a:off x="564313" y="2266425"/>
            <a:ext cx="11267234" cy="263886"/>
            <a:chOff x="566664" y="1911318"/>
            <a:chExt cx="11082488" cy="399693"/>
          </a:xfrm>
        </p:grpSpPr>
        <p:cxnSp>
          <p:nvCxnSpPr>
            <p:cNvPr id="23" name="Straight Connector 22">
              <a:extLst>
                <a:ext uri="{FF2B5EF4-FFF2-40B4-BE49-F238E27FC236}">
                  <a16:creationId xmlns:a16="http://schemas.microsoft.com/office/drawing/2014/main" id="{D8E54776-0F62-4EFA-9251-AED4611CA82F}"/>
                </a:ext>
              </a:extLst>
            </p:cNvPr>
            <p:cNvCxnSpPr/>
            <p:nvPr/>
          </p:nvCxnSpPr>
          <p:spPr bwMode="auto">
            <a:xfrm>
              <a:off x="566664" y="2311011"/>
              <a:ext cx="11082488"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E1A5DAED-D6A9-4696-BD5C-B6DEE78D3516}"/>
                </a:ext>
              </a:extLst>
            </p:cNvPr>
            <p:cNvSpPr txBox="1"/>
            <p:nvPr/>
          </p:nvSpPr>
          <p:spPr>
            <a:xfrm>
              <a:off x="5105154" y="1911318"/>
              <a:ext cx="1930387" cy="226409"/>
            </a:xfrm>
            <a:prstGeom prst="rect">
              <a:avLst/>
            </a:prstGeom>
            <a:solidFill>
              <a:schemeClr val="bg1"/>
            </a:solidFill>
          </p:spPr>
          <p:txBody>
            <a:bodyPr wrap="square" rtlCol="0">
              <a:spAutoFit/>
            </a:bodyPr>
            <a:lstStyle/>
            <a:p>
              <a:pPr marL="1588" marR="0" lvl="0" indent="0" algn="l" defTabSz="914400" rtl="0" eaLnBrk="1" fontAlgn="base" latinLnBrk="0" hangingPunct="1">
                <a:lnSpc>
                  <a:spcPct val="106000"/>
                </a:lnSpc>
                <a:spcBef>
                  <a:spcPct val="80000"/>
                </a:spcBef>
                <a:spcAft>
                  <a:spcPct val="0"/>
                </a:spcAft>
                <a:buClr>
                  <a:srgbClr val="000000"/>
                </a:buClr>
                <a:buSzTx/>
                <a:buFontTx/>
                <a:buNone/>
                <a:tabLst/>
                <a:defRPr/>
              </a:pPr>
              <a:r>
                <a:rPr kumimoji="0" lang="en-US" sz="9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Professional Highlights</a:t>
              </a:r>
            </a:p>
          </p:txBody>
        </p:sp>
      </p:grpSp>
      <p:sp>
        <p:nvSpPr>
          <p:cNvPr id="2" name="Oval 1">
            <a:extLst>
              <a:ext uri="{FF2B5EF4-FFF2-40B4-BE49-F238E27FC236}">
                <a16:creationId xmlns:a16="http://schemas.microsoft.com/office/drawing/2014/main" id="{016F29FC-9742-5898-ABD4-5C07E23EDA9C}"/>
              </a:ext>
            </a:extLst>
          </p:cNvPr>
          <p:cNvSpPr/>
          <p:nvPr/>
        </p:nvSpPr>
        <p:spPr bwMode="gray">
          <a:xfrm>
            <a:off x="507339" y="1082918"/>
            <a:ext cx="1076400" cy="1053250"/>
          </a:xfrm>
          <a:prstGeom prst="ellipse">
            <a:avLst/>
          </a:prstGeom>
          <a:blipFill>
            <a:blip r:embed="rId2"/>
            <a:stretch>
              <a:fillRect/>
            </a:stretch>
          </a:blipFill>
          <a:ln w="19050" algn="ctr">
            <a:solidFill>
              <a:srgbClr val="0097A9"/>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0" name="Text Placeholder 1">
            <a:extLst>
              <a:ext uri="{FF2B5EF4-FFF2-40B4-BE49-F238E27FC236}">
                <a16:creationId xmlns:a16="http://schemas.microsoft.com/office/drawing/2014/main" id="{7B506216-4CEF-0115-7074-D292A422C719}"/>
              </a:ext>
            </a:extLst>
          </p:cNvPr>
          <p:cNvSpPr txBox="1">
            <a:spLocks/>
          </p:cNvSpPr>
          <p:nvPr/>
        </p:nvSpPr>
        <p:spPr>
          <a:xfrm>
            <a:off x="411117" y="515729"/>
            <a:ext cx="11188700" cy="757255"/>
          </a:xfrm>
          <a:prstGeom prst="rect">
            <a:avLst/>
          </a:prstGeom>
          <a:ln>
            <a:noFill/>
          </a:ln>
        </p:spPr>
        <p:txBody>
          <a:bodyPr vert="horz" lIns="0" tIns="0" rIns="0" bIns="0" rtlCol="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600" b="0" kern="1200">
                <a:solidFill>
                  <a:srgbClr val="575757"/>
                </a:solidFill>
                <a:latin typeface="Calibri" panose="020F0502020204030204" pitchFamily="34" charset="0"/>
                <a:ea typeface="+mn-ea"/>
                <a:cs typeface="Calibri" panose="020F0502020204030204" pitchFamily="34" charset="0"/>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fr-FR" sz="1400">
                <a:latin typeface="+mj-lt"/>
              </a:rPr>
              <a:t>Deloitte Touche </a:t>
            </a:r>
            <a:r>
              <a:rPr lang="fr-FR" sz="1400" err="1">
                <a:latin typeface="+mj-lt"/>
              </a:rPr>
              <a:t>Tohmatsu</a:t>
            </a:r>
            <a:r>
              <a:rPr lang="fr-FR" sz="1400">
                <a:latin typeface="+mj-lt"/>
              </a:rPr>
              <a:t> </a:t>
            </a:r>
            <a:r>
              <a:rPr lang="fr-FR" sz="1400" err="1">
                <a:latin typeface="+mj-lt"/>
              </a:rPr>
              <a:t>India</a:t>
            </a:r>
            <a:r>
              <a:rPr lang="fr-FR" sz="1400">
                <a:latin typeface="+mj-lt"/>
              </a:rPr>
              <a:t> LLP</a:t>
            </a:r>
            <a:endParaRPr lang="en-US" sz="1400">
              <a:latin typeface="+mj-lt"/>
            </a:endParaRPr>
          </a:p>
          <a:p>
            <a:endParaRPr lang="en-US" sz="1400">
              <a:latin typeface="+mj-lt"/>
            </a:endParaRPr>
          </a:p>
        </p:txBody>
      </p:sp>
      <p:sp>
        <p:nvSpPr>
          <p:cNvPr id="11" name="Title 2">
            <a:extLst>
              <a:ext uri="{FF2B5EF4-FFF2-40B4-BE49-F238E27FC236}">
                <a16:creationId xmlns:a16="http://schemas.microsoft.com/office/drawing/2014/main" id="{A953511E-DDDA-E8A9-B274-632C73E5D7BA}"/>
              </a:ext>
            </a:extLst>
          </p:cNvPr>
          <p:cNvSpPr txBox="1">
            <a:spLocks/>
          </p:cNvSpPr>
          <p:nvPr/>
        </p:nvSpPr>
        <p:spPr>
          <a:xfrm>
            <a:off x="411118" y="213764"/>
            <a:ext cx="11369764" cy="243926"/>
          </a:xfrm>
        </p:spPr>
        <p:txBody>
          <a:bodyPr vert="horz" lIns="0" tIns="0" rIns="0" bIns="0" rtlCol="0" anchor="t" anchorCtr="0">
            <a:noAutofit/>
          </a:bodyPr>
          <a:lstStyle>
            <a:lvl1pPr algn="l" defTabSz="914400" rtl="0" eaLnBrk="1" latinLnBrk="0" hangingPunct="1">
              <a:spcBef>
                <a:spcPct val="0"/>
              </a:spcBef>
              <a:buNone/>
              <a:defRPr sz="2000" kern="1200">
                <a:solidFill>
                  <a:schemeClr val="tx1"/>
                </a:solidFill>
                <a:latin typeface="Calibri" panose="020F0502020204030204" pitchFamily="34" charset="0"/>
                <a:ea typeface="+mj-ea"/>
                <a:cs typeface="Calibri" panose="020F0502020204030204" pitchFamily="34" charset="0"/>
              </a:defRPr>
            </a:lvl1pPr>
          </a:lstStyle>
          <a:p>
            <a:r>
              <a:rPr lang="en-US" sz="1800" b="1">
                <a:latin typeface="+mj-lt"/>
              </a:rPr>
              <a:t>Information on the qualification of key staff</a:t>
            </a:r>
          </a:p>
        </p:txBody>
      </p:sp>
      <p:cxnSp>
        <p:nvCxnSpPr>
          <p:cNvPr id="12" name="Straight Arrow Connector 11">
            <a:extLst>
              <a:ext uri="{FF2B5EF4-FFF2-40B4-BE49-F238E27FC236}">
                <a16:creationId xmlns:a16="http://schemas.microsoft.com/office/drawing/2014/main" id="{4D57E460-79B0-9B8F-D57E-5C9223BAD409}"/>
              </a:ext>
            </a:extLst>
          </p:cNvPr>
          <p:cNvCxnSpPr/>
          <p:nvPr/>
        </p:nvCxnSpPr>
        <p:spPr>
          <a:xfrm flipV="1">
            <a:off x="333466" y="826438"/>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39333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06376162-474A-43ED-80CC-FBC8B202EAAF}"/>
              </a:ext>
            </a:extLst>
          </p:cNvPr>
          <p:cNvGrpSpPr/>
          <p:nvPr/>
        </p:nvGrpSpPr>
        <p:grpSpPr>
          <a:xfrm>
            <a:off x="4789575" y="1026306"/>
            <a:ext cx="2919133" cy="226409"/>
            <a:chOff x="6384510" y="982412"/>
            <a:chExt cx="3878709" cy="226409"/>
          </a:xfrm>
        </p:grpSpPr>
        <p:cxnSp>
          <p:nvCxnSpPr>
            <p:cNvPr id="39" name="Straight Connector 38">
              <a:extLst>
                <a:ext uri="{FF2B5EF4-FFF2-40B4-BE49-F238E27FC236}">
                  <a16:creationId xmlns:a16="http://schemas.microsoft.com/office/drawing/2014/main" id="{821673F3-0CD8-486C-910C-16DBF8D2D823}"/>
                </a:ext>
              </a:extLst>
            </p:cNvPr>
            <p:cNvCxnSpPr/>
            <p:nvPr/>
          </p:nvCxnSpPr>
          <p:spPr bwMode="auto">
            <a:xfrm>
              <a:off x="6384510" y="1091239"/>
              <a:ext cx="3878709"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0" name="TextBox 39">
              <a:extLst>
                <a:ext uri="{FF2B5EF4-FFF2-40B4-BE49-F238E27FC236}">
                  <a16:creationId xmlns:a16="http://schemas.microsoft.com/office/drawing/2014/main" id="{9131A7A7-3CAA-41E3-9A6B-D1FA75622F43}"/>
                </a:ext>
              </a:extLst>
            </p:cNvPr>
            <p:cNvSpPr txBox="1"/>
            <p:nvPr/>
          </p:nvSpPr>
          <p:spPr>
            <a:xfrm>
              <a:off x="7565225" y="982412"/>
              <a:ext cx="1497298" cy="226409"/>
            </a:xfrm>
            <a:prstGeom prst="rect">
              <a:avLst/>
            </a:prstGeom>
            <a:solidFill>
              <a:schemeClr val="bg1"/>
            </a:solidFill>
          </p:spPr>
          <p:txBody>
            <a:bodyPr wrap="square" rtlCol="0">
              <a:spAutoFit/>
            </a:bodyPr>
            <a:lstStyle/>
            <a:p>
              <a:pPr marL="1588" marR="0" lvl="0" indent="0" algn="ctr" defTabSz="914400" rtl="0" eaLnBrk="1" fontAlgn="base" latinLnBrk="0" hangingPunct="1">
                <a:lnSpc>
                  <a:spcPct val="106000"/>
                </a:lnSpc>
                <a:spcBef>
                  <a:spcPct val="80000"/>
                </a:spcBef>
                <a:spcAft>
                  <a:spcPct val="0"/>
                </a:spcAft>
                <a:buClr>
                  <a:srgbClr val="000000"/>
                </a:buClr>
                <a:buSzTx/>
                <a:buFontTx/>
                <a:buNone/>
                <a:tabLst/>
                <a:defRPr/>
              </a:pPr>
              <a:r>
                <a:rPr kumimoji="0" lang="en-US" sz="9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Education</a:t>
              </a:r>
            </a:p>
          </p:txBody>
        </p:sp>
      </p:grpSp>
      <p:sp>
        <p:nvSpPr>
          <p:cNvPr id="38" name="Rectangle 12">
            <a:extLst>
              <a:ext uri="{FF2B5EF4-FFF2-40B4-BE49-F238E27FC236}">
                <a16:creationId xmlns:a16="http://schemas.microsoft.com/office/drawing/2014/main" id="{C7496292-1817-4CE3-AF79-AC61B3398EAE}"/>
              </a:ext>
            </a:extLst>
          </p:cNvPr>
          <p:cNvSpPr>
            <a:spLocks noChangeArrowheads="1"/>
          </p:cNvSpPr>
          <p:nvPr/>
        </p:nvSpPr>
        <p:spPr bwMode="auto">
          <a:xfrm>
            <a:off x="4727121" y="1193956"/>
            <a:ext cx="2981587" cy="646896"/>
          </a:xfrm>
          <a:prstGeom prst="rect">
            <a:avLst/>
          </a:prstGeom>
          <a:noFill/>
          <a:ln w="9525" algn="ctr">
            <a:noFill/>
            <a:miter lim="800000"/>
            <a:headEnd/>
            <a:tailEnd/>
          </a:ln>
          <a:effectLst>
            <a:outerShdw blurRad="50800" dist="50800" dir="5400000" algn="ctr" rotWithShape="0">
              <a:schemeClr val="bg1"/>
            </a:outerShdw>
          </a:effectLst>
        </p:spPr>
        <p:txBody>
          <a:bodyPr wrap="square" lIns="92002" tIns="46000" rIns="92002" bIns="46000">
            <a:spAutoFit/>
          </a:bodyPr>
          <a:lstStyle/>
          <a:p>
            <a:pPr marL="118698" marR="0" lvl="1" indent="-118698" defTabSz="914378"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he-IL" sz="900" kern="0">
                <a:latin typeface="Verdana"/>
              </a:rPr>
              <a:t>M.A. Economics, Delhi School of Economics, University of Delhi (2013)</a:t>
            </a:r>
          </a:p>
          <a:p>
            <a:pPr marL="118698" marR="0" lvl="1" indent="-118698" defTabSz="914378"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he-IL" sz="900" kern="0">
                <a:latin typeface="Verdana"/>
              </a:rPr>
              <a:t>B.A. (Hons.) Economics, Sri Venkateswara College, University of Delhi (2011)</a:t>
            </a:r>
          </a:p>
        </p:txBody>
      </p:sp>
      <p:sp>
        <p:nvSpPr>
          <p:cNvPr id="16" name="Title 1">
            <a:extLst>
              <a:ext uri="{FF2B5EF4-FFF2-40B4-BE49-F238E27FC236}">
                <a16:creationId xmlns:a16="http://schemas.microsoft.com/office/drawing/2014/main" id="{76EEC528-E78F-4878-9020-FD2A6263A738}"/>
              </a:ext>
            </a:extLst>
          </p:cNvPr>
          <p:cNvSpPr txBox="1">
            <a:spLocks/>
          </p:cNvSpPr>
          <p:nvPr/>
        </p:nvSpPr>
        <p:spPr bwMode="gray">
          <a:xfrm>
            <a:off x="1707700" y="1195575"/>
            <a:ext cx="2350787" cy="665375"/>
          </a:xfrm>
          <a:prstGeom prst="rect">
            <a:avLst/>
          </a:prstGeom>
          <a:noFill/>
          <a:ln w="9525">
            <a:noFill/>
            <a:miter lim="800000"/>
            <a:headEnd/>
            <a:tailEnd/>
          </a:ln>
        </p:spPr>
        <p:txBody>
          <a:bodyPr vert="horz" wrap="square" lIns="0" tIns="0" rIns="0" bIns="0" numCol="1" anchor="b" anchorCtr="0" compatLnSpc="1">
            <a:prstTxWarp prst="textNoShape">
              <a:avLst/>
            </a:prstTxWarp>
            <a:spAutoFit/>
          </a:bodyPr>
          <a:lstStyle>
            <a:lvl1pPr algn="l" rtl="0" eaLnBrk="0" fontAlgn="base" hangingPunct="0">
              <a:lnSpc>
                <a:spcPct val="106000"/>
              </a:lnSpc>
              <a:spcBef>
                <a:spcPct val="0"/>
              </a:spcBef>
              <a:spcAft>
                <a:spcPct val="0"/>
              </a:spcAft>
              <a:defRPr sz="1600" b="1">
                <a:solidFill>
                  <a:schemeClr val="tx1"/>
                </a:solidFill>
                <a:latin typeface="+mj-lt"/>
                <a:ea typeface="+mj-ea"/>
                <a:cs typeface="+mj-cs"/>
              </a:defRPr>
            </a:lvl1pPr>
            <a:lvl2pPr algn="l" rtl="0" eaLnBrk="0" fontAlgn="base" hangingPunct="0">
              <a:lnSpc>
                <a:spcPct val="106000"/>
              </a:lnSpc>
              <a:spcBef>
                <a:spcPct val="0"/>
              </a:spcBef>
              <a:spcAft>
                <a:spcPct val="0"/>
              </a:spcAft>
              <a:defRPr sz="1600" b="1">
                <a:solidFill>
                  <a:schemeClr val="tx1"/>
                </a:solidFill>
                <a:latin typeface="Arial" charset="0"/>
              </a:defRPr>
            </a:lvl2pPr>
            <a:lvl3pPr algn="l" rtl="0" eaLnBrk="0" fontAlgn="base" hangingPunct="0">
              <a:lnSpc>
                <a:spcPct val="106000"/>
              </a:lnSpc>
              <a:spcBef>
                <a:spcPct val="0"/>
              </a:spcBef>
              <a:spcAft>
                <a:spcPct val="0"/>
              </a:spcAft>
              <a:defRPr sz="1600" b="1">
                <a:solidFill>
                  <a:schemeClr val="tx1"/>
                </a:solidFill>
                <a:latin typeface="Arial" charset="0"/>
              </a:defRPr>
            </a:lvl3pPr>
            <a:lvl4pPr algn="l" rtl="0" eaLnBrk="0" fontAlgn="base" hangingPunct="0">
              <a:lnSpc>
                <a:spcPct val="106000"/>
              </a:lnSpc>
              <a:spcBef>
                <a:spcPct val="0"/>
              </a:spcBef>
              <a:spcAft>
                <a:spcPct val="0"/>
              </a:spcAft>
              <a:defRPr sz="1600" b="1">
                <a:solidFill>
                  <a:schemeClr val="tx1"/>
                </a:solidFill>
                <a:latin typeface="Arial" charset="0"/>
              </a:defRPr>
            </a:lvl4pPr>
            <a:lvl5pPr algn="l" rtl="0" eaLnBrk="0" fontAlgn="base" hangingPunct="0">
              <a:lnSpc>
                <a:spcPct val="106000"/>
              </a:lnSpc>
              <a:spcBef>
                <a:spcPct val="0"/>
              </a:spcBef>
              <a:spcAft>
                <a:spcPct val="0"/>
              </a:spcAft>
              <a:defRPr sz="1600" b="1">
                <a:solidFill>
                  <a:schemeClr val="tx1"/>
                </a:solidFill>
                <a:latin typeface="Arial" charset="0"/>
              </a:defRPr>
            </a:lvl5pPr>
            <a:lvl6pPr marL="457200" algn="l" rtl="0" eaLnBrk="1" fontAlgn="base" hangingPunct="1">
              <a:lnSpc>
                <a:spcPct val="106000"/>
              </a:lnSpc>
              <a:spcBef>
                <a:spcPct val="0"/>
              </a:spcBef>
              <a:spcAft>
                <a:spcPct val="0"/>
              </a:spcAft>
              <a:defRPr sz="1600" b="1">
                <a:solidFill>
                  <a:schemeClr val="tx1"/>
                </a:solidFill>
                <a:latin typeface="Arial" charset="0"/>
              </a:defRPr>
            </a:lvl6pPr>
            <a:lvl7pPr marL="914400" algn="l" rtl="0" eaLnBrk="1" fontAlgn="base" hangingPunct="1">
              <a:lnSpc>
                <a:spcPct val="106000"/>
              </a:lnSpc>
              <a:spcBef>
                <a:spcPct val="0"/>
              </a:spcBef>
              <a:spcAft>
                <a:spcPct val="0"/>
              </a:spcAft>
              <a:defRPr sz="1600" b="1">
                <a:solidFill>
                  <a:schemeClr val="tx1"/>
                </a:solidFill>
                <a:latin typeface="Arial" charset="0"/>
              </a:defRPr>
            </a:lvl7pPr>
            <a:lvl8pPr marL="1371600" algn="l" rtl="0" eaLnBrk="1" fontAlgn="base" hangingPunct="1">
              <a:lnSpc>
                <a:spcPct val="106000"/>
              </a:lnSpc>
              <a:spcBef>
                <a:spcPct val="0"/>
              </a:spcBef>
              <a:spcAft>
                <a:spcPct val="0"/>
              </a:spcAft>
              <a:defRPr sz="1600" b="1">
                <a:solidFill>
                  <a:schemeClr val="tx1"/>
                </a:solidFill>
                <a:latin typeface="Arial" charset="0"/>
              </a:defRPr>
            </a:lvl8pPr>
            <a:lvl9pPr marL="1828800" algn="l" rtl="0" eaLnBrk="1" fontAlgn="base" hangingPunct="1">
              <a:lnSpc>
                <a:spcPct val="106000"/>
              </a:lnSpc>
              <a:spcBef>
                <a:spcPct val="0"/>
              </a:spcBef>
              <a:spcAft>
                <a:spcPct val="0"/>
              </a:spcAft>
              <a:defRPr sz="1600" b="1">
                <a:solidFill>
                  <a:schemeClr val="tx1"/>
                </a:solidFill>
                <a:latin typeface="Arial" charset="0"/>
              </a:defRPr>
            </a:lvl9pPr>
          </a:lstStyle>
          <a:p>
            <a:pPr marL="0" marR="0" lvl="0" indent="0" algn="l" defTabSz="914400" rtl="0" eaLnBrk="0" fontAlgn="base" latinLnBrk="0" hangingPunct="0">
              <a:lnSpc>
                <a:spcPct val="106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Kartik Agarwal</a:t>
            </a:r>
          </a:p>
          <a:p>
            <a:pPr marL="0" marR="0" lvl="0" indent="0" algn="l" defTabSz="914400" rtl="0" eaLnBrk="0" fontAlgn="base" latinLnBrk="0" hangingPunct="0">
              <a:lnSpc>
                <a:spcPct val="106000"/>
              </a:lnSpc>
              <a:spcBef>
                <a:spcPct val="0"/>
              </a:spcBef>
              <a:spcAft>
                <a:spcPct val="0"/>
              </a:spcAft>
              <a:buClrTx/>
              <a:buSzTx/>
              <a:buFontTx/>
              <a:buNone/>
              <a:tabLst/>
              <a:defRPr/>
            </a:pPr>
            <a:r>
              <a:rPr lang="en-US" sz="1400" b="0">
                <a:solidFill>
                  <a:srgbClr val="000000"/>
                </a:solidFill>
                <a:latin typeface="Verdana" panose="020B0604030504040204" pitchFamily="34" charset="0"/>
                <a:ea typeface="Verdana" panose="020B0604030504040204" pitchFamily="34" charset="0"/>
                <a:cs typeface="Verdana" panose="020B0604030504040204" pitchFamily="34" charset="0"/>
              </a:rPr>
              <a:t>Director</a:t>
            </a:r>
            <a:r>
              <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Deloitte </a:t>
            </a:r>
            <a:r>
              <a:rPr kumimoji="0" lang="en-US" sz="1400" b="0" i="0" u="none" strike="noStrike" kern="1200" cap="none" spc="0" normalizeH="0" baseline="0" noProof="0" err="1">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Touche</a:t>
            </a:r>
            <a:r>
              <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Tohmatsu India LLP</a:t>
            </a:r>
          </a:p>
        </p:txBody>
      </p:sp>
      <p:grpSp>
        <p:nvGrpSpPr>
          <p:cNvPr id="18" name="Group 17">
            <a:extLst>
              <a:ext uri="{FF2B5EF4-FFF2-40B4-BE49-F238E27FC236}">
                <a16:creationId xmlns:a16="http://schemas.microsoft.com/office/drawing/2014/main" id="{E22934C1-DFFC-48CE-A1D2-0BD5C39629A2}"/>
              </a:ext>
            </a:extLst>
          </p:cNvPr>
          <p:cNvGrpSpPr/>
          <p:nvPr/>
        </p:nvGrpSpPr>
        <p:grpSpPr>
          <a:xfrm>
            <a:off x="8823201" y="1046575"/>
            <a:ext cx="2649212" cy="226409"/>
            <a:chOff x="6384510" y="1200125"/>
            <a:chExt cx="3878709" cy="226409"/>
          </a:xfrm>
        </p:grpSpPr>
        <p:cxnSp>
          <p:nvCxnSpPr>
            <p:cNvPr id="20" name="Straight Connector 19">
              <a:extLst>
                <a:ext uri="{FF2B5EF4-FFF2-40B4-BE49-F238E27FC236}">
                  <a16:creationId xmlns:a16="http://schemas.microsoft.com/office/drawing/2014/main" id="{0341D36B-462C-4DDF-AF3A-3F69ADDD0522}"/>
                </a:ext>
              </a:extLst>
            </p:cNvPr>
            <p:cNvCxnSpPr/>
            <p:nvPr/>
          </p:nvCxnSpPr>
          <p:spPr bwMode="auto">
            <a:xfrm>
              <a:off x="6384510" y="1308952"/>
              <a:ext cx="3878709"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7D29F64D-643C-446E-95CC-C810A6B25640}"/>
                </a:ext>
              </a:extLst>
            </p:cNvPr>
            <p:cNvSpPr txBox="1"/>
            <p:nvPr/>
          </p:nvSpPr>
          <p:spPr>
            <a:xfrm>
              <a:off x="6970148" y="1200125"/>
              <a:ext cx="2692976" cy="226409"/>
            </a:xfrm>
            <a:prstGeom prst="rect">
              <a:avLst/>
            </a:prstGeom>
            <a:solidFill>
              <a:schemeClr val="bg1"/>
            </a:solidFill>
          </p:spPr>
          <p:txBody>
            <a:bodyPr wrap="square" rtlCol="0">
              <a:spAutoFit/>
            </a:bodyPr>
            <a:lstStyle/>
            <a:p>
              <a:pPr marL="1588" marR="0" lvl="0" indent="0" algn="ctr" defTabSz="914400" rtl="0" eaLnBrk="1" fontAlgn="base" latinLnBrk="0" hangingPunct="1">
                <a:lnSpc>
                  <a:spcPct val="106000"/>
                </a:lnSpc>
                <a:spcBef>
                  <a:spcPct val="80000"/>
                </a:spcBef>
                <a:spcAft>
                  <a:spcPct val="0"/>
                </a:spcAft>
                <a:buClr>
                  <a:srgbClr val="000000"/>
                </a:buClr>
                <a:buSzTx/>
                <a:buFontTx/>
                <a:buNone/>
                <a:tabLst/>
                <a:defRPr/>
              </a:pPr>
              <a:r>
                <a:rPr kumimoji="0" lang="en-US" sz="9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Subject Matter Expertise</a:t>
              </a:r>
            </a:p>
          </p:txBody>
        </p:sp>
      </p:grpSp>
      <p:sp>
        <p:nvSpPr>
          <p:cNvPr id="19" name="Rectangle 12">
            <a:extLst>
              <a:ext uri="{FF2B5EF4-FFF2-40B4-BE49-F238E27FC236}">
                <a16:creationId xmlns:a16="http://schemas.microsoft.com/office/drawing/2014/main" id="{7426BBBC-32CD-4E28-8650-87B86355E9C0}"/>
              </a:ext>
            </a:extLst>
          </p:cNvPr>
          <p:cNvSpPr>
            <a:spLocks noChangeArrowheads="1"/>
          </p:cNvSpPr>
          <p:nvPr/>
        </p:nvSpPr>
        <p:spPr bwMode="auto">
          <a:xfrm>
            <a:off x="8592478" y="1257183"/>
            <a:ext cx="3188404" cy="1062395"/>
          </a:xfrm>
          <a:prstGeom prst="rect">
            <a:avLst/>
          </a:prstGeom>
          <a:noFill/>
          <a:ln w="9525" algn="ctr">
            <a:noFill/>
            <a:miter lim="800000"/>
            <a:headEnd/>
            <a:tailEnd/>
          </a:ln>
          <a:effectLst>
            <a:outerShdw blurRad="50800" dist="50800" dir="5400000" algn="ctr" rotWithShape="0">
              <a:schemeClr val="bg1"/>
            </a:outerShdw>
          </a:effectLst>
        </p:spPr>
        <p:txBody>
          <a:bodyPr wrap="square" lIns="92002" tIns="46000" rIns="92002" bIns="46000">
            <a:spAutoFit/>
          </a:bodyPr>
          <a:lstStyle/>
          <a:p>
            <a:pPr marL="82064" marR="0" lvl="1" indent="-82064" algn="just" defTabSz="883644" rtl="0" eaLnBrk="0" fontAlgn="auto" latinLnBrk="0" hangingPunct="0">
              <a:lnSpc>
                <a:spcPct val="100000"/>
              </a:lnSpc>
              <a:spcBef>
                <a:spcPts val="0"/>
              </a:spcBef>
              <a:spcAft>
                <a:spcPts val="0"/>
              </a:spcAft>
              <a:buClr>
                <a:prstClr val="black">
                  <a:lumMod val="75000"/>
                  <a:lumOff val="25000"/>
                </a:prstClr>
              </a:buClr>
              <a:buSzTx/>
              <a:buFont typeface="Arial" pitchFamily="34" charset="0"/>
              <a:buChar char="•"/>
              <a:tabLst/>
              <a:defRPr/>
            </a:pPr>
            <a:r>
              <a:rPr lang="en-US" sz="900" kern="0">
                <a:solidFill>
                  <a:prstClr val="black"/>
                </a:solidFill>
                <a:latin typeface="Verdana"/>
                <a:cs typeface="Arial" pitchFamily="34" charset="0"/>
              </a:rPr>
              <a:t>Economic and Fiscal Analysis</a:t>
            </a:r>
          </a:p>
          <a:p>
            <a:pPr marL="82064" marR="0" lvl="1" indent="-82064" algn="just" defTabSz="883644" rtl="0" eaLnBrk="0" fontAlgn="auto" latinLnBrk="0" hangingPunct="0">
              <a:lnSpc>
                <a:spcPct val="100000"/>
              </a:lnSpc>
              <a:spcBef>
                <a:spcPts val="0"/>
              </a:spcBef>
              <a:spcAft>
                <a:spcPts val="0"/>
              </a:spcAft>
              <a:buClr>
                <a:prstClr val="black">
                  <a:lumMod val="75000"/>
                  <a:lumOff val="25000"/>
                </a:prstClr>
              </a:buClr>
              <a:buSzTx/>
              <a:buFont typeface="Arial" pitchFamily="34" charset="0"/>
              <a:buChar char="•"/>
              <a:tabLst/>
              <a:defRPr/>
            </a:pPr>
            <a:r>
              <a:rPr lang="en-US" sz="900" kern="0">
                <a:solidFill>
                  <a:prstClr val="black"/>
                </a:solidFill>
                <a:latin typeface="Verdana"/>
                <a:cs typeface="Arial" pitchFamily="34" charset="0"/>
              </a:rPr>
              <a:t>Sustainable Development Goals (SDGs) Financing</a:t>
            </a:r>
          </a:p>
          <a:p>
            <a:pPr marL="82064" marR="0" lvl="1" indent="-82064" algn="just" defTabSz="883644" rtl="0" eaLnBrk="0" fontAlgn="auto" latinLnBrk="0" hangingPunct="0">
              <a:lnSpc>
                <a:spcPct val="100000"/>
              </a:lnSpc>
              <a:spcBef>
                <a:spcPts val="0"/>
              </a:spcBef>
              <a:spcAft>
                <a:spcPts val="0"/>
              </a:spcAft>
              <a:buClr>
                <a:prstClr val="black">
                  <a:lumMod val="75000"/>
                  <a:lumOff val="25000"/>
                </a:prstClr>
              </a:buClr>
              <a:buSzTx/>
              <a:buFont typeface="Arial" pitchFamily="34" charset="0"/>
              <a:buChar char="•"/>
              <a:tabLst/>
              <a:defRPr/>
            </a:pPr>
            <a:r>
              <a:rPr lang="en-US" sz="900" kern="0">
                <a:solidFill>
                  <a:prstClr val="black"/>
                </a:solidFill>
                <a:latin typeface="Verdana"/>
                <a:cs typeface="Arial" pitchFamily="34" charset="0"/>
              </a:rPr>
              <a:t>Public Financial Management (PFM)</a:t>
            </a:r>
          </a:p>
          <a:p>
            <a:pPr marL="82064" marR="0" lvl="1" indent="-82064" algn="just" defTabSz="883644" rtl="0" eaLnBrk="0" fontAlgn="auto" latinLnBrk="0" hangingPunct="0">
              <a:lnSpc>
                <a:spcPct val="100000"/>
              </a:lnSpc>
              <a:spcBef>
                <a:spcPts val="0"/>
              </a:spcBef>
              <a:spcAft>
                <a:spcPts val="0"/>
              </a:spcAft>
              <a:buClr>
                <a:prstClr val="black">
                  <a:lumMod val="75000"/>
                  <a:lumOff val="25000"/>
                </a:prstClr>
              </a:buClr>
              <a:buSzTx/>
              <a:buFont typeface="Arial" pitchFamily="34" charset="0"/>
              <a:buChar char="•"/>
              <a:tabLst/>
              <a:defRPr/>
            </a:pPr>
            <a:r>
              <a:rPr lang="en-US" sz="900" kern="0">
                <a:solidFill>
                  <a:prstClr val="black"/>
                </a:solidFill>
                <a:latin typeface="Verdana"/>
                <a:cs typeface="Arial" pitchFamily="34" charset="0"/>
              </a:rPr>
              <a:t>Fiscal Policy and Resource Mobilization</a:t>
            </a:r>
          </a:p>
          <a:p>
            <a:pPr marL="82064" marR="0" lvl="1" indent="-82064" algn="just" defTabSz="883644" rtl="0" eaLnBrk="0" fontAlgn="auto" latinLnBrk="0" hangingPunct="0">
              <a:lnSpc>
                <a:spcPct val="100000"/>
              </a:lnSpc>
              <a:spcBef>
                <a:spcPts val="0"/>
              </a:spcBef>
              <a:spcAft>
                <a:spcPts val="0"/>
              </a:spcAft>
              <a:buClr>
                <a:prstClr val="black">
                  <a:lumMod val="75000"/>
                  <a:lumOff val="25000"/>
                </a:prstClr>
              </a:buClr>
              <a:buSzTx/>
              <a:buFont typeface="Arial" pitchFamily="34" charset="0"/>
              <a:buChar char="•"/>
              <a:tabLst/>
              <a:defRPr/>
            </a:pPr>
            <a:r>
              <a:rPr lang="en-US" sz="900" kern="0">
                <a:solidFill>
                  <a:prstClr val="black"/>
                </a:solidFill>
                <a:latin typeface="Verdana"/>
                <a:cs typeface="Arial" pitchFamily="34" charset="0"/>
              </a:rPr>
              <a:t>Statistical Systems Strengthening</a:t>
            </a:r>
          </a:p>
          <a:p>
            <a:pPr marL="82064" marR="0" lvl="1" indent="-82064" algn="just" defTabSz="883644" rtl="0" eaLnBrk="0" fontAlgn="auto" latinLnBrk="0" hangingPunct="0">
              <a:lnSpc>
                <a:spcPct val="100000"/>
              </a:lnSpc>
              <a:spcBef>
                <a:spcPts val="0"/>
              </a:spcBef>
              <a:spcAft>
                <a:spcPts val="0"/>
              </a:spcAft>
              <a:buClr>
                <a:prstClr val="black">
                  <a:lumMod val="75000"/>
                  <a:lumOff val="25000"/>
                </a:prstClr>
              </a:buClr>
              <a:buSzTx/>
              <a:buFont typeface="Arial" pitchFamily="34" charset="0"/>
              <a:buChar char="•"/>
              <a:tabLst/>
              <a:defRPr/>
            </a:pPr>
            <a:r>
              <a:rPr lang="en-US" sz="900" kern="0">
                <a:solidFill>
                  <a:prstClr val="black"/>
                </a:solidFill>
                <a:latin typeface="Verdana"/>
                <a:cs typeface="Arial" pitchFamily="34" charset="0"/>
              </a:rPr>
              <a:t>Data Analytics and Survey Methodologies</a:t>
            </a:r>
          </a:p>
          <a:p>
            <a:pPr marL="82064" marR="0" lvl="1" indent="-82064" algn="just" defTabSz="883644" rtl="0" eaLnBrk="0" fontAlgn="auto" latinLnBrk="0" hangingPunct="0">
              <a:lnSpc>
                <a:spcPct val="100000"/>
              </a:lnSpc>
              <a:spcBef>
                <a:spcPts val="0"/>
              </a:spcBef>
              <a:spcAft>
                <a:spcPts val="0"/>
              </a:spcAft>
              <a:buClr>
                <a:prstClr val="black">
                  <a:lumMod val="75000"/>
                  <a:lumOff val="25000"/>
                </a:prstClr>
              </a:buClr>
              <a:buSzTx/>
              <a:buFont typeface="Arial" pitchFamily="34" charset="0"/>
              <a:buChar char="•"/>
              <a:tabLst/>
              <a:defRPr/>
            </a:pPr>
            <a:r>
              <a:rPr lang="en-US" sz="900" kern="0">
                <a:solidFill>
                  <a:prstClr val="black"/>
                </a:solidFill>
                <a:latin typeface="Verdana"/>
                <a:cs typeface="Arial" pitchFamily="34" charset="0"/>
              </a:rPr>
              <a:t>Government Advisory and Public Sector Reforms</a:t>
            </a:r>
          </a:p>
        </p:txBody>
      </p:sp>
      <p:sp>
        <p:nvSpPr>
          <p:cNvPr id="35" name="Rectangle 12">
            <a:extLst>
              <a:ext uri="{FF2B5EF4-FFF2-40B4-BE49-F238E27FC236}">
                <a16:creationId xmlns:a16="http://schemas.microsoft.com/office/drawing/2014/main" id="{530D1B5A-12FB-4389-8B87-68B69AB2E100}"/>
              </a:ext>
            </a:extLst>
          </p:cNvPr>
          <p:cNvSpPr>
            <a:spLocks noChangeArrowheads="1"/>
          </p:cNvSpPr>
          <p:nvPr/>
        </p:nvSpPr>
        <p:spPr bwMode="auto">
          <a:xfrm>
            <a:off x="468922" y="2391411"/>
            <a:ext cx="11311960" cy="3893939"/>
          </a:xfrm>
          <a:prstGeom prst="rect">
            <a:avLst/>
          </a:prstGeom>
          <a:noFill/>
          <a:ln w="9525" algn="ctr">
            <a:noFill/>
            <a:miter lim="800000"/>
            <a:headEnd/>
            <a:tailEnd/>
          </a:ln>
          <a:effectLst>
            <a:outerShdw blurRad="50800" dist="50800" dir="5400000" algn="ctr" rotWithShape="0">
              <a:schemeClr val="bg1"/>
            </a:outerShdw>
          </a:effectLst>
        </p:spPr>
        <p:txBody>
          <a:bodyPr wrap="square" lIns="92002" tIns="46000" rIns="0" bIns="46000">
            <a:spAutoFit/>
          </a:bodyPr>
          <a:lstStyle/>
          <a:p>
            <a:pPr lvl="0" algn="just" defTabSz="913521">
              <a:spcAft>
                <a:spcPts val="300"/>
              </a:spcAft>
              <a:defRPr/>
            </a:pPr>
            <a:r>
              <a:rPr lang="en-US" sz="900" err="1">
                <a:solidFill>
                  <a:prstClr val="black"/>
                </a:solidFill>
              </a:rPr>
              <a:t>kartik</a:t>
            </a:r>
            <a:r>
              <a:rPr lang="en-US" sz="900">
                <a:solidFill>
                  <a:prstClr val="black"/>
                </a:solidFill>
              </a:rPr>
              <a:t> is a Director with Deloitte India with over 13 years of professional experience in economic policy, fiscal management, SDG financing, public sector reforms, economic forecasting, monitoring and evaluation, and government advisory services. He has led and supported assignments for national and state governments, multilateral agencies, and development partners including ADB, GIZ, World Bank, DfID, Government of India, and multiple State Governments. His expertise includes macroeconomic and fiscal analysis, growth diagnostics, public expenditure management, outcome budgeting, medium-term fiscal frameworks, SDG financing strategies, statistical strengthening, survey design, and evidence-based policymaking. He has extensive experience in stakeholder consultations, government coordination, policy formulation, economic assessments, development planning, and data-driven decision </a:t>
            </a:r>
            <a:r>
              <a:rPr lang="en-US" sz="900" err="1">
                <a:solidFill>
                  <a:prstClr val="black"/>
                </a:solidFill>
              </a:rPr>
              <a:t>making.Kartik</a:t>
            </a:r>
            <a:r>
              <a:rPr lang="en-US" sz="900">
                <a:solidFill>
                  <a:prstClr val="black"/>
                </a:solidFill>
              </a:rPr>
              <a:t> is proficient in advanced analytical techniques and statistical tools including Excel and STATA, and has successfully delivered projects across India and Bhutan.</a:t>
            </a:r>
            <a:endParaRPr kumimoji="0" lang="en-US" sz="900" b="1" i="0" u="none" strike="noStrike" kern="0" cap="none" spc="0" normalizeH="0" baseline="0" noProof="0">
              <a:ln>
                <a:noFill/>
              </a:ln>
              <a:solidFill>
                <a:prstClr val="black"/>
              </a:solidFill>
              <a:effectLst/>
              <a:uLnTx/>
              <a:uFillTx/>
              <a:latin typeface="Verdana"/>
              <a:ea typeface="+mn-ea"/>
              <a:cs typeface="Arial" charset="0"/>
            </a:endParaRPr>
          </a:p>
          <a:p>
            <a:pPr marL="0" marR="0" lvl="0" indent="0" algn="l" defTabSz="913521" rtl="0" eaLnBrk="1" fontAlgn="auto" latinLnBrk="0" hangingPunct="1">
              <a:lnSpc>
                <a:spcPct val="100000"/>
              </a:lnSpc>
              <a:spcBef>
                <a:spcPts val="0"/>
              </a:spcBef>
              <a:spcAft>
                <a:spcPts val="300"/>
              </a:spcAft>
              <a:buClrTx/>
              <a:buSzTx/>
              <a:buFontTx/>
              <a:buNone/>
              <a:tabLst/>
              <a:defRPr/>
            </a:pPr>
            <a:endParaRPr kumimoji="0" lang="en-US" sz="900" b="1" i="0" u="none" strike="noStrike" kern="0" cap="none" spc="0" normalizeH="0" baseline="0" noProof="0">
              <a:ln>
                <a:noFill/>
              </a:ln>
              <a:solidFill>
                <a:prstClr val="black"/>
              </a:solidFill>
              <a:effectLst/>
              <a:uLnTx/>
              <a:uFillTx/>
              <a:latin typeface="Verdana"/>
              <a:ea typeface="+mn-ea"/>
              <a:cs typeface="Arial" charset="0"/>
            </a:endParaRPr>
          </a:p>
          <a:p>
            <a:pPr marL="0" marR="0" lvl="0" indent="0" algn="l" defTabSz="913521" rtl="0" eaLnBrk="1" fontAlgn="auto" latinLnBrk="0" hangingPunct="1">
              <a:lnSpc>
                <a:spcPct val="100000"/>
              </a:lnSpc>
              <a:spcBef>
                <a:spcPts val="0"/>
              </a:spcBef>
              <a:spcAft>
                <a:spcPts val="300"/>
              </a:spcAft>
              <a:buClrTx/>
              <a:buSzTx/>
              <a:buFontTx/>
              <a:buNone/>
              <a:tabLst/>
              <a:defRPr/>
            </a:pPr>
            <a:endParaRPr lang="en-US" sz="900" b="1" kern="0">
              <a:solidFill>
                <a:prstClr val="black"/>
              </a:solidFill>
              <a:latin typeface="Verdana"/>
              <a:cs typeface="Arial" charset="0"/>
            </a:endParaRPr>
          </a:p>
          <a:p>
            <a:pPr marL="0" marR="0" lvl="0" indent="0" algn="l" defTabSz="913521" rtl="0" eaLnBrk="1" fontAlgn="auto" latinLnBrk="0" hangingPunct="1">
              <a:lnSpc>
                <a:spcPct val="100000"/>
              </a:lnSpc>
              <a:spcBef>
                <a:spcPts val="0"/>
              </a:spcBef>
              <a:spcAft>
                <a:spcPts val="300"/>
              </a:spcAft>
              <a:buClrTx/>
              <a:buSzTx/>
              <a:buFontTx/>
              <a:buNone/>
              <a:tabLst/>
              <a:defRPr/>
            </a:pPr>
            <a:r>
              <a:rPr kumimoji="0" lang="en-US" sz="900" b="1" i="0" u="none" strike="noStrike" kern="0" cap="none" spc="0" normalizeH="0" baseline="0" noProof="0">
                <a:ln>
                  <a:noFill/>
                </a:ln>
                <a:solidFill>
                  <a:prstClr val="black"/>
                </a:solidFill>
                <a:effectLst/>
                <a:uLnTx/>
                <a:uFillTx/>
                <a:latin typeface="Verdana"/>
                <a:ea typeface="+mn-ea"/>
                <a:cs typeface="Arial" charset="0"/>
              </a:rPr>
              <a:t>Relevant experience</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Led preparation of SDG-linked Outcome Budgets </a:t>
            </a:r>
            <a:r>
              <a:rPr kumimoji="0" lang="en-US" sz="9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and Output-Outcome Monitoring Frameworks for government departments</a:t>
            </a: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 strengthening alignment of public expenditure with SDG targets.</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Conducted SDG financing and funding gap assessments and developed </a:t>
            </a:r>
            <a:r>
              <a:rPr kumimoji="0" lang="en-US" sz="9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resource mobilization strategies for sustainable development and climate action</a:t>
            </a: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Developed economic </a:t>
            </a:r>
            <a:r>
              <a:rPr kumimoji="0" lang="en-US" sz="9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growth strategies, GSDP projections, monitoring frameworks, and medium-term fiscal plans </a:t>
            </a: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to support long-term state development.</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Designed economic and fiscal intelligence frameworks using </a:t>
            </a:r>
            <a:r>
              <a:rPr kumimoji="0" lang="en-US" sz="9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advanced analytics, forecasting models, survey methodologies, and statistical strengthening approaches.</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Undertook economic, fiscal, and public finance analyses to support</a:t>
            </a:r>
            <a:r>
              <a:rPr kumimoji="0" lang="en-US" sz="9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 policy reforms, expenditure prioritization, debt sustainability, and revenue enhancement.</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Assessed the economic impact of public financial management reforms through macroe</a:t>
            </a:r>
            <a:r>
              <a:rPr kumimoji="0" lang="en-US" sz="9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conomic modelling and cost-benefit analysis.</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Developed scientific valuation frameworks using econometric techniques and statistical models for immovable property valuation.</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Designed and operationalized </a:t>
            </a:r>
            <a:r>
              <a:rPr kumimoji="0" lang="en-US" sz="9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Monitoring &amp; Evaluation systems, dashboards, and performance measurement frameworks across government departments</a:t>
            </a: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Formulated intergovernmental fiscal transfer frameworks through </a:t>
            </a:r>
            <a:r>
              <a:rPr kumimoji="0" lang="en-US" sz="9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extensive fiscal analysis, stakeholder consultations, and scenario modelling</a:t>
            </a: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Supported Finance Commission submissions through </a:t>
            </a:r>
            <a:r>
              <a:rPr kumimoji="0" lang="en-US" sz="9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macroeconomic, fiscal, revenue, expenditure, and socio-economic assessments.</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Conducted fiscal, expenditure, and governance analyses to strengthen decentralized </a:t>
            </a:r>
            <a:r>
              <a:rPr kumimoji="0" lang="en-US" sz="9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planning and local government systems.</a:t>
            </a:r>
          </a:p>
          <a:p>
            <a:pPr marL="171450" indent="-171450" algn="just" defTabSz="913521">
              <a:spcAft>
                <a:spcPts val="300"/>
              </a:spcAft>
              <a:buFont typeface="Arial" panose="020B0604020202020204" pitchFamily="34" charset="0"/>
              <a:buChar char="•"/>
              <a:defRPr/>
            </a:pPr>
            <a:r>
              <a:rPr kumimoji="0" lang="en-US" sz="9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Supported institutional </a:t>
            </a: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strengthening, tax administration reforms</a:t>
            </a:r>
            <a:r>
              <a:rPr kumimoji="0" lang="en-US" sz="9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 GST transition planning, and large-scale capacity-building initiatives</a:t>
            </a: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Undertook sectoral policy, regulatory, and </a:t>
            </a:r>
            <a:r>
              <a:rPr kumimoji="0" lang="en-US" sz="9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economic impact assessments using evidence-based and data-driven analytical approaches</a:t>
            </a: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a:t>
            </a:r>
          </a:p>
        </p:txBody>
      </p:sp>
      <p:grpSp>
        <p:nvGrpSpPr>
          <p:cNvPr id="22" name="Group 21">
            <a:extLst>
              <a:ext uri="{FF2B5EF4-FFF2-40B4-BE49-F238E27FC236}">
                <a16:creationId xmlns:a16="http://schemas.microsoft.com/office/drawing/2014/main" id="{A276BA3C-2C57-4AB3-B58D-1D06587C7BDB}"/>
              </a:ext>
            </a:extLst>
          </p:cNvPr>
          <p:cNvGrpSpPr/>
          <p:nvPr/>
        </p:nvGrpSpPr>
        <p:grpSpPr>
          <a:xfrm>
            <a:off x="564313" y="2127525"/>
            <a:ext cx="11267234" cy="263886"/>
            <a:chOff x="566664" y="1911318"/>
            <a:chExt cx="11082488" cy="399693"/>
          </a:xfrm>
        </p:grpSpPr>
        <p:cxnSp>
          <p:nvCxnSpPr>
            <p:cNvPr id="23" name="Straight Connector 22">
              <a:extLst>
                <a:ext uri="{FF2B5EF4-FFF2-40B4-BE49-F238E27FC236}">
                  <a16:creationId xmlns:a16="http://schemas.microsoft.com/office/drawing/2014/main" id="{D8E54776-0F62-4EFA-9251-AED4611CA82F}"/>
                </a:ext>
              </a:extLst>
            </p:cNvPr>
            <p:cNvCxnSpPr/>
            <p:nvPr/>
          </p:nvCxnSpPr>
          <p:spPr bwMode="auto">
            <a:xfrm>
              <a:off x="566664" y="2311011"/>
              <a:ext cx="11082488"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E1A5DAED-D6A9-4696-BD5C-B6DEE78D3516}"/>
                </a:ext>
              </a:extLst>
            </p:cNvPr>
            <p:cNvSpPr txBox="1"/>
            <p:nvPr/>
          </p:nvSpPr>
          <p:spPr>
            <a:xfrm>
              <a:off x="5105154" y="1911318"/>
              <a:ext cx="1930387" cy="226409"/>
            </a:xfrm>
            <a:prstGeom prst="rect">
              <a:avLst/>
            </a:prstGeom>
            <a:solidFill>
              <a:schemeClr val="bg1"/>
            </a:solidFill>
          </p:spPr>
          <p:txBody>
            <a:bodyPr wrap="square" rtlCol="0">
              <a:spAutoFit/>
            </a:bodyPr>
            <a:lstStyle/>
            <a:p>
              <a:pPr marL="1588" marR="0" lvl="0" indent="0" algn="l" defTabSz="914400" rtl="0" eaLnBrk="1" fontAlgn="base" latinLnBrk="0" hangingPunct="1">
                <a:lnSpc>
                  <a:spcPct val="106000"/>
                </a:lnSpc>
                <a:spcBef>
                  <a:spcPct val="80000"/>
                </a:spcBef>
                <a:spcAft>
                  <a:spcPct val="0"/>
                </a:spcAft>
                <a:buClr>
                  <a:srgbClr val="000000"/>
                </a:buClr>
                <a:buSzTx/>
                <a:buFontTx/>
                <a:buNone/>
                <a:tabLst/>
                <a:defRPr/>
              </a:pPr>
              <a:r>
                <a:rPr kumimoji="0" lang="en-US" sz="9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Professional Highlights</a:t>
              </a:r>
            </a:p>
          </p:txBody>
        </p:sp>
      </p:grpSp>
      <p:sp>
        <p:nvSpPr>
          <p:cNvPr id="10" name="Text Placeholder 1">
            <a:extLst>
              <a:ext uri="{FF2B5EF4-FFF2-40B4-BE49-F238E27FC236}">
                <a16:creationId xmlns:a16="http://schemas.microsoft.com/office/drawing/2014/main" id="{705366B8-41E2-26C7-7B90-C1B2D72F098A}"/>
              </a:ext>
            </a:extLst>
          </p:cNvPr>
          <p:cNvSpPr txBox="1">
            <a:spLocks/>
          </p:cNvSpPr>
          <p:nvPr/>
        </p:nvSpPr>
        <p:spPr>
          <a:xfrm>
            <a:off x="411118" y="532879"/>
            <a:ext cx="11188700" cy="757255"/>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600" b="0" kern="1200">
                <a:solidFill>
                  <a:srgbClr val="575757"/>
                </a:solidFill>
                <a:latin typeface="Calibri" panose="020F0502020204030204" pitchFamily="34" charset="0"/>
                <a:ea typeface="+mn-ea"/>
                <a:cs typeface="Calibri" panose="020F0502020204030204" pitchFamily="34" charset="0"/>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fr-FR" sz="1400">
                <a:latin typeface="+mj-lt"/>
              </a:rPr>
              <a:t>Deloitte Touche </a:t>
            </a:r>
            <a:r>
              <a:rPr lang="fr-FR" sz="1400" err="1">
                <a:latin typeface="+mj-lt"/>
              </a:rPr>
              <a:t>Tohmatsu</a:t>
            </a:r>
            <a:r>
              <a:rPr lang="fr-FR" sz="1400">
                <a:latin typeface="+mj-lt"/>
              </a:rPr>
              <a:t> </a:t>
            </a:r>
            <a:r>
              <a:rPr lang="fr-FR" sz="1400" err="1">
                <a:latin typeface="+mj-lt"/>
              </a:rPr>
              <a:t>India</a:t>
            </a:r>
            <a:r>
              <a:rPr lang="fr-FR" sz="1400">
                <a:latin typeface="+mj-lt"/>
              </a:rPr>
              <a:t> LLP</a:t>
            </a:r>
            <a:endParaRPr lang="en-US" sz="1400">
              <a:latin typeface="+mj-lt"/>
            </a:endParaRPr>
          </a:p>
          <a:p>
            <a:endParaRPr lang="en-US" sz="1400">
              <a:latin typeface="+mj-lt"/>
            </a:endParaRPr>
          </a:p>
        </p:txBody>
      </p:sp>
      <p:sp>
        <p:nvSpPr>
          <p:cNvPr id="11" name="Title 2">
            <a:extLst>
              <a:ext uri="{FF2B5EF4-FFF2-40B4-BE49-F238E27FC236}">
                <a16:creationId xmlns:a16="http://schemas.microsoft.com/office/drawing/2014/main" id="{5E2236DB-2B4A-044E-4DF9-77E01CF54248}"/>
              </a:ext>
            </a:extLst>
          </p:cNvPr>
          <p:cNvSpPr txBox="1">
            <a:spLocks/>
          </p:cNvSpPr>
          <p:nvPr/>
        </p:nvSpPr>
        <p:spPr>
          <a:xfrm>
            <a:off x="411118" y="213764"/>
            <a:ext cx="11369764" cy="243926"/>
          </a:xfrm>
        </p:spPr>
        <p:txBody>
          <a:bodyPr vert="horz" lIns="0" tIns="0" rIns="0" bIns="0" rtlCol="0" anchor="t" anchorCtr="0">
            <a:noAutofit/>
          </a:bodyPr>
          <a:lstStyle>
            <a:lvl1pPr algn="l" defTabSz="914400" rtl="0" eaLnBrk="1" latinLnBrk="0" hangingPunct="1">
              <a:spcBef>
                <a:spcPct val="0"/>
              </a:spcBef>
              <a:buNone/>
              <a:defRPr sz="2000" kern="1200">
                <a:solidFill>
                  <a:schemeClr val="tx1"/>
                </a:solidFill>
                <a:latin typeface="Calibri" panose="020F0502020204030204" pitchFamily="34" charset="0"/>
                <a:ea typeface="+mj-ea"/>
                <a:cs typeface="Calibri" panose="020F0502020204030204" pitchFamily="34" charset="0"/>
              </a:defRPr>
            </a:lvl1pPr>
          </a:lstStyle>
          <a:p>
            <a:r>
              <a:rPr lang="en-US" sz="1800" b="1">
                <a:latin typeface="+mj-lt"/>
              </a:rPr>
              <a:t>Information on the qualification of key staff</a:t>
            </a:r>
          </a:p>
        </p:txBody>
      </p:sp>
      <p:cxnSp>
        <p:nvCxnSpPr>
          <p:cNvPr id="12" name="Straight Arrow Connector 11">
            <a:extLst>
              <a:ext uri="{FF2B5EF4-FFF2-40B4-BE49-F238E27FC236}">
                <a16:creationId xmlns:a16="http://schemas.microsoft.com/office/drawing/2014/main" id="{ED01DED2-5C75-2B99-948E-DED9C081671E}"/>
              </a:ext>
            </a:extLst>
          </p:cNvPr>
          <p:cNvCxnSpPr/>
          <p:nvPr/>
        </p:nvCxnSpPr>
        <p:spPr>
          <a:xfrm flipV="1">
            <a:off x="333466" y="826438"/>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994C599-17C4-7F93-19EE-FC335B747928}"/>
              </a:ext>
            </a:extLst>
          </p:cNvPr>
          <p:cNvPicPr>
            <a:picLocks noChangeAspect="1"/>
          </p:cNvPicPr>
          <p:nvPr/>
        </p:nvPicPr>
        <p:blipFill>
          <a:blip r:embed="rId3"/>
          <a:stretch>
            <a:fillRect/>
          </a:stretch>
        </p:blipFill>
        <p:spPr>
          <a:xfrm>
            <a:off x="410280" y="1077736"/>
            <a:ext cx="1143388" cy="1062383"/>
          </a:xfrm>
          <a:prstGeom prst="flowChartConnector">
            <a:avLst/>
          </a:prstGeom>
        </p:spPr>
      </p:pic>
      <p:sp>
        <p:nvSpPr>
          <p:cNvPr id="13" name="Flowchart: Connector 12">
            <a:extLst>
              <a:ext uri="{FF2B5EF4-FFF2-40B4-BE49-F238E27FC236}">
                <a16:creationId xmlns:a16="http://schemas.microsoft.com/office/drawing/2014/main" id="{B347B2D7-9BF0-B2E5-5791-D898DEC82301}"/>
              </a:ext>
            </a:extLst>
          </p:cNvPr>
          <p:cNvSpPr/>
          <p:nvPr/>
        </p:nvSpPr>
        <p:spPr bwMode="gray">
          <a:xfrm>
            <a:off x="410281" y="1077731"/>
            <a:ext cx="1143387" cy="1062388"/>
          </a:xfrm>
          <a:prstGeom prst="flowChartConnector">
            <a:avLst/>
          </a:prstGeom>
          <a:noFill/>
          <a:ln w="19050" algn="ctr">
            <a:solidFill>
              <a:srgbClr val="0097A9"/>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spTree>
    <p:extLst>
      <p:ext uri="{BB962C8B-B14F-4D97-AF65-F5344CB8AC3E}">
        <p14:creationId xmlns:p14="http://schemas.microsoft.com/office/powerpoint/2010/main" val="296974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44BC4-A00F-EED2-4764-5F6B25B929DA}"/>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6A416975-207D-4DEB-5C83-E1351D0D8B1B}"/>
              </a:ext>
            </a:extLst>
          </p:cNvPr>
          <p:cNvGrpSpPr/>
          <p:nvPr/>
        </p:nvGrpSpPr>
        <p:grpSpPr>
          <a:xfrm>
            <a:off x="4789575" y="1026306"/>
            <a:ext cx="2919133" cy="226409"/>
            <a:chOff x="6384510" y="982412"/>
            <a:chExt cx="3878709" cy="226409"/>
          </a:xfrm>
        </p:grpSpPr>
        <p:cxnSp>
          <p:nvCxnSpPr>
            <p:cNvPr id="39" name="Straight Connector 38">
              <a:extLst>
                <a:ext uri="{FF2B5EF4-FFF2-40B4-BE49-F238E27FC236}">
                  <a16:creationId xmlns:a16="http://schemas.microsoft.com/office/drawing/2014/main" id="{C0C22B27-4010-FBE6-54EB-81DD323DD91F}"/>
                </a:ext>
              </a:extLst>
            </p:cNvPr>
            <p:cNvCxnSpPr/>
            <p:nvPr/>
          </p:nvCxnSpPr>
          <p:spPr bwMode="auto">
            <a:xfrm>
              <a:off x="6384510" y="1091239"/>
              <a:ext cx="3878709"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0" name="TextBox 39">
              <a:extLst>
                <a:ext uri="{FF2B5EF4-FFF2-40B4-BE49-F238E27FC236}">
                  <a16:creationId xmlns:a16="http://schemas.microsoft.com/office/drawing/2014/main" id="{73969C7A-A291-D414-84CF-383504E2B70E}"/>
                </a:ext>
              </a:extLst>
            </p:cNvPr>
            <p:cNvSpPr txBox="1"/>
            <p:nvPr/>
          </p:nvSpPr>
          <p:spPr>
            <a:xfrm>
              <a:off x="7565225" y="982412"/>
              <a:ext cx="1497298" cy="226409"/>
            </a:xfrm>
            <a:prstGeom prst="rect">
              <a:avLst/>
            </a:prstGeom>
            <a:solidFill>
              <a:schemeClr val="bg1"/>
            </a:solidFill>
          </p:spPr>
          <p:txBody>
            <a:bodyPr wrap="square" rtlCol="0">
              <a:spAutoFit/>
            </a:bodyPr>
            <a:lstStyle/>
            <a:p>
              <a:pPr marL="1588" marR="0" lvl="0" indent="0" algn="ctr" defTabSz="914400" rtl="0" eaLnBrk="1" fontAlgn="base" latinLnBrk="0" hangingPunct="1">
                <a:lnSpc>
                  <a:spcPct val="106000"/>
                </a:lnSpc>
                <a:spcBef>
                  <a:spcPct val="80000"/>
                </a:spcBef>
                <a:spcAft>
                  <a:spcPct val="0"/>
                </a:spcAft>
                <a:buClr>
                  <a:srgbClr val="000000"/>
                </a:buClr>
                <a:buSzTx/>
                <a:buFontTx/>
                <a:buNone/>
                <a:tabLst/>
                <a:defRPr/>
              </a:pPr>
              <a:r>
                <a:rPr kumimoji="0" lang="en-US" sz="9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Education</a:t>
              </a:r>
            </a:p>
          </p:txBody>
        </p:sp>
      </p:grpSp>
      <p:sp>
        <p:nvSpPr>
          <p:cNvPr id="38" name="Rectangle 12">
            <a:extLst>
              <a:ext uri="{FF2B5EF4-FFF2-40B4-BE49-F238E27FC236}">
                <a16:creationId xmlns:a16="http://schemas.microsoft.com/office/drawing/2014/main" id="{0CCE6B1A-D91C-DA5B-2DA2-4B5B64D6E015}"/>
              </a:ext>
            </a:extLst>
          </p:cNvPr>
          <p:cNvSpPr>
            <a:spLocks noChangeArrowheads="1"/>
          </p:cNvSpPr>
          <p:nvPr/>
        </p:nvSpPr>
        <p:spPr bwMode="auto">
          <a:xfrm>
            <a:off x="4727121" y="1193956"/>
            <a:ext cx="2981587" cy="646896"/>
          </a:xfrm>
          <a:prstGeom prst="rect">
            <a:avLst/>
          </a:prstGeom>
          <a:noFill/>
          <a:ln w="9525" algn="ctr">
            <a:noFill/>
            <a:miter lim="800000"/>
            <a:headEnd/>
            <a:tailEnd/>
          </a:ln>
          <a:effectLst>
            <a:outerShdw blurRad="50800" dist="50800" dir="5400000" algn="ctr" rotWithShape="0">
              <a:schemeClr val="bg1"/>
            </a:outerShdw>
          </a:effectLst>
        </p:spPr>
        <p:txBody>
          <a:bodyPr wrap="square" lIns="92002" tIns="46000" rIns="92002" bIns="46000">
            <a:spAutoFit/>
          </a:bodyPr>
          <a:lstStyle/>
          <a:p>
            <a:pPr marL="118698" marR="0" lvl="1" indent="-118698" defTabSz="914378"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he-IL" sz="900" kern="0">
                <a:latin typeface="Verdana"/>
              </a:rPr>
              <a:t>Master's in International Affairs, Geneva</a:t>
            </a:r>
          </a:p>
          <a:p>
            <a:pPr marL="118698" marR="0" lvl="1" indent="-118698" defTabSz="914378"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he-IL" sz="900" kern="0">
                <a:latin typeface="Verdana"/>
              </a:rPr>
              <a:t>Graduate Institute of International and Development Studies, Switzerland</a:t>
            </a:r>
          </a:p>
          <a:p>
            <a:pPr marL="118698" marR="0" lvl="1" indent="-118698" defTabSz="914378"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he-IL" sz="900" kern="0">
                <a:latin typeface="Verdana"/>
              </a:rPr>
              <a:t>B.A. (Hons.) Economics, University of Delhi</a:t>
            </a:r>
          </a:p>
        </p:txBody>
      </p:sp>
      <p:sp>
        <p:nvSpPr>
          <p:cNvPr id="16" name="Title 1">
            <a:extLst>
              <a:ext uri="{FF2B5EF4-FFF2-40B4-BE49-F238E27FC236}">
                <a16:creationId xmlns:a16="http://schemas.microsoft.com/office/drawing/2014/main" id="{25C9C20C-0E2E-F58C-E0A1-C2202B59D034}"/>
              </a:ext>
            </a:extLst>
          </p:cNvPr>
          <p:cNvSpPr txBox="1">
            <a:spLocks/>
          </p:cNvSpPr>
          <p:nvPr/>
        </p:nvSpPr>
        <p:spPr bwMode="gray">
          <a:xfrm>
            <a:off x="1707700" y="1147185"/>
            <a:ext cx="2350787" cy="893771"/>
          </a:xfrm>
          <a:prstGeom prst="rect">
            <a:avLst/>
          </a:prstGeom>
          <a:noFill/>
          <a:ln w="9525">
            <a:noFill/>
            <a:miter lim="800000"/>
            <a:headEnd/>
            <a:tailEnd/>
          </a:ln>
        </p:spPr>
        <p:txBody>
          <a:bodyPr vert="horz" wrap="square" lIns="0" tIns="0" rIns="0" bIns="0" numCol="1" anchor="b" anchorCtr="0" compatLnSpc="1">
            <a:prstTxWarp prst="textNoShape">
              <a:avLst/>
            </a:prstTxWarp>
            <a:spAutoFit/>
          </a:bodyPr>
          <a:lstStyle>
            <a:lvl1pPr algn="l" rtl="0" eaLnBrk="0" fontAlgn="base" hangingPunct="0">
              <a:lnSpc>
                <a:spcPct val="106000"/>
              </a:lnSpc>
              <a:spcBef>
                <a:spcPct val="0"/>
              </a:spcBef>
              <a:spcAft>
                <a:spcPct val="0"/>
              </a:spcAft>
              <a:defRPr sz="1600" b="1">
                <a:solidFill>
                  <a:schemeClr val="tx1"/>
                </a:solidFill>
                <a:latin typeface="+mj-lt"/>
                <a:ea typeface="+mj-ea"/>
                <a:cs typeface="+mj-cs"/>
              </a:defRPr>
            </a:lvl1pPr>
            <a:lvl2pPr algn="l" rtl="0" eaLnBrk="0" fontAlgn="base" hangingPunct="0">
              <a:lnSpc>
                <a:spcPct val="106000"/>
              </a:lnSpc>
              <a:spcBef>
                <a:spcPct val="0"/>
              </a:spcBef>
              <a:spcAft>
                <a:spcPct val="0"/>
              </a:spcAft>
              <a:defRPr sz="1600" b="1">
                <a:solidFill>
                  <a:schemeClr val="tx1"/>
                </a:solidFill>
                <a:latin typeface="Arial" charset="0"/>
              </a:defRPr>
            </a:lvl2pPr>
            <a:lvl3pPr algn="l" rtl="0" eaLnBrk="0" fontAlgn="base" hangingPunct="0">
              <a:lnSpc>
                <a:spcPct val="106000"/>
              </a:lnSpc>
              <a:spcBef>
                <a:spcPct val="0"/>
              </a:spcBef>
              <a:spcAft>
                <a:spcPct val="0"/>
              </a:spcAft>
              <a:defRPr sz="1600" b="1">
                <a:solidFill>
                  <a:schemeClr val="tx1"/>
                </a:solidFill>
                <a:latin typeface="Arial" charset="0"/>
              </a:defRPr>
            </a:lvl3pPr>
            <a:lvl4pPr algn="l" rtl="0" eaLnBrk="0" fontAlgn="base" hangingPunct="0">
              <a:lnSpc>
                <a:spcPct val="106000"/>
              </a:lnSpc>
              <a:spcBef>
                <a:spcPct val="0"/>
              </a:spcBef>
              <a:spcAft>
                <a:spcPct val="0"/>
              </a:spcAft>
              <a:defRPr sz="1600" b="1">
                <a:solidFill>
                  <a:schemeClr val="tx1"/>
                </a:solidFill>
                <a:latin typeface="Arial" charset="0"/>
              </a:defRPr>
            </a:lvl4pPr>
            <a:lvl5pPr algn="l" rtl="0" eaLnBrk="0" fontAlgn="base" hangingPunct="0">
              <a:lnSpc>
                <a:spcPct val="106000"/>
              </a:lnSpc>
              <a:spcBef>
                <a:spcPct val="0"/>
              </a:spcBef>
              <a:spcAft>
                <a:spcPct val="0"/>
              </a:spcAft>
              <a:defRPr sz="1600" b="1">
                <a:solidFill>
                  <a:schemeClr val="tx1"/>
                </a:solidFill>
                <a:latin typeface="Arial" charset="0"/>
              </a:defRPr>
            </a:lvl5pPr>
            <a:lvl6pPr marL="457200" algn="l" rtl="0" eaLnBrk="1" fontAlgn="base" hangingPunct="1">
              <a:lnSpc>
                <a:spcPct val="106000"/>
              </a:lnSpc>
              <a:spcBef>
                <a:spcPct val="0"/>
              </a:spcBef>
              <a:spcAft>
                <a:spcPct val="0"/>
              </a:spcAft>
              <a:defRPr sz="1600" b="1">
                <a:solidFill>
                  <a:schemeClr val="tx1"/>
                </a:solidFill>
                <a:latin typeface="Arial" charset="0"/>
              </a:defRPr>
            </a:lvl6pPr>
            <a:lvl7pPr marL="914400" algn="l" rtl="0" eaLnBrk="1" fontAlgn="base" hangingPunct="1">
              <a:lnSpc>
                <a:spcPct val="106000"/>
              </a:lnSpc>
              <a:spcBef>
                <a:spcPct val="0"/>
              </a:spcBef>
              <a:spcAft>
                <a:spcPct val="0"/>
              </a:spcAft>
              <a:defRPr sz="1600" b="1">
                <a:solidFill>
                  <a:schemeClr val="tx1"/>
                </a:solidFill>
                <a:latin typeface="Arial" charset="0"/>
              </a:defRPr>
            </a:lvl7pPr>
            <a:lvl8pPr marL="1371600" algn="l" rtl="0" eaLnBrk="1" fontAlgn="base" hangingPunct="1">
              <a:lnSpc>
                <a:spcPct val="106000"/>
              </a:lnSpc>
              <a:spcBef>
                <a:spcPct val="0"/>
              </a:spcBef>
              <a:spcAft>
                <a:spcPct val="0"/>
              </a:spcAft>
              <a:defRPr sz="1600" b="1">
                <a:solidFill>
                  <a:schemeClr val="tx1"/>
                </a:solidFill>
                <a:latin typeface="Arial" charset="0"/>
              </a:defRPr>
            </a:lvl8pPr>
            <a:lvl9pPr marL="1828800" algn="l" rtl="0" eaLnBrk="1" fontAlgn="base" hangingPunct="1">
              <a:lnSpc>
                <a:spcPct val="106000"/>
              </a:lnSpc>
              <a:spcBef>
                <a:spcPct val="0"/>
              </a:spcBef>
              <a:spcAft>
                <a:spcPct val="0"/>
              </a:spcAft>
              <a:defRPr sz="1600" b="1">
                <a:solidFill>
                  <a:schemeClr val="tx1"/>
                </a:solidFill>
                <a:latin typeface="Arial" charset="0"/>
              </a:defRPr>
            </a:lvl9pPr>
          </a:lstStyle>
          <a:p>
            <a:pPr marL="0" marR="0" lvl="0" indent="0" algn="l" defTabSz="914400" rtl="0" eaLnBrk="0" fontAlgn="base" latinLnBrk="0" hangingPunct="0">
              <a:lnSpc>
                <a:spcPct val="106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Purvi Chaturvedi</a:t>
            </a:r>
          </a:p>
          <a:p>
            <a:pPr marL="0" marR="0" lvl="0" indent="0" algn="l" defTabSz="914400" rtl="0" eaLnBrk="0" fontAlgn="base" latinLnBrk="0" hangingPunct="0">
              <a:lnSpc>
                <a:spcPct val="106000"/>
              </a:lnSpc>
              <a:spcBef>
                <a:spcPct val="0"/>
              </a:spcBef>
              <a:spcAft>
                <a:spcPct val="0"/>
              </a:spcAft>
              <a:buClrTx/>
              <a:buSzTx/>
              <a:buFontTx/>
              <a:buNone/>
              <a:tabLst/>
              <a:defRPr/>
            </a:pPr>
            <a:r>
              <a:rPr lang="en-US" sz="1400" b="0">
                <a:solidFill>
                  <a:srgbClr val="000000"/>
                </a:solidFill>
                <a:latin typeface="Verdana" panose="020B0604030504040204" pitchFamily="34" charset="0"/>
                <a:ea typeface="Verdana" panose="020B0604030504040204" pitchFamily="34" charset="0"/>
                <a:cs typeface="Verdana" panose="020B0604030504040204" pitchFamily="34" charset="0"/>
              </a:rPr>
              <a:t>Senior Consultant</a:t>
            </a:r>
            <a:r>
              <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Deloitte Touche Tohmatsu India LLP</a:t>
            </a:r>
          </a:p>
        </p:txBody>
      </p:sp>
      <p:grpSp>
        <p:nvGrpSpPr>
          <p:cNvPr id="18" name="Group 17">
            <a:extLst>
              <a:ext uri="{FF2B5EF4-FFF2-40B4-BE49-F238E27FC236}">
                <a16:creationId xmlns:a16="http://schemas.microsoft.com/office/drawing/2014/main" id="{70BF6DE3-D277-CE05-C1BC-129BBA6ACFC6}"/>
              </a:ext>
            </a:extLst>
          </p:cNvPr>
          <p:cNvGrpSpPr/>
          <p:nvPr/>
        </p:nvGrpSpPr>
        <p:grpSpPr>
          <a:xfrm>
            <a:off x="8823201" y="1046575"/>
            <a:ext cx="2649212" cy="226409"/>
            <a:chOff x="6384510" y="1200125"/>
            <a:chExt cx="3878709" cy="226409"/>
          </a:xfrm>
        </p:grpSpPr>
        <p:cxnSp>
          <p:nvCxnSpPr>
            <p:cNvPr id="20" name="Straight Connector 19">
              <a:extLst>
                <a:ext uri="{FF2B5EF4-FFF2-40B4-BE49-F238E27FC236}">
                  <a16:creationId xmlns:a16="http://schemas.microsoft.com/office/drawing/2014/main" id="{4C6CCEAD-A1C5-59C1-7087-BC394FB867EF}"/>
                </a:ext>
              </a:extLst>
            </p:cNvPr>
            <p:cNvCxnSpPr/>
            <p:nvPr/>
          </p:nvCxnSpPr>
          <p:spPr bwMode="auto">
            <a:xfrm>
              <a:off x="6384510" y="1308952"/>
              <a:ext cx="3878709"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FA39CBBC-455B-A293-0919-36DA454F834B}"/>
                </a:ext>
              </a:extLst>
            </p:cNvPr>
            <p:cNvSpPr txBox="1"/>
            <p:nvPr/>
          </p:nvSpPr>
          <p:spPr>
            <a:xfrm>
              <a:off x="6970148" y="1200125"/>
              <a:ext cx="2692976" cy="226409"/>
            </a:xfrm>
            <a:prstGeom prst="rect">
              <a:avLst/>
            </a:prstGeom>
            <a:solidFill>
              <a:schemeClr val="bg1"/>
            </a:solidFill>
          </p:spPr>
          <p:txBody>
            <a:bodyPr wrap="square" rtlCol="0">
              <a:spAutoFit/>
            </a:bodyPr>
            <a:lstStyle/>
            <a:p>
              <a:pPr marL="1588" marR="0" lvl="0" indent="0" algn="ctr" defTabSz="914400" rtl="0" eaLnBrk="1" fontAlgn="base" latinLnBrk="0" hangingPunct="1">
                <a:lnSpc>
                  <a:spcPct val="106000"/>
                </a:lnSpc>
                <a:spcBef>
                  <a:spcPct val="80000"/>
                </a:spcBef>
                <a:spcAft>
                  <a:spcPct val="0"/>
                </a:spcAft>
                <a:buClr>
                  <a:srgbClr val="000000"/>
                </a:buClr>
                <a:buSzTx/>
                <a:buFontTx/>
                <a:buNone/>
                <a:tabLst/>
                <a:defRPr/>
              </a:pPr>
              <a:r>
                <a:rPr kumimoji="0" lang="en-US" sz="9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Subject Matter Expertise</a:t>
              </a:r>
            </a:p>
          </p:txBody>
        </p:sp>
      </p:grpSp>
      <p:sp>
        <p:nvSpPr>
          <p:cNvPr id="19" name="Rectangle 12">
            <a:extLst>
              <a:ext uri="{FF2B5EF4-FFF2-40B4-BE49-F238E27FC236}">
                <a16:creationId xmlns:a16="http://schemas.microsoft.com/office/drawing/2014/main" id="{493D654F-15F4-8F05-83D5-D77A819ABF64}"/>
              </a:ext>
            </a:extLst>
          </p:cNvPr>
          <p:cNvSpPr>
            <a:spLocks noChangeArrowheads="1"/>
          </p:cNvSpPr>
          <p:nvPr/>
        </p:nvSpPr>
        <p:spPr bwMode="auto">
          <a:xfrm>
            <a:off x="8661918" y="1186641"/>
            <a:ext cx="3188404" cy="1200894"/>
          </a:xfrm>
          <a:prstGeom prst="rect">
            <a:avLst/>
          </a:prstGeom>
          <a:noFill/>
          <a:ln w="9525" algn="ctr">
            <a:noFill/>
            <a:miter lim="800000"/>
            <a:headEnd/>
            <a:tailEnd/>
          </a:ln>
          <a:effectLst>
            <a:outerShdw blurRad="50800" dist="50800" dir="5400000" algn="ctr" rotWithShape="0">
              <a:schemeClr val="bg1"/>
            </a:outerShdw>
          </a:effectLst>
        </p:spPr>
        <p:txBody>
          <a:bodyPr wrap="square" lIns="92002" tIns="46000" rIns="92002" bIns="46000">
            <a:spAutoFit/>
          </a:bodyPr>
          <a:lstStyle/>
          <a:p>
            <a:pPr marL="82064" marR="0" lvl="1" indent="-82064" algn="just" defTabSz="883644" rtl="0" eaLnBrk="0" fontAlgn="auto" latinLnBrk="0" hangingPunct="0">
              <a:lnSpc>
                <a:spcPct val="100000"/>
              </a:lnSpc>
              <a:spcBef>
                <a:spcPts val="0"/>
              </a:spcBef>
              <a:spcAft>
                <a:spcPts val="0"/>
              </a:spcAft>
              <a:buClr>
                <a:prstClr val="black">
                  <a:lumMod val="75000"/>
                  <a:lumOff val="25000"/>
                </a:prstClr>
              </a:buClr>
              <a:buSzTx/>
              <a:buFont typeface="Arial" pitchFamily="34" charset="0"/>
              <a:buChar char="•"/>
              <a:tabLst/>
              <a:defRPr/>
            </a:pPr>
            <a:r>
              <a:rPr lang="en-US" sz="900" kern="0">
                <a:solidFill>
                  <a:prstClr val="black"/>
                </a:solidFill>
                <a:latin typeface="Verdana"/>
                <a:cs typeface="Arial" pitchFamily="34" charset="0"/>
              </a:rPr>
              <a:t>Policy Research &amp; Analysis</a:t>
            </a:r>
          </a:p>
          <a:p>
            <a:pPr marL="82064" marR="0" lvl="1" indent="-82064" algn="just" defTabSz="883644" rtl="0" eaLnBrk="0" fontAlgn="auto" latinLnBrk="0" hangingPunct="0">
              <a:lnSpc>
                <a:spcPct val="100000"/>
              </a:lnSpc>
              <a:spcBef>
                <a:spcPts val="0"/>
              </a:spcBef>
              <a:spcAft>
                <a:spcPts val="0"/>
              </a:spcAft>
              <a:buClr>
                <a:prstClr val="black">
                  <a:lumMod val="75000"/>
                  <a:lumOff val="25000"/>
                </a:prstClr>
              </a:buClr>
              <a:buSzTx/>
              <a:buFont typeface="Arial" pitchFamily="34" charset="0"/>
              <a:buChar char="•"/>
              <a:tabLst/>
              <a:defRPr/>
            </a:pPr>
            <a:r>
              <a:rPr lang="en-US" sz="900" kern="0">
                <a:solidFill>
                  <a:prstClr val="black"/>
                </a:solidFill>
                <a:latin typeface="Verdana"/>
                <a:cs typeface="Arial" pitchFamily="34" charset="0"/>
              </a:rPr>
              <a:t>KPI &amp; Indicator Framework Design</a:t>
            </a:r>
          </a:p>
          <a:p>
            <a:pPr marL="82064" marR="0" lvl="1" indent="-82064" algn="just" defTabSz="883644" rtl="0" eaLnBrk="0" fontAlgn="auto" latinLnBrk="0" hangingPunct="0">
              <a:lnSpc>
                <a:spcPct val="100000"/>
              </a:lnSpc>
              <a:spcBef>
                <a:spcPts val="0"/>
              </a:spcBef>
              <a:spcAft>
                <a:spcPts val="0"/>
              </a:spcAft>
              <a:buClr>
                <a:prstClr val="black">
                  <a:lumMod val="75000"/>
                  <a:lumOff val="25000"/>
                </a:prstClr>
              </a:buClr>
              <a:buSzTx/>
              <a:buFont typeface="Arial" pitchFamily="34" charset="0"/>
              <a:buChar char="•"/>
              <a:tabLst/>
              <a:defRPr/>
            </a:pPr>
            <a:r>
              <a:rPr lang="en-US" sz="900" kern="0">
                <a:solidFill>
                  <a:prstClr val="black"/>
                </a:solidFill>
                <a:latin typeface="Verdana"/>
                <a:cs typeface="Arial" pitchFamily="34" charset="0"/>
              </a:rPr>
              <a:t>Public Policy &amp; Governance</a:t>
            </a:r>
          </a:p>
          <a:p>
            <a:pPr marL="82064" marR="0" lvl="1" indent="-82064" algn="just" defTabSz="883644" rtl="0" eaLnBrk="0" fontAlgn="auto" latinLnBrk="0" hangingPunct="0">
              <a:lnSpc>
                <a:spcPct val="100000"/>
              </a:lnSpc>
              <a:spcBef>
                <a:spcPts val="0"/>
              </a:spcBef>
              <a:spcAft>
                <a:spcPts val="0"/>
              </a:spcAft>
              <a:buClr>
                <a:prstClr val="black">
                  <a:lumMod val="75000"/>
                  <a:lumOff val="25000"/>
                </a:prstClr>
              </a:buClr>
              <a:buSzTx/>
              <a:buFont typeface="Arial" pitchFamily="34" charset="0"/>
              <a:buChar char="•"/>
              <a:tabLst/>
              <a:defRPr/>
            </a:pPr>
            <a:r>
              <a:rPr lang="en-US" sz="900" kern="0">
                <a:solidFill>
                  <a:prstClr val="black"/>
                </a:solidFill>
                <a:latin typeface="Verdana"/>
                <a:cs typeface="Arial" pitchFamily="34" charset="0"/>
              </a:rPr>
              <a:t>Gender &amp; Social Inclusion</a:t>
            </a:r>
          </a:p>
          <a:p>
            <a:pPr marL="82064" marR="0" lvl="1" indent="-82064" algn="just" defTabSz="883644" rtl="0" eaLnBrk="0" fontAlgn="auto" latinLnBrk="0" hangingPunct="0">
              <a:lnSpc>
                <a:spcPct val="100000"/>
              </a:lnSpc>
              <a:spcBef>
                <a:spcPts val="0"/>
              </a:spcBef>
              <a:spcAft>
                <a:spcPts val="0"/>
              </a:spcAft>
              <a:buClr>
                <a:prstClr val="black">
                  <a:lumMod val="75000"/>
                  <a:lumOff val="25000"/>
                </a:prstClr>
              </a:buClr>
              <a:buSzTx/>
              <a:buFont typeface="Arial" pitchFamily="34" charset="0"/>
              <a:buChar char="•"/>
              <a:tabLst/>
              <a:defRPr/>
            </a:pPr>
            <a:r>
              <a:rPr lang="en-US" sz="900" kern="0">
                <a:solidFill>
                  <a:prstClr val="black"/>
                </a:solidFill>
                <a:latin typeface="Verdana"/>
                <a:cs typeface="Arial" pitchFamily="34" charset="0"/>
              </a:rPr>
              <a:t>Sustainable Development &amp; SDGs</a:t>
            </a:r>
          </a:p>
          <a:p>
            <a:pPr marL="82064" marR="0" lvl="1" indent="-82064" algn="just" defTabSz="883644" rtl="0" eaLnBrk="0" fontAlgn="auto" latinLnBrk="0" hangingPunct="0">
              <a:lnSpc>
                <a:spcPct val="100000"/>
              </a:lnSpc>
              <a:spcBef>
                <a:spcPts val="0"/>
              </a:spcBef>
              <a:spcAft>
                <a:spcPts val="0"/>
              </a:spcAft>
              <a:buClr>
                <a:prstClr val="black">
                  <a:lumMod val="75000"/>
                  <a:lumOff val="25000"/>
                </a:prstClr>
              </a:buClr>
              <a:buSzTx/>
              <a:buFont typeface="Arial" pitchFamily="34" charset="0"/>
              <a:buChar char="•"/>
              <a:tabLst/>
              <a:defRPr/>
            </a:pPr>
            <a:r>
              <a:rPr lang="en-US" sz="900" kern="0">
                <a:solidFill>
                  <a:prstClr val="black"/>
                </a:solidFill>
                <a:latin typeface="Verdana"/>
                <a:cs typeface="Arial" pitchFamily="34" charset="0"/>
              </a:rPr>
              <a:t>Stakeholder Consultation &amp; Coordination</a:t>
            </a:r>
          </a:p>
          <a:p>
            <a:pPr marL="82064" marR="0" lvl="1" indent="-82064" algn="just" defTabSz="883644" rtl="0" eaLnBrk="0" fontAlgn="auto" latinLnBrk="0" hangingPunct="0">
              <a:lnSpc>
                <a:spcPct val="100000"/>
              </a:lnSpc>
              <a:spcBef>
                <a:spcPts val="0"/>
              </a:spcBef>
              <a:spcAft>
                <a:spcPts val="0"/>
              </a:spcAft>
              <a:buClr>
                <a:prstClr val="black">
                  <a:lumMod val="75000"/>
                  <a:lumOff val="25000"/>
                </a:prstClr>
              </a:buClr>
              <a:buSzTx/>
              <a:buFont typeface="Arial" pitchFamily="34" charset="0"/>
              <a:buChar char="•"/>
              <a:tabLst/>
              <a:defRPr/>
            </a:pPr>
            <a:r>
              <a:rPr lang="en-US" sz="900" kern="0">
                <a:solidFill>
                  <a:prstClr val="black"/>
                </a:solidFill>
                <a:latin typeface="Verdana"/>
                <a:cs typeface="Arial" pitchFamily="34" charset="0"/>
              </a:rPr>
              <a:t>Data Analytics &amp; Evidence-Based Policymaking</a:t>
            </a:r>
          </a:p>
          <a:p>
            <a:pPr marL="82064" marR="0" lvl="1" indent="-82064" algn="just" defTabSz="883644" rtl="0" eaLnBrk="0" fontAlgn="auto" latinLnBrk="0" hangingPunct="0">
              <a:lnSpc>
                <a:spcPct val="100000"/>
              </a:lnSpc>
              <a:spcBef>
                <a:spcPts val="0"/>
              </a:spcBef>
              <a:spcAft>
                <a:spcPts val="0"/>
              </a:spcAft>
              <a:buClr>
                <a:prstClr val="black">
                  <a:lumMod val="75000"/>
                  <a:lumOff val="25000"/>
                </a:prstClr>
              </a:buClr>
              <a:buSzTx/>
              <a:buFont typeface="Arial" pitchFamily="34" charset="0"/>
              <a:buChar char="•"/>
              <a:tabLst/>
              <a:defRPr/>
            </a:pPr>
            <a:r>
              <a:rPr lang="en-US" sz="900" kern="0">
                <a:solidFill>
                  <a:prstClr val="black"/>
                </a:solidFill>
                <a:latin typeface="Verdana"/>
                <a:cs typeface="Arial" pitchFamily="34" charset="0"/>
              </a:rPr>
              <a:t>Public Expenditure &amp; Welfare Assessment</a:t>
            </a:r>
          </a:p>
        </p:txBody>
      </p:sp>
      <p:sp>
        <p:nvSpPr>
          <p:cNvPr id="35" name="Rectangle 12">
            <a:extLst>
              <a:ext uri="{FF2B5EF4-FFF2-40B4-BE49-F238E27FC236}">
                <a16:creationId xmlns:a16="http://schemas.microsoft.com/office/drawing/2014/main" id="{0EEC25B8-CBC5-5074-CB78-290FAD101E9B}"/>
              </a:ext>
            </a:extLst>
          </p:cNvPr>
          <p:cNvSpPr>
            <a:spLocks noChangeArrowheads="1"/>
          </p:cNvSpPr>
          <p:nvPr/>
        </p:nvSpPr>
        <p:spPr bwMode="auto">
          <a:xfrm>
            <a:off x="468922" y="2391411"/>
            <a:ext cx="11311960" cy="3301469"/>
          </a:xfrm>
          <a:prstGeom prst="rect">
            <a:avLst/>
          </a:prstGeom>
          <a:noFill/>
          <a:ln w="9525" algn="ctr">
            <a:noFill/>
            <a:miter lim="800000"/>
            <a:headEnd/>
            <a:tailEnd/>
          </a:ln>
          <a:effectLst>
            <a:outerShdw blurRad="50800" dist="50800" dir="5400000" algn="ctr" rotWithShape="0">
              <a:schemeClr val="bg1"/>
            </a:outerShdw>
          </a:effectLst>
        </p:spPr>
        <p:txBody>
          <a:bodyPr wrap="square" lIns="92002" tIns="46000" rIns="0" bIns="46000">
            <a:spAutoFit/>
          </a:bodyPr>
          <a:lstStyle/>
          <a:p>
            <a:pPr lvl="0" algn="just" defTabSz="913521">
              <a:spcAft>
                <a:spcPts val="300"/>
              </a:spcAft>
              <a:defRPr/>
            </a:pPr>
            <a:r>
              <a:rPr lang="en-US" sz="900">
                <a:solidFill>
                  <a:prstClr val="black"/>
                </a:solidFill>
              </a:rPr>
              <a:t>Purvi Chaturvedi is a policy and development professional with experience across government advisory, public policy, monitoring and evaluation, gender-responsive governance, stakeholder engagement, and international development. She has a prior experience with, UN agencies (UNCTAD, UNDP), OECD, ICRC, and the International Trade Centre (ITC) in India, Switzerland, and France. Her experience spans policy research, indicator framework development, </a:t>
            </a:r>
            <a:r>
              <a:rPr lang="en-US" sz="900" err="1">
                <a:solidFill>
                  <a:prstClr val="black"/>
                </a:solidFill>
              </a:rPr>
              <a:t>programme</a:t>
            </a:r>
            <a:r>
              <a:rPr lang="en-US" sz="900">
                <a:solidFill>
                  <a:prstClr val="black"/>
                </a:solidFill>
              </a:rPr>
              <a:t> monitoring, public expenditure analysis, capacity building, and coordination with government departments, development partners, and multilateral institutions..</a:t>
            </a:r>
            <a:endParaRPr kumimoji="0" lang="en-US" sz="900" b="1" i="0" u="none" strike="noStrike" kern="0" cap="none" spc="0" normalizeH="0" baseline="0" noProof="0">
              <a:ln>
                <a:noFill/>
              </a:ln>
              <a:solidFill>
                <a:prstClr val="black"/>
              </a:solidFill>
              <a:effectLst/>
              <a:uLnTx/>
              <a:uFillTx/>
              <a:latin typeface="Verdana"/>
              <a:ea typeface="+mn-ea"/>
              <a:cs typeface="Arial" charset="0"/>
            </a:endParaRPr>
          </a:p>
          <a:p>
            <a:pPr marL="0" marR="0" lvl="0" indent="0" algn="l" defTabSz="913521" rtl="0" eaLnBrk="1" fontAlgn="auto" latinLnBrk="0" hangingPunct="1">
              <a:lnSpc>
                <a:spcPct val="100000"/>
              </a:lnSpc>
              <a:spcBef>
                <a:spcPts val="0"/>
              </a:spcBef>
              <a:spcAft>
                <a:spcPts val="300"/>
              </a:spcAft>
              <a:buClrTx/>
              <a:buSzTx/>
              <a:buFontTx/>
              <a:buNone/>
              <a:tabLst/>
              <a:defRPr/>
            </a:pPr>
            <a:endParaRPr kumimoji="0" lang="en-US" sz="900" b="1" i="0" u="none" strike="noStrike" kern="0" cap="none" spc="0" normalizeH="0" baseline="0" noProof="0">
              <a:ln>
                <a:noFill/>
              </a:ln>
              <a:solidFill>
                <a:prstClr val="black"/>
              </a:solidFill>
              <a:effectLst/>
              <a:uLnTx/>
              <a:uFillTx/>
              <a:latin typeface="Verdana"/>
              <a:ea typeface="+mn-ea"/>
              <a:cs typeface="Arial" charset="0"/>
            </a:endParaRPr>
          </a:p>
          <a:p>
            <a:pPr marL="0" marR="0" lvl="0" indent="0" algn="l" defTabSz="913521" rtl="0" eaLnBrk="1" fontAlgn="auto" latinLnBrk="0" hangingPunct="1">
              <a:lnSpc>
                <a:spcPct val="100000"/>
              </a:lnSpc>
              <a:spcBef>
                <a:spcPts val="0"/>
              </a:spcBef>
              <a:spcAft>
                <a:spcPts val="300"/>
              </a:spcAft>
              <a:buClrTx/>
              <a:buSzTx/>
              <a:buFontTx/>
              <a:buNone/>
              <a:tabLst/>
              <a:defRPr/>
            </a:pPr>
            <a:endParaRPr lang="en-US" sz="900" b="1" kern="0">
              <a:solidFill>
                <a:prstClr val="black"/>
              </a:solidFill>
              <a:latin typeface="Verdana"/>
              <a:cs typeface="Arial" charset="0"/>
            </a:endParaRPr>
          </a:p>
          <a:p>
            <a:pPr marL="0" marR="0" lvl="0" indent="0" algn="l" defTabSz="913521" rtl="0" eaLnBrk="1" fontAlgn="auto" latinLnBrk="0" hangingPunct="1">
              <a:lnSpc>
                <a:spcPct val="100000"/>
              </a:lnSpc>
              <a:spcBef>
                <a:spcPts val="0"/>
              </a:spcBef>
              <a:spcAft>
                <a:spcPts val="300"/>
              </a:spcAft>
              <a:buClrTx/>
              <a:buSzTx/>
              <a:buFontTx/>
              <a:buNone/>
              <a:tabLst/>
              <a:defRPr/>
            </a:pPr>
            <a:r>
              <a:rPr kumimoji="0" lang="en-US" sz="900" b="1" i="0" u="none" strike="noStrike" kern="0" cap="none" spc="0" normalizeH="0" baseline="0" noProof="0">
                <a:ln>
                  <a:noFill/>
                </a:ln>
                <a:solidFill>
                  <a:prstClr val="black"/>
                </a:solidFill>
                <a:effectLst/>
                <a:uLnTx/>
                <a:uFillTx/>
                <a:latin typeface="Verdana"/>
                <a:ea typeface="+mn-ea"/>
                <a:cs typeface="Arial" charset="0"/>
              </a:rPr>
              <a:t>Relevant experience</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Supported design and implementation of KPI, indicator, monitoring and evaluation frameworks for flagship government </a:t>
            </a:r>
            <a:r>
              <a:rPr kumimoji="0" lang="en-US" sz="900" b="0" i="0" u="none" strike="noStrike" kern="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Arial" charset="0"/>
              </a:rPr>
              <a:t>programmes</a:t>
            </a: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 and long-term development visions.</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Conducted policy research, comparative assessments, data analytics, and preparation of policy documents, guidelines, concept notes, and briefing materials.</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Coordinated with state and district government departments, facilitating stakeholder consultations, review meetings, and interdepartmental collaboration.</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Developed indicator architectures, milestone frameworks, and analytical tools for long-term government planning and vision-setting exercises.</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Delivered technical assistance on gender-responsive policy reforms and produced evidence-based policy briefs using trade, gender, and development indicators.</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Supported </a:t>
            </a:r>
            <a:r>
              <a:rPr kumimoji="0" lang="en-US" sz="900" b="0" i="0" u="none" strike="noStrike" kern="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Arial" charset="0"/>
              </a:rPr>
              <a:t>programme</a:t>
            </a: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 implementation, monitoring, donor reporting, and performance assessment against results frameworks and KPIs.</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Designed and facilitated capacity-building workshops, training </a:t>
            </a:r>
            <a:r>
              <a:rPr kumimoji="0" lang="en-US" sz="900" b="0" i="0" u="none" strike="noStrike" kern="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Arial" charset="0"/>
              </a:rPr>
              <a:t>programmes</a:t>
            </a: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 and stakeholder engagement initiatives across multiple geographies.</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Conducted public expenditure, welfare subsidy, and socio-economic assessments using qualitative and quantitative research methodologies.</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Developed monitoring and evaluation reports, theories of change, and evidence-based recommendations for </a:t>
            </a:r>
            <a:r>
              <a:rPr kumimoji="0" lang="en-US" sz="900" b="0" i="0" u="none" strike="noStrike" kern="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Arial" charset="0"/>
              </a:rPr>
              <a:t>programme</a:t>
            </a: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 improvement.</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Led stakeholder consultations, validation workshops, roundtables, and high-level events involving governments, development partners, and international </a:t>
            </a:r>
            <a:r>
              <a:rPr kumimoji="0" lang="en-US" sz="900" b="0" i="0" u="none" strike="noStrike" kern="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Arial" charset="0"/>
              </a:rPr>
              <a:t>organisations</a:t>
            </a: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Undertook economic, environmental, and sustainability-focused research to support policy formulation and evidence-based decision making.</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Contributed to development of indicator frameworks and comparative policy analyses for assessing policy effectiveness and developmental outcomes</a:t>
            </a:r>
          </a:p>
        </p:txBody>
      </p:sp>
      <p:grpSp>
        <p:nvGrpSpPr>
          <p:cNvPr id="22" name="Group 21">
            <a:extLst>
              <a:ext uri="{FF2B5EF4-FFF2-40B4-BE49-F238E27FC236}">
                <a16:creationId xmlns:a16="http://schemas.microsoft.com/office/drawing/2014/main" id="{899FFF8A-D8A8-1696-FB0D-786BD5A88519}"/>
              </a:ext>
            </a:extLst>
          </p:cNvPr>
          <p:cNvGrpSpPr/>
          <p:nvPr/>
        </p:nvGrpSpPr>
        <p:grpSpPr>
          <a:xfrm>
            <a:off x="564313" y="2127525"/>
            <a:ext cx="11267234" cy="263886"/>
            <a:chOff x="566664" y="1911318"/>
            <a:chExt cx="11082488" cy="399693"/>
          </a:xfrm>
        </p:grpSpPr>
        <p:cxnSp>
          <p:nvCxnSpPr>
            <p:cNvPr id="23" name="Straight Connector 22">
              <a:extLst>
                <a:ext uri="{FF2B5EF4-FFF2-40B4-BE49-F238E27FC236}">
                  <a16:creationId xmlns:a16="http://schemas.microsoft.com/office/drawing/2014/main" id="{9A841F3E-9B32-ACEC-D544-2F33A3B6311B}"/>
                </a:ext>
              </a:extLst>
            </p:cNvPr>
            <p:cNvCxnSpPr/>
            <p:nvPr/>
          </p:nvCxnSpPr>
          <p:spPr bwMode="auto">
            <a:xfrm>
              <a:off x="566664" y="2311011"/>
              <a:ext cx="11082488"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FBF474FF-0AD2-86CB-6B0E-52229DF2F4F4}"/>
                </a:ext>
              </a:extLst>
            </p:cNvPr>
            <p:cNvSpPr txBox="1"/>
            <p:nvPr/>
          </p:nvSpPr>
          <p:spPr>
            <a:xfrm>
              <a:off x="5105154" y="1911318"/>
              <a:ext cx="1930387" cy="226409"/>
            </a:xfrm>
            <a:prstGeom prst="rect">
              <a:avLst/>
            </a:prstGeom>
            <a:solidFill>
              <a:schemeClr val="bg1"/>
            </a:solidFill>
          </p:spPr>
          <p:txBody>
            <a:bodyPr wrap="square" rtlCol="0">
              <a:spAutoFit/>
            </a:bodyPr>
            <a:lstStyle/>
            <a:p>
              <a:pPr marL="1588" marR="0" lvl="0" indent="0" algn="l" defTabSz="914400" rtl="0" eaLnBrk="1" fontAlgn="base" latinLnBrk="0" hangingPunct="1">
                <a:lnSpc>
                  <a:spcPct val="106000"/>
                </a:lnSpc>
                <a:spcBef>
                  <a:spcPct val="80000"/>
                </a:spcBef>
                <a:spcAft>
                  <a:spcPct val="0"/>
                </a:spcAft>
                <a:buClr>
                  <a:srgbClr val="000000"/>
                </a:buClr>
                <a:buSzTx/>
                <a:buFontTx/>
                <a:buNone/>
                <a:tabLst/>
                <a:defRPr/>
              </a:pPr>
              <a:r>
                <a:rPr kumimoji="0" lang="en-US" sz="9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Professional Highlights</a:t>
              </a:r>
            </a:p>
          </p:txBody>
        </p:sp>
      </p:grpSp>
      <p:sp>
        <p:nvSpPr>
          <p:cNvPr id="10" name="Text Placeholder 1">
            <a:extLst>
              <a:ext uri="{FF2B5EF4-FFF2-40B4-BE49-F238E27FC236}">
                <a16:creationId xmlns:a16="http://schemas.microsoft.com/office/drawing/2014/main" id="{85CCDA38-5916-B20E-14A2-3534BF047DB4}"/>
              </a:ext>
            </a:extLst>
          </p:cNvPr>
          <p:cNvSpPr txBox="1">
            <a:spLocks/>
          </p:cNvSpPr>
          <p:nvPr/>
        </p:nvSpPr>
        <p:spPr>
          <a:xfrm>
            <a:off x="411118" y="532879"/>
            <a:ext cx="11188700" cy="757255"/>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600" b="0" kern="1200">
                <a:solidFill>
                  <a:srgbClr val="575757"/>
                </a:solidFill>
                <a:latin typeface="Calibri" panose="020F0502020204030204" pitchFamily="34" charset="0"/>
                <a:ea typeface="+mn-ea"/>
                <a:cs typeface="Calibri" panose="020F0502020204030204" pitchFamily="34" charset="0"/>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fr-FR" sz="1400">
                <a:latin typeface="+mj-lt"/>
              </a:rPr>
              <a:t>Deloitte Touche </a:t>
            </a:r>
            <a:r>
              <a:rPr lang="fr-FR" sz="1400" err="1">
                <a:latin typeface="+mj-lt"/>
              </a:rPr>
              <a:t>Tohmatsu</a:t>
            </a:r>
            <a:r>
              <a:rPr lang="fr-FR" sz="1400">
                <a:latin typeface="+mj-lt"/>
              </a:rPr>
              <a:t> </a:t>
            </a:r>
            <a:r>
              <a:rPr lang="fr-FR" sz="1400" err="1">
                <a:latin typeface="+mj-lt"/>
              </a:rPr>
              <a:t>India</a:t>
            </a:r>
            <a:r>
              <a:rPr lang="fr-FR" sz="1400">
                <a:latin typeface="+mj-lt"/>
              </a:rPr>
              <a:t> LLP</a:t>
            </a:r>
            <a:endParaRPr lang="en-US" sz="1400">
              <a:latin typeface="+mj-lt"/>
            </a:endParaRPr>
          </a:p>
          <a:p>
            <a:endParaRPr lang="en-US" sz="1400">
              <a:latin typeface="+mj-lt"/>
            </a:endParaRPr>
          </a:p>
        </p:txBody>
      </p:sp>
      <p:sp>
        <p:nvSpPr>
          <p:cNvPr id="11" name="Title 2">
            <a:extLst>
              <a:ext uri="{FF2B5EF4-FFF2-40B4-BE49-F238E27FC236}">
                <a16:creationId xmlns:a16="http://schemas.microsoft.com/office/drawing/2014/main" id="{1AAA5C8A-A8EF-9CE7-33F5-0BF88DBDDFAD}"/>
              </a:ext>
            </a:extLst>
          </p:cNvPr>
          <p:cNvSpPr txBox="1">
            <a:spLocks/>
          </p:cNvSpPr>
          <p:nvPr/>
        </p:nvSpPr>
        <p:spPr>
          <a:xfrm>
            <a:off x="411118" y="213764"/>
            <a:ext cx="11369764" cy="243926"/>
          </a:xfrm>
        </p:spPr>
        <p:txBody>
          <a:bodyPr vert="horz" lIns="0" tIns="0" rIns="0" bIns="0" rtlCol="0" anchor="t" anchorCtr="0">
            <a:noAutofit/>
          </a:bodyPr>
          <a:lstStyle>
            <a:lvl1pPr algn="l" defTabSz="914400" rtl="0" eaLnBrk="1" latinLnBrk="0" hangingPunct="1">
              <a:spcBef>
                <a:spcPct val="0"/>
              </a:spcBef>
              <a:buNone/>
              <a:defRPr sz="2000" kern="1200">
                <a:solidFill>
                  <a:schemeClr val="tx1"/>
                </a:solidFill>
                <a:latin typeface="Calibri" panose="020F0502020204030204" pitchFamily="34" charset="0"/>
                <a:ea typeface="+mj-ea"/>
                <a:cs typeface="Calibri" panose="020F0502020204030204" pitchFamily="34" charset="0"/>
              </a:defRPr>
            </a:lvl1pPr>
          </a:lstStyle>
          <a:p>
            <a:r>
              <a:rPr lang="en-US" sz="1800" b="1">
                <a:latin typeface="+mj-lt"/>
              </a:rPr>
              <a:t>Information on the qualification of key staff</a:t>
            </a:r>
          </a:p>
        </p:txBody>
      </p:sp>
      <p:cxnSp>
        <p:nvCxnSpPr>
          <p:cNvPr id="12" name="Straight Arrow Connector 11">
            <a:extLst>
              <a:ext uri="{FF2B5EF4-FFF2-40B4-BE49-F238E27FC236}">
                <a16:creationId xmlns:a16="http://schemas.microsoft.com/office/drawing/2014/main" id="{0397A982-3CFB-CA74-6F48-66D5329AC980}"/>
              </a:ext>
            </a:extLst>
          </p:cNvPr>
          <p:cNvCxnSpPr/>
          <p:nvPr/>
        </p:nvCxnSpPr>
        <p:spPr>
          <a:xfrm flipV="1">
            <a:off x="333466" y="826438"/>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109E621E-F233-14B7-2026-1790C30BBE71}"/>
              </a:ext>
            </a:extLst>
          </p:cNvPr>
          <p:cNvGrpSpPr/>
          <p:nvPr/>
        </p:nvGrpSpPr>
        <p:grpSpPr>
          <a:xfrm>
            <a:off x="613402" y="1147185"/>
            <a:ext cx="1024049" cy="1014639"/>
            <a:chOff x="613402" y="1147185"/>
            <a:chExt cx="1024049" cy="1014639"/>
          </a:xfrm>
        </p:grpSpPr>
        <p:pic>
          <p:nvPicPr>
            <p:cNvPr id="5" name="Picture 4">
              <a:extLst>
                <a:ext uri="{FF2B5EF4-FFF2-40B4-BE49-F238E27FC236}">
                  <a16:creationId xmlns:a16="http://schemas.microsoft.com/office/drawing/2014/main" id="{2275ABC1-8680-C9CC-161B-E041405531E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1469" y="1170498"/>
              <a:ext cx="1015982" cy="968011"/>
            </a:xfrm>
            <a:prstGeom prst="flowChartConnector">
              <a:avLst/>
            </a:prstGeom>
            <a:noFill/>
            <a:ln>
              <a:noFill/>
            </a:ln>
          </p:spPr>
        </p:pic>
        <p:sp>
          <p:nvSpPr>
            <p:cNvPr id="8" name="Flowchart: Connector 7">
              <a:extLst>
                <a:ext uri="{FF2B5EF4-FFF2-40B4-BE49-F238E27FC236}">
                  <a16:creationId xmlns:a16="http://schemas.microsoft.com/office/drawing/2014/main" id="{1FD040B6-EE71-D62B-9A85-E422757BA785}"/>
                </a:ext>
              </a:extLst>
            </p:cNvPr>
            <p:cNvSpPr/>
            <p:nvPr/>
          </p:nvSpPr>
          <p:spPr bwMode="gray">
            <a:xfrm>
              <a:off x="613402" y="1147185"/>
              <a:ext cx="1015982" cy="1014639"/>
            </a:xfrm>
            <a:prstGeom prst="flowChartConnector">
              <a:avLst/>
            </a:prstGeom>
            <a:noFill/>
            <a:ln w="19050" algn="ctr">
              <a:solidFill>
                <a:srgbClr val="0097A9"/>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grpSp>
    </p:spTree>
    <p:extLst>
      <p:ext uri="{BB962C8B-B14F-4D97-AF65-F5344CB8AC3E}">
        <p14:creationId xmlns:p14="http://schemas.microsoft.com/office/powerpoint/2010/main" val="1835697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95EC4-A523-E40A-8F17-0A2F691F8A6F}"/>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3C711CE2-636A-AA77-27BB-92E6DF720AF8}"/>
              </a:ext>
            </a:extLst>
          </p:cNvPr>
          <p:cNvGrpSpPr/>
          <p:nvPr/>
        </p:nvGrpSpPr>
        <p:grpSpPr>
          <a:xfrm>
            <a:off x="4789575" y="1026306"/>
            <a:ext cx="2919133" cy="226409"/>
            <a:chOff x="6384510" y="982412"/>
            <a:chExt cx="3878709" cy="226409"/>
          </a:xfrm>
        </p:grpSpPr>
        <p:cxnSp>
          <p:nvCxnSpPr>
            <p:cNvPr id="39" name="Straight Connector 38">
              <a:extLst>
                <a:ext uri="{FF2B5EF4-FFF2-40B4-BE49-F238E27FC236}">
                  <a16:creationId xmlns:a16="http://schemas.microsoft.com/office/drawing/2014/main" id="{7FF3B805-CC5B-D6E2-E31E-8FA1CB5DF555}"/>
                </a:ext>
              </a:extLst>
            </p:cNvPr>
            <p:cNvCxnSpPr/>
            <p:nvPr/>
          </p:nvCxnSpPr>
          <p:spPr bwMode="auto">
            <a:xfrm>
              <a:off x="6384510" y="1091239"/>
              <a:ext cx="3878709"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0" name="TextBox 39">
              <a:extLst>
                <a:ext uri="{FF2B5EF4-FFF2-40B4-BE49-F238E27FC236}">
                  <a16:creationId xmlns:a16="http://schemas.microsoft.com/office/drawing/2014/main" id="{BE2BCDEF-C323-8B0E-20D8-F7807B9A7F2D}"/>
                </a:ext>
              </a:extLst>
            </p:cNvPr>
            <p:cNvSpPr txBox="1"/>
            <p:nvPr/>
          </p:nvSpPr>
          <p:spPr>
            <a:xfrm>
              <a:off x="7565225" y="982412"/>
              <a:ext cx="1497298" cy="226409"/>
            </a:xfrm>
            <a:prstGeom prst="rect">
              <a:avLst/>
            </a:prstGeom>
            <a:solidFill>
              <a:schemeClr val="bg1"/>
            </a:solidFill>
          </p:spPr>
          <p:txBody>
            <a:bodyPr wrap="square" rtlCol="0">
              <a:spAutoFit/>
            </a:bodyPr>
            <a:lstStyle/>
            <a:p>
              <a:pPr marL="1588" marR="0" lvl="0" indent="0" algn="ctr" defTabSz="914400" rtl="0" eaLnBrk="1" fontAlgn="base" latinLnBrk="0" hangingPunct="1">
                <a:lnSpc>
                  <a:spcPct val="106000"/>
                </a:lnSpc>
                <a:spcBef>
                  <a:spcPct val="80000"/>
                </a:spcBef>
                <a:spcAft>
                  <a:spcPct val="0"/>
                </a:spcAft>
                <a:buClr>
                  <a:srgbClr val="000000"/>
                </a:buClr>
                <a:buSzTx/>
                <a:buFontTx/>
                <a:buNone/>
                <a:tabLst/>
                <a:defRPr/>
              </a:pPr>
              <a:r>
                <a:rPr kumimoji="0" lang="en-US" sz="9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Education</a:t>
              </a:r>
            </a:p>
          </p:txBody>
        </p:sp>
      </p:grpSp>
      <p:sp>
        <p:nvSpPr>
          <p:cNvPr id="38" name="Rectangle 12">
            <a:extLst>
              <a:ext uri="{FF2B5EF4-FFF2-40B4-BE49-F238E27FC236}">
                <a16:creationId xmlns:a16="http://schemas.microsoft.com/office/drawing/2014/main" id="{4A1BEE07-3A08-6548-76A1-463252210E0D}"/>
              </a:ext>
            </a:extLst>
          </p:cNvPr>
          <p:cNvSpPr>
            <a:spLocks noChangeArrowheads="1"/>
          </p:cNvSpPr>
          <p:nvPr/>
        </p:nvSpPr>
        <p:spPr bwMode="auto">
          <a:xfrm>
            <a:off x="4727121" y="1193956"/>
            <a:ext cx="2981587" cy="1062395"/>
          </a:xfrm>
          <a:prstGeom prst="rect">
            <a:avLst/>
          </a:prstGeom>
          <a:noFill/>
          <a:ln w="9525" algn="ctr">
            <a:noFill/>
            <a:miter lim="800000"/>
            <a:headEnd/>
            <a:tailEnd/>
          </a:ln>
          <a:effectLst>
            <a:outerShdw blurRad="50800" dist="50800" dir="5400000" algn="ctr" rotWithShape="0">
              <a:schemeClr val="bg1"/>
            </a:outerShdw>
          </a:effectLst>
        </p:spPr>
        <p:txBody>
          <a:bodyPr wrap="square" lIns="92002" tIns="46000" rIns="92002" bIns="46000">
            <a:spAutoFit/>
          </a:bodyPr>
          <a:lstStyle/>
          <a:p>
            <a:pPr marL="118698" marR="0" lvl="1" indent="-118698" defTabSz="914378"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he-IL" sz="900" kern="0">
                <a:latin typeface="Verdana"/>
              </a:rPr>
              <a:t>M.A. Economics, University of Manchester, United Kingdom</a:t>
            </a:r>
          </a:p>
          <a:p>
            <a:pPr marL="118698" marR="0" lvl="1" indent="-118698" defTabSz="914378"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he-IL" sz="900" kern="0">
                <a:latin typeface="Verdana"/>
              </a:rPr>
              <a:t>Data Analytics &amp; Business Intelligence Certification, Shaheed Sukhdev College of Business Studies</a:t>
            </a:r>
          </a:p>
          <a:p>
            <a:pPr marL="118698" marR="0" lvl="1" indent="-118698" defTabSz="914378"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he-IL" sz="900" kern="0">
                <a:latin typeface="Verdana"/>
              </a:rPr>
              <a:t>B.Sc. (Hons.) Economics, Symbiosis School of Economics</a:t>
            </a:r>
          </a:p>
        </p:txBody>
      </p:sp>
      <p:sp>
        <p:nvSpPr>
          <p:cNvPr id="16" name="Title 1">
            <a:extLst>
              <a:ext uri="{FF2B5EF4-FFF2-40B4-BE49-F238E27FC236}">
                <a16:creationId xmlns:a16="http://schemas.microsoft.com/office/drawing/2014/main" id="{6B823860-CB30-910A-2C83-6F4E705F3453}"/>
              </a:ext>
            </a:extLst>
          </p:cNvPr>
          <p:cNvSpPr txBox="1">
            <a:spLocks/>
          </p:cNvSpPr>
          <p:nvPr/>
        </p:nvSpPr>
        <p:spPr bwMode="gray">
          <a:xfrm>
            <a:off x="1779030" y="1209086"/>
            <a:ext cx="2350787" cy="893771"/>
          </a:xfrm>
          <a:prstGeom prst="rect">
            <a:avLst/>
          </a:prstGeom>
          <a:noFill/>
          <a:ln w="9525">
            <a:noFill/>
            <a:miter lim="800000"/>
            <a:headEnd/>
            <a:tailEnd/>
          </a:ln>
        </p:spPr>
        <p:txBody>
          <a:bodyPr vert="horz" wrap="square" lIns="0" tIns="0" rIns="0" bIns="0" numCol="1" anchor="b" anchorCtr="0" compatLnSpc="1">
            <a:prstTxWarp prst="textNoShape">
              <a:avLst/>
            </a:prstTxWarp>
            <a:spAutoFit/>
          </a:bodyPr>
          <a:lstStyle>
            <a:lvl1pPr algn="l" rtl="0" eaLnBrk="0" fontAlgn="base" hangingPunct="0">
              <a:lnSpc>
                <a:spcPct val="106000"/>
              </a:lnSpc>
              <a:spcBef>
                <a:spcPct val="0"/>
              </a:spcBef>
              <a:spcAft>
                <a:spcPct val="0"/>
              </a:spcAft>
              <a:defRPr sz="1600" b="1">
                <a:solidFill>
                  <a:schemeClr val="tx1"/>
                </a:solidFill>
                <a:latin typeface="+mj-lt"/>
                <a:ea typeface="+mj-ea"/>
                <a:cs typeface="+mj-cs"/>
              </a:defRPr>
            </a:lvl1pPr>
            <a:lvl2pPr algn="l" rtl="0" eaLnBrk="0" fontAlgn="base" hangingPunct="0">
              <a:lnSpc>
                <a:spcPct val="106000"/>
              </a:lnSpc>
              <a:spcBef>
                <a:spcPct val="0"/>
              </a:spcBef>
              <a:spcAft>
                <a:spcPct val="0"/>
              </a:spcAft>
              <a:defRPr sz="1600" b="1">
                <a:solidFill>
                  <a:schemeClr val="tx1"/>
                </a:solidFill>
                <a:latin typeface="Arial" charset="0"/>
              </a:defRPr>
            </a:lvl2pPr>
            <a:lvl3pPr algn="l" rtl="0" eaLnBrk="0" fontAlgn="base" hangingPunct="0">
              <a:lnSpc>
                <a:spcPct val="106000"/>
              </a:lnSpc>
              <a:spcBef>
                <a:spcPct val="0"/>
              </a:spcBef>
              <a:spcAft>
                <a:spcPct val="0"/>
              </a:spcAft>
              <a:defRPr sz="1600" b="1">
                <a:solidFill>
                  <a:schemeClr val="tx1"/>
                </a:solidFill>
                <a:latin typeface="Arial" charset="0"/>
              </a:defRPr>
            </a:lvl3pPr>
            <a:lvl4pPr algn="l" rtl="0" eaLnBrk="0" fontAlgn="base" hangingPunct="0">
              <a:lnSpc>
                <a:spcPct val="106000"/>
              </a:lnSpc>
              <a:spcBef>
                <a:spcPct val="0"/>
              </a:spcBef>
              <a:spcAft>
                <a:spcPct val="0"/>
              </a:spcAft>
              <a:defRPr sz="1600" b="1">
                <a:solidFill>
                  <a:schemeClr val="tx1"/>
                </a:solidFill>
                <a:latin typeface="Arial" charset="0"/>
              </a:defRPr>
            </a:lvl4pPr>
            <a:lvl5pPr algn="l" rtl="0" eaLnBrk="0" fontAlgn="base" hangingPunct="0">
              <a:lnSpc>
                <a:spcPct val="106000"/>
              </a:lnSpc>
              <a:spcBef>
                <a:spcPct val="0"/>
              </a:spcBef>
              <a:spcAft>
                <a:spcPct val="0"/>
              </a:spcAft>
              <a:defRPr sz="1600" b="1">
                <a:solidFill>
                  <a:schemeClr val="tx1"/>
                </a:solidFill>
                <a:latin typeface="Arial" charset="0"/>
              </a:defRPr>
            </a:lvl5pPr>
            <a:lvl6pPr marL="457200" algn="l" rtl="0" eaLnBrk="1" fontAlgn="base" hangingPunct="1">
              <a:lnSpc>
                <a:spcPct val="106000"/>
              </a:lnSpc>
              <a:spcBef>
                <a:spcPct val="0"/>
              </a:spcBef>
              <a:spcAft>
                <a:spcPct val="0"/>
              </a:spcAft>
              <a:defRPr sz="1600" b="1">
                <a:solidFill>
                  <a:schemeClr val="tx1"/>
                </a:solidFill>
                <a:latin typeface="Arial" charset="0"/>
              </a:defRPr>
            </a:lvl6pPr>
            <a:lvl7pPr marL="914400" algn="l" rtl="0" eaLnBrk="1" fontAlgn="base" hangingPunct="1">
              <a:lnSpc>
                <a:spcPct val="106000"/>
              </a:lnSpc>
              <a:spcBef>
                <a:spcPct val="0"/>
              </a:spcBef>
              <a:spcAft>
                <a:spcPct val="0"/>
              </a:spcAft>
              <a:defRPr sz="1600" b="1">
                <a:solidFill>
                  <a:schemeClr val="tx1"/>
                </a:solidFill>
                <a:latin typeface="Arial" charset="0"/>
              </a:defRPr>
            </a:lvl7pPr>
            <a:lvl8pPr marL="1371600" algn="l" rtl="0" eaLnBrk="1" fontAlgn="base" hangingPunct="1">
              <a:lnSpc>
                <a:spcPct val="106000"/>
              </a:lnSpc>
              <a:spcBef>
                <a:spcPct val="0"/>
              </a:spcBef>
              <a:spcAft>
                <a:spcPct val="0"/>
              </a:spcAft>
              <a:defRPr sz="1600" b="1">
                <a:solidFill>
                  <a:schemeClr val="tx1"/>
                </a:solidFill>
                <a:latin typeface="Arial" charset="0"/>
              </a:defRPr>
            </a:lvl8pPr>
            <a:lvl9pPr marL="1828800" algn="l" rtl="0" eaLnBrk="1" fontAlgn="base" hangingPunct="1">
              <a:lnSpc>
                <a:spcPct val="106000"/>
              </a:lnSpc>
              <a:spcBef>
                <a:spcPct val="0"/>
              </a:spcBef>
              <a:spcAft>
                <a:spcPct val="0"/>
              </a:spcAft>
              <a:defRPr sz="1600" b="1">
                <a:solidFill>
                  <a:schemeClr val="tx1"/>
                </a:solidFill>
                <a:latin typeface="Arial" charset="0"/>
              </a:defRPr>
            </a:lvl9pPr>
          </a:lstStyle>
          <a:p>
            <a:pPr marL="0" marR="0" lvl="0" indent="0" algn="l" defTabSz="914400" rtl="0" eaLnBrk="0" fontAlgn="base" latinLnBrk="0" hangingPunct="0">
              <a:lnSpc>
                <a:spcPct val="106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Anchal Karnani</a:t>
            </a:r>
          </a:p>
          <a:p>
            <a:pPr marL="0" marR="0" lvl="0" indent="0" algn="l" defTabSz="914400" rtl="0" eaLnBrk="0" fontAlgn="base" latinLnBrk="0" hangingPunct="0">
              <a:lnSpc>
                <a:spcPct val="106000"/>
              </a:lnSpc>
              <a:spcBef>
                <a:spcPct val="0"/>
              </a:spcBef>
              <a:spcAft>
                <a:spcPct val="0"/>
              </a:spcAft>
              <a:buClrTx/>
              <a:buSzTx/>
              <a:buFontTx/>
              <a:buNone/>
              <a:tabLst/>
              <a:defRPr/>
            </a:pPr>
            <a:r>
              <a:rPr lang="en-US" sz="1400" b="0">
                <a:solidFill>
                  <a:srgbClr val="000000"/>
                </a:solidFill>
                <a:latin typeface="Verdana" panose="020B0604030504040204" pitchFamily="34" charset="0"/>
                <a:ea typeface="Verdana" panose="020B0604030504040204" pitchFamily="34" charset="0"/>
                <a:cs typeface="Verdana" panose="020B0604030504040204" pitchFamily="34" charset="0"/>
              </a:rPr>
              <a:t> Consultant</a:t>
            </a:r>
            <a:r>
              <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Deloitte Touche Tohmatsu India LLP</a:t>
            </a:r>
          </a:p>
        </p:txBody>
      </p:sp>
      <p:grpSp>
        <p:nvGrpSpPr>
          <p:cNvPr id="18" name="Group 17">
            <a:extLst>
              <a:ext uri="{FF2B5EF4-FFF2-40B4-BE49-F238E27FC236}">
                <a16:creationId xmlns:a16="http://schemas.microsoft.com/office/drawing/2014/main" id="{F0E6F502-19EF-EB25-97AA-0E7A6519FC7E}"/>
              </a:ext>
            </a:extLst>
          </p:cNvPr>
          <p:cNvGrpSpPr/>
          <p:nvPr/>
        </p:nvGrpSpPr>
        <p:grpSpPr>
          <a:xfrm>
            <a:off x="8823201" y="1046575"/>
            <a:ext cx="2649212" cy="226409"/>
            <a:chOff x="6384510" y="1200125"/>
            <a:chExt cx="3878709" cy="226409"/>
          </a:xfrm>
        </p:grpSpPr>
        <p:cxnSp>
          <p:nvCxnSpPr>
            <p:cNvPr id="20" name="Straight Connector 19">
              <a:extLst>
                <a:ext uri="{FF2B5EF4-FFF2-40B4-BE49-F238E27FC236}">
                  <a16:creationId xmlns:a16="http://schemas.microsoft.com/office/drawing/2014/main" id="{6FB8F098-7FC4-A81D-9ADE-22FC32E987A9}"/>
                </a:ext>
              </a:extLst>
            </p:cNvPr>
            <p:cNvCxnSpPr/>
            <p:nvPr/>
          </p:nvCxnSpPr>
          <p:spPr bwMode="auto">
            <a:xfrm>
              <a:off x="6384510" y="1308952"/>
              <a:ext cx="3878709"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95F47B78-F068-3D87-CDFE-2D1EEEF8CA66}"/>
                </a:ext>
              </a:extLst>
            </p:cNvPr>
            <p:cNvSpPr txBox="1"/>
            <p:nvPr/>
          </p:nvSpPr>
          <p:spPr>
            <a:xfrm>
              <a:off x="6970148" y="1200125"/>
              <a:ext cx="2692976" cy="226409"/>
            </a:xfrm>
            <a:prstGeom prst="rect">
              <a:avLst/>
            </a:prstGeom>
            <a:solidFill>
              <a:schemeClr val="bg1"/>
            </a:solidFill>
          </p:spPr>
          <p:txBody>
            <a:bodyPr wrap="square" rtlCol="0">
              <a:spAutoFit/>
            </a:bodyPr>
            <a:lstStyle/>
            <a:p>
              <a:pPr marL="1588" marR="0" lvl="0" indent="0" algn="ctr" defTabSz="914400" rtl="0" eaLnBrk="1" fontAlgn="base" latinLnBrk="0" hangingPunct="1">
                <a:lnSpc>
                  <a:spcPct val="106000"/>
                </a:lnSpc>
                <a:spcBef>
                  <a:spcPct val="80000"/>
                </a:spcBef>
                <a:spcAft>
                  <a:spcPct val="0"/>
                </a:spcAft>
                <a:buClr>
                  <a:srgbClr val="000000"/>
                </a:buClr>
                <a:buSzTx/>
                <a:buFontTx/>
                <a:buNone/>
                <a:tabLst/>
                <a:defRPr/>
              </a:pPr>
              <a:r>
                <a:rPr kumimoji="0" lang="en-US" sz="9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Subject Matter Expertise</a:t>
              </a:r>
            </a:p>
          </p:txBody>
        </p:sp>
      </p:grpSp>
      <p:sp>
        <p:nvSpPr>
          <p:cNvPr id="19" name="Rectangle 12">
            <a:extLst>
              <a:ext uri="{FF2B5EF4-FFF2-40B4-BE49-F238E27FC236}">
                <a16:creationId xmlns:a16="http://schemas.microsoft.com/office/drawing/2014/main" id="{3F9BBF6A-DFA4-0889-877A-38CF7540CC77}"/>
              </a:ext>
            </a:extLst>
          </p:cNvPr>
          <p:cNvSpPr>
            <a:spLocks noChangeArrowheads="1"/>
          </p:cNvSpPr>
          <p:nvPr/>
        </p:nvSpPr>
        <p:spPr bwMode="auto">
          <a:xfrm>
            <a:off x="8751120" y="1171076"/>
            <a:ext cx="3188404" cy="1200894"/>
          </a:xfrm>
          <a:prstGeom prst="rect">
            <a:avLst/>
          </a:prstGeom>
          <a:noFill/>
          <a:ln w="9525" algn="ctr">
            <a:noFill/>
            <a:miter lim="800000"/>
            <a:headEnd/>
            <a:tailEnd/>
          </a:ln>
          <a:effectLst>
            <a:outerShdw blurRad="50800" dist="50800" dir="5400000" algn="ctr" rotWithShape="0">
              <a:schemeClr val="bg1"/>
            </a:outerShdw>
          </a:effectLst>
        </p:spPr>
        <p:txBody>
          <a:bodyPr wrap="square" lIns="92002" tIns="46000" rIns="92002" bIns="46000">
            <a:spAutoFit/>
          </a:bodyPr>
          <a:lstStyle/>
          <a:p>
            <a:pPr marL="82064" marR="0" lvl="1" indent="-82064" algn="just" defTabSz="883644" rtl="0" eaLnBrk="0" fontAlgn="auto" latinLnBrk="0" hangingPunct="0">
              <a:lnSpc>
                <a:spcPct val="100000"/>
              </a:lnSpc>
              <a:spcBef>
                <a:spcPts val="0"/>
              </a:spcBef>
              <a:spcAft>
                <a:spcPts val="0"/>
              </a:spcAft>
              <a:buClr>
                <a:prstClr val="black">
                  <a:lumMod val="75000"/>
                  <a:lumOff val="25000"/>
                </a:prstClr>
              </a:buClr>
              <a:buSzTx/>
              <a:buFont typeface="Arial" pitchFamily="34" charset="0"/>
              <a:buChar char="•"/>
              <a:tabLst/>
              <a:defRPr/>
            </a:pPr>
            <a:r>
              <a:rPr lang="en-US" sz="900" kern="0">
                <a:solidFill>
                  <a:prstClr val="black"/>
                </a:solidFill>
                <a:latin typeface="Verdana"/>
                <a:cs typeface="Arial" pitchFamily="34" charset="0"/>
              </a:rPr>
              <a:t>Economic Research &amp; Analysis</a:t>
            </a:r>
          </a:p>
          <a:p>
            <a:pPr marL="82064" marR="0" lvl="1" indent="-82064" algn="just" defTabSz="883644" rtl="0" eaLnBrk="0" fontAlgn="auto" latinLnBrk="0" hangingPunct="0">
              <a:lnSpc>
                <a:spcPct val="100000"/>
              </a:lnSpc>
              <a:spcBef>
                <a:spcPts val="0"/>
              </a:spcBef>
              <a:spcAft>
                <a:spcPts val="0"/>
              </a:spcAft>
              <a:buClr>
                <a:prstClr val="black">
                  <a:lumMod val="75000"/>
                  <a:lumOff val="25000"/>
                </a:prstClr>
              </a:buClr>
              <a:buSzTx/>
              <a:buFont typeface="Arial" pitchFamily="34" charset="0"/>
              <a:buChar char="•"/>
              <a:tabLst/>
              <a:defRPr/>
            </a:pPr>
            <a:r>
              <a:rPr lang="en-US" sz="900" kern="0">
                <a:solidFill>
                  <a:prstClr val="black"/>
                </a:solidFill>
                <a:latin typeface="Verdana"/>
                <a:cs typeface="Arial" pitchFamily="34" charset="0"/>
              </a:rPr>
              <a:t>Public Finance &amp; Fiscal Policy</a:t>
            </a:r>
          </a:p>
          <a:p>
            <a:pPr marL="82064" marR="0" lvl="1" indent="-82064" algn="just" defTabSz="883644" rtl="0" eaLnBrk="0" fontAlgn="auto" latinLnBrk="0" hangingPunct="0">
              <a:lnSpc>
                <a:spcPct val="100000"/>
              </a:lnSpc>
              <a:spcBef>
                <a:spcPts val="0"/>
              </a:spcBef>
              <a:spcAft>
                <a:spcPts val="0"/>
              </a:spcAft>
              <a:buClr>
                <a:prstClr val="black">
                  <a:lumMod val="75000"/>
                  <a:lumOff val="25000"/>
                </a:prstClr>
              </a:buClr>
              <a:buSzTx/>
              <a:buFont typeface="Arial" pitchFamily="34" charset="0"/>
              <a:buChar char="•"/>
              <a:tabLst/>
              <a:defRPr/>
            </a:pPr>
            <a:r>
              <a:rPr lang="en-US" sz="900" kern="0">
                <a:solidFill>
                  <a:prstClr val="black"/>
                </a:solidFill>
                <a:latin typeface="Verdana"/>
                <a:cs typeface="Arial" pitchFamily="34" charset="0"/>
              </a:rPr>
              <a:t>SDG Financing</a:t>
            </a:r>
          </a:p>
          <a:p>
            <a:pPr marL="82064" marR="0" lvl="1" indent="-82064" algn="just" defTabSz="883644" rtl="0" eaLnBrk="0" fontAlgn="auto" latinLnBrk="0" hangingPunct="0">
              <a:lnSpc>
                <a:spcPct val="100000"/>
              </a:lnSpc>
              <a:spcBef>
                <a:spcPts val="0"/>
              </a:spcBef>
              <a:spcAft>
                <a:spcPts val="0"/>
              </a:spcAft>
              <a:buClr>
                <a:prstClr val="black">
                  <a:lumMod val="75000"/>
                  <a:lumOff val="25000"/>
                </a:prstClr>
              </a:buClr>
              <a:buSzTx/>
              <a:buFont typeface="Arial" pitchFamily="34" charset="0"/>
              <a:buChar char="•"/>
              <a:tabLst/>
              <a:defRPr/>
            </a:pPr>
            <a:r>
              <a:rPr lang="en-US" sz="900" kern="0">
                <a:solidFill>
                  <a:prstClr val="black"/>
                </a:solidFill>
                <a:latin typeface="Verdana"/>
                <a:cs typeface="Arial" pitchFamily="34" charset="0"/>
              </a:rPr>
              <a:t>Data Analytics &amp; Econometrics</a:t>
            </a:r>
          </a:p>
          <a:p>
            <a:pPr marL="82064" marR="0" lvl="1" indent="-82064" algn="just" defTabSz="883644" rtl="0" eaLnBrk="0" fontAlgn="auto" latinLnBrk="0" hangingPunct="0">
              <a:lnSpc>
                <a:spcPct val="100000"/>
              </a:lnSpc>
              <a:spcBef>
                <a:spcPts val="0"/>
              </a:spcBef>
              <a:spcAft>
                <a:spcPts val="0"/>
              </a:spcAft>
              <a:buClr>
                <a:prstClr val="black">
                  <a:lumMod val="75000"/>
                  <a:lumOff val="25000"/>
                </a:prstClr>
              </a:buClr>
              <a:buSzTx/>
              <a:buFont typeface="Arial" pitchFamily="34" charset="0"/>
              <a:buChar char="•"/>
              <a:tabLst/>
              <a:defRPr/>
            </a:pPr>
            <a:r>
              <a:rPr lang="en-US" sz="900" kern="0">
                <a:solidFill>
                  <a:prstClr val="black"/>
                </a:solidFill>
                <a:latin typeface="Verdana"/>
                <a:cs typeface="Arial" pitchFamily="34" charset="0"/>
              </a:rPr>
              <a:t>Sustainable Development</a:t>
            </a:r>
          </a:p>
          <a:p>
            <a:pPr marL="82064" marR="0" lvl="1" indent="-82064" algn="just" defTabSz="883644" rtl="0" eaLnBrk="0" fontAlgn="auto" latinLnBrk="0" hangingPunct="0">
              <a:lnSpc>
                <a:spcPct val="100000"/>
              </a:lnSpc>
              <a:spcBef>
                <a:spcPts val="0"/>
              </a:spcBef>
              <a:spcAft>
                <a:spcPts val="0"/>
              </a:spcAft>
              <a:buClr>
                <a:prstClr val="black">
                  <a:lumMod val="75000"/>
                  <a:lumOff val="25000"/>
                </a:prstClr>
              </a:buClr>
              <a:buSzTx/>
              <a:buFont typeface="Arial" pitchFamily="34" charset="0"/>
              <a:buChar char="•"/>
              <a:tabLst/>
              <a:defRPr/>
            </a:pPr>
            <a:r>
              <a:rPr lang="en-US" sz="900" kern="0">
                <a:solidFill>
                  <a:prstClr val="black"/>
                </a:solidFill>
                <a:latin typeface="Verdana"/>
                <a:cs typeface="Arial" pitchFamily="34" charset="0"/>
              </a:rPr>
              <a:t>Quantitative &amp; Qualitative Research</a:t>
            </a:r>
          </a:p>
          <a:p>
            <a:pPr marL="82064" marR="0" lvl="1" indent="-82064" algn="just" defTabSz="883644" rtl="0" eaLnBrk="0" fontAlgn="auto" latinLnBrk="0" hangingPunct="0">
              <a:lnSpc>
                <a:spcPct val="100000"/>
              </a:lnSpc>
              <a:spcBef>
                <a:spcPts val="0"/>
              </a:spcBef>
              <a:spcAft>
                <a:spcPts val="0"/>
              </a:spcAft>
              <a:buClr>
                <a:prstClr val="black">
                  <a:lumMod val="75000"/>
                  <a:lumOff val="25000"/>
                </a:prstClr>
              </a:buClr>
              <a:buSzTx/>
              <a:buFont typeface="Arial" pitchFamily="34" charset="0"/>
              <a:buChar char="•"/>
              <a:tabLst/>
              <a:defRPr/>
            </a:pPr>
            <a:r>
              <a:rPr lang="en-US" sz="900" kern="0">
                <a:solidFill>
                  <a:prstClr val="black"/>
                </a:solidFill>
                <a:latin typeface="Verdana"/>
                <a:cs typeface="Arial" pitchFamily="34" charset="0"/>
              </a:rPr>
              <a:t>Statistical Analysis (STATA, R, Excel)</a:t>
            </a:r>
          </a:p>
          <a:p>
            <a:pPr marL="82064" marR="0" lvl="1" indent="-82064" algn="just" defTabSz="883644" rtl="0" eaLnBrk="0" fontAlgn="auto" latinLnBrk="0" hangingPunct="0">
              <a:lnSpc>
                <a:spcPct val="100000"/>
              </a:lnSpc>
              <a:spcBef>
                <a:spcPts val="0"/>
              </a:spcBef>
              <a:spcAft>
                <a:spcPts val="0"/>
              </a:spcAft>
              <a:buClr>
                <a:prstClr val="black">
                  <a:lumMod val="75000"/>
                  <a:lumOff val="25000"/>
                </a:prstClr>
              </a:buClr>
              <a:buSzTx/>
              <a:buFont typeface="Arial" pitchFamily="34" charset="0"/>
              <a:buChar char="•"/>
              <a:tabLst/>
              <a:defRPr/>
            </a:pPr>
            <a:r>
              <a:rPr lang="en-US" sz="900" kern="0">
                <a:solidFill>
                  <a:prstClr val="black"/>
                </a:solidFill>
                <a:latin typeface="Verdana"/>
                <a:cs typeface="Arial" pitchFamily="34" charset="0"/>
              </a:rPr>
              <a:t>Economic Modelling &amp; Forecasting</a:t>
            </a:r>
          </a:p>
        </p:txBody>
      </p:sp>
      <p:sp>
        <p:nvSpPr>
          <p:cNvPr id="35" name="Rectangle 12">
            <a:extLst>
              <a:ext uri="{FF2B5EF4-FFF2-40B4-BE49-F238E27FC236}">
                <a16:creationId xmlns:a16="http://schemas.microsoft.com/office/drawing/2014/main" id="{F4E6FAF8-915A-A261-FEE6-DB82A7877E72}"/>
              </a:ext>
            </a:extLst>
          </p:cNvPr>
          <p:cNvSpPr>
            <a:spLocks noChangeArrowheads="1"/>
          </p:cNvSpPr>
          <p:nvPr/>
        </p:nvSpPr>
        <p:spPr bwMode="auto">
          <a:xfrm>
            <a:off x="468922" y="2391411"/>
            <a:ext cx="11311960" cy="2985998"/>
          </a:xfrm>
          <a:prstGeom prst="rect">
            <a:avLst/>
          </a:prstGeom>
          <a:noFill/>
          <a:ln w="9525" algn="ctr">
            <a:noFill/>
            <a:miter lim="800000"/>
            <a:headEnd/>
            <a:tailEnd/>
          </a:ln>
          <a:effectLst>
            <a:outerShdw blurRad="50800" dist="50800" dir="5400000" algn="ctr" rotWithShape="0">
              <a:schemeClr val="bg1"/>
            </a:outerShdw>
          </a:effectLst>
        </p:spPr>
        <p:txBody>
          <a:bodyPr wrap="square" lIns="92002" tIns="46000" rIns="0" bIns="46000">
            <a:spAutoFit/>
          </a:bodyPr>
          <a:lstStyle/>
          <a:p>
            <a:pPr lvl="0" algn="just" defTabSz="913521">
              <a:spcAft>
                <a:spcPts val="300"/>
              </a:spcAft>
              <a:defRPr/>
            </a:pPr>
            <a:r>
              <a:rPr lang="en-US" sz="900">
                <a:solidFill>
                  <a:prstClr val="black"/>
                </a:solidFill>
              </a:rPr>
              <a:t>Aanchal Karnani is an economist and research professional with experience in public finance, sustainable development, economic research, policy analysis, and data analytics. She has supported engagements related to SDG financing, fiscal sustainability, stakeholder consultations, and policy research, and possesses strong analytical skills with expertise in STATA, R, Excel, and econometric analysis. Her experience spans government advisory assignments, policy research, academic research, and evidence-based economic analysis.</a:t>
            </a:r>
          </a:p>
          <a:p>
            <a:pPr lvl="0" algn="just" defTabSz="913521">
              <a:spcAft>
                <a:spcPts val="300"/>
              </a:spcAft>
              <a:defRPr/>
            </a:pPr>
            <a:endParaRPr kumimoji="0" lang="en-US" sz="900" b="1" i="0" u="none" strike="noStrike" kern="0" cap="none" spc="0" normalizeH="0" baseline="0" noProof="0">
              <a:ln>
                <a:noFill/>
              </a:ln>
              <a:solidFill>
                <a:prstClr val="black"/>
              </a:solidFill>
              <a:effectLst/>
              <a:uLnTx/>
              <a:uFillTx/>
              <a:latin typeface="Verdana"/>
              <a:ea typeface="+mn-ea"/>
              <a:cs typeface="Arial" charset="0"/>
            </a:endParaRPr>
          </a:p>
          <a:p>
            <a:pPr lvl="0" algn="just" defTabSz="913521">
              <a:spcAft>
                <a:spcPts val="300"/>
              </a:spcAft>
              <a:defRPr/>
            </a:pPr>
            <a:r>
              <a:rPr kumimoji="0" lang="en-US" sz="900" b="1" i="0" u="none" strike="noStrike" kern="0" cap="none" spc="0" normalizeH="0" baseline="0" noProof="0">
                <a:ln>
                  <a:noFill/>
                </a:ln>
                <a:solidFill>
                  <a:prstClr val="black"/>
                </a:solidFill>
                <a:effectLst/>
                <a:uLnTx/>
                <a:uFillTx/>
                <a:latin typeface="Verdana"/>
                <a:ea typeface="+mn-ea"/>
                <a:cs typeface="Arial" charset="0"/>
              </a:rPr>
              <a:t>Relevant experience</a:t>
            </a:r>
            <a:endParaRPr kumimoji="0" lang="en-US" sz="900" i="0" u="none" strike="noStrike" kern="0" cap="none" spc="0" normalizeH="0" baseline="0" noProof="0">
              <a:ln>
                <a:noFill/>
              </a:ln>
              <a:solidFill>
                <a:prstClr val="black"/>
              </a:solidFill>
              <a:effectLst/>
              <a:uLnTx/>
              <a:uFillTx/>
              <a:latin typeface="Verdana"/>
              <a:ea typeface="+mn-ea"/>
              <a:cs typeface="Arial" charset="0"/>
            </a:endParaRPr>
          </a:p>
          <a:p>
            <a:pPr marL="171450" indent="-171450" algn="just" defTabSz="913521">
              <a:spcAft>
                <a:spcPts val="300"/>
              </a:spcAft>
              <a:buFont typeface="Arial" panose="020B0604020202020204" pitchFamily="34" charset="0"/>
              <a:buChar char="•"/>
              <a:defRPr/>
            </a:pPr>
            <a:r>
              <a:rPr kumimoji="0" lang="en-US" sz="90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Supported SDG financing assessment</a:t>
            </a: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s and development of resource mobilization strategies across multiple states, focusing on sustainable development and climate action.</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Conducted extensive research on </a:t>
            </a:r>
            <a:r>
              <a:rPr kumimoji="0" lang="en-US" sz="9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public finance, fiscal sustainability, innovative financing mechanisms, and SDG-related expenditure trends</a:t>
            </a: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Undertook stakeholder mapping, consultations, </a:t>
            </a:r>
            <a:r>
              <a:rPr kumimoji="0" lang="en-US" sz="9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and engagement with government departments, multilateral agencies, NGOs, and sector experts.</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Developed </a:t>
            </a:r>
            <a:r>
              <a:rPr kumimoji="0" lang="en-US" sz="9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concept notes, analytical reports, and policy recommendations </a:t>
            </a: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to support financing strategies and development priorities.</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Prepared </a:t>
            </a:r>
            <a:r>
              <a:rPr kumimoji="0" lang="en-US" sz="9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policy briefs and research outputs on municipal governance, MSME development, gender budgeting, and public policy issues.</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Conducted </a:t>
            </a:r>
            <a:r>
              <a:rPr kumimoji="0" lang="en-US" sz="9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macroeconomic research using panel datasets and advanced econometric techniques </a:t>
            </a: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to assess drivers of economic growth in emerging economies.</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Applied </a:t>
            </a:r>
            <a:r>
              <a:rPr kumimoji="0" lang="en-US" sz="9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quantitative methods, statistical modelling, and robustness testing using STATA and R</a:t>
            </a: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 to generate evidence-based policy insights.</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Designed and executed primary research studies involving </a:t>
            </a:r>
            <a:r>
              <a:rPr kumimoji="0" lang="en-US" sz="9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data collection, survey analysis, and evaluation of financial inclusion and enterprise performance.</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Arial" charset="0"/>
              </a:rPr>
              <a:t>Analysed</a:t>
            </a: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 </a:t>
            </a:r>
            <a:r>
              <a:rPr kumimoji="0" lang="en-US" sz="9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public expenditure, financing patterns, and institutional constraints </a:t>
            </a: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affecting access to finance and development outcomes.</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Performed </a:t>
            </a:r>
            <a:r>
              <a:rPr kumimoji="0" lang="en-US" sz="9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sectoral, financial, and market analysis using economic, statistical, and business intelligence tools </a:t>
            </a: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to support research and decision-making.</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Produced </a:t>
            </a:r>
            <a:r>
              <a:rPr kumimoji="0" lang="en-US" sz="9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research reports, literature reviews, analytical frameworks, and policy recommendations based on quantitative and qualitative evidence.</a:t>
            </a:r>
          </a:p>
          <a:p>
            <a:pPr marL="171450" indent="-171450" algn="just" defTabSz="913521">
              <a:spcAft>
                <a:spcPts val="300"/>
              </a:spcAft>
              <a:buFont typeface="Arial" panose="020B0604020202020204" pitchFamily="34" charset="0"/>
              <a:buChar char="•"/>
              <a:defRPr/>
            </a:pPr>
            <a:r>
              <a:rPr kumimoji="0" lang="en-US" sz="900" b="0"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Facilitated </a:t>
            </a:r>
            <a:r>
              <a:rPr kumimoji="0" lang="en-US" sz="900" b="1" i="0"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knowledge-sharing initiatives, expert consultations, and policy discussions to support research dissemination and stakeholder engagement.</a:t>
            </a:r>
          </a:p>
        </p:txBody>
      </p:sp>
      <p:grpSp>
        <p:nvGrpSpPr>
          <p:cNvPr id="22" name="Group 21">
            <a:extLst>
              <a:ext uri="{FF2B5EF4-FFF2-40B4-BE49-F238E27FC236}">
                <a16:creationId xmlns:a16="http://schemas.microsoft.com/office/drawing/2014/main" id="{0422DBB8-C5A1-5BA9-8797-A7B157F941FD}"/>
              </a:ext>
            </a:extLst>
          </p:cNvPr>
          <p:cNvGrpSpPr/>
          <p:nvPr/>
        </p:nvGrpSpPr>
        <p:grpSpPr>
          <a:xfrm>
            <a:off x="564313" y="2127525"/>
            <a:ext cx="11267234" cy="263886"/>
            <a:chOff x="566664" y="1911318"/>
            <a:chExt cx="11082488" cy="399693"/>
          </a:xfrm>
        </p:grpSpPr>
        <p:cxnSp>
          <p:nvCxnSpPr>
            <p:cNvPr id="23" name="Straight Connector 22">
              <a:extLst>
                <a:ext uri="{FF2B5EF4-FFF2-40B4-BE49-F238E27FC236}">
                  <a16:creationId xmlns:a16="http://schemas.microsoft.com/office/drawing/2014/main" id="{B7B016D8-CC84-3D7E-81C7-8F0F07BBA421}"/>
                </a:ext>
              </a:extLst>
            </p:cNvPr>
            <p:cNvCxnSpPr/>
            <p:nvPr/>
          </p:nvCxnSpPr>
          <p:spPr bwMode="auto">
            <a:xfrm>
              <a:off x="566664" y="2311011"/>
              <a:ext cx="11082488"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13017A74-E6D4-83B4-726B-7A2CBE34BEBA}"/>
                </a:ext>
              </a:extLst>
            </p:cNvPr>
            <p:cNvSpPr txBox="1"/>
            <p:nvPr/>
          </p:nvSpPr>
          <p:spPr>
            <a:xfrm>
              <a:off x="5105154" y="1911318"/>
              <a:ext cx="1930387" cy="226409"/>
            </a:xfrm>
            <a:prstGeom prst="rect">
              <a:avLst/>
            </a:prstGeom>
            <a:solidFill>
              <a:schemeClr val="bg1"/>
            </a:solidFill>
          </p:spPr>
          <p:txBody>
            <a:bodyPr wrap="square" rtlCol="0">
              <a:spAutoFit/>
            </a:bodyPr>
            <a:lstStyle/>
            <a:p>
              <a:pPr marL="1588" marR="0" lvl="0" indent="0" algn="l" defTabSz="914400" rtl="0" eaLnBrk="1" fontAlgn="base" latinLnBrk="0" hangingPunct="1">
                <a:lnSpc>
                  <a:spcPct val="106000"/>
                </a:lnSpc>
                <a:spcBef>
                  <a:spcPct val="80000"/>
                </a:spcBef>
                <a:spcAft>
                  <a:spcPct val="0"/>
                </a:spcAft>
                <a:buClr>
                  <a:srgbClr val="000000"/>
                </a:buClr>
                <a:buSzTx/>
                <a:buFontTx/>
                <a:buNone/>
                <a:tabLst/>
                <a:defRPr/>
              </a:pPr>
              <a:r>
                <a:rPr kumimoji="0" lang="en-US" sz="9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Professional Highlights</a:t>
              </a:r>
            </a:p>
          </p:txBody>
        </p:sp>
      </p:grpSp>
      <p:sp>
        <p:nvSpPr>
          <p:cNvPr id="10" name="Text Placeholder 1">
            <a:extLst>
              <a:ext uri="{FF2B5EF4-FFF2-40B4-BE49-F238E27FC236}">
                <a16:creationId xmlns:a16="http://schemas.microsoft.com/office/drawing/2014/main" id="{C0DEE2AA-48B1-5C31-7110-DFD709A2AD0B}"/>
              </a:ext>
            </a:extLst>
          </p:cNvPr>
          <p:cNvSpPr txBox="1">
            <a:spLocks/>
          </p:cNvSpPr>
          <p:nvPr/>
        </p:nvSpPr>
        <p:spPr>
          <a:xfrm>
            <a:off x="411118" y="532879"/>
            <a:ext cx="11188700" cy="757255"/>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1600" b="0" kern="1200">
                <a:solidFill>
                  <a:srgbClr val="575757"/>
                </a:solidFill>
                <a:latin typeface="Calibri" panose="020F0502020204030204" pitchFamily="34" charset="0"/>
                <a:ea typeface="+mn-ea"/>
                <a:cs typeface="Calibri" panose="020F0502020204030204" pitchFamily="34" charset="0"/>
              </a:defRPr>
            </a:lvl1pPr>
            <a:lvl2pPr marL="0" indent="0" algn="l" defTabSz="914400" rtl="0" eaLnBrk="1" latinLnBrk="0" hangingPunct="1">
              <a:spcBef>
                <a:spcPts val="0"/>
              </a:spcBef>
              <a:spcAft>
                <a:spcPts val="1000"/>
              </a:spcAft>
              <a:buClrTx/>
              <a:buSzPct val="100000"/>
              <a:buFont typeface="Arial"/>
              <a:buNone/>
              <a:defRPr lang="en-US" sz="12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fr-FR" sz="1400">
                <a:latin typeface="+mj-lt"/>
              </a:rPr>
              <a:t>Deloitte Touche </a:t>
            </a:r>
            <a:r>
              <a:rPr lang="fr-FR" sz="1400" err="1">
                <a:latin typeface="+mj-lt"/>
              </a:rPr>
              <a:t>Tohmatsu</a:t>
            </a:r>
            <a:r>
              <a:rPr lang="fr-FR" sz="1400">
                <a:latin typeface="+mj-lt"/>
              </a:rPr>
              <a:t> </a:t>
            </a:r>
            <a:r>
              <a:rPr lang="fr-FR" sz="1400" err="1">
                <a:latin typeface="+mj-lt"/>
              </a:rPr>
              <a:t>India</a:t>
            </a:r>
            <a:r>
              <a:rPr lang="fr-FR" sz="1400">
                <a:latin typeface="+mj-lt"/>
              </a:rPr>
              <a:t> LLP</a:t>
            </a:r>
            <a:endParaRPr lang="en-US" sz="1400">
              <a:latin typeface="+mj-lt"/>
            </a:endParaRPr>
          </a:p>
          <a:p>
            <a:endParaRPr lang="en-US" sz="1400">
              <a:latin typeface="+mj-lt"/>
            </a:endParaRPr>
          </a:p>
        </p:txBody>
      </p:sp>
      <p:sp>
        <p:nvSpPr>
          <p:cNvPr id="11" name="Title 2">
            <a:extLst>
              <a:ext uri="{FF2B5EF4-FFF2-40B4-BE49-F238E27FC236}">
                <a16:creationId xmlns:a16="http://schemas.microsoft.com/office/drawing/2014/main" id="{0CFF1584-F97E-844D-BABF-75349F204734}"/>
              </a:ext>
            </a:extLst>
          </p:cNvPr>
          <p:cNvSpPr txBox="1">
            <a:spLocks/>
          </p:cNvSpPr>
          <p:nvPr/>
        </p:nvSpPr>
        <p:spPr>
          <a:xfrm>
            <a:off x="411118" y="213764"/>
            <a:ext cx="11369764" cy="243926"/>
          </a:xfrm>
        </p:spPr>
        <p:txBody>
          <a:bodyPr vert="horz" lIns="0" tIns="0" rIns="0" bIns="0" rtlCol="0" anchor="t" anchorCtr="0">
            <a:noAutofit/>
          </a:bodyPr>
          <a:lstStyle>
            <a:lvl1pPr algn="l" defTabSz="914400" rtl="0" eaLnBrk="1" latinLnBrk="0" hangingPunct="1">
              <a:spcBef>
                <a:spcPct val="0"/>
              </a:spcBef>
              <a:buNone/>
              <a:defRPr sz="2000" kern="1200">
                <a:solidFill>
                  <a:schemeClr val="tx1"/>
                </a:solidFill>
                <a:latin typeface="Calibri" panose="020F0502020204030204" pitchFamily="34" charset="0"/>
                <a:ea typeface="+mj-ea"/>
                <a:cs typeface="Calibri" panose="020F0502020204030204" pitchFamily="34" charset="0"/>
              </a:defRPr>
            </a:lvl1pPr>
          </a:lstStyle>
          <a:p>
            <a:r>
              <a:rPr lang="en-US" sz="1800" b="1">
                <a:latin typeface="+mj-lt"/>
              </a:rPr>
              <a:t>Information on the qualification of key staff</a:t>
            </a:r>
          </a:p>
        </p:txBody>
      </p:sp>
      <p:cxnSp>
        <p:nvCxnSpPr>
          <p:cNvPr id="12" name="Straight Arrow Connector 11">
            <a:extLst>
              <a:ext uri="{FF2B5EF4-FFF2-40B4-BE49-F238E27FC236}">
                <a16:creationId xmlns:a16="http://schemas.microsoft.com/office/drawing/2014/main" id="{C243A9BE-9D0D-1F34-03E1-628FC62C223A}"/>
              </a:ext>
            </a:extLst>
          </p:cNvPr>
          <p:cNvCxnSpPr/>
          <p:nvPr/>
        </p:nvCxnSpPr>
        <p:spPr>
          <a:xfrm flipV="1">
            <a:off x="255815" y="820636"/>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BAA804DD-DAA3-7776-E0BE-3EFED2588EA9}"/>
              </a:ext>
            </a:extLst>
          </p:cNvPr>
          <p:cNvGrpSpPr/>
          <p:nvPr/>
        </p:nvGrpSpPr>
        <p:grpSpPr>
          <a:xfrm>
            <a:off x="411118" y="982891"/>
            <a:ext cx="1251777" cy="1273455"/>
            <a:chOff x="411118" y="982891"/>
            <a:chExt cx="1251777" cy="1273455"/>
          </a:xfrm>
        </p:grpSpPr>
        <p:sp>
          <p:nvSpPr>
            <p:cNvPr id="8" name="Flowchart: Connector 7">
              <a:extLst>
                <a:ext uri="{FF2B5EF4-FFF2-40B4-BE49-F238E27FC236}">
                  <a16:creationId xmlns:a16="http://schemas.microsoft.com/office/drawing/2014/main" id="{788620CF-E6F8-5FC5-E83A-3DC1ADB97561}"/>
                </a:ext>
              </a:extLst>
            </p:cNvPr>
            <p:cNvSpPr/>
            <p:nvPr/>
          </p:nvSpPr>
          <p:spPr bwMode="gray">
            <a:xfrm>
              <a:off x="417935" y="982891"/>
              <a:ext cx="1233690" cy="1273455"/>
            </a:xfrm>
            <a:prstGeom prst="flowChartConnector">
              <a:avLst/>
            </a:prstGeom>
            <a:noFill/>
            <a:ln w="19050" algn="ctr">
              <a:solidFill>
                <a:srgbClr val="0097A9"/>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pic>
          <p:nvPicPr>
            <p:cNvPr id="9" name="Picture 8">
              <a:extLst>
                <a:ext uri="{FF2B5EF4-FFF2-40B4-BE49-F238E27FC236}">
                  <a16:creationId xmlns:a16="http://schemas.microsoft.com/office/drawing/2014/main" id="{ADE0F35A-FC53-8E4A-CAFB-1EFF0052F4A2}"/>
                </a:ext>
              </a:extLst>
            </p:cNvPr>
            <p:cNvPicPr>
              <a:picLocks noChangeAspect="1"/>
            </p:cNvPicPr>
            <p:nvPr/>
          </p:nvPicPr>
          <p:blipFill>
            <a:blip r:embed="rId3" r:link="rId4" cstate="print">
              <a:extLst>
                <a:ext uri="{28A0092B-C50C-407E-A947-70E740481C1C}">
                  <a14:useLocalDpi xmlns:a14="http://schemas.microsoft.com/office/drawing/2010/main" val="0"/>
                </a:ext>
              </a:extLst>
            </a:blip>
            <a:srcRect/>
            <a:stretch>
              <a:fillRect/>
            </a:stretch>
          </p:blipFill>
          <p:spPr bwMode="auto">
            <a:xfrm>
              <a:off x="411118" y="1009419"/>
              <a:ext cx="1251777" cy="1220398"/>
            </a:xfrm>
            <a:prstGeom prst="flowChartConnector">
              <a:avLst/>
            </a:prstGeom>
            <a:noFill/>
            <a:ln>
              <a:noFill/>
            </a:ln>
          </p:spPr>
        </p:pic>
      </p:grpSp>
    </p:spTree>
    <p:extLst>
      <p:ext uri="{BB962C8B-B14F-4D97-AF65-F5344CB8AC3E}">
        <p14:creationId xmlns:p14="http://schemas.microsoft.com/office/powerpoint/2010/main" val="1687408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B22CD-E3B0-BBCA-68CA-311BC978C650}"/>
            </a:ext>
          </a:extLst>
        </p:cNvPr>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6C5999D1-C7C4-CD8D-C448-1F1A0B6BC62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7" name="Object 6" hidden="1">
                        <a:extLst>
                          <a:ext uri="{FF2B5EF4-FFF2-40B4-BE49-F238E27FC236}">
                            <a16:creationId xmlns:a16="http://schemas.microsoft.com/office/drawing/2014/main" id="{6C5999D1-C7C4-CD8D-C448-1F1A0B6BC623}"/>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08FDB275-A901-A858-8831-6EB5764A218F}"/>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Chronicle Display Black" pitchFamily="50" charset="0"/>
              <a:ea typeface="+mn-ea"/>
              <a:cs typeface="+mn-cs"/>
              <a:sym typeface="Chronicle Display Black" pitchFamily="50" charset="0"/>
            </a:endParaRPr>
          </a:p>
        </p:txBody>
      </p:sp>
      <p:pic>
        <p:nvPicPr>
          <p:cNvPr id="33" name="Picture 32">
            <a:extLst>
              <a:ext uri="{FF2B5EF4-FFF2-40B4-BE49-F238E27FC236}">
                <a16:creationId xmlns:a16="http://schemas.microsoft.com/office/drawing/2014/main" id="{B7647965-6E2F-AED1-485B-36D28BC11497}"/>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bwMode="gray">
          <a:xfrm>
            <a:off x="0" y="0"/>
            <a:ext cx="12192000" cy="6858000"/>
          </a:xfrm>
          <a:prstGeom prst="rect">
            <a:avLst/>
          </a:prstGeom>
        </p:spPr>
      </p:pic>
      <p:sp>
        <p:nvSpPr>
          <p:cNvPr id="34" name="Flowchart: Process 33">
            <a:extLst>
              <a:ext uri="{FF2B5EF4-FFF2-40B4-BE49-F238E27FC236}">
                <a16:creationId xmlns:a16="http://schemas.microsoft.com/office/drawing/2014/main" id="{0B1ED730-E529-3EEE-49F8-EB0F89FD1119}"/>
              </a:ext>
            </a:extLst>
          </p:cNvPr>
          <p:cNvSpPr/>
          <p:nvPr/>
        </p:nvSpPr>
        <p:spPr bwMode="gray">
          <a:xfrm>
            <a:off x="1343139" y="1283297"/>
            <a:ext cx="9512456" cy="4332512"/>
          </a:xfrm>
          <a:prstGeom prst="flowChartProcess">
            <a:avLst/>
          </a:prstGeom>
          <a:solidFill>
            <a:schemeClr val="tx1">
              <a:alpha val="38000"/>
            </a:schemeClr>
          </a:solidFill>
          <a:ln w="19050" algn="ctr">
            <a:noFill/>
            <a:miter lim="800000"/>
            <a:headEnd/>
            <a:tailEnd/>
          </a:ln>
        </p:spPr>
        <p:txBody>
          <a:bodyPr wrap="square" lIns="1080000" tIns="88900" rIns="1080000" bIns="88900" rtlCol="0" anchor="ct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400" b="0" i="0" u="none" strike="noStrike" kern="1200" cap="none" spc="0" normalizeH="0" baseline="0" noProof="0">
                <a:ln>
                  <a:noFill/>
                </a:ln>
                <a:solidFill>
                  <a:srgbClr val="0097A9"/>
                </a:solidFill>
                <a:effectLst/>
                <a:uLnTx/>
                <a:uFillTx/>
                <a:latin typeface="Verdana" panose="020B0604030504040204" pitchFamily="34" charset="0"/>
                <a:ea typeface="Verdana" panose="020B0604030504040204" pitchFamily="34" charset="0"/>
                <a:cs typeface="Calibri" panose="020F0502020204030204" pitchFamily="34" charset="0"/>
              </a:rPr>
              <a:t>Our Experience with NITI Aayog</a:t>
            </a:r>
          </a:p>
        </p:txBody>
      </p:sp>
      <p:grpSp>
        <p:nvGrpSpPr>
          <p:cNvPr id="35" name="Group 541">
            <a:extLst>
              <a:ext uri="{FF2B5EF4-FFF2-40B4-BE49-F238E27FC236}">
                <a16:creationId xmlns:a16="http://schemas.microsoft.com/office/drawing/2014/main" id="{AACDBBF2-D458-C175-6184-8A143BCE87B6}"/>
              </a:ext>
            </a:extLst>
          </p:cNvPr>
          <p:cNvGrpSpPr>
            <a:grpSpLocks noChangeAspect="1"/>
          </p:cNvGrpSpPr>
          <p:nvPr/>
        </p:nvGrpSpPr>
        <p:grpSpPr bwMode="gray">
          <a:xfrm>
            <a:off x="2043454" y="743296"/>
            <a:ext cx="1080000" cy="1080000"/>
            <a:chOff x="5326" y="2494"/>
            <a:chExt cx="340" cy="340"/>
          </a:xfrm>
          <a:solidFill>
            <a:srgbClr val="0097A9"/>
          </a:solidFill>
        </p:grpSpPr>
        <p:sp>
          <p:nvSpPr>
            <p:cNvPr id="36" name="Freeform 542">
              <a:extLst>
                <a:ext uri="{FF2B5EF4-FFF2-40B4-BE49-F238E27FC236}">
                  <a16:creationId xmlns:a16="http://schemas.microsoft.com/office/drawing/2014/main" id="{63EF6684-868C-10CD-8CA1-F5A14A09A17D}"/>
                </a:ext>
              </a:extLst>
            </p:cNvPr>
            <p:cNvSpPr>
              <a:spLocks noEditPoints="1"/>
            </p:cNvSpPr>
            <p:nvPr/>
          </p:nvSpPr>
          <p:spPr bwMode="gray">
            <a:xfrm>
              <a:off x="5430" y="2558"/>
              <a:ext cx="132" cy="212"/>
            </a:xfrm>
            <a:custGeom>
              <a:avLst/>
              <a:gdLst>
                <a:gd name="T0" fmla="*/ 99 w 199"/>
                <a:gd name="T1" fmla="*/ 0 h 320"/>
                <a:gd name="T2" fmla="*/ 99 w 199"/>
                <a:gd name="T3" fmla="*/ 0 h 320"/>
                <a:gd name="T4" fmla="*/ 99 w 199"/>
                <a:gd name="T5" fmla="*/ 0 h 320"/>
                <a:gd name="T6" fmla="*/ 99 w 199"/>
                <a:gd name="T7" fmla="*/ 0 h 320"/>
                <a:gd name="T8" fmla="*/ 98 w 199"/>
                <a:gd name="T9" fmla="*/ 0 h 320"/>
                <a:gd name="T10" fmla="*/ 0 w 199"/>
                <a:gd name="T11" fmla="*/ 95 h 320"/>
                <a:gd name="T12" fmla="*/ 19 w 199"/>
                <a:gd name="T13" fmla="*/ 158 h 320"/>
                <a:gd name="T14" fmla="*/ 45 w 199"/>
                <a:gd name="T15" fmla="*/ 213 h 320"/>
                <a:gd name="T16" fmla="*/ 45 w 199"/>
                <a:gd name="T17" fmla="*/ 245 h 320"/>
                <a:gd name="T18" fmla="*/ 46 w 199"/>
                <a:gd name="T19" fmla="*/ 246 h 320"/>
                <a:gd name="T20" fmla="*/ 45 w 199"/>
                <a:gd name="T21" fmla="*/ 247 h 320"/>
                <a:gd name="T22" fmla="*/ 56 w 199"/>
                <a:gd name="T23" fmla="*/ 311 h 320"/>
                <a:gd name="T24" fmla="*/ 67 w 199"/>
                <a:gd name="T25" fmla="*/ 320 h 320"/>
                <a:gd name="T26" fmla="*/ 131 w 199"/>
                <a:gd name="T27" fmla="*/ 320 h 320"/>
                <a:gd name="T28" fmla="*/ 141 w 199"/>
                <a:gd name="T29" fmla="*/ 311 h 320"/>
                <a:gd name="T30" fmla="*/ 152 w 199"/>
                <a:gd name="T31" fmla="*/ 247 h 320"/>
                <a:gd name="T32" fmla="*/ 152 w 199"/>
                <a:gd name="T33" fmla="*/ 246 h 320"/>
                <a:gd name="T34" fmla="*/ 152 w 199"/>
                <a:gd name="T35" fmla="*/ 245 h 320"/>
                <a:gd name="T36" fmla="*/ 152 w 199"/>
                <a:gd name="T37" fmla="*/ 213 h 320"/>
                <a:gd name="T38" fmla="*/ 179 w 199"/>
                <a:gd name="T39" fmla="*/ 158 h 320"/>
                <a:gd name="T40" fmla="*/ 199 w 199"/>
                <a:gd name="T41" fmla="*/ 95 h 320"/>
                <a:gd name="T42" fmla="*/ 99 w 199"/>
                <a:gd name="T43" fmla="*/ 0 h 320"/>
                <a:gd name="T44" fmla="*/ 122 w 199"/>
                <a:gd name="T45" fmla="*/ 298 h 320"/>
                <a:gd name="T46" fmla="*/ 76 w 199"/>
                <a:gd name="T47" fmla="*/ 298 h 320"/>
                <a:gd name="T48" fmla="*/ 69 w 199"/>
                <a:gd name="T49" fmla="*/ 256 h 320"/>
                <a:gd name="T50" fmla="*/ 129 w 199"/>
                <a:gd name="T51" fmla="*/ 256 h 320"/>
                <a:gd name="T52" fmla="*/ 122 w 199"/>
                <a:gd name="T53" fmla="*/ 298 h 320"/>
                <a:gd name="T54" fmla="*/ 161 w 199"/>
                <a:gd name="T55" fmla="*/ 147 h 320"/>
                <a:gd name="T56" fmla="*/ 131 w 199"/>
                <a:gd name="T57" fmla="*/ 213 h 320"/>
                <a:gd name="T58" fmla="*/ 131 w 199"/>
                <a:gd name="T59" fmla="*/ 234 h 320"/>
                <a:gd name="T60" fmla="*/ 109 w 199"/>
                <a:gd name="T61" fmla="*/ 234 h 320"/>
                <a:gd name="T62" fmla="*/ 109 w 199"/>
                <a:gd name="T63" fmla="*/ 153 h 320"/>
                <a:gd name="T64" fmla="*/ 128 w 199"/>
                <a:gd name="T65" fmla="*/ 135 h 320"/>
                <a:gd name="T66" fmla="*/ 128 w 199"/>
                <a:gd name="T67" fmla="*/ 120 h 320"/>
                <a:gd name="T68" fmla="*/ 112 w 199"/>
                <a:gd name="T69" fmla="*/ 120 h 320"/>
                <a:gd name="T70" fmla="*/ 99 w 199"/>
                <a:gd name="T71" fmla="*/ 134 h 320"/>
                <a:gd name="T72" fmla="*/ 85 w 199"/>
                <a:gd name="T73" fmla="*/ 120 h 320"/>
                <a:gd name="T74" fmla="*/ 70 w 199"/>
                <a:gd name="T75" fmla="*/ 120 h 320"/>
                <a:gd name="T76" fmla="*/ 70 w 199"/>
                <a:gd name="T77" fmla="*/ 135 h 320"/>
                <a:gd name="T78" fmla="*/ 88 w 199"/>
                <a:gd name="T79" fmla="*/ 153 h 320"/>
                <a:gd name="T80" fmla="*/ 88 w 199"/>
                <a:gd name="T81" fmla="*/ 234 h 320"/>
                <a:gd name="T82" fmla="*/ 67 w 199"/>
                <a:gd name="T83" fmla="*/ 234 h 320"/>
                <a:gd name="T84" fmla="*/ 67 w 199"/>
                <a:gd name="T85" fmla="*/ 213 h 320"/>
                <a:gd name="T86" fmla="*/ 37 w 199"/>
                <a:gd name="T87" fmla="*/ 146 h 320"/>
                <a:gd name="T88" fmla="*/ 21 w 199"/>
                <a:gd name="T89" fmla="*/ 95 h 320"/>
                <a:gd name="T90" fmla="*/ 99 w 199"/>
                <a:gd name="T91" fmla="*/ 21 h 320"/>
                <a:gd name="T92" fmla="*/ 177 w 199"/>
                <a:gd name="T93" fmla="*/ 95 h 320"/>
                <a:gd name="T94" fmla="*/ 161 w 199"/>
                <a:gd name="T95" fmla="*/ 147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320">
                  <a:moveTo>
                    <a:pt x="99" y="0"/>
                  </a:moveTo>
                  <a:cubicBezTo>
                    <a:pt x="99" y="0"/>
                    <a:pt x="99" y="0"/>
                    <a:pt x="99" y="0"/>
                  </a:cubicBezTo>
                  <a:cubicBezTo>
                    <a:pt x="99" y="0"/>
                    <a:pt x="99" y="0"/>
                    <a:pt x="99" y="0"/>
                  </a:cubicBezTo>
                  <a:cubicBezTo>
                    <a:pt x="99" y="0"/>
                    <a:pt x="99" y="0"/>
                    <a:pt x="99" y="0"/>
                  </a:cubicBezTo>
                  <a:cubicBezTo>
                    <a:pt x="99" y="0"/>
                    <a:pt x="99" y="0"/>
                    <a:pt x="98" y="0"/>
                  </a:cubicBezTo>
                  <a:cubicBezTo>
                    <a:pt x="45" y="0"/>
                    <a:pt x="0" y="44"/>
                    <a:pt x="0" y="95"/>
                  </a:cubicBezTo>
                  <a:cubicBezTo>
                    <a:pt x="0" y="129"/>
                    <a:pt x="18" y="157"/>
                    <a:pt x="19" y="158"/>
                  </a:cubicBezTo>
                  <a:cubicBezTo>
                    <a:pt x="32" y="179"/>
                    <a:pt x="45" y="206"/>
                    <a:pt x="45" y="213"/>
                  </a:cubicBezTo>
                  <a:cubicBezTo>
                    <a:pt x="45" y="245"/>
                    <a:pt x="45" y="245"/>
                    <a:pt x="45" y="245"/>
                  </a:cubicBezTo>
                  <a:cubicBezTo>
                    <a:pt x="45" y="245"/>
                    <a:pt x="45" y="246"/>
                    <a:pt x="46" y="246"/>
                  </a:cubicBezTo>
                  <a:cubicBezTo>
                    <a:pt x="46" y="246"/>
                    <a:pt x="45" y="246"/>
                    <a:pt x="45" y="247"/>
                  </a:cubicBezTo>
                  <a:cubicBezTo>
                    <a:pt x="56" y="311"/>
                    <a:pt x="56" y="311"/>
                    <a:pt x="56" y="311"/>
                  </a:cubicBezTo>
                  <a:cubicBezTo>
                    <a:pt x="57" y="316"/>
                    <a:pt x="61" y="320"/>
                    <a:pt x="67" y="320"/>
                  </a:cubicBezTo>
                  <a:cubicBezTo>
                    <a:pt x="131" y="320"/>
                    <a:pt x="131" y="320"/>
                    <a:pt x="131" y="320"/>
                  </a:cubicBezTo>
                  <a:cubicBezTo>
                    <a:pt x="136" y="320"/>
                    <a:pt x="140" y="316"/>
                    <a:pt x="141" y="311"/>
                  </a:cubicBezTo>
                  <a:cubicBezTo>
                    <a:pt x="152" y="247"/>
                    <a:pt x="152" y="247"/>
                    <a:pt x="152" y="247"/>
                  </a:cubicBezTo>
                  <a:cubicBezTo>
                    <a:pt x="152" y="246"/>
                    <a:pt x="152" y="246"/>
                    <a:pt x="152" y="246"/>
                  </a:cubicBezTo>
                  <a:cubicBezTo>
                    <a:pt x="152" y="246"/>
                    <a:pt x="152" y="245"/>
                    <a:pt x="152" y="245"/>
                  </a:cubicBezTo>
                  <a:cubicBezTo>
                    <a:pt x="152" y="213"/>
                    <a:pt x="152" y="213"/>
                    <a:pt x="152" y="213"/>
                  </a:cubicBezTo>
                  <a:cubicBezTo>
                    <a:pt x="152" y="206"/>
                    <a:pt x="166" y="179"/>
                    <a:pt x="179" y="158"/>
                  </a:cubicBezTo>
                  <a:cubicBezTo>
                    <a:pt x="180" y="157"/>
                    <a:pt x="199" y="129"/>
                    <a:pt x="199" y="95"/>
                  </a:cubicBezTo>
                  <a:cubicBezTo>
                    <a:pt x="199" y="44"/>
                    <a:pt x="153" y="0"/>
                    <a:pt x="99" y="0"/>
                  </a:cubicBezTo>
                  <a:close/>
                  <a:moveTo>
                    <a:pt x="122" y="298"/>
                  </a:moveTo>
                  <a:cubicBezTo>
                    <a:pt x="76" y="298"/>
                    <a:pt x="76" y="298"/>
                    <a:pt x="76" y="298"/>
                  </a:cubicBezTo>
                  <a:cubicBezTo>
                    <a:pt x="69" y="256"/>
                    <a:pt x="69" y="256"/>
                    <a:pt x="69" y="256"/>
                  </a:cubicBezTo>
                  <a:cubicBezTo>
                    <a:pt x="129" y="256"/>
                    <a:pt x="129" y="256"/>
                    <a:pt x="129" y="256"/>
                  </a:cubicBezTo>
                  <a:lnTo>
                    <a:pt x="122" y="298"/>
                  </a:lnTo>
                  <a:close/>
                  <a:moveTo>
                    <a:pt x="161" y="147"/>
                  </a:moveTo>
                  <a:cubicBezTo>
                    <a:pt x="154" y="158"/>
                    <a:pt x="131" y="196"/>
                    <a:pt x="131" y="213"/>
                  </a:cubicBezTo>
                  <a:cubicBezTo>
                    <a:pt x="131" y="234"/>
                    <a:pt x="131" y="234"/>
                    <a:pt x="131" y="234"/>
                  </a:cubicBezTo>
                  <a:cubicBezTo>
                    <a:pt x="109" y="234"/>
                    <a:pt x="109" y="234"/>
                    <a:pt x="109" y="234"/>
                  </a:cubicBezTo>
                  <a:cubicBezTo>
                    <a:pt x="109" y="153"/>
                    <a:pt x="109" y="153"/>
                    <a:pt x="109" y="153"/>
                  </a:cubicBezTo>
                  <a:cubicBezTo>
                    <a:pt x="128" y="135"/>
                    <a:pt x="128" y="135"/>
                    <a:pt x="128" y="135"/>
                  </a:cubicBezTo>
                  <a:cubicBezTo>
                    <a:pt x="132" y="131"/>
                    <a:pt x="132" y="124"/>
                    <a:pt x="128" y="120"/>
                  </a:cubicBezTo>
                  <a:cubicBezTo>
                    <a:pt x="123" y="116"/>
                    <a:pt x="117" y="116"/>
                    <a:pt x="112" y="120"/>
                  </a:cubicBezTo>
                  <a:cubicBezTo>
                    <a:pt x="99" y="134"/>
                    <a:pt x="99" y="134"/>
                    <a:pt x="99" y="134"/>
                  </a:cubicBezTo>
                  <a:cubicBezTo>
                    <a:pt x="85" y="120"/>
                    <a:pt x="85" y="120"/>
                    <a:pt x="85" y="120"/>
                  </a:cubicBezTo>
                  <a:cubicBezTo>
                    <a:pt x="81" y="116"/>
                    <a:pt x="74" y="116"/>
                    <a:pt x="70" y="120"/>
                  </a:cubicBezTo>
                  <a:cubicBezTo>
                    <a:pt x="66" y="124"/>
                    <a:pt x="66" y="131"/>
                    <a:pt x="70" y="135"/>
                  </a:cubicBezTo>
                  <a:cubicBezTo>
                    <a:pt x="88" y="153"/>
                    <a:pt x="88" y="153"/>
                    <a:pt x="88" y="153"/>
                  </a:cubicBezTo>
                  <a:cubicBezTo>
                    <a:pt x="88" y="234"/>
                    <a:pt x="88" y="234"/>
                    <a:pt x="88" y="234"/>
                  </a:cubicBezTo>
                  <a:cubicBezTo>
                    <a:pt x="67" y="234"/>
                    <a:pt x="67" y="234"/>
                    <a:pt x="67" y="234"/>
                  </a:cubicBezTo>
                  <a:cubicBezTo>
                    <a:pt x="67" y="213"/>
                    <a:pt x="67" y="213"/>
                    <a:pt x="67" y="213"/>
                  </a:cubicBezTo>
                  <a:cubicBezTo>
                    <a:pt x="67" y="196"/>
                    <a:pt x="44" y="158"/>
                    <a:pt x="37" y="146"/>
                  </a:cubicBezTo>
                  <a:cubicBezTo>
                    <a:pt x="37" y="146"/>
                    <a:pt x="21" y="123"/>
                    <a:pt x="21" y="95"/>
                  </a:cubicBezTo>
                  <a:cubicBezTo>
                    <a:pt x="21" y="55"/>
                    <a:pt x="57" y="21"/>
                    <a:pt x="99" y="21"/>
                  </a:cubicBezTo>
                  <a:cubicBezTo>
                    <a:pt x="141" y="21"/>
                    <a:pt x="177" y="55"/>
                    <a:pt x="177" y="95"/>
                  </a:cubicBezTo>
                  <a:cubicBezTo>
                    <a:pt x="177" y="122"/>
                    <a:pt x="161" y="146"/>
                    <a:pt x="161" y="14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Freeform 543">
              <a:extLst>
                <a:ext uri="{FF2B5EF4-FFF2-40B4-BE49-F238E27FC236}">
                  <a16:creationId xmlns:a16="http://schemas.microsoft.com/office/drawing/2014/main" id="{C84ADB4E-854E-2FDA-193D-1F0AEA6BDB01}"/>
                </a:ext>
              </a:extLst>
            </p:cNvPr>
            <p:cNvSpPr>
              <a:spLocks noEditPoints="1"/>
            </p:cNvSpPr>
            <p:nvPr/>
          </p:nvSpPr>
          <p:spPr bwMode="gray">
            <a:xfrm>
              <a:off x="5326" y="249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8" name="Group 37">
            <a:extLst>
              <a:ext uri="{FF2B5EF4-FFF2-40B4-BE49-F238E27FC236}">
                <a16:creationId xmlns:a16="http://schemas.microsoft.com/office/drawing/2014/main" id="{9494239D-4EBB-BCFF-22B5-68B44A5D4574}"/>
              </a:ext>
            </a:extLst>
          </p:cNvPr>
          <p:cNvGrpSpPr/>
          <p:nvPr/>
        </p:nvGrpSpPr>
        <p:grpSpPr bwMode="gray">
          <a:xfrm>
            <a:off x="1332253" y="1283296"/>
            <a:ext cx="9535886" cy="4341335"/>
            <a:chOff x="1332253" y="1283296"/>
            <a:chExt cx="9535886" cy="4341335"/>
          </a:xfrm>
        </p:grpSpPr>
        <p:cxnSp>
          <p:nvCxnSpPr>
            <p:cNvPr id="39" name="Straight Connector 38">
              <a:extLst>
                <a:ext uri="{FF2B5EF4-FFF2-40B4-BE49-F238E27FC236}">
                  <a16:creationId xmlns:a16="http://schemas.microsoft.com/office/drawing/2014/main" id="{6D0A5D8D-AAB3-E14A-EE28-20925A39E3CB}"/>
                </a:ext>
              </a:extLst>
            </p:cNvPr>
            <p:cNvCxnSpPr/>
            <p:nvPr/>
          </p:nvCxnSpPr>
          <p:spPr bwMode="gray">
            <a:xfrm flipH="1">
              <a:off x="1332253" y="1283296"/>
              <a:ext cx="551543"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C1E27CC-091B-EB7E-876A-8E43D9978803}"/>
                </a:ext>
              </a:extLst>
            </p:cNvPr>
            <p:cNvCxnSpPr/>
            <p:nvPr/>
          </p:nvCxnSpPr>
          <p:spPr bwMode="gray">
            <a:xfrm flipH="1">
              <a:off x="1332253" y="5615809"/>
              <a:ext cx="551543"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E10775E-3A43-95EF-AF35-1CB33F9264EF}"/>
                </a:ext>
              </a:extLst>
            </p:cNvPr>
            <p:cNvCxnSpPr/>
            <p:nvPr/>
          </p:nvCxnSpPr>
          <p:spPr bwMode="gray">
            <a:xfrm>
              <a:off x="1332253" y="1283296"/>
              <a:ext cx="0" cy="4341335"/>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D6FBB252-D190-3B28-10CC-63B5C5A09B6A}"/>
                </a:ext>
              </a:extLst>
            </p:cNvPr>
            <p:cNvCxnSpPr/>
            <p:nvPr/>
          </p:nvCxnSpPr>
          <p:spPr bwMode="gray">
            <a:xfrm>
              <a:off x="10868139" y="1283296"/>
              <a:ext cx="0" cy="4341335"/>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4DE6984-71A8-D13C-D73D-EFD7E1401687}"/>
                </a:ext>
              </a:extLst>
            </p:cNvPr>
            <p:cNvCxnSpPr/>
            <p:nvPr/>
          </p:nvCxnSpPr>
          <p:spPr bwMode="gray">
            <a:xfrm flipH="1">
              <a:off x="3320709" y="1283296"/>
              <a:ext cx="7524000"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8B0C02B-7BD0-7C5B-3C27-06856ADFEFDF}"/>
                </a:ext>
              </a:extLst>
            </p:cNvPr>
            <p:cNvCxnSpPr/>
            <p:nvPr/>
          </p:nvCxnSpPr>
          <p:spPr bwMode="gray">
            <a:xfrm flipH="1">
              <a:off x="1763486" y="5615809"/>
              <a:ext cx="9089909"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77035103"/>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EEC9D66-CCCA-A788-40A5-C54070E0BE58}"/>
            </a:ext>
          </a:extLst>
        </p:cNvPr>
        <p:cNvGrpSpPr/>
        <p:nvPr/>
      </p:nvGrpSpPr>
      <p:grpSpPr>
        <a:xfrm>
          <a:off x="0" y="0"/>
          <a:ext cx="0" cy="0"/>
          <a:chOff x="0" y="0"/>
          <a:chExt cx="0" cy="0"/>
        </a:xfrm>
      </p:grpSpPr>
      <p:sp>
        <p:nvSpPr>
          <p:cNvPr id="11" name="Title 2">
            <a:extLst>
              <a:ext uri="{FF2B5EF4-FFF2-40B4-BE49-F238E27FC236}">
                <a16:creationId xmlns:a16="http://schemas.microsoft.com/office/drawing/2014/main" id="{87CDCD0F-8C98-FA30-5530-FBAF3874E090}"/>
              </a:ext>
            </a:extLst>
          </p:cNvPr>
          <p:cNvSpPr txBox="1">
            <a:spLocks/>
          </p:cNvSpPr>
          <p:nvPr/>
        </p:nvSpPr>
        <p:spPr>
          <a:xfrm>
            <a:off x="411118" y="213764"/>
            <a:ext cx="11369764" cy="243926"/>
          </a:xfrm>
        </p:spPr>
        <p:txBody>
          <a:bodyPr vert="horz" lIns="0" tIns="0" rIns="0" bIns="0" rtlCol="0" anchor="t" anchorCtr="0">
            <a:noAutofit/>
          </a:bodyPr>
          <a:lstStyle>
            <a:lvl1pPr algn="l" defTabSz="914400" rtl="0" eaLnBrk="1" latinLnBrk="0" hangingPunct="1">
              <a:spcBef>
                <a:spcPct val="0"/>
              </a:spcBef>
              <a:buNone/>
              <a:defRPr sz="2000" kern="1200">
                <a:solidFill>
                  <a:schemeClr val="tx1"/>
                </a:solidFill>
                <a:latin typeface="Calibri" panose="020F0502020204030204" pitchFamily="34" charset="0"/>
                <a:ea typeface="+mj-ea"/>
                <a:cs typeface="Calibri" panose="020F0502020204030204" pitchFamily="34" charset="0"/>
              </a:defRPr>
            </a:lvl1pPr>
          </a:lstStyle>
          <a:p>
            <a:r>
              <a:rPr lang="en-US" sz="1800" b="1">
                <a:latin typeface="+mj-lt"/>
              </a:rPr>
              <a:t>Deloitte’s contribution with NITI AYOG in shaping National Strategies</a:t>
            </a:r>
          </a:p>
        </p:txBody>
      </p:sp>
      <p:cxnSp>
        <p:nvCxnSpPr>
          <p:cNvPr id="12" name="Straight Arrow Connector 11">
            <a:extLst>
              <a:ext uri="{FF2B5EF4-FFF2-40B4-BE49-F238E27FC236}">
                <a16:creationId xmlns:a16="http://schemas.microsoft.com/office/drawing/2014/main" id="{E5ED0CB6-ED20-7EA0-B471-3F2041DE7BB9}"/>
              </a:ext>
            </a:extLst>
          </p:cNvPr>
          <p:cNvCxnSpPr/>
          <p:nvPr/>
        </p:nvCxnSpPr>
        <p:spPr>
          <a:xfrm flipV="1">
            <a:off x="310698" y="687894"/>
            <a:ext cx="1005769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A297E499-45F3-F7ED-CA3C-BD8E4C148414}"/>
              </a:ext>
            </a:extLst>
          </p:cNvPr>
          <p:cNvSpPr/>
          <p:nvPr/>
        </p:nvSpPr>
        <p:spPr bwMode="gray">
          <a:xfrm>
            <a:off x="310698" y="1117367"/>
            <a:ext cx="5398455" cy="45719"/>
          </a:xfrm>
          <a:prstGeom prst="rect">
            <a:avLst/>
          </a:prstGeom>
          <a:solidFill>
            <a:schemeClr val="accent1"/>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sp>
        <p:nvSpPr>
          <p:cNvPr id="22" name="Rectangle 21">
            <a:extLst>
              <a:ext uri="{FF2B5EF4-FFF2-40B4-BE49-F238E27FC236}">
                <a16:creationId xmlns:a16="http://schemas.microsoft.com/office/drawing/2014/main" id="{3BAB4F35-5D6E-E449-F3C6-EDC3D8A14A8A}"/>
              </a:ext>
            </a:extLst>
          </p:cNvPr>
          <p:cNvSpPr/>
          <p:nvPr/>
        </p:nvSpPr>
        <p:spPr bwMode="gray">
          <a:xfrm>
            <a:off x="6282007" y="1117367"/>
            <a:ext cx="5398455" cy="45719"/>
          </a:xfrm>
          <a:prstGeom prst="rect">
            <a:avLst/>
          </a:prstGeom>
          <a:solidFill>
            <a:schemeClr val="accent1"/>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sp>
        <p:nvSpPr>
          <p:cNvPr id="23" name="Rectangle 22">
            <a:extLst>
              <a:ext uri="{FF2B5EF4-FFF2-40B4-BE49-F238E27FC236}">
                <a16:creationId xmlns:a16="http://schemas.microsoft.com/office/drawing/2014/main" id="{4BB62472-4FBD-6A0C-C5C2-971B631BE517}"/>
              </a:ext>
            </a:extLst>
          </p:cNvPr>
          <p:cNvSpPr/>
          <p:nvPr/>
        </p:nvSpPr>
        <p:spPr bwMode="gray">
          <a:xfrm>
            <a:off x="310698" y="3652748"/>
            <a:ext cx="5398455" cy="45719"/>
          </a:xfrm>
          <a:prstGeom prst="rect">
            <a:avLst/>
          </a:prstGeom>
          <a:solidFill>
            <a:schemeClr val="accent1"/>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sp>
        <p:nvSpPr>
          <p:cNvPr id="24" name="Rectangle 23">
            <a:extLst>
              <a:ext uri="{FF2B5EF4-FFF2-40B4-BE49-F238E27FC236}">
                <a16:creationId xmlns:a16="http://schemas.microsoft.com/office/drawing/2014/main" id="{F47978C2-5FE8-4910-1DBA-11208B8D9515}"/>
              </a:ext>
            </a:extLst>
          </p:cNvPr>
          <p:cNvSpPr/>
          <p:nvPr/>
        </p:nvSpPr>
        <p:spPr bwMode="gray">
          <a:xfrm>
            <a:off x="6282007" y="3652748"/>
            <a:ext cx="5398455" cy="45719"/>
          </a:xfrm>
          <a:prstGeom prst="rect">
            <a:avLst/>
          </a:prstGeom>
          <a:solidFill>
            <a:schemeClr val="accent1"/>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sp>
        <p:nvSpPr>
          <p:cNvPr id="25" name="TextBox 24">
            <a:extLst>
              <a:ext uri="{FF2B5EF4-FFF2-40B4-BE49-F238E27FC236}">
                <a16:creationId xmlns:a16="http://schemas.microsoft.com/office/drawing/2014/main" id="{6996D066-8397-D4E4-B7BC-D0818670B14C}"/>
              </a:ext>
            </a:extLst>
          </p:cNvPr>
          <p:cNvSpPr txBox="1"/>
          <p:nvPr/>
        </p:nvSpPr>
        <p:spPr>
          <a:xfrm>
            <a:off x="310698" y="1435673"/>
            <a:ext cx="2183120" cy="1944488"/>
          </a:xfrm>
          <a:prstGeom prst="rect">
            <a:avLst/>
          </a:prstGeom>
          <a:noFill/>
          <a:ln>
            <a:solidFill>
              <a:schemeClr val="tx1"/>
            </a:solidFill>
            <a:prstDash val="dash"/>
          </a:ln>
        </p:spPr>
        <p:txBody>
          <a:bodyPr wrap="square" lIns="0" tIns="0" rIns="0" bIns="0" rtlCol="0">
            <a:spAutoFit/>
          </a:bodyPr>
          <a:lstStyle/>
          <a:p>
            <a:pPr marL="203200" indent="-203200">
              <a:spcBef>
                <a:spcPts val="600"/>
              </a:spcBef>
              <a:buSzPct val="100000"/>
              <a:buFont typeface="Arial"/>
              <a:buChar char="•"/>
            </a:pPr>
            <a:endParaRPr lang="en-IN">
              <a:solidFill>
                <a:srgbClr val="313131"/>
              </a:solidFill>
            </a:endParaRPr>
          </a:p>
        </p:txBody>
      </p:sp>
      <p:sp>
        <p:nvSpPr>
          <p:cNvPr id="26" name="TextBox 25">
            <a:extLst>
              <a:ext uri="{FF2B5EF4-FFF2-40B4-BE49-F238E27FC236}">
                <a16:creationId xmlns:a16="http://schemas.microsoft.com/office/drawing/2014/main" id="{45C93243-BA2B-8061-2BB0-A50417A7AD1A}"/>
              </a:ext>
            </a:extLst>
          </p:cNvPr>
          <p:cNvSpPr txBox="1"/>
          <p:nvPr/>
        </p:nvSpPr>
        <p:spPr>
          <a:xfrm>
            <a:off x="6282007" y="1435673"/>
            <a:ext cx="2183120" cy="1944488"/>
          </a:xfrm>
          <a:prstGeom prst="rect">
            <a:avLst/>
          </a:prstGeom>
          <a:noFill/>
          <a:ln>
            <a:solidFill>
              <a:schemeClr val="tx1"/>
            </a:solidFill>
            <a:prstDash val="dash"/>
          </a:ln>
        </p:spPr>
        <p:txBody>
          <a:bodyPr wrap="square" lIns="0" tIns="0" rIns="0" bIns="0" rtlCol="0">
            <a:spAutoFit/>
          </a:bodyPr>
          <a:lstStyle/>
          <a:p>
            <a:pPr marL="203200" indent="-203200">
              <a:spcBef>
                <a:spcPts val="600"/>
              </a:spcBef>
              <a:buSzPct val="100000"/>
              <a:buFont typeface="Arial"/>
              <a:buChar char="•"/>
            </a:pPr>
            <a:endParaRPr lang="en-IN">
              <a:solidFill>
                <a:srgbClr val="313131"/>
              </a:solidFill>
            </a:endParaRPr>
          </a:p>
        </p:txBody>
      </p:sp>
      <p:sp>
        <p:nvSpPr>
          <p:cNvPr id="27" name="TextBox 26">
            <a:extLst>
              <a:ext uri="{FF2B5EF4-FFF2-40B4-BE49-F238E27FC236}">
                <a16:creationId xmlns:a16="http://schemas.microsoft.com/office/drawing/2014/main" id="{906E66D7-54B0-F5F0-35DC-E85493926F47}"/>
              </a:ext>
            </a:extLst>
          </p:cNvPr>
          <p:cNvSpPr txBox="1"/>
          <p:nvPr/>
        </p:nvSpPr>
        <p:spPr>
          <a:xfrm>
            <a:off x="310698" y="3971054"/>
            <a:ext cx="2183120" cy="1944488"/>
          </a:xfrm>
          <a:prstGeom prst="rect">
            <a:avLst/>
          </a:prstGeom>
          <a:noFill/>
          <a:ln>
            <a:solidFill>
              <a:schemeClr val="tx1"/>
            </a:solidFill>
            <a:prstDash val="dash"/>
          </a:ln>
        </p:spPr>
        <p:txBody>
          <a:bodyPr wrap="square" lIns="0" tIns="0" rIns="0" bIns="0" rtlCol="0">
            <a:spAutoFit/>
          </a:bodyPr>
          <a:lstStyle/>
          <a:p>
            <a:pPr marL="203200" indent="-203200">
              <a:spcBef>
                <a:spcPts val="600"/>
              </a:spcBef>
              <a:buSzPct val="100000"/>
              <a:buFont typeface="Arial"/>
              <a:buChar char="•"/>
            </a:pPr>
            <a:endParaRPr lang="en-IN">
              <a:solidFill>
                <a:srgbClr val="313131"/>
              </a:solidFill>
            </a:endParaRPr>
          </a:p>
        </p:txBody>
      </p:sp>
      <p:sp>
        <p:nvSpPr>
          <p:cNvPr id="28" name="TextBox 27">
            <a:extLst>
              <a:ext uri="{FF2B5EF4-FFF2-40B4-BE49-F238E27FC236}">
                <a16:creationId xmlns:a16="http://schemas.microsoft.com/office/drawing/2014/main" id="{9B260032-CB24-E864-257A-1BF2420FB009}"/>
              </a:ext>
            </a:extLst>
          </p:cNvPr>
          <p:cNvSpPr txBox="1"/>
          <p:nvPr/>
        </p:nvSpPr>
        <p:spPr>
          <a:xfrm>
            <a:off x="6282007" y="3971054"/>
            <a:ext cx="2183120" cy="1944488"/>
          </a:xfrm>
          <a:prstGeom prst="rect">
            <a:avLst/>
          </a:prstGeom>
          <a:noFill/>
          <a:ln>
            <a:solidFill>
              <a:schemeClr val="tx1"/>
            </a:solidFill>
            <a:prstDash val="dash"/>
          </a:ln>
        </p:spPr>
        <p:txBody>
          <a:bodyPr wrap="square" lIns="0" tIns="0" rIns="0" bIns="0" rtlCol="0">
            <a:spAutoFit/>
          </a:bodyPr>
          <a:lstStyle/>
          <a:p>
            <a:pPr marL="203200" indent="-203200">
              <a:spcBef>
                <a:spcPts val="600"/>
              </a:spcBef>
              <a:buSzPct val="100000"/>
              <a:buFont typeface="Arial"/>
              <a:buChar char="•"/>
            </a:pPr>
            <a:endParaRPr lang="en-IN">
              <a:solidFill>
                <a:srgbClr val="313131"/>
              </a:solidFill>
            </a:endParaRPr>
          </a:p>
        </p:txBody>
      </p:sp>
      <p:pic>
        <p:nvPicPr>
          <p:cNvPr id="29" name="Picture 28">
            <a:extLst>
              <a:ext uri="{FF2B5EF4-FFF2-40B4-BE49-F238E27FC236}">
                <a16:creationId xmlns:a16="http://schemas.microsoft.com/office/drawing/2014/main" id="{6C5F4808-85B1-9A48-F711-998F390A42F6}"/>
              </a:ext>
            </a:extLst>
          </p:cNvPr>
          <p:cNvPicPr>
            <a:picLocks noChangeAspect="1"/>
          </p:cNvPicPr>
          <p:nvPr/>
        </p:nvPicPr>
        <p:blipFill>
          <a:blip r:embed="rId2"/>
          <a:stretch>
            <a:fillRect/>
          </a:stretch>
        </p:blipFill>
        <p:spPr>
          <a:xfrm>
            <a:off x="310698" y="1435673"/>
            <a:ext cx="2183120" cy="1944488"/>
          </a:xfrm>
          <a:prstGeom prst="rect">
            <a:avLst/>
          </a:prstGeom>
        </p:spPr>
      </p:pic>
      <p:pic>
        <p:nvPicPr>
          <p:cNvPr id="31" name="Picture 30">
            <a:extLst>
              <a:ext uri="{FF2B5EF4-FFF2-40B4-BE49-F238E27FC236}">
                <a16:creationId xmlns:a16="http://schemas.microsoft.com/office/drawing/2014/main" id="{3E6FAF88-783A-478E-73CC-5CB17321F341}"/>
              </a:ext>
            </a:extLst>
          </p:cNvPr>
          <p:cNvPicPr>
            <a:picLocks noChangeAspect="1"/>
          </p:cNvPicPr>
          <p:nvPr/>
        </p:nvPicPr>
        <p:blipFill>
          <a:blip r:embed="rId3"/>
          <a:stretch>
            <a:fillRect/>
          </a:stretch>
        </p:blipFill>
        <p:spPr>
          <a:xfrm>
            <a:off x="310698" y="3971054"/>
            <a:ext cx="2183120" cy="1944488"/>
          </a:xfrm>
          <a:prstGeom prst="rect">
            <a:avLst/>
          </a:prstGeom>
        </p:spPr>
      </p:pic>
      <p:pic>
        <p:nvPicPr>
          <p:cNvPr id="33" name="Picture 32">
            <a:extLst>
              <a:ext uri="{FF2B5EF4-FFF2-40B4-BE49-F238E27FC236}">
                <a16:creationId xmlns:a16="http://schemas.microsoft.com/office/drawing/2014/main" id="{1EAC8A51-7680-7D29-E5B7-5DDBE4E5F669}"/>
              </a:ext>
            </a:extLst>
          </p:cNvPr>
          <p:cNvPicPr>
            <a:picLocks noChangeAspect="1"/>
          </p:cNvPicPr>
          <p:nvPr/>
        </p:nvPicPr>
        <p:blipFill>
          <a:blip r:embed="rId4"/>
          <a:stretch>
            <a:fillRect/>
          </a:stretch>
        </p:blipFill>
        <p:spPr>
          <a:xfrm>
            <a:off x="6282008" y="3971054"/>
            <a:ext cx="2183120" cy="1944488"/>
          </a:xfrm>
          <a:prstGeom prst="rect">
            <a:avLst/>
          </a:prstGeom>
        </p:spPr>
      </p:pic>
      <p:pic>
        <p:nvPicPr>
          <p:cNvPr id="35" name="Picture 34">
            <a:extLst>
              <a:ext uri="{FF2B5EF4-FFF2-40B4-BE49-F238E27FC236}">
                <a16:creationId xmlns:a16="http://schemas.microsoft.com/office/drawing/2014/main" id="{5DF3F9D3-B58E-9824-98B7-4476EF783E1D}"/>
              </a:ext>
            </a:extLst>
          </p:cNvPr>
          <p:cNvPicPr>
            <a:picLocks noChangeAspect="1"/>
          </p:cNvPicPr>
          <p:nvPr/>
        </p:nvPicPr>
        <p:blipFill>
          <a:blip r:embed="rId5"/>
          <a:stretch>
            <a:fillRect/>
          </a:stretch>
        </p:blipFill>
        <p:spPr>
          <a:xfrm>
            <a:off x="6282007" y="1435672"/>
            <a:ext cx="2183120" cy="1944487"/>
          </a:xfrm>
          <a:prstGeom prst="rect">
            <a:avLst/>
          </a:prstGeom>
        </p:spPr>
      </p:pic>
      <p:sp>
        <p:nvSpPr>
          <p:cNvPr id="36" name="Rectangle 35">
            <a:extLst>
              <a:ext uri="{FF2B5EF4-FFF2-40B4-BE49-F238E27FC236}">
                <a16:creationId xmlns:a16="http://schemas.microsoft.com/office/drawing/2014/main" id="{84A7AAF9-FE21-44A8-BC6B-4F5ED26FD4E6}"/>
              </a:ext>
            </a:extLst>
          </p:cNvPr>
          <p:cNvSpPr>
            <a:spLocks/>
          </p:cNvSpPr>
          <p:nvPr/>
        </p:nvSpPr>
        <p:spPr>
          <a:xfrm>
            <a:off x="2608120" y="1435673"/>
            <a:ext cx="3101033" cy="19933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33223" tIns="33223" rIns="33223" bIns="33223" rtlCol="0" anchor="t"/>
          <a:lstStyle/>
          <a:p>
            <a:pPr marL="236593" lvl="1" indent="-171450" defTabSz="784762">
              <a:spcBef>
                <a:spcPts val="185"/>
              </a:spcBef>
              <a:spcAft>
                <a:spcPts val="185"/>
              </a:spcAft>
              <a:buSzPct val="100000"/>
              <a:buFont typeface="Arial" panose="020B0604020202020204" pitchFamily="34" charset="0"/>
              <a:buChar char="•"/>
            </a:pPr>
            <a:r>
              <a:rPr lang="en-US" sz="1000" b="1">
                <a:solidFill>
                  <a:schemeClr val="tx1"/>
                </a:solidFill>
                <a:latin typeface="+mj-lt"/>
                <a:cs typeface="Frutiger Next Pro Light"/>
              </a:rPr>
              <a:t>DPI@2047 for Viksit Bharat</a:t>
            </a:r>
            <a:r>
              <a:rPr lang="en-US" sz="1000">
                <a:solidFill>
                  <a:schemeClr val="tx1"/>
                </a:solidFill>
                <a:latin typeface="+mj-lt"/>
                <a:cs typeface="Frutiger Next Pro Light"/>
              </a:rPr>
              <a:t>: Deloitte supported NITI Aayog’s Frontier Tech Hub in developing a strategic roadmap for next-generation DPI to drive inclusive socio-economic growth beyond financial inclusion and welfare delivery.</a:t>
            </a:r>
          </a:p>
          <a:p>
            <a:pPr marL="236593" lvl="1" indent="-171450" defTabSz="784762">
              <a:spcBef>
                <a:spcPts val="185"/>
              </a:spcBef>
              <a:spcAft>
                <a:spcPts val="185"/>
              </a:spcAft>
              <a:buSzPct val="100000"/>
              <a:buFont typeface="Arial" panose="020B0604020202020204" pitchFamily="34" charset="0"/>
              <a:buChar char="•"/>
            </a:pPr>
            <a:r>
              <a:rPr lang="en-US" sz="1000">
                <a:solidFill>
                  <a:schemeClr val="tx1"/>
                </a:solidFill>
                <a:latin typeface="+mj-lt"/>
                <a:cs typeface="Frutiger Next Pro Light"/>
              </a:rPr>
              <a:t>The roadmap identified eight priority sectors and proposed a district-led, AI-enabled digital ecosystem to enhance livelihoods, productivity, service delivery, and economic growth.</a:t>
            </a:r>
          </a:p>
        </p:txBody>
      </p:sp>
      <p:sp>
        <p:nvSpPr>
          <p:cNvPr id="37" name="Rectangle 36">
            <a:extLst>
              <a:ext uri="{FF2B5EF4-FFF2-40B4-BE49-F238E27FC236}">
                <a16:creationId xmlns:a16="http://schemas.microsoft.com/office/drawing/2014/main" id="{CEA7862D-A0E2-22D5-F6A2-739A4B67CD07}"/>
              </a:ext>
            </a:extLst>
          </p:cNvPr>
          <p:cNvSpPr>
            <a:spLocks/>
          </p:cNvSpPr>
          <p:nvPr/>
        </p:nvSpPr>
        <p:spPr>
          <a:xfrm>
            <a:off x="8579429" y="1411251"/>
            <a:ext cx="3101033" cy="19933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33223" tIns="33223" rIns="33223" bIns="33223" rtlCol="0" anchor="t"/>
          <a:lstStyle/>
          <a:p>
            <a:pPr marL="236593" lvl="1" indent="-171450" defTabSz="784762">
              <a:spcBef>
                <a:spcPts val="185"/>
              </a:spcBef>
              <a:spcAft>
                <a:spcPts val="185"/>
              </a:spcAft>
              <a:buSzPct val="100000"/>
              <a:buFont typeface="Arial" panose="020B0604020202020204" pitchFamily="34" charset="0"/>
              <a:buChar char="•"/>
            </a:pPr>
            <a:r>
              <a:rPr lang="en-US" sz="1000" b="1">
                <a:solidFill>
                  <a:schemeClr val="tx1"/>
                </a:solidFill>
                <a:latin typeface="+mj-lt"/>
                <a:cs typeface="Frutiger Next Pro Light"/>
              </a:rPr>
              <a:t>Attracting AI Data Centre Infrastructure Investment in India</a:t>
            </a:r>
            <a:r>
              <a:rPr lang="en-US" sz="1000">
                <a:solidFill>
                  <a:schemeClr val="tx1"/>
                </a:solidFill>
                <a:latin typeface="+mj-lt"/>
                <a:cs typeface="Frutiger Next Pro Light"/>
              </a:rPr>
              <a:t>: Deloitte assessed India’s readiness to emerge as a global AI infrastructure hub across six key pillars, including power, connectivity, computing, talent, real estate, and policy.</a:t>
            </a:r>
          </a:p>
          <a:p>
            <a:pPr marL="236593" lvl="1" indent="-171450" defTabSz="784762">
              <a:spcBef>
                <a:spcPts val="185"/>
              </a:spcBef>
              <a:spcAft>
                <a:spcPts val="185"/>
              </a:spcAft>
              <a:buSzPct val="100000"/>
              <a:buFont typeface="Arial" panose="020B0604020202020204" pitchFamily="34" charset="0"/>
              <a:buChar char="•"/>
            </a:pPr>
            <a:r>
              <a:rPr lang="en-US" sz="1000">
                <a:solidFill>
                  <a:schemeClr val="tx1"/>
                </a:solidFill>
                <a:latin typeface="+mj-lt"/>
                <a:cs typeface="Frutiger Next Pro Light"/>
              </a:rPr>
              <a:t>The study recommended targeted reforms and investment incentives to attract large-scale AI data </a:t>
            </a:r>
            <a:r>
              <a:rPr lang="en-US" sz="1000" err="1">
                <a:solidFill>
                  <a:schemeClr val="tx1"/>
                </a:solidFill>
                <a:latin typeface="+mj-lt"/>
                <a:cs typeface="Frutiger Next Pro Light"/>
              </a:rPr>
              <a:t>centre</a:t>
            </a:r>
            <a:r>
              <a:rPr lang="en-US" sz="1000">
                <a:solidFill>
                  <a:schemeClr val="tx1"/>
                </a:solidFill>
                <a:latin typeface="+mj-lt"/>
                <a:cs typeface="Frutiger Next Pro Light"/>
              </a:rPr>
              <a:t> investments and strengthen India’s AI ecosystem</a:t>
            </a:r>
          </a:p>
        </p:txBody>
      </p:sp>
      <p:sp>
        <p:nvSpPr>
          <p:cNvPr id="38" name="Rectangle 37">
            <a:extLst>
              <a:ext uri="{FF2B5EF4-FFF2-40B4-BE49-F238E27FC236}">
                <a16:creationId xmlns:a16="http://schemas.microsoft.com/office/drawing/2014/main" id="{2B9D3344-801F-D561-2BB3-8F2789C71467}"/>
              </a:ext>
            </a:extLst>
          </p:cNvPr>
          <p:cNvSpPr>
            <a:spLocks/>
          </p:cNvSpPr>
          <p:nvPr/>
        </p:nvSpPr>
        <p:spPr>
          <a:xfrm>
            <a:off x="2608119" y="3971054"/>
            <a:ext cx="3101033" cy="19933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33223" tIns="33223" rIns="33223" bIns="33223" rtlCol="0" anchor="t"/>
          <a:lstStyle/>
          <a:p>
            <a:pPr marL="236593" lvl="1" indent="-171450" defTabSz="784762">
              <a:spcBef>
                <a:spcPts val="185"/>
              </a:spcBef>
              <a:spcAft>
                <a:spcPts val="185"/>
              </a:spcAft>
              <a:buSzPct val="100000"/>
              <a:buFont typeface="Arial" panose="020B0604020202020204" pitchFamily="34" charset="0"/>
              <a:buChar char="•"/>
            </a:pPr>
            <a:r>
              <a:rPr lang="en-US" sz="1000" b="1">
                <a:solidFill>
                  <a:schemeClr val="tx1"/>
                </a:solidFill>
                <a:latin typeface="+mj-lt"/>
                <a:cs typeface="Frutiger Next Pro Light"/>
              </a:rPr>
              <a:t>Reimagining Manufacturing</a:t>
            </a:r>
            <a:r>
              <a:rPr lang="en-US" sz="1000">
                <a:solidFill>
                  <a:schemeClr val="tx1"/>
                </a:solidFill>
                <a:latin typeface="+mj-lt"/>
                <a:cs typeface="Frutiger Next Pro Light"/>
              </a:rPr>
              <a:t>: Deloitte, in collaboration with CII and NITI Aayog’s Frontier Tech Hub, developed a roadmap to position India as a global leader in advanced manufacturing by 2035, covering 13 high-impact sectors.</a:t>
            </a:r>
          </a:p>
          <a:p>
            <a:pPr marL="236593" lvl="1" indent="-171450" defTabSz="784762">
              <a:spcBef>
                <a:spcPts val="185"/>
              </a:spcBef>
              <a:spcAft>
                <a:spcPts val="185"/>
              </a:spcAft>
              <a:buSzPct val="100000"/>
              <a:buFont typeface="Arial" panose="020B0604020202020204" pitchFamily="34" charset="0"/>
              <a:buChar char="•"/>
            </a:pPr>
            <a:r>
              <a:rPr lang="en-US" sz="1000">
                <a:solidFill>
                  <a:schemeClr val="tx1"/>
                </a:solidFill>
                <a:latin typeface="+mj-lt"/>
                <a:cs typeface="Frutiger Next Pro Light"/>
              </a:rPr>
              <a:t>The roadmap recommends frontier technology adoption, workforce development, industrial infrastructure, innovation ecosystems, and enhanced manufacturing competitiveness through a phased implementation strategy.</a:t>
            </a:r>
          </a:p>
        </p:txBody>
      </p:sp>
      <p:sp>
        <p:nvSpPr>
          <p:cNvPr id="39" name="Rectangle 38">
            <a:extLst>
              <a:ext uri="{FF2B5EF4-FFF2-40B4-BE49-F238E27FC236}">
                <a16:creationId xmlns:a16="http://schemas.microsoft.com/office/drawing/2014/main" id="{ECD779FC-2748-00E2-5EEC-02F01FB42D40}"/>
              </a:ext>
            </a:extLst>
          </p:cNvPr>
          <p:cNvSpPr>
            <a:spLocks/>
          </p:cNvSpPr>
          <p:nvPr/>
        </p:nvSpPr>
        <p:spPr>
          <a:xfrm>
            <a:off x="8657686" y="3946634"/>
            <a:ext cx="3101033" cy="19933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33223" tIns="33223" rIns="33223" bIns="33223" rtlCol="0" anchor="t"/>
          <a:lstStyle/>
          <a:p>
            <a:pPr marL="236593" lvl="1" indent="-171450" defTabSz="784762">
              <a:spcBef>
                <a:spcPts val="185"/>
              </a:spcBef>
              <a:spcAft>
                <a:spcPts val="185"/>
              </a:spcAft>
              <a:buSzPct val="100000"/>
              <a:buFont typeface="Arial" panose="020B0604020202020204" pitchFamily="34" charset="0"/>
              <a:buChar char="•"/>
            </a:pPr>
            <a:r>
              <a:rPr lang="en-US" sz="1000" b="1">
                <a:solidFill>
                  <a:schemeClr val="tx1"/>
                </a:solidFill>
                <a:latin typeface="+mj-lt"/>
                <a:cs typeface="Frutiger Next Pro Light"/>
              </a:rPr>
              <a:t>AI for Inclusive Societal Development</a:t>
            </a:r>
            <a:r>
              <a:rPr lang="en-US" sz="1000">
                <a:solidFill>
                  <a:schemeClr val="tx1"/>
                </a:solidFill>
                <a:latin typeface="+mj-lt"/>
                <a:cs typeface="Frutiger Next Pro Light"/>
              </a:rPr>
              <a:t>: Deloitte supported NITI Aayog’s Frontier Tech Hub in developing a roadmap to leverage AI and frontier technologies to improve livelihoods, productivity, and social protection for India’s 490 million informal workers.</a:t>
            </a:r>
          </a:p>
          <a:p>
            <a:pPr marL="236593" lvl="1" indent="-171450" defTabSz="784762">
              <a:spcBef>
                <a:spcPts val="185"/>
              </a:spcBef>
              <a:spcAft>
                <a:spcPts val="185"/>
              </a:spcAft>
              <a:buSzPct val="100000"/>
              <a:buFont typeface="Arial" panose="020B0604020202020204" pitchFamily="34" charset="0"/>
              <a:buChar char="•"/>
            </a:pPr>
            <a:r>
              <a:rPr lang="en-US" sz="1000">
                <a:solidFill>
                  <a:schemeClr val="tx1"/>
                </a:solidFill>
                <a:latin typeface="+mj-lt"/>
                <a:cs typeface="Frutiger Next Pro Light"/>
              </a:rPr>
              <a:t>The roadmap proposes AI-enabled digital identities, skilling, voice assistants, robotics, and IoT solutions to expand access to jobs, markets, finance, welfare, and safer working conditions.</a:t>
            </a:r>
          </a:p>
        </p:txBody>
      </p:sp>
    </p:spTree>
    <p:extLst>
      <p:ext uri="{BB962C8B-B14F-4D97-AF65-F5344CB8AC3E}">
        <p14:creationId xmlns:p14="http://schemas.microsoft.com/office/powerpoint/2010/main" val="11616308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98F61-7A3D-0BC5-4740-EEBAB3320DB5}"/>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7B161309-A987-1EEA-9B04-65333AF9D25F}"/>
              </a:ext>
            </a:extLst>
          </p:cNvPr>
          <p:cNvGrpSpPr/>
          <p:nvPr/>
        </p:nvGrpSpPr>
        <p:grpSpPr>
          <a:xfrm>
            <a:off x="310698" y="213764"/>
            <a:ext cx="11470184" cy="5750618"/>
            <a:chOff x="310698" y="213764"/>
            <a:chExt cx="11470184" cy="5750618"/>
          </a:xfrm>
        </p:grpSpPr>
        <p:sp>
          <p:nvSpPr>
            <p:cNvPr id="11" name="Title 2">
              <a:extLst>
                <a:ext uri="{FF2B5EF4-FFF2-40B4-BE49-F238E27FC236}">
                  <a16:creationId xmlns:a16="http://schemas.microsoft.com/office/drawing/2014/main" id="{3B651629-F7D5-D83D-520F-2D46F3908DFB}"/>
                </a:ext>
              </a:extLst>
            </p:cNvPr>
            <p:cNvSpPr txBox="1">
              <a:spLocks/>
            </p:cNvSpPr>
            <p:nvPr/>
          </p:nvSpPr>
          <p:spPr>
            <a:xfrm>
              <a:off x="411118" y="213764"/>
              <a:ext cx="11369764" cy="243926"/>
            </a:xfrm>
          </p:spPr>
          <p:txBody>
            <a:bodyPr vert="horz" lIns="0" tIns="0" rIns="0" bIns="0" rtlCol="0" anchor="t" anchorCtr="0">
              <a:noAutofit/>
            </a:bodyPr>
            <a:lstStyle>
              <a:lvl1pPr algn="l" defTabSz="914400" rtl="0" eaLnBrk="1" latinLnBrk="0" hangingPunct="1">
                <a:spcBef>
                  <a:spcPct val="0"/>
                </a:spcBef>
                <a:buNone/>
                <a:defRPr sz="2000" kern="1200">
                  <a:solidFill>
                    <a:schemeClr val="tx1"/>
                  </a:solidFill>
                  <a:latin typeface="Calibri" panose="020F0502020204030204" pitchFamily="34" charset="0"/>
                  <a:ea typeface="+mj-ea"/>
                  <a:cs typeface="Calibri" panose="020F0502020204030204" pitchFamily="34" charset="0"/>
                </a:defRPr>
              </a:lvl1pPr>
            </a:lstStyle>
            <a:p>
              <a:r>
                <a:rPr lang="en-US" sz="1800" b="1" dirty="0">
                  <a:latin typeface="+mj-lt"/>
                </a:rPr>
                <a:t>Deloitte’s contribution with NITI AAYOG in shaping Global/National Strategies</a:t>
              </a:r>
            </a:p>
          </p:txBody>
        </p:sp>
        <p:cxnSp>
          <p:nvCxnSpPr>
            <p:cNvPr id="12" name="Straight Arrow Connector 11">
              <a:extLst>
                <a:ext uri="{FF2B5EF4-FFF2-40B4-BE49-F238E27FC236}">
                  <a16:creationId xmlns:a16="http://schemas.microsoft.com/office/drawing/2014/main" id="{C2ED744C-0C4E-8442-9A5C-75D4A8CD6FBC}"/>
                </a:ext>
              </a:extLst>
            </p:cNvPr>
            <p:cNvCxnSpPr/>
            <p:nvPr/>
          </p:nvCxnSpPr>
          <p:spPr>
            <a:xfrm flipV="1">
              <a:off x="310698" y="687894"/>
              <a:ext cx="1005769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3713CA00-B14D-8645-53CE-38EC278AEF06}"/>
                </a:ext>
              </a:extLst>
            </p:cNvPr>
            <p:cNvSpPr/>
            <p:nvPr/>
          </p:nvSpPr>
          <p:spPr bwMode="gray">
            <a:xfrm>
              <a:off x="310698" y="1117367"/>
              <a:ext cx="5398455" cy="45719"/>
            </a:xfrm>
            <a:prstGeom prst="rect">
              <a:avLst/>
            </a:prstGeom>
            <a:solidFill>
              <a:schemeClr val="accent1"/>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sp>
          <p:nvSpPr>
            <p:cNvPr id="22" name="Rectangle 21">
              <a:extLst>
                <a:ext uri="{FF2B5EF4-FFF2-40B4-BE49-F238E27FC236}">
                  <a16:creationId xmlns:a16="http://schemas.microsoft.com/office/drawing/2014/main" id="{88C86FDE-CC2C-8777-F60E-3E68ED831753}"/>
                </a:ext>
              </a:extLst>
            </p:cNvPr>
            <p:cNvSpPr/>
            <p:nvPr/>
          </p:nvSpPr>
          <p:spPr bwMode="gray">
            <a:xfrm>
              <a:off x="6282007" y="1117367"/>
              <a:ext cx="5398455" cy="45719"/>
            </a:xfrm>
            <a:prstGeom prst="rect">
              <a:avLst/>
            </a:prstGeom>
            <a:solidFill>
              <a:schemeClr val="accent1"/>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sp>
          <p:nvSpPr>
            <p:cNvPr id="23" name="Rectangle 22">
              <a:extLst>
                <a:ext uri="{FF2B5EF4-FFF2-40B4-BE49-F238E27FC236}">
                  <a16:creationId xmlns:a16="http://schemas.microsoft.com/office/drawing/2014/main" id="{1050034B-AD79-E437-A97F-5CCB7E831C44}"/>
                </a:ext>
              </a:extLst>
            </p:cNvPr>
            <p:cNvSpPr/>
            <p:nvPr/>
          </p:nvSpPr>
          <p:spPr bwMode="gray">
            <a:xfrm>
              <a:off x="310698" y="3652748"/>
              <a:ext cx="5398455" cy="45719"/>
            </a:xfrm>
            <a:prstGeom prst="rect">
              <a:avLst/>
            </a:prstGeom>
            <a:solidFill>
              <a:schemeClr val="accent1"/>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sp>
          <p:nvSpPr>
            <p:cNvPr id="24" name="Rectangle 23">
              <a:extLst>
                <a:ext uri="{FF2B5EF4-FFF2-40B4-BE49-F238E27FC236}">
                  <a16:creationId xmlns:a16="http://schemas.microsoft.com/office/drawing/2014/main" id="{4CFFD141-825E-6161-8FB0-9EAFDA880CEF}"/>
                </a:ext>
              </a:extLst>
            </p:cNvPr>
            <p:cNvSpPr/>
            <p:nvPr/>
          </p:nvSpPr>
          <p:spPr bwMode="gray">
            <a:xfrm>
              <a:off x="6282007" y="3652748"/>
              <a:ext cx="5398455" cy="45719"/>
            </a:xfrm>
            <a:prstGeom prst="rect">
              <a:avLst/>
            </a:prstGeom>
            <a:solidFill>
              <a:schemeClr val="accent1"/>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algn="ctr">
                <a:lnSpc>
                  <a:spcPct val="106000"/>
                </a:lnSpc>
                <a:buFont typeface="Wingdings 2" pitchFamily="18" charset="2"/>
                <a:buNone/>
              </a:pPr>
              <a:endParaRPr lang="en-IN" sz="1600" b="1">
                <a:solidFill>
                  <a:schemeClr val="bg1"/>
                </a:solidFill>
              </a:endParaRPr>
            </a:p>
          </p:txBody>
        </p:sp>
        <p:sp>
          <p:nvSpPr>
            <p:cNvPr id="25" name="TextBox 24">
              <a:extLst>
                <a:ext uri="{FF2B5EF4-FFF2-40B4-BE49-F238E27FC236}">
                  <a16:creationId xmlns:a16="http://schemas.microsoft.com/office/drawing/2014/main" id="{36EF0DF7-ECA7-9768-7201-B53D8B58A27B}"/>
                </a:ext>
              </a:extLst>
            </p:cNvPr>
            <p:cNvSpPr txBox="1"/>
            <p:nvPr/>
          </p:nvSpPr>
          <p:spPr>
            <a:xfrm>
              <a:off x="310698" y="1435673"/>
              <a:ext cx="2183120" cy="1944488"/>
            </a:xfrm>
            <a:prstGeom prst="rect">
              <a:avLst/>
            </a:prstGeom>
            <a:noFill/>
            <a:ln>
              <a:solidFill>
                <a:schemeClr val="tx1"/>
              </a:solidFill>
              <a:prstDash val="dash"/>
            </a:ln>
          </p:spPr>
          <p:txBody>
            <a:bodyPr wrap="square" lIns="0" tIns="0" rIns="0" bIns="0" rtlCol="0">
              <a:spAutoFit/>
            </a:bodyPr>
            <a:lstStyle/>
            <a:p>
              <a:pPr marL="203200" indent="-203200">
                <a:spcBef>
                  <a:spcPts val="600"/>
                </a:spcBef>
                <a:buSzPct val="100000"/>
                <a:buFont typeface="Arial"/>
                <a:buChar char="•"/>
              </a:pPr>
              <a:endParaRPr lang="en-IN">
                <a:solidFill>
                  <a:srgbClr val="313131"/>
                </a:solidFill>
              </a:endParaRPr>
            </a:p>
          </p:txBody>
        </p:sp>
        <p:sp>
          <p:nvSpPr>
            <p:cNvPr id="26" name="TextBox 25">
              <a:extLst>
                <a:ext uri="{FF2B5EF4-FFF2-40B4-BE49-F238E27FC236}">
                  <a16:creationId xmlns:a16="http://schemas.microsoft.com/office/drawing/2014/main" id="{619817F5-F98F-9709-258F-F7D6FACA3712}"/>
                </a:ext>
              </a:extLst>
            </p:cNvPr>
            <p:cNvSpPr txBox="1"/>
            <p:nvPr/>
          </p:nvSpPr>
          <p:spPr>
            <a:xfrm>
              <a:off x="6282007" y="1435673"/>
              <a:ext cx="2183120" cy="1944488"/>
            </a:xfrm>
            <a:prstGeom prst="rect">
              <a:avLst/>
            </a:prstGeom>
            <a:noFill/>
            <a:ln>
              <a:solidFill>
                <a:schemeClr val="tx1"/>
              </a:solidFill>
              <a:prstDash val="dash"/>
            </a:ln>
          </p:spPr>
          <p:txBody>
            <a:bodyPr wrap="square" lIns="0" tIns="0" rIns="0" bIns="0" rtlCol="0">
              <a:spAutoFit/>
            </a:bodyPr>
            <a:lstStyle/>
            <a:p>
              <a:pPr marL="203200" indent="-203200">
                <a:spcBef>
                  <a:spcPts val="600"/>
                </a:spcBef>
                <a:buSzPct val="100000"/>
                <a:buFont typeface="Arial"/>
                <a:buChar char="•"/>
              </a:pPr>
              <a:endParaRPr lang="en-IN">
                <a:solidFill>
                  <a:srgbClr val="313131"/>
                </a:solidFill>
              </a:endParaRPr>
            </a:p>
          </p:txBody>
        </p:sp>
        <p:sp>
          <p:nvSpPr>
            <p:cNvPr id="27" name="TextBox 26">
              <a:extLst>
                <a:ext uri="{FF2B5EF4-FFF2-40B4-BE49-F238E27FC236}">
                  <a16:creationId xmlns:a16="http://schemas.microsoft.com/office/drawing/2014/main" id="{E73B33A5-8A04-29C4-E70B-22DD2A85034F}"/>
                </a:ext>
              </a:extLst>
            </p:cNvPr>
            <p:cNvSpPr txBox="1"/>
            <p:nvPr/>
          </p:nvSpPr>
          <p:spPr>
            <a:xfrm>
              <a:off x="310698" y="3971054"/>
              <a:ext cx="2183120" cy="1944488"/>
            </a:xfrm>
            <a:prstGeom prst="rect">
              <a:avLst/>
            </a:prstGeom>
            <a:noFill/>
            <a:ln>
              <a:solidFill>
                <a:schemeClr val="tx1"/>
              </a:solidFill>
              <a:prstDash val="dash"/>
            </a:ln>
          </p:spPr>
          <p:txBody>
            <a:bodyPr wrap="square" lIns="0" tIns="0" rIns="0" bIns="0" rtlCol="0">
              <a:spAutoFit/>
            </a:bodyPr>
            <a:lstStyle/>
            <a:p>
              <a:pPr marL="203200" indent="-203200">
                <a:spcBef>
                  <a:spcPts val="600"/>
                </a:spcBef>
                <a:buSzPct val="100000"/>
                <a:buFont typeface="Arial"/>
                <a:buChar char="•"/>
              </a:pPr>
              <a:endParaRPr lang="en-IN">
                <a:solidFill>
                  <a:srgbClr val="313131"/>
                </a:solidFill>
              </a:endParaRPr>
            </a:p>
          </p:txBody>
        </p:sp>
        <p:sp>
          <p:nvSpPr>
            <p:cNvPr id="28" name="TextBox 27">
              <a:extLst>
                <a:ext uri="{FF2B5EF4-FFF2-40B4-BE49-F238E27FC236}">
                  <a16:creationId xmlns:a16="http://schemas.microsoft.com/office/drawing/2014/main" id="{32A926E0-3F76-C3E3-1A4D-3D3FC1CAA417}"/>
                </a:ext>
              </a:extLst>
            </p:cNvPr>
            <p:cNvSpPr txBox="1"/>
            <p:nvPr/>
          </p:nvSpPr>
          <p:spPr>
            <a:xfrm>
              <a:off x="6282007" y="3971054"/>
              <a:ext cx="2183120" cy="1944488"/>
            </a:xfrm>
            <a:prstGeom prst="rect">
              <a:avLst/>
            </a:prstGeom>
            <a:noFill/>
            <a:ln>
              <a:solidFill>
                <a:schemeClr val="tx1"/>
              </a:solidFill>
              <a:prstDash val="dash"/>
            </a:ln>
          </p:spPr>
          <p:txBody>
            <a:bodyPr wrap="square" lIns="0" tIns="0" rIns="0" bIns="0" rtlCol="0">
              <a:spAutoFit/>
            </a:bodyPr>
            <a:lstStyle/>
            <a:p>
              <a:pPr marL="203200" indent="-203200">
                <a:spcBef>
                  <a:spcPts val="600"/>
                </a:spcBef>
                <a:buSzPct val="100000"/>
                <a:buFont typeface="Arial"/>
                <a:buChar char="•"/>
              </a:pPr>
              <a:endParaRPr lang="en-IN">
                <a:solidFill>
                  <a:srgbClr val="313131"/>
                </a:solidFill>
              </a:endParaRPr>
            </a:p>
          </p:txBody>
        </p:sp>
        <p:pic>
          <p:nvPicPr>
            <p:cNvPr id="29" name="Picture 28">
              <a:extLst>
                <a:ext uri="{FF2B5EF4-FFF2-40B4-BE49-F238E27FC236}">
                  <a16:creationId xmlns:a16="http://schemas.microsoft.com/office/drawing/2014/main" id="{18C30F88-B291-F9E3-D8E6-4E50E938288D}"/>
                </a:ext>
              </a:extLst>
            </p:cNvPr>
            <p:cNvPicPr>
              <a:picLocks noChangeAspect="1"/>
            </p:cNvPicPr>
            <p:nvPr/>
          </p:nvPicPr>
          <p:blipFill>
            <a:blip r:embed="rId2"/>
            <a:stretch>
              <a:fillRect/>
            </a:stretch>
          </p:blipFill>
          <p:spPr>
            <a:xfrm>
              <a:off x="310698" y="1435673"/>
              <a:ext cx="2183120" cy="1944488"/>
            </a:xfrm>
            <a:prstGeom prst="rect">
              <a:avLst/>
            </a:prstGeom>
          </p:spPr>
        </p:pic>
        <p:pic>
          <p:nvPicPr>
            <p:cNvPr id="31" name="Picture 30">
              <a:extLst>
                <a:ext uri="{FF2B5EF4-FFF2-40B4-BE49-F238E27FC236}">
                  <a16:creationId xmlns:a16="http://schemas.microsoft.com/office/drawing/2014/main" id="{7B90C9BF-74C5-BDAE-ECF4-CCDA409FD638}"/>
                </a:ext>
              </a:extLst>
            </p:cNvPr>
            <p:cNvPicPr>
              <a:picLocks noChangeAspect="1"/>
            </p:cNvPicPr>
            <p:nvPr/>
          </p:nvPicPr>
          <p:blipFill>
            <a:blip r:embed="rId3"/>
            <a:stretch>
              <a:fillRect/>
            </a:stretch>
          </p:blipFill>
          <p:spPr>
            <a:xfrm>
              <a:off x="310698" y="3971054"/>
              <a:ext cx="2183120" cy="1944488"/>
            </a:xfrm>
            <a:prstGeom prst="rect">
              <a:avLst/>
            </a:prstGeom>
          </p:spPr>
        </p:pic>
        <p:pic>
          <p:nvPicPr>
            <p:cNvPr id="33" name="Picture 32">
              <a:extLst>
                <a:ext uri="{FF2B5EF4-FFF2-40B4-BE49-F238E27FC236}">
                  <a16:creationId xmlns:a16="http://schemas.microsoft.com/office/drawing/2014/main" id="{A4205D57-EA48-D399-890B-AAAFA936FEBE}"/>
                </a:ext>
              </a:extLst>
            </p:cNvPr>
            <p:cNvPicPr>
              <a:picLocks noChangeAspect="1"/>
            </p:cNvPicPr>
            <p:nvPr/>
          </p:nvPicPr>
          <p:blipFill>
            <a:blip r:embed="rId4"/>
            <a:stretch>
              <a:fillRect/>
            </a:stretch>
          </p:blipFill>
          <p:spPr>
            <a:xfrm>
              <a:off x="6282008" y="3971054"/>
              <a:ext cx="2183120" cy="1944488"/>
            </a:xfrm>
            <a:prstGeom prst="rect">
              <a:avLst/>
            </a:prstGeom>
          </p:spPr>
        </p:pic>
        <p:sp>
          <p:nvSpPr>
            <p:cNvPr id="36" name="Rectangle 35">
              <a:extLst>
                <a:ext uri="{FF2B5EF4-FFF2-40B4-BE49-F238E27FC236}">
                  <a16:creationId xmlns:a16="http://schemas.microsoft.com/office/drawing/2014/main" id="{8C4E5E83-BB19-0AE4-831E-ED231B04E9DB}"/>
                </a:ext>
              </a:extLst>
            </p:cNvPr>
            <p:cNvSpPr>
              <a:spLocks/>
            </p:cNvSpPr>
            <p:nvPr/>
          </p:nvSpPr>
          <p:spPr>
            <a:xfrm>
              <a:off x="2608120" y="1435673"/>
              <a:ext cx="3101033" cy="19933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33223" tIns="33223" rIns="33223" bIns="33223" rtlCol="0" anchor="t"/>
            <a:lstStyle/>
            <a:p>
              <a:pPr marL="236593" lvl="1" indent="-171450" defTabSz="784762">
                <a:spcBef>
                  <a:spcPts val="185"/>
                </a:spcBef>
                <a:spcAft>
                  <a:spcPts val="185"/>
                </a:spcAft>
                <a:buSzPct val="100000"/>
                <a:buFont typeface="Arial" panose="020B0604020202020204" pitchFamily="34" charset="0"/>
                <a:buChar char="•"/>
              </a:pPr>
              <a:r>
                <a:rPr lang="en-US" sz="1000" b="1">
                  <a:solidFill>
                    <a:schemeClr val="tx1"/>
                  </a:solidFill>
                  <a:latin typeface="+mj-lt"/>
                  <a:cs typeface="Frutiger Next Pro Light"/>
                </a:rPr>
                <a:t>DPI@2047 for Viksit Bharat</a:t>
              </a:r>
              <a:r>
                <a:rPr lang="en-US" sz="1000">
                  <a:solidFill>
                    <a:schemeClr val="tx1"/>
                  </a:solidFill>
                  <a:latin typeface="+mj-lt"/>
                  <a:cs typeface="Frutiger Next Pro Light"/>
                </a:rPr>
                <a:t>: Deloitte supported NITI Aayog’s Frontier Tech Hub in developing a strategic roadmap for next-generation DPI to drive inclusive socio-economic growth beyond financial inclusion and welfare delivery.</a:t>
              </a:r>
            </a:p>
            <a:p>
              <a:pPr marL="236593" lvl="1" indent="-171450" defTabSz="784762">
                <a:spcBef>
                  <a:spcPts val="185"/>
                </a:spcBef>
                <a:spcAft>
                  <a:spcPts val="185"/>
                </a:spcAft>
                <a:buSzPct val="100000"/>
                <a:buFont typeface="Arial" panose="020B0604020202020204" pitchFamily="34" charset="0"/>
                <a:buChar char="•"/>
              </a:pPr>
              <a:r>
                <a:rPr lang="en-US" sz="1000">
                  <a:solidFill>
                    <a:schemeClr val="tx1"/>
                  </a:solidFill>
                  <a:latin typeface="+mj-lt"/>
                  <a:cs typeface="Frutiger Next Pro Light"/>
                </a:rPr>
                <a:t>The roadmap identified eight priority sectors and proposed a district-led, AI-enabled digital ecosystem to enhance livelihoods, productivity, service delivery, and economic growth.</a:t>
              </a:r>
            </a:p>
          </p:txBody>
        </p:sp>
        <p:sp>
          <p:nvSpPr>
            <p:cNvPr id="37" name="Rectangle 36">
              <a:extLst>
                <a:ext uri="{FF2B5EF4-FFF2-40B4-BE49-F238E27FC236}">
                  <a16:creationId xmlns:a16="http://schemas.microsoft.com/office/drawing/2014/main" id="{303827C7-3EF1-6344-3F7A-2EA23D7D8867}"/>
                </a:ext>
              </a:extLst>
            </p:cNvPr>
            <p:cNvSpPr>
              <a:spLocks/>
            </p:cNvSpPr>
            <p:nvPr/>
          </p:nvSpPr>
          <p:spPr>
            <a:xfrm>
              <a:off x="8579429" y="1411251"/>
              <a:ext cx="3101033" cy="20601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33223" tIns="33223" rIns="33223" bIns="33223" rtlCol="0" anchor="t"/>
            <a:lstStyle/>
            <a:p>
              <a:pPr marL="236593" lvl="1" indent="-171450" defTabSz="784762">
                <a:spcBef>
                  <a:spcPts val="185"/>
                </a:spcBef>
                <a:spcAft>
                  <a:spcPts val="185"/>
                </a:spcAft>
                <a:buSzPct val="100000"/>
                <a:buFont typeface="Arial" panose="020B0604020202020204" pitchFamily="34" charset="0"/>
                <a:buChar char="•"/>
              </a:pPr>
              <a:r>
                <a:rPr lang="en-US" sz="1000" b="1" dirty="0">
                  <a:solidFill>
                    <a:schemeClr val="tx1"/>
                  </a:solidFill>
                  <a:latin typeface="+mj-lt"/>
                  <a:cs typeface="Frutiger Next Pro Light"/>
                </a:rPr>
                <a:t>Evaluation of Centrally Sponsored Schemes in Agriculture and Allied Sectors </a:t>
              </a:r>
              <a:r>
                <a:rPr lang="en-US" sz="1000" dirty="0">
                  <a:solidFill>
                    <a:schemeClr val="tx1"/>
                  </a:solidFill>
                  <a:latin typeface="+mj-lt"/>
                  <a:cs typeface="Frutiger Next Pro Light"/>
                </a:rPr>
                <a:t>: The report assessed the effectiveness and efficiency of flagship agriculture and allied-sector schemes, with a focus on resource utilization, implementation, beneficiary coverage, productivity, market efficiency and farmer outcomes. It identified key implementation gaps and bottlenecks and provided recommendations to improve scheme delivery, convergence, resource efficiency and overall sectoral impact.</a:t>
              </a:r>
            </a:p>
          </p:txBody>
        </p:sp>
        <p:sp>
          <p:nvSpPr>
            <p:cNvPr id="38" name="Rectangle 37">
              <a:extLst>
                <a:ext uri="{FF2B5EF4-FFF2-40B4-BE49-F238E27FC236}">
                  <a16:creationId xmlns:a16="http://schemas.microsoft.com/office/drawing/2014/main" id="{4C084D9C-D51E-09E2-688D-79C94D926AF4}"/>
                </a:ext>
              </a:extLst>
            </p:cNvPr>
            <p:cNvSpPr>
              <a:spLocks/>
            </p:cNvSpPr>
            <p:nvPr/>
          </p:nvSpPr>
          <p:spPr>
            <a:xfrm>
              <a:off x="2608119" y="3971054"/>
              <a:ext cx="3101033" cy="19933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33223" tIns="33223" rIns="33223" bIns="33223" rtlCol="0" anchor="t"/>
            <a:lstStyle/>
            <a:p>
              <a:pPr marL="236593" lvl="1" indent="-171450" defTabSz="784762">
                <a:spcBef>
                  <a:spcPts val="185"/>
                </a:spcBef>
                <a:spcAft>
                  <a:spcPts val="185"/>
                </a:spcAft>
                <a:buSzPct val="100000"/>
                <a:buFont typeface="Arial" panose="020B0604020202020204" pitchFamily="34" charset="0"/>
                <a:buChar char="•"/>
              </a:pPr>
              <a:r>
                <a:rPr lang="en-US" sz="1000" b="1">
                  <a:solidFill>
                    <a:schemeClr val="tx1"/>
                  </a:solidFill>
                  <a:latin typeface="+mj-lt"/>
                  <a:cs typeface="Frutiger Next Pro Light"/>
                </a:rPr>
                <a:t>Reimagining Manufacturing</a:t>
              </a:r>
              <a:r>
                <a:rPr lang="en-US" sz="1000">
                  <a:solidFill>
                    <a:schemeClr val="tx1"/>
                  </a:solidFill>
                  <a:latin typeface="+mj-lt"/>
                  <a:cs typeface="Frutiger Next Pro Light"/>
                </a:rPr>
                <a:t>: Deloitte, in collaboration with CII and NITI Aayog’s Frontier Tech Hub, developed a roadmap to position India as a global leader in advanced manufacturing by 2035, covering 13 high-impact sectors.</a:t>
              </a:r>
            </a:p>
            <a:p>
              <a:pPr marL="236593" lvl="1" indent="-171450" defTabSz="784762">
                <a:spcBef>
                  <a:spcPts val="185"/>
                </a:spcBef>
                <a:spcAft>
                  <a:spcPts val="185"/>
                </a:spcAft>
                <a:buSzPct val="100000"/>
                <a:buFont typeface="Arial" panose="020B0604020202020204" pitchFamily="34" charset="0"/>
                <a:buChar char="•"/>
              </a:pPr>
              <a:r>
                <a:rPr lang="en-US" sz="1000">
                  <a:solidFill>
                    <a:schemeClr val="tx1"/>
                  </a:solidFill>
                  <a:latin typeface="+mj-lt"/>
                  <a:cs typeface="Frutiger Next Pro Light"/>
                </a:rPr>
                <a:t>The roadmap recommends frontier technology adoption, workforce development, industrial infrastructure, innovation ecosystems, and enhanced manufacturing competitiveness through a phased implementation strategy.</a:t>
              </a:r>
            </a:p>
          </p:txBody>
        </p:sp>
        <p:sp>
          <p:nvSpPr>
            <p:cNvPr id="39" name="Rectangle 38">
              <a:extLst>
                <a:ext uri="{FF2B5EF4-FFF2-40B4-BE49-F238E27FC236}">
                  <a16:creationId xmlns:a16="http://schemas.microsoft.com/office/drawing/2014/main" id="{861AEAD9-9A03-524A-5A33-ABE8AADAEDBB}"/>
                </a:ext>
              </a:extLst>
            </p:cNvPr>
            <p:cNvSpPr>
              <a:spLocks/>
            </p:cNvSpPr>
            <p:nvPr/>
          </p:nvSpPr>
          <p:spPr>
            <a:xfrm>
              <a:off x="8657686" y="3946634"/>
              <a:ext cx="3101033" cy="19933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33223" tIns="33223" rIns="33223" bIns="33223" rtlCol="0" anchor="t"/>
            <a:lstStyle/>
            <a:p>
              <a:pPr marL="236593" lvl="1" indent="-171450" defTabSz="784762">
                <a:spcBef>
                  <a:spcPts val="185"/>
                </a:spcBef>
                <a:spcAft>
                  <a:spcPts val="185"/>
                </a:spcAft>
                <a:buSzPct val="100000"/>
                <a:buFont typeface="Arial" panose="020B0604020202020204" pitchFamily="34" charset="0"/>
                <a:buChar char="•"/>
              </a:pPr>
              <a:r>
                <a:rPr lang="en-US" sz="1000" b="1">
                  <a:solidFill>
                    <a:schemeClr val="tx1"/>
                  </a:solidFill>
                  <a:latin typeface="+mj-lt"/>
                  <a:cs typeface="Frutiger Next Pro Light"/>
                </a:rPr>
                <a:t>AI for Inclusive Societal Development</a:t>
              </a:r>
              <a:r>
                <a:rPr lang="en-US" sz="1000">
                  <a:solidFill>
                    <a:schemeClr val="tx1"/>
                  </a:solidFill>
                  <a:latin typeface="+mj-lt"/>
                  <a:cs typeface="Frutiger Next Pro Light"/>
                </a:rPr>
                <a:t>: Deloitte supported NITI Aayog’s Frontier Tech Hub in developing a roadmap to leverage AI and frontier technologies to improve livelihoods, productivity, and social protection for India’s 490 million informal workers.</a:t>
              </a:r>
            </a:p>
            <a:p>
              <a:pPr marL="236593" lvl="1" indent="-171450" defTabSz="784762">
                <a:spcBef>
                  <a:spcPts val="185"/>
                </a:spcBef>
                <a:spcAft>
                  <a:spcPts val="185"/>
                </a:spcAft>
                <a:buSzPct val="100000"/>
                <a:buFont typeface="Arial" panose="020B0604020202020204" pitchFamily="34" charset="0"/>
                <a:buChar char="•"/>
              </a:pPr>
              <a:r>
                <a:rPr lang="en-US" sz="1000">
                  <a:solidFill>
                    <a:schemeClr val="tx1"/>
                  </a:solidFill>
                  <a:latin typeface="+mj-lt"/>
                  <a:cs typeface="Frutiger Next Pro Light"/>
                </a:rPr>
                <a:t>The roadmap proposes AI-enabled digital identities, skilling, voice assistants, robotics, and IoT solutions to expand access to jobs, markets, finance, welfare, and safer working conditions.</a:t>
              </a:r>
            </a:p>
          </p:txBody>
        </p:sp>
        <p:pic>
          <p:nvPicPr>
            <p:cNvPr id="2" name="Picture 1">
              <a:extLst>
                <a:ext uri="{FF2B5EF4-FFF2-40B4-BE49-F238E27FC236}">
                  <a16:creationId xmlns:a16="http://schemas.microsoft.com/office/drawing/2014/main" id="{8C5034E5-7453-4744-A717-4B8B2C548E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82006" y="1434697"/>
              <a:ext cx="2183120" cy="1944488"/>
            </a:xfrm>
            <a:prstGeom prst="rect">
              <a:avLst/>
            </a:prstGeom>
          </p:spPr>
        </p:pic>
      </p:grpSp>
    </p:spTree>
    <p:extLst>
      <p:ext uri="{BB962C8B-B14F-4D97-AF65-F5344CB8AC3E}">
        <p14:creationId xmlns:p14="http://schemas.microsoft.com/office/powerpoint/2010/main" val="23921076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7" name="Object 6"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Chronicle Display Black" pitchFamily="50" charset="0"/>
              <a:ea typeface="+mn-ea"/>
              <a:cs typeface="+mn-cs"/>
              <a:sym typeface="Chronicle Display Black" pitchFamily="50" charset="0"/>
            </a:endParaRPr>
          </a:p>
        </p:txBody>
      </p:sp>
      <p:pic>
        <p:nvPicPr>
          <p:cNvPr id="33" name="Picture 32"/>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bwMode="gray">
          <a:xfrm>
            <a:off x="0" y="0"/>
            <a:ext cx="12192000" cy="6858000"/>
          </a:xfrm>
          <a:prstGeom prst="rect">
            <a:avLst/>
          </a:prstGeom>
        </p:spPr>
      </p:pic>
      <p:sp>
        <p:nvSpPr>
          <p:cNvPr id="34" name="Flowchart: Process 33"/>
          <p:cNvSpPr/>
          <p:nvPr/>
        </p:nvSpPr>
        <p:spPr bwMode="gray">
          <a:xfrm>
            <a:off x="1343139" y="1283297"/>
            <a:ext cx="9512456" cy="4332512"/>
          </a:xfrm>
          <a:prstGeom prst="flowChartProcess">
            <a:avLst/>
          </a:prstGeom>
          <a:solidFill>
            <a:schemeClr val="tx1">
              <a:alpha val="38000"/>
            </a:schemeClr>
          </a:solidFill>
          <a:ln w="19050" algn="ctr">
            <a:noFill/>
            <a:miter lim="800000"/>
            <a:headEnd/>
            <a:tailEnd/>
          </a:ln>
        </p:spPr>
        <p:txBody>
          <a:bodyPr wrap="square" lIns="1080000" tIns="88900" rIns="1080000" bIns="88900" rtlCol="0" anchor="ct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400" b="0" i="0" u="none" strike="noStrike" kern="1200" cap="none" spc="0" normalizeH="0" baseline="0" noProof="0">
                <a:ln>
                  <a:noFill/>
                </a:ln>
                <a:solidFill>
                  <a:srgbClr val="0097A9"/>
                </a:solidFill>
                <a:effectLst/>
                <a:uLnTx/>
                <a:uFillTx/>
                <a:latin typeface="Verdana" panose="020B0604030504040204" pitchFamily="34" charset="0"/>
                <a:ea typeface="Verdana" panose="020B0604030504040204" pitchFamily="34" charset="0"/>
                <a:cs typeface="Calibri" panose="020F0502020204030204" pitchFamily="34" charset="0"/>
              </a:rPr>
              <a:t>Our Experience in the field of Assignment</a:t>
            </a:r>
          </a:p>
        </p:txBody>
      </p:sp>
      <p:grpSp>
        <p:nvGrpSpPr>
          <p:cNvPr id="35" name="Group 541"/>
          <p:cNvGrpSpPr>
            <a:grpSpLocks noChangeAspect="1"/>
          </p:cNvGrpSpPr>
          <p:nvPr/>
        </p:nvGrpSpPr>
        <p:grpSpPr bwMode="gray">
          <a:xfrm>
            <a:off x="2043454" y="743296"/>
            <a:ext cx="1080000" cy="1080000"/>
            <a:chOff x="5326" y="2494"/>
            <a:chExt cx="340" cy="340"/>
          </a:xfrm>
          <a:solidFill>
            <a:srgbClr val="0097A9"/>
          </a:solidFill>
        </p:grpSpPr>
        <p:sp>
          <p:nvSpPr>
            <p:cNvPr id="36" name="Freeform 542"/>
            <p:cNvSpPr>
              <a:spLocks noEditPoints="1"/>
            </p:cNvSpPr>
            <p:nvPr/>
          </p:nvSpPr>
          <p:spPr bwMode="gray">
            <a:xfrm>
              <a:off x="5430" y="2558"/>
              <a:ext cx="132" cy="212"/>
            </a:xfrm>
            <a:custGeom>
              <a:avLst/>
              <a:gdLst>
                <a:gd name="T0" fmla="*/ 99 w 199"/>
                <a:gd name="T1" fmla="*/ 0 h 320"/>
                <a:gd name="T2" fmla="*/ 99 w 199"/>
                <a:gd name="T3" fmla="*/ 0 h 320"/>
                <a:gd name="T4" fmla="*/ 99 w 199"/>
                <a:gd name="T5" fmla="*/ 0 h 320"/>
                <a:gd name="T6" fmla="*/ 99 w 199"/>
                <a:gd name="T7" fmla="*/ 0 h 320"/>
                <a:gd name="T8" fmla="*/ 98 w 199"/>
                <a:gd name="T9" fmla="*/ 0 h 320"/>
                <a:gd name="T10" fmla="*/ 0 w 199"/>
                <a:gd name="T11" fmla="*/ 95 h 320"/>
                <a:gd name="T12" fmla="*/ 19 w 199"/>
                <a:gd name="T13" fmla="*/ 158 h 320"/>
                <a:gd name="T14" fmla="*/ 45 w 199"/>
                <a:gd name="T15" fmla="*/ 213 h 320"/>
                <a:gd name="T16" fmla="*/ 45 w 199"/>
                <a:gd name="T17" fmla="*/ 245 h 320"/>
                <a:gd name="T18" fmla="*/ 46 w 199"/>
                <a:gd name="T19" fmla="*/ 246 h 320"/>
                <a:gd name="T20" fmla="*/ 45 w 199"/>
                <a:gd name="T21" fmla="*/ 247 h 320"/>
                <a:gd name="T22" fmla="*/ 56 w 199"/>
                <a:gd name="T23" fmla="*/ 311 h 320"/>
                <a:gd name="T24" fmla="*/ 67 w 199"/>
                <a:gd name="T25" fmla="*/ 320 h 320"/>
                <a:gd name="T26" fmla="*/ 131 w 199"/>
                <a:gd name="T27" fmla="*/ 320 h 320"/>
                <a:gd name="T28" fmla="*/ 141 w 199"/>
                <a:gd name="T29" fmla="*/ 311 h 320"/>
                <a:gd name="T30" fmla="*/ 152 w 199"/>
                <a:gd name="T31" fmla="*/ 247 h 320"/>
                <a:gd name="T32" fmla="*/ 152 w 199"/>
                <a:gd name="T33" fmla="*/ 246 h 320"/>
                <a:gd name="T34" fmla="*/ 152 w 199"/>
                <a:gd name="T35" fmla="*/ 245 h 320"/>
                <a:gd name="T36" fmla="*/ 152 w 199"/>
                <a:gd name="T37" fmla="*/ 213 h 320"/>
                <a:gd name="T38" fmla="*/ 179 w 199"/>
                <a:gd name="T39" fmla="*/ 158 h 320"/>
                <a:gd name="T40" fmla="*/ 199 w 199"/>
                <a:gd name="T41" fmla="*/ 95 h 320"/>
                <a:gd name="T42" fmla="*/ 99 w 199"/>
                <a:gd name="T43" fmla="*/ 0 h 320"/>
                <a:gd name="T44" fmla="*/ 122 w 199"/>
                <a:gd name="T45" fmla="*/ 298 h 320"/>
                <a:gd name="T46" fmla="*/ 76 w 199"/>
                <a:gd name="T47" fmla="*/ 298 h 320"/>
                <a:gd name="T48" fmla="*/ 69 w 199"/>
                <a:gd name="T49" fmla="*/ 256 h 320"/>
                <a:gd name="T50" fmla="*/ 129 w 199"/>
                <a:gd name="T51" fmla="*/ 256 h 320"/>
                <a:gd name="T52" fmla="*/ 122 w 199"/>
                <a:gd name="T53" fmla="*/ 298 h 320"/>
                <a:gd name="T54" fmla="*/ 161 w 199"/>
                <a:gd name="T55" fmla="*/ 147 h 320"/>
                <a:gd name="T56" fmla="*/ 131 w 199"/>
                <a:gd name="T57" fmla="*/ 213 h 320"/>
                <a:gd name="T58" fmla="*/ 131 w 199"/>
                <a:gd name="T59" fmla="*/ 234 h 320"/>
                <a:gd name="T60" fmla="*/ 109 w 199"/>
                <a:gd name="T61" fmla="*/ 234 h 320"/>
                <a:gd name="T62" fmla="*/ 109 w 199"/>
                <a:gd name="T63" fmla="*/ 153 h 320"/>
                <a:gd name="T64" fmla="*/ 128 w 199"/>
                <a:gd name="T65" fmla="*/ 135 h 320"/>
                <a:gd name="T66" fmla="*/ 128 w 199"/>
                <a:gd name="T67" fmla="*/ 120 h 320"/>
                <a:gd name="T68" fmla="*/ 112 w 199"/>
                <a:gd name="T69" fmla="*/ 120 h 320"/>
                <a:gd name="T70" fmla="*/ 99 w 199"/>
                <a:gd name="T71" fmla="*/ 134 h 320"/>
                <a:gd name="T72" fmla="*/ 85 w 199"/>
                <a:gd name="T73" fmla="*/ 120 h 320"/>
                <a:gd name="T74" fmla="*/ 70 w 199"/>
                <a:gd name="T75" fmla="*/ 120 h 320"/>
                <a:gd name="T76" fmla="*/ 70 w 199"/>
                <a:gd name="T77" fmla="*/ 135 h 320"/>
                <a:gd name="T78" fmla="*/ 88 w 199"/>
                <a:gd name="T79" fmla="*/ 153 h 320"/>
                <a:gd name="T80" fmla="*/ 88 w 199"/>
                <a:gd name="T81" fmla="*/ 234 h 320"/>
                <a:gd name="T82" fmla="*/ 67 w 199"/>
                <a:gd name="T83" fmla="*/ 234 h 320"/>
                <a:gd name="T84" fmla="*/ 67 w 199"/>
                <a:gd name="T85" fmla="*/ 213 h 320"/>
                <a:gd name="T86" fmla="*/ 37 w 199"/>
                <a:gd name="T87" fmla="*/ 146 h 320"/>
                <a:gd name="T88" fmla="*/ 21 w 199"/>
                <a:gd name="T89" fmla="*/ 95 h 320"/>
                <a:gd name="T90" fmla="*/ 99 w 199"/>
                <a:gd name="T91" fmla="*/ 21 h 320"/>
                <a:gd name="T92" fmla="*/ 177 w 199"/>
                <a:gd name="T93" fmla="*/ 95 h 320"/>
                <a:gd name="T94" fmla="*/ 161 w 199"/>
                <a:gd name="T95" fmla="*/ 147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320">
                  <a:moveTo>
                    <a:pt x="99" y="0"/>
                  </a:moveTo>
                  <a:cubicBezTo>
                    <a:pt x="99" y="0"/>
                    <a:pt x="99" y="0"/>
                    <a:pt x="99" y="0"/>
                  </a:cubicBezTo>
                  <a:cubicBezTo>
                    <a:pt x="99" y="0"/>
                    <a:pt x="99" y="0"/>
                    <a:pt x="99" y="0"/>
                  </a:cubicBezTo>
                  <a:cubicBezTo>
                    <a:pt x="99" y="0"/>
                    <a:pt x="99" y="0"/>
                    <a:pt x="99" y="0"/>
                  </a:cubicBezTo>
                  <a:cubicBezTo>
                    <a:pt x="99" y="0"/>
                    <a:pt x="99" y="0"/>
                    <a:pt x="98" y="0"/>
                  </a:cubicBezTo>
                  <a:cubicBezTo>
                    <a:pt x="45" y="0"/>
                    <a:pt x="0" y="44"/>
                    <a:pt x="0" y="95"/>
                  </a:cubicBezTo>
                  <a:cubicBezTo>
                    <a:pt x="0" y="129"/>
                    <a:pt x="18" y="157"/>
                    <a:pt x="19" y="158"/>
                  </a:cubicBezTo>
                  <a:cubicBezTo>
                    <a:pt x="32" y="179"/>
                    <a:pt x="45" y="206"/>
                    <a:pt x="45" y="213"/>
                  </a:cubicBezTo>
                  <a:cubicBezTo>
                    <a:pt x="45" y="245"/>
                    <a:pt x="45" y="245"/>
                    <a:pt x="45" y="245"/>
                  </a:cubicBezTo>
                  <a:cubicBezTo>
                    <a:pt x="45" y="245"/>
                    <a:pt x="45" y="246"/>
                    <a:pt x="46" y="246"/>
                  </a:cubicBezTo>
                  <a:cubicBezTo>
                    <a:pt x="46" y="246"/>
                    <a:pt x="45" y="246"/>
                    <a:pt x="45" y="247"/>
                  </a:cubicBezTo>
                  <a:cubicBezTo>
                    <a:pt x="56" y="311"/>
                    <a:pt x="56" y="311"/>
                    <a:pt x="56" y="311"/>
                  </a:cubicBezTo>
                  <a:cubicBezTo>
                    <a:pt x="57" y="316"/>
                    <a:pt x="61" y="320"/>
                    <a:pt x="67" y="320"/>
                  </a:cubicBezTo>
                  <a:cubicBezTo>
                    <a:pt x="131" y="320"/>
                    <a:pt x="131" y="320"/>
                    <a:pt x="131" y="320"/>
                  </a:cubicBezTo>
                  <a:cubicBezTo>
                    <a:pt x="136" y="320"/>
                    <a:pt x="140" y="316"/>
                    <a:pt x="141" y="311"/>
                  </a:cubicBezTo>
                  <a:cubicBezTo>
                    <a:pt x="152" y="247"/>
                    <a:pt x="152" y="247"/>
                    <a:pt x="152" y="247"/>
                  </a:cubicBezTo>
                  <a:cubicBezTo>
                    <a:pt x="152" y="246"/>
                    <a:pt x="152" y="246"/>
                    <a:pt x="152" y="246"/>
                  </a:cubicBezTo>
                  <a:cubicBezTo>
                    <a:pt x="152" y="246"/>
                    <a:pt x="152" y="245"/>
                    <a:pt x="152" y="245"/>
                  </a:cubicBezTo>
                  <a:cubicBezTo>
                    <a:pt x="152" y="213"/>
                    <a:pt x="152" y="213"/>
                    <a:pt x="152" y="213"/>
                  </a:cubicBezTo>
                  <a:cubicBezTo>
                    <a:pt x="152" y="206"/>
                    <a:pt x="166" y="179"/>
                    <a:pt x="179" y="158"/>
                  </a:cubicBezTo>
                  <a:cubicBezTo>
                    <a:pt x="180" y="157"/>
                    <a:pt x="199" y="129"/>
                    <a:pt x="199" y="95"/>
                  </a:cubicBezTo>
                  <a:cubicBezTo>
                    <a:pt x="199" y="44"/>
                    <a:pt x="153" y="0"/>
                    <a:pt x="99" y="0"/>
                  </a:cubicBezTo>
                  <a:close/>
                  <a:moveTo>
                    <a:pt x="122" y="298"/>
                  </a:moveTo>
                  <a:cubicBezTo>
                    <a:pt x="76" y="298"/>
                    <a:pt x="76" y="298"/>
                    <a:pt x="76" y="298"/>
                  </a:cubicBezTo>
                  <a:cubicBezTo>
                    <a:pt x="69" y="256"/>
                    <a:pt x="69" y="256"/>
                    <a:pt x="69" y="256"/>
                  </a:cubicBezTo>
                  <a:cubicBezTo>
                    <a:pt x="129" y="256"/>
                    <a:pt x="129" y="256"/>
                    <a:pt x="129" y="256"/>
                  </a:cubicBezTo>
                  <a:lnTo>
                    <a:pt x="122" y="298"/>
                  </a:lnTo>
                  <a:close/>
                  <a:moveTo>
                    <a:pt x="161" y="147"/>
                  </a:moveTo>
                  <a:cubicBezTo>
                    <a:pt x="154" y="158"/>
                    <a:pt x="131" y="196"/>
                    <a:pt x="131" y="213"/>
                  </a:cubicBezTo>
                  <a:cubicBezTo>
                    <a:pt x="131" y="234"/>
                    <a:pt x="131" y="234"/>
                    <a:pt x="131" y="234"/>
                  </a:cubicBezTo>
                  <a:cubicBezTo>
                    <a:pt x="109" y="234"/>
                    <a:pt x="109" y="234"/>
                    <a:pt x="109" y="234"/>
                  </a:cubicBezTo>
                  <a:cubicBezTo>
                    <a:pt x="109" y="153"/>
                    <a:pt x="109" y="153"/>
                    <a:pt x="109" y="153"/>
                  </a:cubicBezTo>
                  <a:cubicBezTo>
                    <a:pt x="128" y="135"/>
                    <a:pt x="128" y="135"/>
                    <a:pt x="128" y="135"/>
                  </a:cubicBezTo>
                  <a:cubicBezTo>
                    <a:pt x="132" y="131"/>
                    <a:pt x="132" y="124"/>
                    <a:pt x="128" y="120"/>
                  </a:cubicBezTo>
                  <a:cubicBezTo>
                    <a:pt x="123" y="116"/>
                    <a:pt x="117" y="116"/>
                    <a:pt x="112" y="120"/>
                  </a:cubicBezTo>
                  <a:cubicBezTo>
                    <a:pt x="99" y="134"/>
                    <a:pt x="99" y="134"/>
                    <a:pt x="99" y="134"/>
                  </a:cubicBezTo>
                  <a:cubicBezTo>
                    <a:pt x="85" y="120"/>
                    <a:pt x="85" y="120"/>
                    <a:pt x="85" y="120"/>
                  </a:cubicBezTo>
                  <a:cubicBezTo>
                    <a:pt x="81" y="116"/>
                    <a:pt x="74" y="116"/>
                    <a:pt x="70" y="120"/>
                  </a:cubicBezTo>
                  <a:cubicBezTo>
                    <a:pt x="66" y="124"/>
                    <a:pt x="66" y="131"/>
                    <a:pt x="70" y="135"/>
                  </a:cubicBezTo>
                  <a:cubicBezTo>
                    <a:pt x="88" y="153"/>
                    <a:pt x="88" y="153"/>
                    <a:pt x="88" y="153"/>
                  </a:cubicBezTo>
                  <a:cubicBezTo>
                    <a:pt x="88" y="234"/>
                    <a:pt x="88" y="234"/>
                    <a:pt x="88" y="234"/>
                  </a:cubicBezTo>
                  <a:cubicBezTo>
                    <a:pt x="67" y="234"/>
                    <a:pt x="67" y="234"/>
                    <a:pt x="67" y="234"/>
                  </a:cubicBezTo>
                  <a:cubicBezTo>
                    <a:pt x="67" y="213"/>
                    <a:pt x="67" y="213"/>
                    <a:pt x="67" y="213"/>
                  </a:cubicBezTo>
                  <a:cubicBezTo>
                    <a:pt x="67" y="196"/>
                    <a:pt x="44" y="158"/>
                    <a:pt x="37" y="146"/>
                  </a:cubicBezTo>
                  <a:cubicBezTo>
                    <a:pt x="37" y="146"/>
                    <a:pt x="21" y="123"/>
                    <a:pt x="21" y="95"/>
                  </a:cubicBezTo>
                  <a:cubicBezTo>
                    <a:pt x="21" y="55"/>
                    <a:pt x="57" y="21"/>
                    <a:pt x="99" y="21"/>
                  </a:cubicBezTo>
                  <a:cubicBezTo>
                    <a:pt x="141" y="21"/>
                    <a:pt x="177" y="55"/>
                    <a:pt x="177" y="95"/>
                  </a:cubicBezTo>
                  <a:cubicBezTo>
                    <a:pt x="177" y="122"/>
                    <a:pt x="161" y="146"/>
                    <a:pt x="161" y="14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Freeform 543"/>
            <p:cNvSpPr>
              <a:spLocks noEditPoints="1"/>
            </p:cNvSpPr>
            <p:nvPr/>
          </p:nvSpPr>
          <p:spPr bwMode="gray">
            <a:xfrm>
              <a:off x="5326" y="249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8" name="Group 37"/>
          <p:cNvGrpSpPr/>
          <p:nvPr/>
        </p:nvGrpSpPr>
        <p:grpSpPr bwMode="gray">
          <a:xfrm>
            <a:off x="1332253" y="1283296"/>
            <a:ext cx="9535886" cy="4341335"/>
            <a:chOff x="1332253" y="1283296"/>
            <a:chExt cx="9535886" cy="4341335"/>
          </a:xfrm>
        </p:grpSpPr>
        <p:cxnSp>
          <p:nvCxnSpPr>
            <p:cNvPr id="39" name="Straight Connector 38"/>
            <p:cNvCxnSpPr/>
            <p:nvPr/>
          </p:nvCxnSpPr>
          <p:spPr bwMode="gray">
            <a:xfrm flipH="1">
              <a:off x="1332253" y="1283296"/>
              <a:ext cx="551543"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gray">
            <a:xfrm flipH="1">
              <a:off x="1332253" y="5615809"/>
              <a:ext cx="551543"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gray">
            <a:xfrm>
              <a:off x="1332253" y="1283296"/>
              <a:ext cx="0" cy="4341335"/>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gray">
            <a:xfrm>
              <a:off x="10868139" y="1283296"/>
              <a:ext cx="0" cy="4341335"/>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gray">
            <a:xfrm flipH="1">
              <a:off x="3320709" y="1283296"/>
              <a:ext cx="7524000"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gray">
            <a:xfrm flipH="1">
              <a:off x="1763486" y="5615809"/>
              <a:ext cx="9089909"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65283609"/>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2E19BBE8-976C-3DF0-0221-E0F2DDC9C8F9}"/>
              </a:ext>
            </a:extLst>
          </p:cNvPr>
          <p:cNvGraphicFramePr>
            <a:graphicFrameLocks noGrp="1"/>
          </p:cNvGraphicFramePr>
          <p:nvPr>
            <p:extLst>
              <p:ext uri="{D42A27DB-BD31-4B8C-83A1-F6EECF244321}">
                <p14:modId xmlns:p14="http://schemas.microsoft.com/office/powerpoint/2010/main" val="2427329023"/>
              </p:ext>
            </p:extLst>
          </p:nvPr>
        </p:nvGraphicFramePr>
        <p:xfrm>
          <a:off x="203256" y="775502"/>
          <a:ext cx="11655277" cy="5604421"/>
        </p:xfrm>
        <a:graphic>
          <a:graphicData uri="http://schemas.openxmlformats.org/drawingml/2006/table">
            <a:tbl>
              <a:tblPr/>
              <a:tblGrid>
                <a:gridCol w="401031">
                  <a:extLst>
                    <a:ext uri="{9D8B030D-6E8A-4147-A177-3AD203B41FA5}">
                      <a16:colId xmlns:a16="http://schemas.microsoft.com/office/drawing/2014/main" val="4000896496"/>
                    </a:ext>
                  </a:extLst>
                </a:gridCol>
                <a:gridCol w="2661427">
                  <a:extLst>
                    <a:ext uri="{9D8B030D-6E8A-4147-A177-3AD203B41FA5}">
                      <a16:colId xmlns:a16="http://schemas.microsoft.com/office/drawing/2014/main" val="452018545"/>
                    </a:ext>
                  </a:extLst>
                </a:gridCol>
                <a:gridCol w="1687286">
                  <a:extLst>
                    <a:ext uri="{9D8B030D-6E8A-4147-A177-3AD203B41FA5}">
                      <a16:colId xmlns:a16="http://schemas.microsoft.com/office/drawing/2014/main" val="3087042761"/>
                    </a:ext>
                  </a:extLst>
                </a:gridCol>
                <a:gridCol w="1240971">
                  <a:extLst>
                    <a:ext uri="{9D8B030D-6E8A-4147-A177-3AD203B41FA5}">
                      <a16:colId xmlns:a16="http://schemas.microsoft.com/office/drawing/2014/main" val="235996618"/>
                    </a:ext>
                  </a:extLst>
                </a:gridCol>
                <a:gridCol w="1132115">
                  <a:extLst>
                    <a:ext uri="{9D8B030D-6E8A-4147-A177-3AD203B41FA5}">
                      <a16:colId xmlns:a16="http://schemas.microsoft.com/office/drawing/2014/main" val="836447491"/>
                    </a:ext>
                  </a:extLst>
                </a:gridCol>
                <a:gridCol w="1632857">
                  <a:extLst>
                    <a:ext uri="{9D8B030D-6E8A-4147-A177-3AD203B41FA5}">
                      <a16:colId xmlns:a16="http://schemas.microsoft.com/office/drawing/2014/main" val="3515562831"/>
                    </a:ext>
                  </a:extLst>
                </a:gridCol>
                <a:gridCol w="2899590">
                  <a:extLst>
                    <a:ext uri="{9D8B030D-6E8A-4147-A177-3AD203B41FA5}">
                      <a16:colId xmlns:a16="http://schemas.microsoft.com/office/drawing/2014/main" val="3998241564"/>
                    </a:ext>
                  </a:extLst>
                </a:gridCol>
              </a:tblGrid>
              <a:tr h="425189">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algn="ctr" fontAlgn="t"/>
                      <a:r>
                        <a:rPr lang="en-IN" sz="900" b="1" u="none" strike="noStrike">
                          <a:solidFill>
                            <a:schemeClr val="bg1"/>
                          </a:solidFill>
                          <a:effectLst/>
                          <a:latin typeface="+mn-lt"/>
                          <a:ea typeface="Verdana" panose="020B0604030504040204" pitchFamily="34" charset="0"/>
                        </a:rPr>
                        <a:t>S. No.</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algn="ctr" fontAlgn="t"/>
                      <a:r>
                        <a:rPr lang="en-IN" sz="900" b="1" u="none" strike="noStrike">
                          <a:solidFill>
                            <a:schemeClr val="bg1"/>
                          </a:solidFill>
                          <a:effectLst/>
                          <a:latin typeface="+mn-lt"/>
                          <a:ea typeface="Verdana" panose="020B0604030504040204" pitchFamily="34" charset="0"/>
                        </a:rPr>
                        <a:t>Study Title</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IN" sz="900" b="1" i="0" u="none" strike="noStrike">
                          <a:solidFill>
                            <a:schemeClr val="bg1"/>
                          </a:solidFill>
                          <a:effectLst/>
                          <a:latin typeface="+mn-lt"/>
                          <a:ea typeface="Verdana" panose="020B0604030504040204" pitchFamily="34" charset="0"/>
                        </a:rPr>
                        <a:t>Name of the Organisation</a:t>
                      </a: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US" sz="900" b="1" i="0" u="none" strike="noStrike">
                          <a:solidFill>
                            <a:schemeClr val="bg1"/>
                          </a:solidFill>
                          <a:effectLst/>
                          <a:latin typeface="+mn-lt"/>
                          <a:ea typeface="Verdana" panose="020B0604030504040204" pitchFamily="34" charset="0"/>
                        </a:rPr>
                        <a:t>Month/Year</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US" sz="900" b="1" i="0" u="none" strike="noStrike">
                          <a:solidFill>
                            <a:schemeClr val="bg1"/>
                          </a:solidFill>
                          <a:effectLst/>
                          <a:latin typeface="+mn-lt"/>
                          <a:ea typeface="Verdana" panose="020B0604030504040204" pitchFamily="34" charset="0"/>
                        </a:rPr>
                        <a:t>Amount/Budget</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IN" sz="900" b="1" i="0" u="none" strike="noStrike">
                          <a:solidFill>
                            <a:schemeClr val="bg1"/>
                          </a:solidFill>
                          <a:effectLst/>
                          <a:latin typeface="+mn-lt"/>
                          <a:ea typeface="Verdana" panose="020B0604030504040204" pitchFamily="34" charset="0"/>
                        </a:rPr>
                        <a:t>Publications in Journals</a:t>
                      </a: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IN" sz="900" b="1" i="0" u="none" strike="noStrike" kern="1200">
                          <a:solidFill>
                            <a:schemeClr val="bg1"/>
                          </a:solidFill>
                          <a:effectLst/>
                          <a:latin typeface="+mn-lt"/>
                          <a:ea typeface="Verdana" panose="020B0604030504040204" pitchFamily="34" charset="0"/>
                          <a:cs typeface="+mn-cs"/>
                        </a:rPr>
                        <a:t>Subject and Themes</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extLst>
                  <a:ext uri="{0D108BD9-81ED-4DB2-BD59-A6C34878D82A}">
                    <a16:rowId xmlns:a16="http://schemas.microsoft.com/office/drawing/2014/main" val="185327338"/>
                  </a:ext>
                </a:extLst>
              </a:tr>
              <a:tr h="385738">
                <a:tc gridSpan="7">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900" b="1" i="0" u="none" strike="noStrike" kern="1200">
                          <a:solidFill>
                            <a:schemeClr val="bg1"/>
                          </a:solidFill>
                          <a:effectLst/>
                          <a:latin typeface="+mn-lt"/>
                          <a:ea typeface="+mn-ea"/>
                          <a:cs typeface="+mn-cs"/>
                        </a:rPr>
                        <a:t>Experience of the Organization in conducting research Projects/Reports in the areas of this subject/theme for Reputed institutes and publications in the last 10 years.</a:t>
                      </a: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marL="0" marR="0" lvl="0" indent="0" algn="ctr" defTabSz="914400" rtl="0" eaLnBrk="1" fontAlgn="t" latinLnBrk="0" hangingPunct="1">
                        <a:lnSpc>
                          <a:spcPts val="1200"/>
                        </a:lnSpc>
                        <a:spcBef>
                          <a:spcPts val="0"/>
                        </a:spcBef>
                        <a:spcAft>
                          <a:spcPts val="0"/>
                        </a:spcAft>
                        <a:buClrTx/>
                        <a:buSzTx/>
                        <a:buFontTx/>
                        <a:buNone/>
                        <a:tabLst/>
                        <a:defRPr/>
                      </a:pPr>
                      <a:endParaRPr lang="en-US" sz="900" u="none" strike="noStrike" kern="1200">
                        <a:solidFill>
                          <a:schemeClr val="tx1"/>
                        </a:solidFill>
                        <a:effectLst/>
                        <a:latin typeface="Verdana" panose="020B0604030504040204" pitchFamily="34" charset="0"/>
                        <a:ea typeface="Verdana" panose="020B0604030504040204" pitchFamily="34" charset="0"/>
                        <a:cs typeface="+mn-cs"/>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endParaRPr lang="en-IN"/>
                    </a:p>
                  </a:txBody>
                  <a:tcPr>
                    <a:lnL w="12700" cap="flat" cmpd="sng" algn="ctr">
                      <a:solidFill>
                        <a:srgbClr val="0097A9"/>
                      </a:solidFill>
                      <a:prstDash val="solid"/>
                      <a:round/>
                      <a:headEnd type="none" w="med" len="med"/>
                      <a:tailEnd type="none" w="med" len="med"/>
                    </a:lnL>
                    <a:lnT w="12700" cap="flat" cmpd="sng" algn="ctr">
                      <a:solidFill>
                        <a:srgbClr val="0097A9"/>
                      </a:solidFill>
                      <a:prstDash val="solid"/>
                      <a:round/>
                      <a:headEnd type="none" w="med" len="med"/>
                      <a:tailEnd type="none" w="med" len="med"/>
                    </a:lnT>
                  </a:tcPr>
                </a:tc>
                <a:tc hMerge="1">
                  <a:txBody>
                    <a:bodyPr/>
                    <a:lstStyle/>
                    <a:p>
                      <a:endParaRPr lang="en-IN"/>
                    </a:p>
                  </a:txBody>
                  <a:tcPr>
                    <a:lnL w="12700" cap="flat" cmpd="sng" algn="ctr">
                      <a:solidFill>
                        <a:srgbClr val="0097A9"/>
                      </a:solidFill>
                      <a:prstDash val="solid"/>
                      <a:round/>
                      <a:headEnd type="none" w="med" len="med"/>
                      <a:tailEnd type="none" w="med" len="med"/>
                    </a:lnL>
                    <a:lnT w="12700" cap="flat" cmpd="sng" algn="ctr">
                      <a:solidFill>
                        <a:srgbClr val="0097A9"/>
                      </a:solidFill>
                      <a:prstDash val="solid"/>
                      <a:round/>
                      <a:headEnd type="none" w="med" len="med"/>
                      <a:tailEnd type="none" w="med" len="med"/>
                    </a:lnT>
                  </a:tcPr>
                </a:tc>
                <a:tc hMerge="1">
                  <a:txBody>
                    <a:bodyPr/>
                    <a:lstStyle/>
                    <a:p>
                      <a:endParaRPr lang="en-IN"/>
                    </a:p>
                  </a:txBody>
                  <a:tcPr>
                    <a:lnL w="12700" cap="flat" cmpd="sng" algn="ctr">
                      <a:solidFill>
                        <a:srgbClr val="0097A9"/>
                      </a:solidFill>
                      <a:prstDash val="solid"/>
                      <a:round/>
                      <a:headEnd type="none" w="med" len="med"/>
                      <a:tailEnd type="none" w="med" len="med"/>
                    </a:lnL>
                    <a:lnT w="12700" cap="flat" cmpd="sng" algn="ctr">
                      <a:solidFill>
                        <a:srgbClr val="0097A9"/>
                      </a:solidFill>
                      <a:prstDash val="solid"/>
                      <a:round/>
                      <a:headEnd type="none" w="med" len="med"/>
                      <a:tailEnd type="none" w="med" len="med"/>
                    </a:lnT>
                  </a:tcPr>
                </a:tc>
                <a:tc hMerge="1">
                  <a:txBody>
                    <a:bodyPr/>
                    <a:lstStyle/>
                    <a:p>
                      <a:endParaRPr lang="en-IN"/>
                    </a:p>
                  </a:txBody>
                  <a:tcPr>
                    <a:lnL w="12700" cap="flat" cmpd="sng" algn="ctr">
                      <a:solidFill>
                        <a:srgbClr val="0097A9"/>
                      </a:solidFill>
                      <a:prstDash val="solid"/>
                      <a:round/>
                      <a:headEnd type="none" w="med" len="med"/>
                      <a:tailEnd type="none" w="med" len="med"/>
                    </a:lnL>
                    <a:lnT w="12700" cap="flat" cmpd="sng" algn="ctr">
                      <a:solidFill>
                        <a:srgbClr val="0097A9"/>
                      </a:solidFill>
                      <a:prstDash val="solid"/>
                      <a:round/>
                      <a:headEnd type="none" w="med" len="med"/>
                      <a:tailEnd type="none" w="med" len="med"/>
                    </a:lnT>
                  </a:tcPr>
                </a:tc>
                <a:tc hMerge="1">
                  <a:txBody>
                    <a:bodyPr/>
                    <a:lstStyle/>
                    <a:p>
                      <a:pPr marL="0" marR="0" lvl="0" indent="0" algn="l" defTabSz="914400" rtl="0" eaLnBrk="1" fontAlgn="t" latinLnBrk="0" hangingPunct="1">
                        <a:lnSpc>
                          <a:spcPct val="100000"/>
                        </a:lnSpc>
                        <a:spcBef>
                          <a:spcPts val="0"/>
                        </a:spcBef>
                        <a:spcAft>
                          <a:spcPts val="0"/>
                        </a:spcAft>
                        <a:buClrTx/>
                        <a:buSzTx/>
                        <a:buFontTx/>
                        <a:buNone/>
                        <a:tabLst/>
                        <a:defRPr/>
                      </a:pPr>
                      <a:endParaRPr lang="en-US" sz="1050" b="1" i="0" u="none" strike="noStrike" kern="1200">
                        <a:solidFill>
                          <a:schemeClr val="bg1"/>
                        </a:solidFill>
                        <a:effectLst/>
                        <a:latin typeface="Verdana"/>
                        <a:ea typeface="+mn-ea"/>
                        <a:cs typeface="+mn-cs"/>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555622006"/>
                  </a:ext>
                </a:extLst>
              </a:tr>
              <a:tr h="727459">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1.</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b="1" kern="100">
                          <a:solidFill>
                            <a:srgbClr val="000000"/>
                          </a:solidFill>
                          <a:effectLst/>
                          <a:latin typeface="+mn-lt"/>
                          <a:ea typeface="Times New Roman" panose="02020603050405020304" pitchFamily="18" charset="0"/>
                          <a:cs typeface="Mangal" panose="02040503050203030202" pitchFamily="18" charset="0"/>
                        </a:rPr>
                        <a:t>Evaluation of Centrally Sponsored Schemes in Agriculture and Allied Sectors</a:t>
                      </a:r>
                      <a:endParaRPr lang="en-IN" sz="900" b="1"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US" sz="900" kern="100">
                          <a:effectLst/>
                          <a:latin typeface="+mn-lt"/>
                          <a:ea typeface="Verdana" panose="020B0604030504040204" pitchFamily="34" charset="0"/>
                          <a:cs typeface="Mangal" panose="02040503050203030202" pitchFamily="18" charset="0"/>
                        </a:rPr>
                        <a:t>NITI Ayog, Government of India</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September 2019 -</a:t>
                      </a:r>
                      <a:endParaRPr lang="en-IN" sz="900" kern="100">
                        <a:effectLst/>
                        <a:latin typeface="+mn-lt"/>
                        <a:ea typeface="Times New Roman" panose="02020603050405020304" pitchFamily="18" charset="0"/>
                        <a:cs typeface="Mangal" panose="02040503050203030202" pitchFamily="18" charset="0"/>
                      </a:endParaRPr>
                    </a:p>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September 2020</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INR 0.98 Crore</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kern="100">
                          <a:solidFill>
                            <a:srgbClr val="000000"/>
                          </a:solidFill>
                          <a:effectLst/>
                          <a:latin typeface="+mn-lt"/>
                          <a:ea typeface="Times New Roman" panose="02020603050405020304" pitchFamily="18" charset="0"/>
                          <a:cs typeface="Mangal" panose="02040503050203030202" pitchFamily="18" charset="0"/>
                        </a:rPr>
                        <a:t>https://www.nfsm.gov.in/WriteReadData/UploadDOC/NITIAayogEvaluationreport.pdf</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kern="100">
                          <a:effectLst/>
                          <a:latin typeface="+mn-lt"/>
                          <a:ea typeface="Times New Roman" panose="02020603050405020304" pitchFamily="18" charset="0"/>
                          <a:cs typeface="Mangal" panose="02040503050203030202" pitchFamily="18" charset="0"/>
                        </a:rPr>
                        <a:t>Public Finance &amp; Fiscal Policy Analysis; Research Studies &amp; Policy Advisory</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263002168"/>
                  </a:ext>
                </a:extLst>
              </a:tr>
              <a:tr h="727459">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2.</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b="1" kern="100">
                          <a:solidFill>
                            <a:srgbClr val="000000"/>
                          </a:solidFill>
                          <a:effectLst/>
                          <a:latin typeface="+mn-lt"/>
                          <a:ea typeface="Times New Roman" panose="02020603050405020304" pitchFamily="18" charset="0"/>
                          <a:cs typeface="Mangal" panose="02040503050203030202" pitchFamily="18" charset="0"/>
                        </a:rPr>
                        <a:t>Economic Intelligence Unit, West Bengal</a:t>
                      </a:r>
                      <a:endParaRPr lang="en-IN" sz="900" b="1"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US" sz="900" kern="100">
                          <a:effectLst/>
                          <a:latin typeface="+mn-lt"/>
                          <a:ea typeface="Verdana" panose="020B0604030504040204" pitchFamily="34" charset="0"/>
                          <a:cs typeface="Mangal" panose="02040503050203030202" pitchFamily="18" charset="0"/>
                        </a:rPr>
                        <a:t>Finance Department, Government of West Bengal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December 2018-</a:t>
                      </a:r>
                      <a:endParaRPr lang="en-IN" sz="900" kern="100">
                        <a:effectLst/>
                        <a:latin typeface="+mn-lt"/>
                        <a:ea typeface="Times New Roman" panose="02020603050405020304" pitchFamily="18" charset="0"/>
                        <a:cs typeface="Mangal" panose="02040503050203030202" pitchFamily="18" charset="0"/>
                      </a:endParaRPr>
                    </a:p>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Ongoing</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INR 4.50 Crore</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u="sng" kern="100">
                          <a:solidFill>
                            <a:srgbClr val="0563C1"/>
                          </a:solidFill>
                          <a:effectLst/>
                          <a:latin typeface="+mn-lt"/>
                          <a:ea typeface="Times New Roman" panose="02020603050405020304" pitchFamily="18" charset="0"/>
                          <a:cs typeface="Mangal" panose="02040503050203030202" pitchFamily="18" charset="0"/>
                          <a:hlinkClick r:id="rId3"/>
                        </a:rPr>
                        <a:t>https://finance.wb.gov.in/writereaddata/Budget_Publication/BP_30.pdf</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kern="100">
                          <a:effectLst/>
                          <a:latin typeface="+mn-lt"/>
                          <a:ea typeface="Times New Roman" panose="02020603050405020304" pitchFamily="18" charset="0"/>
                          <a:cs typeface="Mangal" panose="02040503050203030202" pitchFamily="18" charset="0"/>
                        </a:rPr>
                        <a:t>Public Finance &amp; Fiscal Policy Analysis; Public Financial Management (PFM); Research Studies &amp; Policy Advisory; State Finance &amp; Fiscal Sustainability Assessment</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974349915"/>
                  </a:ext>
                </a:extLst>
              </a:tr>
              <a:tr h="727459">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3.</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b="1" kern="100">
                          <a:effectLst/>
                          <a:latin typeface="+mn-lt"/>
                          <a:ea typeface="Times New Roman" panose="02020603050405020304" pitchFamily="18" charset="0"/>
                          <a:cs typeface="Mangal" panose="02040503050203030202" pitchFamily="18" charset="0"/>
                        </a:rPr>
                        <a:t>Consultancy Services for Capacity Development on Rajasthan Transparency in Public Procurement Act and Rules- Strengthening India’s Intergovernmental Fiscal Transfers:</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US" sz="900" kern="100">
                          <a:effectLst/>
                          <a:latin typeface="+mn-lt"/>
                          <a:ea typeface="Verdana" panose="020B0604030504040204" pitchFamily="34" charset="0"/>
                          <a:cs typeface="Mangal" panose="02040503050203030202" pitchFamily="18" charset="0"/>
                        </a:rPr>
                        <a:t>World Bank Nodal Department: Finance Department, Government of Rajasthan (World Bank Funded)</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July 2022-</a:t>
                      </a:r>
                      <a:endParaRPr lang="en-IN" sz="900" kern="100">
                        <a:effectLst/>
                        <a:latin typeface="+mn-lt"/>
                        <a:ea typeface="Times New Roman" panose="02020603050405020304" pitchFamily="18" charset="0"/>
                        <a:cs typeface="Mangal" panose="02040503050203030202" pitchFamily="18" charset="0"/>
                      </a:endParaRPr>
                    </a:p>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June 2024</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INR 57 Crore</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buNone/>
                      </a:pPr>
                      <a:r>
                        <a:rPr lang="en-IN" sz="900" u="sng" kern="100">
                          <a:solidFill>
                            <a:srgbClr val="0563C1"/>
                          </a:solidFill>
                          <a:effectLst/>
                          <a:latin typeface="+mn-lt"/>
                          <a:ea typeface="Times New Roman" panose="02020603050405020304" pitchFamily="18" charset="0"/>
                          <a:cs typeface="Mangal" panose="02040503050203030202" pitchFamily="18" charset="0"/>
                          <a:hlinkClick r:id="rId4"/>
                        </a:rPr>
                        <a:t>https://finance.rajasthan.gov.in/PDFDOCS/EAD/12420.pdf</a:t>
                      </a:r>
                      <a:endParaRPr lang="en-IN" sz="900" kern="100">
                        <a:effectLst/>
                        <a:latin typeface="+mn-lt"/>
                        <a:ea typeface="Times New Roman" panose="02020603050405020304" pitchFamily="18" charset="0"/>
                        <a:cs typeface="Mangal" panose="02040503050203030202" pitchFamily="18" charset="0"/>
                      </a:endParaRPr>
                    </a:p>
                    <a:p>
                      <a:pPr marL="0" marR="0" algn="just">
                        <a:lnSpc>
                          <a:spcPct val="115000"/>
                        </a:lnSpc>
                        <a:buNone/>
                      </a:pPr>
                      <a:r>
                        <a:rPr lang="en-IN" sz="900" u="none" strike="noStrike" kern="100">
                          <a:solidFill>
                            <a:srgbClr val="0000FF"/>
                          </a:solidFill>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kern="100">
                          <a:effectLst/>
                          <a:latin typeface="+mn-lt"/>
                          <a:ea typeface="Times New Roman" panose="02020603050405020304" pitchFamily="18" charset="0"/>
                          <a:cs typeface="Mangal" panose="02040503050203030202" pitchFamily="18" charset="0"/>
                        </a:rPr>
                        <a:t>Public Finance &amp; Fiscal Policy Analysis; Public Financial Management (PFM); Research Studies &amp; Policy Advisory; Public Procurement Diagnostics &amp; Procurement Reform; Multilateral Development Project</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98549505"/>
                  </a:ext>
                </a:extLst>
              </a:tr>
              <a:tr h="727459">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4.</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b="1" kern="100">
                          <a:solidFill>
                            <a:srgbClr val="000000"/>
                          </a:solidFill>
                          <a:effectLst/>
                          <a:latin typeface="+mn-lt"/>
                          <a:ea typeface="Times New Roman" panose="02020603050405020304" pitchFamily="18" charset="0"/>
                          <a:cs typeface="Mangal" panose="02040503050203030202" pitchFamily="18" charset="0"/>
                        </a:rPr>
                        <a:t>Response to an invitation by the Chair of the Fifteenth Finance Commission (15th FC) of the Government of India to the Asian Development Bank (ADB)</a:t>
                      </a:r>
                      <a:endParaRPr lang="en-IN" sz="900" b="1"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US" sz="900" kern="100">
                          <a:effectLst/>
                          <a:latin typeface="+mn-lt"/>
                          <a:ea typeface="Verdana" panose="020B0604030504040204" pitchFamily="34" charset="0"/>
                          <a:cs typeface="Mangal" panose="02040503050203030202" pitchFamily="18" charset="0"/>
                        </a:rPr>
                        <a:t>Asian Development Bank</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July 2018-October 2018</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buNone/>
                      </a:pPr>
                      <a:r>
                        <a:rPr lang="en-IN" sz="900" u="sng" kern="100">
                          <a:solidFill>
                            <a:srgbClr val="0563C1"/>
                          </a:solidFill>
                          <a:effectLst/>
                          <a:latin typeface="+mn-lt"/>
                          <a:ea typeface="Times New Roman" panose="02020603050405020304" pitchFamily="18" charset="0"/>
                          <a:cs typeface="Mangal" panose="02040503050203030202" pitchFamily="18" charset="0"/>
                          <a:hlinkClick r:id="rId5"/>
                        </a:rPr>
                        <a:t>https://www.adb.org/sites/default/files/publication/662116/strengthening-indias-intergovernmental-fiscal-transfers.pdf</a:t>
                      </a:r>
                      <a:endParaRPr lang="en-IN" sz="900" kern="100">
                        <a:effectLst/>
                        <a:latin typeface="+mn-lt"/>
                        <a:ea typeface="Times New Roman" panose="02020603050405020304" pitchFamily="18" charset="0"/>
                        <a:cs typeface="Mangal" panose="02040503050203030202" pitchFamily="18" charset="0"/>
                      </a:endParaRPr>
                    </a:p>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kern="100">
                          <a:effectLst/>
                          <a:latin typeface="+mn-lt"/>
                          <a:ea typeface="Times New Roman" panose="02020603050405020304" pitchFamily="18" charset="0"/>
                          <a:cs typeface="Mangal" panose="02040503050203030202" pitchFamily="18" charset="0"/>
                        </a:rPr>
                        <a:t>Public Finance &amp; Fiscal Policy Analysis; Public Financial Management (PFM); Research Studies &amp; Policy Advisory; State Finance &amp; Fiscal Sustainability Assessment; Multilateral Development Project</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646002753"/>
                  </a:ext>
                </a:extLst>
              </a:tr>
              <a:tr h="0">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5.</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b="1" kern="100">
                          <a:solidFill>
                            <a:srgbClr val="000000"/>
                          </a:solidFill>
                          <a:effectLst/>
                          <a:latin typeface="+mn-lt"/>
                          <a:ea typeface="Times New Roman" panose="02020603050405020304" pitchFamily="18" charset="0"/>
                          <a:cs typeface="Mangal" panose="02040503050203030202" pitchFamily="18" charset="0"/>
                        </a:rPr>
                        <a:t>Second West Bengal Development Finance Program (WBDFP2) – Asian Development Bank (ADB)- Technical Assistance Consultant’s Report </a:t>
                      </a:r>
                      <a:endParaRPr lang="en-IN" sz="900" b="1"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US" sz="900" kern="100">
                          <a:effectLst/>
                          <a:latin typeface="+mn-lt"/>
                          <a:ea typeface="Verdana" panose="020B0604030504040204" pitchFamily="34" charset="0"/>
                          <a:cs typeface="Mangal" panose="02040503050203030202" pitchFamily="18" charset="0"/>
                        </a:rPr>
                        <a:t>Asian Development Bank</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February 2018-</a:t>
                      </a:r>
                      <a:endParaRPr lang="en-IN" sz="900" kern="100">
                        <a:effectLst/>
                        <a:latin typeface="+mn-lt"/>
                        <a:ea typeface="Times New Roman" panose="02020603050405020304" pitchFamily="18" charset="0"/>
                        <a:cs typeface="Mangal" panose="02040503050203030202" pitchFamily="18" charset="0"/>
                      </a:endParaRPr>
                    </a:p>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November 2019</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INR 1.93 Crores</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buNone/>
                      </a:pPr>
                      <a:r>
                        <a:rPr lang="en-IN" sz="900" u="sng" kern="100">
                          <a:solidFill>
                            <a:srgbClr val="0563C1"/>
                          </a:solidFill>
                          <a:effectLst/>
                          <a:latin typeface="+mn-lt"/>
                          <a:ea typeface="Times New Roman" panose="02020603050405020304" pitchFamily="18" charset="0"/>
                          <a:cs typeface="Mangal" panose="02040503050203030202" pitchFamily="18" charset="0"/>
                          <a:hlinkClick r:id="rId6"/>
                        </a:rPr>
                        <a:t>https://www.adb.org/projects/documents/ind-49209-001-tacr</a:t>
                      </a:r>
                      <a:endParaRPr lang="en-IN" sz="900" kern="100">
                        <a:effectLst/>
                        <a:latin typeface="+mn-lt"/>
                        <a:ea typeface="Times New Roman" panose="02020603050405020304" pitchFamily="18" charset="0"/>
                        <a:cs typeface="Mangal" panose="02040503050203030202" pitchFamily="18" charset="0"/>
                      </a:endParaRPr>
                    </a:p>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kern="100">
                          <a:effectLst/>
                          <a:latin typeface="+mn-lt"/>
                          <a:ea typeface="Times New Roman" panose="02020603050405020304" pitchFamily="18" charset="0"/>
                          <a:cs typeface="Mangal" panose="02040503050203030202" pitchFamily="18" charset="0"/>
                        </a:rPr>
                        <a:t>Public Finance &amp; Fiscal Policy Analysis; Public Financial Management (PFM); Research Studies &amp; Policy Advisory; State Finance &amp; Fiscal Sustainability Assessment; Multilateral Development Project</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074228120"/>
                  </a:ext>
                </a:extLst>
              </a:tr>
              <a:tr h="727459">
                <a:tc>
                  <a:txBody>
                    <a:bodyPr/>
                    <a:lstStyle/>
                    <a:p>
                      <a:pPr marL="228600" marR="0">
                        <a:lnSpc>
                          <a:spcPct val="115000"/>
                        </a:lnSpc>
                        <a:buNone/>
                      </a:pPr>
                      <a:r>
                        <a:rPr lang="en-IN" sz="900" kern="100">
                          <a:effectLst/>
                          <a:latin typeface="+mn-lt"/>
                          <a:ea typeface="Times New Roman" panose="02020603050405020304" pitchFamily="18" charset="0"/>
                          <a:cs typeface="Mangal" panose="02040503050203030202" pitchFamily="18" charset="0"/>
                        </a:rPr>
                        <a:t> </a:t>
                      </a:r>
                    </a:p>
                    <a:p>
                      <a:pPr marL="0" marR="0">
                        <a:buNone/>
                      </a:pPr>
                      <a:r>
                        <a:rPr lang="en-IN" sz="900" kern="100">
                          <a:effectLst/>
                          <a:latin typeface="+mn-lt"/>
                          <a:ea typeface="Times New Roman" panose="02020603050405020304" pitchFamily="18" charset="0"/>
                          <a:cs typeface="Mangal" panose="02040503050203030202" pitchFamily="18" charset="0"/>
                        </a:rPr>
                        <a:t>6.</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b="1" kern="100">
                          <a:solidFill>
                            <a:srgbClr val="000000"/>
                          </a:solidFill>
                          <a:effectLst/>
                          <a:latin typeface="+mn-lt"/>
                          <a:ea typeface="Times New Roman" panose="02020603050405020304" pitchFamily="18" charset="0"/>
                          <a:cs typeface="Mangal" panose="02040503050203030202" pitchFamily="18" charset="0"/>
                        </a:rPr>
                        <a:t>Market Study &amp; Entry Strategy for Istituto Marangoni </a:t>
                      </a:r>
                      <a:endParaRPr lang="en-IN" sz="900" b="1"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buNone/>
                      </a:pPr>
                      <a:r>
                        <a:rPr lang="en-IN" sz="900" kern="100">
                          <a:solidFill>
                            <a:srgbClr val="000000"/>
                          </a:solidFill>
                          <a:effectLst/>
                          <a:latin typeface="+mn-lt"/>
                          <a:ea typeface="Times New Roman" panose="02020603050405020304" pitchFamily="18" charset="0"/>
                          <a:cs typeface="Mangal" panose="02040503050203030202" pitchFamily="18" charset="0"/>
                        </a:rPr>
                        <a:t>Istituto Marangoni </a:t>
                      </a:r>
                      <a:r>
                        <a:rPr lang="en-IN" sz="900" kern="100" err="1">
                          <a:solidFill>
                            <a:srgbClr val="000000"/>
                          </a:solidFill>
                          <a:effectLst/>
                          <a:latin typeface="+mn-lt"/>
                          <a:ea typeface="Times New Roman" panose="02020603050405020304" pitchFamily="18" charset="0"/>
                          <a:cs typeface="Mangal" panose="02040503050203030202" pitchFamily="18" charset="0"/>
                        </a:rPr>
                        <a:t>S.r.l</a:t>
                      </a:r>
                      <a:r>
                        <a:rPr lang="en-IN" sz="900" kern="100">
                          <a:solidFill>
                            <a:srgbClr val="000000"/>
                          </a:solidFill>
                          <a:effectLst/>
                          <a:latin typeface="+mn-lt"/>
                          <a:ea typeface="Times New Roman" panose="02020603050405020304" pitchFamily="18" charset="0"/>
                          <a:cs typeface="Mangal" panose="02040503050203030202" pitchFamily="18" charset="0"/>
                        </a:rPr>
                        <a:t>.</a:t>
                      </a:r>
                      <a:endParaRPr lang="en-IN" sz="900" kern="100">
                        <a:effectLst/>
                        <a:latin typeface="+mn-lt"/>
                        <a:ea typeface="Times New Roman" panose="02020603050405020304" pitchFamily="18" charset="0"/>
                        <a:cs typeface="Mangal" panose="02040503050203030202" pitchFamily="18" charset="0"/>
                      </a:endParaRPr>
                    </a:p>
                    <a:p>
                      <a:pPr marL="0" marR="0">
                        <a:lnSpc>
                          <a:spcPct val="115000"/>
                        </a:lnSpc>
                        <a:buNone/>
                      </a:pPr>
                      <a:r>
                        <a:rPr lang="en-US" sz="900" kern="100">
                          <a:effectLst/>
                          <a:latin typeface="+mn-lt"/>
                          <a:ea typeface="Verdana" panose="020B0604030504040204" pitchFamily="34"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May 2022-</a:t>
                      </a:r>
                      <a:endParaRPr lang="en-IN" sz="900" kern="100">
                        <a:effectLst/>
                        <a:latin typeface="+mn-lt"/>
                        <a:ea typeface="Times New Roman" panose="02020603050405020304" pitchFamily="18" charset="0"/>
                        <a:cs typeface="Mangal" panose="02040503050203030202" pitchFamily="18" charset="0"/>
                      </a:endParaRPr>
                    </a:p>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August 2022</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INR 37 Lakhs</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buNone/>
                      </a:pPr>
                      <a:r>
                        <a:rPr lang="en-IN" sz="900" u="sng" kern="100">
                          <a:solidFill>
                            <a:srgbClr val="0563C1"/>
                          </a:solidFill>
                          <a:effectLst/>
                          <a:latin typeface="+mn-lt"/>
                          <a:ea typeface="Times New Roman" panose="02020603050405020304" pitchFamily="18" charset="0"/>
                          <a:cs typeface="Mangal" panose="02040503050203030202" pitchFamily="18" charset="0"/>
                          <a:hlinkClick r:id="rId7"/>
                        </a:rPr>
                        <a:t>https://www.qaa.ac.uk/docs/qaa/reports/istituto-marangoni-her-ap-16.pdf?sfvrsn=cbfef581_4</a:t>
                      </a:r>
                      <a:endParaRPr lang="en-IN" sz="900" kern="100">
                        <a:effectLst/>
                        <a:latin typeface="+mn-lt"/>
                        <a:ea typeface="Times New Roman" panose="02020603050405020304" pitchFamily="18" charset="0"/>
                        <a:cs typeface="Mangal" panose="02040503050203030202" pitchFamily="18" charset="0"/>
                      </a:endParaRPr>
                    </a:p>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kern="100">
                          <a:effectLst/>
                          <a:latin typeface="+mn-lt"/>
                          <a:ea typeface="Times New Roman" panose="02020603050405020304" pitchFamily="18" charset="0"/>
                          <a:cs typeface="Mangal" panose="02040503050203030202" pitchFamily="18" charset="0"/>
                        </a:rPr>
                        <a:t>Research Studies &amp; Policy Advisory</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095432095"/>
                  </a:ext>
                </a:extLst>
              </a:tr>
            </a:tbl>
          </a:graphicData>
        </a:graphic>
      </p:graphicFrame>
      <p:cxnSp>
        <p:nvCxnSpPr>
          <p:cNvPr id="2" name="Straight Arrow Connector 1">
            <a:extLst>
              <a:ext uri="{FF2B5EF4-FFF2-40B4-BE49-F238E27FC236}">
                <a16:creationId xmlns:a16="http://schemas.microsoft.com/office/drawing/2014/main" id="{F660F440-1BA2-722F-F30C-90D183FA9D4D}"/>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1F5407FA-1F71-E66A-EFD4-3613128500AE}"/>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ea typeface="+mj-ea"/>
                <a:cs typeface="Calibri" panose="020F0502020204030204" pitchFamily="34" charset="0"/>
              </a:rPr>
              <a:t>Our Experience – Summary Table (1/7)</a:t>
            </a:r>
          </a:p>
        </p:txBody>
      </p:sp>
    </p:spTree>
    <p:extLst>
      <p:ext uri="{BB962C8B-B14F-4D97-AF65-F5344CB8AC3E}">
        <p14:creationId xmlns:p14="http://schemas.microsoft.com/office/powerpoint/2010/main" val="22634492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F25A1-7F5A-37D4-D8C2-4F1ED6387E14}"/>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B73EAD31-F919-EA95-34AA-CF99937046FD}"/>
              </a:ext>
            </a:extLst>
          </p:cNvPr>
          <p:cNvGraphicFramePr>
            <a:graphicFrameLocks noGrp="1"/>
          </p:cNvGraphicFramePr>
          <p:nvPr>
            <p:extLst>
              <p:ext uri="{D42A27DB-BD31-4B8C-83A1-F6EECF244321}">
                <p14:modId xmlns:p14="http://schemas.microsoft.com/office/powerpoint/2010/main" val="3130323064"/>
              </p:ext>
            </p:extLst>
          </p:nvPr>
        </p:nvGraphicFramePr>
        <p:xfrm>
          <a:off x="203256" y="775502"/>
          <a:ext cx="11655277" cy="5348986"/>
        </p:xfrm>
        <a:graphic>
          <a:graphicData uri="http://schemas.openxmlformats.org/drawingml/2006/table">
            <a:tbl>
              <a:tblPr/>
              <a:tblGrid>
                <a:gridCol w="401031">
                  <a:extLst>
                    <a:ext uri="{9D8B030D-6E8A-4147-A177-3AD203B41FA5}">
                      <a16:colId xmlns:a16="http://schemas.microsoft.com/office/drawing/2014/main" val="4000896496"/>
                    </a:ext>
                  </a:extLst>
                </a:gridCol>
                <a:gridCol w="2661427">
                  <a:extLst>
                    <a:ext uri="{9D8B030D-6E8A-4147-A177-3AD203B41FA5}">
                      <a16:colId xmlns:a16="http://schemas.microsoft.com/office/drawing/2014/main" val="452018545"/>
                    </a:ext>
                  </a:extLst>
                </a:gridCol>
                <a:gridCol w="1687286">
                  <a:extLst>
                    <a:ext uri="{9D8B030D-6E8A-4147-A177-3AD203B41FA5}">
                      <a16:colId xmlns:a16="http://schemas.microsoft.com/office/drawing/2014/main" val="3087042761"/>
                    </a:ext>
                  </a:extLst>
                </a:gridCol>
                <a:gridCol w="1240971">
                  <a:extLst>
                    <a:ext uri="{9D8B030D-6E8A-4147-A177-3AD203B41FA5}">
                      <a16:colId xmlns:a16="http://schemas.microsoft.com/office/drawing/2014/main" val="235996618"/>
                    </a:ext>
                  </a:extLst>
                </a:gridCol>
                <a:gridCol w="1132115">
                  <a:extLst>
                    <a:ext uri="{9D8B030D-6E8A-4147-A177-3AD203B41FA5}">
                      <a16:colId xmlns:a16="http://schemas.microsoft.com/office/drawing/2014/main" val="836447491"/>
                    </a:ext>
                  </a:extLst>
                </a:gridCol>
                <a:gridCol w="1632857">
                  <a:extLst>
                    <a:ext uri="{9D8B030D-6E8A-4147-A177-3AD203B41FA5}">
                      <a16:colId xmlns:a16="http://schemas.microsoft.com/office/drawing/2014/main" val="3515562831"/>
                    </a:ext>
                  </a:extLst>
                </a:gridCol>
                <a:gridCol w="2899590">
                  <a:extLst>
                    <a:ext uri="{9D8B030D-6E8A-4147-A177-3AD203B41FA5}">
                      <a16:colId xmlns:a16="http://schemas.microsoft.com/office/drawing/2014/main" val="3998241564"/>
                    </a:ext>
                  </a:extLst>
                </a:gridCol>
              </a:tblGrid>
              <a:tr h="425189">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algn="ctr" fontAlgn="t"/>
                      <a:r>
                        <a:rPr lang="en-IN" sz="900" b="1" u="none" strike="noStrike">
                          <a:solidFill>
                            <a:schemeClr val="bg1"/>
                          </a:solidFill>
                          <a:effectLst/>
                          <a:latin typeface="+mn-lt"/>
                          <a:ea typeface="Verdana" panose="020B0604030504040204" pitchFamily="34" charset="0"/>
                        </a:rPr>
                        <a:t>S. No.</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algn="ctr" fontAlgn="t"/>
                      <a:r>
                        <a:rPr lang="en-IN" sz="900" b="1" u="none" strike="noStrike">
                          <a:solidFill>
                            <a:schemeClr val="bg1"/>
                          </a:solidFill>
                          <a:effectLst/>
                          <a:latin typeface="+mn-lt"/>
                          <a:ea typeface="Verdana" panose="020B0604030504040204" pitchFamily="34" charset="0"/>
                        </a:rPr>
                        <a:t>Study Title</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IN" sz="900" b="1" i="0" u="none" strike="noStrike">
                          <a:solidFill>
                            <a:schemeClr val="bg1"/>
                          </a:solidFill>
                          <a:effectLst/>
                          <a:latin typeface="+mn-lt"/>
                          <a:ea typeface="Verdana" panose="020B0604030504040204" pitchFamily="34" charset="0"/>
                        </a:rPr>
                        <a:t>Name of the Organisation</a:t>
                      </a: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US" sz="900" b="1" i="0" u="none" strike="noStrike">
                          <a:solidFill>
                            <a:schemeClr val="bg1"/>
                          </a:solidFill>
                          <a:effectLst/>
                          <a:latin typeface="+mn-lt"/>
                          <a:ea typeface="Verdana" panose="020B0604030504040204" pitchFamily="34" charset="0"/>
                        </a:rPr>
                        <a:t>Month/Year</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US" sz="900" b="1" i="0" u="none" strike="noStrike">
                          <a:solidFill>
                            <a:schemeClr val="bg1"/>
                          </a:solidFill>
                          <a:effectLst/>
                          <a:latin typeface="+mn-lt"/>
                          <a:ea typeface="Verdana" panose="020B0604030504040204" pitchFamily="34" charset="0"/>
                        </a:rPr>
                        <a:t>Amount/Budget</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IN" sz="900" b="1" i="0" u="none" strike="noStrike">
                          <a:solidFill>
                            <a:schemeClr val="bg1"/>
                          </a:solidFill>
                          <a:effectLst/>
                          <a:latin typeface="+mn-lt"/>
                          <a:ea typeface="Verdana" panose="020B0604030504040204" pitchFamily="34" charset="0"/>
                        </a:rPr>
                        <a:t>Publications in Journals</a:t>
                      </a: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IN" sz="900" b="1" i="0" u="none" strike="noStrike" kern="1200">
                          <a:solidFill>
                            <a:schemeClr val="bg1"/>
                          </a:solidFill>
                          <a:effectLst/>
                          <a:latin typeface="+mn-lt"/>
                          <a:ea typeface="Verdana" panose="020B0604030504040204" pitchFamily="34" charset="0"/>
                          <a:cs typeface="+mn-cs"/>
                        </a:rPr>
                        <a:t>Subject and Themes</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extLst>
                  <a:ext uri="{0D108BD9-81ED-4DB2-BD59-A6C34878D82A}">
                    <a16:rowId xmlns:a16="http://schemas.microsoft.com/office/drawing/2014/main" val="185327338"/>
                  </a:ext>
                </a:extLst>
              </a:tr>
              <a:tr h="396755">
                <a:tc gridSpan="7">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900" b="1" i="0" u="none" strike="noStrike" kern="1200">
                          <a:solidFill>
                            <a:schemeClr val="bg1"/>
                          </a:solidFill>
                          <a:effectLst/>
                          <a:latin typeface="+mn-lt"/>
                          <a:ea typeface="+mn-ea"/>
                          <a:cs typeface="+mn-cs"/>
                        </a:rPr>
                        <a:t>Experience of the Organization in conducting research Projects/Reports in the areas of this subject/theme for Reputed institutes and publications in the last 10 years.</a:t>
                      </a: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marL="0" marR="0" lvl="0" indent="0" algn="ctr" defTabSz="914400" rtl="0" eaLnBrk="1" fontAlgn="t" latinLnBrk="0" hangingPunct="1">
                        <a:lnSpc>
                          <a:spcPts val="1200"/>
                        </a:lnSpc>
                        <a:spcBef>
                          <a:spcPts val="0"/>
                        </a:spcBef>
                        <a:spcAft>
                          <a:spcPts val="0"/>
                        </a:spcAft>
                        <a:buClrTx/>
                        <a:buSzTx/>
                        <a:buFontTx/>
                        <a:buNone/>
                        <a:tabLst/>
                        <a:defRPr/>
                      </a:pPr>
                      <a:endParaRPr lang="en-US" sz="900" u="none" strike="noStrike" kern="1200">
                        <a:solidFill>
                          <a:schemeClr val="tx1"/>
                        </a:solidFill>
                        <a:effectLst/>
                        <a:latin typeface="Verdana" panose="020B0604030504040204" pitchFamily="34" charset="0"/>
                        <a:ea typeface="Verdana" panose="020B0604030504040204" pitchFamily="34" charset="0"/>
                        <a:cs typeface="+mn-cs"/>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endParaRPr lang="en-IN"/>
                    </a:p>
                  </a:txBody>
                  <a:tcPr>
                    <a:lnL w="12700" cap="flat" cmpd="sng" algn="ctr">
                      <a:solidFill>
                        <a:srgbClr val="0097A9"/>
                      </a:solidFill>
                      <a:prstDash val="solid"/>
                      <a:round/>
                      <a:headEnd type="none" w="med" len="med"/>
                      <a:tailEnd type="none" w="med" len="med"/>
                    </a:lnL>
                    <a:lnT w="12700" cap="flat" cmpd="sng" algn="ctr">
                      <a:solidFill>
                        <a:srgbClr val="0097A9"/>
                      </a:solidFill>
                      <a:prstDash val="solid"/>
                      <a:round/>
                      <a:headEnd type="none" w="med" len="med"/>
                      <a:tailEnd type="none" w="med" len="med"/>
                    </a:lnT>
                  </a:tcPr>
                </a:tc>
                <a:tc hMerge="1">
                  <a:txBody>
                    <a:bodyPr/>
                    <a:lstStyle/>
                    <a:p>
                      <a:endParaRPr lang="en-IN"/>
                    </a:p>
                  </a:txBody>
                  <a:tcPr>
                    <a:lnL w="12700" cap="flat" cmpd="sng" algn="ctr">
                      <a:solidFill>
                        <a:srgbClr val="0097A9"/>
                      </a:solidFill>
                      <a:prstDash val="solid"/>
                      <a:round/>
                      <a:headEnd type="none" w="med" len="med"/>
                      <a:tailEnd type="none" w="med" len="med"/>
                    </a:lnL>
                    <a:lnT w="12700" cap="flat" cmpd="sng" algn="ctr">
                      <a:solidFill>
                        <a:srgbClr val="0097A9"/>
                      </a:solidFill>
                      <a:prstDash val="solid"/>
                      <a:round/>
                      <a:headEnd type="none" w="med" len="med"/>
                      <a:tailEnd type="none" w="med" len="med"/>
                    </a:lnT>
                  </a:tcPr>
                </a:tc>
                <a:tc hMerge="1">
                  <a:txBody>
                    <a:bodyPr/>
                    <a:lstStyle/>
                    <a:p>
                      <a:endParaRPr lang="en-IN"/>
                    </a:p>
                  </a:txBody>
                  <a:tcPr>
                    <a:lnL w="12700" cap="flat" cmpd="sng" algn="ctr">
                      <a:solidFill>
                        <a:srgbClr val="0097A9"/>
                      </a:solidFill>
                      <a:prstDash val="solid"/>
                      <a:round/>
                      <a:headEnd type="none" w="med" len="med"/>
                      <a:tailEnd type="none" w="med" len="med"/>
                    </a:lnL>
                    <a:lnT w="12700" cap="flat" cmpd="sng" algn="ctr">
                      <a:solidFill>
                        <a:srgbClr val="0097A9"/>
                      </a:solidFill>
                      <a:prstDash val="solid"/>
                      <a:round/>
                      <a:headEnd type="none" w="med" len="med"/>
                      <a:tailEnd type="none" w="med" len="med"/>
                    </a:lnT>
                  </a:tcPr>
                </a:tc>
                <a:tc hMerge="1">
                  <a:txBody>
                    <a:bodyPr/>
                    <a:lstStyle/>
                    <a:p>
                      <a:endParaRPr lang="en-IN"/>
                    </a:p>
                  </a:txBody>
                  <a:tcPr>
                    <a:lnL w="12700" cap="flat" cmpd="sng" algn="ctr">
                      <a:solidFill>
                        <a:srgbClr val="0097A9"/>
                      </a:solidFill>
                      <a:prstDash val="solid"/>
                      <a:round/>
                      <a:headEnd type="none" w="med" len="med"/>
                      <a:tailEnd type="none" w="med" len="med"/>
                    </a:lnL>
                    <a:lnT w="12700" cap="flat" cmpd="sng" algn="ctr">
                      <a:solidFill>
                        <a:srgbClr val="0097A9"/>
                      </a:solidFill>
                      <a:prstDash val="solid"/>
                      <a:round/>
                      <a:headEnd type="none" w="med" len="med"/>
                      <a:tailEnd type="none" w="med" len="med"/>
                    </a:lnT>
                  </a:tcPr>
                </a:tc>
                <a:tc hMerge="1">
                  <a:txBody>
                    <a:bodyPr/>
                    <a:lstStyle/>
                    <a:p>
                      <a:pPr marL="0" marR="0" lvl="0" indent="0" algn="l" defTabSz="914400" rtl="0" eaLnBrk="1" fontAlgn="t" latinLnBrk="0" hangingPunct="1">
                        <a:lnSpc>
                          <a:spcPct val="100000"/>
                        </a:lnSpc>
                        <a:spcBef>
                          <a:spcPts val="0"/>
                        </a:spcBef>
                        <a:spcAft>
                          <a:spcPts val="0"/>
                        </a:spcAft>
                        <a:buClrTx/>
                        <a:buSzTx/>
                        <a:buFontTx/>
                        <a:buNone/>
                        <a:tabLst/>
                        <a:defRPr/>
                      </a:pPr>
                      <a:endParaRPr lang="en-US" sz="1050" b="1" i="0" u="none" strike="noStrike" kern="1200">
                        <a:solidFill>
                          <a:schemeClr val="bg1"/>
                        </a:solidFill>
                        <a:effectLst/>
                        <a:latin typeface="Verdana"/>
                        <a:ea typeface="+mn-ea"/>
                        <a:cs typeface="+mn-cs"/>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555622006"/>
                  </a:ext>
                </a:extLst>
              </a:tr>
              <a:tr h="727459">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7. </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b="1" kern="100">
                          <a:effectLst/>
                          <a:latin typeface="+mn-lt"/>
                          <a:ea typeface="Times New Roman" panose="02020603050405020304" pitchFamily="18" charset="0"/>
                          <a:cs typeface="Mangal" panose="02040503050203030202" pitchFamily="18" charset="0"/>
                        </a:rPr>
                        <a:t>Strengthening Financing Strategies for SDG in three states of HP, Meghalaya and MP and developing transformative concept notes for finance mobilisation for SDGs localisation and Climate Action</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US" sz="900" kern="100">
                          <a:effectLst/>
                          <a:latin typeface="+mn-lt"/>
                          <a:ea typeface="Verdana" panose="020B0604030504040204" pitchFamily="34" charset="0"/>
                          <a:cs typeface="Mangal" panose="02040503050203030202" pitchFamily="18" charset="0"/>
                        </a:rPr>
                        <a:t>Govt. of Meghalaya, Govt. of Himachal Pradesh, Govt. of Madhya Pradesh, GIZ (Deutsche Gesellschaft für Internationale Zusammenarbeit)</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December 2025-June 2026</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i="1" kern="100">
                          <a:effectLst/>
                          <a:latin typeface="+mn-lt"/>
                          <a:ea typeface="Times New Roman" panose="02020603050405020304" pitchFamily="18" charset="0"/>
                          <a:cs typeface="Mangal" panose="02040503050203030202" pitchFamily="18" charset="0"/>
                        </a:rPr>
                        <a:t>INR 64.83 Lakhs</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Public Finance &amp; Fiscal Policy Analysis; Public Financial Management (PFM); Research Studies &amp; Policy Advisory; State Finance &amp; Fiscal Sustainability Assessment; Multilateral Development Project</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263002168"/>
                  </a:ext>
                </a:extLst>
              </a:tr>
              <a:tr h="727459">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8.</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b="1" kern="100">
                          <a:effectLst/>
                          <a:latin typeface="+mn-lt"/>
                          <a:ea typeface="Times New Roman" panose="02020603050405020304" pitchFamily="18" charset="0"/>
                          <a:cs typeface="Mangal" panose="02040503050203030202" pitchFamily="18" charset="0"/>
                        </a:rPr>
                        <a:t>To Boost the size of the Gross State Domestic Product (GSDP) of Uttar Pradesh to One Trillion Dollar Economy in five years</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US" sz="900" kern="100">
                          <a:effectLst/>
                          <a:latin typeface="+mn-lt"/>
                          <a:ea typeface="Verdana" panose="020B0604030504040204" pitchFamily="34" charset="0"/>
                          <a:cs typeface="Mangal" panose="02040503050203030202" pitchFamily="18" charset="0"/>
                        </a:rPr>
                        <a:t>Government of Uttar Pradesh</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August -2022-Ongoing</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INR 120 Crores</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https://nipfp.org.in/media/documents/State_Forum_2023_-_A_Compendium_fWY24V2.pdf</a:t>
                      </a:r>
                      <a:endParaRPr lang="en-IN" sz="900" kern="100">
                        <a:effectLst/>
                        <a:latin typeface="+mn-lt"/>
                        <a:ea typeface="Times New Roman" panose="02020603050405020304" pitchFamily="18" charset="0"/>
                        <a:cs typeface="Mangal" panose="02040503050203030202" pitchFamily="18" charset="0"/>
                      </a:endParaRPr>
                    </a:p>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https://nipfp.org.in/media/documents/State_Forum__2024_-__A_Compendium_1.pdf</a:t>
                      </a:r>
                      <a:endParaRPr lang="en-IN" sz="900" kern="100">
                        <a:effectLst/>
                        <a:latin typeface="+mn-lt"/>
                        <a:ea typeface="Times New Roman" panose="02020603050405020304" pitchFamily="18" charset="0"/>
                        <a:cs typeface="Mangal" panose="02040503050203030202" pitchFamily="18" charset="0"/>
                      </a:endParaRPr>
                    </a:p>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https://nipfp.org.in/media/documents/State_Forum__2024_-__A_Compendium_1.pdfhttps://nipfp.org.in/media/documents/State_Forum_2025_A_Compendium.pdf</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Public Finance &amp; Fiscal Policy Analysis; Research Studies &amp; Policy Advisory; State Finance &amp; Fiscal Sustainability Assessment</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974349915"/>
                  </a:ext>
                </a:extLst>
              </a:tr>
              <a:tr h="727459">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9.</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b="1" kern="100">
                          <a:solidFill>
                            <a:srgbClr val="000000"/>
                          </a:solidFill>
                          <a:effectLst/>
                          <a:latin typeface="+mn-lt"/>
                          <a:ea typeface="Times New Roman" panose="02020603050405020304" pitchFamily="18" charset="0"/>
                          <a:cs typeface="Mangal" panose="02040503050203030202" pitchFamily="18" charset="0"/>
                        </a:rPr>
                        <a:t>Jharkhand Domestic Resource Mobilization</a:t>
                      </a:r>
                      <a:endParaRPr lang="en-IN" sz="900" b="1"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US" sz="900" kern="100">
                          <a:effectLst/>
                          <a:latin typeface="+mn-lt"/>
                          <a:ea typeface="Verdana" panose="020B0604030504040204" pitchFamily="34" charset="0"/>
                          <a:cs typeface="Mangal" panose="02040503050203030202" pitchFamily="18" charset="0"/>
                        </a:rPr>
                        <a:t>Asian Development Bank (ABD); Nodal Department: Department of Finance, Government of Jharkhand</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August 2024- March 2025</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INR 1.86 Crore</a:t>
                      </a:r>
                      <a:endParaRPr lang="en-IN" sz="900" kern="100">
                        <a:effectLst/>
                        <a:latin typeface="+mn-lt"/>
                        <a:ea typeface="Times New Roman" panose="02020603050405020304" pitchFamily="18" charset="0"/>
                        <a:cs typeface="Mangal" panose="02040503050203030202" pitchFamily="18" charset="0"/>
                      </a:endParaRPr>
                    </a:p>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Public Finance &amp; Fiscal Policy Analysis; Public Financial Management (PFM); Research Studies &amp; Policy Advisory; State Finance &amp; Fiscal Sustainability Assessment; Multilateral Development Project</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98549505"/>
                  </a:ext>
                </a:extLst>
              </a:tr>
            </a:tbl>
          </a:graphicData>
        </a:graphic>
      </p:graphicFrame>
      <p:cxnSp>
        <p:nvCxnSpPr>
          <p:cNvPr id="2" name="Straight Arrow Connector 1">
            <a:extLst>
              <a:ext uri="{FF2B5EF4-FFF2-40B4-BE49-F238E27FC236}">
                <a16:creationId xmlns:a16="http://schemas.microsoft.com/office/drawing/2014/main" id="{5E5C68BC-F30E-FC53-7969-53DC38751A6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BB8467F9-E5CB-E532-F025-A31478D74F1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ea typeface="+mj-ea"/>
                <a:cs typeface="Calibri" panose="020F0502020204030204" pitchFamily="34" charset="0"/>
              </a:rPr>
              <a:t>Our Experience – Summary Table (2/7)</a:t>
            </a:r>
          </a:p>
        </p:txBody>
      </p:sp>
    </p:spTree>
    <p:extLst>
      <p:ext uri="{BB962C8B-B14F-4D97-AF65-F5344CB8AC3E}">
        <p14:creationId xmlns:p14="http://schemas.microsoft.com/office/powerpoint/2010/main" val="2923855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5CB5F-36E4-4A3E-DF00-C7D60A6E54D4}"/>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570CD92F-A027-368B-8426-4AABE65C3CE3}"/>
              </a:ext>
            </a:extLst>
          </p:cNvPr>
          <p:cNvGraphicFramePr>
            <a:graphicFrameLocks noGrp="1"/>
          </p:cNvGraphicFramePr>
          <p:nvPr>
            <p:extLst>
              <p:ext uri="{D42A27DB-BD31-4B8C-83A1-F6EECF244321}">
                <p14:modId xmlns:p14="http://schemas.microsoft.com/office/powerpoint/2010/main" val="1234032672"/>
              </p:ext>
            </p:extLst>
          </p:nvPr>
        </p:nvGraphicFramePr>
        <p:xfrm>
          <a:off x="203256" y="775502"/>
          <a:ext cx="11655277" cy="5565540"/>
        </p:xfrm>
        <a:graphic>
          <a:graphicData uri="http://schemas.openxmlformats.org/drawingml/2006/table">
            <a:tbl>
              <a:tblPr/>
              <a:tblGrid>
                <a:gridCol w="401031">
                  <a:extLst>
                    <a:ext uri="{9D8B030D-6E8A-4147-A177-3AD203B41FA5}">
                      <a16:colId xmlns:a16="http://schemas.microsoft.com/office/drawing/2014/main" val="4000896496"/>
                    </a:ext>
                  </a:extLst>
                </a:gridCol>
                <a:gridCol w="2661427">
                  <a:extLst>
                    <a:ext uri="{9D8B030D-6E8A-4147-A177-3AD203B41FA5}">
                      <a16:colId xmlns:a16="http://schemas.microsoft.com/office/drawing/2014/main" val="452018545"/>
                    </a:ext>
                  </a:extLst>
                </a:gridCol>
                <a:gridCol w="1687286">
                  <a:extLst>
                    <a:ext uri="{9D8B030D-6E8A-4147-A177-3AD203B41FA5}">
                      <a16:colId xmlns:a16="http://schemas.microsoft.com/office/drawing/2014/main" val="3087042761"/>
                    </a:ext>
                  </a:extLst>
                </a:gridCol>
                <a:gridCol w="1240971">
                  <a:extLst>
                    <a:ext uri="{9D8B030D-6E8A-4147-A177-3AD203B41FA5}">
                      <a16:colId xmlns:a16="http://schemas.microsoft.com/office/drawing/2014/main" val="235996618"/>
                    </a:ext>
                  </a:extLst>
                </a:gridCol>
                <a:gridCol w="1132115">
                  <a:extLst>
                    <a:ext uri="{9D8B030D-6E8A-4147-A177-3AD203B41FA5}">
                      <a16:colId xmlns:a16="http://schemas.microsoft.com/office/drawing/2014/main" val="836447491"/>
                    </a:ext>
                  </a:extLst>
                </a:gridCol>
                <a:gridCol w="1632857">
                  <a:extLst>
                    <a:ext uri="{9D8B030D-6E8A-4147-A177-3AD203B41FA5}">
                      <a16:colId xmlns:a16="http://schemas.microsoft.com/office/drawing/2014/main" val="3515562831"/>
                    </a:ext>
                  </a:extLst>
                </a:gridCol>
                <a:gridCol w="2899590">
                  <a:extLst>
                    <a:ext uri="{9D8B030D-6E8A-4147-A177-3AD203B41FA5}">
                      <a16:colId xmlns:a16="http://schemas.microsoft.com/office/drawing/2014/main" val="3998241564"/>
                    </a:ext>
                  </a:extLst>
                </a:gridCol>
              </a:tblGrid>
              <a:tr h="458542">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algn="ctr" fontAlgn="t"/>
                      <a:r>
                        <a:rPr lang="en-IN" sz="900" b="1" u="none" strike="noStrike">
                          <a:solidFill>
                            <a:schemeClr val="bg1"/>
                          </a:solidFill>
                          <a:effectLst/>
                          <a:latin typeface="+mn-lt"/>
                          <a:ea typeface="Verdana" panose="020B0604030504040204" pitchFamily="34" charset="0"/>
                        </a:rPr>
                        <a:t>S. No.</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algn="ctr" fontAlgn="t"/>
                      <a:r>
                        <a:rPr lang="en-IN" sz="900" b="1" u="none" strike="noStrike">
                          <a:solidFill>
                            <a:schemeClr val="bg1"/>
                          </a:solidFill>
                          <a:effectLst/>
                          <a:latin typeface="+mn-lt"/>
                          <a:ea typeface="Verdana" panose="020B0604030504040204" pitchFamily="34" charset="0"/>
                        </a:rPr>
                        <a:t>Study Title</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IN" sz="900" b="1" i="0" u="none" strike="noStrike">
                          <a:solidFill>
                            <a:schemeClr val="bg1"/>
                          </a:solidFill>
                          <a:effectLst/>
                          <a:latin typeface="+mn-lt"/>
                          <a:ea typeface="Verdana" panose="020B0604030504040204" pitchFamily="34" charset="0"/>
                        </a:rPr>
                        <a:t>Name of the Organisation</a:t>
                      </a: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US" sz="900" b="1" i="0" u="none" strike="noStrike">
                          <a:solidFill>
                            <a:schemeClr val="bg1"/>
                          </a:solidFill>
                          <a:effectLst/>
                          <a:latin typeface="+mn-lt"/>
                          <a:ea typeface="Verdana" panose="020B0604030504040204" pitchFamily="34" charset="0"/>
                        </a:rPr>
                        <a:t>Month/Year</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US" sz="900" b="1" i="0" u="none" strike="noStrike">
                          <a:solidFill>
                            <a:schemeClr val="bg1"/>
                          </a:solidFill>
                          <a:effectLst/>
                          <a:latin typeface="+mn-lt"/>
                          <a:ea typeface="Verdana" panose="020B0604030504040204" pitchFamily="34" charset="0"/>
                        </a:rPr>
                        <a:t>Amount/Budget</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IN" sz="900" b="1" i="0" u="none" strike="noStrike">
                          <a:solidFill>
                            <a:schemeClr val="bg1"/>
                          </a:solidFill>
                          <a:effectLst/>
                          <a:latin typeface="+mn-lt"/>
                          <a:ea typeface="Verdana" panose="020B0604030504040204" pitchFamily="34" charset="0"/>
                        </a:rPr>
                        <a:t>Publications in Journals</a:t>
                      </a: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IN" sz="900" b="1" i="0" u="none" strike="noStrike" kern="1200">
                          <a:solidFill>
                            <a:schemeClr val="bg1"/>
                          </a:solidFill>
                          <a:effectLst/>
                          <a:latin typeface="+mn-lt"/>
                          <a:ea typeface="Verdana" panose="020B0604030504040204" pitchFamily="34" charset="0"/>
                          <a:cs typeface="+mn-cs"/>
                        </a:rPr>
                        <a:t>Subject and Themes</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extLst>
                  <a:ext uri="{0D108BD9-81ED-4DB2-BD59-A6C34878D82A}">
                    <a16:rowId xmlns:a16="http://schemas.microsoft.com/office/drawing/2014/main" val="185327338"/>
                  </a:ext>
                </a:extLst>
              </a:tr>
              <a:tr h="356592">
                <a:tc gridSpan="7">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900" b="1" i="0" u="none" strike="noStrike" kern="1200">
                          <a:solidFill>
                            <a:schemeClr val="bg1"/>
                          </a:solidFill>
                          <a:effectLst/>
                          <a:latin typeface="+mn-lt"/>
                          <a:ea typeface="+mn-ea"/>
                          <a:cs typeface="+mn-cs"/>
                        </a:rPr>
                        <a:t>Experience of the Organization in conducting research Projects/Reports in the areas of this subject/theme for Reputed institutes and publications in the last 10 years.</a:t>
                      </a: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marL="0" marR="0" lvl="0" indent="0" algn="ctr" defTabSz="914400" rtl="0" eaLnBrk="1" fontAlgn="t" latinLnBrk="0" hangingPunct="1">
                        <a:lnSpc>
                          <a:spcPts val="1200"/>
                        </a:lnSpc>
                        <a:spcBef>
                          <a:spcPts val="0"/>
                        </a:spcBef>
                        <a:spcAft>
                          <a:spcPts val="0"/>
                        </a:spcAft>
                        <a:buClrTx/>
                        <a:buSzTx/>
                        <a:buFontTx/>
                        <a:buNone/>
                        <a:tabLst/>
                        <a:defRPr/>
                      </a:pPr>
                      <a:endParaRPr lang="en-US" sz="900" u="none" strike="noStrike" kern="1200">
                        <a:solidFill>
                          <a:schemeClr val="tx1"/>
                        </a:solidFill>
                        <a:effectLst/>
                        <a:latin typeface="Verdana" panose="020B0604030504040204" pitchFamily="34" charset="0"/>
                        <a:ea typeface="Verdana" panose="020B0604030504040204" pitchFamily="34" charset="0"/>
                        <a:cs typeface="+mn-cs"/>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endParaRPr lang="en-IN"/>
                    </a:p>
                  </a:txBody>
                  <a:tcPr>
                    <a:lnL w="12700" cap="flat" cmpd="sng" algn="ctr">
                      <a:solidFill>
                        <a:srgbClr val="0097A9"/>
                      </a:solidFill>
                      <a:prstDash val="solid"/>
                      <a:round/>
                      <a:headEnd type="none" w="med" len="med"/>
                      <a:tailEnd type="none" w="med" len="med"/>
                    </a:lnL>
                    <a:lnT w="12700" cap="flat" cmpd="sng" algn="ctr">
                      <a:solidFill>
                        <a:srgbClr val="0097A9"/>
                      </a:solidFill>
                      <a:prstDash val="solid"/>
                      <a:round/>
                      <a:headEnd type="none" w="med" len="med"/>
                      <a:tailEnd type="none" w="med" len="med"/>
                    </a:lnT>
                  </a:tcPr>
                </a:tc>
                <a:tc hMerge="1">
                  <a:txBody>
                    <a:bodyPr/>
                    <a:lstStyle/>
                    <a:p>
                      <a:endParaRPr lang="en-IN"/>
                    </a:p>
                  </a:txBody>
                  <a:tcPr>
                    <a:lnL w="12700" cap="flat" cmpd="sng" algn="ctr">
                      <a:solidFill>
                        <a:srgbClr val="0097A9"/>
                      </a:solidFill>
                      <a:prstDash val="solid"/>
                      <a:round/>
                      <a:headEnd type="none" w="med" len="med"/>
                      <a:tailEnd type="none" w="med" len="med"/>
                    </a:lnL>
                    <a:lnT w="12700" cap="flat" cmpd="sng" algn="ctr">
                      <a:solidFill>
                        <a:srgbClr val="0097A9"/>
                      </a:solidFill>
                      <a:prstDash val="solid"/>
                      <a:round/>
                      <a:headEnd type="none" w="med" len="med"/>
                      <a:tailEnd type="none" w="med" len="med"/>
                    </a:lnT>
                  </a:tcPr>
                </a:tc>
                <a:tc hMerge="1">
                  <a:txBody>
                    <a:bodyPr/>
                    <a:lstStyle/>
                    <a:p>
                      <a:endParaRPr lang="en-IN"/>
                    </a:p>
                  </a:txBody>
                  <a:tcPr>
                    <a:lnL w="12700" cap="flat" cmpd="sng" algn="ctr">
                      <a:solidFill>
                        <a:srgbClr val="0097A9"/>
                      </a:solidFill>
                      <a:prstDash val="solid"/>
                      <a:round/>
                      <a:headEnd type="none" w="med" len="med"/>
                      <a:tailEnd type="none" w="med" len="med"/>
                    </a:lnL>
                    <a:lnT w="12700" cap="flat" cmpd="sng" algn="ctr">
                      <a:solidFill>
                        <a:srgbClr val="0097A9"/>
                      </a:solidFill>
                      <a:prstDash val="solid"/>
                      <a:round/>
                      <a:headEnd type="none" w="med" len="med"/>
                      <a:tailEnd type="none" w="med" len="med"/>
                    </a:lnT>
                  </a:tcPr>
                </a:tc>
                <a:tc hMerge="1">
                  <a:txBody>
                    <a:bodyPr/>
                    <a:lstStyle/>
                    <a:p>
                      <a:endParaRPr lang="en-IN"/>
                    </a:p>
                  </a:txBody>
                  <a:tcPr>
                    <a:lnL w="12700" cap="flat" cmpd="sng" algn="ctr">
                      <a:solidFill>
                        <a:srgbClr val="0097A9"/>
                      </a:solidFill>
                      <a:prstDash val="solid"/>
                      <a:round/>
                      <a:headEnd type="none" w="med" len="med"/>
                      <a:tailEnd type="none" w="med" len="med"/>
                    </a:lnL>
                    <a:lnT w="12700" cap="flat" cmpd="sng" algn="ctr">
                      <a:solidFill>
                        <a:srgbClr val="0097A9"/>
                      </a:solidFill>
                      <a:prstDash val="solid"/>
                      <a:round/>
                      <a:headEnd type="none" w="med" len="med"/>
                      <a:tailEnd type="none" w="med" len="med"/>
                    </a:lnT>
                  </a:tcPr>
                </a:tc>
                <a:tc hMerge="1">
                  <a:txBody>
                    <a:bodyPr/>
                    <a:lstStyle/>
                    <a:p>
                      <a:pPr marL="0" marR="0" lvl="0" indent="0" algn="l" defTabSz="914400" rtl="0" eaLnBrk="1" fontAlgn="t" latinLnBrk="0" hangingPunct="1">
                        <a:lnSpc>
                          <a:spcPct val="100000"/>
                        </a:lnSpc>
                        <a:spcBef>
                          <a:spcPts val="0"/>
                        </a:spcBef>
                        <a:spcAft>
                          <a:spcPts val="0"/>
                        </a:spcAft>
                        <a:buClrTx/>
                        <a:buSzTx/>
                        <a:buFontTx/>
                        <a:buNone/>
                        <a:tabLst/>
                        <a:defRPr/>
                      </a:pPr>
                      <a:endParaRPr lang="en-US" sz="1050" b="1" i="0" u="none" strike="noStrike" kern="1200">
                        <a:solidFill>
                          <a:schemeClr val="bg1"/>
                        </a:solidFill>
                        <a:effectLst/>
                        <a:latin typeface="Verdana"/>
                        <a:ea typeface="+mn-ea"/>
                        <a:cs typeface="+mn-cs"/>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555622006"/>
                  </a:ext>
                </a:extLst>
              </a:tr>
              <a:tr h="784524">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10.</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buNone/>
                      </a:pPr>
                      <a:r>
                        <a:rPr lang="en-IN" sz="900" b="1" kern="100">
                          <a:solidFill>
                            <a:srgbClr val="000000"/>
                          </a:solidFill>
                          <a:effectLst/>
                          <a:latin typeface="+mn-lt"/>
                          <a:ea typeface="Times New Roman" panose="02020603050405020304" pitchFamily="18" charset="0"/>
                          <a:cs typeface="Mangal" panose="02040503050203030202" pitchFamily="18" charset="0"/>
                        </a:rPr>
                        <a:t>Strengthening Economic and Fiscal Intelligence, Gujarat State Financial Services Ltd., Department of Finance, Government of Gujarat (GoG) – Phase 1 </a:t>
                      </a:r>
                      <a:endParaRPr lang="en-IN" sz="900" b="1" kern="100">
                        <a:effectLst/>
                        <a:latin typeface="+mn-lt"/>
                        <a:ea typeface="Times New Roman" panose="02020603050405020304" pitchFamily="18" charset="0"/>
                        <a:cs typeface="Mangal" panose="02040503050203030202" pitchFamily="18" charset="0"/>
                      </a:endParaRPr>
                    </a:p>
                    <a:p>
                      <a:pPr marL="0" marR="0">
                        <a:lnSpc>
                          <a:spcPct val="115000"/>
                        </a:lnSpc>
                        <a:buNone/>
                      </a:pPr>
                      <a:r>
                        <a:rPr lang="en-IN" sz="900" b="1" kern="100">
                          <a:effectLst/>
                          <a:latin typeface="+mn-lt"/>
                          <a:ea typeface="Times New Roman" panose="02020603050405020304" pitchFamily="18" charset="0"/>
                          <a:cs typeface="Mangal" panose="02040503050203030202" pitchFamily="18" charset="0"/>
                        </a:rPr>
                        <a:t> </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Verdana" panose="020B0604030504040204" pitchFamily="34" charset="0"/>
                          <a:cs typeface="Mangal" panose="02040503050203030202" pitchFamily="18" charset="0"/>
                        </a:rPr>
                        <a:t>Gujarat State Financial Services Ltd., Finance Dept, GoG</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April 2025-July 2025</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INR 98 Lakhs</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Public Finance &amp; Fiscal Policy Analysis; Public Financial Management (PFM); Research Studies &amp; Policy Advisory; State Finance &amp; Fiscal Sustainability Assessment</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646002753"/>
                  </a:ext>
                </a:extLst>
              </a:tr>
              <a:tr h="784524">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11.</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b="1" kern="100">
                          <a:effectLst/>
                          <a:latin typeface="+mn-lt"/>
                          <a:ea typeface="Times New Roman" panose="02020603050405020304" pitchFamily="18" charset="0"/>
                          <a:cs typeface="Mangal" panose="02040503050203030202" pitchFamily="18" charset="0"/>
                        </a:rPr>
                        <a:t>Project Management Consultant (PMC) for managing Project Management Unit (PMU) of National Data and Analytics Platform (NDAP) Project</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US" sz="900" kern="100">
                          <a:effectLst/>
                          <a:latin typeface="+mn-lt"/>
                          <a:ea typeface="Verdana" panose="020B0604030504040204" pitchFamily="34" charset="0"/>
                          <a:cs typeface="Mangal" panose="02040503050203030202" pitchFamily="18" charset="0"/>
                        </a:rPr>
                        <a:t>NITI Ayog</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August 2022- Ongoing</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INR 82 Lakhs</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Public Financial Management (PFM); Research Studies &amp; Policy Advisory</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074228120"/>
                  </a:ext>
                </a:extLst>
              </a:tr>
              <a:tr h="784524">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12.</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b="1" kern="100">
                          <a:solidFill>
                            <a:srgbClr val="000000"/>
                          </a:solidFill>
                          <a:effectLst/>
                          <a:latin typeface="+mn-lt"/>
                          <a:ea typeface="Times New Roman" panose="02020603050405020304" pitchFamily="18" charset="0"/>
                          <a:cs typeface="Mangal" panose="02040503050203030202" pitchFamily="18" charset="0"/>
                        </a:rPr>
                        <a:t>Preparation of Memorandum for 16th Finance Commission (FC) for Government of West Bengal</a:t>
                      </a:r>
                      <a:endParaRPr lang="en-IN" sz="900" b="1"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US" sz="900" kern="100">
                          <a:effectLst/>
                          <a:latin typeface="+mn-lt"/>
                          <a:ea typeface="Verdana" panose="020B0604030504040204" pitchFamily="34" charset="0"/>
                          <a:cs typeface="Mangal" panose="02040503050203030202" pitchFamily="18" charset="0"/>
                        </a:rPr>
                        <a:t>Government of West Bengal</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January 2025- July 2025</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INR 60 Lakhs</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Public Finance &amp; Fiscal Policy Analysis; Research Studies &amp; Policy Advisory; State Finance &amp; Fiscal Sustainability Assessment</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095432095"/>
                  </a:ext>
                </a:extLst>
              </a:tr>
              <a:tr h="784524">
                <a:tc>
                  <a:txBody>
                    <a:bodyPr/>
                    <a:lstStyle/>
                    <a:p>
                      <a:pPr marL="0" marR="0">
                        <a:lnSpc>
                          <a:spcPct val="115000"/>
                        </a:lnSpc>
                        <a:buNone/>
                      </a:pPr>
                      <a:r>
                        <a:rPr lang="en-US" sz="900" kern="100">
                          <a:effectLst/>
                          <a:latin typeface="+mn-lt"/>
                          <a:ea typeface="Times New Roman" panose="02020603050405020304" pitchFamily="18" charset="0"/>
                          <a:cs typeface="Mangal" panose="02040503050203030202" pitchFamily="18" charset="0"/>
                        </a:rPr>
                        <a:t>13.</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b="1" kern="100">
                          <a:solidFill>
                            <a:srgbClr val="000000"/>
                          </a:solidFill>
                          <a:effectLst/>
                          <a:latin typeface="+mn-lt"/>
                          <a:ea typeface="Times New Roman" panose="02020603050405020304" pitchFamily="18" charset="0"/>
                          <a:cs typeface="Mangal" panose="02040503050203030202" pitchFamily="18" charset="0"/>
                        </a:rPr>
                        <a:t>Preparation of Memorandum for 15th Finance Commission (FC) for Government of Gujarat</a:t>
                      </a:r>
                      <a:endParaRPr lang="en-IN" sz="900" b="1"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US" sz="900" kern="100">
                          <a:effectLst/>
                          <a:latin typeface="+mn-lt"/>
                          <a:ea typeface="Verdana" panose="020B0604030504040204" pitchFamily="34" charset="0"/>
                          <a:cs typeface="Mangal" panose="02040503050203030202" pitchFamily="18" charset="0"/>
                        </a:rPr>
                        <a:t>Government of Gujarat</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March 2018-July 2018</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INR 60 Lakhs</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Public Finance &amp; Fiscal Policy Analysis; Research Studies &amp; Policy Advisory; State Finance &amp; Fiscal Sustainability Assessment</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248647345"/>
                  </a:ext>
                </a:extLst>
              </a:tr>
              <a:tr h="784524">
                <a:tc>
                  <a:txBody>
                    <a:bodyPr/>
                    <a:lstStyle/>
                    <a:p>
                      <a:pPr marL="0" marR="0">
                        <a:lnSpc>
                          <a:spcPct val="115000"/>
                        </a:lnSpc>
                        <a:buNone/>
                      </a:pPr>
                      <a:r>
                        <a:rPr lang="en-US" sz="900" kern="100">
                          <a:effectLst/>
                          <a:latin typeface="+mn-lt"/>
                          <a:ea typeface="Times New Roman" panose="02020603050405020304" pitchFamily="18" charset="0"/>
                          <a:cs typeface="Mangal" panose="02040503050203030202" pitchFamily="18" charset="0"/>
                        </a:rPr>
                        <a:t>14.</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buNone/>
                      </a:pPr>
                      <a:r>
                        <a:rPr lang="en-IN" sz="900" b="1" kern="100">
                          <a:effectLst/>
                          <a:latin typeface="+mn-lt"/>
                          <a:ea typeface="Times New Roman" panose="02020603050405020304" pitchFamily="18" charset="0"/>
                          <a:cs typeface="Mangal" panose="02040503050203030202" pitchFamily="18" charset="0"/>
                        </a:rPr>
                        <a:t>Project Management Unit (PMU) at Vapi Municipal Corporation</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Verdana" panose="020B0604030504040204" pitchFamily="34" charset="0"/>
                          <a:cs typeface="Mangal" panose="02040503050203030202" pitchFamily="18" charset="0"/>
                        </a:rPr>
                        <a:t>Vapi Municipal Corporation</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March 2026-Ongoing</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INR 2 Crore</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Public Financial Management (PFM); State Finance &amp; Fiscal Sustainability Assessment</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339995136"/>
                  </a:ext>
                </a:extLst>
              </a:tr>
              <a:tr h="784524">
                <a:tc>
                  <a:txBody>
                    <a:bodyPr/>
                    <a:lstStyle/>
                    <a:p>
                      <a:pPr marL="0" marR="0">
                        <a:lnSpc>
                          <a:spcPct val="115000"/>
                        </a:lnSpc>
                        <a:buNone/>
                      </a:pPr>
                      <a:r>
                        <a:rPr lang="en-US" sz="900" kern="100">
                          <a:effectLst/>
                          <a:latin typeface="+mn-lt"/>
                          <a:ea typeface="Times New Roman" panose="02020603050405020304" pitchFamily="18" charset="0"/>
                          <a:cs typeface="Mangal" panose="02040503050203030202" pitchFamily="18" charset="0"/>
                        </a:rPr>
                        <a:t>15.</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buNone/>
                      </a:pPr>
                      <a:r>
                        <a:rPr lang="en-IN" sz="900" b="1" kern="100">
                          <a:effectLst/>
                          <a:latin typeface="+mn-lt"/>
                          <a:ea typeface="Times New Roman" panose="02020603050405020304" pitchFamily="18" charset="0"/>
                          <a:cs typeface="Mangal" panose="02040503050203030202" pitchFamily="18" charset="0"/>
                        </a:rPr>
                        <a:t>Facilitation of Transition  to GST in Commercial Tax Department, West Bengal</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Verdana" panose="020B0604030504040204" pitchFamily="34" charset="0"/>
                          <a:cs typeface="Mangal" panose="02040503050203030202" pitchFamily="18" charset="0"/>
                        </a:rPr>
                        <a:t>Government of West Bengal</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September 2016-October 2017</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INR 6.72 Crore</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Public Finance &amp; Fiscal Policy Analysis; Public Financial Management (PFM); Research Studies &amp; Policy Advisory</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352199804"/>
                  </a:ext>
                </a:extLst>
              </a:tr>
            </a:tbl>
          </a:graphicData>
        </a:graphic>
      </p:graphicFrame>
      <p:cxnSp>
        <p:nvCxnSpPr>
          <p:cNvPr id="2" name="Straight Arrow Connector 1">
            <a:extLst>
              <a:ext uri="{FF2B5EF4-FFF2-40B4-BE49-F238E27FC236}">
                <a16:creationId xmlns:a16="http://schemas.microsoft.com/office/drawing/2014/main" id="{D3270B4C-FD1D-D5E2-E4B4-3EF67B6C467F}"/>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2691D890-C09A-A917-E9D5-F5906974DACB}"/>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ea typeface="+mj-ea"/>
                <a:cs typeface="Calibri" panose="020F0502020204030204" pitchFamily="34" charset="0"/>
              </a:rPr>
              <a:t>Our Experience – Summary Table (3/7)</a:t>
            </a:r>
          </a:p>
        </p:txBody>
      </p:sp>
    </p:spTree>
    <p:extLst>
      <p:ext uri="{BB962C8B-B14F-4D97-AF65-F5344CB8AC3E}">
        <p14:creationId xmlns:p14="http://schemas.microsoft.com/office/powerpoint/2010/main" val="3547198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F093E-77DD-5E91-A7FE-83DA9B6C248B}"/>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54A25499-745A-194C-C1C2-BC0DEE46B6DD}"/>
              </a:ext>
            </a:extLst>
          </p:cNvPr>
          <p:cNvGraphicFramePr>
            <a:graphicFrameLocks noGrp="1"/>
          </p:cNvGraphicFramePr>
          <p:nvPr>
            <p:extLst>
              <p:ext uri="{D42A27DB-BD31-4B8C-83A1-F6EECF244321}">
                <p14:modId xmlns:p14="http://schemas.microsoft.com/office/powerpoint/2010/main" val="3214644489"/>
              </p:ext>
            </p:extLst>
          </p:nvPr>
        </p:nvGraphicFramePr>
        <p:xfrm>
          <a:off x="203256" y="775502"/>
          <a:ext cx="11655277" cy="5522278"/>
        </p:xfrm>
        <a:graphic>
          <a:graphicData uri="http://schemas.openxmlformats.org/drawingml/2006/table">
            <a:tbl>
              <a:tblPr/>
              <a:tblGrid>
                <a:gridCol w="401031">
                  <a:extLst>
                    <a:ext uri="{9D8B030D-6E8A-4147-A177-3AD203B41FA5}">
                      <a16:colId xmlns:a16="http://schemas.microsoft.com/office/drawing/2014/main" val="4000896496"/>
                    </a:ext>
                  </a:extLst>
                </a:gridCol>
                <a:gridCol w="2661427">
                  <a:extLst>
                    <a:ext uri="{9D8B030D-6E8A-4147-A177-3AD203B41FA5}">
                      <a16:colId xmlns:a16="http://schemas.microsoft.com/office/drawing/2014/main" val="452018545"/>
                    </a:ext>
                  </a:extLst>
                </a:gridCol>
                <a:gridCol w="1687286">
                  <a:extLst>
                    <a:ext uri="{9D8B030D-6E8A-4147-A177-3AD203B41FA5}">
                      <a16:colId xmlns:a16="http://schemas.microsoft.com/office/drawing/2014/main" val="3087042761"/>
                    </a:ext>
                  </a:extLst>
                </a:gridCol>
                <a:gridCol w="1240971">
                  <a:extLst>
                    <a:ext uri="{9D8B030D-6E8A-4147-A177-3AD203B41FA5}">
                      <a16:colId xmlns:a16="http://schemas.microsoft.com/office/drawing/2014/main" val="235996618"/>
                    </a:ext>
                  </a:extLst>
                </a:gridCol>
                <a:gridCol w="1132115">
                  <a:extLst>
                    <a:ext uri="{9D8B030D-6E8A-4147-A177-3AD203B41FA5}">
                      <a16:colId xmlns:a16="http://schemas.microsoft.com/office/drawing/2014/main" val="836447491"/>
                    </a:ext>
                  </a:extLst>
                </a:gridCol>
                <a:gridCol w="1632857">
                  <a:extLst>
                    <a:ext uri="{9D8B030D-6E8A-4147-A177-3AD203B41FA5}">
                      <a16:colId xmlns:a16="http://schemas.microsoft.com/office/drawing/2014/main" val="3515562831"/>
                    </a:ext>
                  </a:extLst>
                </a:gridCol>
                <a:gridCol w="2899590">
                  <a:extLst>
                    <a:ext uri="{9D8B030D-6E8A-4147-A177-3AD203B41FA5}">
                      <a16:colId xmlns:a16="http://schemas.microsoft.com/office/drawing/2014/main" val="3998241564"/>
                    </a:ext>
                  </a:extLst>
                </a:gridCol>
              </a:tblGrid>
              <a:tr h="528998">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algn="ctr" fontAlgn="t"/>
                      <a:r>
                        <a:rPr lang="en-IN" sz="900" b="1" u="none" strike="noStrike">
                          <a:solidFill>
                            <a:schemeClr val="bg1"/>
                          </a:solidFill>
                          <a:effectLst/>
                          <a:latin typeface="+mn-lt"/>
                          <a:ea typeface="Verdana" panose="020B0604030504040204" pitchFamily="34" charset="0"/>
                        </a:rPr>
                        <a:t>S. No.</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algn="ctr" fontAlgn="t"/>
                      <a:r>
                        <a:rPr lang="en-IN" sz="900" b="1" u="none" strike="noStrike">
                          <a:solidFill>
                            <a:schemeClr val="bg1"/>
                          </a:solidFill>
                          <a:effectLst/>
                          <a:latin typeface="+mn-lt"/>
                          <a:ea typeface="Verdana" panose="020B0604030504040204" pitchFamily="34" charset="0"/>
                        </a:rPr>
                        <a:t>Study Title</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IN" sz="900" b="1" i="0" u="none" strike="noStrike">
                          <a:solidFill>
                            <a:schemeClr val="bg1"/>
                          </a:solidFill>
                          <a:effectLst/>
                          <a:latin typeface="+mn-lt"/>
                          <a:ea typeface="Verdana" panose="020B0604030504040204" pitchFamily="34" charset="0"/>
                        </a:rPr>
                        <a:t>Name of the Organisation</a:t>
                      </a: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US" sz="900" b="1" i="0" u="none" strike="noStrike">
                          <a:solidFill>
                            <a:schemeClr val="bg1"/>
                          </a:solidFill>
                          <a:effectLst/>
                          <a:latin typeface="+mn-lt"/>
                          <a:ea typeface="Verdana" panose="020B0604030504040204" pitchFamily="34" charset="0"/>
                        </a:rPr>
                        <a:t>Month/Year</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US" sz="900" b="1" i="0" u="none" strike="noStrike">
                          <a:solidFill>
                            <a:schemeClr val="bg1"/>
                          </a:solidFill>
                          <a:effectLst/>
                          <a:latin typeface="+mn-lt"/>
                          <a:ea typeface="Verdana" panose="020B0604030504040204" pitchFamily="34" charset="0"/>
                        </a:rPr>
                        <a:t>Amount/Budget</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IN" sz="900" b="1" i="0" u="none" strike="noStrike">
                          <a:solidFill>
                            <a:schemeClr val="bg1"/>
                          </a:solidFill>
                          <a:effectLst/>
                          <a:latin typeface="+mn-lt"/>
                          <a:ea typeface="Verdana" panose="020B0604030504040204" pitchFamily="34" charset="0"/>
                        </a:rPr>
                        <a:t>Publications in Journals</a:t>
                      </a: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IN" sz="900" b="1" i="0" u="none" strike="noStrike" kern="1200">
                          <a:solidFill>
                            <a:schemeClr val="bg1"/>
                          </a:solidFill>
                          <a:effectLst/>
                          <a:latin typeface="+mn-lt"/>
                          <a:ea typeface="Verdana" panose="020B0604030504040204" pitchFamily="34" charset="0"/>
                          <a:cs typeface="+mn-cs"/>
                        </a:rPr>
                        <a:t>Subject and Themes</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extLst>
                  <a:ext uri="{0D108BD9-81ED-4DB2-BD59-A6C34878D82A}">
                    <a16:rowId xmlns:a16="http://schemas.microsoft.com/office/drawing/2014/main" val="185327338"/>
                  </a:ext>
                </a:extLst>
              </a:tr>
              <a:tr h="411383">
                <a:tc gridSpan="7">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900" b="1" i="0" u="none" strike="noStrike" kern="1200">
                          <a:solidFill>
                            <a:schemeClr val="bg1"/>
                          </a:solidFill>
                          <a:effectLst/>
                          <a:latin typeface="+mn-lt"/>
                          <a:ea typeface="+mn-ea"/>
                          <a:cs typeface="+mn-cs"/>
                        </a:rPr>
                        <a:t>Experience of the Organization in conducting research Projects/Reports in the areas of this subject/theme for Reputed institutes and publications in the last 10 years.</a:t>
                      </a: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marL="0" marR="0" lvl="0" indent="0" algn="ctr" defTabSz="914400" rtl="0" eaLnBrk="1" fontAlgn="t" latinLnBrk="0" hangingPunct="1">
                        <a:lnSpc>
                          <a:spcPts val="1200"/>
                        </a:lnSpc>
                        <a:spcBef>
                          <a:spcPts val="0"/>
                        </a:spcBef>
                        <a:spcAft>
                          <a:spcPts val="0"/>
                        </a:spcAft>
                        <a:buClrTx/>
                        <a:buSzTx/>
                        <a:buFontTx/>
                        <a:buNone/>
                        <a:tabLst/>
                        <a:defRPr/>
                      </a:pPr>
                      <a:endParaRPr lang="en-US" sz="900" u="none" strike="noStrike" kern="1200">
                        <a:solidFill>
                          <a:schemeClr val="tx1"/>
                        </a:solidFill>
                        <a:effectLst/>
                        <a:latin typeface="Verdana" panose="020B0604030504040204" pitchFamily="34" charset="0"/>
                        <a:ea typeface="Verdana" panose="020B0604030504040204" pitchFamily="34" charset="0"/>
                        <a:cs typeface="+mn-cs"/>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endParaRPr lang="en-IN"/>
                    </a:p>
                  </a:txBody>
                  <a:tcPr>
                    <a:lnL w="12700" cap="flat" cmpd="sng" algn="ctr">
                      <a:solidFill>
                        <a:srgbClr val="0097A9"/>
                      </a:solidFill>
                      <a:prstDash val="solid"/>
                      <a:round/>
                      <a:headEnd type="none" w="med" len="med"/>
                      <a:tailEnd type="none" w="med" len="med"/>
                    </a:lnL>
                    <a:lnT w="12700" cap="flat" cmpd="sng" algn="ctr">
                      <a:solidFill>
                        <a:srgbClr val="0097A9"/>
                      </a:solidFill>
                      <a:prstDash val="solid"/>
                      <a:round/>
                      <a:headEnd type="none" w="med" len="med"/>
                      <a:tailEnd type="none" w="med" len="med"/>
                    </a:lnT>
                  </a:tcPr>
                </a:tc>
                <a:tc hMerge="1">
                  <a:txBody>
                    <a:bodyPr/>
                    <a:lstStyle/>
                    <a:p>
                      <a:endParaRPr lang="en-IN"/>
                    </a:p>
                  </a:txBody>
                  <a:tcPr>
                    <a:lnL w="12700" cap="flat" cmpd="sng" algn="ctr">
                      <a:solidFill>
                        <a:srgbClr val="0097A9"/>
                      </a:solidFill>
                      <a:prstDash val="solid"/>
                      <a:round/>
                      <a:headEnd type="none" w="med" len="med"/>
                      <a:tailEnd type="none" w="med" len="med"/>
                    </a:lnL>
                    <a:lnT w="12700" cap="flat" cmpd="sng" algn="ctr">
                      <a:solidFill>
                        <a:srgbClr val="0097A9"/>
                      </a:solidFill>
                      <a:prstDash val="solid"/>
                      <a:round/>
                      <a:headEnd type="none" w="med" len="med"/>
                      <a:tailEnd type="none" w="med" len="med"/>
                    </a:lnT>
                  </a:tcPr>
                </a:tc>
                <a:tc hMerge="1">
                  <a:txBody>
                    <a:bodyPr/>
                    <a:lstStyle/>
                    <a:p>
                      <a:endParaRPr lang="en-IN"/>
                    </a:p>
                  </a:txBody>
                  <a:tcPr>
                    <a:lnL w="12700" cap="flat" cmpd="sng" algn="ctr">
                      <a:solidFill>
                        <a:srgbClr val="0097A9"/>
                      </a:solidFill>
                      <a:prstDash val="solid"/>
                      <a:round/>
                      <a:headEnd type="none" w="med" len="med"/>
                      <a:tailEnd type="none" w="med" len="med"/>
                    </a:lnL>
                    <a:lnT w="12700" cap="flat" cmpd="sng" algn="ctr">
                      <a:solidFill>
                        <a:srgbClr val="0097A9"/>
                      </a:solidFill>
                      <a:prstDash val="solid"/>
                      <a:round/>
                      <a:headEnd type="none" w="med" len="med"/>
                      <a:tailEnd type="none" w="med" len="med"/>
                    </a:lnT>
                  </a:tcPr>
                </a:tc>
                <a:tc hMerge="1">
                  <a:txBody>
                    <a:bodyPr/>
                    <a:lstStyle/>
                    <a:p>
                      <a:endParaRPr lang="en-IN"/>
                    </a:p>
                  </a:txBody>
                  <a:tcPr>
                    <a:lnL w="12700" cap="flat" cmpd="sng" algn="ctr">
                      <a:solidFill>
                        <a:srgbClr val="0097A9"/>
                      </a:solidFill>
                      <a:prstDash val="solid"/>
                      <a:round/>
                      <a:headEnd type="none" w="med" len="med"/>
                      <a:tailEnd type="none" w="med" len="med"/>
                    </a:lnL>
                    <a:lnT w="12700" cap="flat" cmpd="sng" algn="ctr">
                      <a:solidFill>
                        <a:srgbClr val="0097A9"/>
                      </a:solidFill>
                      <a:prstDash val="solid"/>
                      <a:round/>
                      <a:headEnd type="none" w="med" len="med"/>
                      <a:tailEnd type="none" w="med" len="med"/>
                    </a:lnT>
                  </a:tcPr>
                </a:tc>
                <a:tc hMerge="1">
                  <a:txBody>
                    <a:bodyPr/>
                    <a:lstStyle/>
                    <a:p>
                      <a:pPr marL="0" marR="0" lvl="0" indent="0" algn="l" defTabSz="914400" rtl="0" eaLnBrk="1" fontAlgn="t" latinLnBrk="0" hangingPunct="1">
                        <a:lnSpc>
                          <a:spcPct val="100000"/>
                        </a:lnSpc>
                        <a:spcBef>
                          <a:spcPts val="0"/>
                        </a:spcBef>
                        <a:spcAft>
                          <a:spcPts val="0"/>
                        </a:spcAft>
                        <a:buClrTx/>
                        <a:buSzTx/>
                        <a:buFontTx/>
                        <a:buNone/>
                        <a:tabLst/>
                        <a:defRPr/>
                      </a:pPr>
                      <a:endParaRPr lang="en-US" sz="1050" b="1" i="0" u="none" strike="noStrike" kern="1200">
                        <a:solidFill>
                          <a:schemeClr val="bg1"/>
                        </a:solidFill>
                        <a:effectLst/>
                        <a:latin typeface="Verdana"/>
                        <a:ea typeface="+mn-ea"/>
                        <a:cs typeface="+mn-cs"/>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555622006"/>
                  </a:ext>
                </a:extLst>
              </a:tr>
              <a:tr h="905067">
                <a:tc>
                  <a:txBody>
                    <a:bodyPr/>
                    <a:lstStyle/>
                    <a:p>
                      <a:pPr marL="0" marR="0">
                        <a:lnSpc>
                          <a:spcPct val="115000"/>
                        </a:lnSpc>
                        <a:buNone/>
                      </a:pPr>
                      <a:r>
                        <a:rPr lang="en-US" sz="900" kern="100">
                          <a:effectLst/>
                          <a:latin typeface="+mn-lt"/>
                          <a:ea typeface="Times New Roman" panose="02020603050405020304" pitchFamily="18" charset="0"/>
                          <a:cs typeface="Mangal" panose="02040503050203030202" pitchFamily="18" charset="0"/>
                        </a:rPr>
                        <a:t>16.</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buNone/>
                      </a:pPr>
                      <a:r>
                        <a:rPr lang="en-IN" sz="900" b="1" kern="100">
                          <a:effectLst/>
                          <a:latin typeface="+mn-lt"/>
                          <a:ea typeface="Times New Roman" panose="02020603050405020304" pitchFamily="18" charset="0"/>
                          <a:cs typeface="Mangal" panose="02040503050203030202" pitchFamily="18" charset="0"/>
                        </a:rPr>
                        <a:t>East Coast Economic Corridor Development in the State of Andhra Pradesh </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Verdana" panose="020B0604030504040204" pitchFamily="34" charset="0"/>
                          <a:cs typeface="Mangal" panose="02040503050203030202" pitchFamily="18" charset="0"/>
                        </a:rPr>
                        <a:t>Asian Development Bank</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January 2016- May 2018</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i="1" kern="100">
                          <a:effectLst/>
                          <a:latin typeface="+mn-lt"/>
                          <a:ea typeface="Times New Roman" panose="02020603050405020304" pitchFamily="18" charset="0"/>
                          <a:cs typeface="Mangal" panose="02040503050203030202" pitchFamily="18" charset="0"/>
                        </a:rPr>
                        <a:t>INR 59.13 Lakhs</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Research Studies &amp; Policy Advisory; Multilateral Development Project</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646002753"/>
                  </a:ext>
                </a:extLst>
              </a:tr>
              <a:tr h="905067">
                <a:tc>
                  <a:txBody>
                    <a:bodyPr/>
                    <a:lstStyle/>
                    <a:p>
                      <a:pPr marL="0" marR="0">
                        <a:lnSpc>
                          <a:spcPct val="115000"/>
                        </a:lnSpc>
                        <a:buNone/>
                      </a:pPr>
                      <a:r>
                        <a:rPr lang="en-US" sz="900" kern="100">
                          <a:effectLst/>
                          <a:latin typeface="+mn-lt"/>
                          <a:ea typeface="Times New Roman" panose="02020603050405020304" pitchFamily="18" charset="0"/>
                          <a:cs typeface="Mangal" panose="02040503050203030202" pitchFamily="18" charset="0"/>
                        </a:rPr>
                        <a:t>.7</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buNone/>
                      </a:pPr>
                      <a:r>
                        <a:rPr lang="en-IN" sz="900" b="1" kern="100">
                          <a:effectLst/>
                          <a:latin typeface="+mn-lt"/>
                          <a:ea typeface="Times New Roman" panose="02020603050405020304" pitchFamily="18" charset="0"/>
                          <a:cs typeface="Mangal" panose="02040503050203030202" pitchFamily="18" charset="0"/>
                        </a:rPr>
                        <a:t>Project Management Support to the Logistics Division</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Verdana" panose="020B0604030504040204" pitchFamily="34" charset="0"/>
                          <a:cs typeface="Mangal" panose="02040503050203030202" pitchFamily="18" charset="0"/>
                        </a:rPr>
                        <a:t>Asian Development Bank and Government of India</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November 2020-June 2021</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INR 78.2 Lakhs</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Research Studies &amp; Policy Advisory; Multilateral Development Project</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074228120"/>
                  </a:ext>
                </a:extLst>
              </a:tr>
              <a:tr h="905067">
                <a:tc>
                  <a:txBody>
                    <a:bodyPr/>
                    <a:lstStyle/>
                    <a:p>
                      <a:pPr marL="0" marR="0">
                        <a:lnSpc>
                          <a:spcPct val="115000"/>
                        </a:lnSpc>
                        <a:buNone/>
                      </a:pPr>
                      <a:r>
                        <a:rPr lang="en-US" sz="900" kern="100">
                          <a:effectLst/>
                          <a:latin typeface="+mn-lt"/>
                          <a:ea typeface="Times New Roman" panose="02020603050405020304" pitchFamily="18" charset="0"/>
                          <a:cs typeface="Mangal" panose="02040503050203030202" pitchFamily="18" charset="0"/>
                        </a:rPr>
                        <a:t>18.</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buNone/>
                      </a:pPr>
                      <a:r>
                        <a:rPr lang="en-IN" sz="900" b="1" kern="100">
                          <a:effectLst/>
                          <a:latin typeface="+mn-lt"/>
                          <a:ea typeface="Times New Roman" panose="02020603050405020304" pitchFamily="18" charset="0"/>
                          <a:cs typeface="Mangal" panose="02040503050203030202" pitchFamily="18" charset="0"/>
                        </a:rPr>
                        <a:t>Ranking States on the Basis of Their Logistics Efficiency – LEADS 2019</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Verdana" panose="020B0604030504040204" pitchFamily="34" charset="0"/>
                          <a:cs typeface="Mangal" panose="02040503050203030202" pitchFamily="18" charset="0"/>
                        </a:rPr>
                        <a:t>Department of Commerce, Ministry of Commerce and Industry (MoCI), Government of India</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August 2018- March 2019</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INR 79 Lakhs</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Research Studies &amp; Policy Advisory</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095432095"/>
                  </a:ext>
                </a:extLst>
              </a:tr>
              <a:tr h="961629">
                <a:tc>
                  <a:txBody>
                    <a:bodyPr/>
                    <a:lstStyle/>
                    <a:p>
                      <a:pPr marL="0" marR="0">
                        <a:lnSpc>
                          <a:spcPct val="115000"/>
                        </a:lnSpc>
                        <a:buNone/>
                      </a:pPr>
                      <a:r>
                        <a:rPr lang="en-US" sz="900" kern="100">
                          <a:effectLst/>
                          <a:latin typeface="+mn-lt"/>
                          <a:ea typeface="Times New Roman" panose="02020603050405020304" pitchFamily="18" charset="0"/>
                          <a:cs typeface="Mangal" panose="02040503050203030202" pitchFamily="18" charset="0"/>
                        </a:rPr>
                        <a:t>19</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buNone/>
                      </a:pPr>
                      <a:r>
                        <a:rPr lang="en-IN" sz="900" b="1" kern="100">
                          <a:effectLst/>
                          <a:latin typeface="+mn-lt"/>
                          <a:ea typeface="Times New Roman" panose="02020603050405020304" pitchFamily="18" charset="0"/>
                          <a:cs typeface="Mangal" panose="02040503050203030202" pitchFamily="18" charset="0"/>
                        </a:rPr>
                        <a:t>Project Management Unit for Finance Department, Government of Rajasthan</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kern="100">
                          <a:effectLst/>
                          <a:latin typeface="+mn-lt"/>
                          <a:ea typeface="Verdana" panose="020B0604030504040204" pitchFamily="34" charset="0"/>
                          <a:cs typeface="Mangal" panose="02040503050203030202" pitchFamily="18" charset="0"/>
                        </a:rPr>
                        <a:t>Finance Department, Government of Rajasthan</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March 2024-September 2025</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INR 4.47 Crore</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https://finance.rajasthan.gov.in/PDFDOCS/TAX/CCT/14791.pdf</a:t>
                      </a:r>
                      <a:endParaRPr lang="en-IN" sz="900" kern="100">
                        <a:effectLst/>
                        <a:latin typeface="+mn-lt"/>
                        <a:ea typeface="Times New Roman" panose="02020603050405020304" pitchFamily="18" charset="0"/>
                        <a:cs typeface="Mangal" panose="02040503050203030202" pitchFamily="18" charset="0"/>
                      </a:endParaRPr>
                    </a:p>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Rajasthan Legislative Assembly</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Public Finance &amp; Fiscal Policy Analysis; Public Financial Management (PFM); State Finance &amp; Fiscal Sustainability Assessment</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248647345"/>
                  </a:ext>
                </a:extLst>
              </a:tr>
              <a:tr h="905067">
                <a:tc>
                  <a:txBody>
                    <a:bodyPr/>
                    <a:lstStyle/>
                    <a:p>
                      <a:pPr marL="0" marR="0">
                        <a:lnSpc>
                          <a:spcPct val="115000"/>
                        </a:lnSpc>
                        <a:buNone/>
                      </a:pPr>
                      <a:r>
                        <a:rPr lang="en-US" sz="900" kern="100">
                          <a:effectLst/>
                          <a:latin typeface="+mn-lt"/>
                          <a:ea typeface="Times New Roman" panose="02020603050405020304" pitchFamily="18" charset="0"/>
                          <a:cs typeface="Mangal" panose="02040503050203030202" pitchFamily="18" charset="0"/>
                        </a:rPr>
                        <a:t>20.</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buNone/>
                      </a:pPr>
                      <a:r>
                        <a:rPr lang="en-IN" sz="900" b="1" kern="100">
                          <a:effectLst/>
                          <a:latin typeface="+mn-lt"/>
                          <a:ea typeface="Times New Roman" panose="02020603050405020304" pitchFamily="18" charset="0"/>
                          <a:cs typeface="Mangal" panose="02040503050203030202" pitchFamily="18" charset="0"/>
                        </a:rPr>
                        <a:t>Strengthening Decentralized Participative Planning in Government of Rajasthan</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kern="100">
                          <a:effectLst/>
                          <a:latin typeface="+mn-lt"/>
                          <a:ea typeface="Verdana" panose="020B0604030504040204" pitchFamily="34" charset="0"/>
                          <a:cs typeface="Mangal" panose="02040503050203030202" pitchFamily="18" charset="0"/>
                        </a:rPr>
                        <a:t>Finance Department, Government of Rajasthan</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June 2018-May 2021</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INR 6.93 Crore</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Public Finance &amp; Fiscal Policy Analysis; Public Financial Management (PFM); Research Studies &amp; Policy Advisory; State Finance &amp; Fiscal Sustainability Assessment</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339995136"/>
                  </a:ext>
                </a:extLst>
              </a:tr>
            </a:tbl>
          </a:graphicData>
        </a:graphic>
      </p:graphicFrame>
      <p:cxnSp>
        <p:nvCxnSpPr>
          <p:cNvPr id="2" name="Straight Arrow Connector 1">
            <a:extLst>
              <a:ext uri="{FF2B5EF4-FFF2-40B4-BE49-F238E27FC236}">
                <a16:creationId xmlns:a16="http://schemas.microsoft.com/office/drawing/2014/main" id="{F5127A40-F744-E42C-ED47-FA6FDFB849CE}"/>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5848FBE1-90F8-C208-01E5-5C3738DC1533}"/>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ea typeface="+mj-ea"/>
                <a:cs typeface="Calibri" panose="020F0502020204030204" pitchFamily="34" charset="0"/>
              </a:rPr>
              <a:t>Our Experience – Summary Table (4/7)</a:t>
            </a:r>
          </a:p>
        </p:txBody>
      </p:sp>
    </p:spTree>
    <p:extLst>
      <p:ext uri="{BB962C8B-B14F-4D97-AF65-F5344CB8AC3E}">
        <p14:creationId xmlns:p14="http://schemas.microsoft.com/office/powerpoint/2010/main" val="15312073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0ADA0-9C76-0FFC-2781-988D4F32791E}"/>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3B375616-9126-201A-FFA3-FC63B35992F6}"/>
              </a:ext>
            </a:extLst>
          </p:cNvPr>
          <p:cNvGraphicFramePr>
            <a:graphicFrameLocks noGrp="1"/>
          </p:cNvGraphicFramePr>
          <p:nvPr>
            <p:extLst>
              <p:ext uri="{D42A27DB-BD31-4B8C-83A1-F6EECF244321}">
                <p14:modId xmlns:p14="http://schemas.microsoft.com/office/powerpoint/2010/main" val="1014738680"/>
              </p:ext>
            </p:extLst>
          </p:nvPr>
        </p:nvGraphicFramePr>
        <p:xfrm>
          <a:off x="203256" y="775501"/>
          <a:ext cx="11655277" cy="5691399"/>
        </p:xfrm>
        <a:graphic>
          <a:graphicData uri="http://schemas.openxmlformats.org/drawingml/2006/table">
            <a:tbl>
              <a:tblPr/>
              <a:tblGrid>
                <a:gridCol w="401031">
                  <a:extLst>
                    <a:ext uri="{9D8B030D-6E8A-4147-A177-3AD203B41FA5}">
                      <a16:colId xmlns:a16="http://schemas.microsoft.com/office/drawing/2014/main" val="4000896496"/>
                    </a:ext>
                  </a:extLst>
                </a:gridCol>
                <a:gridCol w="2661427">
                  <a:extLst>
                    <a:ext uri="{9D8B030D-6E8A-4147-A177-3AD203B41FA5}">
                      <a16:colId xmlns:a16="http://schemas.microsoft.com/office/drawing/2014/main" val="452018545"/>
                    </a:ext>
                  </a:extLst>
                </a:gridCol>
                <a:gridCol w="1687286">
                  <a:extLst>
                    <a:ext uri="{9D8B030D-6E8A-4147-A177-3AD203B41FA5}">
                      <a16:colId xmlns:a16="http://schemas.microsoft.com/office/drawing/2014/main" val="3087042761"/>
                    </a:ext>
                  </a:extLst>
                </a:gridCol>
                <a:gridCol w="1240971">
                  <a:extLst>
                    <a:ext uri="{9D8B030D-6E8A-4147-A177-3AD203B41FA5}">
                      <a16:colId xmlns:a16="http://schemas.microsoft.com/office/drawing/2014/main" val="235996618"/>
                    </a:ext>
                  </a:extLst>
                </a:gridCol>
                <a:gridCol w="1132115">
                  <a:extLst>
                    <a:ext uri="{9D8B030D-6E8A-4147-A177-3AD203B41FA5}">
                      <a16:colId xmlns:a16="http://schemas.microsoft.com/office/drawing/2014/main" val="836447491"/>
                    </a:ext>
                  </a:extLst>
                </a:gridCol>
                <a:gridCol w="1632857">
                  <a:extLst>
                    <a:ext uri="{9D8B030D-6E8A-4147-A177-3AD203B41FA5}">
                      <a16:colId xmlns:a16="http://schemas.microsoft.com/office/drawing/2014/main" val="3515562831"/>
                    </a:ext>
                  </a:extLst>
                </a:gridCol>
                <a:gridCol w="2899590">
                  <a:extLst>
                    <a:ext uri="{9D8B030D-6E8A-4147-A177-3AD203B41FA5}">
                      <a16:colId xmlns:a16="http://schemas.microsoft.com/office/drawing/2014/main" val="3998241564"/>
                    </a:ext>
                  </a:extLst>
                </a:gridCol>
              </a:tblGrid>
              <a:tr h="545198">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algn="ctr" fontAlgn="t"/>
                      <a:r>
                        <a:rPr lang="en-IN" sz="900" b="1" u="none" strike="noStrike">
                          <a:solidFill>
                            <a:schemeClr val="bg1"/>
                          </a:solidFill>
                          <a:effectLst/>
                          <a:latin typeface="+mn-lt"/>
                          <a:ea typeface="Verdana" panose="020B0604030504040204" pitchFamily="34" charset="0"/>
                        </a:rPr>
                        <a:t>S. No.</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algn="ctr" fontAlgn="t"/>
                      <a:r>
                        <a:rPr lang="en-IN" sz="900" b="1" u="none" strike="noStrike">
                          <a:solidFill>
                            <a:schemeClr val="bg1"/>
                          </a:solidFill>
                          <a:effectLst/>
                          <a:latin typeface="+mn-lt"/>
                          <a:ea typeface="Verdana" panose="020B0604030504040204" pitchFamily="34" charset="0"/>
                        </a:rPr>
                        <a:t>Study Title</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IN" sz="900" b="1" i="0" u="none" strike="noStrike">
                          <a:solidFill>
                            <a:schemeClr val="bg1"/>
                          </a:solidFill>
                          <a:effectLst/>
                          <a:latin typeface="+mn-lt"/>
                          <a:ea typeface="Verdana" panose="020B0604030504040204" pitchFamily="34" charset="0"/>
                        </a:rPr>
                        <a:t>Name of the Organisation</a:t>
                      </a: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US" sz="900" b="1" i="0" u="none" strike="noStrike">
                          <a:solidFill>
                            <a:schemeClr val="bg1"/>
                          </a:solidFill>
                          <a:effectLst/>
                          <a:latin typeface="+mn-lt"/>
                          <a:ea typeface="Verdana" panose="020B0604030504040204" pitchFamily="34" charset="0"/>
                        </a:rPr>
                        <a:t>Month/Year</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US" sz="900" b="1" i="0" u="none" strike="noStrike">
                          <a:solidFill>
                            <a:schemeClr val="bg1"/>
                          </a:solidFill>
                          <a:effectLst/>
                          <a:latin typeface="+mn-lt"/>
                          <a:ea typeface="Verdana" panose="020B0604030504040204" pitchFamily="34" charset="0"/>
                        </a:rPr>
                        <a:t>Amount/Budget</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IN" sz="900" b="1" i="0" u="none" strike="noStrike">
                          <a:solidFill>
                            <a:schemeClr val="bg1"/>
                          </a:solidFill>
                          <a:effectLst/>
                          <a:latin typeface="+mn-lt"/>
                          <a:ea typeface="Verdana" panose="020B0604030504040204" pitchFamily="34" charset="0"/>
                        </a:rPr>
                        <a:t>Publications in Journals</a:t>
                      </a: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IN" sz="900" b="1" i="0" u="none" strike="noStrike" kern="1200">
                          <a:solidFill>
                            <a:schemeClr val="bg1"/>
                          </a:solidFill>
                          <a:effectLst/>
                          <a:latin typeface="+mn-lt"/>
                          <a:ea typeface="Verdana" panose="020B0604030504040204" pitchFamily="34" charset="0"/>
                          <a:cs typeface="+mn-cs"/>
                        </a:rPr>
                        <a:t>Subject and Themes</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extLst>
                  <a:ext uri="{0D108BD9-81ED-4DB2-BD59-A6C34878D82A}">
                    <a16:rowId xmlns:a16="http://schemas.microsoft.com/office/drawing/2014/main" val="185327338"/>
                  </a:ext>
                </a:extLst>
              </a:tr>
              <a:tr h="423982">
                <a:tc gridSpan="7">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900" b="1" i="0" u="none" strike="noStrike" kern="1200">
                          <a:solidFill>
                            <a:schemeClr val="bg1"/>
                          </a:solidFill>
                          <a:effectLst/>
                          <a:latin typeface="+mn-lt"/>
                          <a:ea typeface="+mn-ea"/>
                          <a:cs typeface="+mn-cs"/>
                        </a:rPr>
                        <a:t>Experience of the Organization in conducting research Projects/Reports in similar areas of this subject/theme for Reputed institutes and publications in the last 10 years.</a:t>
                      </a: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marL="0" marR="0" lvl="0" indent="0" algn="ctr" defTabSz="914400" rtl="0" eaLnBrk="1" fontAlgn="t" latinLnBrk="0" hangingPunct="1">
                        <a:lnSpc>
                          <a:spcPts val="1200"/>
                        </a:lnSpc>
                        <a:spcBef>
                          <a:spcPts val="0"/>
                        </a:spcBef>
                        <a:spcAft>
                          <a:spcPts val="0"/>
                        </a:spcAft>
                        <a:buClrTx/>
                        <a:buSzTx/>
                        <a:buFontTx/>
                        <a:buNone/>
                        <a:tabLst/>
                        <a:defRPr/>
                      </a:pPr>
                      <a:endParaRPr lang="en-US" sz="900" u="none" strike="noStrike" kern="1200">
                        <a:solidFill>
                          <a:schemeClr val="tx1"/>
                        </a:solidFill>
                        <a:effectLst/>
                        <a:latin typeface="Verdana" panose="020B0604030504040204" pitchFamily="34" charset="0"/>
                        <a:ea typeface="Verdana" panose="020B0604030504040204" pitchFamily="34" charset="0"/>
                        <a:cs typeface="+mn-cs"/>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endParaRPr lang="en-IN"/>
                    </a:p>
                  </a:txBody>
                  <a:tcPr>
                    <a:lnL w="12700" cap="flat" cmpd="sng" algn="ctr">
                      <a:solidFill>
                        <a:srgbClr val="0097A9"/>
                      </a:solidFill>
                      <a:prstDash val="solid"/>
                      <a:round/>
                      <a:headEnd type="none" w="med" len="med"/>
                      <a:tailEnd type="none" w="med" len="med"/>
                    </a:lnL>
                    <a:lnT w="12700" cap="flat" cmpd="sng" algn="ctr">
                      <a:solidFill>
                        <a:srgbClr val="0097A9"/>
                      </a:solidFill>
                      <a:prstDash val="solid"/>
                      <a:round/>
                      <a:headEnd type="none" w="med" len="med"/>
                      <a:tailEnd type="none" w="med" len="med"/>
                    </a:lnT>
                  </a:tcPr>
                </a:tc>
                <a:tc hMerge="1">
                  <a:txBody>
                    <a:bodyPr/>
                    <a:lstStyle/>
                    <a:p>
                      <a:endParaRPr lang="en-IN"/>
                    </a:p>
                  </a:txBody>
                  <a:tcPr>
                    <a:lnL w="12700" cap="flat" cmpd="sng" algn="ctr">
                      <a:solidFill>
                        <a:srgbClr val="0097A9"/>
                      </a:solidFill>
                      <a:prstDash val="solid"/>
                      <a:round/>
                      <a:headEnd type="none" w="med" len="med"/>
                      <a:tailEnd type="none" w="med" len="med"/>
                    </a:lnL>
                    <a:lnT w="12700" cap="flat" cmpd="sng" algn="ctr">
                      <a:solidFill>
                        <a:srgbClr val="0097A9"/>
                      </a:solidFill>
                      <a:prstDash val="solid"/>
                      <a:round/>
                      <a:headEnd type="none" w="med" len="med"/>
                      <a:tailEnd type="none" w="med" len="med"/>
                    </a:lnT>
                  </a:tcPr>
                </a:tc>
                <a:tc hMerge="1">
                  <a:txBody>
                    <a:bodyPr/>
                    <a:lstStyle/>
                    <a:p>
                      <a:endParaRPr lang="en-IN"/>
                    </a:p>
                  </a:txBody>
                  <a:tcPr>
                    <a:lnL w="12700" cap="flat" cmpd="sng" algn="ctr">
                      <a:solidFill>
                        <a:srgbClr val="0097A9"/>
                      </a:solidFill>
                      <a:prstDash val="solid"/>
                      <a:round/>
                      <a:headEnd type="none" w="med" len="med"/>
                      <a:tailEnd type="none" w="med" len="med"/>
                    </a:lnL>
                    <a:lnT w="12700" cap="flat" cmpd="sng" algn="ctr">
                      <a:solidFill>
                        <a:srgbClr val="0097A9"/>
                      </a:solidFill>
                      <a:prstDash val="solid"/>
                      <a:round/>
                      <a:headEnd type="none" w="med" len="med"/>
                      <a:tailEnd type="none" w="med" len="med"/>
                    </a:lnT>
                  </a:tcPr>
                </a:tc>
                <a:tc hMerge="1">
                  <a:txBody>
                    <a:bodyPr/>
                    <a:lstStyle/>
                    <a:p>
                      <a:endParaRPr lang="en-IN"/>
                    </a:p>
                  </a:txBody>
                  <a:tcPr>
                    <a:lnL w="12700" cap="flat" cmpd="sng" algn="ctr">
                      <a:solidFill>
                        <a:srgbClr val="0097A9"/>
                      </a:solidFill>
                      <a:prstDash val="solid"/>
                      <a:round/>
                      <a:headEnd type="none" w="med" len="med"/>
                      <a:tailEnd type="none" w="med" len="med"/>
                    </a:lnL>
                    <a:lnT w="12700" cap="flat" cmpd="sng" algn="ctr">
                      <a:solidFill>
                        <a:srgbClr val="0097A9"/>
                      </a:solidFill>
                      <a:prstDash val="solid"/>
                      <a:round/>
                      <a:headEnd type="none" w="med" len="med"/>
                      <a:tailEnd type="none" w="med" len="med"/>
                    </a:lnT>
                  </a:tcPr>
                </a:tc>
                <a:tc hMerge="1">
                  <a:txBody>
                    <a:bodyPr/>
                    <a:lstStyle/>
                    <a:p>
                      <a:pPr marL="0" marR="0" lvl="0" indent="0" algn="l" defTabSz="914400" rtl="0" eaLnBrk="1" fontAlgn="t" latinLnBrk="0" hangingPunct="1">
                        <a:lnSpc>
                          <a:spcPct val="100000"/>
                        </a:lnSpc>
                        <a:spcBef>
                          <a:spcPts val="0"/>
                        </a:spcBef>
                        <a:spcAft>
                          <a:spcPts val="0"/>
                        </a:spcAft>
                        <a:buClrTx/>
                        <a:buSzTx/>
                        <a:buFontTx/>
                        <a:buNone/>
                        <a:tabLst/>
                        <a:defRPr/>
                      </a:pPr>
                      <a:endParaRPr lang="en-US" sz="1050" b="1" i="0" u="none" strike="noStrike" kern="1200">
                        <a:solidFill>
                          <a:schemeClr val="bg1"/>
                        </a:solidFill>
                        <a:effectLst/>
                        <a:latin typeface="Verdana"/>
                        <a:ea typeface="+mn-ea"/>
                        <a:cs typeface="+mn-cs"/>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555622006"/>
                  </a:ext>
                </a:extLst>
              </a:tr>
              <a:tr h="932785">
                <a:tc>
                  <a:txBody>
                    <a:bodyPr/>
                    <a:lstStyle/>
                    <a:p>
                      <a:pPr marL="0" marR="0">
                        <a:lnSpc>
                          <a:spcPct val="115000"/>
                        </a:lnSpc>
                        <a:buNone/>
                      </a:pPr>
                      <a:r>
                        <a:rPr lang="en-US" sz="900" kern="100">
                          <a:effectLst/>
                          <a:latin typeface="+mn-lt"/>
                          <a:ea typeface="Times New Roman" panose="02020603050405020304" pitchFamily="18" charset="0"/>
                          <a:cs typeface="Mangal" panose="02040503050203030202" pitchFamily="18" charset="0"/>
                        </a:rPr>
                        <a:t>1.</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b="1" kern="100">
                          <a:solidFill>
                            <a:srgbClr val="000000"/>
                          </a:solidFill>
                          <a:effectLst/>
                          <a:latin typeface="+mn-lt"/>
                          <a:ea typeface="Times New Roman" panose="02020603050405020304" pitchFamily="18" charset="0"/>
                          <a:cs typeface="Mangal" panose="02040503050203030202" pitchFamily="18" charset="0"/>
                        </a:rPr>
                        <a:t>Research study on Professional Scientific and other business services (PSBS)</a:t>
                      </a:r>
                      <a:endParaRPr lang="en-IN" sz="900" b="1"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US" sz="900" kern="100">
                          <a:effectLst/>
                          <a:latin typeface="+mn-lt"/>
                          <a:ea typeface="Verdana" panose="020B0604030504040204" pitchFamily="34" charset="0"/>
                          <a:cs typeface="Mangal" panose="02040503050203030202" pitchFamily="18" charset="0"/>
                        </a:rPr>
                        <a:t>NITI Aayog, Government of India</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October 2025- July 2026</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INR 49.97 Lakhs</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Research Studies &amp; Policy Advisory; Public Finance &amp; Fiscal Policy Analysis</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646002753"/>
                  </a:ext>
                </a:extLst>
              </a:tr>
              <a:tr h="932785">
                <a:tc>
                  <a:txBody>
                    <a:bodyPr/>
                    <a:lstStyle/>
                    <a:p>
                      <a:pPr marL="0" marR="0">
                        <a:lnSpc>
                          <a:spcPct val="115000"/>
                        </a:lnSpc>
                        <a:buNone/>
                      </a:pPr>
                      <a:r>
                        <a:rPr lang="en-US" sz="900" kern="100">
                          <a:effectLst/>
                          <a:latin typeface="+mn-lt"/>
                          <a:ea typeface="Times New Roman" panose="02020603050405020304" pitchFamily="18" charset="0"/>
                          <a:cs typeface="Mangal" panose="02040503050203030202" pitchFamily="18" charset="0"/>
                        </a:rPr>
                        <a:t>2.</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b="1" kern="100">
                          <a:solidFill>
                            <a:srgbClr val="000000"/>
                          </a:solidFill>
                          <a:effectLst/>
                          <a:latin typeface="+mn-lt"/>
                          <a:ea typeface="Times New Roman" panose="02020603050405020304" pitchFamily="18" charset="0"/>
                          <a:cs typeface="Mangal" panose="02040503050203030202" pitchFamily="18" charset="0"/>
                        </a:rPr>
                        <a:t>Facilitation of Transition to GST in Commercial  Tax Department</a:t>
                      </a:r>
                      <a:endParaRPr lang="en-IN" sz="900" b="1"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US" sz="900" kern="100">
                          <a:effectLst/>
                          <a:latin typeface="+mn-lt"/>
                          <a:ea typeface="Verdana" panose="020B0604030504040204" pitchFamily="34" charset="0"/>
                          <a:cs typeface="Mangal" panose="02040503050203030202" pitchFamily="18" charset="0"/>
                        </a:rPr>
                        <a:t>Government of West Bengal</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September 2016- October 2017</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INR 1.26 Crores</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Public Finance &amp; Fiscal Policy Analysis; Public Financial Management (PFM); Research Studies &amp; Policy Advisory</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074228120"/>
                  </a:ext>
                </a:extLst>
              </a:tr>
              <a:tr h="932785">
                <a:tc>
                  <a:txBody>
                    <a:bodyPr/>
                    <a:lstStyle/>
                    <a:p>
                      <a:pPr marL="0" marR="0">
                        <a:lnSpc>
                          <a:spcPct val="115000"/>
                        </a:lnSpc>
                        <a:buNone/>
                      </a:pPr>
                      <a:r>
                        <a:rPr lang="en-US" sz="900" kern="100">
                          <a:effectLst/>
                          <a:latin typeface="+mn-lt"/>
                          <a:ea typeface="Times New Roman" panose="02020603050405020304" pitchFamily="18" charset="0"/>
                          <a:cs typeface="Mangal" panose="02040503050203030202" pitchFamily="18" charset="0"/>
                        </a:rPr>
                        <a:t>3.</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b="1" kern="100">
                          <a:solidFill>
                            <a:srgbClr val="000000"/>
                          </a:solidFill>
                          <a:effectLst/>
                          <a:latin typeface="+mn-lt"/>
                          <a:ea typeface="Times New Roman" panose="02020603050405020304" pitchFamily="18" charset="0"/>
                          <a:cs typeface="Mangal" panose="02040503050203030202" pitchFamily="18" charset="0"/>
                        </a:rPr>
                        <a:t>Institutional Assessment of the Commercial Taxes Department (CTD) including GST Readiness Assessment and Developing a Road  Map </a:t>
                      </a:r>
                      <a:endParaRPr lang="en-IN" sz="900" b="1"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US" sz="900" kern="100">
                          <a:effectLst/>
                          <a:latin typeface="+mn-lt"/>
                          <a:ea typeface="Verdana" panose="020B0604030504040204" pitchFamily="34" charset="0"/>
                          <a:cs typeface="Mangal" panose="02040503050203030202" pitchFamily="18" charset="0"/>
                        </a:rPr>
                        <a:t>Government of Rajasthan</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April 2017-April 2019</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INR 6.72 Crores</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Public Finance &amp; Fiscal Policy Analysis; Public Financial Management (PFM); Research Studies &amp; Policy Advisory</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095432095"/>
                  </a:ext>
                </a:extLst>
              </a:tr>
              <a:tr h="991079">
                <a:tc>
                  <a:txBody>
                    <a:bodyPr/>
                    <a:lstStyle/>
                    <a:p>
                      <a:pPr marL="0" marR="0">
                        <a:lnSpc>
                          <a:spcPct val="115000"/>
                        </a:lnSpc>
                        <a:buNone/>
                      </a:pPr>
                      <a:r>
                        <a:rPr lang="en-US" sz="900" kern="100">
                          <a:effectLst/>
                          <a:latin typeface="+mn-lt"/>
                          <a:ea typeface="Times New Roman" panose="02020603050405020304" pitchFamily="18" charset="0"/>
                          <a:cs typeface="Mangal" panose="02040503050203030202" pitchFamily="18" charset="0"/>
                        </a:rPr>
                        <a:t>4.</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b="1" kern="100">
                          <a:solidFill>
                            <a:srgbClr val="000000"/>
                          </a:solidFill>
                          <a:effectLst/>
                          <a:latin typeface="+mn-lt"/>
                          <a:ea typeface="Times New Roman" panose="02020603050405020304" pitchFamily="18" charset="0"/>
                          <a:cs typeface="Mangal" panose="02040503050203030202" pitchFamily="18" charset="0"/>
                        </a:rPr>
                        <a:t>Consulting Services for GST Rate Validation for Works Contract in Water Supply &amp; Kalpasar Department, Government of Gujarat</a:t>
                      </a:r>
                      <a:endParaRPr lang="en-IN" sz="900" b="1"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US" sz="900" kern="100">
                          <a:effectLst/>
                          <a:latin typeface="+mn-lt"/>
                          <a:ea typeface="Verdana" panose="020B0604030504040204" pitchFamily="34" charset="0"/>
                          <a:cs typeface="Mangal" panose="02040503050203030202" pitchFamily="18" charset="0"/>
                        </a:rPr>
                        <a:t>Government of Gujarat</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June 2019-March 2020</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INR 78.65 Lakhs</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Public Finance &amp; Fiscal Policy Analysis; Research Studies &amp; Policy Advisory</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248647345"/>
                  </a:ext>
                </a:extLst>
              </a:tr>
              <a:tr h="932785">
                <a:tc>
                  <a:txBody>
                    <a:bodyPr/>
                    <a:lstStyle/>
                    <a:p>
                      <a:pPr marL="0" marR="0">
                        <a:lnSpc>
                          <a:spcPct val="115000"/>
                        </a:lnSpc>
                        <a:buNone/>
                      </a:pPr>
                      <a:r>
                        <a:rPr lang="en-US" sz="900" kern="100">
                          <a:effectLst/>
                          <a:latin typeface="+mn-lt"/>
                          <a:ea typeface="Times New Roman" panose="02020603050405020304" pitchFamily="18" charset="0"/>
                          <a:cs typeface="Mangal" panose="02040503050203030202" pitchFamily="18" charset="0"/>
                        </a:rPr>
                        <a:t>5.</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b="1" kern="100">
                          <a:solidFill>
                            <a:srgbClr val="000000"/>
                          </a:solidFill>
                          <a:effectLst/>
                          <a:latin typeface="+mn-lt"/>
                          <a:ea typeface="Times New Roman" panose="02020603050405020304" pitchFamily="18" charset="0"/>
                          <a:cs typeface="Mangal" panose="02040503050203030202" pitchFamily="18" charset="0"/>
                        </a:rPr>
                        <a:t>Preparation of Memorandum for 16th Finance Commission (FC) for Government of Gujarat</a:t>
                      </a:r>
                      <a:endParaRPr lang="en-IN" sz="900" b="1"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US" sz="900" kern="100">
                          <a:effectLst/>
                          <a:latin typeface="+mn-lt"/>
                          <a:ea typeface="Verdana" panose="020B0604030504040204" pitchFamily="34" charset="0"/>
                          <a:cs typeface="Mangal" panose="02040503050203030202" pitchFamily="18" charset="0"/>
                        </a:rPr>
                        <a:t>Government of Gujarat</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July 2024-Ongoing</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INR 80 Lakhs</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Public Finance &amp; Fiscal Policy Analysis; Research Studies &amp; Policy Advisory; State Finance &amp; Fiscal Sustainability Assessment</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339995136"/>
                  </a:ext>
                </a:extLst>
              </a:tr>
            </a:tbl>
          </a:graphicData>
        </a:graphic>
      </p:graphicFrame>
      <p:cxnSp>
        <p:nvCxnSpPr>
          <p:cNvPr id="2" name="Straight Arrow Connector 1">
            <a:extLst>
              <a:ext uri="{FF2B5EF4-FFF2-40B4-BE49-F238E27FC236}">
                <a16:creationId xmlns:a16="http://schemas.microsoft.com/office/drawing/2014/main" id="{76E39265-59D9-BBA2-3611-B9FF3EF6DC88}"/>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6FE2A8AF-A11B-63A9-42E0-F0DAD5F7CAE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ea typeface="+mj-ea"/>
                <a:cs typeface="Calibri" panose="020F0502020204030204" pitchFamily="34" charset="0"/>
              </a:rPr>
              <a:t>Our Experience – Summary Table (5/7)</a:t>
            </a:r>
          </a:p>
        </p:txBody>
      </p:sp>
    </p:spTree>
    <p:extLst>
      <p:ext uri="{BB962C8B-B14F-4D97-AF65-F5344CB8AC3E}">
        <p14:creationId xmlns:p14="http://schemas.microsoft.com/office/powerpoint/2010/main" val="41507311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C585A-1628-4152-374E-7CD03B4CF4FF}"/>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F879F9B6-8089-9468-80F7-525F8A335528}"/>
              </a:ext>
            </a:extLst>
          </p:cNvPr>
          <p:cNvGraphicFramePr>
            <a:graphicFrameLocks noGrp="1"/>
          </p:cNvGraphicFramePr>
          <p:nvPr>
            <p:extLst>
              <p:ext uri="{D42A27DB-BD31-4B8C-83A1-F6EECF244321}">
                <p14:modId xmlns:p14="http://schemas.microsoft.com/office/powerpoint/2010/main" val="27289464"/>
              </p:ext>
            </p:extLst>
          </p:nvPr>
        </p:nvGraphicFramePr>
        <p:xfrm>
          <a:off x="203256" y="775501"/>
          <a:ext cx="11655277" cy="5691399"/>
        </p:xfrm>
        <a:graphic>
          <a:graphicData uri="http://schemas.openxmlformats.org/drawingml/2006/table">
            <a:tbl>
              <a:tblPr/>
              <a:tblGrid>
                <a:gridCol w="401031">
                  <a:extLst>
                    <a:ext uri="{9D8B030D-6E8A-4147-A177-3AD203B41FA5}">
                      <a16:colId xmlns:a16="http://schemas.microsoft.com/office/drawing/2014/main" val="4000896496"/>
                    </a:ext>
                  </a:extLst>
                </a:gridCol>
                <a:gridCol w="2661427">
                  <a:extLst>
                    <a:ext uri="{9D8B030D-6E8A-4147-A177-3AD203B41FA5}">
                      <a16:colId xmlns:a16="http://schemas.microsoft.com/office/drawing/2014/main" val="452018545"/>
                    </a:ext>
                  </a:extLst>
                </a:gridCol>
                <a:gridCol w="1687286">
                  <a:extLst>
                    <a:ext uri="{9D8B030D-6E8A-4147-A177-3AD203B41FA5}">
                      <a16:colId xmlns:a16="http://schemas.microsoft.com/office/drawing/2014/main" val="3087042761"/>
                    </a:ext>
                  </a:extLst>
                </a:gridCol>
                <a:gridCol w="1240971">
                  <a:extLst>
                    <a:ext uri="{9D8B030D-6E8A-4147-A177-3AD203B41FA5}">
                      <a16:colId xmlns:a16="http://schemas.microsoft.com/office/drawing/2014/main" val="235996618"/>
                    </a:ext>
                  </a:extLst>
                </a:gridCol>
                <a:gridCol w="1132115">
                  <a:extLst>
                    <a:ext uri="{9D8B030D-6E8A-4147-A177-3AD203B41FA5}">
                      <a16:colId xmlns:a16="http://schemas.microsoft.com/office/drawing/2014/main" val="836447491"/>
                    </a:ext>
                  </a:extLst>
                </a:gridCol>
                <a:gridCol w="1632857">
                  <a:extLst>
                    <a:ext uri="{9D8B030D-6E8A-4147-A177-3AD203B41FA5}">
                      <a16:colId xmlns:a16="http://schemas.microsoft.com/office/drawing/2014/main" val="3515562831"/>
                    </a:ext>
                  </a:extLst>
                </a:gridCol>
                <a:gridCol w="2899590">
                  <a:extLst>
                    <a:ext uri="{9D8B030D-6E8A-4147-A177-3AD203B41FA5}">
                      <a16:colId xmlns:a16="http://schemas.microsoft.com/office/drawing/2014/main" val="3998241564"/>
                    </a:ext>
                  </a:extLst>
                </a:gridCol>
              </a:tblGrid>
              <a:tr h="545198">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algn="ctr" fontAlgn="t"/>
                      <a:r>
                        <a:rPr lang="en-IN" sz="900" b="1" u="none" strike="noStrike">
                          <a:solidFill>
                            <a:schemeClr val="bg1"/>
                          </a:solidFill>
                          <a:effectLst/>
                          <a:latin typeface="+mn-lt"/>
                          <a:ea typeface="Verdana" panose="020B0604030504040204" pitchFamily="34" charset="0"/>
                        </a:rPr>
                        <a:t>S. No.</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algn="ctr" fontAlgn="t"/>
                      <a:r>
                        <a:rPr lang="en-IN" sz="900" b="1" u="none" strike="noStrike">
                          <a:solidFill>
                            <a:schemeClr val="bg1"/>
                          </a:solidFill>
                          <a:effectLst/>
                          <a:latin typeface="+mn-lt"/>
                          <a:ea typeface="Verdana" panose="020B0604030504040204" pitchFamily="34" charset="0"/>
                        </a:rPr>
                        <a:t>Study Title</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IN" sz="900" b="1" i="0" u="none" strike="noStrike">
                          <a:solidFill>
                            <a:schemeClr val="bg1"/>
                          </a:solidFill>
                          <a:effectLst/>
                          <a:latin typeface="+mn-lt"/>
                          <a:ea typeface="Verdana" panose="020B0604030504040204" pitchFamily="34" charset="0"/>
                        </a:rPr>
                        <a:t>Name of the Organisation</a:t>
                      </a: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US" sz="900" b="1" i="0" u="none" strike="noStrike">
                          <a:solidFill>
                            <a:schemeClr val="bg1"/>
                          </a:solidFill>
                          <a:effectLst/>
                          <a:latin typeface="+mn-lt"/>
                          <a:ea typeface="Verdana" panose="020B0604030504040204" pitchFamily="34" charset="0"/>
                        </a:rPr>
                        <a:t>Month/Year</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US" sz="900" b="1" i="0" u="none" strike="noStrike">
                          <a:solidFill>
                            <a:schemeClr val="bg1"/>
                          </a:solidFill>
                          <a:effectLst/>
                          <a:latin typeface="+mn-lt"/>
                          <a:ea typeface="Verdana" panose="020B0604030504040204" pitchFamily="34" charset="0"/>
                        </a:rPr>
                        <a:t>Amount/Budget</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IN" sz="900" b="1" i="0" u="none" strike="noStrike">
                          <a:solidFill>
                            <a:schemeClr val="bg1"/>
                          </a:solidFill>
                          <a:effectLst/>
                          <a:latin typeface="+mn-lt"/>
                          <a:ea typeface="Verdana" panose="020B0604030504040204" pitchFamily="34" charset="0"/>
                        </a:rPr>
                        <a:t>Publications in Journals</a:t>
                      </a: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IN" sz="900" b="1" i="0" u="none" strike="noStrike" kern="1200">
                          <a:solidFill>
                            <a:schemeClr val="bg1"/>
                          </a:solidFill>
                          <a:effectLst/>
                          <a:latin typeface="+mn-lt"/>
                          <a:ea typeface="Verdana" panose="020B0604030504040204" pitchFamily="34" charset="0"/>
                          <a:cs typeface="+mn-cs"/>
                        </a:rPr>
                        <a:t>Subject and Themes</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extLst>
                  <a:ext uri="{0D108BD9-81ED-4DB2-BD59-A6C34878D82A}">
                    <a16:rowId xmlns:a16="http://schemas.microsoft.com/office/drawing/2014/main" val="185327338"/>
                  </a:ext>
                </a:extLst>
              </a:tr>
              <a:tr h="423982">
                <a:tc gridSpan="7">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900" b="1" i="0" u="none" strike="noStrike" kern="1200">
                          <a:solidFill>
                            <a:schemeClr val="bg1"/>
                          </a:solidFill>
                          <a:effectLst/>
                          <a:latin typeface="+mn-lt"/>
                          <a:ea typeface="+mn-ea"/>
                          <a:cs typeface="+mn-cs"/>
                        </a:rPr>
                        <a:t>Experience of the Organization in conducting research Projects/Reports in similar areas of this subject/theme for Reputed institutes and publications in the last 10 years.</a:t>
                      </a: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marL="0" marR="0" lvl="0" indent="0" algn="ctr" defTabSz="914400" rtl="0" eaLnBrk="1" fontAlgn="t" latinLnBrk="0" hangingPunct="1">
                        <a:lnSpc>
                          <a:spcPts val="1200"/>
                        </a:lnSpc>
                        <a:spcBef>
                          <a:spcPts val="0"/>
                        </a:spcBef>
                        <a:spcAft>
                          <a:spcPts val="0"/>
                        </a:spcAft>
                        <a:buClrTx/>
                        <a:buSzTx/>
                        <a:buFontTx/>
                        <a:buNone/>
                        <a:tabLst/>
                        <a:defRPr/>
                      </a:pPr>
                      <a:endParaRPr lang="en-US" sz="900" u="none" strike="noStrike" kern="1200">
                        <a:solidFill>
                          <a:schemeClr val="tx1"/>
                        </a:solidFill>
                        <a:effectLst/>
                        <a:latin typeface="Verdana" panose="020B0604030504040204" pitchFamily="34" charset="0"/>
                        <a:ea typeface="Verdana" panose="020B0604030504040204" pitchFamily="34" charset="0"/>
                        <a:cs typeface="+mn-cs"/>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endParaRPr lang="en-IN"/>
                    </a:p>
                  </a:txBody>
                  <a:tcPr>
                    <a:lnL w="12700" cap="flat" cmpd="sng" algn="ctr">
                      <a:solidFill>
                        <a:srgbClr val="0097A9"/>
                      </a:solidFill>
                      <a:prstDash val="solid"/>
                      <a:round/>
                      <a:headEnd type="none" w="med" len="med"/>
                      <a:tailEnd type="none" w="med" len="med"/>
                    </a:lnL>
                    <a:lnT w="12700" cap="flat" cmpd="sng" algn="ctr">
                      <a:solidFill>
                        <a:srgbClr val="0097A9"/>
                      </a:solidFill>
                      <a:prstDash val="solid"/>
                      <a:round/>
                      <a:headEnd type="none" w="med" len="med"/>
                      <a:tailEnd type="none" w="med" len="med"/>
                    </a:lnT>
                  </a:tcPr>
                </a:tc>
                <a:tc hMerge="1">
                  <a:txBody>
                    <a:bodyPr/>
                    <a:lstStyle/>
                    <a:p>
                      <a:endParaRPr lang="en-IN"/>
                    </a:p>
                  </a:txBody>
                  <a:tcPr>
                    <a:lnL w="12700" cap="flat" cmpd="sng" algn="ctr">
                      <a:solidFill>
                        <a:srgbClr val="0097A9"/>
                      </a:solidFill>
                      <a:prstDash val="solid"/>
                      <a:round/>
                      <a:headEnd type="none" w="med" len="med"/>
                      <a:tailEnd type="none" w="med" len="med"/>
                    </a:lnL>
                    <a:lnT w="12700" cap="flat" cmpd="sng" algn="ctr">
                      <a:solidFill>
                        <a:srgbClr val="0097A9"/>
                      </a:solidFill>
                      <a:prstDash val="solid"/>
                      <a:round/>
                      <a:headEnd type="none" w="med" len="med"/>
                      <a:tailEnd type="none" w="med" len="med"/>
                    </a:lnT>
                  </a:tcPr>
                </a:tc>
                <a:tc hMerge="1">
                  <a:txBody>
                    <a:bodyPr/>
                    <a:lstStyle/>
                    <a:p>
                      <a:endParaRPr lang="en-IN"/>
                    </a:p>
                  </a:txBody>
                  <a:tcPr>
                    <a:lnL w="12700" cap="flat" cmpd="sng" algn="ctr">
                      <a:solidFill>
                        <a:srgbClr val="0097A9"/>
                      </a:solidFill>
                      <a:prstDash val="solid"/>
                      <a:round/>
                      <a:headEnd type="none" w="med" len="med"/>
                      <a:tailEnd type="none" w="med" len="med"/>
                    </a:lnL>
                    <a:lnT w="12700" cap="flat" cmpd="sng" algn="ctr">
                      <a:solidFill>
                        <a:srgbClr val="0097A9"/>
                      </a:solidFill>
                      <a:prstDash val="solid"/>
                      <a:round/>
                      <a:headEnd type="none" w="med" len="med"/>
                      <a:tailEnd type="none" w="med" len="med"/>
                    </a:lnT>
                  </a:tcPr>
                </a:tc>
                <a:tc hMerge="1">
                  <a:txBody>
                    <a:bodyPr/>
                    <a:lstStyle/>
                    <a:p>
                      <a:endParaRPr lang="en-IN"/>
                    </a:p>
                  </a:txBody>
                  <a:tcPr>
                    <a:lnL w="12700" cap="flat" cmpd="sng" algn="ctr">
                      <a:solidFill>
                        <a:srgbClr val="0097A9"/>
                      </a:solidFill>
                      <a:prstDash val="solid"/>
                      <a:round/>
                      <a:headEnd type="none" w="med" len="med"/>
                      <a:tailEnd type="none" w="med" len="med"/>
                    </a:lnL>
                    <a:lnT w="12700" cap="flat" cmpd="sng" algn="ctr">
                      <a:solidFill>
                        <a:srgbClr val="0097A9"/>
                      </a:solidFill>
                      <a:prstDash val="solid"/>
                      <a:round/>
                      <a:headEnd type="none" w="med" len="med"/>
                      <a:tailEnd type="none" w="med" len="med"/>
                    </a:lnT>
                  </a:tcPr>
                </a:tc>
                <a:tc hMerge="1">
                  <a:txBody>
                    <a:bodyPr/>
                    <a:lstStyle/>
                    <a:p>
                      <a:pPr marL="0" marR="0" lvl="0" indent="0" algn="l" defTabSz="914400" rtl="0" eaLnBrk="1" fontAlgn="t" latinLnBrk="0" hangingPunct="1">
                        <a:lnSpc>
                          <a:spcPct val="100000"/>
                        </a:lnSpc>
                        <a:spcBef>
                          <a:spcPts val="0"/>
                        </a:spcBef>
                        <a:spcAft>
                          <a:spcPts val="0"/>
                        </a:spcAft>
                        <a:buClrTx/>
                        <a:buSzTx/>
                        <a:buFontTx/>
                        <a:buNone/>
                        <a:tabLst/>
                        <a:defRPr/>
                      </a:pPr>
                      <a:endParaRPr lang="en-US" sz="1050" b="1" i="0" u="none" strike="noStrike" kern="1200">
                        <a:solidFill>
                          <a:schemeClr val="bg1"/>
                        </a:solidFill>
                        <a:effectLst/>
                        <a:latin typeface="Verdana"/>
                        <a:ea typeface="+mn-ea"/>
                        <a:cs typeface="+mn-cs"/>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555622006"/>
                  </a:ext>
                </a:extLst>
              </a:tr>
              <a:tr h="932785">
                <a:tc>
                  <a:txBody>
                    <a:bodyPr/>
                    <a:lstStyle/>
                    <a:p>
                      <a:pPr marL="0" marR="0">
                        <a:lnSpc>
                          <a:spcPct val="115000"/>
                        </a:lnSpc>
                        <a:buNone/>
                      </a:pPr>
                      <a:r>
                        <a:rPr lang="en-US" sz="900" kern="100">
                          <a:effectLst/>
                          <a:latin typeface="+mn-lt"/>
                          <a:ea typeface="Times New Roman" panose="02020603050405020304" pitchFamily="18" charset="0"/>
                          <a:cs typeface="Mangal" panose="02040503050203030202" pitchFamily="18" charset="0"/>
                        </a:rPr>
                        <a:t>6.</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b="1" kern="100">
                          <a:solidFill>
                            <a:srgbClr val="000000"/>
                          </a:solidFill>
                          <a:effectLst/>
                          <a:latin typeface="+mn-lt"/>
                          <a:ea typeface="Times New Roman" panose="02020603050405020304" pitchFamily="18" charset="0"/>
                          <a:cs typeface="Mangal" panose="02040503050203030202" pitchFamily="18" charset="0"/>
                        </a:rPr>
                        <a:t>Strengthening Public Investment Management in Rajasthan </a:t>
                      </a:r>
                      <a:endParaRPr lang="en-IN" sz="900" b="1"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US" sz="900" kern="100">
                          <a:effectLst/>
                          <a:latin typeface="+mn-lt"/>
                          <a:ea typeface="Verdana" panose="020B0604030504040204" pitchFamily="34" charset="0"/>
                          <a:cs typeface="Mangal" panose="02040503050203030202" pitchFamily="18" charset="0"/>
                        </a:rPr>
                        <a:t>World Bank; Nodal: Government of Rajasthan</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December 2021-January 2025</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INR 23.85 Lakhs</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Public Financial Management (PFM); Public Finance &amp; Fiscal Policy Analysis; Multilateral Development Project</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646002753"/>
                  </a:ext>
                </a:extLst>
              </a:tr>
              <a:tr h="932785">
                <a:tc>
                  <a:txBody>
                    <a:bodyPr/>
                    <a:lstStyle/>
                    <a:p>
                      <a:pPr marL="0" marR="0">
                        <a:lnSpc>
                          <a:spcPct val="115000"/>
                        </a:lnSpc>
                        <a:buNone/>
                      </a:pPr>
                      <a:r>
                        <a:rPr lang="en-US" sz="900" kern="100">
                          <a:effectLst/>
                          <a:latin typeface="+mn-lt"/>
                          <a:ea typeface="Times New Roman" panose="02020603050405020304" pitchFamily="18" charset="0"/>
                          <a:cs typeface="Mangal" panose="02040503050203030202" pitchFamily="18" charset="0"/>
                        </a:rPr>
                        <a:t>7.</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b="1" kern="100">
                          <a:solidFill>
                            <a:srgbClr val="000000"/>
                          </a:solidFill>
                          <a:effectLst/>
                          <a:latin typeface="+mn-lt"/>
                          <a:ea typeface="Times New Roman" panose="02020603050405020304" pitchFamily="18" charset="0"/>
                          <a:cs typeface="Mangal" panose="02040503050203030202" pitchFamily="18" charset="0"/>
                        </a:rPr>
                        <a:t>Program management/ PMU for Financial sustainability, Revenue enhancement and Process Improvement for NOIDA </a:t>
                      </a:r>
                      <a:endParaRPr lang="en-IN" sz="900" b="1"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US" sz="900" kern="100">
                          <a:effectLst/>
                          <a:latin typeface="+mn-lt"/>
                          <a:ea typeface="Verdana" panose="020B0604030504040204" pitchFamily="34" charset="0"/>
                          <a:cs typeface="Mangal" panose="02040503050203030202" pitchFamily="18" charset="0"/>
                        </a:rPr>
                        <a:t>New Okhla Industrial Development Authority</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October 2020- April 2023</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INR 1.5 Crore</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Public Finance &amp; Fiscal Policy Analysis; Public Financial Management (PFM); State Finance &amp; Fiscal Sustainability Assessment</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074228120"/>
                  </a:ext>
                </a:extLst>
              </a:tr>
              <a:tr h="932785">
                <a:tc>
                  <a:txBody>
                    <a:bodyPr/>
                    <a:lstStyle/>
                    <a:p>
                      <a:pPr marL="0" marR="0">
                        <a:lnSpc>
                          <a:spcPct val="115000"/>
                        </a:lnSpc>
                        <a:buNone/>
                      </a:pPr>
                      <a:r>
                        <a:rPr lang="en-US" sz="900" kern="100">
                          <a:effectLst/>
                          <a:latin typeface="+mn-lt"/>
                          <a:ea typeface="Times New Roman" panose="02020603050405020304" pitchFamily="18" charset="0"/>
                          <a:cs typeface="Mangal" panose="02040503050203030202" pitchFamily="18" charset="0"/>
                        </a:rPr>
                        <a:t>8.</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b="1" kern="100">
                          <a:solidFill>
                            <a:srgbClr val="000000"/>
                          </a:solidFill>
                          <a:effectLst/>
                          <a:latin typeface="+mn-lt"/>
                          <a:ea typeface="Times New Roman" panose="02020603050405020304" pitchFamily="18" charset="0"/>
                          <a:cs typeface="Mangal" panose="02040503050203030202" pitchFamily="18" charset="0"/>
                        </a:rPr>
                        <a:t>Preparation of Memorandum for 15th Finance Commission (FC) for Government of West Bengal</a:t>
                      </a:r>
                      <a:endParaRPr lang="en-IN" sz="900" b="1"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US" sz="900" kern="100">
                          <a:effectLst/>
                          <a:latin typeface="+mn-lt"/>
                          <a:ea typeface="Verdana" panose="020B0604030504040204" pitchFamily="34" charset="0"/>
                          <a:cs typeface="Mangal" panose="02040503050203030202" pitchFamily="18" charset="0"/>
                        </a:rPr>
                        <a:t>Finance Department, Government of West Bengal</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February 2018-July 2018</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INR 25 Lakhs</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Public Finance &amp; Fiscal Policy Analysis; Research Studies &amp; Policy Advisory; State Finance &amp; Fiscal Sustainability Assessment</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095432095"/>
                  </a:ext>
                </a:extLst>
              </a:tr>
              <a:tr h="991079">
                <a:tc>
                  <a:txBody>
                    <a:bodyPr/>
                    <a:lstStyle/>
                    <a:p>
                      <a:pPr marL="0" marR="0">
                        <a:lnSpc>
                          <a:spcPct val="115000"/>
                        </a:lnSpc>
                        <a:buNone/>
                      </a:pPr>
                      <a:r>
                        <a:rPr lang="en-US" sz="900" kern="100">
                          <a:effectLst/>
                          <a:latin typeface="+mn-lt"/>
                          <a:ea typeface="Times New Roman" panose="02020603050405020304" pitchFamily="18" charset="0"/>
                          <a:cs typeface="Mangal" panose="02040503050203030202" pitchFamily="18" charset="0"/>
                        </a:rPr>
                        <a:t>9.</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b="1" kern="100">
                          <a:solidFill>
                            <a:srgbClr val="000000"/>
                          </a:solidFill>
                          <a:effectLst/>
                          <a:latin typeface="+mn-lt"/>
                          <a:ea typeface="Times New Roman" panose="02020603050405020304" pitchFamily="18" charset="0"/>
                          <a:cs typeface="Mangal" panose="02040503050203030202" pitchFamily="18" charset="0"/>
                        </a:rPr>
                        <a:t>Development of an Index based on State Level Logistics Performance Indicators - Logistics Ease Across Different States (LEADS) Index 2018</a:t>
                      </a:r>
                      <a:endParaRPr lang="en-IN" sz="900" b="1"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US" sz="900" kern="100">
                          <a:effectLst/>
                          <a:latin typeface="+mn-lt"/>
                          <a:ea typeface="Verdana" panose="020B0604030504040204" pitchFamily="34" charset="0"/>
                          <a:cs typeface="Mangal" panose="02040503050203030202" pitchFamily="18" charset="0"/>
                        </a:rPr>
                        <a:t>Department of Commerce, Ministry of Commerce and Industry (MoCI)</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July 2017- January 2018</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i="1" kern="100">
                          <a:effectLst/>
                          <a:latin typeface="+mn-lt"/>
                          <a:ea typeface="Times New Roman" panose="02020603050405020304" pitchFamily="18" charset="0"/>
                          <a:cs typeface="Mangal" panose="02040503050203030202" pitchFamily="18" charset="0"/>
                        </a:rPr>
                        <a:t>INR 69.62 Lakhs</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Research Studies &amp; Policy Advisory</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248647345"/>
                  </a:ext>
                </a:extLst>
              </a:tr>
              <a:tr h="932785">
                <a:tc>
                  <a:txBody>
                    <a:bodyPr/>
                    <a:lstStyle/>
                    <a:p>
                      <a:pPr marL="0" marR="0">
                        <a:lnSpc>
                          <a:spcPct val="115000"/>
                        </a:lnSpc>
                        <a:buNone/>
                      </a:pPr>
                      <a:r>
                        <a:rPr lang="en-US" sz="900" kern="100">
                          <a:effectLst/>
                          <a:latin typeface="+mn-lt"/>
                          <a:ea typeface="Times New Roman" panose="02020603050405020304" pitchFamily="18" charset="0"/>
                          <a:cs typeface="Mangal" panose="02040503050203030202" pitchFamily="18" charset="0"/>
                        </a:rPr>
                        <a:t>10.</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b="1" kern="100">
                          <a:solidFill>
                            <a:srgbClr val="000000"/>
                          </a:solidFill>
                          <a:effectLst/>
                          <a:latin typeface="+mn-lt"/>
                          <a:ea typeface="Times New Roman" panose="02020603050405020304" pitchFamily="18" charset="0"/>
                          <a:cs typeface="Mangal" panose="02040503050203030202" pitchFamily="18" charset="0"/>
                        </a:rPr>
                        <a:t>Strengthening MSME cluster ecosystem in India through institutional network of Enterprise Development Centres (EDCs)</a:t>
                      </a:r>
                      <a:endParaRPr lang="en-IN" sz="900" b="1"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US" sz="900" kern="100">
                          <a:effectLst/>
                          <a:latin typeface="+mn-lt"/>
                          <a:ea typeface="Verdana" panose="020B0604030504040204" pitchFamily="34" charset="0"/>
                          <a:cs typeface="Mangal" panose="02040503050203030202" pitchFamily="18" charset="0"/>
                        </a:rPr>
                        <a:t>Asian Development Bank/ Ministry of MSME, Government of India</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March 2020- June 2021</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i="1" kern="100">
                          <a:effectLst/>
                          <a:latin typeface="+mn-lt"/>
                          <a:ea typeface="Times New Roman" panose="02020603050405020304" pitchFamily="18" charset="0"/>
                          <a:cs typeface="Mangal" panose="02040503050203030202" pitchFamily="18" charset="0"/>
                        </a:rPr>
                        <a:t>INR 55.23 Lakhs</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Research Studies &amp; Policy Advisory; Multilateral Development Project</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339995136"/>
                  </a:ext>
                </a:extLst>
              </a:tr>
            </a:tbl>
          </a:graphicData>
        </a:graphic>
      </p:graphicFrame>
      <p:cxnSp>
        <p:nvCxnSpPr>
          <p:cNvPr id="2" name="Straight Arrow Connector 1">
            <a:extLst>
              <a:ext uri="{FF2B5EF4-FFF2-40B4-BE49-F238E27FC236}">
                <a16:creationId xmlns:a16="http://schemas.microsoft.com/office/drawing/2014/main" id="{025AA77A-731E-EB5F-3996-046572FC44C1}"/>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2EB00736-5E64-82C0-1A1D-A7D9D7E80096}"/>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ea typeface="+mj-ea"/>
                <a:cs typeface="Calibri" panose="020F0502020204030204" pitchFamily="34" charset="0"/>
              </a:rPr>
              <a:t>Our Experience – Summary Table (6/7)</a:t>
            </a:r>
          </a:p>
        </p:txBody>
      </p:sp>
    </p:spTree>
    <p:extLst>
      <p:ext uri="{BB962C8B-B14F-4D97-AF65-F5344CB8AC3E}">
        <p14:creationId xmlns:p14="http://schemas.microsoft.com/office/powerpoint/2010/main" val="34737008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EF57C-2D4B-454D-4206-C2722674C7D1}"/>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1C0D0AA4-BDC0-B680-28DF-69F1D167C7EF}"/>
              </a:ext>
            </a:extLst>
          </p:cNvPr>
          <p:cNvGraphicFramePr>
            <a:graphicFrameLocks noGrp="1"/>
          </p:cNvGraphicFramePr>
          <p:nvPr>
            <p:extLst>
              <p:ext uri="{D42A27DB-BD31-4B8C-83A1-F6EECF244321}">
                <p14:modId xmlns:p14="http://schemas.microsoft.com/office/powerpoint/2010/main" val="1867215308"/>
              </p:ext>
            </p:extLst>
          </p:nvPr>
        </p:nvGraphicFramePr>
        <p:xfrm>
          <a:off x="203256" y="775501"/>
          <a:ext cx="11655277" cy="5760719"/>
        </p:xfrm>
        <a:graphic>
          <a:graphicData uri="http://schemas.openxmlformats.org/drawingml/2006/table">
            <a:tbl>
              <a:tblPr/>
              <a:tblGrid>
                <a:gridCol w="401031">
                  <a:extLst>
                    <a:ext uri="{9D8B030D-6E8A-4147-A177-3AD203B41FA5}">
                      <a16:colId xmlns:a16="http://schemas.microsoft.com/office/drawing/2014/main" val="4000896496"/>
                    </a:ext>
                  </a:extLst>
                </a:gridCol>
                <a:gridCol w="2661427">
                  <a:extLst>
                    <a:ext uri="{9D8B030D-6E8A-4147-A177-3AD203B41FA5}">
                      <a16:colId xmlns:a16="http://schemas.microsoft.com/office/drawing/2014/main" val="452018545"/>
                    </a:ext>
                  </a:extLst>
                </a:gridCol>
                <a:gridCol w="1687286">
                  <a:extLst>
                    <a:ext uri="{9D8B030D-6E8A-4147-A177-3AD203B41FA5}">
                      <a16:colId xmlns:a16="http://schemas.microsoft.com/office/drawing/2014/main" val="3087042761"/>
                    </a:ext>
                  </a:extLst>
                </a:gridCol>
                <a:gridCol w="1240971">
                  <a:extLst>
                    <a:ext uri="{9D8B030D-6E8A-4147-A177-3AD203B41FA5}">
                      <a16:colId xmlns:a16="http://schemas.microsoft.com/office/drawing/2014/main" val="235996618"/>
                    </a:ext>
                  </a:extLst>
                </a:gridCol>
                <a:gridCol w="1473769">
                  <a:extLst>
                    <a:ext uri="{9D8B030D-6E8A-4147-A177-3AD203B41FA5}">
                      <a16:colId xmlns:a16="http://schemas.microsoft.com/office/drawing/2014/main" val="836447491"/>
                    </a:ext>
                  </a:extLst>
                </a:gridCol>
                <a:gridCol w="1291203">
                  <a:extLst>
                    <a:ext uri="{9D8B030D-6E8A-4147-A177-3AD203B41FA5}">
                      <a16:colId xmlns:a16="http://schemas.microsoft.com/office/drawing/2014/main" val="2046341814"/>
                    </a:ext>
                  </a:extLst>
                </a:gridCol>
                <a:gridCol w="2899590">
                  <a:extLst>
                    <a:ext uri="{9D8B030D-6E8A-4147-A177-3AD203B41FA5}">
                      <a16:colId xmlns:a16="http://schemas.microsoft.com/office/drawing/2014/main" val="3998241564"/>
                    </a:ext>
                  </a:extLst>
                </a:gridCol>
              </a:tblGrid>
              <a:tr h="474130">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algn="ctr" fontAlgn="t"/>
                      <a:r>
                        <a:rPr lang="en-IN" sz="900" b="1" u="none" strike="noStrike">
                          <a:solidFill>
                            <a:schemeClr val="bg1"/>
                          </a:solidFill>
                          <a:effectLst/>
                          <a:latin typeface="+mn-lt"/>
                          <a:ea typeface="Verdana" panose="020B0604030504040204" pitchFamily="34" charset="0"/>
                        </a:rPr>
                        <a:t>S. No.</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algn="ctr" fontAlgn="t"/>
                      <a:r>
                        <a:rPr lang="en-IN" sz="900" b="1" u="none" strike="noStrike">
                          <a:solidFill>
                            <a:schemeClr val="bg1"/>
                          </a:solidFill>
                          <a:effectLst/>
                          <a:latin typeface="+mn-lt"/>
                          <a:ea typeface="Verdana" panose="020B0604030504040204" pitchFamily="34" charset="0"/>
                        </a:rPr>
                        <a:t>Study Title</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IN" sz="900" b="1" i="0" u="none" strike="noStrike">
                          <a:solidFill>
                            <a:schemeClr val="bg1"/>
                          </a:solidFill>
                          <a:effectLst/>
                          <a:latin typeface="+mn-lt"/>
                          <a:ea typeface="Verdana" panose="020B0604030504040204" pitchFamily="34" charset="0"/>
                        </a:rPr>
                        <a:t>Name of the Organisation</a:t>
                      </a: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US" sz="900" b="1" i="0" u="none" strike="noStrike">
                          <a:solidFill>
                            <a:schemeClr val="bg1"/>
                          </a:solidFill>
                          <a:effectLst/>
                          <a:latin typeface="+mn-lt"/>
                          <a:ea typeface="Verdana" panose="020B0604030504040204" pitchFamily="34" charset="0"/>
                        </a:rPr>
                        <a:t>Month/Year</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US" sz="900" b="1" i="0" u="none" strike="noStrike">
                          <a:solidFill>
                            <a:schemeClr val="bg1"/>
                          </a:solidFill>
                          <a:effectLst/>
                          <a:latin typeface="+mn-lt"/>
                          <a:ea typeface="Verdana" panose="020B0604030504040204" pitchFamily="34" charset="0"/>
                        </a:rPr>
                        <a:t>Amount/Budget</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IN" sz="900" b="1" i="0" u="none" strike="noStrike">
                          <a:solidFill>
                            <a:schemeClr val="bg1"/>
                          </a:solidFill>
                          <a:effectLst/>
                          <a:latin typeface="+mn-lt"/>
                          <a:ea typeface="Verdana" panose="020B0604030504040204" pitchFamily="34" charset="0"/>
                        </a:rPr>
                        <a:t>Publications in Journals</a:t>
                      </a: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tc>
                  <a:txBody>
                    <a:bodyPr/>
                    <a:lstStyle/>
                    <a:p>
                      <a:pPr algn="ctr" fontAlgn="t"/>
                      <a:r>
                        <a:rPr lang="en-IN" sz="900" b="1" i="0" u="none" strike="noStrike" kern="1200">
                          <a:solidFill>
                            <a:schemeClr val="bg1"/>
                          </a:solidFill>
                          <a:effectLst/>
                          <a:latin typeface="+mn-lt"/>
                          <a:ea typeface="Verdana" panose="020B0604030504040204" pitchFamily="34" charset="0"/>
                          <a:cs typeface="+mn-cs"/>
                        </a:rPr>
                        <a:t>Subject and Themes</a:t>
                      </a:r>
                      <a:endParaRPr lang="en-IN" sz="900" b="1" i="0" u="none" strike="noStrike">
                        <a:solidFill>
                          <a:schemeClr val="bg1"/>
                        </a:solidFill>
                        <a:effectLst/>
                        <a:latin typeface="+mn-lt"/>
                        <a:ea typeface="Verdana" panose="020B0604030504040204" pitchFamily="34" charset="0"/>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rgbClr val="75787B"/>
                    </a:solidFill>
                  </a:tcPr>
                </a:tc>
                <a:extLst>
                  <a:ext uri="{0D108BD9-81ED-4DB2-BD59-A6C34878D82A}">
                    <a16:rowId xmlns:a16="http://schemas.microsoft.com/office/drawing/2014/main" val="185327338"/>
                  </a:ext>
                </a:extLst>
              </a:tr>
              <a:tr h="368714">
                <a:tc gridSpan="7">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900" b="1" i="0" u="none" strike="noStrike" kern="1200">
                          <a:solidFill>
                            <a:schemeClr val="bg1"/>
                          </a:solidFill>
                          <a:effectLst/>
                          <a:latin typeface="+mn-lt"/>
                          <a:ea typeface="+mn-ea"/>
                          <a:cs typeface="+mn-cs"/>
                        </a:rPr>
                        <a:t>Experience of the Organization in conducting research Projects/Reports in similar areas of this subject/theme for Reputed institutes and publications in the last 10 years.</a:t>
                      </a: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marL="0" marR="0" lvl="0" indent="0" algn="ctr" defTabSz="914400" rtl="0" eaLnBrk="1" fontAlgn="t" latinLnBrk="0" hangingPunct="1">
                        <a:lnSpc>
                          <a:spcPts val="1200"/>
                        </a:lnSpc>
                        <a:spcBef>
                          <a:spcPts val="0"/>
                        </a:spcBef>
                        <a:spcAft>
                          <a:spcPts val="0"/>
                        </a:spcAft>
                        <a:buClrTx/>
                        <a:buSzTx/>
                        <a:buFontTx/>
                        <a:buNone/>
                        <a:tabLst/>
                        <a:defRPr/>
                      </a:pPr>
                      <a:endParaRPr lang="en-US" sz="900" u="none" strike="noStrike" kern="1200">
                        <a:solidFill>
                          <a:schemeClr val="tx1"/>
                        </a:solidFill>
                        <a:effectLst/>
                        <a:latin typeface="Verdana" panose="020B0604030504040204" pitchFamily="34" charset="0"/>
                        <a:ea typeface="Verdana" panose="020B0604030504040204" pitchFamily="34" charset="0"/>
                        <a:cs typeface="+mn-cs"/>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endParaRPr lang="en-IN"/>
                    </a:p>
                  </a:txBody>
                  <a:tcPr>
                    <a:lnL w="12700" cap="flat" cmpd="sng" algn="ctr">
                      <a:solidFill>
                        <a:srgbClr val="0097A9"/>
                      </a:solidFill>
                      <a:prstDash val="solid"/>
                      <a:round/>
                      <a:headEnd type="none" w="med" len="med"/>
                      <a:tailEnd type="none" w="med" len="med"/>
                    </a:lnL>
                    <a:lnT w="12700" cap="flat" cmpd="sng" algn="ctr">
                      <a:solidFill>
                        <a:srgbClr val="0097A9"/>
                      </a:solidFill>
                      <a:prstDash val="solid"/>
                      <a:round/>
                      <a:headEnd type="none" w="med" len="med"/>
                      <a:tailEnd type="none" w="med" len="med"/>
                    </a:lnT>
                  </a:tcPr>
                </a:tc>
                <a:tc hMerge="1">
                  <a:txBody>
                    <a:bodyPr/>
                    <a:lstStyle/>
                    <a:p>
                      <a:endParaRPr lang="en-IN"/>
                    </a:p>
                  </a:txBody>
                  <a:tcPr>
                    <a:lnL w="12700" cap="flat" cmpd="sng" algn="ctr">
                      <a:solidFill>
                        <a:srgbClr val="0097A9"/>
                      </a:solidFill>
                      <a:prstDash val="solid"/>
                      <a:round/>
                      <a:headEnd type="none" w="med" len="med"/>
                      <a:tailEnd type="none" w="med" len="med"/>
                    </a:lnL>
                    <a:lnT w="12700" cap="flat" cmpd="sng" algn="ctr">
                      <a:solidFill>
                        <a:srgbClr val="0097A9"/>
                      </a:solidFill>
                      <a:prstDash val="solid"/>
                      <a:round/>
                      <a:headEnd type="none" w="med" len="med"/>
                      <a:tailEnd type="none" w="med" len="med"/>
                    </a:lnT>
                  </a:tcPr>
                </a:tc>
                <a:tc hMerge="1">
                  <a:txBody>
                    <a:bodyPr/>
                    <a:lstStyle/>
                    <a:p>
                      <a:endParaRPr lang="en-IN"/>
                    </a:p>
                  </a:txBody>
                  <a:tcPr>
                    <a:lnL w="12700" cap="flat" cmpd="sng" algn="ctr">
                      <a:solidFill>
                        <a:srgbClr val="0097A9"/>
                      </a:solidFill>
                      <a:prstDash val="solid"/>
                      <a:round/>
                      <a:headEnd type="none" w="med" len="med"/>
                      <a:tailEnd type="none" w="med" len="med"/>
                    </a:lnL>
                    <a:lnT w="12700" cap="flat" cmpd="sng" algn="ctr">
                      <a:solidFill>
                        <a:srgbClr val="0097A9"/>
                      </a:solidFill>
                      <a:prstDash val="solid"/>
                      <a:round/>
                      <a:headEnd type="none" w="med" len="med"/>
                      <a:tailEnd type="none" w="med" len="med"/>
                    </a:lnT>
                  </a:tcPr>
                </a:tc>
                <a:tc hMerge="1">
                  <a:txBody>
                    <a:bodyPr/>
                    <a:lstStyle/>
                    <a:p>
                      <a:endParaRPr lang="en-IN"/>
                    </a:p>
                  </a:txBody>
                  <a:tcPr>
                    <a:lnL w="12700" cap="flat" cmpd="sng" algn="ctr">
                      <a:solidFill>
                        <a:srgbClr val="0097A9"/>
                      </a:solidFill>
                      <a:prstDash val="solid"/>
                      <a:round/>
                      <a:headEnd type="none" w="med" len="med"/>
                      <a:tailEnd type="none" w="med" len="med"/>
                    </a:lnL>
                    <a:lnT w="12700" cap="flat" cmpd="sng" algn="ctr">
                      <a:solidFill>
                        <a:srgbClr val="0097A9"/>
                      </a:solidFill>
                      <a:prstDash val="solid"/>
                      <a:round/>
                      <a:headEnd type="none" w="med" len="med"/>
                      <a:tailEnd type="none" w="med" len="med"/>
                    </a:lnT>
                  </a:tcPr>
                </a:tc>
                <a:tc hMerge="1">
                  <a:txBody>
                    <a:bodyPr/>
                    <a:lstStyle/>
                    <a:p>
                      <a:pPr marL="0" marR="0" lvl="0" indent="0" algn="l" defTabSz="914400" rtl="0" eaLnBrk="1" fontAlgn="t" latinLnBrk="0" hangingPunct="1">
                        <a:lnSpc>
                          <a:spcPct val="100000"/>
                        </a:lnSpc>
                        <a:spcBef>
                          <a:spcPts val="0"/>
                        </a:spcBef>
                        <a:spcAft>
                          <a:spcPts val="0"/>
                        </a:spcAft>
                        <a:buClrTx/>
                        <a:buSzTx/>
                        <a:buFontTx/>
                        <a:buNone/>
                        <a:tabLst/>
                        <a:defRPr/>
                      </a:pPr>
                      <a:endParaRPr lang="en-US" sz="1050" b="1" i="0" u="none" strike="noStrike" kern="1200">
                        <a:solidFill>
                          <a:schemeClr val="bg1"/>
                        </a:solidFill>
                        <a:effectLst/>
                        <a:latin typeface="Verdana"/>
                        <a:ea typeface="+mn-ea"/>
                        <a:cs typeface="+mn-cs"/>
                      </a:endParaRPr>
                    </a:p>
                  </a:txBody>
                  <a:tcPr marL="5363" marR="5363" marT="5363" marB="0" anchor="ctr">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555622006"/>
                  </a:ext>
                </a:extLst>
              </a:tr>
              <a:tr h="811197">
                <a:tc>
                  <a:txBody>
                    <a:bodyPr/>
                    <a:lstStyle/>
                    <a:p>
                      <a:pPr marL="0" marR="0">
                        <a:lnSpc>
                          <a:spcPct val="115000"/>
                        </a:lnSpc>
                        <a:buNone/>
                      </a:pPr>
                      <a:r>
                        <a:rPr lang="en-US" sz="900" kern="100">
                          <a:effectLst/>
                          <a:latin typeface="+mn-lt"/>
                          <a:ea typeface="Times New Roman" panose="02020603050405020304" pitchFamily="18" charset="0"/>
                          <a:cs typeface="Mangal" panose="02040503050203030202" pitchFamily="18" charset="0"/>
                        </a:rPr>
                        <a:t>11.</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b="1" kern="100">
                          <a:solidFill>
                            <a:srgbClr val="000000"/>
                          </a:solidFill>
                          <a:effectLst/>
                          <a:latin typeface="+mn-lt"/>
                          <a:ea typeface="Times New Roman" panose="02020603050405020304" pitchFamily="18" charset="0"/>
                          <a:cs typeface="Mangal" panose="02040503050203030202" pitchFamily="18" charset="0"/>
                        </a:rPr>
                        <a:t>Impact of Global Recession on India's Trade</a:t>
                      </a:r>
                      <a:endParaRPr lang="en-IN" sz="900" b="1"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US" sz="900" kern="100">
                          <a:effectLst/>
                          <a:latin typeface="+mn-lt"/>
                          <a:ea typeface="Verdana" panose="020B0604030504040204" pitchFamily="34" charset="0"/>
                          <a:cs typeface="Mangal" panose="02040503050203030202" pitchFamily="18" charset="0"/>
                        </a:rPr>
                        <a:t>NITI Aayog, Government of India</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May 2023-September 2023</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INR 25 Lakhs</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Research Studies &amp; Policy Advisory; Public Finance &amp; Fiscal Policy Analysis</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646002753"/>
                  </a:ext>
                </a:extLst>
              </a:tr>
              <a:tr h="811197">
                <a:tc>
                  <a:txBody>
                    <a:bodyPr/>
                    <a:lstStyle/>
                    <a:p>
                      <a:pPr marL="0" marR="0">
                        <a:lnSpc>
                          <a:spcPct val="115000"/>
                        </a:lnSpc>
                        <a:buNone/>
                      </a:pPr>
                      <a:r>
                        <a:rPr lang="en-US" sz="900" kern="100">
                          <a:effectLst/>
                          <a:latin typeface="+mn-lt"/>
                          <a:ea typeface="Times New Roman" panose="02020603050405020304" pitchFamily="18" charset="0"/>
                          <a:cs typeface="Mangal" panose="02040503050203030202" pitchFamily="18" charset="0"/>
                        </a:rPr>
                        <a:t>12.</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b="1" kern="100">
                          <a:solidFill>
                            <a:srgbClr val="000000"/>
                          </a:solidFill>
                          <a:effectLst/>
                          <a:latin typeface="+mn-lt"/>
                          <a:ea typeface="Times New Roman" panose="02020603050405020304" pitchFamily="18" charset="0"/>
                          <a:cs typeface="Mangal" panose="02040503050203030202" pitchFamily="18" charset="0"/>
                        </a:rPr>
                        <a:t>Drafting of National Logistics Policy</a:t>
                      </a:r>
                      <a:endParaRPr lang="en-IN" sz="900" b="1"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US" sz="900" kern="100">
                          <a:effectLst/>
                          <a:latin typeface="+mn-lt"/>
                          <a:ea typeface="Verdana" panose="020B0604030504040204" pitchFamily="34" charset="0"/>
                          <a:cs typeface="Mangal" panose="02040503050203030202" pitchFamily="18" charset="0"/>
                        </a:rPr>
                        <a:t>Asian Development Bank and Government of Nepal</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November 2020-June 2021</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INR 24.60 Lakhs</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Research Studies &amp; Policy Advisory; Multilateral Development Project</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92177687"/>
                  </a:ext>
                </a:extLst>
              </a:tr>
              <a:tr h="811197">
                <a:tc>
                  <a:txBody>
                    <a:bodyPr/>
                    <a:lstStyle/>
                    <a:p>
                      <a:pPr marL="0" marR="0">
                        <a:lnSpc>
                          <a:spcPct val="115000"/>
                        </a:lnSpc>
                        <a:buNone/>
                      </a:pPr>
                      <a:r>
                        <a:rPr lang="en-US" sz="900" kern="100">
                          <a:effectLst/>
                          <a:latin typeface="+mn-lt"/>
                          <a:ea typeface="Times New Roman" panose="02020603050405020304" pitchFamily="18" charset="0"/>
                          <a:cs typeface="Mangal" panose="02040503050203030202" pitchFamily="18" charset="0"/>
                        </a:rPr>
                        <a:t>13.</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b="1" kern="100">
                          <a:solidFill>
                            <a:srgbClr val="000000"/>
                          </a:solidFill>
                          <a:effectLst/>
                          <a:latin typeface="+mn-lt"/>
                          <a:ea typeface="Times New Roman" panose="02020603050405020304" pitchFamily="18" charset="0"/>
                          <a:cs typeface="Mangal" panose="02040503050203030202" pitchFamily="18" charset="0"/>
                        </a:rPr>
                        <a:t>Market Assessment of “ICCC as a Service” -  NEC Corporation India, Smart Cities</a:t>
                      </a:r>
                      <a:endParaRPr lang="en-IN" sz="900" b="1"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kern="100">
                          <a:effectLst/>
                          <a:latin typeface="+mn-lt"/>
                          <a:ea typeface="Verdana" panose="020B0604030504040204" pitchFamily="34" charset="0"/>
                          <a:cs typeface="Mangal" panose="02040503050203030202" pitchFamily="18" charset="0"/>
                        </a:rPr>
                        <a:t>NEC Corporation India Pvt. Ltd.</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May 2022- October 2022</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INR 30 Lakhs</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Research Studies &amp; Policy Advisory</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074228120"/>
                  </a:ext>
                </a:extLst>
              </a:tr>
              <a:tr h="811197">
                <a:tc>
                  <a:txBody>
                    <a:bodyPr/>
                    <a:lstStyle/>
                    <a:p>
                      <a:pPr marL="0" marR="0">
                        <a:lnSpc>
                          <a:spcPct val="115000"/>
                        </a:lnSpc>
                        <a:buNone/>
                      </a:pPr>
                      <a:r>
                        <a:rPr lang="en-US" sz="900" kern="100">
                          <a:effectLst/>
                          <a:latin typeface="+mn-lt"/>
                          <a:ea typeface="Times New Roman" panose="02020603050405020304" pitchFamily="18" charset="0"/>
                          <a:cs typeface="Mangal" panose="02040503050203030202" pitchFamily="18" charset="0"/>
                        </a:rPr>
                        <a:t>14.</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b="1" kern="100">
                          <a:solidFill>
                            <a:srgbClr val="000000"/>
                          </a:solidFill>
                          <a:effectLst/>
                          <a:latin typeface="+mn-lt"/>
                          <a:ea typeface="Times New Roman" panose="02020603050405020304" pitchFamily="18" charset="0"/>
                          <a:cs typeface="Mangal" panose="02040503050203030202" pitchFamily="18" charset="0"/>
                        </a:rPr>
                        <a:t>Strategic Support for Mann Deshi Foundation's Women's Empowerment through Entrepreneurship Development - Mumbai Expansion (Need Assessment)</a:t>
                      </a:r>
                      <a:endParaRPr lang="en-IN" sz="900" b="1"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kern="100">
                          <a:effectLst/>
                          <a:latin typeface="+mn-lt"/>
                          <a:ea typeface="Verdana" panose="020B0604030504040204" pitchFamily="34" charset="0"/>
                          <a:cs typeface="Mangal" panose="02040503050203030202" pitchFamily="18" charset="0"/>
                        </a:rPr>
                        <a:t>Mann Deshi Foundation</a:t>
                      </a:r>
                      <a:endParaRPr lang="en-IN" sz="900" kern="100">
                        <a:effectLst/>
                        <a:latin typeface="+mn-lt"/>
                        <a:ea typeface="Times New Roman" panose="02020603050405020304" pitchFamily="18" charset="0"/>
                        <a:cs typeface="Mangal" panose="02040503050203030202" pitchFamily="18" charset="0"/>
                      </a:endParaRPr>
                    </a:p>
                    <a:p>
                      <a:pPr marL="0" marR="0" algn="just">
                        <a:lnSpc>
                          <a:spcPct val="115000"/>
                        </a:lnSpc>
                        <a:buNone/>
                      </a:pPr>
                      <a:r>
                        <a:rPr lang="en-US" sz="900" kern="100">
                          <a:effectLst/>
                          <a:latin typeface="+mn-lt"/>
                          <a:ea typeface="Verdana" panose="020B0604030504040204" pitchFamily="34"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November 2022-January 2023</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INR 54 Lakhs</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Research Studies &amp; Policy Advisory</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095432095"/>
                  </a:ext>
                </a:extLst>
              </a:tr>
              <a:tr h="861890">
                <a:tc>
                  <a:txBody>
                    <a:bodyPr/>
                    <a:lstStyle/>
                    <a:p>
                      <a:pPr marL="0" marR="0">
                        <a:lnSpc>
                          <a:spcPct val="115000"/>
                        </a:lnSpc>
                        <a:buNone/>
                      </a:pPr>
                      <a:r>
                        <a:rPr lang="en-US" sz="900" kern="100">
                          <a:effectLst/>
                          <a:latin typeface="+mn-lt"/>
                          <a:ea typeface="Times New Roman" panose="02020603050405020304" pitchFamily="18" charset="0"/>
                          <a:cs typeface="Mangal" panose="02040503050203030202" pitchFamily="18" charset="0"/>
                        </a:rPr>
                        <a:t>15.</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b="1" kern="100">
                          <a:solidFill>
                            <a:srgbClr val="000000"/>
                          </a:solidFill>
                          <a:effectLst/>
                          <a:latin typeface="+mn-lt"/>
                          <a:ea typeface="Times New Roman" panose="02020603050405020304" pitchFamily="18" charset="0"/>
                          <a:cs typeface="Mangal" panose="02040503050203030202" pitchFamily="18" charset="0"/>
                        </a:rPr>
                        <a:t>Ranking of States/UTs on the basis of their logistics efficiency – Development of an Index titled ‘Logistics Ease Across Different States (LEADS 2024-2026)</a:t>
                      </a:r>
                      <a:endParaRPr lang="en-IN" sz="900" b="1"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buNone/>
                      </a:pPr>
                      <a:r>
                        <a:rPr lang="en-US" sz="900" kern="100">
                          <a:effectLst/>
                          <a:latin typeface="+mn-lt"/>
                          <a:ea typeface="Verdana" panose="020B0604030504040204" pitchFamily="34" charset="0"/>
                          <a:cs typeface="Mangal" panose="02040503050203030202" pitchFamily="18" charset="0"/>
                        </a:rPr>
                        <a:t>Ministry of Commerce and Industry, Government of India</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July 2017-Jan 2025</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INR 5.87 Crore</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Research Studies &amp; Policy Advisory</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248647345"/>
                  </a:ext>
                </a:extLst>
              </a:tr>
              <a:tr h="811197">
                <a:tc>
                  <a:txBody>
                    <a:bodyPr/>
                    <a:lstStyle/>
                    <a:p>
                      <a:pPr marL="0" marR="0">
                        <a:lnSpc>
                          <a:spcPct val="115000"/>
                        </a:lnSpc>
                        <a:buNone/>
                      </a:pPr>
                      <a:r>
                        <a:rPr lang="en-US" sz="900" kern="100">
                          <a:effectLst/>
                          <a:latin typeface="+mn-lt"/>
                          <a:ea typeface="Times New Roman" panose="02020603050405020304" pitchFamily="18" charset="0"/>
                          <a:cs typeface="Mangal" panose="02040503050203030202" pitchFamily="18" charset="0"/>
                        </a:rPr>
                        <a:t>16.</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b="1" kern="100">
                          <a:solidFill>
                            <a:srgbClr val="000000"/>
                          </a:solidFill>
                          <a:effectLst/>
                          <a:latin typeface="+mn-lt"/>
                          <a:ea typeface="Times New Roman" panose="02020603050405020304" pitchFamily="18" charset="0"/>
                          <a:cs typeface="Mangal" panose="02040503050203030202" pitchFamily="18" charset="0"/>
                        </a:rPr>
                        <a:t>East Coast Economic Corridor Development in West Bengal ( Ref: ADB-Niti Creds)</a:t>
                      </a:r>
                      <a:endParaRPr lang="en-IN" sz="900" b="1"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US" sz="900" kern="100">
                          <a:effectLst/>
                          <a:latin typeface="+mn-lt"/>
                          <a:ea typeface="Verdana" panose="020B0604030504040204" pitchFamily="34" charset="0"/>
                          <a:cs typeface="Mangal" panose="02040503050203030202" pitchFamily="18" charset="0"/>
                        </a:rPr>
                        <a:t>Asian Development Bank / Government of West Bengal</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April 2023-September 2024</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INR 59.13 Lakhs</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gn="just">
                        <a:lnSpc>
                          <a:spcPct val="115000"/>
                        </a:lnSpc>
                        <a:buNone/>
                      </a:pPr>
                      <a:r>
                        <a:rPr lang="en-IN" sz="900" i="1" kern="100">
                          <a:effectLst/>
                          <a:latin typeface="+mn-lt"/>
                          <a:ea typeface="Times New Roman" panose="02020603050405020304" pitchFamily="18" charset="0"/>
                          <a:cs typeface="Mangal" panose="02040503050203030202" pitchFamily="18" charset="0"/>
                        </a:rPr>
                        <a:t> </a:t>
                      </a:r>
                      <a:endParaRPr lang="en-IN" sz="900" kern="100">
                        <a:effectLst/>
                        <a:latin typeface="+mn-lt"/>
                        <a:ea typeface="Times New Roman" panose="02020603050405020304" pitchFamily="18" charset="0"/>
                        <a:cs typeface="Mangal" panose="02040503050203030202" pitchFamily="18" charset="0"/>
                      </a:endParaRP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a:lnSpc>
                          <a:spcPct val="115000"/>
                        </a:lnSpc>
                        <a:buNone/>
                      </a:pPr>
                      <a:r>
                        <a:rPr lang="en-IN" sz="900" kern="100">
                          <a:effectLst/>
                          <a:latin typeface="+mn-lt"/>
                          <a:ea typeface="Times New Roman" panose="02020603050405020304" pitchFamily="18" charset="0"/>
                          <a:cs typeface="Mangal" panose="02040503050203030202" pitchFamily="18" charset="0"/>
                        </a:rPr>
                        <a:t>Research Studies &amp; Policy Advisory; Multilateral Development Project</a:t>
                      </a:r>
                    </a:p>
                  </a:txBody>
                  <a:tcPr marL="68580" marR="68580" marT="0" marB="0">
                    <a:lnL w="1270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339995136"/>
                  </a:ext>
                </a:extLst>
              </a:tr>
            </a:tbl>
          </a:graphicData>
        </a:graphic>
      </p:graphicFrame>
      <p:cxnSp>
        <p:nvCxnSpPr>
          <p:cNvPr id="2" name="Straight Arrow Connector 1">
            <a:extLst>
              <a:ext uri="{FF2B5EF4-FFF2-40B4-BE49-F238E27FC236}">
                <a16:creationId xmlns:a16="http://schemas.microsoft.com/office/drawing/2014/main" id="{B7D6A6CB-85E4-3131-3BB0-AE2F532A084F}"/>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D9B9865C-7647-F951-8A66-6FF706EDE605}"/>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ea typeface="+mj-ea"/>
                <a:cs typeface="Calibri" panose="020F0502020204030204" pitchFamily="34" charset="0"/>
              </a:rPr>
              <a:t>Our Experience – Summary Table (7/7)</a:t>
            </a:r>
          </a:p>
        </p:txBody>
      </p:sp>
    </p:spTree>
    <p:extLst>
      <p:ext uri="{BB962C8B-B14F-4D97-AF65-F5344CB8AC3E}">
        <p14:creationId xmlns:p14="http://schemas.microsoft.com/office/powerpoint/2010/main" val="11397523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704317827"/>
              </p:ext>
            </p:extLst>
          </p:nvPr>
        </p:nvGraphicFramePr>
        <p:xfrm>
          <a:off x="517290" y="769888"/>
          <a:ext cx="11161565" cy="5147752"/>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Times New Roman" panose="02020603050405020304" pitchFamily="18" charset="0"/>
                          <a:cs typeface="Times New Roman" panose="02020603050405020304" pitchFamily="18" charset="0"/>
                        </a:rPr>
                        <a:t>Evaluation of Centrally Sponsored Schemes in Agriculture and Allied Sectors</a:t>
                      </a:r>
                    </a:p>
                    <a:p>
                      <a:pPr marL="71755">
                        <a:lnSpc>
                          <a:spcPts val="1200"/>
                        </a:lnSpc>
                        <a:spcAft>
                          <a:spcPts val="0"/>
                        </a:spcAft>
                      </a:pPr>
                      <a:r>
                        <a:rPr lang="es-MX" sz="1000">
                          <a:solidFill>
                            <a:schemeClr val="bg1"/>
                          </a:solidFill>
                          <a:effectLst/>
                          <a:latin typeface="Verdana" panose="020B0604030504040204" pitchFamily="34" charset="0"/>
                          <a:ea typeface="Verdana" panose="020B0604030504040204" pitchFamily="34" charset="0"/>
                          <a:cs typeface="Times New Roman" panose="02020603050405020304" pitchFamily="18" charset="0"/>
                        </a:rPr>
                        <a:t>Client: </a:t>
                      </a:r>
                      <a:r>
                        <a:rPr lang="en-US" sz="1000">
                          <a:solidFill>
                            <a:schemeClr val="bg1"/>
                          </a:solidFill>
                          <a:effectLst/>
                          <a:latin typeface="Verdana" panose="020B0604030504040204" pitchFamily="34" charset="0"/>
                          <a:ea typeface="Verdana" panose="020B0604030504040204" pitchFamily="34" charset="0"/>
                          <a:cs typeface="Times New Roman" panose="02020603050405020304" pitchFamily="18" charset="0"/>
                        </a:rPr>
                        <a:t>NITI Aayog</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3802505">
                <a:tc>
                  <a:txBody>
                    <a:bodyPr/>
                    <a:lstStyle/>
                    <a:p>
                      <a:pPr marL="96520" marR="0" lvl="0" indent="0" algn="just" defTabSz="914400" rtl="0" eaLnBrk="1" fontAlgn="auto" latinLnBrk="0" hangingPunct="1">
                        <a:lnSpc>
                          <a:spcPct val="100000"/>
                        </a:lnSpc>
                        <a:spcBef>
                          <a:spcPts val="0"/>
                        </a:spcBef>
                        <a:spcAft>
                          <a:spcPts val="400"/>
                        </a:spcAft>
                        <a:buClrTx/>
                        <a:buSzTx/>
                        <a:buFontTx/>
                        <a:buNone/>
                        <a:tabLst/>
                        <a:defRPr/>
                      </a:pPr>
                      <a:endParaRPr kumimoji="0" lang="en-US" sz="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118872" marR="0" lvl="0" indent="0" algn="just" defTabSz="914400" rtl="0" eaLnBrk="1" fontAlgn="auto" latinLnBrk="0" hangingPunct="1">
                        <a:lnSpc>
                          <a:spcPct val="100000"/>
                        </a:lnSpc>
                        <a:spcBef>
                          <a:spcPts val="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118872"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assignment included conducting a comprehensive study and survey in eleven states (including Uttar Pradesh) and one Union Territory for evaluation of flagship schemes including  Blue Revolution (fisheries), Green Revolution (agriculture) and White Revolution (animal husbandry) encompassing the agriculture and allied sector with specific focus on efficient resource utilization including central and state resources, production &amp; productivity/yield, cost-benefit ratio, quality, reduction in postharvest/storage losses, price realization, stabilization &amp; market efficiency, sector‘s social obligations, increase in farmers‘ income through the Umbrella CSS schemes. This intended to capture broader canvas of effectiveness, efficiency, employment generation, scope for skill developments, value additions, opportunities to bring innovation and sustainability to assess the overall sectoral impact in national economy.</a:t>
                      </a:r>
                    </a:p>
                    <a:p>
                      <a:pPr marL="118872"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118872" marR="0" lvl="0" indent="0" algn="just"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mn-lt"/>
                        <a:ea typeface="Arial" panose="020B0604020202020204" pitchFamily="34" charset="0"/>
                        <a:cs typeface="Times New Roman" panose="02020603050405020304" pitchFamily="18" charset="0"/>
                      </a:endParaRPr>
                    </a:p>
                    <a:p>
                      <a:pPr marL="290322"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err="1">
                          <a:ln>
                            <a:noFill/>
                          </a:ln>
                          <a:solidFill>
                            <a:prstClr val="black"/>
                          </a:solidFill>
                          <a:effectLst/>
                          <a:uLnTx/>
                          <a:uFillTx/>
                          <a:latin typeface="+mn-lt"/>
                          <a:ea typeface="Arial" panose="020B0604020202020204" pitchFamily="34" charset="0"/>
                          <a:cs typeface="Times New Roman" panose="02020603050405020304" pitchFamily="18" charset="0"/>
                        </a:rPr>
                        <a:t>Analysed</a:t>
                      </a:r>
                      <a:r>
                        <a:rPr kumimoji="0" lang="en-US" sz="900" b="0" i="0" u="none" strike="noStrike" kern="1200" cap="none" spc="0" normalizeH="0" baseline="0" noProof="0">
                          <a:ln>
                            <a:noFill/>
                          </a:ln>
                          <a:solidFill>
                            <a:prstClr val="black"/>
                          </a:solidFill>
                          <a:effectLst/>
                          <a:uLnTx/>
                          <a:uFillTx/>
                          <a:latin typeface="+mn-lt"/>
                          <a:ea typeface="Arial" panose="020B0604020202020204" pitchFamily="34" charset="0"/>
                          <a:cs typeface="Times New Roman" panose="02020603050405020304" pitchFamily="18" charset="0"/>
                        </a:rPr>
                        <a:t> Input use efficiency of Green Revolution, White Revolution, Blue Revolution and PMKSY (Per Drop More Crop) in terms of i.e. institutional mechanism, fund flow (adequacy &amp; timeliness) &amp; utilization </a:t>
                      </a:r>
                      <a:r>
                        <a:rPr kumimoji="0" lang="en-US" sz="900" b="1" i="0" u="none" strike="noStrike" kern="1200" cap="none" spc="0" normalizeH="0" baseline="0" noProof="0">
                          <a:ln>
                            <a:noFill/>
                          </a:ln>
                          <a:solidFill>
                            <a:prstClr val="black"/>
                          </a:solidFill>
                          <a:effectLst/>
                          <a:uLnTx/>
                          <a:uFillTx/>
                          <a:latin typeface="+mn-lt"/>
                          <a:ea typeface="Arial" panose="020B0604020202020204" pitchFamily="34" charset="0"/>
                          <a:cs typeface="Times New Roman" panose="02020603050405020304" pitchFamily="18" charset="0"/>
                        </a:rPr>
                        <a:t>through public expenditure tracking, planning process (top-down and bottom-up), policy guidelines and human resources allocated </a:t>
                      </a:r>
                      <a:r>
                        <a:rPr kumimoji="0" lang="en-US" sz="900" b="0" i="0" u="none" strike="noStrike" kern="1200" cap="none" spc="0" normalizeH="0" baseline="0" noProof="0">
                          <a:ln>
                            <a:noFill/>
                          </a:ln>
                          <a:solidFill>
                            <a:prstClr val="black"/>
                          </a:solidFill>
                          <a:effectLst/>
                          <a:uLnTx/>
                          <a:uFillTx/>
                          <a:latin typeface="+mn-lt"/>
                          <a:ea typeface="Arial" panose="020B0604020202020204" pitchFamily="34" charset="0"/>
                          <a:cs typeface="Times New Roman" panose="02020603050405020304" pitchFamily="18" charset="0"/>
                        </a:rPr>
                        <a:t>for the implementation of the schemes at central, state, district, block, and village, mechanisms to identify and reward best practices within the scheme design as well as Monitoring &amp; Evaluation systems </a:t>
                      </a:r>
                    </a:p>
                    <a:p>
                      <a:pPr marL="290322"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n-lt"/>
                          <a:ea typeface="Arial" panose="020B0604020202020204" pitchFamily="34" charset="0"/>
                          <a:cs typeface="Times New Roman" panose="02020603050405020304" pitchFamily="18" charset="0"/>
                        </a:rPr>
                        <a:t>Conducted more than </a:t>
                      </a:r>
                      <a:r>
                        <a:rPr kumimoji="0" lang="en-US" sz="900" b="1" i="0" u="none" strike="noStrike" kern="1200" cap="none" spc="0" normalizeH="0" baseline="0" noProof="0">
                          <a:ln>
                            <a:noFill/>
                          </a:ln>
                          <a:solidFill>
                            <a:prstClr val="black"/>
                          </a:solidFill>
                          <a:effectLst/>
                          <a:uLnTx/>
                          <a:uFillTx/>
                          <a:latin typeface="+mn-lt"/>
                          <a:ea typeface="Arial" panose="020B0604020202020204" pitchFamily="34" charset="0"/>
                          <a:cs typeface="Times New Roman" panose="02020603050405020304" pitchFamily="18" charset="0"/>
                        </a:rPr>
                        <a:t>150 Focus Group Discussions (FGDs), over 700 Key Informant Interviews (KIIs) and more than 1,800 Household (HH) Surveys across eleven states (including Uttar Pradesh) and one union territory </a:t>
                      </a:r>
                    </a:p>
                    <a:p>
                      <a:pPr marL="290322"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n-lt"/>
                          <a:ea typeface="Arial" panose="020B0604020202020204" pitchFamily="34" charset="0"/>
                          <a:cs typeface="Times New Roman" panose="02020603050405020304" pitchFamily="18" charset="0"/>
                        </a:rPr>
                        <a:t>Explored the coverage of the Green Revolution, White Revolution, Blue Revolution and PMKSY (Per Drop More Crop) in terms of eligible beneficiaries, geographies etc. and </a:t>
                      </a:r>
                      <a:r>
                        <a:rPr kumimoji="0" lang="en-US" sz="900" b="0" i="0" u="none" strike="noStrike" kern="1200" cap="none" spc="0" normalizeH="0" baseline="0" noProof="0" err="1">
                          <a:ln>
                            <a:noFill/>
                          </a:ln>
                          <a:solidFill>
                            <a:prstClr val="black"/>
                          </a:solidFill>
                          <a:effectLst/>
                          <a:uLnTx/>
                          <a:uFillTx/>
                          <a:latin typeface="+mn-lt"/>
                          <a:ea typeface="Arial" panose="020B0604020202020204" pitchFamily="34" charset="0"/>
                          <a:cs typeface="Times New Roman" panose="02020603050405020304" pitchFamily="18" charset="0"/>
                        </a:rPr>
                        <a:t>analyse</a:t>
                      </a:r>
                      <a:r>
                        <a:rPr kumimoji="0" lang="en-US" sz="900" b="0" i="0" u="none" strike="noStrike" kern="1200" cap="none" spc="0" normalizeH="0" baseline="0" noProof="0">
                          <a:ln>
                            <a:noFill/>
                          </a:ln>
                          <a:solidFill>
                            <a:prstClr val="black"/>
                          </a:solidFill>
                          <a:effectLst/>
                          <a:uLnTx/>
                          <a:uFillTx/>
                          <a:latin typeface="+mn-lt"/>
                          <a:ea typeface="Arial" panose="020B0604020202020204" pitchFamily="34" charset="0"/>
                          <a:cs typeface="Times New Roman" panose="02020603050405020304" pitchFamily="18" charset="0"/>
                        </a:rPr>
                        <a:t> the reasons for non-coverage, if applicable. </a:t>
                      </a:r>
                      <a:r>
                        <a:rPr kumimoji="0" lang="en-US" sz="900" b="0" i="0" u="none" strike="noStrike" kern="1200" cap="none" spc="0" normalizeH="0" baseline="0" noProof="0" err="1">
                          <a:ln>
                            <a:noFill/>
                          </a:ln>
                          <a:solidFill>
                            <a:prstClr val="black"/>
                          </a:solidFill>
                          <a:effectLst/>
                          <a:uLnTx/>
                          <a:uFillTx/>
                          <a:latin typeface="+mn-lt"/>
                          <a:ea typeface="Arial" panose="020B0604020202020204" pitchFamily="34" charset="0"/>
                          <a:cs typeface="Times New Roman" panose="02020603050405020304" pitchFamily="18" charset="0"/>
                        </a:rPr>
                        <a:t>Analyse</a:t>
                      </a:r>
                      <a:r>
                        <a:rPr kumimoji="0" lang="en-US" sz="900" b="0" i="0" u="none" strike="noStrike" kern="1200" cap="none" spc="0" normalizeH="0" baseline="0" noProof="0">
                          <a:ln>
                            <a:noFill/>
                          </a:ln>
                          <a:solidFill>
                            <a:prstClr val="black"/>
                          </a:solidFill>
                          <a:effectLst/>
                          <a:uLnTx/>
                          <a:uFillTx/>
                          <a:latin typeface="+mn-lt"/>
                          <a:ea typeface="Arial" panose="020B0604020202020204" pitchFamily="34" charset="0"/>
                          <a:cs typeface="Times New Roman" panose="02020603050405020304" pitchFamily="18" charset="0"/>
                        </a:rPr>
                        <a:t> the coverage of landless and small &amp; marginal farmers in case of Green Revolution and small dairy farmers and fishers based on household survey and KIIs </a:t>
                      </a:r>
                    </a:p>
                    <a:p>
                      <a:pPr marL="290322"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n-lt"/>
                          <a:ea typeface="Arial" panose="020B0604020202020204" pitchFamily="34" charset="0"/>
                          <a:cs typeface="Times New Roman" panose="02020603050405020304" pitchFamily="18" charset="0"/>
                        </a:rPr>
                        <a:t>Identified key bottlenecks/issues &amp; challenges in the implementation like </a:t>
                      </a:r>
                      <a:r>
                        <a:rPr kumimoji="0" lang="en-US" sz="900" b="1" i="0" u="none" strike="noStrike" kern="1200" cap="none" spc="0" normalizeH="0" baseline="0" noProof="0">
                          <a:ln>
                            <a:noFill/>
                          </a:ln>
                          <a:solidFill>
                            <a:prstClr val="black"/>
                          </a:solidFill>
                          <a:effectLst/>
                          <a:uLnTx/>
                          <a:uFillTx/>
                          <a:latin typeface="+mn-lt"/>
                          <a:ea typeface="Arial" panose="020B0604020202020204" pitchFamily="34" charset="0"/>
                          <a:cs typeface="Times New Roman" panose="02020603050405020304" pitchFamily="18" charset="0"/>
                        </a:rPr>
                        <a:t>capacity constraints at state, district &amp; block level, supporting stakeholder engagement, timely availability </a:t>
                      </a:r>
                      <a:r>
                        <a:rPr kumimoji="0" lang="en-US" sz="900" b="0" i="0" u="none" strike="noStrike" kern="1200" cap="none" spc="0" normalizeH="0" baseline="0" noProof="0">
                          <a:ln>
                            <a:noFill/>
                          </a:ln>
                          <a:solidFill>
                            <a:prstClr val="black"/>
                          </a:solidFill>
                          <a:effectLst/>
                          <a:uLnTx/>
                          <a:uFillTx/>
                          <a:latin typeface="+mn-lt"/>
                          <a:ea typeface="Arial" panose="020B0604020202020204" pitchFamily="34" charset="0"/>
                          <a:cs typeface="Times New Roman" panose="02020603050405020304" pitchFamily="18" charset="0"/>
                        </a:rPr>
                        <a:t>of quality inputs, non-adoption of best practices, issues in the bottom-up district-level planning and non-integrated nature of advisories, issues in collective/cooperative model, harvest &amp; post-harvest losses and absence of efficient price realization mechanisms </a:t>
                      </a:r>
                    </a:p>
                    <a:p>
                      <a:pPr marL="290322"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n-lt"/>
                          <a:ea typeface="Arial" panose="020B0604020202020204" pitchFamily="34" charset="0"/>
                          <a:cs typeface="Times New Roman" panose="02020603050405020304" pitchFamily="18" charset="0"/>
                        </a:rPr>
                        <a:t>Designed the discussions guides for focus group discussions, interview guides for in-depth interviews and structured questionnaires/schedules for household surveys </a:t>
                      </a:r>
                    </a:p>
                    <a:p>
                      <a:pPr marL="290322"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n-lt"/>
                          <a:ea typeface="Arial" panose="020B0604020202020204" pitchFamily="34" charset="0"/>
                          <a:cs typeface="Times New Roman" panose="02020603050405020304" pitchFamily="18" charset="0"/>
                        </a:rPr>
                        <a:t>Putting in </a:t>
                      </a:r>
                      <a:r>
                        <a:rPr kumimoji="0" lang="en-US" sz="900" b="1" i="0" u="none" strike="noStrike" kern="1200" cap="none" spc="0" normalizeH="0" baseline="0" noProof="0">
                          <a:ln>
                            <a:noFill/>
                          </a:ln>
                          <a:solidFill>
                            <a:prstClr val="black"/>
                          </a:solidFill>
                          <a:effectLst/>
                          <a:uLnTx/>
                          <a:uFillTx/>
                          <a:latin typeface="+mn-lt"/>
                          <a:ea typeface="Arial" panose="020B0604020202020204" pitchFamily="34" charset="0"/>
                          <a:cs typeface="Times New Roman" panose="02020603050405020304" pitchFamily="18" charset="0"/>
                        </a:rPr>
                        <a:t>place appropriate IT hardware and application software for data collection and management </a:t>
                      </a:r>
                    </a:p>
                    <a:p>
                      <a:pPr marL="290322"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n-lt"/>
                          <a:ea typeface="Arial" panose="020B0604020202020204" pitchFamily="34" charset="0"/>
                          <a:cs typeface="Times New Roman" panose="02020603050405020304" pitchFamily="18" charset="0"/>
                        </a:rPr>
                        <a:t>Evaluated quality of assets created in Green Revolution, White Revolution, Blue Revolution and PMKSY (Per Drop More Crop) and services provided therein </a:t>
                      </a:r>
                    </a:p>
                    <a:p>
                      <a:pPr marL="290322"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n-lt"/>
                          <a:ea typeface="Arial" panose="020B0604020202020204" pitchFamily="34" charset="0"/>
                          <a:cs typeface="Times New Roman" panose="02020603050405020304" pitchFamily="18" charset="0"/>
                        </a:rPr>
                        <a:t>Assessed extent of convergence within and across Green Revolution, White Revolution, Blue Revolution and PMKSY (Per Drop More Crop) as well as with other central/state government schemes and private sector, CSR, Civil society efforts, multilaterals, etc.</a:t>
                      </a:r>
                    </a:p>
                  </a:txBody>
                  <a:tcPr marL="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marR="0" lvl="0" indent="0" algn="l" defTabSz="914400" rtl="0" eaLnBrk="1" fontAlgn="auto" latinLnBrk="0" hangingPunct="1">
                        <a:lnSpc>
                          <a:spcPct val="115000"/>
                        </a:lnSpc>
                        <a:spcBef>
                          <a:spcPts val="400"/>
                        </a:spcBef>
                        <a:spcAft>
                          <a:spcPts val="400"/>
                        </a:spcAft>
                        <a:buClrTx/>
                        <a:buSzTx/>
                        <a:buFontTx/>
                        <a:buNone/>
                        <a:tabLst/>
                        <a:defRPr/>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September 2019; </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September 2020</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900" b="1">
                <a:solidFill>
                  <a:prstClr val="white"/>
                </a:solidFill>
                <a:latin typeface="Verdana"/>
              </a:rPr>
              <a:t>1</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37057224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213621237"/>
              </p:ext>
            </p:extLst>
          </p:nvPr>
        </p:nvGraphicFramePr>
        <p:xfrm>
          <a:off x="517290" y="745905"/>
          <a:ext cx="11161565" cy="5037082"/>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300355" indent="-228600">
                        <a:lnSpc>
                          <a:spcPts val="1200"/>
                        </a:lnSpc>
                        <a:spcAft>
                          <a:spcPts val="0"/>
                        </a:spcAft>
                        <a:buAutoNum type="arabicPeriod" startAt="2"/>
                      </a:pPr>
                      <a:r>
                        <a:rPr lang="en-US" sz="1200" b="1">
                          <a:solidFill>
                            <a:schemeClr val="bg1"/>
                          </a:solidFill>
                          <a:effectLst/>
                          <a:latin typeface="Verdana" panose="020B0604030504040204" pitchFamily="34" charset="0"/>
                          <a:ea typeface="Times New Roman" panose="02020603050405020304" pitchFamily="18" charset="0"/>
                          <a:cs typeface="Times New Roman" panose="02020603050405020304" pitchFamily="18" charset="0"/>
                        </a:rPr>
                        <a:t>Economic Intelligence Unit, West Bengal </a:t>
                      </a:r>
                    </a:p>
                    <a:p>
                      <a:pPr marL="71755" indent="0">
                        <a:lnSpc>
                          <a:spcPts val="1200"/>
                        </a:lnSpc>
                        <a:spcAft>
                          <a:spcPts val="0"/>
                        </a:spcAft>
                        <a:buNone/>
                      </a:pPr>
                      <a:r>
                        <a:rPr lang="en-US" sz="1000" b="0">
                          <a:solidFill>
                            <a:schemeClr val="bg1"/>
                          </a:solidFill>
                          <a:effectLst/>
                          <a:latin typeface="Verdana" panose="020B0604030504040204" pitchFamily="34" charset="0"/>
                          <a:ea typeface="Times New Roman" panose="02020603050405020304" pitchFamily="18" charset="0"/>
                          <a:cs typeface="Times New Roman" panose="02020603050405020304" pitchFamily="18" charset="0"/>
                        </a:rPr>
                        <a:t>Client: Finance Department, Government of West Bengal</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3282098">
                <a:tc>
                  <a:txBody>
                    <a:bodyPr/>
                    <a:lstStyle/>
                    <a:p>
                      <a:pPr marL="115888" marR="0" lvl="0" indent="0" algn="just" defTabSz="914400" rtl="0" eaLnBrk="1" fontAlgn="auto" latinLnBrk="0" hangingPunct="1">
                        <a:lnSpc>
                          <a:spcPct val="115000"/>
                        </a:lnSpc>
                        <a:spcBef>
                          <a:spcPts val="400"/>
                        </a:spcBef>
                        <a:spcAft>
                          <a:spcPts val="400"/>
                        </a:spcAft>
                        <a:buClrTx/>
                        <a:buSzTx/>
                        <a:buFontTx/>
                        <a:buNone/>
                        <a:tabLst/>
                        <a:defRPr/>
                      </a:pPr>
                      <a:endParaRPr kumimoji="0" lang="en-US" sz="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118872" marR="0" lvl="0" indent="0" algn="just" defTabSz="914400" rtl="0" eaLnBrk="1" fontAlgn="auto" latinLnBrk="0" hangingPunct="1">
                        <a:lnSpc>
                          <a:spcPct val="115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118872"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mn-lt"/>
                          <a:ea typeface="+mn-ea"/>
                          <a:cs typeface="+mn-cs"/>
                        </a:rPr>
                        <a:t>Assist authority under their instructions and supervision in various areas related to public finance</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115888"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115888"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176213"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mn-lt"/>
                          <a:ea typeface="+mn-ea"/>
                          <a:cs typeface="+mn-cs"/>
                        </a:rPr>
                        <a:t>GST Potential Analysis and GST Data Analytics</a:t>
                      </a:r>
                      <a:r>
                        <a:rPr kumimoji="0" lang="en-US" sz="900" b="0" i="0" u="none" strike="noStrike" kern="1200" cap="none" spc="0" normalizeH="0" baseline="0" noProof="0">
                          <a:ln>
                            <a:noFill/>
                          </a:ln>
                          <a:solidFill>
                            <a:prstClr val="black"/>
                          </a:solidFill>
                          <a:effectLst/>
                          <a:uLnTx/>
                          <a:uFillTx/>
                          <a:latin typeface="+mn-lt"/>
                          <a:ea typeface="+mn-ea"/>
                          <a:cs typeface="+mn-cs"/>
                        </a:rPr>
                        <a:t>: Assessment of GST revenue trends, taxpayer compliance, sector-wise performance, revenue buoyancy, and identification of untapped GST potential. </a:t>
                      </a:r>
                    </a:p>
                    <a:p>
                      <a:pPr marL="365760" marR="0" lvl="0" indent="-176213"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mn-lt"/>
                          <a:ea typeface="+mn-ea"/>
                          <a:cs typeface="+mn-cs"/>
                        </a:rPr>
                        <a:t>Non-Tax Revenue Potential Analysis: </a:t>
                      </a:r>
                      <a:r>
                        <a:rPr kumimoji="0" lang="en-US" sz="900" b="0" i="0" u="none" strike="noStrike" kern="1200" cap="none" spc="0" normalizeH="0" baseline="0" noProof="0">
                          <a:ln>
                            <a:noFill/>
                          </a:ln>
                          <a:solidFill>
                            <a:prstClr val="black"/>
                          </a:solidFill>
                          <a:effectLst/>
                          <a:uLnTx/>
                          <a:uFillTx/>
                          <a:latin typeface="+mn-lt"/>
                          <a:ea typeface="+mn-ea"/>
                          <a:cs typeface="+mn-cs"/>
                        </a:rPr>
                        <a:t>Evaluation of existing non-tax revenue sources, including fees, charges, royalties, and asset-based revenues, to identify opportunities for revenue augmentation and improved resource mobilization by the State. </a:t>
                      </a:r>
                    </a:p>
                    <a:p>
                      <a:pPr marL="365760" marR="0" lvl="0" indent="-176213"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mn-lt"/>
                          <a:ea typeface="+mn-ea"/>
                          <a:cs typeface="+mn-cs"/>
                        </a:rPr>
                        <a:t>Impact Assessment of FRBM and Fiscal Consolidation Targets: </a:t>
                      </a:r>
                      <a:r>
                        <a:rPr kumimoji="0" lang="en-US" sz="900" b="0" i="0" u="none" strike="noStrike" kern="1200" cap="none" spc="0" normalizeH="0" baseline="0" noProof="0">
                          <a:ln>
                            <a:noFill/>
                          </a:ln>
                          <a:solidFill>
                            <a:prstClr val="black"/>
                          </a:solidFill>
                          <a:effectLst/>
                          <a:uLnTx/>
                          <a:uFillTx/>
                          <a:latin typeface="+mn-lt"/>
                          <a:ea typeface="+mn-ea"/>
                          <a:cs typeface="+mn-cs"/>
                        </a:rPr>
                        <a:t>Analysis of the implications of FRBM compliance and fiscal consolidation measures on developmental and social sector expenditure, with a focus on balancing fiscal discipline and growth-oriented public spending. </a:t>
                      </a:r>
                    </a:p>
                    <a:p>
                      <a:pPr marL="365760" marR="0" lvl="0" indent="-176213"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mn-lt"/>
                          <a:ea typeface="+mn-ea"/>
                          <a:cs typeface="+mn-cs"/>
                        </a:rPr>
                        <a:t>Debt Sustainability and Econometric Analysis: </a:t>
                      </a:r>
                      <a:r>
                        <a:rPr kumimoji="0" lang="en-US" sz="900" b="0" i="0" u="none" strike="noStrike" kern="1200" cap="none" spc="0" normalizeH="0" baseline="0" noProof="0">
                          <a:ln>
                            <a:noFill/>
                          </a:ln>
                          <a:solidFill>
                            <a:prstClr val="black"/>
                          </a:solidFill>
                          <a:effectLst/>
                          <a:uLnTx/>
                          <a:uFillTx/>
                          <a:latin typeface="+mn-lt"/>
                          <a:ea typeface="+mn-ea"/>
                          <a:cs typeface="+mn-cs"/>
                        </a:rPr>
                        <a:t>Examination of debt indicators, debt servicing capacity, fiscal risks, and long-term sustainability through statistical and econometric techniques to assess the State's fiscal resilience and borrowing capacity</a:t>
                      </a:r>
                    </a:p>
                    <a:p>
                      <a:pPr marL="365760" marR="0" lvl="0" indent="-176213"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mn-lt"/>
                          <a:ea typeface="+mn-ea"/>
                          <a:cs typeface="+mn-cs"/>
                        </a:rPr>
                        <a:t>Secondary Research on Public Finance and Fiscal Reforms</a:t>
                      </a:r>
                      <a:r>
                        <a:rPr kumimoji="0" lang="en-US" sz="900" b="0" i="0" u="none" strike="noStrike" kern="1200" cap="none" spc="0" normalizeH="0" baseline="0" noProof="0">
                          <a:ln>
                            <a:noFill/>
                          </a:ln>
                          <a:solidFill>
                            <a:prstClr val="black"/>
                          </a:solidFill>
                          <a:effectLst/>
                          <a:uLnTx/>
                          <a:uFillTx/>
                          <a:latin typeface="+mn-lt"/>
                          <a:ea typeface="+mn-ea"/>
                          <a:cs typeface="+mn-cs"/>
                        </a:rPr>
                        <a:t>: Review and analysis of policies, budget documents, fiscal reports, academic literature, and best practices related to revenue mobilization, public expenditure management, subsidies, and fiscal reforms at national and state levels. </a:t>
                      </a:r>
                    </a:p>
                    <a:p>
                      <a:pPr marL="365760" marR="0" lvl="0" indent="-176213"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mn-lt"/>
                          <a:ea typeface="+mn-ea"/>
                          <a:cs typeface="+mn-cs"/>
                        </a:rPr>
                        <a:t>Research Support to Finance Department: </a:t>
                      </a:r>
                      <a:r>
                        <a:rPr kumimoji="0" lang="en-US" sz="900" b="0" i="0" u="none" strike="noStrike" kern="1200" cap="none" spc="0" normalizeH="0" baseline="0" noProof="0">
                          <a:ln>
                            <a:noFill/>
                          </a:ln>
                          <a:solidFill>
                            <a:prstClr val="black"/>
                          </a:solidFill>
                          <a:effectLst/>
                          <a:uLnTx/>
                          <a:uFillTx/>
                          <a:latin typeface="+mn-lt"/>
                          <a:ea typeface="+mn-ea"/>
                          <a:cs typeface="+mn-cs"/>
                        </a:rPr>
                        <a:t>Provision of continuous analytical and research support to the Finance Department on emerging fiscal issues, policy matters, budget analysis, reform initiatives, and other assignments as required from time to time</a:t>
                      </a:r>
                    </a:p>
                  </a:txBody>
                  <a:tcPr marL="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marR="0" lvl="0" indent="0" algn="l" defTabSz="914400" rtl="0" eaLnBrk="1" fontAlgn="auto" latinLnBrk="0" hangingPunct="1">
                        <a:lnSpc>
                          <a:spcPct val="115000"/>
                        </a:lnSpc>
                        <a:spcBef>
                          <a:spcPts val="400"/>
                        </a:spcBef>
                        <a:spcAft>
                          <a:spcPts val="400"/>
                        </a:spcAft>
                        <a:buClrTx/>
                        <a:buSzTx/>
                        <a:buFontTx/>
                        <a:buNone/>
                        <a:tabLst/>
                        <a:defRPr/>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November 2019; </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 Date: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Ongoing</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409737">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0.47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2</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30057130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1700305503"/>
              </p:ext>
            </p:extLst>
          </p:nvPr>
        </p:nvGraphicFramePr>
        <p:xfrm>
          <a:off x="517290" y="745905"/>
          <a:ext cx="11161565" cy="5743785"/>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Times New Roman" panose="02020603050405020304" pitchFamily="18" charset="0"/>
                          <a:cs typeface="Times New Roman" panose="02020603050405020304" pitchFamily="18" charset="0"/>
                        </a:rPr>
                        <a:t>Consultancy Services for Capacity Development on Rajasthan Transparency in Public Procurement Act and Rules</a:t>
                      </a:r>
                    </a:p>
                    <a:p>
                      <a:pPr marL="71755">
                        <a:lnSpc>
                          <a:spcPts val="1200"/>
                        </a:lnSpc>
                        <a:spcAft>
                          <a:spcPts val="0"/>
                        </a:spcAft>
                      </a:pPr>
                      <a:r>
                        <a:rPr lang="en-US" sz="1000" b="0">
                          <a:solidFill>
                            <a:schemeClr val="bg1"/>
                          </a:solidFill>
                          <a:effectLst/>
                          <a:latin typeface="Verdana" panose="020B0604030504040204" pitchFamily="34" charset="0"/>
                          <a:ea typeface="Times New Roman" panose="02020603050405020304" pitchFamily="18" charset="0"/>
                          <a:cs typeface="Times New Roman" panose="02020603050405020304" pitchFamily="18" charset="0"/>
                        </a:rPr>
                        <a:t>Client: Economic Affairs Division (Govt. of Rajasthan)/World Bank</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3415831">
                <a:tc>
                  <a:txBody>
                    <a:bodyPr/>
                    <a:lstStyle/>
                    <a:p>
                      <a:pPr marL="57150" marR="0" lvl="0" indent="0" algn="just" defTabSz="914400" rtl="0" eaLnBrk="1" fontAlgn="auto" latinLnBrk="0" hangingPunct="1">
                        <a:lnSpc>
                          <a:spcPct val="115000"/>
                        </a:lnSpc>
                        <a:spcBef>
                          <a:spcPts val="400"/>
                        </a:spcBef>
                        <a:spcAft>
                          <a:spcPts val="400"/>
                        </a:spcAft>
                        <a:buClrTx/>
                        <a:buSzTx/>
                        <a:buFontTx/>
                        <a:buNone/>
                        <a:tabLst/>
                        <a:defRPr/>
                      </a:pPr>
                      <a:endParaRPr kumimoji="0" lang="en-US" sz="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118872"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118872"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GoR</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faces the following issues with respect to implementation of the RTPP Acts and Rules-</a:t>
                      </a:r>
                    </a:p>
                    <a:p>
                      <a:pPr marL="118872"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There was weak execution of the RTPP Act and Rules due to limited awareness of the same among Government of Rajasthan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GoR</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officials. Limited understanding of the RTPP Act and Rules led to fallacies in the procurement procedures undertaken by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GoR</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departments. This resulted in sub-optimal utilization of public resources.</a:t>
                      </a:r>
                    </a:p>
                    <a:p>
                      <a:pPr marL="118872"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primary objective of this consultancy assignment was the capacity development of public and private sector officials on the implementation of the Rajasthan Transparency in Public Procurement (RTPP) Act and Rules, including the implementation of a comprehensive training strategy based on the specified curriculum map, training strategy, and implementation plan across the State of Rajasthan, covering a target of 7,000 certifications (i.e., officials to be trained).</a:t>
                      </a:r>
                    </a:p>
                    <a:p>
                      <a:pPr marL="118872"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This consultancy assignment for the implementation of the training strategy was expected to improve the implementation of the RTPP Act and Rules in the State, thereby promoting transparency and accountability in public procurement.</a:t>
                      </a:r>
                    </a:p>
                    <a:p>
                      <a:pPr marL="118872"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118872"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Deloitte were:</a:t>
                      </a:r>
                    </a:p>
                    <a:p>
                      <a:pPr marL="365760" marR="0" lvl="0" indent="-171450" algn="just"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Training and Capacity Development of Government Officials: The assignment involved the design and delivery of a comprehensive capacity-building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programme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for more than 7,000 Government of Rajasthan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GoR</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officials engaged in procurement-related activities across State, district, and sub-district levels. Officials were trained through structured Foundation and Specialty Courses aligned with the Government's approved training strategy, contributing to enhanced understanding and implementation of public procurement processes.</a:t>
                      </a:r>
                    </a:p>
                    <a:p>
                      <a:pPr marL="365760" marR="0" lvl="0" indent="-171450" algn="just"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Development of Training Planning and Management System (TPMS): The assignment facilitated the development of a Training Planning and Management System (TPMS) to institutionalize and sustain procurement-related capacity development across the State. The platform was established to maintain training records, monitor learning outcomes, and enable continued access to training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programmes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for government officials.</a:t>
                      </a:r>
                    </a:p>
                    <a:p>
                      <a:pPr marL="365760" marR="0" lvl="0" indent="-171450" algn="just"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Identification and Capacity Building of Master Trainers: The assignment included the identification, selection, and capacity development of a pool of Master Trainers to support long-term institutional strengthening. The selected trainers were trained on procurement regulations, training methodologies, and knowledge dissemination approaches, enabling them to further cascade training across departments and field-level institutions.</a:t>
                      </a:r>
                    </a:p>
                    <a:p>
                      <a:pPr marL="365760" marR="0" lvl="0" indent="-171450" algn="just"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Development of Training Content and Digital Learning Modules: The assignment involved the preparation of comprehensive training material on public procurement, including manuals, facilitator guides, participant handbooks, case studies, and digital learning resources. Additionally, content for Massive Open Online Courses (MOOCs) was developed to facilitate large-scale and sustainable dissemination of procurement-related knowledge.</a:t>
                      </a:r>
                    </a:p>
                    <a:p>
                      <a:pPr marL="365760" marR="0" lvl="0" indent="-171450" algn="just"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Strengthening Public Procurement Systems through Workforce Upskilling: The assignment successfully supported the large-scale upskilling of personnel engaged in public procurement functions across Rajasthan. Given the significant contribution of public procurement to the State economy, the intervention strengthened institutional capacities and promoted more efficient, transparent, and accountable utilization of public resources, thereby contributing to improved service delivery and governance outcomes.</a:t>
                      </a:r>
                    </a:p>
                    <a:p>
                      <a:pPr marL="61913" marR="0" lvl="0" indent="0" algn="just"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endParaRPr kumimoji="0" lang="en-US" sz="2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txBody>
                  <a:tcPr marL="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marR="0" lvl="0" indent="0" algn="l" defTabSz="914400" rtl="0" eaLnBrk="1" fontAlgn="auto" latinLnBrk="0" hangingPunct="1">
                        <a:lnSpc>
                          <a:spcPct val="115000"/>
                        </a:lnSpc>
                        <a:spcBef>
                          <a:spcPts val="400"/>
                        </a:spcBef>
                        <a:spcAft>
                          <a:spcPts val="400"/>
                        </a:spcAft>
                        <a:buClrTx/>
                        <a:buSzTx/>
                        <a:buFontTx/>
                        <a:buNone/>
                        <a:tabLst/>
                        <a:defRPr/>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 Date :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July</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2022; </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June 2024</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0.29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3</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38051389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2527651060"/>
              </p:ext>
            </p:extLst>
          </p:nvPr>
        </p:nvGraphicFramePr>
        <p:xfrm>
          <a:off x="517290" y="745905"/>
          <a:ext cx="11161565" cy="5848814"/>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Response to an invitation by the Chair of the Fifteenth Finance Commission (15th FC) of the Government of India to the Asian Development Bank (ADB)</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Asian Development Bank (ADB)</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170928">
                <a:tc>
                  <a:txBody>
                    <a:bodyPr/>
                    <a:lstStyle/>
                    <a:p>
                      <a:pPr marL="96520" marR="0" lvl="0" indent="0" algn="l" defTabSz="914400" rtl="0" eaLnBrk="1" fontAlgn="auto" latinLnBrk="0" hangingPunct="1">
                        <a:lnSpc>
                          <a:spcPct val="115000"/>
                        </a:lnSpc>
                        <a:spcBef>
                          <a:spcPts val="400"/>
                        </a:spcBef>
                        <a:spcAft>
                          <a:spcPts val="400"/>
                        </a:spcAft>
                        <a:buClrTx/>
                        <a:buSzTx/>
                        <a:buFontTx/>
                        <a:buNone/>
                        <a:tabLst/>
                        <a:defRPr/>
                      </a:pPr>
                      <a:endParaRPr kumimoji="0" lang="en-US" sz="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The 15th Finance Commission of India has been tasked recently to develop recommendations for designing the new framework for the intergovernmental fiscal transfer system between the center and the subnational governments in India. One of the objectives of the recommendations is to help develop a robust fiscal transfer mechanism that will incentivize the delivery of high quality and equitable social services, especially in the education sector by the subnational governments.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Deloitte were:</a:t>
                      </a:r>
                    </a:p>
                    <a:p>
                      <a:pPr marL="194310" marR="0" lvl="0" indent="0" algn="just" defTabSz="914400" rtl="0" eaLnBrk="1" fontAlgn="auto" latinLnBrk="0" hangingPunct="1">
                        <a:lnSpc>
                          <a:spcPct val="114000"/>
                        </a:lnSpc>
                        <a:spcBef>
                          <a:spcPts val="0"/>
                        </a:spcBef>
                        <a:spcAft>
                          <a:spcPts val="0"/>
                        </a:spcAft>
                        <a:buClrTx/>
                        <a:buSzTx/>
                        <a:buFont typeface="Arial" panose="020B0604020202020204" pitchFamily="34" charset="0"/>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Prepared and submitted the Inception Report, detailing the research methodology, analytical framework, literature review, data requirements, stakeholder engagement approach, and comprehensive work plan covering all study objectives and scope items. </a:t>
                      </a:r>
                    </a:p>
                    <a:p>
                      <a:pPr marL="365760" marR="0" lvl="0" indent="-1714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Conducted an extensive desk review and policy analysis of the education sector in India, including assessment of fiscal transfer mechanisms, expenditure trends, governance arrangements, and key sectoral challenges. </a:t>
                      </a:r>
                    </a:p>
                    <a:p>
                      <a:pPr marL="365760" marR="0" lvl="0" indent="-1714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Undertaken a comparative evaluation of inter-state education performance, utilizing quantitative indicators related to access, equity, infrastructure, learning outcomes, and educational service delivery. </a:t>
                      </a:r>
                    </a:p>
                    <a:p>
                      <a:pPr marL="365760" marR="0" lvl="0" indent="-1714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Carried out a detailed diagnostic assessment of existing fiscal transfer mechanisms, including Finance Commission grants, Centrally Sponsored Schemes (CSS), and education sector funding arrangements. </a:t>
                      </a:r>
                    </a:p>
                    <a:p>
                      <a:pPr marL="365760" marR="0" lvl="0" indent="-1714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Performed international benchmarking and comparative research on education financing models and performance-based transfer systems across multiple countries to identify global good practices and replicable lessons for India</a:t>
                      </a:r>
                    </a:p>
                    <a:p>
                      <a:pPr marL="365760" marR="0" lvl="0" indent="-1714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Analyzed data and evidence to identify key gaps, inefficiencies, and opportunities for strengthening outcome-based and performance-linked fiscal transfers in the education sector. [ </a:t>
                      </a:r>
                    </a:p>
                    <a:p>
                      <a:pPr marL="365760" marR="0" lvl="0" indent="-1714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Developed a robust evaluation framework and policy recommendations for performance-based transfers, including equalization approaches, incentive mechanisms, monitoring arrangements, and outcome measurement methodologies. </a:t>
                      </a:r>
                    </a:p>
                    <a:p>
                      <a:pPr marL="365760" marR="0" lvl="0" indent="-1714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Prepared and submitted the Draft Final Report, presenting research findings, analytical assessments, international case studies, policy options, and recommendations for the Fifteenth Finance Commission. </a:t>
                      </a:r>
                    </a:p>
                    <a:p>
                      <a:pPr marL="365760" marR="0" lvl="0" indent="-1714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Designed and delivered a high-level presentation of key findings and recommendations for deliberations with the Fifteenth Finance Commission and other stakeholders in New Delhi.</a:t>
                      </a:r>
                    </a:p>
                    <a:p>
                      <a:pPr marL="365760" marR="0" lvl="0" indent="-1714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Facilitated stakeholder consultations and incorporated feedback received from the Asian Development Bank (ADB) and the Fifteenth Finance Commission through iterative review and validation processes. </a:t>
                      </a:r>
                    </a:p>
                    <a:p>
                      <a:pPr marL="365760" marR="0" lvl="0" indent="-1714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Refined the analytical outputs and recommendations based on stakeholder inputs and finalized the study deliverables to ensure policy relevance, technical rigor, and alignment with the objectives of the assignment. </a:t>
                      </a:r>
                    </a:p>
                    <a:p>
                      <a:pPr marL="365760" marR="0" lvl="0" indent="-1714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Submitted the Final Report, incorporating all agreed revisions and providing actionable recommendations to support the design of a more equitable, outcome-oriented, and performance-driven fiscal transfer framework for the education sector</a:t>
                      </a: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marR="0" lvl="0" indent="0" algn="l" defTabSz="914400" rtl="0" eaLnBrk="1" fontAlgn="auto" latinLnBrk="0" hangingPunct="1">
                        <a:lnSpc>
                          <a:spcPct val="115000"/>
                        </a:lnSpc>
                        <a:spcBef>
                          <a:spcPts val="400"/>
                        </a:spcBef>
                        <a:spcAft>
                          <a:spcPts val="400"/>
                        </a:spcAft>
                        <a:buClrTx/>
                        <a:buSzTx/>
                        <a:buFontTx/>
                        <a:buNone/>
                        <a:tabLst/>
                        <a:defRPr/>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 Date :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July</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2018; </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October 2018</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0.50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900" b="1">
                <a:solidFill>
                  <a:prstClr val="white"/>
                </a:solidFill>
                <a:latin typeface="Verdana"/>
              </a:rPr>
              <a:t>4</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249031584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4026838929"/>
              </p:ext>
            </p:extLst>
          </p:nvPr>
        </p:nvGraphicFramePr>
        <p:xfrm>
          <a:off x="517290" y="745905"/>
          <a:ext cx="11161565" cy="4577671"/>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Second West Bengal Development Finance Program (WBDFP2) – Asian Development Bank (ADB)- Technical Assistance Consultant’s Report</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Asian Development Bank/ Finance Department, Government of West Bengal</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170928">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ADB funded Second West Bengal Development Finance Program (WBDFP2) sought to facilitate the continuation of a comprehensive fiscal consolidation program in West Bengal initiated in 2012. The program had three output areas: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i</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expenditure rationalization efforts were accelerated, (ii) facilitation of private investment was improved, and (iii) revenue administration was strengthened.</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Developed a Medium-Term Expenditure Framework (MTEF) to support fiscal planning, expenditure prioritization, and effective resource allocation.</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Developed an analytical model to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analyse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the VAT and GST potential for West Bengal, enabling evidence-based assessment of revenue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mobilisation</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opportunities.</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i</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Identified best practices in VAT fraud detection through a detailed review and analysis of returns data.</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ii. Prepared rules for validation of Input Tax Rebate (ITR) claims to strengthen tax administration and improve compliance monitoring.</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Estimated VAT potential and VAT gap using the Input-Output approach, facilitating the identification of revenue leakages and opportunities for enhancing tax collections.</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Estimated service tax potential for the State through economic data analysis and advanced analytics, providing inputs for revenue forecasting and policy decision-making</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Conducted technical studies across major tax types, including VAT, Excise, Stamp Duty, Electricity Duty, Motor Vehicle Tax and Mining Royalty.</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Reviewed tax laws, institutional structures and revenue administration processes;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analysed</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revenue and buoyancy trends against SOTR and GSDP.</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Supported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GoWB</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in strengthening revenue administration through tax monitoring, QR code-based liquor hologram tagging and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digitisation</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legacy land/property data.</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Assessed liquor supply chain processes, conducted process verification, and identified gaps and recommendations to reduce revenue leakage.</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Prepared MTEFs for School Education and Health &amp; Family Welfare Departments and trained officials on expenditure planning and fiscal management.</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Built FPMU capacity for identification and development of PPP projects eligible for viability gap funding under WBDFP II.</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Supported Internal Audit reforms through training manuals and implementation of a Risk-Based Internal Audit Manual and practices.</a:t>
                      </a:r>
                    </a:p>
                    <a:p>
                      <a:pPr marL="96520" marR="0" lvl="0" indent="0" algn="l"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marR="0" lvl="0" indent="0" algn="l" defTabSz="914400" rtl="0" eaLnBrk="1" fontAlgn="auto" latinLnBrk="0" hangingPunct="1">
                        <a:lnSpc>
                          <a:spcPct val="115000"/>
                        </a:lnSpc>
                        <a:spcBef>
                          <a:spcPts val="400"/>
                        </a:spcBef>
                        <a:spcAft>
                          <a:spcPts val="400"/>
                        </a:spcAft>
                        <a:buClrTx/>
                        <a:buSzTx/>
                        <a:buFontTx/>
                        <a:buNone/>
                        <a:tabLst/>
                        <a:defRPr/>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 Date :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February</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2018; </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November 2019</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1.33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5</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55768975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1319647409"/>
              </p:ext>
            </p:extLst>
          </p:nvPr>
        </p:nvGraphicFramePr>
        <p:xfrm>
          <a:off x="517290" y="745905"/>
          <a:ext cx="11161565" cy="5135963"/>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Market Study &amp; Entry Strategy for Istituto Marangoni</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a:t>
                      </a:r>
                      <a:r>
                        <a:rPr lang="it-IT" sz="1000" b="0">
                          <a:solidFill>
                            <a:schemeClr val="bg1"/>
                          </a:solidFill>
                          <a:effectLst/>
                          <a:latin typeface="Verdana" panose="020B0604030504040204" pitchFamily="34" charset="0"/>
                          <a:ea typeface="+mn-ea"/>
                          <a:cs typeface="Times New Roman" panose="02020603050405020304" pitchFamily="18" charset="0"/>
                        </a:rPr>
                        <a:t>Istituto Marangoni S.r.l.</a:t>
                      </a:r>
                      <a:endParaRPr lang="en-US" sz="1000" b="0">
                        <a:solidFill>
                          <a:schemeClr val="bg1"/>
                        </a:solidFill>
                        <a:effectLst/>
                        <a:latin typeface="Verdana" panose="020B0604030504040204" pitchFamily="34" charset="0"/>
                        <a:ea typeface="+mn-ea"/>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170928">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Description of Key Activities:</a:t>
                      </a:r>
                    </a:p>
                    <a:p>
                      <a:pPr marL="92075" algn="just">
                        <a:spcBef>
                          <a:spcPts val="300"/>
                        </a:spcBef>
                        <a:spcAft>
                          <a:spcPts val="300"/>
                        </a:spcAft>
                      </a:pPr>
                      <a:r>
                        <a:rPr lang="en-US" sz="900" kern="1200" spc="10">
                          <a:solidFill>
                            <a:srgbClr val="000000"/>
                          </a:solidFill>
                          <a:effectLst/>
                          <a:latin typeface="+mn-lt"/>
                          <a:ea typeface="SimSun" panose="02010600030101010101" pitchFamily="2" charset="-122"/>
                          <a:cs typeface="Arial" panose="020B0604020202020204" pitchFamily="34" charset="0"/>
                        </a:rPr>
                        <a:t>Istituto Marangoni, a leading international institution in fashion, art and design education, sought to expand its operations in India beyond its existing Mumbai campus. Having conducted an initial market entry study in 2016, the institution required a refreshed market study and entry strategy to reassess the Indian Fashion, Art and Design (FAD) education market and to inform the establishment of an additional campus in the country.</a:t>
                      </a:r>
                    </a:p>
                    <a:p>
                      <a:pPr marL="92075" algn="just">
                        <a:spcBef>
                          <a:spcPts val="300"/>
                        </a:spcBef>
                        <a:spcAft>
                          <a:spcPts val="300"/>
                        </a:spcAft>
                      </a:pPr>
                      <a:r>
                        <a:rPr lang="en-US" sz="900" kern="1200" spc="10">
                          <a:solidFill>
                            <a:srgbClr val="000000"/>
                          </a:solidFill>
                          <a:effectLst/>
                          <a:latin typeface="+mn-lt"/>
                          <a:ea typeface="SimSun" panose="02010600030101010101" pitchFamily="2" charset="-122"/>
                          <a:cs typeface="Arial" panose="020B0604020202020204" pitchFamily="34" charset="0"/>
                        </a:rPr>
                        <a:t>The Indian higher-education market for niche design disciplines had evolved considerably, driven by rising demand for globally benchmarked design education, an expanding aspirational student base, and increased competitive intensity among premium institutions. Against this backdrop, the assignment aimed to provide an evidence-based assessment of market size, demand-supply dynamics, the competitive landscape and the applicable policy environment, and to translate these findings into a robust, de-risked entry strategy for a new campus.</a:t>
                      </a:r>
                    </a:p>
                    <a:p>
                      <a:pPr marL="92075" algn="just">
                        <a:spcBef>
                          <a:spcPts val="300"/>
                        </a:spcBef>
                        <a:spcAft>
                          <a:spcPts val="300"/>
                        </a:spcAft>
                      </a:pPr>
                      <a:r>
                        <a:rPr lang="en-US" sz="900" kern="1200" spc="10">
                          <a:solidFill>
                            <a:srgbClr val="000000"/>
                          </a:solidFill>
                          <a:effectLst/>
                          <a:latin typeface="+mn-lt"/>
                          <a:ea typeface="SimSun" panose="02010600030101010101" pitchFamily="2" charset="-122"/>
                          <a:cs typeface="Arial" panose="020B0604020202020204" pitchFamily="34" charset="0"/>
                        </a:rPr>
                        <a:t>The strategic objectives of the engagement were to refresh the market study and entry strategy for India, identify a suitable location for the new campus, and define mitigation measures to manage cannibalization risk with the existing Mumbai operation — enabling informed investment and site-selection decisions by the institution's leadership.</a:t>
                      </a:r>
                      <a:endParaRPr lang="en-US" sz="900" kern="1200">
                        <a:solidFill>
                          <a:schemeClr val="tx1"/>
                        </a:solidFill>
                        <a:effectLst/>
                        <a:latin typeface="+mn-lt"/>
                        <a:ea typeface="Verdana" panose="020B0604030504040204" pitchFamily="34" charset="0"/>
                        <a:cs typeface="Times New Roman" panose="02020603050405020304" pitchFamily="18" charset="0"/>
                      </a:endParaRPr>
                    </a:p>
                    <a:p>
                      <a:pPr marL="92075" algn="just">
                        <a:spcBef>
                          <a:spcPts val="300"/>
                        </a:spcBef>
                        <a:spcAft>
                          <a:spcPts val="300"/>
                        </a:spcAft>
                        <a:tabLst>
                          <a:tab pos="228600" algn="l"/>
                        </a:tabLst>
                      </a:pP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The activities executed by the Team were:</a:t>
                      </a:r>
                      <a:endParaRPr lang="en-IN" sz="900" b="1" kern="1200">
                        <a:solidFill>
                          <a:schemeClr val="tx1"/>
                        </a:solidFill>
                        <a:effectLst/>
                        <a:latin typeface="+mn-lt"/>
                        <a:ea typeface="Verdana" panose="020B0604030504040204" pitchFamily="34" charset="0"/>
                        <a:cs typeface="Times New Roman" panose="02020603050405020304" pitchFamily="18" charset="0"/>
                      </a:endParaRPr>
                    </a:p>
                    <a:p>
                      <a:pPr marL="365760" lvl="0" indent="-171450" algn="just">
                        <a:lnSpc>
                          <a:spcPct val="114000"/>
                        </a:lnSpc>
                        <a:buFont typeface="Arial" panose="020B0604020202020204" pitchFamily="34" charset="0"/>
                        <a:buChar char="•"/>
                        <a:tabLst>
                          <a:tab pos="228600" algn="l"/>
                        </a:tabLst>
                      </a:pPr>
                      <a:r>
                        <a:rPr lang="en-US" sz="900" b="0" kern="1200">
                          <a:solidFill>
                            <a:schemeClr val="tx1"/>
                          </a:solidFill>
                          <a:effectLst/>
                          <a:latin typeface="+mn-lt"/>
                          <a:ea typeface="Verdana" panose="020B0604030504040204" pitchFamily="34" charset="0"/>
                          <a:cs typeface="Times New Roman" panose="02020603050405020304" pitchFamily="18" charset="0"/>
                        </a:rPr>
                        <a:t>Developed a structured framework for the market assessment study and a framework for the competitor assessment covering up to 10 institutes.</a:t>
                      </a:r>
                    </a:p>
                    <a:p>
                      <a:pPr marL="365760" lvl="0" indent="-171450" algn="just">
                        <a:lnSpc>
                          <a:spcPct val="114000"/>
                        </a:lnSpc>
                        <a:buFont typeface="Arial" panose="020B0604020202020204" pitchFamily="34" charset="0"/>
                        <a:buChar char="•"/>
                        <a:tabLst>
                          <a:tab pos="228600" algn="l"/>
                        </a:tabLst>
                      </a:pPr>
                      <a:r>
                        <a:rPr lang="en-US" sz="900" b="0" kern="1200">
                          <a:solidFill>
                            <a:schemeClr val="tx1"/>
                          </a:solidFill>
                          <a:effectLst/>
                          <a:latin typeface="+mn-lt"/>
                          <a:ea typeface="Verdana" panose="020B0604030504040204" pitchFamily="34" charset="0"/>
                          <a:cs typeface="Times New Roman" panose="02020603050405020304" pitchFamily="18" charset="0"/>
                        </a:rPr>
                        <a:t>Designed the primary-research approach, including finalized survey questionnaire templates and a sample size of up to 500 respondents.</a:t>
                      </a:r>
                    </a:p>
                    <a:p>
                      <a:pPr marL="365760" lvl="0" indent="-171450" algn="just">
                        <a:lnSpc>
                          <a:spcPct val="114000"/>
                        </a:lnSpc>
                        <a:buFont typeface="Arial" panose="020B0604020202020204" pitchFamily="34" charset="0"/>
                        <a:buChar char="•"/>
                        <a:tabLst>
                          <a:tab pos="228600" algn="l"/>
                        </a:tabLst>
                      </a:pPr>
                      <a:r>
                        <a:rPr lang="en-US" sz="900" b="0" kern="1200" err="1">
                          <a:solidFill>
                            <a:schemeClr val="tx1"/>
                          </a:solidFill>
                          <a:effectLst/>
                          <a:latin typeface="+mn-lt"/>
                          <a:ea typeface="Verdana" panose="020B0604030504040204" pitchFamily="34" charset="0"/>
                          <a:cs typeface="Times New Roman" panose="02020603050405020304" pitchFamily="18" charset="0"/>
                        </a:rPr>
                        <a:t>Analysed</a:t>
                      </a:r>
                      <a:r>
                        <a:rPr lang="en-US" sz="900" b="0" kern="1200">
                          <a:solidFill>
                            <a:schemeClr val="tx1"/>
                          </a:solidFill>
                          <a:effectLst/>
                          <a:latin typeface="+mn-lt"/>
                          <a:ea typeface="Verdana" panose="020B0604030504040204" pitchFamily="34" charset="0"/>
                          <a:cs typeface="Times New Roman" panose="02020603050405020304" pitchFamily="18" charset="0"/>
                        </a:rPr>
                        <a:t> the National Education Policy to determine its implications for foreign-institution entry and FAD education in India.</a:t>
                      </a:r>
                    </a:p>
                    <a:p>
                      <a:pPr marL="365760" lvl="0" indent="-171450" algn="just">
                        <a:lnSpc>
                          <a:spcPct val="114000"/>
                        </a:lnSpc>
                        <a:buFont typeface="Arial" panose="020B0604020202020204" pitchFamily="34" charset="0"/>
                        <a:buChar char="•"/>
                        <a:tabLst>
                          <a:tab pos="228600" algn="l"/>
                        </a:tabLst>
                      </a:pPr>
                      <a:r>
                        <a:rPr lang="en-US" sz="900" b="0" kern="1200">
                          <a:solidFill>
                            <a:schemeClr val="tx1"/>
                          </a:solidFill>
                          <a:effectLst/>
                          <a:latin typeface="+mn-lt"/>
                          <a:ea typeface="Verdana" panose="020B0604030504040204" pitchFamily="34" charset="0"/>
                          <a:cs typeface="Times New Roman" panose="02020603050405020304" pitchFamily="18" charset="0"/>
                        </a:rPr>
                        <a:t>Assessed the fashion, art and design education market, with location assessment focused on Delhi, Bengaluru and Mumbai.</a:t>
                      </a:r>
                    </a:p>
                    <a:p>
                      <a:pPr marL="365760" lvl="0" indent="-171450" algn="just">
                        <a:lnSpc>
                          <a:spcPct val="114000"/>
                        </a:lnSpc>
                        <a:buFont typeface="Arial" panose="020B0604020202020204" pitchFamily="34" charset="0"/>
                        <a:buChar char="•"/>
                        <a:tabLst>
                          <a:tab pos="228600" algn="l"/>
                        </a:tabLst>
                      </a:pPr>
                      <a:r>
                        <a:rPr lang="en-US" sz="900" b="0" kern="1200">
                          <a:solidFill>
                            <a:schemeClr val="tx1"/>
                          </a:solidFill>
                          <a:effectLst/>
                          <a:latin typeface="+mn-lt"/>
                          <a:ea typeface="Verdana" panose="020B0604030504040204" pitchFamily="34" charset="0"/>
                          <a:cs typeface="Times New Roman" panose="02020603050405020304" pitchFamily="18" charset="0"/>
                        </a:rPr>
                        <a:t>Undertook the fashion market size through secondary research and a demand-supply study of up to 3 institutes.</a:t>
                      </a:r>
                    </a:p>
                    <a:p>
                      <a:pPr marL="365760" lvl="0" indent="-171450" algn="just">
                        <a:lnSpc>
                          <a:spcPct val="114000"/>
                        </a:lnSpc>
                        <a:buFont typeface="Arial" panose="020B0604020202020204" pitchFamily="34" charset="0"/>
                        <a:buChar char="•"/>
                        <a:tabLst>
                          <a:tab pos="228600" algn="l"/>
                        </a:tabLst>
                      </a:pPr>
                      <a:r>
                        <a:rPr lang="en-US" sz="900" b="0" kern="1200">
                          <a:solidFill>
                            <a:schemeClr val="tx1"/>
                          </a:solidFill>
                          <a:effectLst/>
                          <a:latin typeface="+mn-lt"/>
                          <a:ea typeface="Verdana" panose="020B0604030504040204" pitchFamily="34" charset="0"/>
                          <a:cs typeface="Times New Roman" panose="02020603050405020304" pitchFamily="18" charset="0"/>
                        </a:rPr>
                        <a:t>Evaluated the current fashion education landscape across up to 10 institutes within the same category as Istituto Marangoni, including a review of institute portfolios of shortlisted institutions.</a:t>
                      </a:r>
                    </a:p>
                    <a:p>
                      <a:pPr marL="365760" lvl="0" indent="-171450" algn="just">
                        <a:lnSpc>
                          <a:spcPct val="114000"/>
                        </a:lnSpc>
                        <a:buFont typeface="Arial" panose="020B0604020202020204" pitchFamily="34" charset="0"/>
                        <a:buChar char="•"/>
                        <a:tabLst>
                          <a:tab pos="228600" algn="l"/>
                        </a:tabLst>
                      </a:pPr>
                      <a:r>
                        <a:rPr lang="en-US" sz="900" b="0" kern="1200">
                          <a:solidFill>
                            <a:schemeClr val="tx1"/>
                          </a:solidFill>
                          <a:effectLst/>
                          <a:latin typeface="+mn-lt"/>
                          <a:ea typeface="Verdana" panose="020B0604030504040204" pitchFamily="34" charset="0"/>
                          <a:cs typeface="Times New Roman" panose="02020603050405020304" pitchFamily="18" charset="0"/>
                        </a:rPr>
                        <a:t>Structured an entry strategy for the establishment of Istituto Marangoni's new campus in India.</a:t>
                      </a:r>
                    </a:p>
                    <a:p>
                      <a:pPr marL="365760" lvl="0" indent="-171450" algn="just">
                        <a:lnSpc>
                          <a:spcPct val="114000"/>
                        </a:lnSpc>
                        <a:buFont typeface="Arial" panose="020B0604020202020204" pitchFamily="34" charset="0"/>
                        <a:buChar char="•"/>
                        <a:tabLst>
                          <a:tab pos="228600" algn="l"/>
                        </a:tabLst>
                      </a:pPr>
                      <a:r>
                        <a:rPr lang="en-US" sz="900" b="0" kern="1200">
                          <a:solidFill>
                            <a:schemeClr val="tx1"/>
                          </a:solidFill>
                          <a:effectLst/>
                          <a:latin typeface="+mn-lt"/>
                          <a:ea typeface="Verdana" panose="020B0604030504040204" pitchFamily="34" charset="0"/>
                          <a:cs typeface="Times New Roman" panose="02020603050405020304" pitchFamily="18" charset="0"/>
                        </a:rPr>
                        <a:t>Recommended mitigation strategies to address potential cannibalization with the existing Mumbai setup.</a:t>
                      </a:r>
                    </a:p>
                    <a:p>
                      <a:pPr marL="365760" lvl="0" indent="-171450" algn="just">
                        <a:lnSpc>
                          <a:spcPct val="114000"/>
                        </a:lnSpc>
                        <a:buFont typeface="Arial" panose="020B0604020202020204" pitchFamily="34" charset="0"/>
                        <a:buChar char="•"/>
                        <a:tabLst>
                          <a:tab pos="228600" algn="l"/>
                        </a:tabLst>
                      </a:pPr>
                      <a:r>
                        <a:rPr lang="en-US" sz="900" b="0" kern="1200">
                          <a:solidFill>
                            <a:schemeClr val="tx1"/>
                          </a:solidFill>
                          <a:effectLst/>
                          <a:latin typeface="+mn-lt"/>
                          <a:ea typeface="Verdana" panose="020B0604030504040204" pitchFamily="34" charset="0"/>
                          <a:cs typeface="Times New Roman" panose="02020603050405020304" pitchFamily="18" charset="0"/>
                        </a:rPr>
                        <a:t>Prepared the Draft Market Assessment Report (Phase 1) and the Final Market Assessment Report &amp; Entry Strategy Report reflecting the findings of the study</a:t>
                      </a:r>
                    </a:p>
                    <a:p>
                      <a:pPr marL="96520" marR="0" lvl="0" indent="0" algn="l"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May 2022 ; </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August 2022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2.18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900" b="1">
                <a:solidFill>
                  <a:prstClr val="white"/>
                </a:solidFill>
                <a:latin typeface="Verdana"/>
              </a:rPr>
              <a:t>6</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13530453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512923818"/>
              </p:ext>
            </p:extLst>
          </p:nvPr>
        </p:nvGraphicFramePr>
        <p:xfrm>
          <a:off x="517290" y="745905"/>
          <a:ext cx="11161565" cy="4735405"/>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Strengthening Financing Strategies for SDG in three states of HP, Meghalaya and MP and developing transformative concept notes for finance mobilization for SDGs localization and Climate Action</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Govt. of Meghalaya, Govt. of Himachal Pradesh, Govt. of Madhya Pradesh, GIZ (Deutsche Gesellschaft für </a:t>
                      </a:r>
                      <a:r>
                        <a:rPr lang="en-US" sz="1000" b="0" err="1">
                          <a:solidFill>
                            <a:schemeClr val="bg1"/>
                          </a:solidFill>
                          <a:effectLst/>
                          <a:latin typeface="Verdana" panose="020B0604030504040204" pitchFamily="34" charset="0"/>
                          <a:ea typeface="+mn-ea"/>
                          <a:cs typeface="Times New Roman" panose="02020603050405020304" pitchFamily="18" charset="0"/>
                        </a:rPr>
                        <a:t>Internationale</a:t>
                      </a:r>
                      <a:r>
                        <a:rPr lang="en-US" sz="1000" b="0">
                          <a:solidFill>
                            <a:schemeClr val="bg1"/>
                          </a:solidFill>
                          <a:effectLst/>
                          <a:latin typeface="Verdana" panose="020B0604030504040204" pitchFamily="34" charset="0"/>
                          <a:ea typeface="+mn-ea"/>
                          <a:cs typeface="Times New Roman" panose="02020603050405020304" pitchFamily="18" charset="0"/>
                        </a:rPr>
                        <a:t> Zusammenarbeit).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170928">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Deloitte was appointed for the implementation of Institutional Development Action Plan</a:t>
                      </a:r>
                    </a:p>
                    <a:p>
                      <a:pPr marL="96520"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1: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Study of Proposed ‘Advanced Seminars &amp; workshops Program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Determined the feasibility and defined the concept, aims, contents, delivery modes and management framework for a new knowledge transfer program of advanced seminars and workshops on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contemporary and climate resilient roads sector topics and issues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delivered collaboratively between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leading technical, professional and industry en</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tities in Gujarat and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R&amp;BD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2: Implementation of pilot program of advanced seminars and workshops: Implemented pilot program of four advanced seminars, each of a duration of 2 to 3 days, covering the themes:</a:t>
                      </a:r>
                    </a:p>
                    <a:p>
                      <a:pPr marL="725170" lvl="1" indent="-171450" algn="just">
                        <a:lnSpc>
                          <a:spcPct val="115000"/>
                        </a:lnSpc>
                        <a:buFont typeface="Arial" panose="020B0604020202020204" pitchFamily="34" charset="0"/>
                        <a:buChar char="•"/>
                        <a:defRPr/>
                      </a:pPr>
                      <a:r>
                        <a:rPr lang="en-US" sz="900" b="1">
                          <a:solidFill>
                            <a:prstClr val="black"/>
                          </a:solidFill>
                          <a:latin typeface="Verdana" panose="020B0604030504040204" pitchFamily="34" charset="0"/>
                          <a:ea typeface="Verdana" panose="020B0604030504040204" pitchFamily="34" charset="0"/>
                        </a:rPr>
                        <a:t>Sustainable and disaster resilient Development of Road Infrastructure</a:t>
                      </a:r>
                    </a:p>
                    <a:p>
                      <a:pPr marL="725170" lvl="1" indent="-171450" algn="just">
                        <a:lnSpc>
                          <a:spcPct val="115000"/>
                        </a:lnSpc>
                        <a:buFont typeface="Arial" panose="020B0604020202020204" pitchFamily="34" charset="0"/>
                        <a:buChar char="•"/>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Emerging trends in Planning, Design, Construction, Maintenance of roads and bridges</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Innovative Implementation Strategies</a:t>
                      </a:r>
                    </a:p>
                    <a:p>
                      <a:pPr marL="725170" lvl="1"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Use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Instrumentation &amp; Big data Management in Road Sector</a:t>
                      </a:r>
                      <a:endParaRPr lang="en-US" sz="900" b="1">
                        <a:solidFill>
                          <a:prstClr val="black"/>
                        </a:solidFill>
                        <a:latin typeface="Verdana" panose="020B0604030504040204" pitchFamily="34" charset="0"/>
                        <a:ea typeface="Verdana" panose="020B0604030504040204" pitchFamily="34" charset="0"/>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3: Study for road sector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Undertook a </a:t>
                      </a:r>
                      <a:r>
                        <a:rPr lang="en-US" sz="900" b="1">
                          <a:solidFill>
                            <a:prstClr val="black"/>
                          </a:solidFill>
                          <a:latin typeface="Verdana" panose="020B0604030504040204" pitchFamily="34" charset="0"/>
                          <a:ea typeface="Verdana" panose="020B0604030504040204" pitchFamily="34" charset="0"/>
                        </a:rPr>
                        <a:t>study to determine feasibility aspects </a:t>
                      </a:r>
                      <a:r>
                        <a:rPr lang="en-US" sz="900">
                          <a:solidFill>
                            <a:prstClr val="black"/>
                          </a:solidFill>
                          <a:latin typeface="Verdana" panose="020B0604030504040204" pitchFamily="34" charset="0"/>
                          <a:ea typeface="Verdana" panose="020B0604030504040204" pitchFamily="34" charset="0"/>
                        </a:rPr>
                        <a:t>and a general framework and ‘Business model’ for possible R&amp;BD linked Centre of excellence</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4:Implementation of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Assisted R&amp;BD in </a:t>
                      </a:r>
                      <a:r>
                        <a:rPr lang="en-US" sz="900" b="1">
                          <a:solidFill>
                            <a:prstClr val="black"/>
                          </a:solidFill>
                          <a:latin typeface="Verdana" panose="020B0604030504040204" pitchFamily="34" charset="0"/>
                          <a:ea typeface="Verdana" panose="020B0604030504040204" pitchFamily="34" charset="0"/>
                        </a:rPr>
                        <a:t>finalization and activation of Implementation Plans </a:t>
                      </a:r>
                      <a:r>
                        <a:rPr lang="en-US" sz="900">
                          <a:solidFill>
                            <a:prstClr val="black"/>
                          </a:solidFill>
                          <a:latin typeface="Verdana" panose="020B0604030504040204" pitchFamily="34" charset="0"/>
                          <a:ea typeface="Verdana" panose="020B0604030504040204" pitchFamily="34" charset="0"/>
                        </a:rPr>
                        <a:t>for the establishment and inaugural operations of the new Centre of Excellence, through workshops and consultations with concerned R&amp;BD areas and with participating entities and help the R&amp;BD in providing support for up to eighteen months from inception</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May 2016;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March 2021</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8.97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7</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128835639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9A2C0-A986-2037-CA61-ED2D835E5632}"/>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C9E9735-9BEE-B0D0-646B-D62D936D7955}"/>
              </a:ext>
            </a:extLst>
          </p:cNvPr>
          <p:cNvGraphicFramePr>
            <a:graphicFrameLocks noGrp="1"/>
          </p:cNvGraphicFramePr>
          <p:nvPr/>
        </p:nvGraphicFramePr>
        <p:xfrm>
          <a:off x="517290" y="745905"/>
          <a:ext cx="11161565" cy="4735405"/>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Strengthening Financing Strategies for SDG in three states of HP, Meghalaya and MP and developing transformative concept notes for finance mobilization for SDGs localization and Climate Action</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Govt. of Meghalaya, Govt. of Himachal Pradesh, Govt. of Madhya Pradesh, GIZ (Deutsche Gesellschaft für </a:t>
                      </a:r>
                      <a:r>
                        <a:rPr lang="en-US" sz="1000" b="0" err="1">
                          <a:solidFill>
                            <a:schemeClr val="bg1"/>
                          </a:solidFill>
                          <a:effectLst/>
                          <a:latin typeface="Verdana" panose="020B0604030504040204" pitchFamily="34" charset="0"/>
                          <a:ea typeface="+mn-ea"/>
                          <a:cs typeface="Times New Roman" panose="02020603050405020304" pitchFamily="18" charset="0"/>
                        </a:rPr>
                        <a:t>Internationale</a:t>
                      </a:r>
                      <a:r>
                        <a:rPr lang="en-US" sz="1000" b="0">
                          <a:solidFill>
                            <a:schemeClr val="bg1"/>
                          </a:solidFill>
                          <a:effectLst/>
                          <a:latin typeface="Verdana" panose="020B0604030504040204" pitchFamily="34" charset="0"/>
                          <a:ea typeface="+mn-ea"/>
                          <a:cs typeface="Times New Roman" panose="02020603050405020304" pitchFamily="18" charset="0"/>
                        </a:rPr>
                        <a:t> Zusammenarbeit).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170928">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Deloitte was appointed for the implementation of Institutional Development Action Plan</a:t>
                      </a:r>
                    </a:p>
                    <a:p>
                      <a:pPr marL="96520"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1: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Study of Proposed ‘Advanced Seminars &amp; workshops Program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Determined the feasibility and defined the concept, aims, contents, delivery modes and management framework for a new knowledge transfer program of advanced seminars and workshops on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contemporary and climate resilient roads sector topics and issues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delivered collaboratively between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leading technical, professional and industry en</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tities in Gujarat and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R&amp;BD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2: Implementation of pilot program of advanced seminars and workshops: Implemented pilot program of four advanced seminars, each of a duration of 2 to 3 days, covering the themes:</a:t>
                      </a:r>
                    </a:p>
                    <a:p>
                      <a:pPr marL="725170" lvl="1" indent="-171450" algn="just">
                        <a:lnSpc>
                          <a:spcPct val="115000"/>
                        </a:lnSpc>
                        <a:buFont typeface="Arial" panose="020B0604020202020204" pitchFamily="34" charset="0"/>
                        <a:buChar char="•"/>
                        <a:defRPr/>
                      </a:pPr>
                      <a:r>
                        <a:rPr lang="en-US" sz="900" b="1">
                          <a:solidFill>
                            <a:prstClr val="black"/>
                          </a:solidFill>
                          <a:latin typeface="Verdana" panose="020B0604030504040204" pitchFamily="34" charset="0"/>
                          <a:ea typeface="Verdana" panose="020B0604030504040204" pitchFamily="34" charset="0"/>
                        </a:rPr>
                        <a:t>Sustainable and disaster resilient Development of Road Infrastructure</a:t>
                      </a:r>
                    </a:p>
                    <a:p>
                      <a:pPr marL="725170" lvl="1" indent="-171450" algn="just">
                        <a:lnSpc>
                          <a:spcPct val="115000"/>
                        </a:lnSpc>
                        <a:buFont typeface="Arial" panose="020B0604020202020204" pitchFamily="34" charset="0"/>
                        <a:buChar char="•"/>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Emerging trends in Planning, Design, Construction, Maintenance of roads and bridges</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Innovative Implementation Strategies</a:t>
                      </a:r>
                    </a:p>
                    <a:p>
                      <a:pPr marL="725170" lvl="1"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Use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Instrumentation &amp; Big data Management in Road Sector</a:t>
                      </a:r>
                      <a:endParaRPr lang="en-US" sz="900" b="1">
                        <a:solidFill>
                          <a:prstClr val="black"/>
                        </a:solidFill>
                        <a:latin typeface="Verdana" panose="020B0604030504040204" pitchFamily="34" charset="0"/>
                        <a:ea typeface="Verdana" panose="020B0604030504040204" pitchFamily="34" charset="0"/>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3: Study for road sector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Undertook a </a:t>
                      </a:r>
                      <a:r>
                        <a:rPr lang="en-US" sz="900" b="1">
                          <a:solidFill>
                            <a:prstClr val="black"/>
                          </a:solidFill>
                          <a:latin typeface="Verdana" panose="020B0604030504040204" pitchFamily="34" charset="0"/>
                          <a:ea typeface="Verdana" panose="020B0604030504040204" pitchFamily="34" charset="0"/>
                        </a:rPr>
                        <a:t>study to determine feasibility aspects </a:t>
                      </a:r>
                      <a:r>
                        <a:rPr lang="en-US" sz="900">
                          <a:solidFill>
                            <a:prstClr val="black"/>
                          </a:solidFill>
                          <a:latin typeface="Verdana" panose="020B0604030504040204" pitchFamily="34" charset="0"/>
                          <a:ea typeface="Verdana" panose="020B0604030504040204" pitchFamily="34" charset="0"/>
                        </a:rPr>
                        <a:t>and a general framework and ‘Business model’ for possible R&amp;BD linked Centre of excellence</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4:Implementation of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Assisted R&amp;BD in </a:t>
                      </a:r>
                      <a:r>
                        <a:rPr lang="en-US" sz="900" b="1">
                          <a:solidFill>
                            <a:prstClr val="black"/>
                          </a:solidFill>
                          <a:latin typeface="Verdana" panose="020B0604030504040204" pitchFamily="34" charset="0"/>
                          <a:ea typeface="Verdana" panose="020B0604030504040204" pitchFamily="34" charset="0"/>
                        </a:rPr>
                        <a:t>finalization and activation of Implementation Plans </a:t>
                      </a:r>
                      <a:r>
                        <a:rPr lang="en-US" sz="900">
                          <a:solidFill>
                            <a:prstClr val="black"/>
                          </a:solidFill>
                          <a:latin typeface="Verdana" panose="020B0604030504040204" pitchFamily="34" charset="0"/>
                          <a:ea typeface="Verdana" panose="020B0604030504040204" pitchFamily="34" charset="0"/>
                        </a:rPr>
                        <a:t>for the establishment and inaugural operations of the new Centre of Excellence, through workshops and consultations with concerned R&amp;BD areas and with participating entities and help the R&amp;BD in providing support for up to eighteen months from inception</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May 2016;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March 2021</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8.97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6FBFD4A7-6EC0-671E-1D7C-C2140E5774E1}"/>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9E559C79-B7DA-0FD0-25D1-1B6CFDFFD63B}"/>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87F09C8F-64CE-3E1C-BB29-745F87FF18F3}"/>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7</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24371764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7714F-E19C-BEBC-B7E6-64BBACE64507}"/>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158483C-8769-7D2C-D1C3-1BE7B487C8BB}"/>
              </a:ext>
            </a:extLst>
          </p:cNvPr>
          <p:cNvGraphicFramePr>
            <a:graphicFrameLocks noGrp="1"/>
          </p:cNvGraphicFramePr>
          <p:nvPr/>
        </p:nvGraphicFramePr>
        <p:xfrm>
          <a:off x="517290" y="745905"/>
          <a:ext cx="11161565" cy="4735405"/>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Strengthening Financing Strategies for SDG in three states of HP, Meghalaya and MP and developing transformative concept notes for finance mobilization for SDGs localization and Climate Action</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Govt. of Meghalaya, Govt. of Himachal Pradesh, Govt. of Madhya Pradesh, GIZ (Deutsche Gesellschaft für </a:t>
                      </a:r>
                      <a:r>
                        <a:rPr lang="en-US" sz="1000" b="0" err="1">
                          <a:solidFill>
                            <a:schemeClr val="bg1"/>
                          </a:solidFill>
                          <a:effectLst/>
                          <a:latin typeface="Verdana" panose="020B0604030504040204" pitchFamily="34" charset="0"/>
                          <a:ea typeface="+mn-ea"/>
                          <a:cs typeface="Times New Roman" panose="02020603050405020304" pitchFamily="18" charset="0"/>
                        </a:rPr>
                        <a:t>Internationale</a:t>
                      </a:r>
                      <a:r>
                        <a:rPr lang="en-US" sz="1000" b="0">
                          <a:solidFill>
                            <a:schemeClr val="bg1"/>
                          </a:solidFill>
                          <a:effectLst/>
                          <a:latin typeface="Verdana" panose="020B0604030504040204" pitchFamily="34" charset="0"/>
                          <a:ea typeface="+mn-ea"/>
                          <a:cs typeface="Times New Roman" panose="02020603050405020304" pitchFamily="18" charset="0"/>
                        </a:rPr>
                        <a:t> Zusammenarbeit).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170928">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Deloitte was appointed for the implementation of Institutional Development Action Plan</a:t>
                      </a:r>
                    </a:p>
                    <a:p>
                      <a:pPr marL="96520"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1: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Study of Proposed ‘Advanced Seminars &amp; workshops Program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Determined the feasibility and defined the concept, aims, contents, delivery modes and management framework for a new knowledge transfer program of advanced seminars and workshops on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contemporary and climate resilient roads sector topics and issues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delivered collaboratively between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leading technical, professional and industry en</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tities in Gujarat and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R&amp;BD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2: Implementation of pilot program of advanced seminars and workshops: Implemented pilot program of four advanced seminars, each of a duration of 2 to 3 days, covering the themes:</a:t>
                      </a:r>
                    </a:p>
                    <a:p>
                      <a:pPr marL="725170" lvl="1" indent="-171450" algn="just">
                        <a:lnSpc>
                          <a:spcPct val="115000"/>
                        </a:lnSpc>
                        <a:buFont typeface="Arial" panose="020B0604020202020204" pitchFamily="34" charset="0"/>
                        <a:buChar char="•"/>
                        <a:defRPr/>
                      </a:pPr>
                      <a:r>
                        <a:rPr lang="en-US" sz="900" b="1">
                          <a:solidFill>
                            <a:prstClr val="black"/>
                          </a:solidFill>
                          <a:latin typeface="Verdana" panose="020B0604030504040204" pitchFamily="34" charset="0"/>
                          <a:ea typeface="Verdana" panose="020B0604030504040204" pitchFamily="34" charset="0"/>
                        </a:rPr>
                        <a:t>Sustainable and disaster resilient Development of Road Infrastructure</a:t>
                      </a:r>
                    </a:p>
                    <a:p>
                      <a:pPr marL="725170" lvl="1" indent="-171450" algn="just">
                        <a:lnSpc>
                          <a:spcPct val="115000"/>
                        </a:lnSpc>
                        <a:buFont typeface="Arial" panose="020B0604020202020204" pitchFamily="34" charset="0"/>
                        <a:buChar char="•"/>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Emerging trends in Planning, Design, Construction, Maintenance of roads and bridges</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Innovative Implementation Strategies</a:t>
                      </a:r>
                    </a:p>
                    <a:p>
                      <a:pPr marL="725170" lvl="1"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Use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Instrumentation &amp; Big data Management in Road Sector</a:t>
                      </a:r>
                      <a:endParaRPr lang="en-US" sz="900" b="1">
                        <a:solidFill>
                          <a:prstClr val="black"/>
                        </a:solidFill>
                        <a:latin typeface="Verdana" panose="020B0604030504040204" pitchFamily="34" charset="0"/>
                        <a:ea typeface="Verdana" panose="020B0604030504040204" pitchFamily="34" charset="0"/>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3: Study for road sector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Undertook a </a:t>
                      </a:r>
                      <a:r>
                        <a:rPr lang="en-US" sz="900" b="1">
                          <a:solidFill>
                            <a:prstClr val="black"/>
                          </a:solidFill>
                          <a:latin typeface="Verdana" panose="020B0604030504040204" pitchFamily="34" charset="0"/>
                          <a:ea typeface="Verdana" panose="020B0604030504040204" pitchFamily="34" charset="0"/>
                        </a:rPr>
                        <a:t>study to determine feasibility aspects </a:t>
                      </a:r>
                      <a:r>
                        <a:rPr lang="en-US" sz="900">
                          <a:solidFill>
                            <a:prstClr val="black"/>
                          </a:solidFill>
                          <a:latin typeface="Verdana" panose="020B0604030504040204" pitchFamily="34" charset="0"/>
                          <a:ea typeface="Verdana" panose="020B0604030504040204" pitchFamily="34" charset="0"/>
                        </a:rPr>
                        <a:t>and a general framework and ‘Business model’ for possible R&amp;BD linked Centre of excellence</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4:Implementation of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Assisted R&amp;BD in </a:t>
                      </a:r>
                      <a:r>
                        <a:rPr lang="en-US" sz="900" b="1">
                          <a:solidFill>
                            <a:prstClr val="black"/>
                          </a:solidFill>
                          <a:latin typeface="Verdana" panose="020B0604030504040204" pitchFamily="34" charset="0"/>
                          <a:ea typeface="Verdana" panose="020B0604030504040204" pitchFamily="34" charset="0"/>
                        </a:rPr>
                        <a:t>finalization and activation of Implementation Plans </a:t>
                      </a:r>
                      <a:r>
                        <a:rPr lang="en-US" sz="900">
                          <a:solidFill>
                            <a:prstClr val="black"/>
                          </a:solidFill>
                          <a:latin typeface="Verdana" panose="020B0604030504040204" pitchFamily="34" charset="0"/>
                          <a:ea typeface="Verdana" panose="020B0604030504040204" pitchFamily="34" charset="0"/>
                        </a:rPr>
                        <a:t>for the establishment and inaugural operations of the new Centre of Excellence, through workshops and consultations with concerned R&amp;BD areas and with participating entities and help the R&amp;BD in providing support for up to eighteen months from inception</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May 2016;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March 2021</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8.97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3B118158-228E-BC66-EC5F-CEEADB384F0E}"/>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0414B330-FE65-EAA0-9B7C-32071CE4FBD5}"/>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D1DE9344-FC7F-E6B5-0A57-55AF21D76CE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900" b="1">
                <a:solidFill>
                  <a:prstClr val="white"/>
                </a:solidFill>
                <a:latin typeface="Verdana"/>
              </a:rPr>
              <a:t>8</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25934063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43034-F125-40FB-80D7-CB6951B023F9}"/>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8554248-8458-85D8-F708-60763543C22B}"/>
              </a:ext>
            </a:extLst>
          </p:cNvPr>
          <p:cNvGraphicFramePr>
            <a:graphicFrameLocks noGrp="1"/>
          </p:cNvGraphicFramePr>
          <p:nvPr/>
        </p:nvGraphicFramePr>
        <p:xfrm>
          <a:off x="517290" y="745905"/>
          <a:ext cx="11161565" cy="4735405"/>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Strengthening Financing Strategies for SDG in three states of HP, Meghalaya and MP and developing transformative concept notes for finance mobilization for SDGs localization and Climate Action</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Govt. of Meghalaya, Govt. of Himachal Pradesh, Govt. of Madhya Pradesh, GIZ (Deutsche Gesellschaft für </a:t>
                      </a:r>
                      <a:r>
                        <a:rPr lang="en-US" sz="1000" b="0" err="1">
                          <a:solidFill>
                            <a:schemeClr val="bg1"/>
                          </a:solidFill>
                          <a:effectLst/>
                          <a:latin typeface="Verdana" panose="020B0604030504040204" pitchFamily="34" charset="0"/>
                          <a:ea typeface="+mn-ea"/>
                          <a:cs typeface="Times New Roman" panose="02020603050405020304" pitchFamily="18" charset="0"/>
                        </a:rPr>
                        <a:t>Internationale</a:t>
                      </a:r>
                      <a:r>
                        <a:rPr lang="en-US" sz="1000" b="0">
                          <a:solidFill>
                            <a:schemeClr val="bg1"/>
                          </a:solidFill>
                          <a:effectLst/>
                          <a:latin typeface="Verdana" panose="020B0604030504040204" pitchFamily="34" charset="0"/>
                          <a:ea typeface="+mn-ea"/>
                          <a:cs typeface="Times New Roman" panose="02020603050405020304" pitchFamily="18" charset="0"/>
                        </a:rPr>
                        <a:t> Zusammenarbeit).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170928">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Deloitte was appointed for the implementation of Institutional Development Action Plan</a:t>
                      </a:r>
                    </a:p>
                    <a:p>
                      <a:pPr marL="96520"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1: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Study of Proposed ‘Advanced Seminars &amp; workshops Program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Determined the feasibility and defined the concept, aims, contents, delivery modes and management framework for a new knowledge transfer program of advanced seminars and workshops on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contemporary and climate resilient roads sector topics and issues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delivered collaboratively between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leading technical, professional and industry en</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tities in Gujarat and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R&amp;BD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2: Implementation of pilot program of advanced seminars and workshops: Implemented pilot program of four advanced seminars, each of a duration of 2 to 3 days, covering the themes:</a:t>
                      </a:r>
                    </a:p>
                    <a:p>
                      <a:pPr marL="725170" lvl="1" indent="-171450" algn="just">
                        <a:lnSpc>
                          <a:spcPct val="115000"/>
                        </a:lnSpc>
                        <a:buFont typeface="Arial" panose="020B0604020202020204" pitchFamily="34" charset="0"/>
                        <a:buChar char="•"/>
                        <a:defRPr/>
                      </a:pPr>
                      <a:r>
                        <a:rPr lang="en-US" sz="900" b="1">
                          <a:solidFill>
                            <a:prstClr val="black"/>
                          </a:solidFill>
                          <a:latin typeface="Verdana" panose="020B0604030504040204" pitchFamily="34" charset="0"/>
                          <a:ea typeface="Verdana" panose="020B0604030504040204" pitchFamily="34" charset="0"/>
                        </a:rPr>
                        <a:t>Sustainable and disaster resilient Development of Road Infrastructure</a:t>
                      </a:r>
                    </a:p>
                    <a:p>
                      <a:pPr marL="725170" lvl="1" indent="-171450" algn="just">
                        <a:lnSpc>
                          <a:spcPct val="115000"/>
                        </a:lnSpc>
                        <a:buFont typeface="Arial" panose="020B0604020202020204" pitchFamily="34" charset="0"/>
                        <a:buChar char="•"/>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Emerging trends in Planning, Design, Construction, Maintenance of roads and bridges</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Innovative Implementation Strategies</a:t>
                      </a:r>
                    </a:p>
                    <a:p>
                      <a:pPr marL="725170" lvl="1"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Use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Instrumentation &amp; Big data Management in Road Sector</a:t>
                      </a:r>
                      <a:endParaRPr lang="en-US" sz="900" b="1">
                        <a:solidFill>
                          <a:prstClr val="black"/>
                        </a:solidFill>
                        <a:latin typeface="Verdana" panose="020B0604030504040204" pitchFamily="34" charset="0"/>
                        <a:ea typeface="Verdana" panose="020B0604030504040204" pitchFamily="34" charset="0"/>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3: Study for road sector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Undertook a </a:t>
                      </a:r>
                      <a:r>
                        <a:rPr lang="en-US" sz="900" b="1">
                          <a:solidFill>
                            <a:prstClr val="black"/>
                          </a:solidFill>
                          <a:latin typeface="Verdana" panose="020B0604030504040204" pitchFamily="34" charset="0"/>
                          <a:ea typeface="Verdana" panose="020B0604030504040204" pitchFamily="34" charset="0"/>
                        </a:rPr>
                        <a:t>study to determine feasibility aspects </a:t>
                      </a:r>
                      <a:r>
                        <a:rPr lang="en-US" sz="900">
                          <a:solidFill>
                            <a:prstClr val="black"/>
                          </a:solidFill>
                          <a:latin typeface="Verdana" panose="020B0604030504040204" pitchFamily="34" charset="0"/>
                          <a:ea typeface="Verdana" panose="020B0604030504040204" pitchFamily="34" charset="0"/>
                        </a:rPr>
                        <a:t>and a general framework and ‘Business model’ for possible R&amp;BD linked Centre of excellence</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4:Implementation of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Assisted R&amp;BD in </a:t>
                      </a:r>
                      <a:r>
                        <a:rPr lang="en-US" sz="900" b="1">
                          <a:solidFill>
                            <a:prstClr val="black"/>
                          </a:solidFill>
                          <a:latin typeface="Verdana" panose="020B0604030504040204" pitchFamily="34" charset="0"/>
                          <a:ea typeface="Verdana" panose="020B0604030504040204" pitchFamily="34" charset="0"/>
                        </a:rPr>
                        <a:t>finalization and activation of Implementation Plans </a:t>
                      </a:r>
                      <a:r>
                        <a:rPr lang="en-US" sz="900">
                          <a:solidFill>
                            <a:prstClr val="black"/>
                          </a:solidFill>
                          <a:latin typeface="Verdana" panose="020B0604030504040204" pitchFamily="34" charset="0"/>
                          <a:ea typeface="Verdana" panose="020B0604030504040204" pitchFamily="34" charset="0"/>
                        </a:rPr>
                        <a:t>for the establishment and inaugural operations of the new Centre of Excellence, through workshops and consultations with concerned R&amp;BD areas and with participating entities and help the R&amp;BD in providing support for up to eighteen months from inception</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May 2016;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March 2021</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8.97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60C5B17F-BB22-0AF3-7B30-D2456CAE8D91}"/>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8DE0F2E4-D315-1213-04A5-4A35BF3472D1}"/>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9B24A4BE-9569-8F77-5CB4-7E2BA6190BC5}"/>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900" b="1">
                <a:solidFill>
                  <a:prstClr val="white"/>
                </a:solidFill>
                <a:latin typeface="Verdana"/>
              </a:rPr>
              <a:t>9</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184634580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B4CF6-E7CA-5E1A-0451-0B8AE66E4D64}"/>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B45C899-B8AA-54F3-EE5D-DF1CC7A43236}"/>
              </a:ext>
            </a:extLst>
          </p:cNvPr>
          <p:cNvGraphicFramePr>
            <a:graphicFrameLocks noGrp="1"/>
          </p:cNvGraphicFramePr>
          <p:nvPr/>
        </p:nvGraphicFramePr>
        <p:xfrm>
          <a:off x="517290" y="745905"/>
          <a:ext cx="11161565" cy="4735405"/>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Strengthening Financing Strategies for SDG in three states of HP, Meghalaya and MP and developing transformative concept notes for finance mobilization for SDGs localization and Climate Action</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Govt. of Meghalaya, Govt. of Himachal Pradesh, Govt. of Madhya Pradesh, GIZ (Deutsche Gesellschaft für </a:t>
                      </a:r>
                      <a:r>
                        <a:rPr lang="en-US" sz="1000" b="0" err="1">
                          <a:solidFill>
                            <a:schemeClr val="bg1"/>
                          </a:solidFill>
                          <a:effectLst/>
                          <a:latin typeface="Verdana" panose="020B0604030504040204" pitchFamily="34" charset="0"/>
                          <a:ea typeface="+mn-ea"/>
                          <a:cs typeface="Times New Roman" panose="02020603050405020304" pitchFamily="18" charset="0"/>
                        </a:rPr>
                        <a:t>Internationale</a:t>
                      </a:r>
                      <a:r>
                        <a:rPr lang="en-US" sz="1000" b="0">
                          <a:solidFill>
                            <a:schemeClr val="bg1"/>
                          </a:solidFill>
                          <a:effectLst/>
                          <a:latin typeface="Verdana" panose="020B0604030504040204" pitchFamily="34" charset="0"/>
                          <a:ea typeface="+mn-ea"/>
                          <a:cs typeface="Times New Roman" panose="02020603050405020304" pitchFamily="18" charset="0"/>
                        </a:rPr>
                        <a:t> Zusammenarbeit).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170928">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Deloitte was appointed for the implementation of Institutional Development Action Plan</a:t>
                      </a:r>
                    </a:p>
                    <a:p>
                      <a:pPr marL="96520"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1: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Study of Proposed ‘Advanced Seminars &amp; workshops Program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Determined the feasibility and defined the concept, aims, contents, delivery modes and management framework for a new knowledge transfer program of advanced seminars and workshops on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contemporary and climate resilient roads sector topics and issues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delivered collaboratively between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leading technical, professional and industry en</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tities in Gujarat and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R&amp;BD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2: Implementation of pilot program of advanced seminars and workshops: Implemented pilot program of four advanced seminars, each of a duration of 2 to 3 days, covering the themes:</a:t>
                      </a:r>
                    </a:p>
                    <a:p>
                      <a:pPr marL="725170" lvl="1" indent="-171450" algn="just">
                        <a:lnSpc>
                          <a:spcPct val="115000"/>
                        </a:lnSpc>
                        <a:buFont typeface="Arial" panose="020B0604020202020204" pitchFamily="34" charset="0"/>
                        <a:buChar char="•"/>
                        <a:defRPr/>
                      </a:pPr>
                      <a:r>
                        <a:rPr lang="en-US" sz="900" b="1">
                          <a:solidFill>
                            <a:prstClr val="black"/>
                          </a:solidFill>
                          <a:latin typeface="Verdana" panose="020B0604030504040204" pitchFamily="34" charset="0"/>
                          <a:ea typeface="Verdana" panose="020B0604030504040204" pitchFamily="34" charset="0"/>
                        </a:rPr>
                        <a:t>Sustainable and disaster resilient Development of Road Infrastructure</a:t>
                      </a:r>
                    </a:p>
                    <a:p>
                      <a:pPr marL="725170" lvl="1" indent="-171450" algn="just">
                        <a:lnSpc>
                          <a:spcPct val="115000"/>
                        </a:lnSpc>
                        <a:buFont typeface="Arial" panose="020B0604020202020204" pitchFamily="34" charset="0"/>
                        <a:buChar char="•"/>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Emerging trends in Planning, Design, Construction, Maintenance of roads and bridges</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Innovative Implementation Strategies</a:t>
                      </a:r>
                    </a:p>
                    <a:p>
                      <a:pPr marL="725170" lvl="1"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Use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Instrumentation &amp; Big data Management in Road Sector</a:t>
                      </a:r>
                      <a:endParaRPr lang="en-US" sz="900" b="1">
                        <a:solidFill>
                          <a:prstClr val="black"/>
                        </a:solidFill>
                        <a:latin typeface="Verdana" panose="020B0604030504040204" pitchFamily="34" charset="0"/>
                        <a:ea typeface="Verdana" panose="020B0604030504040204" pitchFamily="34" charset="0"/>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3: Study for road sector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Undertook a </a:t>
                      </a:r>
                      <a:r>
                        <a:rPr lang="en-US" sz="900" b="1">
                          <a:solidFill>
                            <a:prstClr val="black"/>
                          </a:solidFill>
                          <a:latin typeface="Verdana" panose="020B0604030504040204" pitchFamily="34" charset="0"/>
                          <a:ea typeface="Verdana" panose="020B0604030504040204" pitchFamily="34" charset="0"/>
                        </a:rPr>
                        <a:t>study to determine feasibility aspects </a:t>
                      </a:r>
                      <a:r>
                        <a:rPr lang="en-US" sz="900">
                          <a:solidFill>
                            <a:prstClr val="black"/>
                          </a:solidFill>
                          <a:latin typeface="Verdana" panose="020B0604030504040204" pitchFamily="34" charset="0"/>
                          <a:ea typeface="Verdana" panose="020B0604030504040204" pitchFamily="34" charset="0"/>
                        </a:rPr>
                        <a:t>and a general framework and ‘Business model’ for possible R&amp;BD linked Centre of excellence</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4:Implementation of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Assisted R&amp;BD in </a:t>
                      </a:r>
                      <a:r>
                        <a:rPr lang="en-US" sz="900" b="1">
                          <a:solidFill>
                            <a:prstClr val="black"/>
                          </a:solidFill>
                          <a:latin typeface="Verdana" panose="020B0604030504040204" pitchFamily="34" charset="0"/>
                          <a:ea typeface="Verdana" panose="020B0604030504040204" pitchFamily="34" charset="0"/>
                        </a:rPr>
                        <a:t>finalization and activation of Implementation Plans </a:t>
                      </a:r>
                      <a:r>
                        <a:rPr lang="en-US" sz="900">
                          <a:solidFill>
                            <a:prstClr val="black"/>
                          </a:solidFill>
                          <a:latin typeface="Verdana" panose="020B0604030504040204" pitchFamily="34" charset="0"/>
                          <a:ea typeface="Verdana" panose="020B0604030504040204" pitchFamily="34" charset="0"/>
                        </a:rPr>
                        <a:t>for the establishment and inaugural operations of the new Centre of Excellence, through workshops and consultations with concerned R&amp;BD areas and with participating entities and help the R&amp;BD in providing support for up to eighteen months from inception</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May 2016;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March 2021</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8.97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E349506F-47B7-8D9E-724D-1929ED4E0251}"/>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5C4ED227-CA6D-186F-C78E-0CB30E04FD3C}"/>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CB319A95-94CF-8BEF-2892-A8E8F7F60D9D}"/>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900" b="1">
                <a:solidFill>
                  <a:prstClr val="white"/>
                </a:solidFill>
                <a:latin typeface="Verdana"/>
              </a:rPr>
              <a:t>10</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260675570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7F080-EC0E-2281-4888-D4F514EBAC97}"/>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FF8AF8F-A5F5-3B71-F895-D82D8A02EC7C}"/>
              </a:ext>
            </a:extLst>
          </p:cNvPr>
          <p:cNvGraphicFramePr>
            <a:graphicFrameLocks noGrp="1"/>
          </p:cNvGraphicFramePr>
          <p:nvPr/>
        </p:nvGraphicFramePr>
        <p:xfrm>
          <a:off x="517290" y="745905"/>
          <a:ext cx="11161565" cy="4735405"/>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Strengthening Financing Strategies for SDG in three states of HP, Meghalaya and MP and developing transformative concept notes for finance mobilization for SDGs localization and Climate Action</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Govt. of Meghalaya, Govt. of Himachal Pradesh, Govt. of Madhya Pradesh, GIZ (Deutsche Gesellschaft für </a:t>
                      </a:r>
                      <a:r>
                        <a:rPr lang="en-US" sz="1000" b="0" err="1">
                          <a:solidFill>
                            <a:schemeClr val="bg1"/>
                          </a:solidFill>
                          <a:effectLst/>
                          <a:latin typeface="Verdana" panose="020B0604030504040204" pitchFamily="34" charset="0"/>
                          <a:ea typeface="+mn-ea"/>
                          <a:cs typeface="Times New Roman" panose="02020603050405020304" pitchFamily="18" charset="0"/>
                        </a:rPr>
                        <a:t>Internationale</a:t>
                      </a:r>
                      <a:r>
                        <a:rPr lang="en-US" sz="1000" b="0">
                          <a:solidFill>
                            <a:schemeClr val="bg1"/>
                          </a:solidFill>
                          <a:effectLst/>
                          <a:latin typeface="Verdana" panose="020B0604030504040204" pitchFamily="34" charset="0"/>
                          <a:ea typeface="+mn-ea"/>
                          <a:cs typeface="Times New Roman" panose="02020603050405020304" pitchFamily="18" charset="0"/>
                        </a:rPr>
                        <a:t> Zusammenarbeit).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170928">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Deloitte was appointed for the implementation of Institutional Development Action Plan</a:t>
                      </a:r>
                    </a:p>
                    <a:p>
                      <a:pPr marL="96520"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1: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Study of Proposed ‘Advanced Seminars &amp; workshops Program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Determined the feasibility and defined the concept, aims, contents, delivery modes and management framework for a new knowledge transfer program of advanced seminars and workshops on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contemporary and climate resilient roads sector topics and issues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delivered collaboratively between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leading technical, professional and industry en</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tities in Gujarat and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R&amp;BD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2: Implementation of pilot program of advanced seminars and workshops: Implemented pilot program of four advanced seminars, each of a duration of 2 to 3 days, covering the themes:</a:t>
                      </a:r>
                    </a:p>
                    <a:p>
                      <a:pPr marL="725170" lvl="1" indent="-171450" algn="just">
                        <a:lnSpc>
                          <a:spcPct val="115000"/>
                        </a:lnSpc>
                        <a:buFont typeface="Arial" panose="020B0604020202020204" pitchFamily="34" charset="0"/>
                        <a:buChar char="•"/>
                        <a:defRPr/>
                      </a:pPr>
                      <a:r>
                        <a:rPr lang="en-US" sz="900" b="1">
                          <a:solidFill>
                            <a:prstClr val="black"/>
                          </a:solidFill>
                          <a:latin typeface="Verdana" panose="020B0604030504040204" pitchFamily="34" charset="0"/>
                          <a:ea typeface="Verdana" panose="020B0604030504040204" pitchFamily="34" charset="0"/>
                        </a:rPr>
                        <a:t>Sustainable and disaster resilient Development of Road Infrastructure</a:t>
                      </a:r>
                    </a:p>
                    <a:p>
                      <a:pPr marL="725170" lvl="1" indent="-171450" algn="just">
                        <a:lnSpc>
                          <a:spcPct val="115000"/>
                        </a:lnSpc>
                        <a:buFont typeface="Arial" panose="020B0604020202020204" pitchFamily="34" charset="0"/>
                        <a:buChar char="•"/>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Emerging trends in Planning, Design, Construction, Maintenance of roads and bridges</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Innovative Implementation Strategies</a:t>
                      </a:r>
                    </a:p>
                    <a:p>
                      <a:pPr marL="725170" lvl="1"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Use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Instrumentation &amp; Big data Management in Road Sector</a:t>
                      </a:r>
                      <a:endParaRPr lang="en-US" sz="900" b="1">
                        <a:solidFill>
                          <a:prstClr val="black"/>
                        </a:solidFill>
                        <a:latin typeface="Verdana" panose="020B0604030504040204" pitchFamily="34" charset="0"/>
                        <a:ea typeface="Verdana" panose="020B0604030504040204" pitchFamily="34" charset="0"/>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3: Study for road sector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Undertook a </a:t>
                      </a:r>
                      <a:r>
                        <a:rPr lang="en-US" sz="900" b="1">
                          <a:solidFill>
                            <a:prstClr val="black"/>
                          </a:solidFill>
                          <a:latin typeface="Verdana" panose="020B0604030504040204" pitchFamily="34" charset="0"/>
                          <a:ea typeface="Verdana" panose="020B0604030504040204" pitchFamily="34" charset="0"/>
                        </a:rPr>
                        <a:t>study to determine feasibility aspects </a:t>
                      </a:r>
                      <a:r>
                        <a:rPr lang="en-US" sz="900">
                          <a:solidFill>
                            <a:prstClr val="black"/>
                          </a:solidFill>
                          <a:latin typeface="Verdana" panose="020B0604030504040204" pitchFamily="34" charset="0"/>
                          <a:ea typeface="Verdana" panose="020B0604030504040204" pitchFamily="34" charset="0"/>
                        </a:rPr>
                        <a:t>and a general framework and ‘Business model’ for possible R&amp;BD linked Centre of excellence</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4:Implementation of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Assisted R&amp;BD in </a:t>
                      </a:r>
                      <a:r>
                        <a:rPr lang="en-US" sz="900" b="1">
                          <a:solidFill>
                            <a:prstClr val="black"/>
                          </a:solidFill>
                          <a:latin typeface="Verdana" panose="020B0604030504040204" pitchFamily="34" charset="0"/>
                          <a:ea typeface="Verdana" panose="020B0604030504040204" pitchFamily="34" charset="0"/>
                        </a:rPr>
                        <a:t>finalization and activation of Implementation Plans </a:t>
                      </a:r>
                      <a:r>
                        <a:rPr lang="en-US" sz="900">
                          <a:solidFill>
                            <a:prstClr val="black"/>
                          </a:solidFill>
                          <a:latin typeface="Verdana" panose="020B0604030504040204" pitchFamily="34" charset="0"/>
                          <a:ea typeface="Verdana" panose="020B0604030504040204" pitchFamily="34" charset="0"/>
                        </a:rPr>
                        <a:t>for the establishment and inaugural operations of the new Centre of Excellence, through workshops and consultations with concerned R&amp;BD areas and with participating entities and help the R&amp;BD in providing support for up to eighteen months from inception</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May 2016;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March 2021</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8.97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0DF5644-52BB-E0ED-1F50-A523EA8906C9}"/>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5EE7DFAF-2872-CD14-61F8-B2684512CD68}"/>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C9AE752F-FAAA-2973-F8BC-52F8C2D2643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7</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48556445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6ED61-3FFB-E4D6-DCB7-A4D89FD3FFF5}"/>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94B1E65-936D-71CD-B6FD-447E80684464}"/>
              </a:ext>
            </a:extLst>
          </p:cNvPr>
          <p:cNvGraphicFramePr>
            <a:graphicFrameLocks noGrp="1"/>
          </p:cNvGraphicFramePr>
          <p:nvPr/>
        </p:nvGraphicFramePr>
        <p:xfrm>
          <a:off x="517290" y="745905"/>
          <a:ext cx="11161565" cy="4735405"/>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Strengthening Financing Strategies for SDG in three states of HP, Meghalaya and MP and developing transformative concept notes for finance mobilization for SDGs localization and Climate Action</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Govt. of Meghalaya, Govt. of Himachal Pradesh, Govt. of Madhya Pradesh, GIZ (Deutsche Gesellschaft für </a:t>
                      </a:r>
                      <a:r>
                        <a:rPr lang="en-US" sz="1000" b="0" err="1">
                          <a:solidFill>
                            <a:schemeClr val="bg1"/>
                          </a:solidFill>
                          <a:effectLst/>
                          <a:latin typeface="Verdana" panose="020B0604030504040204" pitchFamily="34" charset="0"/>
                          <a:ea typeface="+mn-ea"/>
                          <a:cs typeface="Times New Roman" panose="02020603050405020304" pitchFamily="18" charset="0"/>
                        </a:rPr>
                        <a:t>Internationale</a:t>
                      </a:r>
                      <a:r>
                        <a:rPr lang="en-US" sz="1000" b="0">
                          <a:solidFill>
                            <a:schemeClr val="bg1"/>
                          </a:solidFill>
                          <a:effectLst/>
                          <a:latin typeface="Verdana" panose="020B0604030504040204" pitchFamily="34" charset="0"/>
                          <a:ea typeface="+mn-ea"/>
                          <a:cs typeface="Times New Roman" panose="02020603050405020304" pitchFamily="18" charset="0"/>
                        </a:rPr>
                        <a:t> Zusammenarbeit).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170928">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Deloitte was appointed for the implementation of Institutional Development Action Plan</a:t>
                      </a:r>
                    </a:p>
                    <a:p>
                      <a:pPr marL="96520"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1: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Study of Proposed ‘Advanced Seminars &amp; workshops Program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Determined the feasibility and defined the concept, aims, contents, delivery modes and management framework for a new knowledge transfer program of advanced seminars and workshops on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contemporary and climate resilient roads sector topics and issues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delivered collaboratively between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leading technical, professional and industry en</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tities in Gujarat and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R&amp;BD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2: Implementation of pilot program of advanced seminars and workshops: Implemented pilot program of four advanced seminars, each of a duration of 2 to 3 days, covering the themes:</a:t>
                      </a:r>
                    </a:p>
                    <a:p>
                      <a:pPr marL="725170" lvl="1" indent="-171450" algn="just">
                        <a:lnSpc>
                          <a:spcPct val="115000"/>
                        </a:lnSpc>
                        <a:buFont typeface="Arial" panose="020B0604020202020204" pitchFamily="34" charset="0"/>
                        <a:buChar char="•"/>
                        <a:defRPr/>
                      </a:pPr>
                      <a:r>
                        <a:rPr lang="en-US" sz="900" b="1">
                          <a:solidFill>
                            <a:prstClr val="black"/>
                          </a:solidFill>
                          <a:latin typeface="Verdana" panose="020B0604030504040204" pitchFamily="34" charset="0"/>
                          <a:ea typeface="Verdana" panose="020B0604030504040204" pitchFamily="34" charset="0"/>
                        </a:rPr>
                        <a:t>Sustainable and disaster resilient Development of Road Infrastructure</a:t>
                      </a:r>
                    </a:p>
                    <a:p>
                      <a:pPr marL="725170" lvl="1" indent="-171450" algn="just">
                        <a:lnSpc>
                          <a:spcPct val="115000"/>
                        </a:lnSpc>
                        <a:buFont typeface="Arial" panose="020B0604020202020204" pitchFamily="34" charset="0"/>
                        <a:buChar char="•"/>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Emerging trends in Planning, Design, Construction, Maintenance of roads and bridges</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Innovative Implementation Strategies</a:t>
                      </a:r>
                    </a:p>
                    <a:p>
                      <a:pPr marL="725170" lvl="1"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Use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Instrumentation &amp; Big data Management in Road Sector</a:t>
                      </a:r>
                      <a:endParaRPr lang="en-US" sz="900" b="1">
                        <a:solidFill>
                          <a:prstClr val="black"/>
                        </a:solidFill>
                        <a:latin typeface="Verdana" panose="020B0604030504040204" pitchFamily="34" charset="0"/>
                        <a:ea typeface="Verdana" panose="020B0604030504040204" pitchFamily="34" charset="0"/>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3: Study for road sector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Undertook a </a:t>
                      </a:r>
                      <a:r>
                        <a:rPr lang="en-US" sz="900" b="1">
                          <a:solidFill>
                            <a:prstClr val="black"/>
                          </a:solidFill>
                          <a:latin typeface="Verdana" panose="020B0604030504040204" pitchFamily="34" charset="0"/>
                          <a:ea typeface="Verdana" panose="020B0604030504040204" pitchFamily="34" charset="0"/>
                        </a:rPr>
                        <a:t>study to determine feasibility aspects </a:t>
                      </a:r>
                      <a:r>
                        <a:rPr lang="en-US" sz="900">
                          <a:solidFill>
                            <a:prstClr val="black"/>
                          </a:solidFill>
                          <a:latin typeface="Verdana" panose="020B0604030504040204" pitchFamily="34" charset="0"/>
                          <a:ea typeface="Verdana" panose="020B0604030504040204" pitchFamily="34" charset="0"/>
                        </a:rPr>
                        <a:t>and a general framework and ‘Business model’ for possible R&amp;BD linked Centre of excellence</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4:Implementation of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Assisted R&amp;BD in </a:t>
                      </a:r>
                      <a:r>
                        <a:rPr lang="en-US" sz="900" b="1">
                          <a:solidFill>
                            <a:prstClr val="black"/>
                          </a:solidFill>
                          <a:latin typeface="Verdana" panose="020B0604030504040204" pitchFamily="34" charset="0"/>
                          <a:ea typeface="Verdana" panose="020B0604030504040204" pitchFamily="34" charset="0"/>
                        </a:rPr>
                        <a:t>finalization and activation of Implementation Plans </a:t>
                      </a:r>
                      <a:r>
                        <a:rPr lang="en-US" sz="900">
                          <a:solidFill>
                            <a:prstClr val="black"/>
                          </a:solidFill>
                          <a:latin typeface="Verdana" panose="020B0604030504040204" pitchFamily="34" charset="0"/>
                          <a:ea typeface="Verdana" panose="020B0604030504040204" pitchFamily="34" charset="0"/>
                        </a:rPr>
                        <a:t>for the establishment and inaugural operations of the new Centre of Excellence, through workshops and consultations with concerned R&amp;BD areas and with participating entities and help the R&amp;BD in providing support for up to eighteen months from inception</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May 2016;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March 2021</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8.97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578046C2-1823-B280-0616-353B01099D32}"/>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3E3DA3A0-ED3E-C548-8ED3-89E76870DCA5}"/>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E6529B7A-EDFA-A2DE-74BE-F7DADA3B07FF}"/>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7</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7846180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779E9-5EAC-5C02-00E9-F95520248F71}"/>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E6AA06F-CF38-5012-833C-465C5B678354}"/>
              </a:ext>
            </a:extLst>
          </p:cNvPr>
          <p:cNvGraphicFramePr>
            <a:graphicFrameLocks noGrp="1"/>
          </p:cNvGraphicFramePr>
          <p:nvPr/>
        </p:nvGraphicFramePr>
        <p:xfrm>
          <a:off x="517290" y="745905"/>
          <a:ext cx="11161565" cy="4735405"/>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Strengthening Financing Strategies for SDG in three states of HP, Meghalaya and MP and developing transformative concept notes for finance mobilization for SDGs localization and Climate Action</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Govt. of Meghalaya, Govt. of Himachal Pradesh, Govt. of Madhya Pradesh, GIZ (Deutsche Gesellschaft für </a:t>
                      </a:r>
                      <a:r>
                        <a:rPr lang="en-US" sz="1000" b="0" err="1">
                          <a:solidFill>
                            <a:schemeClr val="bg1"/>
                          </a:solidFill>
                          <a:effectLst/>
                          <a:latin typeface="Verdana" panose="020B0604030504040204" pitchFamily="34" charset="0"/>
                          <a:ea typeface="+mn-ea"/>
                          <a:cs typeface="Times New Roman" panose="02020603050405020304" pitchFamily="18" charset="0"/>
                        </a:rPr>
                        <a:t>Internationale</a:t>
                      </a:r>
                      <a:r>
                        <a:rPr lang="en-US" sz="1000" b="0">
                          <a:solidFill>
                            <a:schemeClr val="bg1"/>
                          </a:solidFill>
                          <a:effectLst/>
                          <a:latin typeface="Verdana" panose="020B0604030504040204" pitchFamily="34" charset="0"/>
                          <a:ea typeface="+mn-ea"/>
                          <a:cs typeface="Times New Roman" panose="02020603050405020304" pitchFamily="18" charset="0"/>
                        </a:rPr>
                        <a:t> Zusammenarbeit).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170928">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Deloitte was appointed for the implementation of Institutional Development Action Plan</a:t>
                      </a:r>
                    </a:p>
                    <a:p>
                      <a:pPr marL="96520"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1: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Study of Proposed ‘Advanced Seminars &amp; workshops Program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Determined the feasibility and defined the concept, aims, contents, delivery modes and management framework for a new knowledge transfer program of advanced seminars and workshops on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contemporary and climate resilient roads sector topics and issues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delivered collaboratively between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leading technical, professional and industry en</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tities in Gujarat and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R&amp;BD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2: Implementation of pilot program of advanced seminars and workshops: Implemented pilot program of four advanced seminars, each of a duration of 2 to 3 days, covering the themes:</a:t>
                      </a:r>
                    </a:p>
                    <a:p>
                      <a:pPr marL="725170" lvl="1" indent="-171450" algn="just">
                        <a:lnSpc>
                          <a:spcPct val="115000"/>
                        </a:lnSpc>
                        <a:buFont typeface="Arial" panose="020B0604020202020204" pitchFamily="34" charset="0"/>
                        <a:buChar char="•"/>
                        <a:defRPr/>
                      </a:pPr>
                      <a:r>
                        <a:rPr lang="en-US" sz="900" b="1">
                          <a:solidFill>
                            <a:prstClr val="black"/>
                          </a:solidFill>
                          <a:latin typeface="Verdana" panose="020B0604030504040204" pitchFamily="34" charset="0"/>
                          <a:ea typeface="Verdana" panose="020B0604030504040204" pitchFamily="34" charset="0"/>
                        </a:rPr>
                        <a:t>Sustainable and disaster resilient Development of Road Infrastructure</a:t>
                      </a:r>
                    </a:p>
                    <a:p>
                      <a:pPr marL="725170" lvl="1" indent="-171450" algn="just">
                        <a:lnSpc>
                          <a:spcPct val="115000"/>
                        </a:lnSpc>
                        <a:buFont typeface="Arial" panose="020B0604020202020204" pitchFamily="34" charset="0"/>
                        <a:buChar char="•"/>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Emerging trends in Planning, Design, Construction, Maintenance of roads and bridges</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Innovative Implementation Strategies</a:t>
                      </a:r>
                    </a:p>
                    <a:p>
                      <a:pPr marL="725170" lvl="1"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Use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Instrumentation &amp; Big data Management in Road Sector</a:t>
                      </a:r>
                      <a:endParaRPr lang="en-US" sz="900" b="1">
                        <a:solidFill>
                          <a:prstClr val="black"/>
                        </a:solidFill>
                        <a:latin typeface="Verdana" panose="020B0604030504040204" pitchFamily="34" charset="0"/>
                        <a:ea typeface="Verdana" panose="020B0604030504040204" pitchFamily="34" charset="0"/>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3: Study for road sector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Undertook a </a:t>
                      </a:r>
                      <a:r>
                        <a:rPr lang="en-US" sz="900" b="1">
                          <a:solidFill>
                            <a:prstClr val="black"/>
                          </a:solidFill>
                          <a:latin typeface="Verdana" panose="020B0604030504040204" pitchFamily="34" charset="0"/>
                          <a:ea typeface="Verdana" panose="020B0604030504040204" pitchFamily="34" charset="0"/>
                        </a:rPr>
                        <a:t>study to determine feasibility aspects </a:t>
                      </a:r>
                      <a:r>
                        <a:rPr lang="en-US" sz="900">
                          <a:solidFill>
                            <a:prstClr val="black"/>
                          </a:solidFill>
                          <a:latin typeface="Verdana" panose="020B0604030504040204" pitchFamily="34" charset="0"/>
                          <a:ea typeface="Verdana" panose="020B0604030504040204" pitchFamily="34" charset="0"/>
                        </a:rPr>
                        <a:t>and a general framework and ‘Business model’ for possible R&amp;BD linked Centre of excellence</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4:Implementation of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Assisted R&amp;BD in </a:t>
                      </a:r>
                      <a:r>
                        <a:rPr lang="en-US" sz="900" b="1">
                          <a:solidFill>
                            <a:prstClr val="black"/>
                          </a:solidFill>
                          <a:latin typeface="Verdana" panose="020B0604030504040204" pitchFamily="34" charset="0"/>
                          <a:ea typeface="Verdana" panose="020B0604030504040204" pitchFamily="34" charset="0"/>
                        </a:rPr>
                        <a:t>finalization and activation of Implementation Plans </a:t>
                      </a:r>
                      <a:r>
                        <a:rPr lang="en-US" sz="900">
                          <a:solidFill>
                            <a:prstClr val="black"/>
                          </a:solidFill>
                          <a:latin typeface="Verdana" panose="020B0604030504040204" pitchFamily="34" charset="0"/>
                          <a:ea typeface="Verdana" panose="020B0604030504040204" pitchFamily="34" charset="0"/>
                        </a:rPr>
                        <a:t>for the establishment and inaugural operations of the new Centre of Excellence, through workshops and consultations with concerned R&amp;BD areas and with participating entities and help the R&amp;BD in providing support for up to eighteen months from inception</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May 2016;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March 2021</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8.97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B7DE5285-56A7-75D0-300C-6C46A7091148}"/>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702F693D-A392-88F3-C822-DD8638AE2B3D}"/>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D1A0C23F-2164-6AF2-E286-677E265643A3}"/>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7</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370002827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FED54-F612-2C82-1A29-0AC6221046B1}"/>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92B3E31-7552-526B-97CF-00423ABEF149}"/>
              </a:ext>
            </a:extLst>
          </p:cNvPr>
          <p:cNvGraphicFramePr>
            <a:graphicFrameLocks noGrp="1"/>
          </p:cNvGraphicFramePr>
          <p:nvPr/>
        </p:nvGraphicFramePr>
        <p:xfrm>
          <a:off x="517290" y="745905"/>
          <a:ext cx="11161565" cy="4735405"/>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Strengthening Financing Strategies for SDG in three states of HP, Meghalaya and MP and developing transformative concept notes for finance mobilization for SDGs localization and Climate Action</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Govt. of Meghalaya, Govt. of Himachal Pradesh, Govt. of Madhya Pradesh, GIZ (Deutsche Gesellschaft für </a:t>
                      </a:r>
                      <a:r>
                        <a:rPr lang="en-US" sz="1000" b="0" err="1">
                          <a:solidFill>
                            <a:schemeClr val="bg1"/>
                          </a:solidFill>
                          <a:effectLst/>
                          <a:latin typeface="Verdana" panose="020B0604030504040204" pitchFamily="34" charset="0"/>
                          <a:ea typeface="+mn-ea"/>
                          <a:cs typeface="Times New Roman" panose="02020603050405020304" pitchFamily="18" charset="0"/>
                        </a:rPr>
                        <a:t>Internationale</a:t>
                      </a:r>
                      <a:r>
                        <a:rPr lang="en-US" sz="1000" b="0">
                          <a:solidFill>
                            <a:schemeClr val="bg1"/>
                          </a:solidFill>
                          <a:effectLst/>
                          <a:latin typeface="Verdana" panose="020B0604030504040204" pitchFamily="34" charset="0"/>
                          <a:ea typeface="+mn-ea"/>
                          <a:cs typeface="Times New Roman" panose="02020603050405020304" pitchFamily="18" charset="0"/>
                        </a:rPr>
                        <a:t> Zusammenarbeit).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170928">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Deloitte was appointed for the implementation of Institutional Development Action Plan</a:t>
                      </a:r>
                    </a:p>
                    <a:p>
                      <a:pPr marL="96520"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1: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Study of Proposed ‘Advanced Seminars &amp; workshops Program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Determined the feasibility and defined the concept, aims, contents, delivery modes and management framework for a new knowledge transfer program of advanced seminars and workshops on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contemporary and climate resilient roads sector topics and issues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delivered collaboratively between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leading technical, professional and industry en</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tities in Gujarat and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R&amp;BD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2: Implementation of pilot program of advanced seminars and workshops: Implemented pilot program of four advanced seminars, each of a duration of 2 to 3 days, covering the themes:</a:t>
                      </a:r>
                    </a:p>
                    <a:p>
                      <a:pPr marL="725170" lvl="1" indent="-171450" algn="just">
                        <a:lnSpc>
                          <a:spcPct val="115000"/>
                        </a:lnSpc>
                        <a:buFont typeface="Arial" panose="020B0604020202020204" pitchFamily="34" charset="0"/>
                        <a:buChar char="•"/>
                        <a:defRPr/>
                      </a:pPr>
                      <a:r>
                        <a:rPr lang="en-US" sz="900" b="1">
                          <a:solidFill>
                            <a:prstClr val="black"/>
                          </a:solidFill>
                          <a:latin typeface="Verdana" panose="020B0604030504040204" pitchFamily="34" charset="0"/>
                          <a:ea typeface="Verdana" panose="020B0604030504040204" pitchFamily="34" charset="0"/>
                        </a:rPr>
                        <a:t>Sustainable and disaster resilient Development of Road Infrastructure</a:t>
                      </a:r>
                    </a:p>
                    <a:p>
                      <a:pPr marL="725170" lvl="1" indent="-171450" algn="just">
                        <a:lnSpc>
                          <a:spcPct val="115000"/>
                        </a:lnSpc>
                        <a:buFont typeface="Arial" panose="020B0604020202020204" pitchFamily="34" charset="0"/>
                        <a:buChar char="•"/>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Emerging trends in Planning, Design, Construction, Maintenance of roads and bridges</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Innovative Implementation Strategies</a:t>
                      </a:r>
                    </a:p>
                    <a:p>
                      <a:pPr marL="725170" lvl="1"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Use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Instrumentation &amp; Big data Management in Road Sector</a:t>
                      </a:r>
                      <a:endParaRPr lang="en-US" sz="900" b="1">
                        <a:solidFill>
                          <a:prstClr val="black"/>
                        </a:solidFill>
                        <a:latin typeface="Verdana" panose="020B0604030504040204" pitchFamily="34" charset="0"/>
                        <a:ea typeface="Verdana" panose="020B0604030504040204" pitchFamily="34" charset="0"/>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3: Study for road sector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Undertook a </a:t>
                      </a:r>
                      <a:r>
                        <a:rPr lang="en-US" sz="900" b="1">
                          <a:solidFill>
                            <a:prstClr val="black"/>
                          </a:solidFill>
                          <a:latin typeface="Verdana" panose="020B0604030504040204" pitchFamily="34" charset="0"/>
                          <a:ea typeface="Verdana" panose="020B0604030504040204" pitchFamily="34" charset="0"/>
                        </a:rPr>
                        <a:t>study to determine feasibility aspects </a:t>
                      </a:r>
                      <a:r>
                        <a:rPr lang="en-US" sz="900">
                          <a:solidFill>
                            <a:prstClr val="black"/>
                          </a:solidFill>
                          <a:latin typeface="Verdana" panose="020B0604030504040204" pitchFamily="34" charset="0"/>
                          <a:ea typeface="Verdana" panose="020B0604030504040204" pitchFamily="34" charset="0"/>
                        </a:rPr>
                        <a:t>and a general framework and ‘Business model’ for possible R&amp;BD linked Centre of excellence</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4:Implementation of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Assisted R&amp;BD in </a:t>
                      </a:r>
                      <a:r>
                        <a:rPr lang="en-US" sz="900" b="1">
                          <a:solidFill>
                            <a:prstClr val="black"/>
                          </a:solidFill>
                          <a:latin typeface="Verdana" panose="020B0604030504040204" pitchFamily="34" charset="0"/>
                          <a:ea typeface="Verdana" panose="020B0604030504040204" pitchFamily="34" charset="0"/>
                        </a:rPr>
                        <a:t>finalization and activation of Implementation Plans </a:t>
                      </a:r>
                      <a:r>
                        <a:rPr lang="en-US" sz="900">
                          <a:solidFill>
                            <a:prstClr val="black"/>
                          </a:solidFill>
                          <a:latin typeface="Verdana" panose="020B0604030504040204" pitchFamily="34" charset="0"/>
                          <a:ea typeface="Verdana" panose="020B0604030504040204" pitchFamily="34" charset="0"/>
                        </a:rPr>
                        <a:t>for the establishment and inaugural operations of the new Centre of Excellence, through workshops and consultations with concerned R&amp;BD areas and with participating entities and help the R&amp;BD in providing support for up to eighteen months from inception</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May 2016;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March 2021</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8.97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C63B477E-F362-4C34-7B60-206AFDF3F5F2}"/>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FBE478B4-1C7D-7C93-E453-479E7448630B}"/>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E4FFDAB4-B7E5-34AF-CDD8-17C106A41CD9}"/>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7</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305332673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9A3FC-EAE6-DDC7-42F4-A813A96A85A5}"/>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7973535-C2E8-9B9A-7337-1022F5405B68}"/>
              </a:ext>
            </a:extLst>
          </p:cNvPr>
          <p:cNvGraphicFramePr>
            <a:graphicFrameLocks noGrp="1"/>
          </p:cNvGraphicFramePr>
          <p:nvPr/>
        </p:nvGraphicFramePr>
        <p:xfrm>
          <a:off x="517290" y="745905"/>
          <a:ext cx="11161565" cy="4735405"/>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Strengthening Financing Strategies for SDG in three states of HP, Meghalaya and MP and developing transformative concept notes for finance mobilization for SDGs localization and Climate Action</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Govt. of Meghalaya, Govt. of Himachal Pradesh, Govt. of Madhya Pradesh, GIZ (Deutsche Gesellschaft für </a:t>
                      </a:r>
                      <a:r>
                        <a:rPr lang="en-US" sz="1000" b="0" err="1">
                          <a:solidFill>
                            <a:schemeClr val="bg1"/>
                          </a:solidFill>
                          <a:effectLst/>
                          <a:latin typeface="Verdana" panose="020B0604030504040204" pitchFamily="34" charset="0"/>
                          <a:ea typeface="+mn-ea"/>
                          <a:cs typeface="Times New Roman" panose="02020603050405020304" pitchFamily="18" charset="0"/>
                        </a:rPr>
                        <a:t>Internationale</a:t>
                      </a:r>
                      <a:r>
                        <a:rPr lang="en-US" sz="1000" b="0">
                          <a:solidFill>
                            <a:schemeClr val="bg1"/>
                          </a:solidFill>
                          <a:effectLst/>
                          <a:latin typeface="Verdana" panose="020B0604030504040204" pitchFamily="34" charset="0"/>
                          <a:ea typeface="+mn-ea"/>
                          <a:cs typeface="Times New Roman" panose="02020603050405020304" pitchFamily="18" charset="0"/>
                        </a:rPr>
                        <a:t> Zusammenarbeit).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170928">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Deloitte was appointed for the implementation of Institutional Development Action Plan</a:t>
                      </a:r>
                    </a:p>
                    <a:p>
                      <a:pPr marL="96520"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1: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Study of Proposed ‘Advanced Seminars &amp; workshops Program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Determined the feasibility and defined the concept, aims, contents, delivery modes and management framework for a new knowledge transfer program of advanced seminars and workshops on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contemporary and climate resilient roads sector topics and issues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delivered collaboratively between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leading technical, professional and industry en</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tities in Gujarat and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R&amp;BD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2: Implementation of pilot program of advanced seminars and workshops: Implemented pilot program of four advanced seminars, each of a duration of 2 to 3 days, covering the themes:</a:t>
                      </a:r>
                    </a:p>
                    <a:p>
                      <a:pPr marL="725170" lvl="1" indent="-171450" algn="just">
                        <a:lnSpc>
                          <a:spcPct val="115000"/>
                        </a:lnSpc>
                        <a:buFont typeface="Arial" panose="020B0604020202020204" pitchFamily="34" charset="0"/>
                        <a:buChar char="•"/>
                        <a:defRPr/>
                      </a:pPr>
                      <a:r>
                        <a:rPr lang="en-US" sz="900" b="1">
                          <a:solidFill>
                            <a:prstClr val="black"/>
                          </a:solidFill>
                          <a:latin typeface="Verdana" panose="020B0604030504040204" pitchFamily="34" charset="0"/>
                          <a:ea typeface="Verdana" panose="020B0604030504040204" pitchFamily="34" charset="0"/>
                        </a:rPr>
                        <a:t>Sustainable and disaster resilient Development of Road Infrastructure</a:t>
                      </a:r>
                    </a:p>
                    <a:p>
                      <a:pPr marL="725170" lvl="1" indent="-171450" algn="just">
                        <a:lnSpc>
                          <a:spcPct val="115000"/>
                        </a:lnSpc>
                        <a:buFont typeface="Arial" panose="020B0604020202020204" pitchFamily="34" charset="0"/>
                        <a:buChar char="•"/>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Emerging trends in Planning, Design, Construction, Maintenance of roads and bridges</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Innovative Implementation Strategies</a:t>
                      </a:r>
                    </a:p>
                    <a:p>
                      <a:pPr marL="725170" lvl="1"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Use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Instrumentation &amp; Big data Management in Road Sector</a:t>
                      </a:r>
                      <a:endParaRPr lang="en-US" sz="900" b="1">
                        <a:solidFill>
                          <a:prstClr val="black"/>
                        </a:solidFill>
                        <a:latin typeface="Verdana" panose="020B0604030504040204" pitchFamily="34" charset="0"/>
                        <a:ea typeface="Verdana" panose="020B0604030504040204" pitchFamily="34" charset="0"/>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3: Study for road sector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Undertook a </a:t>
                      </a:r>
                      <a:r>
                        <a:rPr lang="en-US" sz="900" b="1">
                          <a:solidFill>
                            <a:prstClr val="black"/>
                          </a:solidFill>
                          <a:latin typeface="Verdana" panose="020B0604030504040204" pitchFamily="34" charset="0"/>
                          <a:ea typeface="Verdana" panose="020B0604030504040204" pitchFamily="34" charset="0"/>
                        </a:rPr>
                        <a:t>study to determine feasibility aspects </a:t>
                      </a:r>
                      <a:r>
                        <a:rPr lang="en-US" sz="900">
                          <a:solidFill>
                            <a:prstClr val="black"/>
                          </a:solidFill>
                          <a:latin typeface="Verdana" panose="020B0604030504040204" pitchFamily="34" charset="0"/>
                          <a:ea typeface="Verdana" panose="020B0604030504040204" pitchFamily="34" charset="0"/>
                        </a:rPr>
                        <a:t>and a general framework and ‘Business model’ for possible R&amp;BD linked Centre of excellence</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4:Implementation of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Assisted R&amp;BD in </a:t>
                      </a:r>
                      <a:r>
                        <a:rPr lang="en-US" sz="900" b="1">
                          <a:solidFill>
                            <a:prstClr val="black"/>
                          </a:solidFill>
                          <a:latin typeface="Verdana" panose="020B0604030504040204" pitchFamily="34" charset="0"/>
                          <a:ea typeface="Verdana" panose="020B0604030504040204" pitchFamily="34" charset="0"/>
                        </a:rPr>
                        <a:t>finalization and activation of Implementation Plans </a:t>
                      </a:r>
                      <a:r>
                        <a:rPr lang="en-US" sz="900">
                          <a:solidFill>
                            <a:prstClr val="black"/>
                          </a:solidFill>
                          <a:latin typeface="Verdana" panose="020B0604030504040204" pitchFamily="34" charset="0"/>
                          <a:ea typeface="Verdana" panose="020B0604030504040204" pitchFamily="34" charset="0"/>
                        </a:rPr>
                        <a:t>for the establishment and inaugural operations of the new Centre of Excellence, through workshops and consultations with concerned R&amp;BD areas and with participating entities and help the R&amp;BD in providing support for up to eighteen months from inception</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May 2016;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March 2021</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8.97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3D16A873-B7E5-FBD7-9CCA-8F18F1F33CC1}"/>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794689C2-EB33-F55B-6B32-2CBD3B250D81}"/>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5111EDDE-ABE3-7C2C-5394-52FD025693F2}"/>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7</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36532197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83A12-8992-DF2F-7A32-74AF880EEC10}"/>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3485D78-30CC-F00A-DE24-E1EA4C39384B}"/>
              </a:ext>
            </a:extLst>
          </p:cNvPr>
          <p:cNvGraphicFramePr>
            <a:graphicFrameLocks noGrp="1"/>
          </p:cNvGraphicFramePr>
          <p:nvPr/>
        </p:nvGraphicFramePr>
        <p:xfrm>
          <a:off x="517290" y="745905"/>
          <a:ext cx="11161565" cy="4735405"/>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Strengthening Financing Strategies for SDG in three states of HP, Meghalaya and MP and developing transformative concept notes for finance mobilization for SDGs localization and Climate Action</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Govt. of Meghalaya, Govt. of Himachal Pradesh, Govt. of Madhya Pradesh, GIZ (Deutsche Gesellschaft für </a:t>
                      </a:r>
                      <a:r>
                        <a:rPr lang="en-US" sz="1000" b="0" err="1">
                          <a:solidFill>
                            <a:schemeClr val="bg1"/>
                          </a:solidFill>
                          <a:effectLst/>
                          <a:latin typeface="Verdana" panose="020B0604030504040204" pitchFamily="34" charset="0"/>
                          <a:ea typeface="+mn-ea"/>
                          <a:cs typeface="Times New Roman" panose="02020603050405020304" pitchFamily="18" charset="0"/>
                        </a:rPr>
                        <a:t>Internationale</a:t>
                      </a:r>
                      <a:r>
                        <a:rPr lang="en-US" sz="1000" b="0">
                          <a:solidFill>
                            <a:schemeClr val="bg1"/>
                          </a:solidFill>
                          <a:effectLst/>
                          <a:latin typeface="Verdana" panose="020B0604030504040204" pitchFamily="34" charset="0"/>
                          <a:ea typeface="+mn-ea"/>
                          <a:cs typeface="Times New Roman" panose="02020603050405020304" pitchFamily="18" charset="0"/>
                        </a:rPr>
                        <a:t> Zusammenarbeit).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170928">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Deloitte was appointed for the implementation of Institutional Development Action Plan</a:t>
                      </a:r>
                    </a:p>
                    <a:p>
                      <a:pPr marL="96520"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1: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Study of Proposed ‘Advanced Seminars &amp; workshops Program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Determined the feasibility and defined the concept, aims, contents, delivery modes and management framework for a new knowledge transfer program of advanced seminars and workshops on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contemporary and climate resilient roads sector topics and issues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delivered collaboratively between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leading technical, professional and industry en</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tities in Gujarat and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R&amp;BD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2: Implementation of pilot program of advanced seminars and workshops: Implemented pilot program of four advanced seminars, each of a duration of 2 to 3 days, covering the themes:</a:t>
                      </a:r>
                    </a:p>
                    <a:p>
                      <a:pPr marL="725170" lvl="1" indent="-171450" algn="just">
                        <a:lnSpc>
                          <a:spcPct val="115000"/>
                        </a:lnSpc>
                        <a:buFont typeface="Arial" panose="020B0604020202020204" pitchFamily="34" charset="0"/>
                        <a:buChar char="•"/>
                        <a:defRPr/>
                      </a:pPr>
                      <a:r>
                        <a:rPr lang="en-US" sz="900" b="1">
                          <a:solidFill>
                            <a:prstClr val="black"/>
                          </a:solidFill>
                          <a:latin typeface="Verdana" panose="020B0604030504040204" pitchFamily="34" charset="0"/>
                          <a:ea typeface="Verdana" panose="020B0604030504040204" pitchFamily="34" charset="0"/>
                        </a:rPr>
                        <a:t>Sustainable and disaster resilient Development of Road Infrastructure</a:t>
                      </a:r>
                    </a:p>
                    <a:p>
                      <a:pPr marL="725170" lvl="1" indent="-171450" algn="just">
                        <a:lnSpc>
                          <a:spcPct val="115000"/>
                        </a:lnSpc>
                        <a:buFont typeface="Arial" panose="020B0604020202020204" pitchFamily="34" charset="0"/>
                        <a:buChar char="•"/>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Emerging trends in Planning, Design, Construction, Maintenance of roads and bridges</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Innovative Implementation Strategies</a:t>
                      </a:r>
                    </a:p>
                    <a:p>
                      <a:pPr marL="725170" lvl="1"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Use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Instrumentation &amp; Big data Management in Road Sector</a:t>
                      </a:r>
                      <a:endParaRPr lang="en-US" sz="900" b="1">
                        <a:solidFill>
                          <a:prstClr val="black"/>
                        </a:solidFill>
                        <a:latin typeface="Verdana" panose="020B0604030504040204" pitchFamily="34" charset="0"/>
                        <a:ea typeface="Verdana" panose="020B0604030504040204" pitchFamily="34" charset="0"/>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3: Study for road sector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Undertook a </a:t>
                      </a:r>
                      <a:r>
                        <a:rPr lang="en-US" sz="900" b="1">
                          <a:solidFill>
                            <a:prstClr val="black"/>
                          </a:solidFill>
                          <a:latin typeface="Verdana" panose="020B0604030504040204" pitchFamily="34" charset="0"/>
                          <a:ea typeface="Verdana" panose="020B0604030504040204" pitchFamily="34" charset="0"/>
                        </a:rPr>
                        <a:t>study to determine feasibility aspects </a:t>
                      </a:r>
                      <a:r>
                        <a:rPr lang="en-US" sz="900">
                          <a:solidFill>
                            <a:prstClr val="black"/>
                          </a:solidFill>
                          <a:latin typeface="Verdana" panose="020B0604030504040204" pitchFamily="34" charset="0"/>
                          <a:ea typeface="Verdana" panose="020B0604030504040204" pitchFamily="34" charset="0"/>
                        </a:rPr>
                        <a:t>and a general framework and ‘Business model’ for possible R&amp;BD linked Centre of excellence</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4:Implementation of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Assisted R&amp;BD in </a:t>
                      </a:r>
                      <a:r>
                        <a:rPr lang="en-US" sz="900" b="1">
                          <a:solidFill>
                            <a:prstClr val="black"/>
                          </a:solidFill>
                          <a:latin typeface="Verdana" panose="020B0604030504040204" pitchFamily="34" charset="0"/>
                          <a:ea typeface="Verdana" panose="020B0604030504040204" pitchFamily="34" charset="0"/>
                        </a:rPr>
                        <a:t>finalization and activation of Implementation Plans </a:t>
                      </a:r>
                      <a:r>
                        <a:rPr lang="en-US" sz="900">
                          <a:solidFill>
                            <a:prstClr val="black"/>
                          </a:solidFill>
                          <a:latin typeface="Verdana" panose="020B0604030504040204" pitchFamily="34" charset="0"/>
                          <a:ea typeface="Verdana" panose="020B0604030504040204" pitchFamily="34" charset="0"/>
                        </a:rPr>
                        <a:t>for the establishment and inaugural operations of the new Centre of Excellence, through workshops and consultations with concerned R&amp;BD areas and with participating entities and help the R&amp;BD in providing support for up to eighteen months from inception</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May 2016;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March 2021</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8.97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45536705-9942-624B-BA67-8E8B5DECD55E}"/>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07FB79-CA61-5EF3-7E67-B6D4A038DD5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343EFCB5-96C3-4E49-DE58-DEE71B72EE4A}"/>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7</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279136355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FA731-F52E-6419-B93B-0CDC1D598FB5}"/>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D910E73-68F2-8625-83CF-5BCEC371F35F}"/>
              </a:ext>
            </a:extLst>
          </p:cNvPr>
          <p:cNvGraphicFramePr>
            <a:graphicFrameLocks noGrp="1"/>
          </p:cNvGraphicFramePr>
          <p:nvPr/>
        </p:nvGraphicFramePr>
        <p:xfrm>
          <a:off x="517290" y="745905"/>
          <a:ext cx="11161565" cy="4735405"/>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Strengthening Financing Strategies for SDG in three states of HP, Meghalaya and MP and developing transformative concept notes for finance mobilization for SDGs localization and Climate Action</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Govt. of Meghalaya, Govt. of Himachal Pradesh, Govt. of Madhya Pradesh, GIZ (Deutsche Gesellschaft für </a:t>
                      </a:r>
                      <a:r>
                        <a:rPr lang="en-US" sz="1000" b="0" err="1">
                          <a:solidFill>
                            <a:schemeClr val="bg1"/>
                          </a:solidFill>
                          <a:effectLst/>
                          <a:latin typeface="Verdana" panose="020B0604030504040204" pitchFamily="34" charset="0"/>
                          <a:ea typeface="+mn-ea"/>
                          <a:cs typeface="Times New Roman" panose="02020603050405020304" pitchFamily="18" charset="0"/>
                        </a:rPr>
                        <a:t>Internationale</a:t>
                      </a:r>
                      <a:r>
                        <a:rPr lang="en-US" sz="1000" b="0">
                          <a:solidFill>
                            <a:schemeClr val="bg1"/>
                          </a:solidFill>
                          <a:effectLst/>
                          <a:latin typeface="Verdana" panose="020B0604030504040204" pitchFamily="34" charset="0"/>
                          <a:ea typeface="+mn-ea"/>
                          <a:cs typeface="Times New Roman" panose="02020603050405020304" pitchFamily="18" charset="0"/>
                        </a:rPr>
                        <a:t> Zusammenarbeit).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170928">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Deloitte was appointed for the implementation of Institutional Development Action Plan</a:t>
                      </a:r>
                    </a:p>
                    <a:p>
                      <a:pPr marL="96520"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1: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Study of Proposed ‘Advanced Seminars &amp; workshops Program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Determined the feasibility and defined the concept, aims, contents, delivery modes and management framework for a new knowledge transfer program of advanced seminars and workshops on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contemporary and climate resilient roads sector topics and issues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delivered collaboratively between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leading technical, professional and industry en</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tities in Gujarat and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R&amp;BD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2: Implementation of pilot program of advanced seminars and workshops: Implemented pilot program of four advanced seminars, each of a duration of 2 to 3 days, covering the themes:</a:t>
                      </a:r>
                    </a:p>
                    <a:p>
                      <a:pPr marL="725170" lvl="1" indent="-171450" algn="just">
                        <a:lnSpc>
                          <a:spcPct val="115000"/>
                        </a:lnSpc>
                        <a:buFont typeface="Arial" panose="020B0604020202020204" pitchFamily="34" charset="0"/>
                        <a:buChar char="•"/>
                        <a:defRPr/>
                      </a:pPr>
                      <a:r>
                        <a:rPr lang="en-US" sz="900" b="1">
                          <a:solidFill>
                            <a:prstClr val="black"/>
                          </a:solidFill>
                          <a:latin typeface="Verdana" panose="020B0604030504040204" pitchFamily="34" charset="0"/>
                          <a:ea typeface="Verdana" panose="020B0604030504040204" pitchFamily="34" charset="0"/>
                        </a:rPr>
                        <a:t>Sustainable and disaster resilient Development of Road Infrastructure</a:t>
                      </a:r>
                    </a:p>
                    <a:p>
                      <a:pPr marL="725170" lvl="1" indent="-171450" algn="just">
                        <a:lnSpc>
                          <a:spcPct val="115000"/>
                        </a:lnSpc>
                        <a:buFont typeface="Arial" panose="020B0604020202020204" pitchFamily="34" charset="0"/>
                        <a:buChar char="•"/>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Emerging trends in Planning, Design, Construction, Maintenance of roads and bridges</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Innovative Implementation Strategies</a:t>
                      </a:r>
                    </a:p>
                    <a:p>
                      <a:pPr marL="725170" lvl="1"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Use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Instrumentation &amp; Big data Management in Road Sector</a:t>
                      </a:r>
                      <a:endParaRPr lang="en-US" sz="900" b="1">
                        <a:solidFill>
                          <a:prstClr val="black"/>
                        </a:solidFill>
                        <a:latin typeface="Verdana" panose="020B0604030504040204" pitchFamily="34" charset="0"/>
                        <a:ea typeface="Verdana" panose="020B0604030504040204" pitchFamily="34" charset="0"/>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3: Study for road sector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Undertook a </a:t>
                      </a:r>
                      <a:r>
                        <a:rPr lang="en-US" sz="900" b="1">
                          <a:solidFill>
                            <a:prstClr val="black"/>
                          </a:solidFill>
                          <a:latin typeface="Verdana" panose="020B0604030504040204" pitchFamily="34" charset="0"/>
                          <a:ea typeface="Verdana" panose="020B0604030504040204" pitchFamily="34" charset="0"/>
                        </a:rPr>
                        <a:t>study to determine feasibility aspects </a:t>
                      </a:r>
                      <a:r>
                        <a:rPr lang="en-US" sz="900">
                          <a:solidFill>
                            <a:prstClr val="black"/>
                          </a:solidFill>
                          <a:latin typeface="Verdana" panose="020B0604030504040204" pitchFamily="34" charset="0"/>
                          <a:ea typeface="Verdana" panose="020B0604030504040204" pitchFamily="34" charset="0"/>
                        </a:rPr>
                        <a:t>and a general framework and ‘Business model’ for possible R&amp;BD linked Centre of excellence</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4:Implementation of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Assisted R&amp;BD in </a:t>
                      </a:r>
                      <a:r>
                        <a:rPr lang="en-US" sz="900" b="1">
                          <a:solidFill>
                            <a:prstClr val="black"/>
                          </a:solidFill>
                          <a:latin typeface="Verdana" panose="020B0604030504040204" pitchFamily="34" charset="0"/>
                          <a:ea typeface="Verdana" panose="020B0604030504040204" pitchFamily="34" charset="0"/>
                        </a:rPr>
                        <a:t>finalization and activation of Implementation Plans </a:t>
                      </a:r>
                      <a:r>
                        <a:rPr lang="en-US" sz="900">
                          <a:solidFill>
                            <a:prstClr val="black"/>
                          </a:solidFill>
                          <a:latin typeface="Verdana" panose="020B0604030504040204" pitchFamily="34" charset="0"/>
                          <a:ea typeface="Verdana" panose="020B0604030504040204" pitchFamily="34" charset="0"/>
                        </a:rPr>
                        <a:t>for the establishment and inaugural operations of the new Centre of Excellence, through workshops and consultations with concerned R&amp;BD areas and with participating entities and help the R&amp;BD in providing support for up to eighteen months from inception</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May 2016;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March 2021</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8.97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30B03CB9-EDC8-F73A-325E-8FDB161E78CA}"/>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69D03CA-6D5E-7CBA-26EC-ADCDC9FCC63F}"/>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C5184CEA-93DE-6458-2CA8-C3364B653B8C}"/>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7</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142822166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704A3-2334-FCC6-FF49-377008B3B1DE}"/>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B418CEC-BD9A-806D-31C2-46B303B58CF1}"/>
              </a:ext>
            </a:extLst>
          </p:cNvPr>
          <p:cNvGraphicFramePr>
            <a:graphicFrameLocks noGrp="1"/>
          </p:cNvGraphicFramePr>
          <p:nvPr/>
        </p:nvGraphicFramePr>
        <p:xfrm>
          <a:off x="517290" y="745905"/>
          <a:ext cx="11161565" cy="4735405"/>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Strengthening Financing Strategies for SDG in three states of HP, Meghalaya and MP and developing transformative concept notes for finance mobilization for SDGs localization and Climate Action</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Govt. of Meghalaya, Govt. of Himachal Pradesh, Govt. of Madhya Pradesh, GIZ (Deutsche Gesellschaft für </a:t>
                      </a:r>
                      <a:r>
                        <a:rPr lang="en-US" sz="1000" b="0" err="1">
                          <a:solidFill>
                            <a:schemeClr val="bg1"/>
                          </a:solidFill>
                          <a:effectLst/>
                          <a:latin typeface="Verdana" panose="020B0604030504040204" pitchFamily="34" charset="0"/>
                          <a:ea typeface="+mn-ea"/>
                          <a:cs typeface="Times New Roman" panose="02020603050405020304" pitchFamily="18" charset="0"/>
                        </a:rPr>
                        <a:t>Internationale</a:t>
                      </a:r>
                      <a:r>
                        <a:rPr lang="en-US" sz="1000" b="0">
                          <a:solidFill>
                            <a:schemeClr val="bg1"/>
                          </a:solidFill>
                          <a:effectLst/>
                          <a:latin typeface="Verdana" panose="020B0604030504040204" pitchFamily="34" charset="0"/>
                          <a:ea typeface="+mn-ea"/>
                          <a:cs typeface="Times New Roman" panose="02020603050405020304" pitchFamily="18" charset="0"/>
                        </a:rPr>
                        <a:t> Zusammenarbeit).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170928">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Deloitte was appointed for the implementation of Institutional Development Action Plan</a:t>
                      </a:r>
                    </a:p>
                    <a:p>
                      <a:pPr marL="96520"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1: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Study of Proposed ‘Advanced Seminars &amp; workshops Program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Determined the feasibility and defined the concept, aims, contents, delivery modes and management framework for a new knowledge transfer program of advanced seminars and workshops on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contemporary and climate resilient roads sector topics and issues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delivered collaboratively between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leading technical, professional and industry en</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tities in Gujarat and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R&amp;BD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2: Implementation of pilot program of advanced seminars and workshops: Implemented pilot program of four advanced seminars, each of a duration of 2 to 3 days, covering the themes:</a:t>
                      </a:r>
                    </a:p>
                    <a:p>
                      <a:pPr marL="725170" lvl="1" indent="-171450" algn="just">
                        <a:lnSpc>
                          <a:spcPct val="115000"/>
                        </a:lnSpc>
                        <a:buFont typeface="Arial" panose="020B0604020202020204" pitchFamily="34" charset="0"/>
                        <a:buChar char="•"/>
                        <a:defRPr/>
                      </a:pPr>
                      <a:r>
                        <a:rPr lang="en-US" sz="900" b="1">
                          <a:solidFill>
                            <a:prstClr val="black"/>
                          </a:solidFill>
                          <a:latin typeface="Verdana" panose="020B0604030504040204" pitchFamily="34" charset="0"/>
                          <a:ea typeface="Verdana" panose="020B0604030504040204" pitchFamily="34" charset="0"/>
                        </a:rPr>
                        <a:t>Sustainable and disaster resilient Development of Road Infrastructure</a:t>
                      </a:r>
                    </a:p>
                    <a:p>
                      <a:pPr marL="725170" lvl="1" indent="-171450" algn="just">
                        <a:lnSpc>
                          <a:spcPct val="115000"/>
                        </a:lnSpc>
                        <a:buFont typeface="Arial" panose="020B0604020202020204" pitchFamily="34" charset="0"/>
                        <a:buChar char="•"/>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Emerging trends in Planning, Design, Construction, Maintenance of roads and bridges</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Innovative Implementation Strategies</a:t>
                      </a:r>
                    </a:p>
                    <a:p>
                      <a:pPr marL="725170" lvl="1"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Use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Instrumentation &amp; Big data Management in Road Sector</a:t>
                      </a:r>
                      <a:endParaRPr lang="en-US" sz="900" b="1">
                        <a:solidFill>
                          <a:prstClr val="black"/>
                        </a:solidFill>
                        <a:latin typeface="Verdana" panose="020B0604030504040204" pitchFamily="34" charset="0"/>
                        <a:ea typeface="Verdana" panose="020B0604030504040204" pitchFamily="34" charset="0"/>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3: Study for road sector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Undertook a </a:t>
                      </a:r>
                      <a:r>
                        <a:rPr lang="en-US" sz="900" b="1">
                          <a:solidFill>
                            <a:prstClr val="black"/>
                          </a:solidFill>
                          <a:latin typeface="Verdana" panose="020B0604030504040204" pitchFamily="34" charset="0"/>
                          <a:ea typeface="Verdana" panose="020B0604030504040204" pitchFamily="34" charset="0"/>
                        </a:rPr>
                        <a:t>study to determine feasibility aspects </a:t>
                      </a:r>
                      <a:r>
                        <a:rPr lang="en-US" sz="900">
                          <a:solidFill>
                            <a:prstClr val="black"/>
                          </a:solidFill>
                          <a:latin typeface="Verdana" panose="020B0604030504040204" pitchFamily="34" charset="0"/>
                          <a:ea typeface="Verdana" panose="020B0604030504040204" pitchFamily="34" charset="0"/>
                        </a:rPr>
                        <a:t>and a general framework and ‘Business model’ for possible R&amp;BD linked Centre of excellence</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4:Implementation of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Assisted R&amp;BD in </a:t>
                      </a:r>
                      <a:r>
                        <a:rPr lang="en-US" sz="900" b="1">
                          <a:solidFill>
                            <a:prstClr val="black"/>
                          </a:solidFill>
                          <a:latin typeface="Verdana" panose="020B0604030504040204" pitchFamily="34" charset="0"/>
                          <a:ea typeface="Verdana" panose="020B0604030504040204" pitchFamily="34" charset="0"/>
                        </a:rPr>
                        <a:t>finalization and activation of Implementation Plans </a:t>
                      </a:r>
                      <a:r>
                        <a:rPr lang="en-US" sz="900">
                          <a:solidFill>
                            <a:prstClr val="black"/>
                          </a:solidFill>
                          <a:latin typeface="Verdana" panose="020B0604030504040204" pitchFamily="34" charset="0"/>
                          <a:ea typeface="Verdana" panose="020B0604030504040204" pitchFamily="34" charset="0"/>
                        </a:rPr>
                        <a:t>for the establishment and inaugural operations of the new Centre of Excellence, through workshops and consultations with concerned R&amp;BD areas and with participating entities and help the R&amp;BD in providing support for up to eighteen months from inception</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May 2016;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March 2021</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8.97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CA8CB116-F8D1-0D50-1D56-C5EBE9A61D2D}"/>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F9623413-2402-9613-1367-9E073050F936}"/>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5FDD68ED-C617-4E41-0C57-456E2A7B8F9A}"/>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7</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407693744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06BE2-82E0-6394-129E-F0E277C8182C}"/>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A227934-CEF7-9E7E-B096-4C461613BF6C}"/>
              </a:ext>
            </a:extLst>
          </p:cNvPr>
          <p:cNvGraphicFramePr>
            <a:graphicFrameLocks noGrp="1"/>
          </p:cNvGraphicFramePr>
          <p:nvPr/>
        </p:nvGraphicFramePr>
        <p:xfrm>
          <a:off x="517290" y="745905"/>
          <a:ext cx="11161565" cy="4735405"/>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Strengthening Financing Strategies for SDG in three states of HP, Meghalaya and MP and developing transformative concept notes for finance mobilization for SDGs localization and Climate Action</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Govt. of Meghalaya, Govt. of Himachal Pradesh, Govt. of Madhya Pradesh, GIZ (Deutsche Gesellschaft für </a:t>
                      </a:r>
                      <a:r>
                        <a:rPr lang="en-US" sz="1000" b="0" err="1">
                          <a:solidFill>
                            <a:schemeClr val="bg1"/>
                          </a:solidFill>
                          <a:effectLst/>
                          <a:latin typeface="Verdana" panose="020B0604030504040204" pitchFamily="34" charset="0"/>
                          <a:ea typeface="+mn-ea"/>
                          <a:cs typeface="Times New Roman" panose="02020603050405020304" pitchFamily="18" charset="0"/>
                        </a:rPr>
                        <a:t>Internationale</a:t>
                      </a:r>
                      <a:r>
                        <a:rPr lang="en-US" sz="1000" b="0">
                          <a:solidFill>
                            <a:schemeClr val="bg1"/>
                          </a:solidFill>
                          <a:effectLst/>
                          <a:latin typeface="Verdana" panose="020B0604030504040204" pitchFamily="34" charset="0"/>
                          <a:ea typeface="+mn-ea"/>
                          <a:cs typeface="Times New Roman" panose="02020603050405020304" pitchFamily="18" charset="0"/>
                        </a:rPr>
                        <a:t> Zusammenarbeit).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170928">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Deloitte was appointed for the implementation of Institutional Development Action Plan</a:t>
                      </a:r>
                    </a:p>
                    <a:p>
                      <a:pPr marL="96520"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1: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Study of Proposed ‘Advanced Seminars &amp; workshops Program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Determined the feasibility and defined the concept, aims, contents, delivery modes and management framework for a new knowledge transfer program of advanced seminars and workshops on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contemporary and climate resilient roads sector topics and issues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delivered collaboratively between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leading technical, professional and industry en</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tities in Gujarat and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R&amp;BD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2: Implementation of pilot program of advanced seminars and workshops: Implemented pilot program of four advanced seminars, each of a duration of 2 to 3 days, covering the themes:</a:t>
                      </a:r>
                    </a:p>
                    <a:p>
                      <a:pPr marL="725170" lvl="1" indent="-171450" algn="just">
                        <a:lnSpc>
                          <a:spcPct val="115000"/>
                        </a:lnSpc>
                        <a:buFont typeface="Arial" panose="020B0604020202020204" pitchFamily="34" charset="0"/>
                        <a:buChar char="•"/>
                        <a:defRPr/>
                      </a:pPr>
                      <a:r>
                        <a:rPr lang="en-US" sz="900" b="1">
                          <a:solidFill>
                            <a:prstClr val="black"/>
                          </a:solidFill>
                          <a:latin typeface="Verdana" panose="020B0604030504040204" pitchFamily="34" charset="0"/>
                          <a:ea typeface="Verdana" panose="020B0604030504040204" pitchFamily="34" charset="0"/>
                        </a:rPr>
                        <a:t>Sustainable and disaster resilient Development of Road Infrastructure</a:t>
                      </a:r>
                    </a:p>
                    <a:p>
                      <a:pPr marL="725170" lvl="1" indent="-171450" algn="just">
                        <a:lnSpc>
                          <a:spcPct val="115000"/>
                        </a:lnSpc>
                        <a:buFont typeface="Arial" panose="020B0604020202020204" pitchFamily="34" charset="0"/>
                        <a:buChar char="•"/>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Emerging trends in Planning, Design, Construction, Maintenance of roads and bridges</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Innovative Implementation Strategies</a:t>
                      </a:r>
                    </a:p>
                    <a:p>
                      <a:pPr marL="725170" lvl="1"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Use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Instrumentation &amp; Big data Management in Road Sector</a:t>
                      </a:r>
                      <a:endParaRPr lang="en-US" sz="900" b="1">
                        <a:solidFill>
                          <a:prstClr val="black"/>
                        </a:solidFill>
                        <a:latin typeface="Verdana" panose="020B0604030504040204" pitchFamily="34" charset="0"/>
                        <a:ea typeface="Verdana" panose="020B0604030504040204" pitchFamily="34" charset="0"/>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3: Study for road sector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Undertook a </a:t>
                      </a:r>
                      <a:r>
                        <a:rPr lang="en-US" sz="900" b="1">
                          <a:solidFill>
                            <a:prstClr val="black"/>
                          </a:solidFill>
                          <a:latin typeface="Verdana" panose="020B0604030504040204" pitchFamily="34" charset="0"/>
                          <a:ea typeface="Verdana" panose="020B0604030504040204" pitchFamily="34" charset="0"/>
                        </a:rPr>
                        <a:t>study to determine feasibility aspects </a:t>
                      </a:r>
                      <a:r>
                        <a:rPr lang="en-US" sz="900">
                          <a:solidFill>
                            <a:prstClr val="black"/>
                          </a:solidFill>
                          <a:latin typeface="Verdana" panose="020B0604030504040204" pitchFamily="34" charset="0"/>
                          <a:ea typeface="Verdana" panose="020B0604030504040204" pitchFamily="34" charset="0"/>
                        </a:rPr>
                        <a:t>and a general framework and ‘Business model’ for possible R&amp;BD linked Centre of excellence</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4:Implementation of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Assisted R&amp;BD in </a:t>
                      </a:r>
                      <a:r>
                        <a:rPr lang="en-US" sz="900" b="1">
                          <a:solidFill>
                            <a:prstClr val="black"/>
                          </a:solidFill>
                          <a:latin typeface="Verdana" panose="020B0604030504040204" pitchFamily="34" charset="0"/>
                          <a:ea typeface="Verdana" panose="020B0604030504040204" pitchFamily="34" charset="0"/>
                        </a:rPr>
                        <a:t>finalization and activation of Implementation Plans </a:t>
                      </a:r>
                      <a:r>
                        <a:rPr lang="en-US" sz="900">
                          <a:solidFill>
                            <a:prstClr val="black"/>
                          </a:solidFill>
                          <a:latin typeface="Verdana" panose="020B0604030504040204" pitchFamily="34" charset="0"/>
                          <a:ea typeface="Verdana" panose="020B0604030504040204" pitchFamily="34" charset="0"/>
                        </a:rPr>
                        <a:t>for the establishment and inaugural operations of the new Centre of Excellence, through workshops and consultations with concerned R&amp;BD areas and with participating entities and help the R&amp;BD in providing support for up to eighteen months from inception</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May 2016;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March 2021</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8.97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9E64477A-6482-B4F1-463E-474146447257}"/>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3E258C8E-E95A-0B00-5A4F-1EA5369839EF}"/>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4CC0994A-804E-162B-935C-7002E2EA5654}"/>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7</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132533335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9D95E-B4FD-FECE-956C-936213538311}"/>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7564426-0337-97A3-B4FE-06B2E26279E7}"/>
              </a:ext>
            </a:extLst>
          </p:cNvPr>
          <p:cNvGraphicFramePr>
            <a:graphicFrameLocks noGrp="1"/>
          </p:cNvGraphicFramePr>
          <p:nvPr/>
        </p:nvGraphicFramePr>
        <p:xfrm>
          <a:off x="517290" y="745905"/>
          <a:ext cx="11161565" cy="4735405"/>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Strengthening Financing Strategies for SDG in three states of HP, Meghalaya and MP and developing transformative concept notes for finance mobilization for SDGs localization and Climate Action</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Govt. of Meghalaya, Govt. of Himachal Pradesh, Govt. of Madhya Pradesh, GIZ (Deutsche Gesellschaft für </a:t>
                      </a:r>
                      <a:r>
                        <a:rPr lang="en-US" sz="1000" b="0" err="1">
                          <a:solidFill>
                            <a:schemeClr val="bg1"/>
                          </a:solidFill>
                          <a:effectLst/>
                          <a:latin typeface="Verdana" panose="020B0604030504040204" pitchFamily="34" charset="0"/>
                          <a:ea typeface="+mn-ea"/>
                          <a:cs typeface="Times New Roman" panose="02020603050405020304" pitchFamily="18" charset="0"/>
                        </a:rPr>
                        <a:t>Internationale</a:t>
                      </a:r>
                      <a:r>
                        <a:rPr lang="en-US" sz="1000" b="0">
                          <a:solidFill>
                            <a:schemeClr val="bg1"/>
                          </a:solidFill>
                          <a:effectLst/>
                          <a:latin typeface="Verdana" panose="020B0604030504040204" pitchFamily="34" charset="0"/>
                          <a:ea typeface="+mn-ea"/>
                          <a:cs typeface="Times New Roman" panose="02020603050405020304" pitchFamily="18" charset="0"/>
                        </a:rPr>
                        <a:t> Zusammenarbeit).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170928">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Deloitte was appointed for the implementation of Institutional Development Action Plan</a:t>
                      </a:r>
                    </a:p>
                    <a:p>
                      <a:pPr marL="96520"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1: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Study of Proposed ‘Advanced Seminars &amp; workshops Program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Determined the feasibility and defined the concept, aims, contents, delivery modes and management framework for a new knowledge transfer program of advanced seminars and workshops on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contemporary and climate resilient roads sector topics and issues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delivered collaboratively between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leading technical, professional and industry en</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tities in Gujarat and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R&amp;BD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2: Implementation of pilot program of advanced seminars and workshops: Implemented pilot program of four advanced seminars, each of a duration of 2 to 3 days, covering the themes:</a:t>
                      </a:r>
                    </a:p>
                    <a:p>
                      <a:pPr marL="725170" lvl="1" indent="-171450" algn="just">
                        <a:lnSpc>
                          <a:spcPct val="115000"/>
                        </a:lnSpc>
                        <a:buFont typeface="Arial" panose="020B0604020202020204" pitchFamily="34" charset="0"/>
                        <a:buChar char="•"/>
                        <a:defRPr/>
                      </a:pPr>
                      <a:r>
                        <a:rPr lang="en-US" sz="900" b="1">
                          <a:solidFill>
                            <a:prstClr val="black"/>
                          </a:solidFill>
                          <a:latin typeface="Verdana" panose="020B0604030504040204" pitchFamily="34" charset="0"/>
                          <a:ea typeface="Verdana" panose="020B0604030504040204" pitchFamily="34" charset="0"/>
                        </a:rPr>
                        <a:t>Sustainable and disaster resilient Development of Road Infrastructure</a:t>
                      </a:r>
                    </a:p>
                    <a:p>
                      <a:pPr marL="725170" lvl="1" indent="-171450" algn="just">
                        <a:lnSpc>
                          <a:spcPct val="115000"/>
                        </a:lnSpc>
                        <a:buFont typeface="Arial" panose="020B0604020202020204" pitchFamily="34" charset="0"/>
                        <a:buChar char="•"/>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Emerging trends in Planning, Design, Construction, Maintenance of roads and bridges</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Innovative Implementation Strategies</a:t>
                      </a:r>
                    </a:p>
                    <a:p>
                      <a:pPr marL="725170" lvl="1"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Use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Instrumentation &amp; Big data Management in Road Sector</a:t>
                      </a:r>
                      <a:endParaRPr lang="en-US" sz="900" b="1">
                        <a:solidFill>
                          <a:prstClr val="black"/>
                        </a:solidFill>
                        <a:latin typeface="Verdana" panose="020B0604030504040204" pitchFamily="34" charset="0"/>
                        <a:ea typeface="Verdana" panose="020B0604030504040204" pitchFamily="34" charset="0"/>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3: Study for road sector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Undertook a </a:t>
                      </a:r>
                      <a:r>
                        <a:rPr lang="en-US" sz="900" b="1">
                          <a:solidFill>
                            <a:prstClr val="black"/>
                          </a:solidFill>
                          <a:latin typeface="Verdana" panose="020B0604030504040204" pitchFamily="34" charset="0"/>
                          <a:ea typeface="Verdana" panose="020B0604030504040204" pitchFamily="34" charset="0"/>
                        </a:rPr>
                        <a:t>study to determine feasibility aspects </a:t>
                      </a:r>
                      <a:r>
                        <a:rPr lang="en-US" sz="900">
                          <a:solidFill>
                            <a:prstClr val="black"/>
                          </a:solidFill>
                          <a:latin typeface="Verdana" panose="020B0604030504040204" pitchFamily="34" charset="0"/>
                          <a:ea typeface="Verdana" panose="020B0604030504040204" pitchFamily="34" charset="0"/>
                        </a:rPr>
                        <a:t>and a general framework and ‘Business model’ for possible R&amp;BD linked Centre of excellence</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4:Implementation of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Assisted R&amp;BD in </a:t>
                      </a:r>
                      <a:r>
                        <a:rPr lang="en-US" sz="900" b="1">
                          <a:solidFill>
                            <a:prstClr val="black"/>
                          </a:solidFill>
                          <a:latin typeface="Verdana" panose="020B0604030504040204" pitchFamily="34" charset="0"/>
                          <a:ea typeface="Verdana" panose="020B0604030504040204" pitchFamily="34" charset="0"/>
                        </a:rPr>
                        <a:t>finalization and activation of Implementation Plans </a:t>
                      </a:r>
                      <a:r>
                        <a:rPr lang="en-US" sz="900">
                          <a:solidFill>
                            <a:prstClr val="black"/>
                          </a:solidFill>
                          <a:latin typeface="Verdana" panose="020B0604030504040204" pitchFamily="34" charset="0"/>
                          <a:ea typeface="Verdana" panose="020B0604030504040204" pitchFamily="34" charset="0"/>
                        </a:rPr>
                        <a:t>for the establishment and inaugural operations of the new Centre of Excellence, through workshops and consultations with concerned R&amp;BD areas and with participating entities and help the R&amp;BD in providing support for up to eighteen months from inception</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May 2016;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March 2021</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8.97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3AE659AC-8DC7-CD0E-8943-453886B8815C}"/>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8F811BAC-BD40-D728-E24E-7FF1A03727DE}"/>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5C2C786E-55F2-8F8C-5E48-357FD1D579FC}"/>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7</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167730931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71BE9-D885-16C1-6253-898F56DB4ED6}"/>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E9BCFAB-08D9-90B8-591E-3DCFFAC89D60}"/>
              </a:ext>
            </a:extLst>
          </p:cNvPr>
          <p:cNvGraphicFramePr>
            <a:graphicFrameLocks noGrp="1"/>
          </p:cNvGraphicFramePr>
          <p:nvPr/>
        </p:nvGraphicFramePr>
        <p:xfrm>
          <a:off x="517290" y="745905"/>
          <a:ext cx="11161565" cy="4735405"/>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Strengthening Financing Strategies for SDG in three states of HP, Meghalaya and MP and developing transformative concept notes for finance mobilization for SDGs localization and Climate Action</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Govt. of Meghalaya, Govt. of Himachal Pradesh, Govt. of Madhya Pradesh, GIZ (Deutsche Gesellschaft für </a:t>
                      </a:r>
                      <a:r>
                        <a:rPr lang="en-US" sz="1000" b="0" err="1">
                          <a:solidFill>
                            <a:schemeClr val="bg1"/>
                          </a:solidFill>
                          <a:effectLst/>
                          <a:latin typeface="Verdana" panose="020B0604030504040204" pitchFamily="34" charset="0"/>
                          <a:ea typeface="+mn-ea"/>
                          <a:cs typeface="Times New Roman" panose="02020603050405020304" pitchFamily="18" charset="0"/>
                        </a:rPr>
                        <a:t>Internationale</a:t>
                      </a:r>
                      <a:r>
                        <a:rPr lang="en-US" sz="1000" b="0">
                          <a:solidFill>
                            <a:schemeClr val="bg1"/>
                          </a:solidFill>
                          <a:effectLst/>
                          <a:latin typeface="Verdana" panose="020B0604030504040204" pitchFamily="34" charset="0"/>
                          <a:ea typeface="+mn-ea"/>
                          <a:cs typeface="Times New Roman" panose="02020603050405020304" pitchFamily="18" charset="0"/>
                        </a:rPr>
                        <a:t> Zusammenarbeit).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170928">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Deloitte was appointed for the implementation of Institutional Development Action Plan</a:t>
                      </a:r>
                    </a:p>
                    <a:p>
                      <a:pPr marL="96520"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1: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Study of Proposed ‘Advanced Seminars &amp; workshops Program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Determined the feasibility and defined the concept, aims, contents, delivery modes and management framework for a new knowledge transfer program of advanced seminars and workshops on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contemporary and climate resilient roads sector topics and issues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delivered collaboratively between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leading technical, professional and industry en</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tities in Gujarat and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R&amp;BD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2: Implementation of pilot program of advanced seminars and workshops: Implemented pilot program of four advanced seminars, each of a duration of 2 to 3 days, covering the themes:</a:t>
                      </a:r>
                    </a:p>
                    <a:p>
                      <a:pPr marL="725170" lvl="1" indent="-171450" algn="just">
                        <a:lnSpc>
                          <a:spcPct val="115000"/>
                        </a:lnSpc>
                        <a:buFont typeface="Arial" panose="020B0604020202020204" pitchFamily="34" charset="0"/>
                        <a:buChar char="•"/>
                        <a:defRPr/>
                      </a:pPr>
                      <a:r>
                        <a:rPr lang="en-US" sz="900" b="1">
                          <a:solidFill>
                            <a:prstClr val="black"/>
                          </a:solidFill>
                          <a:latin typeface="Verdana" panose="020B0604030504040204" pitchFamily="34" charset="0"/>
                          <a:ea typeface="Verdana" panose="020B0604030504040204" pitchFamily="34" charset="0"/>
                        </a:rPr>
                        <a:t>Sustainable and disaster resilient Development of Road Infrastructure</a:t>
                      </a:r>
                    </a:p>
                    <a:p>
                      <a:pPr marL="725170" lvl="1" indent="-171450" algn="just">
                        <a:lnSpc>
                          <a:spcPct val="115000"/>
                        </a:lnSpc>
                        <a:buFont typeface="Arial" panose="020B0604020202020204" pitchFamily="34" charset="0"/>
                        <a:buChar char="•"/>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Emerging trends in Planning, Design, Construction, Maintenance of roads and bridges</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Innovative Implementation Strategies</a:t>
                      </a:r>
                    </a:p>
                    <a:p>
                      <a:pPr marL="725170" lvl="1"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Use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Instrumentation &amp; Big data Management in Road Sector</a:t>
                      </a:r>
                      <a:endParaRPr lang="en-US" sz="900" b="1">
                        <a:solidFill>
                          <a:prstClr val="black"/>
                        </a:solidFill>
                        <a:latin typeface="Verdana" panose="020B0604030504040204" pitchFamily="34" charset="0"/>
                        <a:ea typeface="Verdana" panose="020B0604030504040204" pitchFamily="34" charset="0"/>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3: Study for road sector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Undertook a </a:t>
                      </a:r>
                      <a:r>
                        <a:rPr lang="en-US" sz="900" b="1">
                          <a:solidFill>
                            <a:prstClr val="black"/>
                          </a:solidFill>
                          <a:latin typeface="Verdana" panose="020B0604030504040204" pitchFamily="34" charset="0"/>
                          <a:ea typeface="Verdana" panose="020B0604030504040204" pitchFamily="34" charset="0"/>
                        </a:rPr>
                        <a:t>study to determine feasibility aspects </a:t>
                      </a:r>
                      <a:r>
                        <a:rPr lang="en-US" sz="900">
                          <a:solidFill>
                            <a:prstClr val="black"/>
                          </a:solidFill>
                          <a:latin typeface="Verdana" panose="020B0604030504040204" pitchFamily="34" charset="0"/>
                          <a:ea typeface="Verdana" panose="020B0604030504040204" pitchFamily="34" charset="0"/>
                        </a:rPr>
                        <a:t>and a general framework and ‘Business model’ for possible R&amp;BD linked Centre of excellence</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4:Implementation of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Assisted R&amp;BD in </a:t>
                      </a:r>
                      <a:r>
                        <a:rPr lang="en-US" sz="900" b="1">
                          <a:solidFill>
                            <a:prstClr val="black"/>
                          </a:solidFill>
                          <a:latin typeface="Verdana" panose="020B0604030504040204" pitchFamily="34" charset="0"/>
                          <a:ea typeface="Verdana" panose="020B0604030504040204" pitchFamily="34" charset="0"/>
                        </a:rPr>
                        <a:t>finalization and activation of Implementation Plans </a:t>
                      </a:r>
                      <a:r>
                        <a:rPr lang="en-US" sz="900">
                          <a:solidFill>
                            <a:prstClr val="black"/>
                          </a:solidFill>
                          <a:latin typeface="Verdana" panose="020B0604030504040204" pitchFamily="34" charset="0"/>
                          <a:ea typeface="Verdana" panose="020B0604030504040204" pitchFamily="34" charset="0"/>
                        </a:rPr>
                        <a:t>for the establishment and inaugural operations of the new Centre of Excellence, through workshops and consultations with concerned R&amp;BD areas and with participating entities and help the R&amp;BD in providing support for up to eighteen months from inception</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May 2016;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March 2021</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8.97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2C149EC3-C64B-C4F1-B7B3-C6102756F553}"/>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6EDE2CD6-BAC1-1486-30C1-62C787D2AB3B}"/>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5F8A63D2-710C-127B-F646-C00054E15541}"/>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7</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84716954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BAFED-BD77-2822-6861-2260E8CEFCFA}"/>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B821EBE-A410-A1C1-D04A-E41321254131}"/>
              </a:ext>
            </a:extLst>
          </p:cNvPr>
          <p:cNvGraphicFramePr>
            <a:graphicFrameLocks noGrp="1"/>
          </p:cNvGraphicFramePr>
          <p:nvPr/>
        </p:nvGraphicFramePr>
        <p:xfrm>
          <a:off x="517290" y="745905"/>
          <a:ext cx="11161565" cy="4735405"/>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Strengthening Financing Strategies for SDG in three states of HP, Meghalaya and MP and developing transformative concept notes for finance mobilization for SDGs localization and Climate Action</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Govt. of Meghalaya, Govt. of Himachal Pradesh, Govt. of Madhya Pradesh, GIZ (Deutsche Gesellschaft für </a:t>
                      </a:r>
                      <a:r>
                        <a:rPr lang="en-US" sz="1000" b="0" err="1">
                          <a:solidFill>
                            <a:schemeClr val="bg1"/>
                          </a:solidFill>
                          <a:effectLst/>
                          <a:latin typeface="Verdana" panose="020B0604030504040204" pitchFamily="34" charset="0"/>
                          <a:ea typeface="+mn-ea"/>
                          <a:cs typeface="Times New Roman" panose="02020603050405020304" pitchFamily="18" charset="0"/>
                        </a:rPr>
                        <a:t>Internationale</a:t>
                      </a:r>
                      <a:r>
                        <a:rPr lang="en-US" sz="1000" b="0">
                          <a:solidFill>
                            <a:schemeClr val="bg1"/>
                          </a:solidFill>
                          <a:effectLst/>
                          <a:latin typeface="Verdana" panose="020B0604030504040204" pitchFamily="34" charset="0"/>
                          <a:ea typeface="+mn-ea"/>
                          <a:cs typeface="Times New Roman" panose="02020603050405020304" pitchFamily="18" charset="0"/>
                        </a:rPr>
                        <a:t> Zusammenarbeit).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170928">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Deloitte was appointed for the implementation of Institutional Development Action Plan</a:t>
                      </a:r>
                    </a:p>
                    <a:p>
                      <a:pPr marL="96520"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1: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Study of Proposed ‘Advanced Seminars &amp; workshops Program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Determined the feasibility and defined the concept, aims, contents, delivery modes and management framework for a new knowledge transfer program of advanced seminars and workshops on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contemporary and climate resilient roads sector topics and issues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delivered collaboratively between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leading technical, professional and industry en</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tities in Gujarat and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R&amp;BD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2: Implementation of pilot program of advanced seminars and workshops: Implemented pilot program of four advanced seminars, each of a duration of 2 to 3 days, covering the themes:</a:t>
                      </a:r>
                    </a:p>
                    <a:p>
                      <a:pPr marL="725170" lvl="1" indent="-171450" algn="just">
                        <a:lnSpc>
                          <a:spcPct val="115000"/>
                        </a:lnSpc>
                        <a:buFont typeface="Arial" panose="020B0604020202020204" pitchFamily="34" charset="0"/>
                        <a:buChar char="•"/>
                        <a:defRPr/>
                      </a:pPr>
                      <a:r>
                        <a:rPr lang="en-US" sz="900" b="1">
                          <a:solidFill>
                            <a:prstClr val="black"/>
                          </a:solidFill>
                          <a:latin typeface="Verdana" panose="020B0604030504040204" pitchFamily="34" charset="0"/>
                          <a:ea typeface="Verdana" panose="020B0604030504040204" pitchFamily="34" charset="0"/>
                        </a:rPr>
                        <a:t>Sustainable and disaster resilient Development of Road Infrastructure</a:t>
                      </a:r>
                    </a:p>
                    <a:p>
                      <a:pPr marL="725170" lvl="1" indent="-171450" algn="just">
                        <a:lnSpc>
                          <a:spcPct val="115000"/>
                        </a:lnSpc>
                        <a:buFont typeface="Arial" panose="020B0604020202020204" pitchFamily="34" charset="0"/>
                        <a:buChar char="•"/>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Emerging trends in Planning, Design, Construction, Maintenance of roads and bridges</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Innovative Implementation Strategies</a:t>
                      </a:r>
                    </a:p>
                    <a:p>
                      <a:pPr marL="725170" lvl="1"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Use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Instrumentation &amp; Big data Management in Road Sector</a:t>
                      </a:r>
                      <a:endParaRPr lang="en-US" sz="900" b="1">
                        <a:solidFill>
                          <a:prstClr val="black"/>
                        </a:solidFill>
                        <a:latin typeface="Verdana" panose="020B0604030504040204" pitchFamily="34" charset="0"/>
                        <a:ea typeface="Verdana" panose="020B0604030504040204" pitchFamily="34" charset="0"/>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3: Study for road sector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Undertook a </a:t>
                      </a:r>
                      <a:r>
                        <a:rPr lang="en-US" sz="900" b="1">
                          <a:solidFill>
                            <a:prstClr val="black"/>
                          </a:solidFill>
                          <a:latin typeface="Verdana" panose="020B0604030504040204" pitchFamily="34" charset="0"/>
                          <a:ea typeface="Verdana" panose="020B0604030504040204" pitchFamily="34" charset="0"/>
                        </a:rPr>
                        <a:t>study to determine feasibility aspects </a:t>
                      </a:r>
                      <a:r>
                        <a:rPr lang="en-US" sz="900">
                          <a:solidFill>
                            <a:prstClr val="black"/>
                          </a:solidFill>
                          <a:latin typeface="Verdana" panose="020B0604030504040204" pitchFamily="34" charset="0"/>
                          <a:ea typeface="Verdana" panose="020B0604030504040204" pitchFamily="34" charset="0"/>
                        </a:rPr>
                        <a:t>and a general framework and ‘Business model’ for possible R&amp;BD linked Centre of excellence</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4:Implementation of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Assisted R&amp;BD in </a:t>
                      </a:r>
                      <a:r>
                        <a:rPr lang="en-US" sz="900" b="1">
                          <a:solidFill>
                            <a:prstClr val="black"/>
                          </a:solidFill>
                          <a:latin typeface="Verdana" panose="020B0604030504040204" pitchFamily="34" charset="0"/>
                          <a:ea typeface="Verdana" panose="020B0604030504040204" pitchFamily="34" charset="0"/>
                        </a:rPr>
                        <a:t>finalization and activation of Implementation Plans </a:t>
                      </a:r>
                      <a:r>
                        <a:rPr lang="en-US" sz="900">
                          <a:solidFill>
                            <a:prstClr val="black"/>
                          </a:solidFill>
                          <a:latin typeface="Verdana" panose="020B0604030504040204" pitchFamily="34" charset="0"/>
                          <a:ea typeface="Verdana" panose="020B0604030504040204" pitchFamily="34" charset="0"/>
                        </a:rPr>
                        <a:t>for the establishment and inaugural operations of the new Centre of Excellence, through workshops and consultations with concerned R&amp;BD areas and with participating entities and help the R&amp;BD in providing support for up to eighteen months from inception</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May 2016;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March 2021</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8.97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5BF38029-3A2F-C987-5240-3E77617F052D}"/>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3E49000A-85EB-4025-E5E5-3DD13AD43D8F}"/>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8453D82F-D611-A2D4-7EBE-159EC670F74E}"/>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7</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203739970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F3549-52D0-B4DC-AD52-E98061BCC123}"/>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BB549558-68E1-C786-85AE-F19AADD9EC78}"/>
              </a:ext>
            </a:extLst>
          </p:cNvPr>
          <p:cNvGraphicFramePr>
            <a:graphicFrameLocks noGrp="1"/>
          </p:cNvGraphicFramePr>
          <p:nvPr/>
        </p:nvGraphicFramePr>
        <p:xfrm>
          <a:off x="517290" y="745905"/>
          <a:ext cx="11161565" cy="4735405"/>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Strengthening Financing Strategies for SDG in three states of HP, Meghalaya and MP and developing transformative concept notes for finance mobilization for SDGs localization and Climate Action</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Govt. of Meghalaya, Govt. of Himachal Pradesh, Govt. of Madhya Pradesh, GIZ (Deutsche Gesellschaft für </a:t>
                      </a:r>
                      <a:r>
                        <a:rPr lang="en-US" sz="1000" b="0" err="1">
                          <a:solidFill>
                            <a:schemeClr val="bg1"/>
                          </a:solidFill>
                          <a:effectLst/>
                          <a:latin typeface="Verdana" panose="020B0604030504040204" pitchFamily="34" charset="0"/>
                          <a:ea typeface="+mn-ea"/>
                          <a:cs typeface="Times New Roman" panose="02020603050405020304" pitchFamily="18" charset="0"/>
                        </a:rPr>
                        <a:t>Internationale</a:t>
                      </a:r>
                      <a:r>
                        <a:rPr lang="en-US" sz="1000" b="0">
                          <a:solidFill>
                            <a:schemeClr val="bg1"/>
                          </a:solidFill>
                          <a:effectLst/>
                          <a:latin typeface="Verdana" panose="020B0604030504040204" pitchFamily="34" charset="0"/>
                          <a:ea typeface="+mn-ea"/>
                          <a:cs typeface="Times New Roman" panose="02020603050405020304" pitchFamily="18" charset="0"/>
                        </a:rPr>
                        <a:t> Zusammenarbeit).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170928">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Deloitte was appointed for the implementation of Institutional Development Action Plan</a:t>
                      </a:r>
                    </a:p>
                    <a:p>
                      <a:pPr marL="96520"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1: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Study of Proposed ‘Advanced Seminars &amp; workshops Program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Determined the feasibility and defined the concept, aims, contents, delivery modes and management framework for a new knowledge transfer program of advanced seminars and workshops on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contemporary and climate resilient roads sector topics and issues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delivered collaboratively between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leading technical, professional and industry en</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tities in Gujarat and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R&amp;BD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2: Implementation of pilot program of advanced seminars and workshops: Implemented pilot program of four advanced seminars, each of a duration of 2 to 3 days, covering the themes:</a:t>
                      </a:r>
                    </a:p>
                    <a:p>
                      <a:pPr marL="725170" lvl="1" indent="-171450" algn="just">
                        <a:lnSpc>
                          <a:spcPct val="115000"/>
                        </a:lnSpc>
                        <a:buFont typeface="Arial" panose="020B0604020202020204" pitchFamily="34" charset="0"/>
                        <a:buChar char="•"/>
                        <a:defRPr/>
                      </a:pPr>
                      <a:r>
                        <a:rPr lang="en-US" sz="900" b="1">
                          <a:solidFill>
                            <a:prstClr val="black"/>
                          </a:solidFill>
                          <a:latin typeface="Verdana" panose="020B0604030504040204" pitchFamily="34" charset="0"/>
                          <a:ea typeface="Verdana" panose="020B0604030504040204" pitchFamily="34" charset="0"/>
                        </a:rPr>
                        <a:t>Sustainable and disaster resilient Development of Road Infrastructure</a:t>
                      </a:r>
                    </a:p>
                    <a:p>
                      <a:pPr marL="725170" lvl="1" indent="-171450" algn="just">
                        <a:lnSpc>
                          <a:spcPct val="115000"/>
                        </a:lnSpc>
                        <a:buFont typeface="Arial" panose="020B0604020202020204" pitchFamily="34" charset="0"/>
                        <a:buChar char="•"/>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Emerging trends in Planning, Design, Construction, Maintenance of roads and bridges</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Innovative Implementation Strategies</a:t>
                      </a:r>
                    </a:p>
                    <a:p>
                      <a:pPr marL="725170" lvl="1"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Use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Instrumentation &amp; Big data Management in Road Sector</a:t>
                      </a:r>
                      <a:endParaRPr lang="en-US" sz="900" b="1">
                        <a:solidFill>
                          <a:prstClr val="black"/>
                        </a:solidFill>
                        <a:latin typeface="Verdana" panose="020B0604030504040204" pitchFamily="34" charset="0"/>
                        <a:ea typeface="Verdana" panose="020B0604030504040204" pitchFamily="34" charset="0"/>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3: Study for road sector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Undertook a </a:t>
                      </a:r>
                      <a:r>
                        <a:rPr lang="en-US" sz="900" b="1">
                          <a:solidFill>
                            <a:prstClr val="black"/>
                          </a:solidFill>
                          <a:latin typeface="Verdana" panose="020B0604030504040204" pitchFamily="34" charset="0"/>
                          <a:ea typeface="Verdana" panose="020B0604030504040204" pitchFamily="34" charset="0"/>
                        </a:rPr>
                        <a:t>study to determine feasibility aspects </a:t>
                      </a:r>
                      <a:r>
                        <a:rPr lang="en-US" sz="900">
                          <a:solidFill>
                            <a:prstClr val="black"/>
                          </a:solidFill>
                          <a:latin typeface="Verdana" panose="020B0604030504040204" pitchFamily="34" charset="0"/>
                          <a:ea typeface="Verdana" panose="020B0604030504040204" pitchFamily="34" charset="0"/>
                        </a:rPr>
                        <a:t>and a general framework and ‘Business model’ for possible R&amp;BD linked Centre of excellence</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4:Implementation of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Assisted R&amp;BD in </a:t>
                      </a:r>
                      <a:r>
                        <a:rPr lang="en-US" sz="900" b="1">
                          <a:solidFill>
                            <a:prstClr val="black"/>
                          </a:solidFill>
                          <a:latin typeface="Verdana" panose="020B0604030504040204" pitchFamily="34" charset="0"/>
                          <a:ea typeface="Verdana" panose="020B0604030504040204" pitchFamily="34" charset="0"/>
                        </a:rPr>
                        <a:t>finalization and activation of Implementation Plans </a:t>
                      </a:r>
                      <a:r>
                        <a:rPr lang="en-US" sz="900">
                          <a:solidFill>
                            <a:prstClr val="black"/>
                          </a:solidFill>
                          <a:latin typeface="Verdana" panose="020B0604030504040204" pitchFamily="34" charset="0"/>
                          <a:ea typeface="Verdana" panose="020B0604030504040204" pitchFamily="34" charset="0"/>
                        </a:rPr>
                        <a:t>for the establishment and inaugural operations of the new Centre of Excellence, through workshops and consultations with concerned R&amp;BD areas and with participating entities and help the R&amp;BD in providing support for up to eighteen months from inception</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May 2016;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March 2021</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8.97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57EB9181-8511-8C3A-E354-6C71B22EF091}"/>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C351F488-02AD-B714-2C92-61F6892D07AA}"/>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28A9B305-CF27-C247-F8F4-3D5F7B9E8B50}"/>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7</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378165428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3835F-359B-7457-8571-EE9EF21D4B3B}"/>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807825C-92CD-51F5-EA3D-A4B7580D016E}"/>
              </a:ext>
            </a:extLst>
          </p:cNvPr>
          <p:cNvGraphicFramePr>
            <a:graphicFrameLocks noGrp="1"/>
          </p:cNvGraphicFramePr>
          <p:nvPr/>
        </p:nvGraphicFramePr>
        <p:xfrm>
          <a:off x="517290" y="745905"/>
          <a:ext cx="11161565" cy="4735405"/>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Strengthening Financing Strategies for SDG in three states of HP, Meghalaya and MP and developing transformative concept notes for finance mobilization for SDGs localization and Climate Action</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Govt. of Meghalaya, Govt. of Himachal Pradesh, Govt. of Madhya Pradesh, GIZ (Deutsche Gesellschaft für </a:t>
                      </a:r>
                      <a:r>
                        <a:rPr lang="en-US" sz="1000" b="0" err="1">
                          <a:solidFill>
                            <a:schemeClr val="bg1"/>
                          </a:solidFill>
                          <a:effectLst/>
                          <a:latin typeface="Verdana" panose="020B0604030504040204" pitchFamily="34" charset="0"/>
                          <a:ea typeface="+mn-ea"/>
                          <a:cs typeface="Times New Roman" panose="02020603050405020304" pitchFamily="18" charset="0"/>
                        </a:rPr>
                        <a:t>Internationale</a:t>
                      </a:r>
                      <a:r>
                        <a:rPr lang="en-US" sz="1000" b="0">
                          <a:solidFill>
                            <a:schemeClr val="bg1"/>
                          </a:solidFill>
                          <a:effectLst/>
                          <a:latin typeface="Verdana" panose="020B0604030504040204" pitchFamily="34" charset="0"/>
                          <a:ea typeface="+mn-ea"/>
                          <a:cs typeface="Times New Roman" panose="02020603050405020304" pitchFamily="18" charset="0"/>
                        </a:rPr>
                        <a:t> Zusammenarbeit).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170928">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Deloitte was appointed for the implementation of Institutional Development Action Plan</a:t>
                      </a:r>
                    </a:p>
                    <a:p>
                      <a:pPr marL="96520"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1: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Study of Proposed ‘Advanced Seminars &amp; workshops Program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Determined the feasibility and defined the concept, aims, contents, delivery modes and management framework for a new knowledge transfer program of advanced seminars and workshops on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contemporary and climate resilient roads sector topics and issues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delivered collaboratively between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leading technical, professional and industry en</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tities in Gujarat and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R&amp;BD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2: Implementation of pilot program of advanced seminars and workshops: Implemented pilot program of four advanced seminars, each of a duration of 2 to 3 days, covering the themes:</a:t>
                      </a:r>
                    </a:p>
                    <a:p>
                      <a:pPr marL="725170" lvl="1" indent="-171450" algn="just">
                        <a:lnSpc>
                          <a:spcPct val="115000"/>
                        </a:lnSpc>
                        <a:buFont typeface="Arial" panose="020B0604020202020204" pitchFamily="34" charset="0"/>
                        <a:buChar char="•"/>
                        <a:defRPr/>
                      </a:pPr>
                      <a:r>
                        <a:rPr lang="en-US" sz="900" b="1">
                          <a:solidFill>
                            <a:prstClr val="black"/>
                          </a:solidFill>
                          <a:latin typeface="Verdana" panose="020B0604030504040204" pitchFamily="34" charset="0"/>
                          <a:ea typeface="Verdana" panose="020B0604030504040204" pitchFamily="34" charset="0"/>
                        </a:rPr>
                        <a:t>Sustainable and disaster resilient Development of Road Infrastructure</a:t>
                      </a:r>
                    </a:p>
                    <a:p>
                      <a:pPr marL="725170" lvl="1" indent="-171450" algn="just">
                        <a:lnSpc>
                          <a:spcPct val="115000"/>
                        </a:lnSpc>
                        <a:buFont typeface="Arial" panose="020B0604020202020204" pitchFamily="34" charset="0"/>
                        <a:buChar char="•"/>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Emerging trends in Planning, Design, Construction, Maintenance of roads and bridges</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Innovative Implementation Strategies</a:t>
                      </a:r>
                    </a:p>
                    <a:p>
                      <a:pPr marL="725170" lvl="1"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Use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Instrumentation &amp; Big data Management in Road Sector</a:t>
                      </a:r>
                      <a:endParaRPr lang="en-US" sz="900" b="1">
                        <a:solidFill>
                          <a:prstClr val="black"/>
                        </a:solidFill>
                        <a:latin typeface="Verdana" panose="020B0604030504040204" pitchFamily="34" charset="0"/>
                        <a:ea typeface="Verdana" panose="020B0604030504040204" pitchFamily="34" charset="0"/>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3: Study for road sector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Undertook a </a:t>
                      </a:r>
                      <a:r>
                        <a:rPr lang="en-US" sz="900" b="1">
                          <a:solidFill>
                            <a:prstClr val="black"/>
                          </a:solidFill>
                          <a:latin typeface="Verdana" panose="020B0604030504040204" pitchFamily="34" charset="0"/>
                          <a:ea typeface="Verdana" panose="020B0604030504040204" pitchFamily="34" charset="0"/>
                        </a:rPr>
                        <a:t>study to determine feasibility aspects </a:t>
                      </a:r>
                      <a:r>
                        <a:rPr lang="en-US" sz="900">
                          <a:solidFill>
                            <a:prstClr val="black"/>
                          </a:solidFill>
                          <a:latin typeface="Verdana" panose="020B0604030504040204" pitchFamily="34" charset="0"/>
                          <a:ea typeface="Verdana" panose="020B0604030504040204" pitchFamily="34" charset="0"/>
                        </a:rPr>
                        <a:t>and a general framework and ‘Business model’ for possible R&amp;BD linked Centre of excellence</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4:Implementation of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Assisted R&amp;BD in </a:t>
                      </a:r>
                      <a:r>
                        <a:rPr lang="en-US" sz="900" b="1">
                          <a:solidFill>
                            <a:prstClr val="black"/>
                          </a:solidFill>
                          <a:latin typeface="Verdana" panose="020B0604030504040204" pitchFamily="34" charset="0"/>
                          <a:ea typeface="Verdana" panose="020B0604030504040204" pitchFamily="34" charset="0"/>
                        </a:rPr>
                        <a:t>finalization and activation of Implementation Plans </a:t>
                      </a:r>
                      <a:r>
                        <a:rPr lang="en-US" sz="900">
                          <a:solidFill>
                            <a:prstClr val="black"/>
                          </a:solidFill>
                          <a:latin typeface="Verdana" panose="020B0604030504040204" pitchFamily="34" charset="0"/>
                          <a:ea typeface="Verdana" panose="020B0604030504040204" pitchFamily="34" charset="0"/>
                        </a:rPr>
                        <a:t>for the establishment and inaugural operations of the new Centre of Excellence, through workshops and consultations with concerned R&amp;BD areas and with participating entities and help the R&amp;BD in providing support for up to eighteen months from inception</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May 2016;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March 2021</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8.97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88342F3F-6440-3C00-07F6-BCCCCAADDC21}"/>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E399A945-964C-BBA6-18F9-CDE6B04D0876}"/>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A56E4CA0-73F3-7D98-929B-E4893A8055F7}"/>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7</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391367444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0232F-607F-9E31-0426-FF0E2F39F48F}"/>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D75A055-3B6F-21C3-4D7C-2036D6853798}"/>
              </a:ext>
            </a:extLst>
          </p:cNvPr>
          <p:cNvGraphicFramePr>
            <a:graphicFrameLocks noGrp="1"/>
          </p:cNvGraphicFramePr>
          <p:nvPr/>
        </p:nvGraphicFramePr>
        <p:xfrm>
          <a:off x="517290" y="745905"/>
          <a:ext cx="11161565" cy="4735405"/>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Strengthening Financing Strategies for SDG in three states of HP, Meghalaya and MP and developing transformative concept notes for finance mobilization for SDGs localization and Climate Action</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Govt. of Meghalaya, Govt. of Himachal Pradesh, Govt. of Madhya Pradesh, GIZ (Deutsche Gesellschaft für </a:t>
                      </a:r>
                      <a:r>
                        <a:rPr lang="en-US" sz="1000" b="0" err="1">
                          <a:solidFill>
                            <a:schemeClr val="bg1"/>
                          </a:solidFill>
                          <a:effectLst/>
                          <a:latin typeface="Verdana" panose="020B0604030504040204" pitchFamily="34" charset="0"/>
                          <a:ea typeface="+mn-ea"/>
                          <a:cs typeface="Times New Roman" panose="02020603050405020304" pitchFamily="18" charset="0"/>
                        </a:rPr>
                        <a:t>Internationale</a:t>
                      </a:r>
                      <a:r>
                        <a:rPr lang="en-US" sz="1000" b="0">
                          <a:solidFill>
                            <a:schemeClr val="bg1"/>
                          </a:solidFill>
                          <a:effectLst/>
                          <a:latin typeface="Verdana" panose="020B0604030504040204" pitchFamily="34" charset="0"/>
                          <a:ea typeface="+mn-ea"/>
                          <a:cs typeface="Times New Roman" panose="02020603050405020304" pitchFamily="18" charset="0"/>
                        </a:rPr>
                        <a:t> Zusammenarbeit).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170928">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Deloitte was appointed for the implementation of Institutional Development Action Plan</a:t>
                      </a:r>
                    </a:p>
                    <a:p>
                      <a:pPr marL="96520"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1: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Study of Proposed ‘Advanced Seminars &amp; workshops Program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Determined the feasibility and defined the concept, aims, contents, delivery modes and management framework for a new knowledge transfer program of advanced seminars and workshops on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contemporary and climate resilient roads sector topics and issues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delivered collaboratively between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leading technical, professional and industry en</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tities in Gujarat and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R&amp;BD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2: Implementation of pilot program of advanced seminars and workshops: Implemented pilot program of four advanced seminars, each of a duration of 2 to 3 days, covering the themes:</a:t>
                      </a:r>
                    </a:p>
                    <a:p>
                      <a:pPr marL="725170" lvl="1" indent="-171450" algn="just">
                        <a:lnSpc>
                          <a:spcPct val="115000"/>
                        </a:lnSpc>
                        <a:buFont typeface="Arial" panose="020B0604020202020204" pitchFamily="34" charset="0"/>
                        <a:buChar char="•"/>
                        <a:defRPr/>
                      </a:pPr>
                      <a:r>
                        <a:rPr lang="en-US" sz="900" b="1">
                          <a:solidFill>
                            <a:prstClr val="black"/>
                          </a:solidFill>
                          <a:latin typeface="Verdana" panose="020B0604030504040204" pitchFamily="34" charset="0"/>
                          <a:ea typeface="Verdana" panose="020B0604030504040204" pitchFamily="34" charset="0"/>
                        </a:rPr>
                        <a:t>Sustainable and disaster resilient Development of Road Infrastructure</a:t>
                      </a:r>
                    </a:p>
                    <a:p>
                      <a:pPr marL="725170" lvl="1" indent="-171450" algn="just">
                        <a:lnSpc>
                          <a:spcPct val="115000"/>
                        </a:lnSpc>
                        <a:buFont typeface="Arial" panose="020B0604020202020204" pitchFamily="34" charset="0"/>
                        <a:buChar char="•"/>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Emerging trends in Planning, Design, Construction, Maintenance of roads and bridges</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Innovative Implementation Strategies</a:t>
                      </a:r>
                    </a:p>
                    <a:p>
                      <a:pPr marL="725170" lvl="1"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Use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Instrumentation &amp; Big data Management in Road Sector</a:t>
                      </a:r>
                      <a:endParaRPr lang="en-US" sz="900" b="1">
                        <a:solidFill>
                          <a:prstClr val="black"/>
                        </a:solidFill>
                        <a:latin typeface="Verdana" panose="020B0604030504040204" pitchFamily="34" charset="0"/>
                        <a:ea typeface="Verdana" panose="020B0604030504040204" pitchFamily="34" charset="0"/>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3: Study for road sector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Undertook a </a:t>
                      </a:r>
                      <a:r>
                        <a:rPr lang="en-US" sz="900" b="1">
                          <a:solidFill>
                            <a:prstClr val="black"/>
                          </a:solidFill>
                          <a:latin typeface="Verdana" panose="020B0604030504040204" pitchFamily="34" charset="0"/>
                          <a:ea typeface="Verdana" panose="020B0604030504040204" pitchFamily="34" charset="0"/>
                        </a:rPr>
                        <a:t>study to determine feasibility aspects </a:t>
                      </a:r>
                      <a:r>
                        <a:rPr lang="en-US" sz="900">
                          <a:solidFill>
                            <a:prstClr val="black"/>
                          </a:solidFill>
                          <a:latin typeface="Verdana" panose="020B0604030504040204" pitchFamily="34" charset="0"/>
                          <a:ea typeface="Verdana" panose="020B0604030504040204" pitchFamily="34" charset="0"/>
                        </a:rPr>
                        <a:t>and a general framework and ‘Business model’ for possible R&amp;BD linked Centre of excellence</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4:Implementation of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Assisted R&amp;BD in </a:t>
                      </a:r>
                      <a:r>
                        <a:rPr lang="en-US" sz="900" b="1">
                          <a:solidFill>
                            <a:prstClr val="black"/>
                          </a:solidFill>
                          <a:latin typeface="Verdana" panose="020B0604030504040204" pitchFamily="34" charset="0"/>
                          <a:ea typeface="Verdana" panose="020B0604030504040204" pitchFamily="34" charset="0"/>
                        </a:rPr>
                        <a:t>finalization and activation of Implementation Plans </a:t>
                      </a:r>
                      <a:r>
                        <a:rPr lang="en-US" sz="900">
                          <a:solidFill>
                            <a:prstClr val="black"/>
                          </a:solidFill>
                          <a:latin typeface="Verdana" panose="020B0604030504040204" pitchFamily="34" charset="0"/>
                          <a:ea typeface="Verdana" panose="020B0604030504040204" pitchFamily="34" charset="0"/>
                        </a:rPr>
                        <a:t>for the establishment and inaugural operations of the new Centre of Excellence, through workshops and consultations with concerned R&amp;BD areas and with participating entities and help the R&amp;BD in providing support for up to eighteen months from inception</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May 2016;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March 2021</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8.97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A13EB64C-40F8-3D03-9711-FC4F9E12A56D}"/>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AB6D00C-F843-7F92-207B-37C4C34994AD}"/>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A54312B6-E14A-0DAF-3B3C-AE1F6071BA25}"/>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7</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87505115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E4362-B8E0-985E-CE88-013F86C3CE46}"/>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19DD6B3-2B2E-7C2E-D4FD-EFF6F476C2B9}"/>
              </a:ext>
            </a:extLst>
          </p:cNvPr>
          <p:cNvGraphicFramePr>
            <a:graphicFrameLocks noGrp="1"/>
          </p:cNvGraphicFramePr>
          <p:nvPr/>
        </p:nvGraphicFramePr>
        <p:xfrm>
          <a:off x="517290" y="745905"/>
          <a:ext cx="11161565" cy="4735405"/>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Strengthening Financing Strategies for SDG in three states of HP, Meghalaya and MP and developing transformative concept notes for finance mobilization for SDGs localization and Climate Action</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Govt. of Meghalaya, Govt. of Himachal Pradesh, Govt. of Madhya Pradesh, GIZ (Deutsche Gesellschaft für </a:t>
                      </a:r>
                      <a:r>
                        <a:rPr lang="en-US" sz="1000" b="0" err="1">
                          <a:solidFill>
                            <a:schemeClr val="bg1"/>
                          </a:solidFill>
                          <a:effectLst/>
                          <a:latin typeface="Verdana" panose="020B0604030504040204" pitchFamily="34" charset="0"/>
                          <a:ea typeface="+mn-ea"/>
                          <a:cs typeface="Times New Roman" panose="02020603050405020304" pitchFamily="18" charset="0"/>
                        </a:rPr>
                        <a:t>Internationale</a:t>
                      </a:r>
                      <a:r>
                        <a:rPr lang="en-US" sz="1000" b="0">
                          <a:solidFill>
                            <a:schemeClr val="bg1"/>
                          </a:solidFill>
                          <a:effectLst/>
                          <a:latin typeface="Verdana" panose="020B0604030504040204" pitchFamily="34" charset="0"/>
                          <a:ea typeface="+mn-ea"/>
                          <a:cs typeface="Times New Roman" panose="02020603050405020304" pitchFamily="18" charset="0"/>
                        </a:rPr>
                        <a:t> Zusammenarbeit).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170928">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Deloitte was appointed for the implementation of Institutional Development Action Plan</a:t>
                      </a:r>
                    </a:p>
                    <a:p>
                      <a:pPr marL="96520"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1: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Study of Proposed ‘Advanced Seminars &amp; workshops Program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Determined the feasibility and defined the concept, aims, contents, delivery modes and management framework for a new knowledge transfer program of advanced seminars and workshops on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contemporary and climate resilient roads sector topics and issues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delivered collaboratively between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leading technical, professional and industry en</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tities in Gujarat and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R&amp;BD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2: Implementation of pilot program of advanced seminars and workshops: Implemented pilot program of four advanced seminars, each of a duration of 2 to 3 days, covering the themes:</a:t>
                      </a:r>
                    </a:p>
                    <a:p>
                      <a:pPr marL="725170" lvl="1" indent="-171450" algn="just">
                        <a:lnSpc>
                          <a:spcPct val="115000"/>
                        </a:lnSpc>
                        <a:buFont typeface="Arial" panose="020B0604020202020204" pitchFamily="34" charset="0"/>
                        <a:buChar char="•"/>
                        <a:defRPr/>
                      </a:pPr>
                      <a:r>
                        <a:rPr lang="en-US" sz="900" b="1">
                          <a:solidFill>
                            <a:prstClr val="black"/>
                          </a:solidFill>
                          <a:latin typeface="Verdana" panose="020B0604030504040204" pitchFamily="34" charset="0"/>
                          <a:ea typeface="Verdana" panose="020B0604030504040204" pitchFamily="34" charset="0"/>
                        </a:rPr>
                        <a:t>Sustainable and disaster resilient Development of Road Infrastructure</a:t>
                      </a:r>
                    </a:p>
                    <a:p>
                      <a:pPr marL="725170" lvl="1" indent="-171450" algn="just">
                        <a:lnSpc>
                          <a:spcPct val="115000"/>
                        </a:lnSpc>
                        <a:buFont typeface="Arial" panose="020B0604020202020204" pitchFamily="34" charset="0"/>
                        <a:buChar char="•"/>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Emerging trends in Planning, Design, Construction, Maintenance of roads and bridges</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Innovative Implementation Strategies</a:t>
                      </a:r>
                    </a:p>
                    <a:p>
                      <a:pPr marL="725170" lvl="1"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Use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Instrumentation &amp; Big data Management in Road Sector</a:t>
                      </a:r>
                      <a:endParaRPr lang="en-US" sz="900" b="1">
                        <a:solidFill>
                          <a:prstClr val="black"/>
                        </a:solidFill>
                        <a:latin typeface="Verdana" panose="020B0604030504040204" pitchFamily="34" charset="0"/>
                        <a:ea typeface="Verdana" panose="020B0604030504040204" pitchFamily="34" charset="0"/>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3: Study for road sector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Undertook a </a:t>
                      </a:r>
                      <a:r>
                        <a:rPr lang="en-US" sz="900" b="1">
                          <a:solidFill>
                            <a:prstClr val="black"/>
                          </a:solidFill>
                          <a:latin typeface="Verdana" panose="020B0604030504040204" pitchFamily="34" charset="0"/>
                          <a:ea typeface="Verdana" panose="020B0604030504040204" pitchFamily="34" charset="0"/>
                        </a:rPr>
                        <a:t>study to determine feasibility aspects </a:t>
                      </a:r>
                      <a:r>
                        <a:rPr lang="en-US" sz="900">
                          <a:solidFill>
                            <a:prstClr val="black"/>
                          </a:solidFill>
                          <a:latin typeface="Verdana" panose="020B0604030504040204" pitchFamily="34" charset="0"/>
                          <a:ea typeface="Verdana" panose="020B0604030504040204" pitchFamily="34" charset="0"/>
                        </a:rPr>
                        <a:t>and a general framework and ‘Business model’ for possible R&amp;BD linked Centre of excellence</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4:Implementation of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Assisted R&amp;BD in </a:t>
                      </a:r>
                      <a:r>
                        <a:rPr lang="en-US" sz="900" b="1">
                          <a:solidFill>
                            <a:prstClr val="black"/>
                          </a:solidFill>
                          <a:latin typeface="Verdana" panose="020B0604030504040204" pitchFamily="34" charset="0"/>
                          <a:ea typeface="Verdana" panose="020B0604030504040204" pitchFamily="34" charset="0"/>
                        </a:rPr>
                        <a:t>finalization and activation of Implementation Plans </a:t>
                      </a:r>
                      <a:r>
                        <a:rPr lang="en-US" sz="900">
                          <a:solidFill>
                            <a:prstClr val="black"/>
                          </a:solidFill>
                          <a:latin typeface="Verdana" panose="020B0604030504040204" pitchFamily="34" charset="0"/>
                          <a:ea typeface="Verdana" panose="020B0604030504040204" pitchFamily="34" charset="0"/>
                        </a:rPr>
                        <a:t>for the establishment and inaugural operations of the new Centre of Excellence, through workshops and consultations with concerned R&amp;BD areas and with participating entities and help the R&amp;BD in providing support for up to eighteen months from inception</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May 2016;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March 2021</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8.97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1D870B60-2D88-F70D-3D71-49F9D9D013F8}"/>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7241BD1A-A890-E4FC-E2E5-D4E2E18E082F}"/>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CE1B861B-8E44-6935-68E0-42EF68F86FE5}"/>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7</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86932034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2343F-6A16-4A4F-2116-483B25E8AB59}"/>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608555D8-3963-D7C4-C6A4-ED5B177E8673}"/>
              </a:ext>
            </a:extLst>
          </p:cNvPr>
          <p:cNvGraphicFramePr>
            <a:graphicFrameLocks noGrp="1"/>
          </p:cNvGraphicFramePr>
          <p:nvPr/>
        </p:nvGraphicFramePr>
        <p:xfrm>
          <a:off x="517290" y="745905"/>
          <a:ext cx="11161565" cy="4735405"/>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Strengthening Financing Strategies for SDG in three states of HP, Meghalaya and MP and developing transformative concept notes for finance mobilization for SDGs localization and Climate Action</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Govt. of Meghalaya, Govt. of Himachal Pradesh, Govt. of Madhya Pradesh, GIZ (Deutsche Gesellschaft für </a:t>
                      </a:r>
                      <a:r>
                        <a:rPr lang="en-US" sz="1000" b="0" err="1">
                          <a:solidFill>
                            <a:schemeClr val="bg1"/>
                          </a:solidFill>
                          <a:effectLst/>
                          <a:latin typeface="Verdana" panose="020B0604030504040204" pitchFamily="34" charset="0"/>
                          <a:ea typeface="+mn-ea"/>
                          <a:cs typeface="Times New Roman" panose="02020603050405020304" pitchFamily="18" charset="0"/>
                        </a:rPr>
                        <a:t>Internationale</a:t>
                      </a:r>
                      <a:r>
                        <a:rPr lang="en-US" sz="1000" b="0">
                          <a:solidFill>
                            <a:schemeClr val="bg1"/>
                          </a:solidFill>
                          <a:effectLst/>
                          <a:latin typeface="Verdana" panose="020B0604030504040204" pitchFamily="34" charset="0"/>
                          <a:ea typeface="+mn-ea"/>
                          <a:cs typeface="Times New Roman" panose="02020603050405020304" pitchFamily="18" charset="0"/>
                        </a:rPr>
                        <a:t> Zusammenarbeit).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170928">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Deloitte was appointed for the implementation of Institutional Development Action Plan</a:t>
                      </a:r>
                    </a:p>
                    <a:p>
                      <a:pPr marL="96520"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1: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Study of Proposed ‘Advanced Seminars &amp; workshops Program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Determined the feasibility and defined the concept, aims, contents, delivery modes and management framework for a new knowledge transfer program of advanced seminars and workshops on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contemporary and climate resilient roads sector topics and issues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delivered collaboratively between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leading technical, professional and industry en</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tities in Gujarat and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R&amp;BD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2: Implementation of pilot program of advanced seminars and workshops: Implemented pilot program of four advanced seminars, each of a duration of 2 to 3 days, covering the themes:</a:t>
                      </a:r>
                    </a:p>
                    <a:p>
                      <a:pPr marL="725170" lvl="1" indent="-171450" algn="just">
                        <a:lnSpc>
                          <a:spcPct val="115000"/>
                        </a:lnSpc>
                        <a:buFont typeface="Arial" panose="020B0604020202020204" pitchFamily="34" charset="0"/>
                        <a:buChar char="•"/>
                        <a:defRPr/>
                      </a:pPr>
                      <a:r>
                        <a:rPr lang="en-US" sz="900" b="1">
                          <a:solidFill>
                            <a:prstClr val="black"/>
                          </a:solidFill>
                          <a:latin typeface="Verdana" panose="020B0604030504040204" pitchFamily="34" charset="0"/>
                          <a:ea typeface="Verdana" panose="020B0604030504040204" pitchFamily="34" charset="0"/>
                        </a:rPr>
                        <a:t>Sustainable and disaster resilient Development of Road Infrastructure</a:t>
                      </a:r>
                    </a:p>
                    <a:p>
                      <a:pPr marL="725170" lvl="1" indent="-171450" algn="just">
                        <a:lnSpc>
                          <a:spcPct val="115000"/>
                        </a:lnSpc>
                        <a:buFont typeface="Arial" panose="020B0604020202020204" pitchFamily="34" charset="0"/>
                        <a:buChar char="•"/>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Emerging trends in Planning, Design, Construction, Maintenance of roads and bridges</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Innovative Implementation Strategies</a:t>
                      </a:r>
                    </a:p>
                    <a:p>
                      <a:pPr marL="725170" lvl="1"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Use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Instrumentation &amp; Big data Management in Road Sector</a:t>
                      </a:r>
                      <a:endParaRPr lang="en-US" sz="900" b="1">
                        <a:solidFill>
                          <a:prstClr val="black"/>
                        </a:solidFill>
                        <a:latin typeface="Verdana" panose="020B0604030504040204" pitchFamily="34" charset="0"/>
                        <a:ea typeface="Verdana" panose="020B0604030504040204" pitchFamily="34" charset="0"/>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3: Study for road sector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Undertook a </a:t>
                      </a:r>
                      <a:r>
                        <a:rPr lang="en-US" sz="900" b="1">
                          <a:solidFill>
                            <a:prstClr val="black"/>
                          </a:solidFill>
                          <a:latin typeface="Verdana" panose="020B0604030504040204" pitchFamily="34" charset="0"/>
                          <a:ea typeface="Verdana" panose="020B0604030504040204" pitchFamily="34" charset="0"/>
                        </a:rPr>
                        <a:t>study to determine feasibility aspects </a:t>
                      </a:r>
                      <a:r>
                        <a:rPr lang="en-US" sz="900">
                          <a:solidFill>
                            <a:prstClr val="black"/>
                          </a:solidFill>
                          <a:latin typeface="Verdana" panose="020B0604030504040204" pitchFamily="34" charset="0"/>
                          <a:ea typeface="Verdana" panose="020B0604030504040204" pitchFamily="34" charset="0"/>
                        </a:rPr>
                        <a:t>and a general framework and ‘Business model’ for possible R&amp;BD linked Centre of excellence</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65760" indent="-171450" algn="just">
                        <a:lnSpc>
                          <a:spcPct val="115000"/>
                        </a:lnSpc>
                        <a:buFont typeface="Arial" panose="020B0604020202020204" pitchFamily="34" charset="0"/>
                        <a:buChar char="•"/>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Task 4:Implementation of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centre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excellence</a:t>
                      </a:r>
                    </a:p>
                    <a:p>
                      <a:pPr marL="725170" lvl="1" indent="-171450" algn="just">
                        <a:lnSpc>
                          <a:spcPct val="115000"/>
                        </a:lnSpc>
                        <a:buFont typeface="Arial" panose="020B0604020202020204" pitchFamily="34" charset="0"/>
                        <a:buChar char="•"/>
                        <a:defRPr/>
                      </a:pPr>
                      <a:r>
                        <a:rPr lang="en-US" sz="900">
                          <a:solidFill>
                            <a:prstClr val="black"/>
                          </a:solidFill>
                          <a:latin typeface="Verdana" panose="020B0604030504040204" pitchFamily="34" charset="0"/>
                          <a:ea typeface="Verdana" panose="020B0604030504040204" pitchFamily="34" charset="0"/>
                        </a:rPr>
                        <a:t>Assisted R&amp;BD in </a:t>
                      </a:r>
                      <a:r>
                        <a:rPr lang="en-US" sz="900" b="1">
                          <a:solidFill>
                            <a:prstClr val="black"/>
                          </a:solidFill>
                          <a:latin typeface="Verdana" panose="020B0604030504040204" pitchFamily="34" charset="0"/>
                          <a:ea typeface="Verdana" panose="020B0604030504040204" pitchFamily="34" charset="0"/>
                        </a:rPr>
                        <a:t>finalization and activation of Implementation Plans </a:t>
                      </a:r>
                      <a:r>
                        <a:rPr lang="en-US" sz="900">
                          <a:solidFill>
                            <a:prstClr val="black"/>
                          </a:solidFill>
                          <a:latin typeface="Verdana" panose="020B0604030504040204" pitchFamily="34" charset="0"/>
                          <a:ea typeface="Verdana" panose="020B0604030504040204" pitchFamily="34" charset="0"/>
                        </a:rPr>
                        <a:t>for the establishment and inaugural operations of the new Centre of Excellence, through workshops and consultations with concerned R&amp;BD areas and with participating entities and help the R&amp;BD in providing support for up to eighteen months from inception</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May 2016;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March 2021</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8.97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2EDA93B3-6601-3ADD-9877-94B90B257D0B}"/>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E7ABAD70-20CC-7F61-7C66-115E34E2C505}"/>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E9B041C9-0C81-9B30-FC3A-4B9ADC7A8199}"/>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7</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280655718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3725554902"/>
              </p:ext>
            </p:extLst>
          </p:nvPr>
        </p:nvGraphicFramePr>
        <p:xfrm>
          <a:off x="517290" y="745905"/>
          <a:ext cx="11161565" cy="4592911"/>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Haryana State CSR Trust project- crop residue management </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Internal</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170928">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Deloitte is providing support to the Government of Haryana in the preparation of an effective and sustainable strategy for Stubble Waste Management and afforestation in the view of reducing the instances of stubble burning and its associated impact on air pollution and environment risk</a:t>
                      </a:r>
                    </a:p>
                    <a:p>
                      <a:pPr marL="96520"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lvl="0" indent="-171450" algn="just">
                        <a:lnSpc>
                          <a:spcPct val="107000"/>
                        </a:lnSpc>
                        <a:spcAft>
                          <a:spcPts val="800"/>
                        </a:spcAft>
                        <a:buFont typeface="Arial" panose="020B0604020202020204" pitchFamily="34" charset="0"/>
                        <a:buChar char="•"/>
                      </a:pPr>
                      <a:r>
                        <a:rPr lang="en-IN" sz="900" b="1">
                          <a:effectLst/>
                          <a:latin typeface="Verdana" panose="020B0604030504040204" pitchFamily="34" charset="0"/>
                          <a:ea typeface="Calibri" panose="020F0502020204030204" pitchFamily="34" charset="0"/>
                          <a:cs typeface="Times New Roman" panose="02020603050405020304" pitchFamily="18" charset="0"/>
                        </a:rPr>
                        <a:t>As-Is-Assessment:</a:t>
                      </a:r>
                      <a:r>
                        <a:rPr lang="en-IN" sz="900">
                          <a:effectLst/>
                          <a:latin typeface="Verdana" panose="020B0604030504040204" pitchFamily="34" charset="0"/>
                          <a:ea typeface="Calibri" panose="020F0502020204030204" pitchFamily="34" charset="0"/>
                          <a:cs typeface="Times New Roman" panose="02020603050405020304" pitchFamily="18" charset="0"/>
                        </a:rPr>
                        <a:t> a) </a:t>
                      </a:r>
                      <a:r>
                        <a:rPr lang="en-IN" sz="900" b="1">
                          <a:effectLst/>
                          <a:latin typeface="Verdana" panose="020B0604030504040204" pitchFamily="34" charset="0"/>
                          <a:ea typeface="Calibri" panose="020F0502020204030204" pitchFamily="34" charset="0"/>
                          <a:cs typeface="Times New Roman" panose="02020603050405020304" pitchFamily="18" charset="0"/>
                        </a:rPr>
                        <a:t>Conduct analysis of the policies, regulations, incentive schemes, etc</a:t>
                      </a:r>
                      <a:r>
                        <a:rPr lang="en-IN" sz="900">
                          <a:effectLst/>
                          <a:latin typeface="Verdana" panose="020B0604030504040204" pitchFamily="34" charset="0"/>
                          <a:ea typeface="Calibri" panose="020F0502020204030204" pitchFamily="34" charset="0"/>
                          <a:cs typeface="Times New Roman" panose="02020603050405020304" pitchFamily="18" charset="0"/>
                        </a:rPr>
                        <a:t>. implemented by the Govt. of Haryana, b) Identify the regional, state and central level stakeholders and c) Identify the issues and challenges around stubble waste management in the state</a:t>
                      </a:r>
                    </a:p>
                    <a:p>
                      <a:pPr marL="365760" lvl="0" indent="-171450" algn="just">
                        <a:lnSpc>
                          <a:spcPct val="107000"/>
                        </a:lnSpc>
                        <a:buFont typeface="Arial" panose="020B0604020202020204" pitchFamily="34" charset="0"/>
                        <a:buChar char="•"/>
                      </a:pPr>
                      <a:r>
                        <a:rPr lang="en-IN" sz="900" kern="1200">
                          <a:solidFill>
                            <a:schemeClr val="tx1"/>
                          </a:solidFill>
                          <a:effectLst/>
                          <a:latin typeface="+mn-lt"/>
                          <a:ea typeface="Calibri" panose="020F0502020204030204" pitchFamily="34" charset="0"/>
                          <a:cs typeface="Times New Roman" panose="02020603050405020304" pitchFamily="18" charset="0"/>
                        </a:rPr>
                        <a:t>Develop a road map for stubble management </a:t>
                      </a:r>
                    </a:p>
                    <a:p>
                      <a:pPr marL="742950" lvl="1" indent="-285750" algn="just">
                        <a:lnSpc>
                          <a:spcPct val="107000"/>
                        </a:lnSpc>
                        <a:buFont typeface="Courier New" panose="02070309020205020404" pitchFamily="49" charset="0"/>
                        <a:buChar char="o"/>
                      </a:pPr>
                      <a:r>
                        <a:rPr lang="en-IN" sz="900" b="1" kern="1200">
                          <a:solidFill>
                            <a:schemeClr val="tx1"/>
                          </a:solidFill>
                          <a:effectLst/>
                          <a:latin typeface="+mn-lt"/>
                          <a:ea typeface="Calibri" panose="020F0502020204030204" pitchFamily="34" charset="0"/>
                          <a:cs typeface="Times New Roman" panose="02020603050405020304" pitchFamily="18" charset="0"/>
                        </a:rPr>
                        <a:t>Policy: Suggest and augment  policy solutions </a:t>
                      </a:r>
                      <a:r>
                        <a:rPr lang="en-IN" sz="900" kern="1200">
                          <a:solidFill>
                            <a:schemeClr val="tx1"/>
                          </a:solidFill>
                          <a:effectLst/>
                          <a:latin typeface="+mn-lt"/>
                          <a:ea typeface="Calibri" panose="020F0502020204030204" pitchFamily="34" charset="0"/>
                          <a:cs typeface="Times New Roman" panose="02020603050405020304" pitchFamily="18" charset="0"/>
                        </a:rPr>
                        <a:t>inclusive of the on-field and off-field methods of stubble management, cropping patterns, incentives for machineries and technology, penalty system and monitoring system.</a:t>
                      </a:r>
                    </a:p>
                    <a:p>
                      <a:pPr marL="742950" lvl="1" indent="-285750" algn="just">
                        <a:lnSpc>
                          <a:spcPct val="107000"/>
                        </a:lnSpc>
                        <a:buFont typeface="Courier New" panose="02070309020205020404" pitchFamily="49" charset="0"/>
                        <a:buChar char="o"/>
                      </a:pPr>
                      <a:r>
                        <a:rPr lang="en-IN" sz="900" kern="1200">
                          <a:solidFill>
                            <a:schemeClr val="tx1"/>
                          </a:solidFill>
                          <a:effectLst/>
                          <a:latin typeface="+mn-lt"/>
                          <a:ea typeface="Calibri" panose="020F0502020204030204" pitchFamily="34" charset="0"/>
                          <a:cs typeface="Times New Roman" panose="02020603050405020304" pitchFamily="18" charset="0"/>
                        </a:rPr>
                        <a:t>Process: </a:t>
                      </a:r>
                      <a:r>
                        <a:rPr lang="en-IN" sz="900" b="1" kern="1200">
                          <a:solidFill>
                            <a:schemeClr val="tx1"/>
                          </a:solidFill>
                          <a:effectLst/>
                          <a:latin typeface="+mn-lt"/>
                          <a:ea typeface="Calibri" panose="020F0502020204030204" pitchFamily="34" charset="0"/>
                          <a:cs typeface="Times New Roman" panose="02020603050405020304" pitchFamily="18" charset="0"/>
                        </a:rPr>
                        <a:t>Simplification of processes</a:t>
                      </a:r>
                      <a:r>
                        <a:rPr lang="en-IN" sz="900" kern="1200">
                          <a:solidFill>
                            <a:schemeClr val="tx1"/>
                          </a:solidFill>
                          <a:effectLst/>
                          <a:latin typeface="+mn-lt"/>
                          <a:ea typeface="Calibri" panose="020F0502020204030204" pitchFamily="34" charset="0"/>
                          <a:cs typeface="Times New Roman" panose="02020603050405020304" pitchFamily="18" charset="0"/>
                        </a:rPr>
                        <a:t> of subsidy payments, penalty collection, monitoring processes and query handling processes via mobile application or stubble management web platform.</a:t>
                      </a:r>
                    </a:p>
                    <a:p>
                      <a:pPr marL="742950" lvl="1" indent="-285750" algn="just">
                        <a:lnSpc>
                          <a:spcPct val="107000"/>
                        </a:lnSpc>
                        <a:buFont typeface="Courier New" panose="02070309020205020404" pitchFamily="49" charset="0"/>
                        <a:buChar char="o"/>
                      </a:pPr>
                      <a:r>
                        <a:rPr lang="en-IN" sz="900" b="1" kern="1200">
                          <a:solidFill>
                            <a:schemeClr val="tx1"/>
                          </a:solidFill>
                          <a:effectLst/>
                          <a:latin typeface="+mn-lt"/>
                          <a:ea typeface="Calibri" panose="020F0502020204030204" pitchFamily="34" charset="0"/>
                          <a:cs typeface="Times New Roman" panose="02020603050405020304" pitchFamily="18" charset="0"/>
                        </a:rPr>
                        <a:t>Institution: Design an effective legal institutional mechanism </a:t>
                      </a:r>
                      <a:r>
                        <a:rPr lang="en-IN" sz="900" kern="1200">
                          <a:solidFill>
                            <a:schemeClr val="tx1"/>
                          </a:solidFill>
                          <a:effectLst/>
                          <a:latin typeface="+mn-lt"/>
                          <a:ea typeface="Calibri" panose="020F0502020204030204" pitchFamily="34" charset="0"/>
                          <a:cs typeface="Times New Roman" panose="02020603050405020304" pitchFamily="18" charset="0"/>
                        </a:rPr>
                        <a:t>at the local level for stubble management through collaboration via PPP with private sectors and mechanism to leverage CSR funds for stubble waste management.</a:t>
                      </a:r>
                    </a:p>
                    <a:p>
                      <a:pPr marL="742950" lvl="1" indent="-285750" algn="just">
                        <a:lnSpc>
                          <a:spcPct val="107000"/>
                        </a:lnSpc>
                        <a:spcAft>
                          <a:spcPts val="800"/>
                        </a:spcAft>
                        <a:buFont typeface="Courier New" panose="02070309020205020404" pitchFamily="49" charset="0"/>
                        <a:buChar char="o"/>
                      </a:pPr>
                      <a:r>
                        <a:rPr lang="en-IN" sz="900" b="1" kern="1200">
                          <a:solidFill>
                            <a:schemeClr val="tx1"/>
                          </a:solidFill>
                          <a:effectLst/>
                          <a:latin typeface="+mn-lt"/>
                          <a:ea typeface="Calibri" panose="020F0502020204030204" pitchFamily="34" charset="0"/>
                          <a:cs typeface="Times New Roman" panose="02020603050405020304" pitchFamily="18" charset="0"/>
                        </a:rPr>
                        <a:t>Advocacy and Communication: Playbook for awareness and communication strategy </a:t>
                      </a:r>
                      <a:r>
                        <a:rPr lang="en-IN" sz="900" kern="1200">
                          <a:solidFill>
                            <a:schemeClr val="tx1"/>
                          </a:solidFill>
                          <a:effectLst/>
                          <a:latin typeface="+mn-lt"/>
                          <a:ea typeface="Calibri" panose="020F0502020204030204" pitchFamily="34" charset="0"/>
                          <a:cs typeface="Times New Roman" panose="02020603050405020304" pitchFamily="18" charset="0"/>
                        </a:rPr>
                        <a:t>including </a:t>
                      </a:r>
                      <a:r>
                        <a:rPr lang="en-IN" sz="900" b="1" kern="1200">
                          <a:solidFill>
                            <a:schemeClr val="tx1"/>
                          </a:solidFill>
                          <a:effectLst/>
                          <a:latin typeface="+mn-lt"/>
                          <a:ea typeface="Calibri" panose="020F0502020204030204" pitchFamily="34" charset="0"/>
                          <a:cs typeface="Times New Roman" panose="02020603050405020304" pitchFamily="18" charset="0"/>
                        </a:rPr>
                        <a:t>Information, Education and Communication (IEC) activities</a:t>
                      </a:r>
                      <a:r>
                        <a:rPr lang="en-IN" sz="900" kern="1200">
                          <a:solidFill>
                            <a:schemeClr val="tx1"/>
                          </a:solidFill>
                          <a:effectLst/>
                          <a:latin typeface="+mn-lt"/>
                          <a:ea typeface="Calibri" panose="020F0502020204030204" pitchFamily="34" charset="0"/>
                          <a:cs typeface="Times New Roman" panose="02020603050405020304" pitchFamily="18" charset="0"/>
                        </a:rPr>
                        <a:t> for </a:t>
                      </a:r>
                      <a:r>
                        <a:rPr lang="en-IN" sz="900" b="1" kern="1200">
                          <a:solidFill>
                            <a:schemeClr val="tx1"/>
                          </a:solidFill>
                          <a:effectLst/>
                          <a:latin typeface="+mn-lt"/>
                          <a:ea typeface="Calibri" panose="020F0502020204030204" pitchFamily="34" charset="0"/>
                          <a:cs typeface="Times New Roman" panose="02020603050405020304" pitchFamily="18" charset="0"/>
                        </a:rPr>
                        <a:t>sensitisation of farmers in the targeted geographies and focus on role of women and SHGs in the awareness process. </a:t>
                      </a:r>
                    </a:p>
                    <a:p>
                      <a:pPr marL="365760" indent="-198438" algn="just">
                        <a:lnSpc>
                          <a:spcPct val="107000"/>
                        </a:lnSpc>
                        <a:spcAft>
                          <a:spcPts val="800"/>
                        </a:spcAft>
                        <a:buFont typeface="Arial" panose="020B0604020202020204" pitchFamily="34" charset="0"/>
                        <a:buChar char="•"/>
                      </a:pPr>
                      <a:r>
                        <a:rPr lang="en-IN" sz="900" b="1">
                          <a:latin typeface="Verdana" panose="020B0604030504040204" pitchFamily="34" charset="0"/>
                          <a:cs typeface="Times New Roman" panose="02020603050405020304" pitchFamily="18" charset="0"/>
                        </a:rPr>
                        <a:t>Conducted Focus Group discussion </a:t>
                      </a:r>
                      <a:r>
                        <a:rPr lang="en-IN" sz="900">
                          <a:latin typeface="Verdana" panose="020B0604030504040204" pitchFamily="34" charset="0"/>
                          <a:cs typeface="Times New Roman" panose="02020603050405020304" pitchFamily="18" charset="0"/>
                        </a:rPr>
                        <a:t>and interviews for data and information validation by the preparation of structured questionnaires</a:t>
                      </a:r>
                    </a:p>
                    <a:p>
                      <a:pPr marL="96520" marR="0" lvl="0" indent="0" algn="l"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September</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2021;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Ongoing</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(March 2024)</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 Bono</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900" b="1">
                <a:solidFill>
                  <a:prstClr val="white"/>
                </a:solidFill>
                <a:latin typeface="Verdana"/>
              </a:rPr>
              <a:t>8</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226269707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124786085"/>
              </p:ext>
            </p:extLst>
          </p:nvPr>
        </p:nvGraphicFramePr>
        <p:xfrm>
          <a:off x="517290" y="745905"/>
          <a:ext cx="11161565" cy="5735403"/>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Providing Technical Assistance Support for Implementation of Odisha Urban Infrastructure </a:t>
                      </a:r>
                      <a:r>
                        <a:rPr lang="en-US" sz="1200" b="1" err="1">
                          <a:solidFill>
                            <a:schemeClr val="bg1"/>
                          </a:solidFill>
                          <a:effectLst/>
                          <a:latin typeface="Verdana" panose="020B0604030504040204" pitchFamily="34" charset="0"/>
                          <a:ea typeface="+mn-ea"/>
                          <a:cs typeface="Times New Roman" panose="02020603050405020304" pitchFamily="18" charset="0"/>
                        </a:rPr>
                        <a:t>Programme</a:t>
                      </a:r>
                      <a:r>
                        <a:rPr lang="en-US" sz="1200" b="1">
                          <a:solidFill>
                            <a:schemeClr val="bg1"/>
                          </a:solidFill>
                          <a:effectLst/>
                          <a:latin typeface="Verdana" panose="020B0604030504040204" pitchFamily="34" charset="0"/>
                          <a:ea typeface="+mn-ea"/>
                          <a:cs typeface="Times New Roman" panose="02020603050405020304" pitchFamily="18" charset="0"/>
                        </a:rPr>
                        <a:t> (OSUIP)</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Housing and Urban Development Department, Government of Odisha/ Foreign and Commonwealth Development Office (FCDO)</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170928">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Description of Key Activities:</a:t>
                      </a:r>
                    </a:p>
                    <a:p>
                      <a:pPr marL="96520" marR="0" lvl="0" indent="0" algn="just" defTabSz="914400" rtl="0" eaLnBrk="1" fontAlgn="auto" latinLnBrk="0" hangingPunct="1">
                        <a:lnSpc>
                          <a:spcPct val="115000"/>
                        </a:lnSpc>
                        <a:spcBef>
                          <a:spcPts val="400"/>
                        </a:spcBef>
                        <a:spcAft>
                          <a:spcPts val="400"/>
                        </a:spcAft>
                        <a:buClrTx/>
                        <a:buSzTx/>
                        <a:buFontTx/>
                        <a:buNone/>
                        <a:tabLst/>
                        <a:defRPr/>
                      </a:pP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As part of the project, Deloitte provided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Technical Assistance (TA) support </a:t>
                      </a: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to (</a:t>
                      </a:r>
                      <a:r>
                        <a:rPr kumimoji="0" lang="en-US" sz="900" b="0" i="0" u="none" strike="noStrike" kern="1200" cap="none" spc="0" normalizeH="0" baseline="0" noProof="0" err="1">
                          <a:ln>
                            <a:noFill/>
                          </a:ln>
                          <a:solidFill>
                            <a:prstClr val="black"/>
                          </a:solidFill>
                          <a:effectLst/>
                          <a:uLnTx/>
                          <a:uFillTx/>
                          <a:latin typeface="+mn-lt"/>
                          <a:ea typeface="Verdana" panose="020B0604030504040204" pitchFamily="34" charset="0"/>
                          <a:cs typeface="+mn-cs"/>
                        </a:rPr>
                        <a:t>i</a:t>
                      </a: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build capacity </a:t>
                      </a: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of HUDD towards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creating a policy and regulatory environment </a:t>
                      </a: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to facilitate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investment promotion and green and climate resilient infrastructure development </a:t>
                      </a: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(ii) build capacity of target ULBs and para-statal agencies towards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building their credit worthiness </a:t>
                      </a: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through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improved financial management</a:t>
                      </a: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better cost recovery </a:t>
                      </a: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of urban services,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enhanced resource mobilization </a:t>
                      </a: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by ULBs, creating better quality of life in urban areas and (iii) improve urban administration and build institutional and regulatory capacity in areas of PPP,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climate resilient planning</a:t>
                      </a: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green buildings certifications</a:t>
                      </a: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sustainable infrastructure</a:t>
                      </a: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 green energy, etc. </a:t>
                      </a:r>
                      <a:endParaRPr kumimoji="0" lang="en-US" sz="900" b="0" i="0" u="none" strike="noStrike" kern="1200" cap="none" spc="0" normalizeH="0" baseline="0" noProof="0">
                        <a:ln>
                          <a:noFill/>
                        </a:ln>
                        <a:solidFill>
                          <a:prstClr val="black"/>
                        </a:solidFill>
                        <a:effectLst/>
                        <a:uLnTx/>
                        <a:uFillTx/>
                        <a:latin typeface="+mn-lt"/>
                        <a:ea typeface="+mn-ea"/>
                        <a:cs typeface="+mn-cs"/>
                      </a:endParaRPr>
                    </a:p>
                    <a:p>
                      <a:pPr marL="92075" marR="0" lvl="0" indent="0" algn="just"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mn-lt"/>
                          <a:ea typeface="+mn-ea"/>
                          <a:cs typeface="+mn-cs"/>
                        </a:rPr>
                        <a:t>The key values delivered by Deloitte included</a:t>
                      </a:r>
                      <a:r>
                        <a:rPr kumimoji="0" lang="en-US" sz="900" b="0" i="0" u="none" strike="noStrike" kern="1200" cap="none" spc="0" normalizeH="0" baseline="0" noProof="0">
                          <a:ln>
                            <a:noFill/>
                          </a:ln>
                          <a:solidFill>
                            <a:prstClr val="black"/>
                          </a:solidFill>
                          <a:effectLst/>
                          <a:uLnTx/>
                          <a:uFillTx/>
                          <a:latin typeface="+mn-lt"/>
                          <a:ea typeface="+mn-ea"/>
                          <a:cs typeface="+mn-cs"/>
                        </a:rPr>
                        <a:t>:</a:t>
                      </a:r>
                    </a:p>
                    <a:p>
                      <a:pPr marL="365760" marR="0" lvl="0" indent="-171450" algn="just"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n-lt"/>
                          <a:ea typeface="PMingLiU"/>
                          <a:cs typeface="+mn-cs"/>
                        </a:rPr>
                        <a:t>Providing technical and administrative support to the client in identifying and implementing necessary </a:t>
                      </a:r>
                      <a:r>
                        <a:rPr kumimoji="0" lang="en-US" sz="900" b="1" i="0" u="none" strike="noStrike" kern="1200" cap="none" spc="0" normalizeH="0" baseline="0" noProof="0">
                          <a:ln>
                            <a:noFill/>
                          </a:ln>
                          <a:solidFill>
                            <a:prstClr val="black"/>
                          </a:solidFill>
                          <a:effectLst/>
                          <a:uLnTx/>
                          <a:uFillTx/>
                          <a:latin typeface="+mn-lt"/>
                          <a:ea typeface="PMingLiU"/>
                          <a:cs typeface="+mn-cs"/>
                        </a:rPr>
                        <a:t>regulatory, policy and institutional changes </a:t>
                      </a:r>
                      <a:r>
                        <a:rPr kumimoji="0" lang="en-US" sz="900" b="0" i="0" u="none" strike="noStrike" kern="1200" cap="none" spc="0" normalizeH="0" baseline="0" noProof="0">
                          <a:ln>
                            <a:noFill/>
                          </a:ln>
                          <a:solidFill>
                            <a:prstClr val="black"/>
                          </a:solidFill>
                          <a:effectLst/>
                          <a:uLnTx/>
                          <a:uFillTx/>
                          <a:latin typeface="+mn-lt"/>
                          <a:ea typeface="PMingLiU"/>
                          <a:cs typeface="+mn-cs"/>
                        </a:rPr>
                        <a:t>&amp; </a:t>
                      </a:r>
                      <a:r>
                        <a:rPr kumimoji="0" lang="en-US" sz="900" b="1" i="0" u="none" strike="noStrike" kern="1200" cap="none" spc="0" normalizeH="0" baseline="0" noProof="0">
                          <a:ln>
                            <a:noFill/>
                          </a:ln>
                          <a:solidFill>
                            <a:prstClr val="black"/>
                          </a:solidFill>
                          <a:effectLst/>
                          <a:uLnTx/>
                          <a:uFillTx/>
                          <a:latin typeface="+mn-lt"/>
                          <a:ea typeface="PMingLiU"/>
                          <a:cs typeface="+mn-cs"/>
                        </a:rPr>
                        <a:t>interventions</a:t>
                      </a:r>
                      <a:r>
                        <a:rPr kumimoji="0" lang="en-US" sz="900" b="0" i="0" u="none" strike="noStrike" kern="1200" cap="none" spc="0" normalizeH="0" baseline="0" noProof="0">
                          <a:ln>
                            <a:noFill/>
                          </a:ln>
                          <a:solidFill>
                            <a:prstClr val="black"/>
                          </a:solidFill>
                          <a:effectLst/>
                          <a:uLnTx/>
                          <a:uFillTx/>
                          <a:latin typeface="+mn-lt"/>
                          <a:ea typeface="PMingLiU"/>
                          <a:cs typeface="+mn-cs"/>
                        </a:rPr>
                        <a:t> regarding </a:t>
                      </a:r>
                      <a:r>
                        <a:rPr kumimoji="0" lang="en-US" sz="900" b="0" i="1" u="none" strike="noStrike" kern="1200" cap="none" spc="0" normalizeH="0" baseline="0" noProof="0">
                          <a:ln>
                            <a:noFill/>
                          </a:ln>
                          <a:solidFill>
                            <a:prstClr val="black"/>
                          </a:solidFill>
                          <a:effectLst/>
                          <a:uLnTx/>
                          <a:uFillTx/>
                          <a:latin typeface="+mn-lt"/>
                          <a:ea typeface="PMingLiU"/>
                          <a:cs typeface="+mn-cs"/>
                        </a:rPr>
                        <a:t>aspects</a:t>
                      </a:r>
                      <a:r>
                        <a:rPr kumimoji="0" lang="en-US" sz="900" b="0" i="0" u="none" strike="noStrike" kern="1200" cap="none" spc="0" normalizeH="0" baseline="0" noProof="0">
                          <a:ln>
                            <a:noFill/>
                          </a:ln>
                          <a:solidFill>
                            <a:prstClr val="black"/>
                          </a:solidFill>
                          <a:effectLst/>
                          <a:uLnTx/>
                          <a:uFillTx/>
                          <a:latin typeface="+mn-lt"/>
                          <a:ea typeface="PMingLiU"/>
                          <a:cs typeface="+mn-cs"/>
                        </a:rPr>
                        <a:t> which improved of </a:t>
                      </a:r>
                      <a:r>
                        <a:rPr kumimoji="0" lang="en-US" sz="900" b="1" i="0" u="none" strike="noStrike" kern="1200" cap="none" spc="0" normalizeH="0" baseline="0" noProof="0">
                          <a:ln>
                            <a:noFill/>
                          </a:ln>
                          <a:solidFill>
                            <a:prstClr val="black"/>
                          </a:solidFill>
                          <a:effectLst/>
                          <a:uLnTx/>
                          <a:uFillTx/>
                          <a:latin typeface="+mn-lt"/>
                          <a:ea typeface="PMingLiU"/>
                          <a:cs typeface="+mn-cs"/>
                        </a:rPr>
                        <a:t>resilience to disaster and climate risk</a:t>
                      </a:r>
                      <a:r>
                        <a:rPr kumimoji="0" lang="en-US" sz="900" b="0" i="0" u="none" strike="noStrike" kern="1200" cap="none" spc="0" normalizeH="0" baseline="0" noProof="0">
                          <a:ln>
                            <a:noFill/>
                          </a:ln>
                          <a:solidFill>
                            <a:prstClr val="black"/>
                          </a:solidFill>
                          <a:effectLst/>
                          <a:uLnTx/>
                          <a:uFillTx/>
                          <a:latin typeface="+mn-lt"/>
                          <a:ea typeface="PMingLiU"/>
                          <a:cs typeface="+mn-cs"/>
                        </a:rPr>
                        <a:t>, ease of doing business e.g., Issue of online trade license, automated building plan approval through provision of Common Application form under the Odisha Development Authorities Act (Common Application Form) Rules, (ODA, CAF Rules) 2016. &gt; 80% reduction in time to grant building permissions expected through Online Single Window Approval mechanism.</a:t>
                      </a:r>
                    </a:p>
                    <a:p>
                      <a:pPr marL="365760" marR="0" lvl="0" indent="-171450" algn="just"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IN" sz="900" kern="1200">
                          <a:solidFill>
                            <a:schemeClr val="tx1"/>
                          </a:solidFill>
                          <a:effectLst/>
                          <a:latin typeface="+mn-lt"/>
                          <a:ea typeface="Calibri" panose="020F0502020204030204" pitchFamily="34" charset="0"/>
                          <a:cs typeface="Arial" panose="020B0604020202020204" pitchFamily="34" charset="0"/>
                        </a:rPr>
                        <a:t>Introduction of common form for applying for </a:t>
                      </a:r>
                      <a:r>
                        <a:rPr lang="en-IN" sz="900" b="1" kern="1200">
                          <a:solidFill>
                            <a:schemeClr val="tx1"/>
                          </a:solidFill>
                          <a:effectLst/>
                          <a:latin typeface="+mn-lt"/>
                          <a:ea typeface="Calibri" panose="020F0502020204030204" pitchFamily="34" charset="0"/>
                          <a:cs typeface="Arial" panose="020B0604020202020204" pitchFamily="34" charset="0"/>
                        </a:rPr>
                        <a:t>climate resilient</a:t>
                      </a:r>
                      <a:r>
                        <a:rPr lang="en-IN" sz="900" kern="1200">
                          <a:solidFill>
                            <a:schemeClr val="tx1"/>
                          </a:solidFill>
                          <a:effectLst/>
                          <a:latin typeface="+mn-lt"/>
                          <a:ea typeface="Calibri" panose="020F0502020204030204" pitchFamily="34" charset="0"/>
                          <a:cs typeface="Arial" panose="020B0604020202020204" pitchFamily="34" charset="0"/>
                        </a:rPr>
                        <a:t> </a:t>
                      </a:r>
                      <a:r>
                        <a:rPr lang="en-IN" sz="900" b="1" kern="1200">
                          <a:solidFill>
                            <a:schemeClr val="tx1"/>
                          </a:solidFill>
                          <a:effectLst/>
                          <a:latin typeface="+mn-lt"/>
                          <a:ea typeface="Calibri" panose="020F0502020204030204" pitchFamily="34" charset="0"/>
                          <a:cs typeface="Arial" panose="020B0604020202020204" pitchFamily="34" charset="0"/>
                        </a:rPr>
                        <a:t>building plan approval</a:t>
                      </a:r>
                      <a:r>
                        <a:rPr lang="en-IN" sz="900" kern="1200">
                          <a:solidFill>
                            <a:schemeClr val="tx1"/>
                          </a:solidFill>
                          <a:effectLst/>
                          <a:latin typeface="+mn-lt"/>
                          <a:ea typeface="Calibri" panose="020F0502020204030204" pitchFamily="34" charset="0"/>
                          <a:cs typeface="Arial" panose="020B0604020202020204" pitchFamily="34" charset="0"/>
                        </a:rPr>
                        <a:t> across all development authorities for </a:t>
                      </a:r>
                      <a:r>
                        <a:rPr lang="en-IN" sz="900" b="1" kern="1200">
                          <a:solidFill>
                            <a:schemeClr val="tx1"/>
                          </a:solidFill>
                          <a:effectLst/>
                          <a:latin typeface="+mn-lt"/>
                          <a:ea typeface="Calibri" panose="020F0502020204030204" pitchFamily="34" charset="0"/>
                          <a:cs typeface="Arial" panose="020B0604020202020204" pitchFamily="34" charset="0"/>
                        </a:rPr>
                        <a:t>low risk buildings and buildings other than low risk</a:t>
                      </a:r>
                      <a:r>
                        <a:rPr lang="en-IN" sz="900" kern="1200">
                          <a:solidFill>
                            <a:schemeClr val="tx1"/>
                          </a:solidFill>
                          <a:effectLst/>
                          <a:latin typeface="+mn-lt"/>
                          <a:ea typeface="Calibri" panose="020F0502020204030204" pitchFamily="34" charset="0"/>
                          <a:cs typeface="Arial" panose="020B0604020202020204" pitchFamily="34" charset="0"/>
                        </a:rPr>
                        <a:t>. </a:t>
                      </a:r>
                      <a:endParaRPr kumimoji="0" lang="en-US" sz="900" b="0" i="0" u="none" strike="noStrike" kern="1200" cap="none" spc="0" normalizeH="0" baseline="0" noProof="0">
                        <a:ln>
                          <a:noFill/>
                        </a:ln>
                        <a:solidFill>
                          <a:prstClr val="black"/>
                        </a:solidFill>
                        <a:effectLst/>
                        <a:uLnTx/>
                        <a:uFillTx/>
                        <a:latin typeface="+mn-lt"/>
                        <a:ea typeface="PMingLiU"/>
                        <a:cs typeface="+mn-cs"/>
                      </a:endParaRPr>
                    </a:p>
                    <a:p>
                      <a:pPr marL="365760" marR="0" lvl="0" indent="-171450" algn="just"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n-lt"/>
                          <a:ea typeface="PMingLiU"/>
                          <a:cs typeface="+mn-cs"/>
                        </a:rPr>
                        <a:t>Strengthen urban administration in Odisha and institutional capacity of Directorate of Town Planning, Development Authorities and other parastatals</a:t>
                      </a:r>
                    </a:p>
                    <a:p>
                      <a:pPr marL="365760" marR="0" lvl="0" indent="-171450" algn="just"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n-lt"/>
                          <a:ea typeface="PMingLiU"/>
                          <a:cs typeface="+mn-cs"/>
                        </a:rPr>
                        <a:t>Providing support for preparation and notification of </a:t>
                      </a:r>
                      <a:r>
                        <a:rPr kumimoji="0" lang="en-US" sz="900" b="1" i="0" u="none" strike="noStrike" kern="1200" cap="none" spc="0" normalizeH="0" baseline="0" noProof="0">
                          <a:ln>
                            <a:noFill/>
                          </a:ln>
                          <a:solidFill>
                            <a:prstClr val="black"/>
                          </a:solidFill>
                          <a:effectLst/>
                          <a:uLnTx/>
                          <a:uFillTx/>
                          <a:latin typeface="+mn-lt"/>
                          <a:ea typeface="PMingLiU"/>
                          <a:cs typeface="+mn-cs"/>
                        </a:rPr>
                        <a:t>Planning and Building Standard Regulations </a:t>
                      </a:r>
                      <a:r>
                        <a:rPr kumimoji="0" lang="en-US" sz="900" b="0" i="0" u="none" strike="noStrike" kern="1200" cap="none" spc="0" normalizeH="0" baseline="0" noProof="0">
                          <a:ln>
                            <a:noFill/>
                          </a:ln>
                          <a:solidFill>
                            <a:prstClr val="black"/>
                          </a:solidFill>
                          <a:effectLst/>
                          <a:uLnTx/>
                          <a:uFillTx/>
                          <a:latin typeface="+mn-lt"/>
                          <a:ea typeface="PMingLiU"/>
                          <a:cs typeface="+mn-cs"/>
                        </a:rPr>
                        <a:t>for 8 Development Authorities of Odisha- including the coastal towns of Puri, Konark, Berhampur and </a:t>
                      </a:r>
                      <a:r>
                        <a:rPr kumimoji="0" lang="en-US" sz="900" b="0" i="0" u="none" strike="noStrike" kern="1200" cap="none" spc="0" normalizeH="0" baseline="0" noProof="0" err="1">
                          <a:ln>
                            <a:noFill/>
                          </a:ln>
                          <a:solidFill>
                            <a:prstClr val="black"/>
                          </a:solidFill>
                          <a:effectLst/>
                          <a:uLnTx/>
                          <a:uFillTx/>
                          <a:latin typeface="+mn-lt"/>
                          <a:ea typeface="PMingLiU"/>
                          <a:cs typeface="+mn-cs"/>
                        </a:rPr>
                        <a:t>Balasore</a:t>
                      </a:r>
                      <a:r>
                        <a:rPr kumimoji="0" lang="en-US" sz="900" b="0" i="0" u="none" strike="noStrike" kern="1200" cap="none" spc="0" normalizeH="0" baseline="0" noProof="0">
                          <a:ln>
                            <a:noFill/>
                          </a:ln>
                          <a:solidFill>
                            <a:prstClr val="black"/>
                          </a:solidFill>
                          <a:effectLst/>
                          <a:uLnTx/>
                          <a:uFillTx/>
                          <a:latin typeface="+mn-lt"/>
                          <a:ea typeface="PMingLiU"/>
                          <a:cs typeface="+mn-cs"/>
                        </a:rPr>
                        <a:t> for </a:t>
                      </a:r>
                      <a:r>
                        <a:rPr kumimoji="0" lang="en-US" sz="900" b="1" i="0" u="none" strike="noStrike" kern="1200" cap="none" spc="0" normalizeH="0" baseline="0" noProof="0">
                          <a:ln>
                            <a:noFill/>
                          </a:ln>
                          <a:solidFill>
                            <a:prstClr val="black"/>
                          </a:solidFill>
                          <a:effectLst/>
                          <a:uLnTx/>
                          <a:uFillTx/>
                          <a:latin typeface="+mn-lt"/>
                          <a:ea typeface="PMingLiU"/>
                          <a:cs typeface="+mn-cs"/>
                        </a:rPr>
                        <a:t>disaster resilient roads and health care facilities</a:t>
                      </a:r>
                    </a:p>
                    <a:p>
                      <a:pPr marL="365760" marR="0" lvl="0" indent="-171450" algn="just"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Detailed As Is assessment </a:t>
                      </a: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of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existing policy structure</a:t>
                      </a: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 and recommendation of reforms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disaster management</a:t>
                      </a: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 Solid Waste Management Byelaws, land rights to slum dwellers, performance-based grant mechanism, etc..) and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identified areas of required investment needs</a:t>
                      </a:r>
                      <a:endParaRPr lang="en-US" sz="900" b="1" kern="1200">
                        <a:solidFill>
                          <a:prstClr val="black"/>
                        </a:solidFill>
                        <a:latin typeface="+mn-lt"/>
                        <a:ea typeface="Verdana" panose="020B0604030504040204" pitchFamily="34" charset="0"/>
                        <a:cs typeface="+mn-cs"/>
                      </a:endParaRPr>
                    </a:p>
                    <a:p>
                      <a:pPr marL="365760" marR="0" lvl="0" indent="-171450" algn="just"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b="1" kern="1200">
                          <a:solidFill>
                            <a:prstClr val="black"/>
                          </a:solidFill>
                          <a:effectLst/>
                          <a:latin typeface="+mn-lt"/>
                          <a:ea typeface="Verdana" panose="020B0604030504040204" pitchFamily="34" charset="0"/>
                          <a:cs typeface="Arial" panose="020B0604020202020204" pitchFamily="34" charset="0"/>
                        </a:rPr>
                        <a:t>Provided </a:t>
                      </a:r>
                      <a:r>
                        <a:rPr lang="en-IN" sz="900" b="1" kern="1200">
                          <a:solidFill>
                            <a:schemeClr val="tx1"/>
                          </a:solidFill>
                          <a:effectLst/>
                          <a:latin typeface="+mn-lt"/>
                          <a:ea typeface="Calibri" panose="020F0502020204030204" pitchFamily="34" charset="0"/>
                          <a:cs typeface="Arial" panose="020B0604020202020204" pitchFamily="34" charset="0"/>
                        </a:rPr>
                        <a:t>Support for preparation and notification</a:t>
                      </a:r>
                      <a:r>
                        <a:rPr lang="en-IN" sz="900" kern="1200">
                          <a:solidFill>
                            <a:schemeClr val="tx1"/>
                          </a:solidFill>
                          <a:effectLst/>
                          <a:latin typeface="+mn-lt"/>
                          <a:ea typeface="Calibri" panose="020F0502020204030204" pitchFamily="34" charset="0"/>
                          <a:cs typeface="Arial" panose="020B0604020202020204" pitchFamily="34" charset="0"/>
                        </a:rPr>
                        <a:t> of Common Planning and Building Standard Rules for 67 special planning authorities and regional improvement trusts in the State to standardize planning and construction of different categories of buildings in the urban areas and </a:t>
                      </a:r>
                      <a:r>
                        <a:rPr lang="en-IN" sz="900" b="1" kern="1200">
                          <a:solidFill>
                            <a:schemeClr val="tx1"/>
                          </a:solidFill>
                          <a:effectLst/>
                          <a:latin typeface="+mn-lt"/>
                          <a:ea typeface="Calibri" panose="020F0502020204030204" pitchFamily="34" charset="0"/>
                          <a:cs typeface="Arial" panose="020B0604020202020204" pitchFamily="34" charset="0"/>
                        </a:rPr>
                        <a:t>integrate climate change adaptation for infrastructure development</a:t>
                      </a:r>
                      <a:endParaRPr lang="en-IN" sz="900" kern="1200">
                        <a:solidFill>
                          <a:schemeClr val="tx1"/>
                        </a:solidFill>
                        <a:effectLst/>
                        <a:latin typeface="+mn-lt"/>
                        <a:ea typeface="Calibri" panose="020F0502020204030204" pitchFamily="34" charset="0"/>
                        <a:cs typeface="Arial" panose="020B0604020202020204" pitchFamily="34" charset="0"/>
                      </a:endParaRPr>
                    </a:p>
                    <a:p>
                      <a:pPr marL="365760" marR="0" lvl="0" indent="-171450" algn="just"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Developed</a:t>
                      </a: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 online tool to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facilitate budget preparation </a:t>
                      </a: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for all ULBs in the state, with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monitoring dashboards to track status of data update by respective ULBs </a:t>
                      </a: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to facilitate timely closure of budgeting process; extensive capacity development support was provided to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guide ULBs in using the online tool for budget preparation</a:t>
                      </a:r>
                    </a:p>
                    <a:p>
                      <a:pPr marL="365760" marR="0" lvl="0" indent="-171450" algn="just"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Developed the Smart Water Information Management System for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monitoring the water supply performance </a:t>
                      </a: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of all urban local bodies</a:t>
                      </a:r>
                    </a:p>
                    <a:p>
                      <a:pPr marL="365760" marR="0" lvl="0" indent="-171450" algn="just"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Assisted in strengthening governance and enforcement mechanisms </a:t>
                      </a: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through the establishment of a dedicated e-governance cell, conducting monthly and quarterly reviews and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formation of data collection squads</a:t>
                      </a:r>
                    </a:p>
                    <a:p>
                      <a:pPr marL="96520" marR="0" lvl="0" indent="0" algn="l"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January</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2015;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December</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2018</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40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9</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266108412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3562470321"/>
              </p:ext>
            </p:extLst>
          </p:nvPr>
        </p:nvGraphicFramePr>
        <p:xfrm>
          <a:off x="517290" y="745905"/>
          <a:ext cx="11161565" cy="5870277"/>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Project Management Consultant for New Town Kolkata Green Smart City Corporation Limited</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New Town Kolkata Green Smart City Corporation Limited</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170928">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Deloitte has been engaged by the New Town Kolkata Green Smart City Corporation Limited, SPV,  to provide technical assistance and project management support for implementation of smart solutions with the underlying premise of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PMingLiU"/>
                          <a:cs typeface="+mn-cs"/>
                        </a:rPr>
                        <a:t>i</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improved quality of living, (ii)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enhanced mobility and connectivity</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(iii) increased safety &amp; security, (iv)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creating economic opportunities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and (v) formulation and support in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implementation of enabling policies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As a Project Management Consultant, Deloitte is supporting the Client to implement the SCP which includes area-based development and selected pan-city components covering a wide range of sectors like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Sustainable Energy Usage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Environment Management</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Emergency Services, Command Control Centre, e-Governance, Solid Waste Management ND Telemedicine etc.</a:t>
                      </a:r>
                    </a:p>
                    <a:p>
                      <a:pPr marL="96520"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key activities undertaken by the team include:</a:t>
                      </a:r>
                      <a:endParaRPr kumimoji="0" lang="en-IN"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65760" marR="0" lvl="1" indent="-173038" algn="just" defTabSz="914400" rtl="0" eaLnBrk="0" fontAlgn="base" latinLnBrk="0" hangingPunct="0">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Facilitating the development of New Town as a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climate responsive Urban Environment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in compliance with the parameters of the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“Climate Smart Cities Assessment Framework” </a:t>
                      </a:r>
                    </a:p>
                    <a:p>
                      <a:pPr marL="365760" marR="0" lvl="1" indent="-173038" algn="just" defTabSz="914400" rtl="0" eaLnBrk="0" fontAlgn="base" latinLnBrk="0" hangingPunct="0">
                        <a:lnSpc>
                          <a:spcPct val="100000"/>
                        </a:lnSpc>
                        <a:spcBef>
                          <a:spcPct val="0"/>
                        </a:spcBef>
                        <a:spcAft>
                          <a:spcPts val="400"/>
                        </a:spcAft>
                        <a:buClrTx/>
                        <a:buSzTx/>
                        <a:buFont typeface="Arial" panose="020B0604020202020204" pitchFamily="34" charset="0"/>
                        <a:buChar char="•"/>
                        <a:tabLst/>
                        <a:defRPr/>
                      </a:pPr>
                      <a:r>
                        <a:rPr kumimoji="0" lang="en-GB"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Design &amp; develop </a:t>
                      </a:r>
                      <a:r>
                        <a:rPr kumimoji="0" lang="en-GB"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initiatives to enhance the </a:t>
                      </a:r>
                      <a:r>
                        <a:rPr kumimoji="0" lang="en-GB"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green cover of the city </a:t>
                      </a:r>
                      <a:r>
                        <a:rPr kumimoji="0" lang="en-GB"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and partnering with local farmers, universities and research institutions for the implementation of the same.</a:t>
                      </a:r>
                      <a:endParaRPr kumimoji="0" lang="en-IN"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endParaRPr>
                    </a:p>
                    <a:p>
                      <a:pPr marL="365760" marR="0" lvl="1" indent="-173038" algn="just" defTabSz="914400" rtl="0" eaLnBrk="0" fontAlgn="base" latinLnBrk="0" hangingPunct="0">
                        <a:lnSpc>
                          <a:spcPct val="100000"/>
                        </a:lnSpc>
                        <a:spcBef>
                          <a:spcPct val="0"/>
                        </a:spcBef>
                        <a:spcAft>
                          <a:spcPts val="400"/>
                        </a:spcAft>
                        <a:buClrTx/>
                        <a:buSzTx/>
                        <a:buFont typeface="Arial" panose="020B0604020202020204" pitchFamily="34" charset="0"/>
                        <a:buChar char="•"/>
                        <a:tabLst/>
                        <a:defRPr/>
                      </a:pPr>
                      <a:r>
                        <a:rPr kumimoji="0" lang="en-GB"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Coordinating with different government departments like Pollution Control Board, local development and urban authorities, public health and engineering departments etc. to provide insights on Climate related benchmarks and </a:t>
                      </a:r>
                      <a:r>
                        <a:rPr kumimoji="0" lang="en-GB"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formulating a plan </a:t>
                      </a:r>
                      <a:r>
                        <a:rPr kumimoji="0" lang="en-GB"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for the improvement of ranking and score for New Town along with improving the </a:t>
                      </a:r>
                      <a:r>
                        <a:rPr kumimoji="0" lang="en-GB"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disaster resilience of the city infrastructures like roads, hospitals, etc,</a:t>
                      </a:r>
                    </a:p>
                    <a:p>
                      <a:pPr marL="365760" marR="0" lvl="1" indent="-173038" algn="just" defTabSz="914400" rtl="0" eaLnBrk="0" fontAlgn="base" latinLnBrk="0" hangingPunct="0">
                        <a:lnSpc>
                          <a:spcPct val="100000"/>
                        </a:lnSpc>
                        <a:spcBef>
                          <a:spcPct val="0"/>
                        </a:spcBef>
                        <a:spcAft>
                          <a:spcPts val="400"/>
                        </a:spcAft>
                        <a:buClrTx/>
                        <a:buSzTx/>
                        <a:buFont typeface="Arial" panose="020B0604020202020204" pitchFamily="34" charset="0"/>
                        <a:buChar char="•"/>
                        <a:tabLst/>
                        <a:defRPr/>
                      </a:pPr>
                      <a:r>
                        <a:rPr lang="en-US" sz="900">
                          <a:solidFill>
                            <a:prstClr val="black"/>
                          </a:solidFill>
                          <a:latin typeface="Verdana" panose="020B0604030504040204" pitchFamily="34" charset="0"/>
                          <a:ea typeface="PMingLiU"/>
                        </a:rPr>
                        <a:t>E</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PMingLiU"/>
                          <a:cs typeface="+mn-cs"/>
                        </a:rPr>
                        <a:t>ncouraging</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the development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Green Buildings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that at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IGBC</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or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LEEDS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accredited and Vertical City along with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disaster resilient roads, Non Motorized Transport, Solar Power, increasing Green Cover</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using technology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for enhanced energy saving and enabling carbon offset, to in order to ensure a better and sustainable quality of life for its citizens.</a:t>
                      </a:r>
                      <a:endParaRPr kumimoji="0" lang="en-GB"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endParaRPr>
                    </a:p>
                    <a:p>
                      <a:pPr marL="365760" marR="0" lvl="1" indent="-173038" algn="just" defTabSz="914400" rtl="0" eaLnBrk="0" fontAlgn="base" latinLnBrk="0" hangingPunct="0">
                        <a:lnSpc>
                          <a:spcPct val="100000"/>
                        </a:lnSpc>
                        <a:spcBef>
                          <a:spcPct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Prepared DPRs for implementation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environmentally sustainable public places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seismic resilient hospital</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buildings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and initiatives.</a:t>
                      </a:r>
                    </a:p>
                    <a:p>
                      <a:pPr marL="365760" marR="0" lvl="1" indent="-173038" algn="just" defTabSz="914400" rtl="0" eaLnBrk="0" fontAlgn="base" latinLnBrk="0" hangingPunct="0">
                        <a:lnSpc>
                          <a:spcPct val="100000"/>
                        </a:lnSpc>
                        <a:spcBef>
                          <a:spcPct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Conceptualized interventions to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rejuvenate and revitalize the water resources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of the city such as canals and ensure that they become a hub of economic activity and recreation. </a:t>
                      </a:r>
                    </a:p>
                    <a:p>
                      <a:pPr marL="365760" marR="0" lvl="1" indent="-173038" algn="just" defTabSz="914400" rtl="0" eaLnBrk="0" fontAlgn="base" latinLnBrk="0" hangingPunct="0">
                        <a:lnSpc>
                          <a:spcPct val="100000"/>
                        </a:lnSpc>
                        <a:spcBef>
                          <a:spcPct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Developed of integrated sustainable projects such as retrofitting buildings with solar panels,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PMingLiU"/>
                          <a:cs typeface="+mn-cs"/>
                        </a:rPr>
                        <a:t>greenwalls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and rainwater harvesting and recycling</a:t>
                      </a:r>
                    </a:p>
                    <a:p>
                      <a:pPr marL="365760" marR="0" lvl="1" indent="-173038" algn="just" defTabSz="914400" rtl="0" eaLnBrk="0" fontAlgn="base" latinLnBrk="0" hangingPunct="0">
                        <a:lnSpc>
                          <a:spcPct val="100000"/>
                        </a:lnSpc>
                        <a:spcBef>
                          <a:spcPct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Facilitated the development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sustainable urban infrastructure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such as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roads,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public bicycle sharing, electric buses, solar stud lights, barrier free pedestrian and cycling footpath,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PMingLiU"/>
                          <a:cs typeface="+mn-cs"/>
                        </a:rPr>
                        <a:t>LoRaWAN</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based streetlights etc.</a:t>
                      </a:r>
                    </a:p>
                    <a:p>
                      <a:pPr marL="365760" marR="0" lvl="1" indent="-173038" algn="just" defTabSz="914400" rtl="0" eaLnBrk="0" fontAlgn="base" latinLnBrk="0" hangingPunct="0">
                        <a:lnSpc>
                          <a:spcPct val="100000"/>
                        </a:lnSpc>
                        <a:spcBef>
                          <a:spcPct val="0"/>
                        </a:spcBef>
                        <a:spcAft>
                          <a:spcPts val="40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Developed plan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for the recycling of compost from community markets and partnering with local businesses for the usage of the same in local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climate friendly initiatives</a:t>
                      </a:r>
                    </a:p>
                    <a:p>
                      <a:pPr marL="365760" marR="0" lvl="1" indent="-173038" algn="just" defTabSz="914400" rtl="0" eaLnBrk="0" fontAlgn="base" latinLnBrk="0" hangingPunct="0">
                        <a:lnSpc>
                          <a:spcPct val="100000"/>
                        </a:lnSpc>
                        <a:spcBef>
                          <a:spcPct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Assessed the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existing baseline/ as-is analysis for the identified project modules and prioritized the investment needs</a:t>
                      </a:r>
                    </a:p>
                    <a:p>
                      <a:pPr marL="365760" marR="0" lvl="1" indent="-173038" algn="just" defTabSz="914400" rtl="0" eaLnBrk="0" fontAlgn="base" latinLnBrk="0" hangingPunct="0">
                        <a:lnSpc>
                          <a:spcPct val="100000"/>
                        </a:lnSpc>
                        <a:spcBef>
                          <a:spcPct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Gap assessment for the identified project modules and defining ICT projects/ smart solutions for addressing the same</a:t>
                      </a:r>
                    </a:p>
                    <a:p>
                      <a:pPr marL="365760" marR="0" lvl="1" indent="-173038" algn="just" defTabSz="914400" rtl="0" eaLnBrk="0" fontAlgn="base" latinLnBrk="0" hangingPunct="0">
                        <a:lnSpc>
                          <a:spcPct val="100000"/>
                        </a:lnSpc>
                        <a:spcBef>
                          <a:spcPct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The project also included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building the capacity of the SPV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through development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Standard Operating Procedures, Training Plans and impart of training for officials</a:t>
                      </a:r>
                      <a:endParaRPr lang="es-MX" sz="1000">
                        <a:solidFill>
                          <a:schemeClr val="tx1"/>
                        </a:solidFill>
                        <a:effectLst/>
                        <a:latin typeface="Verdana" panose="020B0604030504040204" pitchFamily="34" charset="0"/>
                      </a:endParaRPr>
                    </a:p>
                    <a:p>
                      <a:pPr marL="96520" marR="0" lvl="0" indent="0" algn="l"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July</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2019;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Ongoing</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(June 2024)</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22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900" b="1">
                <a:solidFill>
                  <a:prstClr val="white"/>
                </a:solidFill>
                <a:latin typeface="Verdana"/>
              </a:rPr>
              <a:t>10</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19501916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1498517123"/>
              </p:ext>
            </p:extLst>
          </p:nvPr>
        </p:nvGraphicFramePr>
        <p:xfrm>
          <a:off x="517290" y="745905"/>
          <a:ext cx="11161565" cy="4627201"/>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Planning plantations: Past learning, toward triple wins in carbon, biodiversity and livelihoods</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National Academy of Sciences, (USAID)</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Project Partners: University of </a:t>
                      </a:r>
                      <a:r>
                        <a:rPr lang="en-US" sz="1000" b="0" err="1">
                          <a:solidFill>
                            <a:schemeClr val="bg1"/>
                          </a:solidFill>
                          <a:effectLst/>
                          <a:latin typeface="Verdana" panose="020B0604030504040204" pitchFamily="34" charset="0"/>
                          <a:ea typeface="+mn-ea"/>
                          <a:cs typeface="Times New Roman" panose="02020603050405020304" pitchFamily="18" charset="0"/>
                        </a:rPr>
                        <a:t>Minessota</a:t>
                      </a:r>
                      <a:r>
                        <a:rPr lang="en-US" sz="1000" b="0">
                          <a:solidFill>
                            <a:schemeClr val="bg1"/>
                          </a:solidFill>
                          <a:effectLst/>
                          <a:latin typeface="Verdana" panose="020B0604030504040204" pitchFamily="34" charset="0"/>
                          <a:ea typeface="+mn-ea"/>
                          <a:cs typeface="Times New Roman" panose="02020603050405020304" pitchFamily="18" charset="0"/>
                        </a:rPr>
                        <a:t>, U.S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170928">
                <a:tc>
                  <a:txBody>
                    <a:bodyPr/>
                    <a:lstStyle/>
                    <a:p>
                      <a:pPr marL="96520" marR="0" lvl="0" indent="0" algn="l" defTabSz="914400" rtl="0" eaLnBrk="1" fontAlgn="auto" latinLnBrk="0" hangingPunct="1">
                        <a:lnSpc>
                          <a:spcPct val="115000"/>
                        </a:lnSpc>
                        <a:spcBef>
                          <a:spcPts val="400"/>
                        </a:spcBef>
                        <a:spcAft>
                          <a:spcPts val="400"/>
                        </a:spcAft>
                        <a:buClrTx/>
                        <a:buSzTx/>
                        <a:buFontTx/>
                        <a:buNone/>
                        <a:tabLst/>
                        <a:defRPr/>
                      </a:pPr>
                      <a:endParaRPr kumimoji="0" lang="en-US" sz="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96520" marR="0" lvl="0" indent="0" algn="just" defTabSz="914400" rtl="0" eaLnBrk="1" fontAlgn="auto" latinLnBrk="0" hangingPunct="1">
                        <a:lnSpc>
                          <a:spcPct val="114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This project addressed an important research gap by assessing the success of afforestation projects against the three intended goals of forest carbon storage, ecosystem health and ecosystem services for rural livelihoods. It provided important data on carbon and biodiversity in plantations of multiple age cohorts in diverse ecological types, and developed methodological innovations for analysis of carbon storage, biodiversity, and the relationships to land cover and livelihoods. These sites were mostly pine dominated and witnesses fire incidents during summers (April-May) of every year. Policy recommendations to manage such areas has been an outcome of the projects along with addressing the project objectives</a:t>
                      </a:r>
                    </a:p>
                    <a:p>
                      <a:pPr marL="233363" marR="0" lvl="0" indent="-171450" algn="just"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endParaRPr kumimoji="0" lang="en-IN"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60325" marR="0" lvl="1" indent="1588" algn="just" defTabSz="914400" rtl="0" eaLnBrk="1" fontAlgn="base"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CEDAR were:</a:t>
                      </a:r>
                    </a:p>
                    <a:p>
                      <a:pPr marL="365760" marR="0" lvl="0" indent="-173038"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Estimation of the standing tree and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soil carbon status of forest plantations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established between 1985 and 2015 in different altitudinal and ecological zones in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Kangra</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district in the Indian Himalayan state of Himachal Pradesh. We selected a stratified random sample of the plantations identified by Dr. Fleischman’s  team, and to measure soil and tree carbon status in plots. In addition to measuring carbon storage, we also measured the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availability of biomass for firewood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and fodder, the two most important forest products used by local people.</a:t>
                      </a:r>
                    </a:p>
                    <a:p>
                      <a:pPr marL="365760" marR="0" lvl="0" indent="-1714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We measured biodiversity of mushrooms and trees in the selected plots.</a:t>
                      </a:r>
                    </a:p>
                    <a:p>
                      <a:pPr marL="365760" marR="0" lvl="0" indent="-1714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We also examined the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relationship between carbon storage, biodiversity, rural livelihoods, and land cover change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t>
                      </a:r>
                    </a:p>
                    <a:p>
                      <a:pPr marL="365760" marR="0" lvl="0" indent="-1714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Stakeholder engagement and workshop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was conducted to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identify social and policy condi</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tions that can contribute to plantations that most fully realize triple wins: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storing carbon,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increasing biodiversity, and improving rural livelihoods, and publicize these conditions to organizations that are involved in planning and funding plantations.</a:t>
                      </a:r>
                    </a:p>
                    <a:p>
                      <a:pPr marL="96520" marR="0" lvl="0" indent="0" algn="l"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L="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2019;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2022</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0.56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CEDAR</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900" b="1">
                <a:solidFill>
                  <a:prstClr val="white"/>
                </a:solidFill>
                <a:latin typeface="Verdana"/>
              </a:rPr>
              <a:t>11</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404764513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771396089"/>
              </p:ext>
            </p:extLst>
          </p:nvPr>
        </p:nvGraphicFramePr>
        <p:xfrm>
          <a:off x="517290" y="745905"/>
          <a:ext cx="11161565" cy="4554049"/>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Consultancy services for preparation of e-Governance Master Plan for Department of Forest Wildlife &amp; Preservation, Punjab </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Department of Forest Wildlife &amp; Preservation, Punjab </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170928">
                <a:tc>
                  <a:txBody>
                    <a:bodyPr/>
                    <a:lstStyle/>
                    <a:p>
                      <a:pPr marL="96520" marR="0" lvl="0" indent="0" algn="l" defTabSz="914400" rtl="0" eaLnBrk="1" fontAlgn="auto" latinLnBrk="0" hangingPunct="1">
                        <a:lnSpc>
                          <a:spcPct val="115000"/>
                        </a:lnSpc>
                        <a:spcBef>
                          <a:spcPts val="400"/>
                        </a:spcBef>
                        <a:spcAft>
                          <a:spcPts val="400"/>
                        </a:spcAft>
                        <a:buClrTx/>
                        <a:buSzTx/>
                        <a:buFontTx/>
                        <a:buNone/>
                        <a:tabLst/>
                        <a:defRPr/>
                      </a:pPr>
                      <a:endParaRPr kumimoji="0" lang="en-US" sz="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118872"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118872"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a:ln>
                            <a:noFill/>
                          </a:ln>
                          <a:solidFill>
                            <a:prstClr val="black"/>
                          </a:solidFill>
                          <a:effectLst/>
                          <a:uLnTx/>
                          <a:uFillTx/>
                          <a:latin typeface="Verdana" panose="020B0604030504040204" pitchFamily="34" charset="0"/>
                          <a:ea typeface="Verdana" panose="020B0604030504040204" pitchFamily="34" charset="0"/>
                          <a:cs typeface="+mn-cs"/>
                        </a:rPr>
                        <a:t>The Department of Forest Wildlife &amp; Preservation intends to introduce automation and e‐ Governance by leveraging ICT to streamline and improve upon its functioning in order to bring efficiency, transparency and accountability</a:t>
                      </a:r>
                      <a:endParaRPr kumimoji="0" lang="en-IN" sz="900" b="0" i="0" u="none" strike="noStrike" kern="1200" cap="none" spc="0" normalizeH="0" baseline="0">
                        <a:ln>
                          <a:noFill/>
                        </a:ln>
                        <a:solidFill>
                          <a:prstClr val="black"/>
                        </a:solidFill>
                        <a:effectLst/>
                        <a:uLnTx/>
                        <a:uFillTx/>
                        <a:latin typeface="Verdana" panose="020B0604030504040204" pitchFamily="34" charset="0"/>
                        <a:ea typeface="Verdana" panose="020B0604030504040204" pitchFamily="34" charset="0"/>
                        <a:cs typeface="+mn-cs"/>
                      </a:endParaRPr>
                    </a:p>
                    <a:p>
                      <a:pPr marL="118872"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0" i="0" u="none" strike="noStrike" kern="1200" cap="none" spc="0" normalizeH="0" baseline="0">
                        <a:ln>
                          <a:noFill/>
                        </a:ln>
                        <a:solidFill>
                          <a:prstClr val="black"/>
                        </a:solidFill>
                        <a:effectLst/>
                        <a:uLnTx/>
                        <a:uFillTx/>
                        <a:latin typeface="Verdana" panose="020B0604030504040204" pitchFamily="34" charset="0"/>
                        <a:ea typeface="Verdana" panose="020B0604030504040204" pitchFamily="34" charset="0"/>
                        <a:cs typeface="+mn-cs"/>
                      </a:endParaRPr>
                    </a:p>
                    <a:p>
                      <a:pPr marL="118872"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a:ln>
                            <a:noFill/>
                          </a:ln>
                          <a:solidFill>
                            <a:prstClr val="black"/>
                          </a:solidFill>
                          <a:effectLst/>
                          <a:uLnTx/>
                          <a:uFillTx/>
                          <a:latin typeface="Verdana" panose="020B0604030504040204" pitchFamily="34" charset="0"/>
                          <a:ea typeface="Verdana" panose="020B0604030504040204" pitchFamily="34" charset="0"/>
                          <a:cs typeface="+mn-cs"/>
                        </a:rPr>
                        <a:t>The key values delivered by Deloitte included:</a:t>
                      </a:r>
                    </a:p>
                    <a:p>
                      <a:pPr marL="365760" lvl="0" indent="-171450" algn="just">
                        <a:lnSpc>
                          <a:spcPct val="150000"/>
                        </a:lnSpc>
                        <a:buFont typeface="Arial" panose="020B0604020202020204" pitchFamily="34" charset="0"/>
                        <a:buChar char="•"/>
                      </a:pPr>
                      <a:r>
                        <a:rPr lang="en-US" sz="9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Study </a:t>
                      </a:r>
                      <a:r>
                        <a:rPr lang="en-US" sz="900" b="1">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organization structure</a:t>
                      </a:r>
                      <a:r>
                        <a:rPr lang="en-US" sz="9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 </a:t>
                      </a:r>
                      <a:r>
                        <a:rPr lang="en-US" sz="900" b="1">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existing technology, policies, laws</a:t>
                      </a:r>
                      <a:r>
                        <a:rPr lang="en-US" sz="9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 functions and services and processes for </a:t>
                      </a:r>
                      <a:r>
                        <a:rPr lang="en-US" sz="900" b="1">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wildlife and forest management</a:t>
                      </a:r>
                      <a:endParaRPr lang="en-IN" sz="900" b="1">
                        <a:effectLst/>
                        <a:latin typeface="Times New Roman" panose="02020603050405020304" pitchFamily="18" charset="0"/>
                        <a:ea typeface="Times New Roman" panose="02020603050405020304" pitchFamily="18" charset="0"/>
                        <a:cs typeface="Times New Roman" panose="02020603050405020304" pitchFamily="18" charset="0"/>
                      </a:endParaRPr>
                    </a:p>
                    <a:p>
                      <a:pPr marL="365760" lvl="0" indent="-171450" algn="just">
                        <a:lnSpc>
                          <a:spcPct val="150000"/>
                        </a:lnSpc>
                        <a:buFont typeface="Arial" panose="020B0604020202020204" pitchFamily="34" charset="0"/>
                        <a:buChar char="•"/>
                      </a:pPr>
                      <a:r>
                        <a:rPr lang="en-US" sz="9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Study the </a:t>
                      </a:r>
                      <a:r>
                        <a:rPr lang="en-US" sz="900" b="1">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existing IT infrastructure</a:t>
                      </a:r>
                      <a:endParaRPr lang="en-IN" sz="900">
                        <a:effectLst/>
                        <a:latin typeface="Times New Roman" panose="02020603050405020304" pitchFamily="18" charset="0"/>
                        <a:ea typeface="Times New Roman" panose="02020603050405020304" pitchFamily="18" charset="0"/>
                        <a:cs typeface="Times New Roman" panose="02020603050405020304" pitchFamily="18" charset="0"/>
                      </a:endParaRPr>
                    </a:p>
                    <a:p>
                      <a:pPr marL="365760" lvl="0" indent="-171450" algn="just">
                        <a:lnSpc>
                          <a:spcPct val="150000"/>
                        </a:lnSpc>
                        <a:buFont typeface="Arial" panose="020B0604020202020204" pitchFamily="34" charset="0"/>
                        <a:buChar char="•"/>
                      </a:pPr>
                      <a:r>
                        <a:rPr lang="en-US" sz="9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Study of </a:t>
                      </a:r>
                      <a:r>
                        <a:rPr lang="en-US" sz="900" b="1">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National &amp; International Best Practices</a:t>
                      </a:r>
                      <a:r>
                        <a:rPr lang="en-US" sz="9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 </a:t>
                      </a:r>
                      <a:endParaRPr lang="en-IN" sz="900">
                        <a:effectLst/>
                        <a:latin typeface="Times New Roman" panose="02020603050405020304" pitchFamily="18" charset="0"/>
                        <a:ea typeface="Times New Roman" panose="02020603050405020304" pitchFamily="18" charset="0"/>
                        <a:cs typeface="Times New Roman" panose="02020603050405020304" pitchFamily="18" charset="0"/>
                      </a:endParaRPr>
                    </a:p>
                    <a:p>
                      <a:pPr marL="365760" lvl="0" indent="-171450" algn="just">
                        <a:lnSpc>
                          <a:spcPct val="150000"/>
                        </a:lnSpc>
                        <a:buFont typeface="Arial" panose="020B0604020202020204" pitchFamily="34" charset="0"/>
                        <a:buChar char="•"/>
                      </a:pPr>
                      <a:r>
                        <a:rPr lang="en-US" sz="9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Study </a:t>
                      </a:r>
                      <a:r>
                        <a:rPr lang="en-US" sz="900" b="1">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Existing processes and Design To</a:t>
                      </a:r>
                      <a:r>
                        <a:rPr lang="en-US" sz="900" b="1">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a:t>‐</a:t>
                      </a:r>
                      <a:r>
                        <a:rPr lang="en-US" sz="900" b="1">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Be processes</a:t>
                      </a:r>
                      <a:endParaRPr lang="en-IN" sz="900">
                        <a:effectLst/>
                        <a:latin typeface="Times New Roman" panose="02020603050405020304" pitchFamily="18" charset="0"/>
                        <a:ea typeface="Times New Roman" panose="02020603050405020304" pitchFamily="18" charset="0"/>
                        <a:cs typeface="Times New Roman" panose="02020603050405020304" pitchFamily="18" charset="0"/>
                      </a:endParaRPr>
                    </a:p>
                    <a:p>
                      <a:pPr marL="365760" lvl="0" indent="-171450" algn="just">
                        <a:lnSpc>
                          <a:spcPct val="150000"/>
                        </a:lnSpc>
                        <a:buFont typeface="Arial" panose="020B0604020202020204" pitchFamily="34" charset="0"/>
                        <a:buChar char="•"/>
                      </a:pPr>
                      <a:r>
                        <a:rPr lang="en-US" sz="9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Document the functions/ services/ processes for improvement, automation/ IT enablement and </a:t>
                      </a:r>
                      <a:r>
                        <a:rPr lang="en-US" sz="900" b="1">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Government Process Reengineering (GPR</a:t>
                      </a:r>
                      <a:r>
                        <a:rPr lang="en-US" sz="9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 for speedy, efficient, transparent and accountable system</a:t>
                      </a:r>
                      <a:endParaRPr lang="en-IN" sz="900">
                        <a:effectLst/>
                        <a:latin typeface="Times New Roman" panose="02020603050405020304" pitchFamily="18" charset="0"/>
                        <a:ea typeface="Times New Roman" panose="02020603050405020304" pitchFamily="18" charset="0"/>
                        <a:cs typeface="Times New Roman" panose="02020603050405020304" pitchFamily="18" charset="0"/>
                      </a:endParaRPr>
                    </a:p>
                    <a:p>
                      <a:pPr marL="365760" lvl="0" indent="-171450" algn="just">
                        <a:lnSpc>
                          <a:spcPct val="150000"/>
                        </a:lnSpc>
                        <a:buFont typeface="Arial" panose="020B0604020202020204" pitchFamily="34" charset="0"/>
                        <a:buChar char="•"/>
                      </a:pPr>
                      <a:r>
                        <a:rPr lang="en-US" sz="9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Prepare </a:t>
                      </a:r>
                      <a:r>
                        <a:rPr lang="en-US" sz="900" b="1">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Business model and continuity plan </a:t>
                      </a:r>
                      <a:r>
                        <a:rPr lang="en-US" sz="9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to ensure sustainable implementation, study existing transaction volumes and model for designing PPP options based on user charges</a:t>
                      </a:r>
                      <a:endParaRPr lang="en-IN" sz="900">
                        <a:effectLst/>
                        <a:latin typeface="Times New Roman" panose="02020603050405020304" pitchFamily="18" charset="0"/>
                        <a:ea typeface="Times New Roman" panose="02020603050405020304" pitchFamily="18" charset="0"/>
                        <a:cs typeface="Times New Roman" panose="02020603050405020304" pitchFamily="18" charset="0"/>
                      </a:endParaRPr>
                    </a:p>
                    <a:p>
                      <a:pPr marL="365760" lvl="0" indent="-171450" algn="just">
                        <a:lnSpc>
                          <a:spcPct val="150000"/>
                        </a:lnSpc>
                        <a:buFont typeface="Arial" panose="020B0604020202020204" pitchFamily="34" charset="0"/>
                        <a:buChar char="•"/>
                      </a:pPr>
                      <a:r>
                        <a:rPr lang="en-US" sz="9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Define scope and framework </a:t>
                      </a:r>
                      <a:r>
                        <a:rPr lang="en-US" sz="900" b="1">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of legal, regulatory and statutory reform</a:t>
                      </a:r>
                      <a:r>
                        <a:rPr lang="en-US" sz="9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s required to be put in place.</a:t>
                      </a:r>
                      <a:endParaRPr lang="en-IN" sz="900">
                        <a:effectLst/>
                        <a:latin typeface="Times New Roman" panose="02020603050405020304" pitchFamily="18" charset="0"/>
                        <a:ea typeface="Times New Roman" panose="02020603050405020304" pitchFamily="18" charset="0"/>
                        <a:cs typeface="Times New Roman" panose="02020603050405020304" pitchFamily="18" charset="0"/>
                      </a:endParaRPr>
                    </a:p>
                    <a:p>
                      <a:pPr marL="365760" lvl="0" indent="-171450" algn="just">
                        <a:lnSpc>
                          <a:spcPct val="150000"/>
                        </a:lnSpc>
                        <a:buFont typeface="Arial" panose="020B0604020202020204" pitchFamily="34" charset="0"/>
                        <a:buChar char="•"/>
                      </a:pPr>
                      <a:r>
                        <a:rPr lang="en-US" sz="900" b="1">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Prepare Detailed Project Report (DPR) for e</a:t>
                      </a:r>
                      <a:r>
                        <a:rPr lang="en-US" sz="900" b="1">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a:t>‐</a:t>
                      </a:r>
                      <a:r>
                        <a:rPr lang="en-US" sz="900" b="1">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Governance implementation in the department</a:t>
                      </a:r>
                      <a:endParaRPr lang="en-IN" sz="900" b="1">
                        <a:latin typeface="Times New Roman" panose="02020603050405020304" pitchFamily="18" charset="0"/>
                        <a:ea typeface="Times New Roman" panose="02020603050405020304" pitchFamily="18" charset="0"/>
                        <a:cs typeface="Times New Roman" panose="02020603050405020304" pitchFamily="18" charset="0"/>
                      </a:endParaRPr>
                    </a:p>
                    <a:p>
                      <a:pPr marL="365760" lvl="0" indent="-171450" algn="just">
                        <a:lnSpc>
                          <a:spcPct val="150000"/>
                        </a:lnSpc>
                        <a:buFont typeface="Arial" panose="020B0604020202020204" pitchFamily="34" charset="0"/>
                        <a:buChar char="•"/>
                      </a:pPr>
                      <a:r>
                        <a:rPr lang="en-US" sz="9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Prepare </a:t>
                      </a:r>
                      <a:r>
                        <a:rPr lang="en-US" sz="900" b="1">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RFP &amp; related documents required for selecting Implementing Agency</a:t>
                      </a:r>
                      <a:endParaRPr lang="en-US" sz="900" b="1"/>
                    </a:p>
                    <a:p>
                      <a:pPr marL="96520" marR="0" lvl="0" indent="0" algn="l"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Decemeber</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2009;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December</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2015</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0.52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900" b="1">
                <a:solidFill>
                  <a:prstClr val="white"/>
                </a:solidFill>
                <a:latin typeface="Verdana"/>
              </a:rPr>
              <a:t>12</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355381999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3524929759"/>
              </p:ext>
            </p:extLst>
          </p:nvPr>
        </p:nvGraphicFramePr>
        <p:xfrm>
          <a:off x="517290" y="745905"/>
          <a:ext cx="11161565" cy="5814397"/>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Smart Cities Mission Management Unit (MMU) for assisting the Ministry of Housing &amp; Urban Affairs (</a:t>
                      </a:r>
                      <a:r>
                        <a:rPr lang="en-US" sz="1200" b="1" err="1">
                          <a:solidFill>
                            <a:schemeClr val="bg1"/>
                          </a:solidFill>
                          <a:effectLst/>
                          <a:latin typeface="Verdana" panose="020B0604030504040204" pitchFamily="34" charset="0"/>
                          <a:ea typeface="+mn-ea"/>
                          <a:cs typeface="Times New Roman" panose="02020603050405020304" pitchFamily="18" charset="0"/>
                        </a:rPr>
                        <a:t>MoHUA</a:t>
                      </a:r>
                      <a:r>
                        <a:rPr lang="en-US" sz="1200" b="1">
                          <a:solidFill>
                            <a:schemeClr val="bg1"/>
                          </a:solidFill>
                          <a:effectLst/>
                          <a:latin typeface="Verdana" panose="020B0604030504040204" pitchFamily="34" charset="0"/>
                          <a:ea typeface="+mn-ea"/>
                          <a:cs typeface="Times New Roman" panose="02020603050405020304" pitchFamily="18" charset="0"/>
                        </a:rPr>
                        <a:t>) to support the roll-out, execution, oversee, monitor and build capacities of Mission</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Ministry of Housing &amp; Urban Affairs, Government of India</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170928">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endParaRPr kumimoji="0" lang="en-US" sz="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118872"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128016"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Deloitte is the Mission Management Unit for the Smart Cities Mission being implemented by the Ministry of Housing &amp; Urban Affairs, Government of India covering 100 cities. It involves working closely with the Smart City Mission Directorate, Ministry of Housing &amp; Urban Affairs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MoHUA</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for providing technical assistance to them for effective implementation, monitoring and evaluation of technical activities. It also includes providing technical advice to the cities so that the Smart Cities Mission objectives are accomplished, projects are executed, and capacities are institutionalized</a:t>
                      </a:r>
                      <a:r>
                        <a:rPr kumimoji="0" lang="en-IN"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t>
                      </a:r>
                    </a:p>
                    <a:p>
                      <a:pPr marL="118872"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118872"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Deloitte were:</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Supporting the national mission directorate of Smart Cities Mission in periodic monitoring of the implementation of smart city projects across 100 cities in India</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Review and assessment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of Area Based Development and Pan City initiatives from Smart City Plans</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Review of Pune urban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street design guidelines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with emphasis on the development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disaster resilient city roads and associated infrastructure</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Develop list of projects relating to provision of core infrastructure under Smart Cities Mission under convergence that can catalyze financing from various national and central government schemes</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Developing</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effective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financing strategies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identifying investment needs, bankable projects and innovative mechanisms like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Value Capture Financing</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Climate financing</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Green Bonds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Municipal Bonds etc.</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Preparation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environmentally sustainable guidelines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for developing PPP framework for taking up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green projects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in different sectors; and Formulating case studies for undertaking projects in PPP</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Technical support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in the field of Project Management, Finance,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Institutional Development</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Climate resilience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seismic resilient Infrastructure Development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like healthcare facilities, roads, water supply, sewerage, drainage, procurement processes, solid waste management, urban transportation,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sustainable infrastructure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environment and social development, etc.</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Undertake capacity assessment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at all levels and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assist in filling the capacity gaps through training, knowledge dissemination and fostering best practices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Training and Capacity Building initiatives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of Smart Cities Mission Directorate for Smart City SPVs and Project Management Consultants. Launched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National Urban Learning Platform (NULP)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for digitization of all learning resources available to staff of ULBs and Smart City SPV. </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MMU has been instrumental in filling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capacity gaps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within the SPVs of 100 Smart Cities by providing support in deployment of interns – TULIP program</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Facilitating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PMingLiU"/>
                          <a:cs typeface="+mn-cs"/>
                        </a:rPr>
                        <a:t>MoHUA</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in guidelines, primer, toolkits including (a)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Climate Smart Cities Assessment Framework</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(b)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Complete Streets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(c)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Form Based codes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(d) Policy on Infant, Toddler,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Caregiver-friendly Neighborhood</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(e) Data Maturity Assessment Framework, (f)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Transport4All Challenge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(g)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Cycles4All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and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Street4People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Challenges, etc. </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Compilation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best-practice document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and conduct of Webinar sessions for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capacity building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among Municipal authorities on COVID-19 response</a:t>
                      </a:r>
                    </a:p>
                    <a:p>
                      <a:pPr marL="96520" marR="0" lvl="0" indent="0" algn="l"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January</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2017;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Ongoing</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(June 2024)</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26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900" b="1">
                <a:solidFill>
                  <a:prstClr val="white"/>
                </a:solidFill>
                <a:latin typeface="Verdana"/>
              </a:rPr>
              <a:t>13</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257597121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1183033734"/>
              </p:ext>
            </p:extLst>
          </p:nvPr>
        </p:nvGraphicFramePr>
        <p:xfrm>
          <a:off x="517290" y="745905"/>
          <a:ext cx="11161565" cy="5008582"/>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Feasibility analysis, project structuring, Strategy Development and implementation of two super specialty hospitals in NCT Delhi on PPP basis </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Health &amp; Family Welfare Department, GNCTD</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170928">
                <a:tc>
                  <a:txBody>
                    <a:bodyPr/>
                    <a:lstStyle/>
                    <a:p>
                      <a:pPr marL="118872" marR="0" lvl="0" indent="0" algn="just" defTabSz="914400" rtl="0" eaLnBrk="1" fontAlgn="auto" latinLnBrk="0" hangingPunct="1">
                        <a:lnSpc>
                          <a:spcPct val="115000"/>
                        </a:lnSpc>
                        <a:spcBef>
                          <a:spcPts val="0"/>
                        </a:spcBef>
                        <a:spcAft>
                          <a:spcPts val="0"/>
                        </a:spcAft>
                        <a:buClrTx/>
                        <a:buSzTx/>
                        <a:buFontTx/>
                        <a:buNone/>
                        <a:tabLst/>
                        <a:defRPr/>
                      </a:pPr>
                      <a:endParaRPr kumimoji="0" lang="en-US" sz="3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118872"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118872"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a:ln>
                            <a:noFill/>
                          </a:ln>
                          <a:solidFill>
                            <a:prstClr val="black"/>
                          </a:solidFill>
                          <a:effectLst/>
                          <a:uLnTx/>
                          <a:uFillTx/>
                          <a:latin typeface="Verdana" panose="020B0604030504040204" pitchFamily="34" charset="0"/>
                          <a:ea typeface="Verdana" panose="020B0604030504040204" pitchFamily="34" charset="0"/>
                          <a:cs typeface="+mn-cs"/>
                        </a:rPr>
                        <a:t>Department of Health &amp; Family Welfare, Government of National Capital Territory of Delhi (GNCTD) wished to hire a consultant for conducting a feasibility analysis, project structuring, strategy development and implementation for two super specialty hospitals in NCT Delhi on PPP basis.  The project included preparation of feasibility report for two hospital projects (Rajiv Gandhi Super Specialty Hospital – a 650 bed super specialty hospital &amp; Janakpuri Super Specialty Hospital – a 300 bed super specialty hospital) and determination of possible PPP options &amp; recommendations regarding preferred PPP models.  The broad scope of work included Techno-economic Feasibility Assessment, Project Structuring &amp; Risk Assessment and Bid Process Management.</a:t>
                      </a:r>
                    </a:p>
                    <a:p>
                      <a:pPr marL="118872"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118872"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lvl="0" indent="-171450" algn="just" fontAlgn="base">
                        <a:lnSpc>
                          <a:spcPct val="107000"/>
                        </a:lnSpc>
                        <a:buSzPts val="1000"/>
                        <a:buFont typeface="Arial" panose="020B0604020202020204" pitchFamily="34" charset="0"/>
                        <a:buChar char="•"/>
                        <a:tabLst>
                          <a:tab pos="457200" algn="l"/>
                        </a:tabLst>
                      </a:pPr>
                      <a:r>
                        <a:rPr lang="en-US" sz="900">
                          <a:effectLst/>
                          <a:latin typeface="Verdana" panose="020B0604030504040204" pitchFamily="34" charset="0"/>
                          <a:ea typeface="Times New Roman" panose="02020603050405020304" pitchFamily="18" charset="0"/>
                          <a:cs typeface="Times New Roman" panose="02020603050405020304" pitchFamily="18" charset="0"/>
                        </a:rPr>
                        <a:t>Preparation of a feasibility report, separately for both Hospitals projects, covering the following aspects:</a:t>
                      </a:r>
                      <a:r>
                        <a:rPr lang="en-IN" sz="900">
                          <a:effectLst/>
                          <a:latin typeface="Verdana" panose="020B0604030504040204" pitchFamily="34" charset="0"/>
                          <a:ea typeface="Times New Roman" panose="02020603050405020304" pitchFamily="18" charset="0"/>
                          <a:cs typeface="Times New Roman" panose="02020603050405020304" pitchFamily="18" charset="0"/>
                        </a:rPr>
                        <a:t> </a:t>
                      </a:r>
                      <a:endParaRPr lang="en-IN" sz="900">
                        <a:effectLst/>
                        <a:latin typeface="Verdana" panose="020B0604030504040204" pitchFamily="34" charset="0"/>
                        <a:ea typeface="Arial" panose="020B0604020202020204" pitchFamily="34" charset="0"/>
                        <a:cs typeface="Times New Roman" panose="02020603050405020304" pitchFamily="18" charset="0"/>
                      </a:endParaRPr>
                    </a:p>
                    <a:p>
                      <a:pPr marL="742950" lvl="1" indent="-285750" algn="just" fontAlgn="base">
                        <a:lnSpc>
                          <a:spcPct val="107000"/>
                        </a:lnSpc>
                        <a:buSzPts val="1000"/>
                        <a:buFont typeface="Courier New" panose="02070309020205020404" pitchFamily="49" charset="0"/>
                        <a:buChar char="o"/>
                        <a:tabLst>
                          <a:tab pos="914400" algn="l"/>
                        </a:tabLst>
                      </a:pPr>
                      <a:r>
                        <a:rPr lang="en-US" sz="900" b="1">
                          <a:effectLst/>
                          <a:latin typeface="Verdana" panose="020B0604030504040204" pitchFamily="34" charset="0"/>
                          <a:ea typeface="Times New Roman" panose="02020603050405020304" pitchFamily="18" charset="0"/>
                          <a:cs typeface="Times New Roman" panose="02020603050405020304" pitchFamily="18" charset="0"/>
                        </a:rPr>
                        <a:t>As Is assessment of Background &amp; rationale for PPP projects</a:t>
                      </a:r>
                      <a:r>
                        <a:rPr lang="en-US" sz="900">
                          <a:effectLst/>
                          <a:latin typeface="Verdana" panose="020B0604030504040204" pitchFamily="34" charset="0"/>
                          <a:ea typeface="Times New Roman" panose="02020603050405020304" pitchFamily="18" charset="0"/>
                          <a:cs typeface="Times New Roman" panose="02020603050405020304" pitchFamily="18" charset="0"/>
                        </a:rPr>
                        <a:t>, including benefits and value addition for the government for </a:t>
                      </a:r>
                      <a:r>
                        <a:rPr lang="en-US" sz="900" b="1">
                          <a:effectLst/>
                          <a:latin typeface="Verdana" panose="020B0604030504040204" pitchFamily="34" charset="0"/>
                          <a:ea typeface="Times New Roman" panose="02020603050405020304" pitchFamily="18" charset="0"/>
                          <a:cs typeface="Times New Roman" panose="02020603050405020304" pitchFamily="18" charset="0"/>
                        </a:rPr>
                        <a:t>development of disaster resilient hospital</a:t>
                      </a:r>
                      <a:endParaRPr lang="en-IN" sz="900" b="1">
                        <a:effectLst/>
                        <a:latin typeface="Verdana" panose="020B0604030504040204" pitchFamily="34" charset="0"/>
                        <a:ea typeface="Arial" panose="020B0604020202020204" pitchFamily="34" charset="0"/>
                        <a:cs typeface="Times New Roman" panose="02020603050405020304" pitchFamily="18" charset="0"/>
                      </a:endParaRPr>
                    </a:p>
                    <a:p>
                      <a:pPr marL="742950" lvl="1" indent="-285750" algn="just" fontAlgn="base">
                        <a:lnSpc>
                          <a:spcPct val="107000"/>
                        </a:lnSpc>
                        <a:buSzPts val="1000"/>
                        <a:buFont typeface="Courier New" panose="02070309020205020404" pitchFamily="49" charset="0"/>
                        <a:buChar char="o"/>
                        <a:tabLst>
                          <a:tab pos="914400" algn="l"/>
                        </a:tabLst>
                      </a:pPr>
                      <a:r>
                        <a:rPr lang="en-US" sz="900">
                          <a:effectLst/>
                          <a:latin typeface="Verdana" panose="020B0604030504040204" pitchFamily="34" charset="0"/>
                          <a:ea typeface="Times New Roman" panose="02020603050405020304" pitchFamily="18" charset="0"/>
                          <a:cs typeface="Times New Roman" panose="02020603050405020304" pitchFamily="18" charset="0"/>
                        </a:rPr>
                        <a:t>Market assessment to understand demand-supply situation</a:t>
                      </a:r>
                      <a:endParaRPr lang="en-IN" sz="900">
                        <a:effectLst/>
                        <a:latin typeface="Verdana" panose="020B0604030504040204" pitchFamily="34" charset="0"/>
                        <a:ea typeface="Arial" panose="020B0604020202020204" pitchFamily="34" charset="0"/>
                        <a:cs typeface="Times New Roman" panose="02020603050405020304" pitchFamily="18" charset="0"/>
                      </a:endParaRPr>
                    </a:p>
                    <a:p>
                      <a:pPr marL="742950" lvl="1" indent="-285750" algn="just" fontAlgn="base">
                        <a:lnSpc>
                          <a:spcPct val="107000"/>
                        </a:lnSpc>
                        <a:buSzPts val="1000"/>
                        <a:buFont typeface="Courier New" panose="02070309020205020404" pitchFamily="49" charset="0"/>
                        <a:buChar char="o"/>
                        <a:tabLst>
                          <a:tab pos="914400" algn="l"/>
                        </a:tabLst>
                      </a:pPr>
                      <a:r>
                        <a:rPr lang="en-US" sz="900" b="1">
                          <a:effectLst/>
                          <a:latin typeface="Verdana" panose="020B0604030504040204" pitchFamily="34" charset="0"/>
                          <a:ea typeface="Times New Roman" panose="02020603050405020304" pitchFamily="18" charset="0"/>
                          <a:cs typeface="Times New Roman" panose="02020603050405020304" pitchFamily="18" charset="0"/>
                        </a:rPr>
                        <a:t>Assessment of financial viability </a:t>
                      </a:r>
                      <a:r>
                        <a:rPr lang="en-US" sz="900">
                          <a:effectLst/>
                          <a:latin typeface="Verdana" panose="020B0604030504040204" pitchFamily="34" charset="0"/>
                          <a:ea typeface="Times New Roman" panose="02020603050405020304" pitchFamily="18" charset="0"/>
                          <a:cs typeface="Times New Roman" panose="02020603050405020304" pitchFamily="18" charset="0"/>
                        </a:rPr>
                        <a:t>based on detailed cash flow projections, including analysis of scope for cost recovery through user charges, scope for cross subsidization, scope for economies of scale, detailed cost analysis, scope of services in current infrastructure available, </a:t>
                      </a:r>
                      <a:r>
                        <a:rPr lang="en-US" sz="900" b="1">
                          <a:effectLst/>
                          <a:latin typeface="Verdana" panose="020B0604030504040204" pitchFamily="34" charset="0"/>
                          <a:ea typeface="Times New Roman" panose="02020603050405020304" pitchFamily="18" charset="0"/>
                          <a:cs typeface="Times New Roman" panose="02020603050405020304" pitchFamily="18" charset="0"/>
                        </a:rPr>
                        <a:t>disaster resilience</a:t>
                      </a:r>
                      <a:r>
                        <a:rPr lang="en-US" sz="900">
                          <a:effectLst/>
                          <a:latin typeface="Verdana" panose="020B0604030504040204" pitchFamily="34" charset="0"/>
                          <a:ea typeface="Times New Roman" panose="02020603050405020304" pitchFamily="18" charset="0"/>
                          <a:cs typeface="Times New Roman" panose="02020603050405020304" pitchFamily="18" charset="0"/>
                        </a:rPr>
                        <a:t> and scope for future expansion</a:t>
                      </a:r>
                      <a:endParaRPr lang="en-IN" sz="900">
                        <a:effectLst/>
                        <a:latin typeface="Verdana" panose="020B0604030504040204" pitchFamily="34" charset="0"/>
                        <a:ea typeface="Arial" panose="020B0604020202020204" pitchFamily="34" charset="0"/>
                        <a:cs typeface="Times New Roman" panose="02020603050405020304" pitchFamily="18" charset="0"/>
                      </a:endParaRPr>
                    </a:p>
                    <a:p>
                      <a:pPr marL="742950" lvl="1" indent="-285750" algn="just" fontAlgn="base">
                        <a:lnSpc>
                          <a:spcPct val="107000"/>
                        </a:lnSpc>
                        <a:buSzPts val="1000"/>
                        <a:buFont typeface="Courier New" panose="02070309020205020404" pitchFamily="49" charset="0"/>
                        <a:buChar char="o"/>
                        <a:tabLst>
                          <a:tab pos="914400" algn="l"/>
                        </a:tabLst>
                      </a:pPr>
                      <a:r>
                        <a:rPr lang="en-US" sz="900">
                          <a:effectLst/>
                          <a:latin typeface="Verdana" panose="020B0604030504040204" pitchFamily="34" charset="0"/>
                          <a:ea typeface="Times New Roman" panose="02020603050405020304" pitchFamily="18" charset="0"/>
                          <a:cs typeface="Times New Roman" panose="02020603050405020304" pitchFamily="18" charset="0"/>
                        </a:rPr>
                        <a:t>Detailed analysis of project related </a:t>
                      </a:r>
                      <a:r>
                        <a:rPr lang="en-US" sz="900" b="1">
                          <a:effectLst/>
                          <a:latin typeface="Verdana" panose="020B0604030504040204" pitchFamily="34" charset="0"/>
                          <a:ea typeface="Times New Roman" panose="02020603050405020304" pitchFamily="18" charset="0"/>
                          <a:cs typeface="Times New Roman" panose="02020603050405020304" pitchFamily="18" charset="0"/>
                        </a:rPr>
                        <a:t>risk parameters &amp; risk mitigation strategy, </a:t>
                      </a:r>
                      <a:r>
                        <a:rPr lang="en-US" sz="900">
                          <a:effectLst/>
                          <a:latin typeface="Verdana" panose="020B0604030504040204" pitchFamily="34" charset="0"/>
                          <a:ea typeface="Times New Roman" panose="02020603050405020304" pitchFamily="18" charset="0"/>
                          <a:cs typeface="Times New Roman" panose="02020603050405020304" pitchFamily="18" charset="0"/>
                        </a:rPr>
                        <a:t>including risk allocation matrix </a:t>
                      </a:r>
                      <a:endParaRPr lang="en-IN" sz="900">
                        <a:effectLst/>
                        <a:latin typeface="Verdana" panose="020B0604030504040204" pitchFamily="34" charset="0"/>
                        <a:ea typeface="Arial" panose="020B0604020202020204" pitchFamily="34" charset="0"/>
                        <a:cs typeface="Times New Roman" panose="02020603050405020304" pitchFamily="18" charset="0"/>
                      </a:endParaRPr>
                    </a:p>
                    <a:p>
                      <a:pPr marL="742950" lvl="1" indent="-285750" algn="just" fontAlgn="base">
                        <a:lnSpc>
                          <a:spcPct val="107000"/>
                        </a:lnSpc>
                        <a:buSzPts val="1000"/>
                        <a:buFont typeface="Courier New" panose="02070309020205020404" pitchFamily="49" charset="0"/>
                        <a:buChar char="o"/>
                        <a:tabLst>
                          <a:tab pos="914400" algn="l"/>
                        </a:tabLst>
                      </a:pPr>
                      <a:r>
                        <a:rPr lang="en-US" sz="900" b="1">
                          <a:effectLst/>
                          <a:latin typeface="Verdana" panose="020B0604030504040204" pitchFamily="34" charset="0"/>
                          <a:ea typeface="Times New Roman" panose="02020603050405020304" pitchFamily="18" charset="0"/>
                          <a:cs typeface="Times New Roman" panose="02020603050405020304" pitchFamily="18" charset="0"/>
                        </a:rPr>
                        <a:t>Determination of possible PPP options </a:t>
                      </a:r>
                      <a:r>
                        <a:rPr lang="en-US" sz="900">
                          <a:effectLst/>
                          <a:latin typeface="Verdana" panose="020B0604030504040204" pitchFamily="34" charset="0"/>
                          <a:ea typeface="Times New Roman" panose="02020603050405020304" pitchFamily="18" charset="0"/>
                          <a:cs typeface="Times New Roman" panose="02020603050405020304" pitchFamily="18" charset="0"/>
                        </a:rPr>
                        <a:t>and recommendations regarding the preferred PPP model </a:t>
                      </a:r>
                      <a:endParaRPr lang="en-IN" sz="900">
                        <a:effectLst/>
                        <a:latin typeface="Verdana" panose="020B0604030504040204" pitchFamily="34" charset="0"/>
                        <a:ea typeface="Arial" panose="020B0604020202020204" pitchFamily="34" charset="0"/>
                        <a:cs typeface="Times New Roman" panose="02020603050405020304" pitchFamily="18" charset="0"/>
                      </a:endParaRPr>
                    </a:p>
                    <a:p>
                      <a:pPr marL="365760" lvl="0" indent="-171450" algn="just" defTabSz="914400" rtl="0" eaLnBrk="1" fontAlgn="base" latinLnBrk="0" hangingPunct="1">
                        <a:lnSpc>
                          <a:spcPct val="107000"/>
                        </a:lnSpc>
                        <a:buSzPts val="1000"/>
                        <a:buFont typeface="Arial" panose="020B0604020202020204" pitchFamily="34" charset="0"/>
                        <a:buChar char="•"/>
                        <a:tabLst>
                          <a:tab pos="457200" algn="l"/>
                        </a:tabLst>
                      </a:pPr>
                      <a:r>
                        <a:rPr lang="en-US" sz="900" kern="1200">
                          <a:solidFill>
                            <a:schemeClr val="tx1"/>
                          </a:solidFill>
                          <a:effectLst/>
                          <a:latin typeface="Verdana" panose="020B0604030504040204" pitchFamily="34" charset="0"/>
                          <a:ea typeface="Times New Roman" panose="02020603050405020304" pitchFamily="18" charset="0"/>
                          <a:cs typeface="Times New Roman" panose="02020603050405020304" pitchFamily="18" charset="0"/>
                        </a:rPr>
                        <a:t>Develop a detailed business plan &amp; revenue model for preferred PPP model (for both hospitals), covering the following aspects:</a:t>
                      </a:r>
                      <a:r>
                        <a:rPr lang="en-IN" sz="900" kern="1200">
                          <a:solidFill>
                            <a:schemeClr val="tx1"/>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IN" sz="900" kern="1200">
                        <a:solidFill>
                          <a:schemeClr val="tx1"/>
                        </a:solidFill>
                        <a:effectLst/>
                        <a:latin typeface="Verdana" panose="020B0604030504040204" pitchFamily="34" charset="0"/>
                        <a:ea typeface="Arial" panose="020B0604020202020204" pitchFamily="34" charset="0"/>
                        <a:cs typeface="Times New Roman" panose="02020603050405020304" pitchFamily="18" charset="0"/>
                      </a:endParaRPr>
                    </a:p>
                    <a:p>
                      <a:pPr marL="742950" lvl="1" indent="-285750" algn="just" fontAlgn="base">
                        <a:lnSpc>
                          <a:spcPct val="107000"/>
                        </a:lnSpc>
                        <a:buSzPts val="1000"/>
                        <a:buFont typeface="Courier New" panose="02070309020205020404" pitchFamily="49" charset="0"/>
                        <a:buChar char="o"/>
                        <a:tabLst>
                          <a:tab pos="914400" algn="l"/>
                        </a:tabLst>
                      </a:pPr>
                      <a:r>
                        <a:rPr lang="en-US" sz="900">
                          <a:effectLst/>
                          <a:latin typeface="Verdana" panose="020B0604030504040204" pitchFamily="34" charset="0"/>
                          <a:ea typeface="Times New Roman" panose="02020603050405020304" pitchFamily="18" charset="0"/>
                          <a:cs typeface="Times New Roman" panose="02020603050405020304" pitchFamily="18" charset="0"/>
                        </a:rPr>
                        <a:t>Detailed cash flow projections for the project with break-even point analysis &amp; projections for recovery of investment/ IRR </a:t>
                      </a:r>
                      <a:endParaRPr lang="en-IN" sz="900">
                        <a:effectLst/>
                        <a:latin typeface="Verdana" panose="020B0604030504040204" pitchFamily="34" charset="0"/>
                        <a:ea typeface="Arial" panose="020B0604020202020204" pitchFamily="34" charset="0"/>
                        <a:cs typeface="Times New Roman" panose="02020603050405020304" pitchFamily="18" charset="0"/>
                      </a:endParaRPr>
                    </a:p>
                    <a:p>
                      <a:pPr marL="742950" lvl="1" indent="-285750" algn="just" fontAlgn="base">
                        <a:lnSpc>
                          <a:spcPct val="107000"/>
                        </a:lnSpc>
                        <a:buSzPts val="1000"/>
                        <a:buFont typeface="Courier New" panose="02070309020205020404" pitchFamily="49" charset="0"/>
                        <a:buChar char="o"/>
                        <a:tabLst>
                          <a:tab pos="914400" algn="l"/>
                        </a:tabLst>
                      </a:pPr>
                      <a:r>
                        <a:rPr lang="en-US" sz="900">
                          <a:effectLst/>
                          <a:latin typeface="Verdana" panose="020B0604030504040204" pitchFamily="34" charset="0"/>
                          <a:ea typeface="Times New Roman" panose="02020603050405020304" pitchFamily="18" charset="0"/>
                          <a:cs typeface="Times New Roman" panose="02020603050405020304" pitchFamily="18" charset="0"/>
                        </a:rPr>
                        <a:t>Key assumptions: user charges for specified types/categories of super specialty health services &amp; suggested tariff structure </a:t>
                      </a:r>
                      <a:endParaRPr lang="en-IN" sz="900">
                        <a:effectLst/>
                        <a:latin typeface="Verdana" panose="020B0604030504040204" pitchFamily="34" charset="0"/>
                        <a:ea typeface="Arial" panose="020B0604020202020204" pitchFamily="34" charset="0"/>
                        <a:cs typeface="Times New Roman" panose="02020603050405020304" pitchFamily="18" charset="0"/>
                      </a:endParaRPr>
                    </a:p>
                    <a:p>
                      <a:pPr marL="742950" lvl="1" indent="-285750" algn="just" fontAlgn="base">
                        <a:lnSpc>
                          <a:spcPct val="107000"/>
                        </a:lnSpc>
                        <a:buSzPts val="1000"/>
                        <a:buFont typeface="Courier New" panose="02070309020205020404" pitchFamily="49" charset="0"/>
                        <a:buChar char="o"/>
                        <a:tabLst>
                          <a:tab pos="914400" algn="l"/>
                        </a:tabLst>
                      </a:pPr>
                      <a:r>
                        <a:rPr lang="en-US" sz="900">
                          <a:effectLst/>
                          <a:latin typeface="Verdana" panose="020B0604030504040204" pitchFamily="34" charset="0"/>
                          <a:ea typeface="Times New Roman" panose="02020603050405020304" pitchFamily="18" charset="0"/>
                          <a:cs typeface="Times New Roman" panose="02020603050405020304" pitchFamily="18" charset="0"/>
                        </a:rPr>
                        <a:t>Proposed duration of the concession agreement, risk analysis and sensitivity analysis, strategy for ensuring financial viability. </a:t>
                      </a:r>
                      <a:endParaRPr lang="en-IN" sz="900">
                        <a:effectLst/>
                        <a:latin typeface="Verdana" panose="020B0604030504040204" pitchFamily="34" charset="0"/>
                        <a:ea typeface="Arial" panose="020B0604020202020204" pitchFamily="34" charset="0"/>
                        <a:cs typeface="Times New Roman" panose="02020603050405020304" pitchFamily="18" charset="0"/>
                      </a:endParaRPr>
                    </a:p>
                    <a:p>
                      <a:pPr marL="742950" lvl="1" indent="-285750" algn="just" fontAlgn="base">
                        <a:lnSpc>
                          <a:spcPct val="107000"/>
                        </a:lnSpc>
                        <a:buSzPts val="1000"/>
                        <a:buFont typeface="Courier New" panose="02070309020205020404" pitchFamily="49" charset="0"/>
                        <a:buChar char="o"/>
                        <a:tabLst>
                          <a:tab pos="914400" algn="l"/>
                        </a:tabLst>
                      </a:pPr>
                      <a:r>
                        <a:rPr lang="en-US" sz="900">
                          <a:effectLst/>
                          <a:latin typeface="Verdana" panose="020B0604030504040204" pitchFamily="34" charset="0"/>
                          <a:ea typeface="Times New Roman" panose="02020603050405020304" pitchFamily="18" charset="0"/>
                          <a:cs typeface="Times New Roman" panose="02020603050405020304" pitchFamily="18" charset="0"/>
                        </a:rPr>
                        <a:t>Assistance in bid process management for selection of Private Sector Partner </a:t>
                      </a:r>
                      <a:endParaRPr lang="en-IN" sz="900">
                        <a:latin typeface="Verdana" panose="020B0604030504040204" pitchFamily="34" charset="0"/>
                        <a:ea typeface="Times New Roman" panose="02020603050405020304" pitchFamily="18" charset="0"/>
                        <a:cs typeface="Times New Roman" panose="02020603050405020304" pitchFamily="18" charset="0"/>
                      </a:endParaRPr>
                    </a:p>
                    <a:p>
                      <a:pPr marL="742950" lvl="1" indent="-285750" algn="just" fontAlgn="base">
                        <a:lnSpc>
                          <a:spcPct val="107000"/>
                        </a:lnSpc>
                        <a:buSzPts val="1000"/>
                        <a:buFont typeface="Courier New" panose="02070309020205020404" pitchFamily="49" charset="0"/>
                        <a:buChar char="o"/>
                        <a:tabLst>
                          <a:tab pos="914400" algn="l"/>
                        </a:tabLst>
                      </a:pPr>
                      <a:r>
                        <a:rPr lang="en-US" sz="900">
                          <a:effectLst/>
                          <a:latin typeface="Verdana" panose="020B0604030504040204" pitchFamily="34" charset="0"/>
                          <a:ea typeface="Times New Roman" panose="02020603050405020304" pitchFamily="18" charset="0"/>
                          <a:cs typeface="Times New Roman" panose="02020603050405020304" pitchFamily="18" charset="0"/>
                        </a:rPr>
                        <a:t>Explore/ develop models of alternate funding/ financing mechanisms such as health insurance/ community finance schemes and other innovative financing for super specialty health care for low/middle income groups, on a sustainable basis </a:t>
                      </a:r>
                      <a:endPar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May 2008;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May 2011</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11.8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900" b="1">
                <a:solidFill>
                  <a:prstClr val="white"/>
                </a:solidFill>
                <a:latin typeface="Verdana"/>
              </a:rPr>
              <a:t>14</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243201412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2375137800"/>
              </p:ext>
            </p:extLst>
          </p:nvPr>
        </p:nvGraphicFramePr>
        <p:xfrm>
          <a:off x="517290" y="745905"/>
          <a:ext cx="11161565" cy="4331545"/>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Assessment of contribution of MGNREGA projects towards building climate resilience in the state of Andhra Pradesh and Rajasthan</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Ministry of Environment Forest and Climate Change (</a:t>
                      </a:r>
                      <a:r>
                        <a:rPr lang="en-US" sz="1000" b="0" err="1">
                          <a:solidFill>
                            <a:schemeClr val="bg1"/>
                          </a:solidFill>
                          <a:effectLst/>
                          <a:latin typeface="Verdana" panose="020B0604030504040204" pitchFamily="34" charset="0"/>
                          <a:ea typeface="+mn-ea"/>
                          <a:cs typeface="Times New Roman" panose="02020603050405020304" pitchFamily="18" charset="0"/>
                        </a:rPr>
                        <a:t>MoEF&amp;CC</a:t>
                      </a:r>
                      <a:r>
                        <a:rPr lang="en-US" sz="1000" b="0">
                          <a:solidFill>
                            <a:schemeClr val="bg1"/>
                          </a:solidFill>
                          <a:effectLst/>
                          <a:latin typeface="Verdana" panose="020B0604030504040204" pitchFamily="34" charset="0"/>
                          <a:ea typeface="+mn-ea"/>
                          <a:cs typeface="Times New Roman" panose="02020603050405020304" pitchFamily="18" charset="0"/>
                        </a:rPr>
                        <a:t>), Government of India;</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524843">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endParaRPr kumimoji="0" lang="en-US" sz="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118872"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118872"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 order to support green growth in India, Global Green Growth Institute (GGGI) initiated a program to integrate climate resilience into development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programmes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and schemes of partner governments with the objective to integrate three pillars of sustainability – environmental sustainability, economic and social development. GGGI along with GIZ intended to have an assessment of Mahatma Gandhi National Rural Employment Guarantee Act (MGNREGA) contribution to climate change. The objective of the assignment was to map MGNREGS contribution to climate resilience in Andhra Pradesh and Rajasthan states of India and identify potential climate change adaptation strategies</a:t>
                      </a:r>
                    </a:p>
                    <a:p>
                      <a:pPr marL="118872"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objective of the assignment was to map MGNREGS contribution to climate resilience in Andhra Pradesh and Rajasthan states of India and identify potential climate change adaptation strategies.</a:t>
                      </a:r>
                    </a:p>
                    <a:p>
                      <a:pPr marL="118872"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118872" marR="0" lvl="0" indent="0" algn="just"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Deloitte were:</a:t>
                      </a:r>
                    </a:p>
                    <a:p>
                      <a:pPr marL="365760" marR="0" lvl="0" indent="-171450" algn="just"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Review of specific climate phenomenon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for the states of Andhra Pradesh and Rajasthan including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key vulnerabilities and disaster resilience of logistics</a:t>
                      </a:r>
                      <a:r>
                        <a:rPr lang="en-US" sz="900" b="1">
                          <a:solidFill>
                            <a:prstClr val="black"/>
                          </a:solidFill>
                          <a:latin typeface="Verdana" panose="020B0604030504040204" pitchFamily="34" charset="0"/>
                          <a:ea typeface="Verdana" panose="020B0604030504040204" pitchFamily="34" charset="0"/>
                        </a:rPr>
                        <a:t> and hospitals in the region</a:t>
                      </a: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65760" marR="0" lvl="0" indent="-171450" algn="just"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Review the list of activities undertaken as a part of MGNREGS in the selected blocks (of representative districts) and map the activities against their CCA contributions </a:t>
                      </a:r>
                    </a:p>
                    <a:p>
                      <a:pPr marL="365760" marR="0" lvl="0" indent="-171450" algn="just"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Conduct stakeholder consultations to capture the views of targeted beneficiaries and state officials in respect of potential of MGNREGS for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building climate resilience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its key challenges, and new areas of interface between MGNREGS and CCA in selected districts</a:t>
                      </a:r>
                    </a:p>
                    <a:p>
                      <a:pPr marL="365760" marR="0" lvl="0" indent="-171450" algn="just"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Identify gaps and recommend specific actionable agenda</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strategy for mainstreaming of climate resilience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 MGREGS works in the selected districts</a:t>
                      </a:r>
                    </a:p>
                    <a:p>
                      <a:pPr marL="61913" marR="0" lvl="0" indent="0" algn="just"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endParaRPr kumimoji="0" lang="en-US" sz="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November</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2018;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March 2019</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0.18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900" b="1">
                <a:solidFill>
                  <a:prstClr val="white"/>
                </a:solidFill>
                <a:latin typeface="Verdana"/>
              </a:rPr>
              <a:t>15</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16230257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2601910093"/>
              </p:ext>
            </p:extLst>
          </p:nvPr>
        </p:nvGraphicFramePr>
        <p:xfrm>
          <a:off x="517290" y="745905"/>
          <a:ext cx="11161565" cy="5722957"/>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Evaluation of Central Sector Schemes namely National Coastal Mission, National Adaptation Fund for Climate Change and Climate Change Action Plan</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Ministry of Environment Forest and Climate Change (</a:t>
                      </a:r>
                      <a:r>
                        <a:rPr lang="en-US" sz="1000" b="0" err="1">
                          <a:solidFill>
                            <a:schemeClr val="bg1"/>
                          </a:solidFill>
                          <a:effectLst/>
                          <a:latin typeface="Verdana" panose="020B0604030504040204" pitchFamily="34" charset="0"/>
                          <a:ea typeface="+mn-ea"/>
                          <a:cs typeface="Times New Roman" panose="02020603050405020304" pitchFamily="18" charset="0"/>
                        </a:rPr>
                        <a:t>MoEF&amp;CC</a:t>
                      </a:r>
                      <a:r>
                        <a:rPr lang="en-US" sz="1000" b="0">
                          <a:solidFill>
                            <a:schemeClr val="bg1"/>
                          </a:solidFill>
                          <a:effectLst/>
                          <a:latin typeface="Verdana" panose="020B0604030504040204" pitchFamily="34" charset="0"/>
                          <a:ea typeface="+mn-ea"/>
                          <a:cs typeface="Times New Roman" panose="02020603050405020304" pitchFamily="18" charset="0"/>
                        </a:rPr>
                        <a:t>), Government of India;</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524843">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endParaRPr kumimoji="0" lang="en-US" sz="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118872"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118872"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Central Ministry in Government of India desired to complete an independent third-party evaluation for all Central Sector Schemes implemented during 2017-18 to 2019-20, to determine their effectiveness in achieving the desired outcomes. The approved groupings for the evaluation of Central Sector Schemes are under Environment Conservation which includes National Coastal Mission (including EAP), Eco-Task Force, Climate Change Action Plan, and National Adaptation Fund for Climate Change.</a:t>
                      </a:r>
                    </a:p>
                    <a:p>
                      <a:pPr marL="118872"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118872"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Deloitte were:</a:t>
                      </a:r>
                    </a:p>
                    <a:p>
                      <a:pPr marL="365760" marR="0" lvl="0" indent="-171450" algn="just"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Physical assessment and </a:t>
                      </a:r>
                      <a:r>
                        <a:rPr kumimoji="0" lang="en-US" sz="90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financial evaluation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of schemes under the National Coastal Mission:</a:t>
                      </a:r>
                    </a:p>
                    <a:p>
                      <a:pPr marL="690563" marR="0" lvl="1" indent="-171450" algn="just" defTabSz="914400" rtl="0" eaLnBrk="1" fontAlgn="auto" latinLnBrk="0" hangingPunct="1">
                        <a:lnSpc>
                          <a:spcPct val="100000"/>
                        </a:lnSpc>
                        <a:spcBef>
                          <a:spcPts val="60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Review of national and state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institutional structure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for guiding coordinating and implementation of ICZM approaches in India </a:t>
                      </a:r>
                    </a:p>
                    <a:p>
                      <a:pPr marL="690563" marR="0" lvl="1" indent="-171450" algn="just" defTabSz="914400" rtl="0" eaLnBrk="1" fontAlgn="auto" latinLnBrk="0" hangingPunct="1">
                        <a:lnSpc>
                          <a:spcPct val="100000"/>
                        </a:lnSpc>
                        <a:spcBef>
                          <a:spcPts val="600"/>
                        </a:spcBef>
                        <a:spcAft>
                          <a:spcPts val="0"/>
                        </a:spcAft>
                        <a:buClrTx/>
                        <a:buSzTx/>
                        <a:buFont typeface="Courier New" panose="02070309020205020404" pitchFamily="49" charset="0"/>
                        <a:buChar char="o"/>
                        <a:tabLst/>
                        <a:defRPr/>
                      </a:pPr>
                      <a:r>
                        <a:rPr lang="en-US" sz="900">
                          <a:solidFill>
                            <a:prstClr val="black"/>
                          </a:solidFill>
                          <a:latin typeface="Verdana" panose="020B0604030504040204" pitchFamily="34" charset="0"/>
                          <a:ea typeface="Verdana" panose="020B0604030504040204" pitchFamily="34" charset="0"/>
                        </a:rPr>
                        <a:t>Assessment of </a:t>
                      </a:r>
                      <a:r>
                        <a:rPr lang="en-US" sz="900" b="1">
                          <a:solidFill>
                            <a:prstClr val="black"/>
                          </a:solidFill>
                          <a:latin typeface="Verdana" panose="020B0604030504040204" pitchFamily="34" charset="0"/>
                          <a:ea typeface="Verdana" panose="020B0604030504040204" pitchFamily="34" charset="0"/>
                        </a:rPr>
                        <a:t>Competency, skillsets, and qualifications / certifications gaps</a:t>
                      </a:r>
                      <a:r>
                        <a:rPr lang="en-US" sz="900">
                          <a:solidFill>
                            <a:prstClr val="black"/>
                          </a:solidFill>
                          <a:latin typeface="Verdana" panose="020B0604030504040204" pitchFamily="34" charset="0"/>
                          <a:ea typeface="Verdana" panose="020B0604030504040204" pitchFamily="34" charset="0"/>
                        </a:rPr>
                        <a:t> that limit scope of mainstreaming climate change action in central sector schemes</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690563" marR="0" lvl="1" indent="-171450" algn="just" defTabSz="914400" rtl="0" eaLnBrk="1" fontAlgn="auto" latinLnBrk="0" hangingPunct="1">
                        <a:lnSpc>
                          <a:spcPct val="100000"/>
                        </a:lnSpc>
                        <a:spcBef>
                          <a:spcPts val="60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Review of completed and ongoing projects such as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disaster resilient infrastructure, healthcare facilities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under pilot Integrated Coastal Zone Management (ICZM) Plan activities under national component and state components</a:t>
                      </a:r>
                    </a:p>
                    <a:p>
                      <a:pPr marL="690563" marR="0" lvl="1" indent="-171450" algn="just" defTabSz="914400" rtl="0" eaLnBrk="1" fontAlgn="auto" latinLnBrk="0" hangingPunct="1">
                        <a:lnSpc>
                          <a:spcPct val="100000"/>
                        </a:lnSpc>
                        <a:spcBef>
                          <a:spcPts val="60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Site visits to project locations and interactions with NPMU and SPMUs</a:t>
                      </a:r>
                    </a:p>
                    <a:p>
                      <a:pPr marL="365760" marR="0" lvl="0" indent="-171450" algn="just"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Review of National Adaptation Fund</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including:</a:t>
                      </a:r>
                    </a:p>
                    <a:p>
                      <a:pPr marL="690563" marR="0" lvl="1" indent="-171450" algn="just" defTabSz="914400" rtl="0" eaLnBrk="1" fontAlgn="auto" latinLnBrk="0" hangingPunct="1">
                        <a:lnSpc>
                          <a:spcPct val="100000"/>
                        </a:lnSpc>
                        <a:spcBef>
                          <a:spcPts val="60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Assessment of key risks and adverse impacts of climate change in water, agriculture sectors,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roads and hospitals</a:t>
                      </a:r>
                    </a:p>
                    <a:p>
                      <a:pPr marL="690563" marR="0" lvl="1" indent="-171450" algn="just" defTabSz="914400" rtl="0" eaLnBrk="1" fontAlgn="auto" latinLnBrk="0" hangingPunct="1">
                        <a:lnSpc>
                          <a:spcPct val="100000"/>
                        </a:lnSpc>
                        <a:spcBef>
                          <a:spcPts val="60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Highlighting multi-sectoral, cross-sectoral benefits/co-benefits to meet the challenges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healthcare, water and food security  </a:t>
                      </a:r>
                    </a:p>
                    <a:p>
                      <a:pPr marL="690563" marR="0" lvl="1" indent="-171450" algn="just" defTabSz="914400" rtl="0" eaLnBrk="1" fontAlgn="auto" latinLnBrk="0" hangingPunct="1">
                        <a:lnSpc>
                          <a:spcPct val="100000"/>
                        </a:lnSpc>
                        <a:spcBef>
                          <a:spcPts val="60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Support in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strengthening of institutional &amp; individual capacity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through structured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capacity building and training resources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to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reduce risks associated with climate-induced socioeconomic and environmental losses</a:t>
                      </a:r>
                    </a:p>
                    <a:p>
                      <a:pPr marL="690563" marR="0" lvl="1" indent="-171450" algn="just" defTabSz="914400" rtl="0" eaLnBrk="1" fontAlgn="auto" latinLnBrk="0" hangingPunct="1">
                        <a:lnSpc>
                          <a:spcPct val="100000"/>
                        </a:lnSpc>
                        <a:spcBef>
                          <a:spcPts val="60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Strengthened awareness and ownership of adaptation and climate risk reduction processes at local level. Increasing involvement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community institutions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and identifying key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accountabilities and KPIs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at the community level.</a:t>
                      </a:r>
                    </a:p>
                    <a:p>
                      <a:pPr marL="365760" marR="0" lvl="0" indent="-171450" algn="just"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Review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Climate Change Action Plan</a:t>
                      </a:r>
                    </a:p>
                    <a:p>
                      <a:pPr marL="690563" marR="0" lvl="1" indent="-171450" algn="just" defTabSz="914400" rtl="0" eaLnBrk="1" fontAlgn="auto" latinLnBrk="0" hangingPunct="1">
                        <a:lnSpc>
                          <a:spcPct val="100000"/>
                        </a:lnSpc>
                        <a:spcBef>
                          <a:spcPts val="60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Submission of Progress Report of the project containing clear roadmap/ strategies to evaluate the scheme in an effective and efficient manner</a:t>
                      </a:r>
                    </a:p>
                    <a:p>
                      <a:pPr marL="61913" marR="0" lvl="0" indent="0" algn="just"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endParaRPr kumimoji="0" lang="en-US" sz="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December</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2019;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December</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2020</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0.42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900" b="1">
                <a:solidFill>
                  <a:prstClr val="white"/>
                </a:solidFill>
                <a:latin typeface="Verdana"/>
              </a:rPr>
              <a:t>16</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148105504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3143675532"/>
              </p:ext>
            </p:extLst>
          </p:nvPr>
        </p:nvGraphicFramePr>
        <p:xfrm>
          <a:off x="517290" y="745905"/>
          <a:ext cx="11161565" cy="4460323"/>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Establishment of </a:t>
                      </a:r>
                      <a:r>
                        <a:rPr lang="en-US" sz="1200" b="1" err="1">
                          <a:solidFill>
                            <a:schemeClr val="bg1"/>
                          </a:solidFill>
                          <a:effectLst/>
                          <a:latin typeface="Verdana" panose="020B0604030504040204" pitchFamily="34" charset="0"/>
                          <a:ea typeface="+mn-ea"/>
                          <a:cs typeface="Times New Roman" panose="02020603050405020304" pitchFamily="18" charset="0"/>
                        </a:rPr>
                        <a:t>Snayu</a:t>
                      </a:r>
                      <a:r>
                        <a:rPr lang="en-US" sz="1200" b="1">
                          <a:solidFill>
                            <a:schemeClr val="bg1"/>
                          </a:solidFill>
                          <a:effectLst/>
                          <a:latin typeface="Verdana" panose="020B0604030504040204" pitchFamily="34" charset="0"/>
                          <a:ea typeface="+mn-ea"/>
                          <a:cs typeface="Times New Roman" panose="02020603050405020304" pitchFamily="18" charset="0"/>
                        </a:rPr>
                        <a:t> Tirtha – Neurosciences Institute at Kalyani, West Bengal </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Institute of Neurosciences Kolkata (INK)</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524843">
                <a:tc>
                  <a:txBody>
                    <a:bodyPr/>
                    <a:lstStyle/>
                    <a:p>
                      <a:pPr marL="128016"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365760" marR="0" lvl="3" indent="-171450" algn="just" defTabSz="1019175" rtl="0" eaLnBrk="1" fontAlgn="base" latinLnBrk="0" hangingPunct="1">
                        <a:lnSpc>
                          <a:spcPct val="106000"/>
                        </a:lnSpc>
                        <a:spcBef>
                          <a:spcPct val="0"/>
                        </a:spcBef>
                        <a:spcAft>
                          <a:spcPts val="300"/>
                        </a:spcAft>
                        <a:buClr>
                          <a:srgbClr val="002776"/>
                        </a:buClr>
                        <a:buSzPct val="80000"/>
                        <a:buFont typeface="Arial" panose="020B0604020202020204" pitchFamily="34" charset="0"/>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Arial" charset="0"/>
                        </a:rPr>
                        <a:t>INK proposed to set up an academic and institutional facility at Kalyani – </a:t>
                      </a:r>
                      <a:r>
                        <a:rPr kumimoji="0" lang="en-US" sz="900" b="0" i="0" u="none" strike="noStrike" kern="1200" cap="none" spc="0" normalizeH="0" baseline="0" noProof="0" err="1">
                          <a:ln>
                            <a:noFill/>
                          </a:ln>
                          <a:solidFill>
                            <a:schemeClr val="tx1"/>
                          </a:solidFill>
                          <a:effectLst/>
                          <a:uLnTx/>
                          <a:uFillTx/>
                          <a:latin typeface="+mn-lt"/>
                          <a:ea typeface="+mn-ea"/>
                          <a:cs typeface="Arial" charset="0"/>
                        </a:rPr>
                        <a:t>Snayu</a:t>
                      </a:r>
                      <a:r>
                        <a:rPr kumimoji="0" lang="en-US" sz="900" b="0" i="0" u="none" strike="noStrike" kern="1200" cap="none" spc="0" normalizeH="0" baseline="0" noProof="0">
                          <a:ln>
                            <a:noFill/>
                          </a:ln>
                          <a:solidFill>
                            <a:schemeClr val="tx1"/>
                          </a:solidFill>
                          <a:effectLst/>
                          <a:uLnTx/>
                          <a:uFillTx/>
                          <a:latin typeface="+mn-lt"/>
                          <a:ea typeface="+mn-ea"/>
                          <a:cs typeface="Arial" charset="0"/>
                        </a:rPr>
                        <a:t> Tirtha - including a medical college, teaching hospital, nursing college and super </a:t>
                      </a:r>
                      <a:r>
                        <a:rPr kumimoji="0" lang="en-US" sz="900" b="0" i="0" u="none" strike="noStrike" kern="1200" cap="none" spc="0" normalizeH="0" baseline="0" noProof="0" err="1">
                          <a:ln>
                            <a:noFill/>
                          </a:ln>
                          <a:solidFill>
                            <a:schemeClr val="tx1"/>
                          </a:solidFill>
                          <a:effectLst/>
                          <a:uLnTx/>
                          <a:uFillTx/>
                          <a:latin typeface="+mn-lt"/>
                          <a:ea typeface="+mn-ea"/>
                          <a:cs typeface="Arial" charset="0"/>
                        </a:rPr>
                        <a:t>speciality</a:t>
                      </a:r>
                      <a:r>
                        <a:rPr kumimoji="0" lang="en-US" sz="900" b="0" i="0" u="none" strike="noStrike" kern="1200" cap="none" spc="0" normalizeH="0" baseline="0" noProof="0">
                          <a:ln>
                            <a:noFill/>
                          </a:ln>
                          <a:solidFill>
                            <a:schemeClr val="tx1"/>
                          </a:solidFill>
                          <a:effectLst/>
                          <a:uLnTx/>
                          <a:uFillTx/>
                          <a:latin typeface="+mn-lt"/>
                          <a:ea typeface="+mn-ea"/>
                          <a:cs typeface="Arial" charset="0"/>
                        </a:rPr>
                        <a:t> </a:t>
                      </a:r>
                      <a:r>
                        <a:rPr kumimoji="0" lang="en-US" sz="900" b="1" i="0" u="none" strike="noStrike" kern="1200" cap="none" spc="0" normalizeH="0" baseline="0" noProof="0">
                          <a:ln>
                            <a:noFill/>
                          </a:ln>
                          <a:solidFill>
                            <a:schemeClr val="tx1"/>
                          </a:solidFill>
                          <a:effectLst/>
                          <a:uLnTx/>
                          <a:uFillTx/>
                          <a:latin typeface="+mn-lt"/>
                          <a:ea typeface="+mn-ea"/>
                          <a:cs typeface="Arial" charset="0"/>
                        </a:rPr>
                        <a:t>disaster resilient hospital</a:t>
                      </a:r>
                      <a:r>
                        <a:rPr kumimoji="0" lang="en-US" sz="900" b="0" i="0" u="none" strike="noStrike" kern="1200" cap="none" spc="0" normalizeH="0" baseline="0" noProof="0">
                          <a:ln>
                            <a:noFill/>
                          </a:ln>
                          <a:solidFill>
                            <a:schemeClr val="tx1"/>
                          </a:solidFill>
                          <a:effectLst/>
                          <a:uLnTx/>
                          <a:uFillTx/>
                          <a:latin typeface="+mn-lt"/>
                          <a:ea typeface="+mn-ea"/>
                          <a:cs typeface="Arial" charset="0"/>
                        </a:rPr>
                        <a:t> providing treatment for neurological disorders. </a:t>
                      </a:r>
                    </a:p>
                    <a:p>
                      <a:pPr marL="365760" marR="0" lvl="3" indent="-171450" algn="just" defTabSz="1019175" rtl="0" eaLnBrk="1" fontAlgn="base" latinLnBrk="0" hangingPunct="1">
                        <a:lnSpc>
                          <a:spcPct val="106000"/>
                        </a:lnSpc>
                        <a:spcBef>
                          <a:spcPct val="0"/>
                        </a:spcBef>
                        <a:spcAft>
                          <a:spcPts val="300"/>
                        </a:spcAft>
                        <a:buClr>
                          <a:srgbClr val="002776"/>
                        </a:buClr>
                        <a:buSzPct val="80000"/>
                        <a:buFont typeface="Arial" panose="020B0604020202020204" pitchFamily="34" charset="0"/>
                        <a:buChar char="•"/>
                        <a:tabLst/>
                        <a:defRPr/>
                      </a:pPr>
                      <a:r>
                        <a:rPr kumimoji="0" lang="en-US" sz="900" b="0" i="0" u="none" strike="noStrike" kern="1200" cap="none" spc="0" normalizeH="0" baseline="0" noProof="0">
                          <a:ln>
                            <a:noFill/>
                          </a:ln>
                          <a:solidFill>
                            <a:schemeClr val="tx1"/>
                          </a:solidFill>
                          <a:effectLst/>
                          <a:uLnTx/>
                          <a:uFillTx/>
                          <a:latin typeface="+mn-lt"/>
                          <a:ea typeface="+mn-ea"/>
                          <a:cs typeface="Arial" charset="0"/>
                        </a:rPr>
                        <a:t>The project was envisaged to be implemented in two phases.  </a:t>
                      </a:r>
                    </a:p>
                    <a:p>
                      <a:pPr marL="683768" marR="0" lvl="4" indent="-228600" algn="just" defTabSz="1019175" rtl="0" eaLnBrk="1" fontAlgn="base" latinLnBrk="0" hangingPunct="1">
                        <a:lnSpc>
                          <a:spcPct val="106000"/>
                        </a:lnSpc>
                        <a:spcBef>
                          <a:spcPct val="0"/>
                        </a:spcBef>
                        <a:spcAft>
                          <a:spcPts val="300"/>
                        </a:spcAft>
                        <a:buClr>
                          <a:srgbClr val="002776"/>
                        </a:buClr>
                        <a:buSzPct val="80000"/>
                        <a:buFont typeface="Courier New" panose="02070309020205020404" pitchFamily="49" charset="0"/>
                        <a:buChar char="o"/>
                        <a:tabLst/>
                        <a:defRPr/>
                      </a:pPr>
                      <a:r>
                        <a:rPr kumimoji="0" lang="en-US" sz="900" b="0" i="0" u="none" strike="noStrike" kern="1200" cap="none" spc="0" normalizeH="0" baseline="0" noProof="0">
                          <a:ln>
                            <a:noFill/>
                          </a:ln>
                          <a:solidFill>
                            <a:schemeClr val="tx1"/>
                          </a:solidFill>
                          <a:effectLst/>
                          <a:uLnTx/>
                          <a:uFillTx/>
                          <a:latin typeface="+mn-lt"/>
                          <a:ea typeface="+mn-ea"/>
                          <a:cs typeface="Arial" charset="0"/>
                        </a:rPr>
                        <a:t>Phase 1 </a:t>
                      </a:r>
                      <a:r>
                        <a:rPr kumimoji="0" lang="en-US" sz="900" b="0" i="0" u="none" strike="noStrike" kern="1200" cap="none" spc="0" normalizeH="0" baseline="0" noProof="0" err="1">
                          <a:ln>
                            <a:noFill/>
                          </a:ln>
                          <a:solidFill>
                            <a:schemeClr val="tx1"/>
                          </a:solidFill>
                          <a:effectLst/>
                          <a:uLnTx/>
                          <a:uFillTx/>
                          <a:latin typeface="+mn-lt"/>
                          <a:ea typeface="+mn-ea"/>
                          <a:cs typeface="Arial" charset="0"/>
                        </a:rPr>
                        <a:t>incuded</a:t>
                      </a:r>
                      <a:r>
                        <a:rPr kumimoji="0" lang="en-US" sz="900" b="0" i="0" u="none" strike="noStrike" kern="1200" cap="none" spc="0" normalizeH="0" baseline="0" noProof="0">
                          <a:ln>
                            <a:noFill/>
                          </a:ln>
                          <a:solidFill>
                            <a:schemeClr val="tx1"/>
                          </a:solidFill>
                          <a:effectLst/>
                          <a:uLnTx/>
                          <a:uFillTx/>
                          <a:latin typeface="+mn-lt"/>
                          <a:ea typeface="+mn-ea"/>
                          <a:cs typeface="Arial" charset="0"/>
                        </a:rPr>
                        <a:t> a medical college with an annual intake of 150 seats, and a teaching hospital with 650 beds. </a:t>
                      </a:r>
                    </a:p>
                    <a:p>
                      <a:pPr marL="683768" marR="0" lvl="4" indent="-228600" algn="just" defTabSz="1019175" rtl="0" eaLnBrk="1" fontAlgn="base" latinLnBrk="0" hangingPunct="1">
                        <a:lnSpc>
                          <a:spcPct val="106000"/>
                        </a:lnSpc>
                        <a:spcBef>
                          <a:spcPct val="0"/>
                        </a:spcBef>
                        <a:spcAft>
                          <a:spcPts val="300"/>
                        </a:spcAft>
                        <a:buClr>
                          <a:srgbClr val="002776"/>
                        </a:buClr>
                        <a:buSzPct val="80000"/>
                        <a:buFont typeface="Courier New" panose="02070309020205020404" pitchFamily="49" charset="0"/>
                        <a:buChar char="o"/>
                        <a:tabLst/>
                        <a:defRPr/>
                      </a:pPr>
                      <a:r>
                        <a:rPr kumimoji="0" lang="en-US" sz="900" b="0" i="0" u="none" strike="noStrike" kern="1200" cap="none" spc="0" normalizeH="0" baseline="0" noProof="0">
                          <a:ln>
                            <a:noFill/>
                          </a:ln>
                          <a:solidFill>
                            <a:schemeClr val="tx1"/>
                          </a:solidFill>
                          <a:effectLst/>
                          <a:uLnTx/>
                          <a:uFillTx/>
                          <a:latin typeface="+mn-lt"/>
                          <a:ea typeface="+mn-ea"/>
                          <a:cs typeface="Arial" charset="0"/>
                        </a:rPr>
                        <a:t>Phase 2 included a nursing college with 100 seats, post graduate facility for specializing in various streams of neuroscience with 50 seats annually, along with a 350 bedded </a:t>
                      </a:r>
                      <a:r>
                        <a:rPr kumimoji="0" lang="en-US" sz="900" b="0" i="0" u="none" strike="noStrike" kern="1200" cap="none" spc="0" normalizeH="0" baseline="0" noProof="0" err="1">
                          <a:ln>
                            <a:noFill/>
                          </a:ln>
                          <a:solidFill>
                            <a:schemeClr val="tx1"/>
                          </a:solidFill>
                          <a:effectLst/>
                          <a:uLnTx/>
                          <a:uFillTx/>
                          <a:latin typeface="+mn-lt"/>
                          <a:ea typeface="+mn-ea"/>
                          <a:cs typeface="Arial" charset="0"/>
                        </a:rPr>
                        <a:t>Superspeciality</a:t>
                      </a:r>
                      <a:r>
                        <a:rPr kumimoji="0" lang="en-US" sz="900" b="0" i="0" u="none" strike="noStrike" kern="1200" cap="none" spc="0" normalizeH="0" baseline="0" noProof="0">
                          <a:ln>
                            <a:noFill/>
                          </a:ln>
                          <a:solidFill>
                            <a:schemeClr val="tx1"/>
                          </a:solidFill>
                          <a:effectLst/>
                          <a:uLnTx/>
                          <a:uFillTx/>
                          <a:latin typeface="+mn-lt"/>
                          <a:ea typeface="+mn-ea"/>
                          <a:cs typeface="Arial" charset="0"/>
                        </a:rPr>
                        <a:t> hospital providing treatment for neurological disorders. </a:t>
                      </a:r>
                    </a:p>
                    <a:p>
                      <a:pPr marL="128016" marR="0" lvl="1" indent="1588" algn="just" defTabSz="914400" rtl="0" eaLnBrk="1" fontAlgn="base"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Deloitte were:</a:t>
                      </a:r>
                    </a:p>
                    <a:p>
                      <a:pPr marL="365760" marR="0" lvl="1" indent="-184150" algn="just" defTabSz="914400" rtl="0" eaLnBrk="1" fontAlgn="auto" latinLnBrk="0" hangingPunct="1">
                        <a:lnSpc>
                          <a:spcPct val="150000"/>
                        </a:lnSpc>
                        <a:spcBef>
                          <a:spcPts val="0"/>
                        </a:spcBef>
                        <a:spcAft>
                          <a:spcPts val="0"/>
                        </a:spcAft>
                        <a:buClr>
                          <a:srgbClr val="000000"/>
                        </a:buClr>
                        <a:buSzTx/>
                        <a:buFont typeface="Arial" charset="0"/>
                        <a:buChar char="•"/>
                        <a:tabLst/>
                        <a:defRPr/>
                      </a:pPr>
                      <a:r>
                        <a:rPr kumimoji="0" lang="en-US" sz="900" b="0" i="0" u="none" strike="noStrike" kern="1200" cap="none" spc="0" normalizeH="0" baseline="0" noProof="0">
                          <a:ln>
                            <a:noFill/>
                          </a:ln>
                          <a:solidFill>
                            <a:prstClr val="black"/>
                          </a:solidFill>
                          <a:effectLst/>
                          <a:uLnTx/>
                          <a:uFillTx/>
                          <a:latin typeface="+mn-lt"/>
                          <a:ea typeface="+mn-ea"/>
                          <a:cs typeface="Arial" charset="0"/>
                        </a:rPr>
                        <a:t>Assist INK in </a:t>
                      </a:r>
                      <a:r>
                        <a:rPr kumimoji="0" lang="en-US" sz="900" i="0" u="none" strike="noStrike" kern="1200" cap="none" spc="0" normalizeH="0" baseline="0" noProof="0">
                          <a:ln>
                            <a:noFill/>
                          </a:ln>
                          <a:solidFill>
                            <a:prstClr val="black"/>
                          </a:solidFill>
                          <a:effectLst/>
                          <a:uLnTx/>
                          <a:uFillTx/>
                          <a:latin typeface="+mn-lt"/>
                          <a:ea typeface="+mn-ea"/>
                          <a:cs typeface="Arial" charset="0"/>
                        </a:rPr>
                        <a:t>expanding its facilities </a:t>
                      </a:r>
                      <a:r>
                        <a:rPr kumimoji="0" lang="en-US" sz="900" b="0" i="0" u="none" strike="noStrike" kern="1200" cap="none" spc="0" normalizeH="0" baseline="0" noProof="0">
                          <a:ln>
                            <a:noFill/>
                          </a:ln>
                          <a:solidFill>
                            <a:prstClr val="black"/>
                          </a:solidFill>
                          <a:effectLst/>
                          <a:uLnTx/>
                          <a:uFillTx/>
                          <a:latin typeface="+mn-lt"/>
                          <a:ea typeface="+mn-ea"/>
                          <a:cs typeface="Arial" charset="0"/>
                        </a:rPr>
                        <a:t>and services in the area of neurosciences by developing a Detailed Project Report for the establishment of a medical college for MBBS and PG, teaching hospital, nursing college and a </a:t>
                      </a:r>
                      <a:r>
                        <a:rPr kumimoji="0" lang="en-US" sz="900" b="1" i="0" u="none" strike="noStrike" kern="1200" cap="none" spc="0" normalizeH="0" baseline="0" noProof="0">
                          <a:ln>
                            <a:noFill/>
                          </a:ln>
                          <a:solidFill>
                            <a:prstClr val="black"/>
                          </a:solidFill>
                          <a:effectLst/>
                          <a:uLnTx/>
                          <a:uFillTx/>
                          <a:latin typeface="+mn-lt"/>
                          <a:ea typeface="+mn-ea"/>
                          <a:cs typeface="Arial" charset="0"/>
                        </a:rPr>
                        <a:t>disaster and seismic resilient </a:t>
                      </a:r>
                      <a:r>
                        <a:rPr kumimoji="0" lang="en-US" sz="900" b="1" i="0" u="none" strike="noStrike" kern="1200" cap="none" spc="0" normalizeH="0" baseline="0" noProof="0" err="1">
                          <a:ln>
                            <a:noFill/>
                          </a:ln>
                          <a:solidFill>
                            <a:prstClr val="black"/>
                          </a:solidFill>
                          <a:effectLst/>
                          <a:uLnTx/>
                          <a:uFillTx/>
                          <a:latin typeface="+mn-lt"/>
                          <a:ea typeface="+mn-ea"/>
                          <a:cs typeface="Arial" charset="0"/>
                        </a:rPr>
                        <a:t>Superspeciality</a:t>
                      </a:r>
                      <a:r>
                        <a:rPr kumimoji="0" lang="en-US" sz="900" b="1" i="0" u="none" strike="noStrike" kern="1200" cap="none" spc="0" normalizeH="0" baseline="0" noProof="0">
                          <a:ln>
                            <a:noFill/>
                          </a:ln>
                          <a:solidFill>
                            <a:prstClr val="black"/>
                          </a:solidFill>
                          <a:effectLst/>
                          <a:uLnTx/>
                          <a:uFillTx/>
                          <a:latin typeface="+mn-lt"/>
                          <a:ea typeface="+mn-ea"/>
                          <a:cs typeface="Arial" charset="0"/>
                        </a:rPr>
                        <a:t> hospital</a:t>
                      </a:r>
                      <a:r>
                        <a:rPr kumimoji="0" lang="en-US" sz="900" b="0" i="0" u="none" strike="noStrike" kern="1200" cap="none" spc="0" normalizeH="0" baseline="0" noProof="0">
                          <a:ln>
                            <a:noFill/>
                          </a:ln>
                          <a:solidFill>
                            <a:prstClr val="black"/>
                          </a:solidFill>
                          <a:effectLst/>
                          <a:uLnTx/>
                          <a:uFillTx/>
                          <a:latin typeface="+mn-lt"/>
                          <a:ea typeface="+mn-ea"/>
                          <a:cs typeface="Arial" charset="0"/>
                        </a:rPr>
                        <a:t>. </a:t>
                      </a:r>
                    </a:p>
                    <a:p>
                      <a:pPr marL="365760" marR="0" lvl="1" indent="-184150" algn="just" defTabSz="914400" rtl="0" eaLnBrk="1" fontAlgn="auto" latinLnBrk="0" hangingPunct="1">
                        <a:lnSpc>
                          <a:spcPct val="150000"/>
                        </a:lnSpc>
                        <a:spcBef>
                          <a:spcPts val="0"/>
                        </a:spcBef>
                        <a:spcAft>
                          <a:spcPts val="0"/>
                        </a:spcAft>
                        <a:buClr>
                          <a:srgbClr val="000000"/>
                        </a:buClr>
                        <a:buSzTx/>
                        <a:buFont typeface="Arial" charset="0"/>
                        <a:buChar char="•"/>
                        <a:tabLst/>
                        <a:defRPr/>
                      </a:pPr>
                      <a:r>
                        <a:rPr kumimoji="0" lang="en-US" sz="900" b="0" i="0" u="none" strike="noStrike" kern="1200" cap="none" spc="0" normalizeH="0" baseline="0" noProof="0">
                          <a:ln>
                            <a:noFill/>
                          </a:ln>
                          <a:solidFill>
                            <a:prstClr val="black"/>
                          </a:solidFill>
                          <a:effectLst/>
                          <a:uLnTx/>
                          <a:uFillTx/>
                          <a:latin typeface="+mn-lt"/>
                          <a:ea typeface="+mn-ea"/>
                          <a:cs typeface="Arial" charset="0"/>
                        </a:rPr>
                        <a:t>The scope included justification of the need to establish the above facilities for social benefit in relation to the existing health care scenario in the project area and </a:t>
                      </a:r>
                      <a:r>
                        <a:rPr kumimoji="0" lang="en-US" sz="900" b="0" i="0" u="none" strike="noStrike" kern="1200" cap="none" spc="0" normalizeH="0" baseline="0" noProof="0" err="1">
                          <a:ln>
                            <a:noFill/>
                          </a:ln>
                          <a:solidFill>
                            <a:prstClr val="black"/>
                          </a:solidFill>
                          <a:effectLst/>
                          <a:uLnTx/>
                          <a:uFillTx/>
                          <a:latin typeface="+mn-lt"/>
                          <a:ea typeface="+mn-ea"/>
                          <a:cs typeface="Arial" charset="0"/>
                        </a:rPr>
                        <a:t>neighbouring</a:t>
                      </a:r>
                      <a:r>
                        <a:rPr kumimoji="0" lang="en-US" sz="900" b="0" i="0" u="none" strike="noStrike" kern="1200" cap="none" spc="0" normalizeH="0" baseline="0" noProof="0">
                          <a:ln>
                            <a:noFill/>
                          </a:ln>
                          <a:solidFill>
                            <a:prstClr val="black"/>
                          </a:solidFill>
                          <a:effectLst/>
                          <a:uLnTx/>
                          <a:uFillTx/>
                          <a:latin typeface="+mn-lt"/>
                          <a:ea typeface="+mn-ea"/>
                          <a:cs typeface="Arial" charset="0"/>
                        </a:rPr>
                        <a:t> states/ countries, market analysis of the demand for medical education and health sectors, </a:t>
                      </a:r>
                      <a:r>
                        <a:rPr kumimoji="0" lang="en-US" sz="900" b="1" i="0" u="none" strike="noStrike" kern="1200" cap="none" spc="0" normalizeH="0" baseline="0" noProof="0">
                          <a:ln>
                            <a:noFill/>
                          </a:ln>
                          <a:solidFill>
                            <a:prstClr val="black"/>
                          </a:solidFill>
                          <a:effectLst/>
                          <a:uLnTx/>
                          <a:uFillTx/>
                          <a:latin typeface="+mn-lt"/>
                          <a:ea typeface="+mn-ea"/>
                          <a:cs typeface="Arial" charset="0"/>
                        </a:rPr>
                        <a:t>determining project feasibility and investment needs</a:t>
                      </a:r>
                      <a:r>
                        <a:rPr kumimoji="0" lang="en-US" sz="900" b="0" i="0" u="none" strike="noStrike" kern="1200" cap="none" spc="0" normalizeH="0" baseline="0" noProof="0">
                          <a:ln>
                            <a:noFill/>
                          </a:ln>
                          <a:solidFill>
                            <a:prstClr val="black"/>
                          </a:solidFill>
                          <a:effectLst/>
                          <a:uLnTx/>
                          <a:uFillTx/>
                          <a:latin typeface="+mn-lt"/>
                          <a:ea typeface="+mn-ea"/>
                          <a:cs typeface="Arial" charset="0"/>
                        </a:rPr>
                        <a:t> by a </a:t>
                      </a:r>
                      <a:r>
                        <a:rPr kumimoji="0" lang="en-US" sz="900" b="1" i="0" u="none" strike="noStrike" kern="1200" cap="none" spc="0" normalizeH="0" baseline="0" noProof="0">
                          <a:ln>
                            <a:noFill/>
                          </a:ln>
                          <a:solidFill>
                            <a:prstClr val="black"/>
                          </a:solidFill>
                          <a:effectLst/>
                          <a:uLnTx/>
                          <a:uFillTx/>
                          <a:latin typeface="+mn-lt"/>
                          <a:ea typeface="+mn-ea"/>
                          <a:cs typeface="Arial" charset="0"/>
                        </a:rPr>
                        <a:t>detailed analysis of project costs</a:t>
                      </a:r>
                      <a:r>
                        <a:rPr kumimoji="0" lang="en-US" sz="900" b="0" i="0" u="none" strike="noStrike" kern="1200" cap="none" spc="0" normalizeH="0" baseline="0" noProof="0">
                          <a:ln>
                            <a:noFill/>
                          </a:ln>
                          <a:solidFill>
                            <a:prstClr val="black"/>
                          </a:solidFill>
                          <a:effectLst/>
                          <a:uLnTx/>
                          <a:uFillTx/>
                          <a:latin typeface="+mn-lt"/>
                          <a:ea typeface="+mn-ea"/>
                          <a:cs typeface="Arial" charset="0"/>
                        </a:rPr>
                        <a:t>, </a:t>
                      </a:r>
                      <a:r>
                        <a:rPr kumimoji="0" lang="en-US" sz="900" b="1" i="0" u="none" strike="noStrike" kern="1200" cap="none" spc="0" normalizeH="0" baseline="0" noProof="0">
                          <a:ln>
                            <a:noFill/>
                          </a:ln>
                          <a:solidFill>
                            <a:prstClr val="black"/>
                          </a:solidFill>
                          <a:effectLst/>
                          <a:uLnTx/>
                          <a:uFillTx/>
                          <a:latin typeface="+mn-lt"/>
                          <a:ea typeface="+mn-ea"/>
                          <a:cs typeface="Arial" charset="0"/>
                        </a:rPr>
                        <a:t>technology requirement</a:t>
                      </a:r>
                      <a:r>
                        <a:rPr kumimoji="0" lang="en-US" sz="900" b="0" i="0" u="none" strike="noStrike" kern="1200" cap="none" spc="0" normalizeH="0" baseline="0" noProof="0">
                          <a:ln>
                            <a:noFill/>
                          </a:ln>
                          <a:solidFill>
                            <a:prstClr val="black"/>
                          </a:solidFill>
                          <a:effectLst/>
                          <a:uLnTx/>
                          <a:uFillTx/>
                          <a:latin typeface="+mn-lt"/>
                          <a:ea typeface="+mn-ea"/>
                          <a:cs typeface="Arial" charset="0"/>
                        </a:rPr>
                        <a:t>, funding sources, projecting financial statements and models, proposing </a:t>
                      </a:r>
                      <a:r>
                        <a:rPr kumimoji="0" lang="en-US" sz="900" b="0" i="0" u="none" strike="noStrike" kern="1200" cap="none" spc="0" normalizeH="0" baseline="0" noProof="0" err="1">
                          <a:ln>
                            <a:noFill/>
                          </a:ln>
                          <a:solidFill>
                            <a:prstClr val="black"/>
                          </a:solidFill>
                          <a:effectLst/>
                          <a:uLnTx/>
                          <a:uFillTx/>
                          <a:latin typeface="+mn-lt"/>
                          <a:ea typeface="+mn-ea"/>
                          <a:cs typeface="Arial" charset="0"/>
                        </a:rPr>
                        <a:t>organisational</a:t>
                      </a:r>
                      <a:r>
                        <a:rPr kumimoji="0" lang="en-US" sz="900" b="0" i="0" u="none" strike="noStrike" kern="1200" cap="none" spc="0" normalizeH="0" baseline="0" noProof="0">
                          <a:ln>
                            <a:noFill/>
                          </a:ln>
                          <a:solidFill>
                            <a:prstClr val="black"/>
                          </a:solidFill>
                          <a:effectLst/>
                          <a:uLnTx/>
                          <a:uFillTx/>
                          <a:latin typeface="+mn-lt"/>
                          <a:ea typeface="+mn-ea"/>
                          <a:cs typeface="Arial" charset="0"/>
                        </a:rPr>
                        <a:t> structure, governance mechanism and </a:t>
                      </a:r>
                      <a:r>
                        <a:rPr kumimoji="0" lang="en-US" sz="900" b="1" i="0" u="none" strike="noStrike" kern="1200" cap="none" spc="0" normalizeH="0" baseline="0" noProof="0">
                          <a:ln>
                            <a:noFill/>
                          </a:ln>
                          <a:solidFill>
                            <a:prstClr val="black"/>
                          </a:solidFill>
                          <a:effectLst/>
                          <a:uLnTx/>
                          <a:uFillTx/>
                          <a:latin typeface="+mn-lt"/>
                          <a:ea typeface="+mn-ea"/>
                          <a:cs typeface="Arial" charset="0"/>
                        </a:rPr>
                        <a:t>ensuring legal and regulatory compliance.</a:t>
                      </a:r>
                      <a:endParaRPr kumimoji="0" lang="en-US" sz="900" b="1" i="0" u="none" strike="noStrike" kern="1200" cap="none" spc="0" normalizeH="0" baseline="0" noProof="0">
                        <a:ln>
                          <a:noFill/>
                        </a:ln>
                        <a:solidFill>
                          <a:prstClr val="black"/>
                        </a:solidFill>
                        <a:effectLst/>
                        <a:uLnTx/>
                        <a:uFillTx/>
                        <a:latin typeface="+mn-lt"/>
                        <a:ea typeface="+mn-ea"/>
                        <a:cs typeface="+mn-cs"/>
                      </a:endParaRPr>
                    </a:p>
                    <a:p>
                      <a:pPr marL="61913" marR="0" lvl="0" indent="0" algn="just"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endParaRPr kumimoji="0" lang="en-US" sz="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2019;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2020</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0.30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900" b="1">
                <a:solidFill>
                  <a:prstClr val="white"/>
                </a:solidFill>
                <a:latin typeface="Verdana"/>
              </a:rPr>
              <a:t>17</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166948937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2428741845"/>
              </p:ext>
            </p:extLst>
          </p:nvPr>
        </p:nvGraphicFramePr>
        <p:xfrm>
          <a:off x="517290" y="745905"/>
          <a:ext cx="11161565" cy="4659459"/>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Consultancy Support to the C40 Cities Finance Facility Due Diligence Mission to Bangalore</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Deutsche Gesellschaft für </a:t>
                      </a:r>
                      <a:r>
                        <a:rPr lang="en-US" sz="1000" b="0" err="1">
                          <a:solidFill>
                            <a:schemeClr val="bg1"/>
                          </a:solidFill>
                          <a:effectLst/>
                          <a:latin typeface="Verdana" panose="020B0604030504040204" pitchFamily="34" charset="0"/>
                          <a:ea typeface="+mn-ea"/>
                          <a:cs typeface="Times New Roman" panose="02020603050405020304" pitchFamily="18" charset="0"/>
                        </a:rPr>
                        <a:t>Internationale</a:t>
                      </a:r>
                      <a:r>
                        <a:rPr lang="en-US" sz="1000" b="0">
                          <a:solidFill>
                            <a:schemeClr val="bg1"/>
                          </a:solidFill>
                          <a:effectLst/>
                          <a:latin typeface="Verdana" panose="020B0604030504040204" pitchFamily="34" charset="0"/>
                          <a:ea typeface="+mn-ea"/>
                          <a:cs typeface="Times New Roman" panose="02020603050405020304" pitchFamily="18" charset="0"/>
                        </a:rPr>
                        <a:t> </a:t>
                      </a:r>
                      <a:r>
                        <a:rPr lang="en-US" sz="1000" b="0" err="1">
                          <a:solidFill>
                            <a:schemeClr val="bg1"/>
                          </a:solidFill>
                          <a:effectLst/>
                          <a:latin typeface="Verdana" panose="020B0604030504040204" pitchFamily="34" charset="0"/>
                          <a:ea typeface="+mn-ea"/>
                          <a:cs typeface="Times New Roman" panose="02020603050405020304" pitchFamily="18" charset="0"/>
                        </a:rPr>
                        <a:t>Zusammenarbeit</a:t>
                      </a:r>
                      <a:r>
                        <a:rPr lang="en-US" sz="1000" b="0">
                          <a:solidFill>
                            <a:schemeClr val="bg1"/>
                          </a:solidFill>
                          <a:effectLst/>
                          <a:latin typeface="Verdana" panose="020B0604030504040204" pitchFamily="34" charset="0"/>
                          <a:ea typeface="+mn-ea"/>
                          <a:cs typeface="Times New Roman" panose="02020603050405020304" pitchFamily="18" charset="0"/>
                        </a:rPr>
                        <a:t> (GIZ)</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524843">
                <a:tc>
                  <a:txBody>
                    <a:bodyPr/>
                    <a:lstStyle/>
                    <a:p>
                      <a:pPr marL="128016" marR="0" lvl="0" indent="0" algn="just" defTabSz="914400" rtl="0" eaLnBrk="1" fontAlgn="auto" latinLnBrk="0" hangingPunct="1">
                        <a:lnSpc>
                          <a:spcPct val="20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128016" marR="0" lvl="1" indent="1588" algn="just" defTabSz="914400" rtl="0" eaLnBrk="1" fontAlgn="base"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ultimate objective of the CFF is to reduce greenhouse gas emissions and increase resilience in cities by mobilizing finance for city-level climate change action. It aims to achieve the following high-level project outcomes:</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a:ln>
                            <a:noFill/>
                          </a:ln>
                          <a:solidFill>
                            <a:prstClr val="black"/>
                          </a:solidFill>
                          <a:effectLst/>
                          <a:uLnTx/>
                          <a:uFillTx/>
                          <a:latin typeface="Verdana" panose="020B0604030504040204" pitchFamily="34" charset="0"/>
                          <a:ea typeface="PMingLiU"/>
                          <a:cs typeface="+mn-cs"/>
                        </a:rPr>
                        <a:t>Enabling sustainable financing of urban climate change investment projects;</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a:ln>
                            <a:noFill/>
                          </a:ln>
                          <a:solidFill>
                            <a:prstClr val="black"/>
                          </a:solidFill>
                          <a:effectLst/>
                          <a:uLnTx/>
                          <a:uFillTx/>
                          <a:latin typeface="Verdana" panose="020B0604030504040204" pitchFamily="34" charset="0"/>
                          <a:ea typeface="PMingLiU"/>
                          <a:cs typeface="+mn-cs"/>
                        </a:rPr>
                        <a:t>Developing the capacity of city administrations to mobilize and access a broad range of financing instruments;</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a:ln>
                            <a:noFill/>
                          </a:ln>
                          <a:solidFill>
                            <a:prstClr val="black"/>
                          </a:solidFill>
                          <a:effectLst/>
                          <a:uLnTx/>
                          <a:uFillTx/>
                          <a:latin typeface="Verdana" panose="020B0604030504040204" pitchFamily="34" charset="0"/>
                          <a:ea typeface="PMingLiU"/>
                          <a:cs typeface="+mn-cs"/>
                        </a:rPr>
                        <a:t>Sharing knowledge beyond CFF partner cities via peer-to-peer learning and CFF stakeholders; and</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a:ln>
                            <a:noFill/>
                          </a:ln>
                          <a:solidFill>
                            <a:prstClr val="black"/>
                          </a:solidFill>
                          <a:effectLst/>
                          <a:uLnTx/>
                          <a:uFillTx/>
                          <a:latin typeface="Verdana" panose="020B0604030504040204" pitchFamily="34" charset="0"/>
                          <a:ea typeface="PMingLiU"/>
                          <a:cs typeface="+mn-cs"/>
                        </a:rPr>
                        <a:t>Developing partnerships between cities and investors / financiers and their representations.</a:t>
                      </a:r>
                    </a:p>
                    <a:p>
                      <a:pPr marL="128016" marR="0" lvl="0" indent="0" algn="just"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128016" marR="0" lvl="1" indent="1588" algn="just" defTabSz="914400" rtl="0" eaLnBrk="1" fontAlgn="base"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Deloitte were:</a:t>
                      </a:r>
                    </a:p>
                    <a:p>
                      <a:pPr marL="365760" indent="-171450" algn="just">
                        <a:lnSpc>
                          <a:spcPct val="114000"/>
                        </a:lnSpc>
                        <a:buFont typeface="Arial" panose="020B0604020202020204" pitchFamily="34" charset="0"/>
                        <a:buChar char="•"/>
                        <a:defRPr/>
                      </a:pPr>
                      <a:r>
                        <a:rPr lang="en-IN" sz="900" b="1">
                          <a:solidFill>
                            <a:prstClr val="black"/>
                          </a:solidFill>
                          <a:latin typeface="Verdana" panose="020B0604030504040204" pitchFamily="34" charset="0"/>
                          <a:ea typeface="Verdana" panose="020B0604030504040204" pitchFamily="34" charset="0"/>
                        </a:rPr>
                        <a:t>Document existing studies including technical, technological, legal and/or institutional assessments</a:t>
                      </a:r>
                      <a:r>
                        <a:rPr lang="en-IN" sz="900">
                          <a:solidFill>
                            <a:prstClr val="black"/>
                          </a:solidFill>
                          <a:latin typeface="Verdana" panose="020B0604030504040204" pitchFamily="34" charset="0"/>
                          <a:ea typeface="Verdana" panose="020B0604030504040204" pitchFamily="34" charset="0"/>
                        </a:rPr>
                        <a:t>, demand studies, models, cost estimates, environmental and social assessments, financing options, agreements, pledges, frameworks, master plans, etc.</a:t>
                      </a:r>
                    </a:p>
                    <a:p>
                      <a:pPr marL="365760" indent="-171450" algn="just">
                        <a:lnSpc>
                          <a:spcPct val="114000"/>
                        </a:lnSpc>
                        <a:buFont typeface="Arial" panose="020B0604020202020204" pitchFamily="34" charset="0"/>
                        <a:buChar char="•"/>
                        <a:defRPr/>
                      </a:pPr>
                      <a:r>
                        <a:rPr lang="en-IN" sz="900">
                          <a:solidFill>
                            <a:prstClr val="black"/>
                          </a:solidFill>
                          <a:latin typeface="Verdana" panose="020B0604030504040204" pitchFamily="34" charset="0"/>
                          <a:ea typeface="Verdana" panose="020B0604030504040204" pitchFamily="34" charset="0"/>
                        </a:rPr>
                        <a:t>Preparation of a capacity assessment report about the managerial and technical capacities in the relevant city administration for executing </a:t>
                      </a:r>
                      <a:r>
                        <a:rPr lang="en-US" sz="900" b="1">
                          <a:solidFill>
                            <a:prstClr val="black"/>
                          </a:solidFill>
                          <a:latin typeface="Verdana" panose="020B0604030504040204" pitchFamily="34" charset="0"/>
                          <a:ea typeface="Verdana" panose="020B0604030504040204" pitchFamily="34" charset="0"/>
                        </a:rPr>
                        <a:t>climate change investment projects such as resilient roads, hospitals, etc.</a:t>
                      </a:r>
                      <a:endParaRPr lang="en-IN" sz="900" b="1">
                        <a:solidFill>
                          <a:prstClr val="black"/>
                        </a:solidFill>
                        <a:latin typeface="Verdana" panose="020B0604030504040204" pitchFamily="34" charset="0"/>
                        <a:ea typeface="Verdana" panose="020B0604030504040204" pitchFamily="34" charset="0"/>
                      </a:endParaRPr>
                    </a:p>
                    <a:p>
                      <a:pPr marL="365760" indent="-171450" algn="just">
                        <a:lnSpc>
                          <a:spcPct val="114000"/>
                        </a:lnSpc>
                        <a:buFont typeface="Arial" panose="020B0604020202020204" pitchFamily="34" charset="0"/>
                        <a:buChar char="•"/>
                        <a:defRPr/>
                      </a:pPr>
                      <a:r>
                        <a:rPr lang="en-IN" sz="900" b="1">
                          <a:solidFill>
                            <a:prstClr val="black"/>
                          </a:solidFill>
                          <a:latin typeface="Verdana" panose="020B0604030504040204" pitchFamily="34" charset="0"/>
                          <a:ea typeface="Verdana" panose="020B0604030504040204" pitchFamily="34" charset="0"/>
                        </a:rPr>
                        <a:t>Identifying the institutional structure </a:t>
                      </a:r>
                      <a:r>
                        <a:rPr lang="en-IN" sz="900">
                          <a:solidFill>
                            <a:prstClr val="black"/>
                          </a:solidFill>
                          <a:latin typeface="Verdana" panose="020B0604030504040204" pitchFamily="34" charset="0"/>
                          <a:ea typeface="Verdana" panose="020B0604030504040204" pitchFamily="34" charset="0"/>
                        </a:rPr>
                        <a:t>foreseen to implement the Project.</a:t>
                      </a:r>
                    </a:p>
                    <a:p>
                      <a:pPr marL="365760" indent="-171450" algn="just">
                        <a:lnSpc>
                          <a:spcPct val="114000"/>
                        </a:lnSpc>
                        <a:buFont typeface="Arial" panose="020B0604020202020204" pitchFamily="34" charset="0"/>
                        <a:buChar char="•"/>
                        <a:defRPr/>
                      </a:pPr>
                      <a:r>
                        <a:rPr lang="en-IN" sz="900" b="1">
                          <a:solidFill>
                            <a:prstClr val="black"/>
                          </a:solidFill>
                          <a:latin typeface="Verdana" panose="020B0604030504040204" pitchFamily="34" charset="0"/>
                          <a:ea typeface="Verdana" panose="020B0604030504040204" pitchFamily="34" charset="0"/>
                        </a:rPr>
                        <a:t>Reviewing the existing documentation </a:t>
                      </a:r>
                      <a:r>
                        <a:rPr lang="en-IN" sz="900">
                          <a:solidFill>
                            <a:prstClr val="black"/>
                          </a:solidFill>
                          <a:latin typeface="Verdana" panose="020B0604030504040204" pitchFamily="34" charset="0"/>
                          <a:ea typeface="Verdana" panose="020B0604030504040204" pitchFamily="34" charset="0"/>
                        </a:rPr>
                        <a:t>and meeting with key stakeholders</a:t>
                      </a:r>
                    </a:p>
                    <a:p>
                      <a:pPr marL="365760" indent="-171450" algn="just">
                        <a:lnSpc>
                          <a:spcPct val="114000"/>
                        </a:lnSpc>
                        <a:buFont typeface="Arial" panose="020B0604020202020204" pitchFamily="34" charset="0"/>
                        <a:buChar char="•"/>
                        <a:defRPr/>
                      </a:pPr>
                      <a:r>
                        <a:rPr lang="en-IN" sz="900">
                          <a:solidFill>
                            <a:prstClr val="black"/>
                          </a:solidFill>
                          <a:latin typeface="Verdana" panose="020B0604030504040204" pitchFamily="34" charset="0"/>
                          <a:ea typeface="Verdana" panose="020B0604030504040204" pitchFamily="34" charset="0"/>
                        </a:rPr>
                        <a:t>Updating of existing studies and/or the preparation of new studies by </a:t>
                      </a:r>
                      <a:r>
                        <a:rPr lang="en-IN" sz="900" b="1">
                          <a:solidFill>
                            <a:prstClr val="black"/>
                          </a:solidFill>
                          <a:latin typeface="Verdana" panose="020B0604030504040204" pitchFamily="34" charset="0"/>
                          <a:ea typeface="Verdana" panose="020B0604030504040204" pitchFamily="34" charset="0"/>
                        </a:rPr>
                        <a:t>conducting best practice study</a:t>
                      </a:r>
                    </a:p>
                    <a:p>
                      <a:pPr marL="365760" indent="-171450" algn="just">
                        <a:lnSpc>
                          <a:spcPct val="114000"/>
                        </a:lnSpc>
                        <a:buFont typeface="Arial" panose="020B0604020202020204" pitchFamily="34" charset="0"/>
                        <a:buChar char="•"/>
                        <a:defRPr/>
                      </a:pPr>
                      <a:r>
                        <a:rPr lang="en-IN" sz="900">
                          <a:solidFill>
                            <a:prstClr val="black"/>
                          </a:solidFill>
                          <a:latin typeface="Verdana" panose="020B0604030504040204" pitchFamily="34" charset="0"/>
                          <a:ea typeface="Verdana" panose="020B0604030504040204" pitchFamily="34" charset="0"/>
                        </a:rPr>
                        <a:t>Support in completing of the mission documents, such as the risk mitigation framework, the CFF stage 2 questionnaire and the CFF mission report</a:t>
                      </a:r>
                      <a:endParaRPr lang="en-US" sz="900">
                        <a:solidFill>
                          <a:prstClr val="black"/>
                        </a:solidFill>
                        <a:latin typeface="Verdana" panose="020B0604030504040204" pitchFamily="34" charset="0"/>
                        <a:ea typeface="Verdana" panose="020B0604030504040204" pitchFamily="34" charset="0"/>
                      </a:endParaRPr>
                    </a:p>
                    <a:p>
                      <a:pPr marL="61913" marR="0" lvl="0" indent="0" algn="just"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endParaRPr kumimoji="0" lang="en-US" sz="1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96520" marR="0" lvl="0" indent="0" algn="just" defTabSz="914400" rtl="0" eaLnBrk="1" fontAlgn="auto" latinLnBrk="0" hangingPunct="1">
                        <a:lnSpc>
                          <a:spcPct val="115000"/>
                        </a:lnSpc>
                        <a:spcBef>
                          <a:spcPts val="0"/>
                        </a:spcBef>
                        <a:spcAft>
                          <a:spcPts val="0"/>
                        </a:spcAft>
                        <a:buClrTx/>
                        <a:buSzTx/>
                        <a:buFont typeface="Arial" panose="020B0604020202020204" pitchFamily="34" charset="0"/>
                        <a:buNone/>
                        <a:tabLst/>
                        <a:defRPr/>
                      </a:pPr>
                      <a:endParaRPr lang="es-MX" sz="100">
                        <a:solidFill>
                          <a:schemeClr val="tx1"/>
                        </a:solidFill>
                        <a:effectLst/>
                        <a:latin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February</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2020;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March 2020</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0.20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900" b="1">
                <a:solidFill>
                  <a:prstClr val="white"/>
                </a:solidFill>
                <a:latin typeface="Verdana"/>
              </a:rPr>
              <a:t>18</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308339608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4045558511"/>
              </p:ext>
            </p:extLst>
          </p:nvPr>
        </p:nvGraphicFramePr>
        <p:xfrm>
          <a:off x="517290" y="745905"/>
          <a:ext cx="11161565" cy="3836132"/>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Climate Risk Screening and Vulnerability Assessment Tool for the International Finance Corporation</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International Finance Corporation (a part of World Bank Group), United States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212227">
                <a:tc>
                  <a:txBody>
                    <a:bodyPr/>
                    <a:lstStyle/>
                    <a:p>
                      <a:pPr marL="128016"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128016"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 order to support green growth in India, Global Green Growth Institute (GGGI) initiated a program to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integrate climate resilience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into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development programs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and schemes of partner governments with the objective to integrate three pillars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sustainability – environmental sustainability, economic and social development</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GGGI along with GIZ intended to have an assessment of Mahatma Gandhi National Rural Employment Guarantee Act (MGNREGA) contribution to climate change.</a:t>
                      </a:r>
                    </a:p>
                    <a:p>
                      <a:pPr marL="128016"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128016"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1714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Review</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specific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climate phenomenon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for the states of Andhra Pradesh and Rajasthan including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key vulnerabilities </a:t>
                      </a:r>
                    </a:p>
                    <a:p>
                      <a:pPr marL="365760" marR="0" lvl="0" indent="-1714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Review the list of activities undertaken as a part of MGNREGS in the selected blocks (of representative districts) and map the activities against their CCA contributions. </a:t>
                      </a:r>
                    </a:p>
                    <a:p>
                      <a:pPr marL="365760" marR="0" lvl="0" indent="-1714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Conduct stakeholder consultations to capture the views of targeted beneficiaries and state officials in respect of potential of MGNREGS for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building climate resilience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its key challenges, and new areas of interface between MGNREGS and CCA in selected districts.</a:t>
                      </a:r>
                    </a:p>
                    <a:p>
                      <a:pPr marL="365760" marR="0" lvl="0" indent="-1714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Identify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gaps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and recommend specific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actionable agenda/ strategy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for mainstreaming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climate resilience in MGREGS works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in the selected districts.</a:t>
                      </a: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November</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2018;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March 2019</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0.78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900" b="1">
                <a:solidFill>
                  <a:prstClr val="white"/>
                </a:solidFill>
                <a:latin typeface="Verdana"/>
              </a:rPr>
              <a:t>19</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285290311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2684447810"/>
              </p:ext>
            </p:extLst>
          </p:nvPr>
        </p:nvGraphicFramePr>
        <p:xfrm>
          <a:off x="517290" y="745905"/>
          <a:ext cx="11161565" cy="5469465"/>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Providing Management Support and Technical Assistance to Change Management Unit (CMU) KUSP (Kolkata Urban Services for Poor) to facilitate, coordinate, administer and execute Rajiv </a:t>
                      </a:r>
                      <a:r>
                        <a:rPr lang="en-US" sz="1200" b="1" err="1">
                          <a:solidFill>
                            <a:schemeClr val="bg1"/>
                          </a:solidFill>
                          <a:effectLst/>
                          <a:latin typeface="Verdana" panose="020B0604030504040204" pitchFamily="34" charset="0"/>
                          <a:ea typeface="+mn-ea"/>
                          <a:cs typeface="Times New Roman" panose="02020603050405020304" pitchFamily="18" charset="0"/>
                        </a:rPr>
                        <a:t>Awas</a:t>
                      </a:r>
                      <a:r>
                        <a:rPr lang="en-US" sz="1200" b="1">
                          <a:solidFill>
                            <a:schemeClr val="bg1"/>
                          </a:solidFill>
                          <a:effectLst/>
                          <a:latin typeface="Verdana" panose="020B0604030504040204" pitchFamily="34" charset="0"/>
                          <a:ea typeface="+mn-ea"/>
                          <a:cs typeface="Times New Roman" panose="02020603050405020304" pitchFamily="18" charset="0"/>
                        </a:rPr>
                        <a:t> Yojana</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CMU, Kolkata Urban Services for Poor, FCDO</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504633">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endParaRPr kumimoji="0" lang="en-US" sz="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128016"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128016" marR="0" lvl="1" indent="1588" algn="just" defTabSz="914400" rtl="0" eaLnBrk="1" fontAlgn="base"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Rajiv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Awas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Yojana was aimed at urban poverty alleviation and encourage states to focus on the development and upgradation of slums with basic amenities and affordable housing with a whole-city slum approach. Deloitte was mandated to set up the PMU for providing the technical and management support to Government of West Bengal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GoWB</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for implementing RAY.</a:t>
                      </a:r>
                    </a:p>
                    <a:p>
                      <a:pPr marL="128016" marR="0" lvl="1" indent="1588" algn="just" defTabSz="914400" rtl="0" eaLnBrk="1" fontAlgn="base"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Deloitte were:</a:t>
                      </a:r>
                    </a:p>
                    <a:p>
                      <a:pPr marL="365760" marR="0" lvl="0" indent="-171450" algn="just"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Review of the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building codes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to identify appropriate changes required for affordable housing in terms of set offs, higher FAR, mixed use and use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alternative and green building materials and construction technology</a:t>
                      </a:r>
                    </a:p>
                    <a:p>
                      <a:pPr marL="365760" marR="0" lvl="0" indent="-171450" algn="just"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Addressing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gaps in policy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for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i</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assigning of property rights to slum dwellers (ii) reservation of developed land for LIG and EWS housing (iii)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regulatory, policy and strategic changes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on land administration, land use,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disaster risk</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town planning and development control (iv) simplification of procedures for sanctioning building plans (v) creation of funds for urban poor (vi) developing innovative finance mechanisms to fund the slum development and creation of affordable housing</a:t>
                      </a:r>
                    </a:p>
                    <a:p>
                      <a:pPr marL="365760" marR="0" lvl="0" indent="-171450" algn="just"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Identifying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key policy and regulatory reforms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by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reviewing existing state policies, acts and rules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for facilitating preparation of preventive strategy under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Slum Free City Plan</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of Action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SFCPoA</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These included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Municipal Acts, Land Reforms, Building Codes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etc.</a:t>
                      </a:r>
                    </a:p>
                    <a:p>
                      <a:pPr marL="365760" marR="0" lvl="0" indent="-171450" algn="just"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Assessing key issues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 achieving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regulatory/ policy reforms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together with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best practices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for recommending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policy/ legislative changes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impacting land ownership, tenure, reservation etc. of slum dwellers along with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building codes governing construction of such houses</a:t>
                      </a:r>
                    </a:p>
                    <a:p>
                      <a:pPr marL="365760" marR="0" lvl="0" indent="-171450" algn="just"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City/ Draft Development Plan – Preparation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climate resilient guidelines and instructions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for sector plans and investment plans including road, water supply, sewerage, drainage, etc. for the ULBs within KMA to develop the first-generation CDP. Conducting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orientation workshops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for stakeholders at various levels, identification and formation of RAY cells in the ULBs</a:t>
                      </a:r>
                    </a:p>
                    <a:p>
                      <a:pPr marL="365760" marR="0" lvl="0" indent="-171450" algn="just"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Developing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innovative tools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for slum prioritization, project cost, etc. </a:t>
                      </a:r>
                    </a:p>
                    <a:p>
                      <a:pPr marL="365760" marR="0" lvl="0" indent="-171450" algn="just"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Conducting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handholding workshops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thus enabling the ULBs to prepare their individual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SFCPoAs</a:t>
                      </a: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365760" marR="0" lvl="0" indent="-171450" algn="just"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Facilitating GIS enabled slum MIS by assisting and monitoring Geographical Information System (GIS) mapping,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socio-economic survey</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biometric survey and monitoring the integration of GIS and MIS data for all the ULBs</a:t>
                      </a:r>
                    </a:p>
                    <a:p>
                      <a:pPr marL="365760" marR="0" lvl="0" indent="-171450" algn="just"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Development of information technology enabled Management Information System (MIS) to track progress of on-ground activities (for slum survey/ household survey/ livelihood survey/ DPR progress etc.)</a:t>
                      </a:r>
                    </a:p>
                    <a:p>
                      <a:pPr marL="365760" marR="0" lvl="0" indent="-171450" algn="just"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Training and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capacity building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programs on alternative construction technologies</a:t>
                      </a:r>
                      <a:r>
                        <a:rPr lang="en-US" sz="900">
                          <a:solidFill>
                            <a:prstClr val="black"/>
                          </a:solidFill>
                          <a:latin typeface="Verdana" panose="020B0604030504040204" pitchFamily="34" charset="0"/>
                          <a:ea typeface="Verdana" panose="020B0604030504040204" pitchFamily="34" charset="0"/>
                        </a:rPr>
                        <a:t> for improving </a:t>
                      </a:r>
                      <a:r>
                        <a:rPr lang="en-US" sz="900" b="1">
                          <a:solidFill>
                            <a:prstClr val="black"/>
                          </a:solidFill>
                          <a:latin typeface="Verdana" panose="020B0604030504040204" pitchFamily="34" charset="0"/>
                          <a:ea typeface="Verdana" panose="020B0604030504040204" pitchFamily="34" charset="0"/>
                        </a:rPr>
                        <a:t>disaster resilience of buildings and healthcare facilities</a:t>
                      </a:r>
                    </a:p>
                    <a:p>
                      <a:pPr marL="61913" marR="0" lvl="0" indent="0" algn="just" defTabSz="914400" rtl="0" eaLnBrk="1" fontAlgn="auto" latinLnBrk="0" hangingPunct="1">
                        <a:lnSpc>
                          <a:spcPct val="100000"/>
                        </a:lnSpc>
                        <a:spcBef>
                          <a:spcPts val="200"/>
                        </a:spcBef>
                        <a:spcAft>
                          <a:spcPts val="0"/>
                        </a:spcAft>
                        <a:buClrTx/>
                        <a:buSzTx/>
                        <a:buFont typeface="Arial" panose="020B0604020202020204" pitchFamily="34" charset="0"/>
                        <a:buNone/>
                        <a:tabLst/>
                        <a:defRPr/>
                      </a:pPr>
                      <a:endParaRPr lang="en-US" sz="100" b="1">
                        <a:solidFill>
                          <a:prstClr val="black"/>
                        </a:solidFill>
                        <a:latin typeface="Verdana" panose="020B0604030504040204" pitchFamily="34" charset="0"/>
                        <a:ea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September</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2012;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June 2015</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INR 15.3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20</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83160174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3388994922"/>
              </p:ext>
            </p:extLst>
          </p:nvPr>
        </p:nvGraphicFramePr>
        <p:xfrm>
          <a:off x="517290" y="745905"/>
          <a:ext cx="11161565" cy="5901265"/>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Assessment of Master Planning Process &amp; Capacity for the Chennai Metropolitan Area in India</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The World Bank</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504633">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endParaRPr kumimoji="0" lang="en-US" sz="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128016"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128016" marR="0" lvl="1" indent="0" algn="just" defTabSz="914400" rtl="0" eaLnBrk="1" fontAlgn="base"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key objective of the assignment </a:t>
                      </a:r>
                      <a:r>
                        <a:rPr lang="en-US" sz="900">
                          <a:solidFill>
                            <a:prstClr val="black"/>
                          </a:solidFill>
                          <a:latin typeface="Verdana" panose="020B0604030504040204" pitchFamily="34" charset="0"/>
                          <a:ea typeface="Verdana" panose="020B0604030504040204" pitchFamily="34" charset="0"/>
                        </a:rPr>
                        <a:t>was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to (a) review the process of master planning preparation, (b) CMDA’s current institutional capacity, (c) make recommendations for improvement and (d) draft a roadmap that supports CMDA in preparing for its Third Master Plan (TMP). The roadmap shall outline strategy for CMDA  to </a:t>
                      </a:r>
                      <a:r>
                        <a:rPr lang="en-US" sz="900">
                          <a:solidFill>
                            <a:prstClr val="black"/>
                          </a:solidFill>
                          <a:latin typeface="Verdana" panose="020B0604030504040204" pitchFamily="34" charset="0"/>
                          <a:ea typeface="Verdana" panose="020B0604030504040204" pitchFamily="34" charset="0"/>
                        </a:rPr>
                        <a:t>address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different operational and procedural issues to ensure successful preparation and implementation of the master plan.</a:t>
                      </a:r>
                    </a:p>
                    <a:p>
                      <a:pPr marL="128016" marR="0" lvl="1" indent="0" algn="just" defTabSz="914400" rtl="0" eaLnBrk="1" fontAlgn="base"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Deloitte were:</a:t>
                      </a:r>
                    </a:p>
                    <a:p>
                      <a:pPr marL="36576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Review the development and </a:t>
                      </a:r>
                      <a:r>
                        <a:rPr kumimoji="0" lang="en-US" sz="90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identify critical issues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during the preparation of second master plan in detail</a:t>
                      </a:r>
                    </a:p>
                    <a:p>
                      <a:pPr marL="36576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Analyze the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technical capacity gaps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in the existing mandate of CMDA that affect its </a:t>
                      </a:r>
                      <a:r>
                        <a:rPr lang="en-US" sz="900">
                          <a:solidFill>
                            <a:prstClr val="black"/>
                          </a:solidFill>
                          <a:latin typeface="Verdana" panose="020B0604030504040204" pitchFamily="34" charset="0"/>
                          <a:ea typeface="Verdana" panose="020B0604030504040204" pitchFamily="34" charset="0"/>
                        </a:rPr>
                        <a:t>ability</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to develop TMP and its implementation plan </a:t>
                      </a:r>
                    </a:p>
                    <a:p>
                      <a:pPr marL="36576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Assess staff capacity and readiness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SMP may impose to the process of </a:t>
                      </a:r>
                      <a:r>
                        <a:rPr kumimoji="0" lang="en-US" sz="90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integration of the urban risks and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climate priorities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into the Third Master Plan (TMP)</a:t>
                      </a:r>
                    </a:p>
                    <a:p>
                      <a:pPr marL="36576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Review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policies, laws and </a:t>
                      </a:r>
                      <a:r>
                        <a:rPr lang="en-US" sz="900" b="1">
                          <a:solidFill>
                            <a:prstClr val="black"/>
                          </a:solidFill>
                          <a:latin typeface="Verdana" panose="020B0604030504040204" pitchFamily="34" charset="0"/>
                          <a:ea typeface="Verdana" panose="020B0604030504040204" pitchFamily="34" charset="0"/>
                        </a:rPr>
                        <a:t>institutions</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that govern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climate impact</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the master planning process and their effect on implementation</a:t>
                      </a:r>
                    </a:p>
                    <a:p>
                      <a:pPr marL="36576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Review the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institutional framework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that governs master (spatial) planning with full analysis of the different organizations, their roles and structures</a:t>
                      </a:r>
                    </a:p>
                    <a:p>
                      <a:pPr marL="36576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Conduct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thorough analysis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of the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existing regulations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on master planning covering the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legal requirements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possibilities and constraints for incorporation of the urban risks in terms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disaster resilient roads, seismic resilient hospitals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and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climate change priorities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in the master planning process</a:t>
                      </a:r>
                    </a:p>
                    <a:p>
                      <a:pPr marL="36576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Identify gaps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 rules and protocols hindering smooth implementation of master plans</a:t>
                      </a:r>
                    </a:p>
                    <a:p>
                      <a:pPr marL="36576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Recommendations on </a:t>
                      </a:r>
                      <a:r>
                        <a:rPr lang="en-US" sz="900">
                          <a:solidFill>
                            <a:prstClr val="black"/>
                          </a:solidFill>
                          <a:latin typeface="Verdana" panose="020B0604030504040204" pitchFamily="34" charset="0"/>
                          <a:ea typeface="Verdana" panose="020B0604030504040204" pitchFamily="34" charset="0"/>
                        </a:rPr>
                        <a:t>initiatives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to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strengthen the existing regulatory system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for enhanced implementation</a:t>
                      </a:r>
                    </a:p>
                    <a:p>
                      <a:pPr marL="36576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Recommendations on the required interventions in the legislation based on the analysis of its current status and the analysis of suitable internationally recognized successful models and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best practices for mainstreaming climate / disaster resilience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 master planning</a:t>
                      </a:r>
                    </a:p>
                    <a:p>
                      <a:pPr marL="36576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Assess the GIS capacity and draft roadmap to develop a comprehensive GIS database and capacity to support the preparation of the 3rd Master Plan</a:t>
                      </a:r>
                    </a:p>
                    <a:p>
                      <a:pPr marL="36576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Benchmarking Master planning capabilities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against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International best practices</a:t>
                      </a:r>
                    </a:p>
                    <a:p>
                      <a:pPr marL="36576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Recommend adjustments to the master planning process and tools in use (including digital platforms) to enhance implementation, across agency collaboration, coordination between different units of CMDA, and public participation</a:t>
                      </a:r>
                    </a:p>
                    <a:p>
                      <a:pPr marL="36576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Lead the process of development of a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new methodology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for master planning</a:t>
                      </a:r>
                    </a:p>
                    <a:p>
                      <a:pPr marL="36576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Recommend</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corresponding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amendment to existing rules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and the specifications to implement a modernized process of masterplan preparation and ensuring mainstreaming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climate action and resilience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t>
                      </a:r>
                    </a:p>
                    <a:p>
                      <a:pPr marL="36576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Suggest internal and external coordination mechanisms to ensure proper engagement among teams and with various stakeholders, at the very minimum focusing on stakeholders involved in decision making on areas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roads, hospitals, housing, water/sanitation, and resilience</a:t>
                      </a:r>
                    </a:p>
                    <a:p>
                      <a:pPr marL="36576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Recommend plan monitoring parameters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as per the Urban and Regional Development Plans Formulation and Implementation (URDPFI) guidelines</a:t>
                      </a:r>
                    </a:p>
                    <a:p>
                      <a:pPr marL="36576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Draft a roadmap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outlining the scope of the master plan and how the CMDA needs to deal with the different operational and procedural issues to ensure successful preparation and implementation of the master plan</a:t>
                      </a:r>
                    </a:p>
                    <a:p>
                      <a:pPr marL="61913" marR="0" lvl="0" indent="0" algn="just" defTabSz="914400" rtl="0" eaLnBrk="1" fontAlgn="auto" latinLnBrk="0" hangingPunct="1">
                        <a:lnSpc>
                          <a:spcPct val="100000"/>
                        </a:lnSpc>
                        <a:spcBef>
                          <a:spcPts val="200"/>
                        </a:spcBef>
                        <a:spcAft>
                          <a:spcPts val="0"/>
                        </a:spcAft>
                        <a:buClrTx/>
                        <a:buSzTx/>
                        <a:buFont typeface="Arial" panose="020B0604020202020204" pitchFamily="34" charset="0"/>
                        <a:buNone/>
                        <a:tabLst/>
                        <a:defRPr/>
                      </a:pPr>
                      <a:endParaRPr lang="en-US" sz="100" b="1">
                        <a:solidFill>
                          <a:prstClr val="black"/>
                        </a:solidFill>
                        <a:latin typeface="Verdana" panose="020B0604030504040204" pitchFamily="34" charset="0"/>
                        <a:ea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March 2016;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November</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2016</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0.74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21</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257240292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755995638"/>
              </p:ext>
            </p:extLst>
          </p:nvPr>
        </p:nvGraphicFramePr>
        <p:xfrm>
          <a:off x="517290" y="745905"/>
          <a:ext cx="11161565" cy="4396315"/>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Odisha Technical Assistance Support Unit (TASU) for Smart Urban Governance</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Housing &amp; Urban Development Department (HUDD), Government of Odisha</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504633">
                <a:tc>
                  <a:txBody>
                    <a:bodyPr/>
                    <a:lstStyle/>
                    <a:p>
                      <a:pPr marL="96520" marR="0" lvl="0" indent="0" algn="just" defTabSz="914400" rtl="0" eaLnBrk="1" fontAlgn="auto" latinLnBrk="0" hangingPunct="1">
                        <a:lnSpc>
                          <a:spcPct val="150000"/>
                        </a:lnSpc>
                        <a:spcBef>
                          <a:spcPts val="400"/>
                        </a:spcBef>
                        <a:spcAft>
                          <a:spcPts val="400"/>
                        </a:spcAft>
                        <a:buClrTx/>
                        <a:buSzTx/>
                        <a:buFontTx/>
                        <a:buNone/>
                        <a:tabLst/>
                        <a:defRPr/>
                      </a:pPr>
                      <a:endParaRPr kumimoji="0" lang="en-US" sz="1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128016"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128016" marR="0" lvl="0" indent="0" algn="just" defTabSz="914400" rtl="0" eaLnBrk="1" fontAlgn="auto" latinLnBrk="0" hangingPunct="1">
                        <a:lnSpc>
                          <a:spcPct val="100000"/>
                        </a:lnSpc>
                        <a:spcBef>
                          <a:spcPts val="400"/>
                        </a:spcBef>
                        <a:spcAft>
                          <a:spcPts val="40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HUDD set up the Technical Assistance Support Unit (TASU) in the Department aimed at enhancing the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coverage and quality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of basic urban services and strengthen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urban governance  </a:t>
                      </a:r>
                      <a:r>
                        <a:rPr kumimoji="0" lang="en-US" sz="90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by</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leveraging Information and Communication Technology (ICT) enabled interventions.</a:t>
                      </a:r>
                    </a:p>
                    <a:p>
                      <a:pPr marL="128016" marR="0" lvl="0" indent="0" algn="just"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prstClr val="black"/>
                        </a:solidFill>
                        <a:effectLst/>
                        <a:uLnTx/>
                        <a:uFillTx/>
                        <a:latin typeface="+mn-lt"/>
                        <a:ea typeface="+mn-ea"/>
                        <a:cs typeface="+mn-cs"/>
                      </a:endParaRPr>
                    </a:p>
                    <a:p>
                      <a:pPr marL="128016" marR="0" lvl="0" indent="0" algn="just"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mn-lt"/>
                          <a:ea typeface="+mn-ea"/>
                          <a:cs typeface="+mn-cs"/>
                        </a:rPr>
                        <a:t>The key values delivered by Deloitte included</a:t>
                      </a:r>
                      <a:r>
                        <a:rPr kumimoji="0" lang="en-US" sz="900" b="0" i="0" u="none" strike="noStrike" kern="1200" cap="none" spc="0" normalizeH="0" baseline="0" noProof="0">
                          <a:ln>
                            <a:noFill/>
                          </a:ln>
                          <a:solidFill>
                            <a:prstClr val="black"/>
                          </a:solidFill>
                          <a:effectLst/>
                          <a:uLnTx/>
                          <a:uFillTx/>
                          <a:latin typeface="+mn-lt"/>
                          <a:ea typeface="+mn-ea"/>
                          <a:cs typeface="+mn-cs"/>
                        </a:rPr>
                        <a:t>:</a:t>
                      </a:r>
                    </a:p>
                    <a:p>
                      <a:pPr marL="92075" marR="0" lvl="0" indent="0" algn="just"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mn-lt"/>
                        <a:ea typeface="+mn-ea"/>
                        <a:cs typeface="+mn-cs"/>
                      </a:endParaRPr>
                    </a:p>
                    <a:p>
                      <a:pPr marL="365760" marR="0" lvl="0" indent="-1714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n-lt"/>
                          <a:ea typeface="+mn-ea"/>
                          <a:cs typeface="+mn-cs"/>
                        </a:rPr>
                        <a:t>Provided support for preparation and notification of Common Planning and Building Standard Rules for 67 special planning authorities and regional improvement trusts in the State to standardize planning and construction of different categories of buildings in the urban areas including </a:t>
                      </a:r>
                      <a:r>
                        <a:rPr kumimoji="0" lang="en-US" sz="900" b="1" i="0" u="none" strike="noStrike" kern="1200" cap="none" spc="0" normalizeH="0" baseline="0" noProof="0">
                          <a:ln>
                            <a:noFill/>
                          </a:ln>
                          <a:solidFill>
                            <a:prstClr val="black"/>
                          </a:solidFill>
                          <a:effectLst/>
                          <a:uLnTx/>
                          <a:uFillTx/>
                          <a:latin typeface="+mn-lt"/>
                          <a:ea typeface="+mn-ea"/>
                          <a:cs typeface="+mn-cs"/>
                        </a:rPr>
                        <a:t>disaster and seismic resilient buildings and healthcare facilities</a:t>
                      </a:r>
                    </a:p>
                    <a:p>
                      <a:pPr marL="365760" marR="0" lvl="0" indent="-1714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n-lt"/>
                          <a:ea typeface="+mn-ea"/>
                          <a:cs typeface="+mn-cs"/>
                        </a:rPr>
                        <a:t>Formulated a </a:t>
                      </a:r>
                      <a:r>
                        <a:rPr kumimoji="0" lang="en-US" sz="900" b="1" i="0" u="none" strike="noStrike" kern="1200" cap="none" spc="0" normalizeH="0" baseline="0" noProof="0">
                          <a:ln>
                            <a:noFill/>
                          </a:ln>
                          <a:solidFill>
                            <a:prstClr val="black"/>
                          </a:solidFill>
                          <a:effectLst/>
                          <a:uLnTx/>
                          <a:uFillTx/>
                          <a:latin typeface="+mn-lt"/>
                          <a:ea typeface="+mn-ea"/>
                          <a:cs typeface="+mn-cs"/>
                        </a:rPr>
                        <a:t>regulatory framework </a:t>
                      </a:r>
                      <a:r>
                        <a:rPr kumimoji="0" lang="en-US" sz="900" b="0" i="0" u="none" strike="noStrike" kern="1200" cap="none" spc="0" normalizeH="0" baseline="0" noProof="0">
                          <a:ln>
                            <a:noFill/>
                          </a:ln>
                          <a:solidFill>
                            <a:prstClr val="black"/>
                          </a:solidFill>
                          <a:effectLst/>
                          <a:uLnTx/>
                          <a:uFillTx/>
                          <a:latin typeface="+mn-lt"/>
                          <a:ea typeface="+mn-ea"/>
                          <a:cs typeface="+mn-cs"/>
                        </a:rPr>
                        <a:t>for effective implementation of Comprehensive Development Plans</a:t>
                      </a:r>
                    </a:p>
                    <a:p>
                      <a:pPr marL="365760" marR="0" lvl="0" indent="-1714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n-lt"/>
                          <a:ea typeface="+mn-ea"/>
                          <a:cs typeface="+mn-cs"/>
                        </a:rPr>
                        <a:t>Facilitated roll-out of NIC developed Plan-Plus and Action Soft Software for all ULBs in Odisha- for participative decentralized planning to ensure effective utilization of SFC and CFC grants</a:t>
                      </a:r>
                    </a:p>
                    <a:p>
                      <a:pPr marL="365760" marR="0" lvl="0" indent="-1714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n-lt"/>
                          <a:ea typeface="+mn-ea"/>
                          <a:cs typeface="+mn-cs"/>
                        </a:rPr>
                        <a:t>Provided support in implementation of Online Building Plan Approval System for 112 ULBs of Odisha, along with </a:t>
                      </a:r>
                      <a:r>
                        <a:rPr kumimoji="0" lang="en-US" sz="900" b="1" i="0" u="none" strike="noStrike" kern="1200" cap="none" spc="0" normalizeH="0" baseline="0" noProof="0">
                          <a:ln>
                            <a:noFill/>
                          </a:ln>
                          <a:solidFill>
                            <a:prstClr val="black"/>
                          </a:solidFill>
                          <a:effectLst/>
                          <a:uLnTx/>
                          <a:uFillTx/>
                          <a:latin typeface="+mn-lt"/>
                          <a:ea typeface="+mn-ea"/>
                          <a:cs typeface="+mn-cs"/>
                        </a:rPr>
                        <a:t>associated policy / regulatory support and institutional frameworks</a:t>
                      </a:r>
                      <a:r>
                        <a:rPr kumimoji="0" lang="en-US" sz="900" b="0" i="0" u="none" strike="noStrike" kern="1200" cap="none" spc="0" normalizeH="0" baseline="0" noProof="0">
                          <a:ln>
                            <a:noFill/>
                          </a:ln>
                          <a:solidFill>
                            <a:prstClr val="black"/>
                          </a:solidFill>
                          <a:effectLst/>
                          <a:uLnTx/>
                          <a:uFillTx/>
                          <a:latin typeface="+mn-lt"/>
                          <a:ea typeface="+mn-ea"/>
                          <a:cs typeface="+mn-cs"/>
                        </a:rPr>
                        <a:t>. </a:t>
                      </a:r>
                    </a:p>
                    <a:p>
                      <a:pPr marL="365760" marR="0" lvl="0" indent="-1714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n-lt"/>
                          <a:ea typeface="+mn-ea"/>
                          <a:cs typeface="+mn-cs"/>
                        </a:rPr>
                        <a:t>Drafted rules and regulations for setting up of Real Estate Regulatory Authority (RERA) in the State </a:t>
                      </a:r>
                    </a:p>
                    <a:p>
                      <a:pPr marL="365760" marR="0" lvl="0" indent="-1714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mn-lt"/>
                          <a:ea typeface="+mn-ea"/>
                          <a:cs typeface="+mn-cs"/>
                        </a:rPr>
                        <a:t>Prepared draft rules for regulating development </a:t>
                      </a:r>
                      <a:r>
                        <a:rPr kumimoji="0" lang="en-US" sz="900" b="0" i="0" u="none" strike="noStrike" kern="1200" cap="none" spc="0" normalizeH="0" baseline="0" noProof="0">
                          <a:ln>
                            <a:noFill/>
                          </a:ln>
                          <a:solidFill>
                            <a:prstClr val="black"/>
                          </a:solidFill>
                          <a:effectLst/>
                          <a:uLnTx/>
                          <a:uFillTx/>
                          <a:latin typeface="+mn-lt"/>
                          <a:ea typeface="+mn-ea"/>
                          <a:cs typeface="+mn-cs"/>
                        </a:rPr>
                        <a:t>under the jurisdiction of the 67 special planning authorities and regional improvement trusts in the State</a:t>
                      </a:r>
                    </a:p>
                    <a:p>
                      <a:pPr marL="365760" marR="0" lvl="0" indent="-1714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n-lt"/>
                          <a:ea typeface="+mn-ea"/>
                          <a:cs typeface="+mn-cs"/>
                        </a:rPr>
                        <a:t>Defined standards of planning and construction of different categories of buildings in </a:t>
                      </a:r>
                      <a:r>
                        <a:rPr kumimoji="0" lang="en-US" sz="900" b="1" i="0" u="none" strike="noStrike" kern="1200" cap="none" spc="0" normalizeH="0" baseline="0" noProof="0">
                          <a:ln>
                            <a:noFill/>
                          </a:ln>
                          <a:solidFill>
                            <a:prstClr val="black"/>
                          </a:solidFill>
                          <a:effectLst/>
                          <a:uLnTx/>
                          <a:uFillTx/>
                          <a:latin typeface="+mn-lt"/>
                          <a:ea typeface="+mn-ea"/>
                          <a:cs typeface="+mn-cs"/>
                        </a:rPr>
                        <a:t>the urban areas and identified areas of investment through prioritization criteria</a:t>
                      </a:r>
                    </a:p>
                    <a:p>
                      <a:pPr marL="61913" marR="0" lvl="0" indent="0" algn="just" defTabSz="914400" rtl="0" eaLnBrk="1" fontAlgn="auto" latinLnBrk="0" hangingPunct="1">
                        <a:lnSpc>
                          <a:spcPct val="100000"/>
                        </a:lnSpc>
                        <a:spcBef>
                          <a:spcPts val="200"/>
                        </a:spcBef>
                        <a:spcAft>
                          <a:spcPts val="0"/>
                        </a:spcAft>
                        <a:buClrTx/>
                        <a:buSzTx/>
                        <a:buFont typeface="Arial" panose="020B0604020202020204" pitchFamily="34" charset="0"/>
                        <a:buNone/>
                        <a:tabLst/>
                        <a:defRPr/>
                      </a:pPr>
                      <a:endParaRPr lang="en-US" sz="100" b="1">
                        <a:solidFill>
                          <a:prstClr val="black"/>
                        </a:solidFill>
                        <a:latin typeface="Verdana" panose="020B0604030504040204" pitchFamily="34" charset="0"/>
                        <a:ea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February</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2018;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October</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2020</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3.67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22</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249302048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2359514347"/>
              </p:ext>
            </p:extLst>
          </p:nvPr>
        </p:nvGraphicFramePr>
        <p:xfrm>
          <a:off x="517290" y="745905"/>
          <a:ext cx="11161565" cy="4699845"/>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de-DE" sz="1200" b="1">
                          <a:solidFill>
                            <a:schemeClr val="bg1"/>
                          </a:solidFill>
                          <a:effectLst/>
                          <a:latin typeface="Verdana" panose="020B0604030504040204" pitchFamily="34" charset="0"/>
                          <a:ea typeface="+mn-ea"/>
                          <a:cs typeface="Times New Roman" panose="02020603050405020304" pitchFamily="18" charset="0"/>
                        </a:rPr>
                        <a:t>Study of State of the Urban Transport in Tamil Nadu </a:t>
                      </a:r>
                    </a:p>
                    <a:p>
                      <a:pPr marL="71755">
                        <a:lnSpc>
                          <a:spcPts val="1200"/>
                        </a:lnSpc>
                        <a:spcAft>
                          <a:spcPts val="0"/>
                        </a:spcAft>
                      </a:pPr>
                      <a:r>
                        <a:rPr lang="de-DE" sz="1000" b="0">
                          <a:solidFill>
                            <a:schemeClr val="bg1"/>
                          </a:solidFill>
                          <a:effectLst/>
                          <a:latin typeface="Verdana" panose="020B0604030504040204" pitchFamily="34" charset="0"/>
                          <a:ea typeface="+mn-ea"/>
                          <a:cs typeface="Times New Roman" panose="02020603050405020304" pitchFamily="18" charset="0"/>
                        </a:rPr>
                        <a:t>Client: Deutsche Gesellschaft für Internationale Zusammenarbeit (GIZ)</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504633">
                <a:tc>
                  <a:txBody>
                    <a:bodyPr/>
                    <a:lstStyle/>
                    <a:p>
                      <a:pPr marL="128016" algn="just">
                        <a:lnSpc>
                          <a:spcPct val="200000"/>
                        </a:lnSpc>
                        <a:spcBef>
                          <a:spcPts val="400"/>
                        </a:spcBef>
                        <a:spcAft>
                          <a:spcPts val="400"/>
                        </a:spcAft>
                      </a:pPr>
                      <a:r>
                        <a:rPr lang="en-US" sz="900" b="1">
                          <a:latin typeface="Verdana" panose="020B0604030504040204" pitchFamily="34" charset="0"/>
                          <a:ea typeface="Verdana" panose="020B0604030504040204" pitchFamily="34" charset="0"/>
                        </a:rPr>
                        <a:t>Description of Key Activities:</a:t>
                      </a:r>
                    </a:p>
                    <a:p>
                      <a:pPr marL="128016" algn="just">
                        <a:lnSpc>
                          <a:spcPct val="115000"/>
                        </a:lnSpc>
                        <a:spcBef>
                          <a:spcPts val="400"/>
                        </a:spcBef>
                        <a:spcAft>
                          <a:spcPts val="400"/>
                        </a:spcAft>
                      </a:pPr>
                      <a:r>
                        <a:rPr lang="en-US" sz="900">
                          <a:latin typeface="Verdana" panose="020B0604030504040204" pitchFamily="34" charset="0"/>
                          <a:ea typeface="Verdana" panose="020B0604030504040204" pitchFamily="34" charset="0"/>
                        </a:rPr>
                        <a:t>The key objective of this assignment is to provide inputs to the State/City Governments in Tamil Nadu to formulate comprehensive measures to strengthen urban transport in Tamil Nadu. The detailed objectives are enumerated below:</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a:ln>
                            <a:noFill/>
                          </a:ln>
                          <a:solidFill>
                            <a:prstClr val="black"/>
                          </a:solidFill>
                          <a:effectLst/>
                          <a:uLnTx/>
                          <a:uFillTx/>
                          <a:latin typeface="Verdana" panose="020B0604030504040204" pitchFamily="34" charset="0"/>
                          <a:ea typeface="PMingLiU"/>
                          <a:cs typeface="+mn-cs"/>
                        </a:rPr>
                        <a:t>To assess the current status of urban transport in Tamil Nadu</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a:ln>
                            <a:noFill/>
                          </a:ln>
                          <a:solidFill>
                            <a:prstClr val="black"/>
                          </a:solidFill>
                          <a:effectLst/>
                          <a:uLnTx/>
                          <a:uFillTx/>
                          <a:latin typeface="Verdana" panose="020B0604030504040204" pitchFamily="34" charset="0"/>
                          <a:ea typeface="PMingLiU"/>
                          <a:cs typeface="+mn-cs"/>
                        </a:rPr>
                        <a:t>Identify gaps in terms of capacity, quality, institutional strength, regulation and funding in the PT in Tamil Nadu</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a:ln>
                            <a:noFill/>
                          </a:ln>
                          <a:solidFill>
                            <a:prstClr val="black"/>
                          </a:solidFill>
                          <a:effectLst/>
                          <a:uLnTx/>
                          <a:uFillTx/>
                          <a:latin typeface="Verdana" panose="020B0604030504040204" pitchFamily="34" charset="0"/>
                          <a:ea typeface="PMingLiU"/>
                          <a:cs typeface="+mn-cs"/>
                        </a:rPr>
                        <a:t>Identify issues, gaps and areas for improvement from the above analysis</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IN" sz="900" b="0" i="0" u="none" strike="noStrike" kern="1200" cap="none" spc="0" normalizeH="0" baseline="0">
                          <a:ln>
                            <a:noFill/>
                          </a:ln>
                          <a:solidFill>
                            <a:prstClr val="black"/>
                          </a:solidFill>
                          <a:effectLst/>
                          <a:uLnTx/>
                          <a:uFillTx/>
                          <a:latin typeface="Verdana" panose="020B0604030504040204" pitchFamily="34" charset="0"/>
                          <a:ea typeface="PMingLiU"/>
                          <a:cs typeface="+mn-cs"/>
                        </a:rPr>
                        <a:t>To suggest specific improvement plans that address the above gaps by prioritizing the action areas and suggesting measures that could address the identified gaps</a:t>
                      </a:r>
                    </a:p>
                    <a:p>
                      <a:pPr marL="92075" algn="just"/>
                      <a:endParaRPr lang="en-US" sz="900" b="1"/>
                    </a:p>
                    <a:p>
                      <a:pPr marL="128016" algn="just"/>
                      <a:r>
                        <a:rPr lang="en-US" sz="900" b="1"/>
                        <a:t>The key values delivered by Deloitte included</a:t>
                      </a:r>
                      <a:r>
                        <a:rPr lang="en-US" sz="900"/>
                        <a:t>:</a:t>
                      </a:r>
                    </a:p>
                    <a:p>
                      <a:pPr marL="92075" algn="just"/>
                      <a:endParaRPr lang="en-US" sz="900"/>
                    </a:p>
                    <a:p>
                      <a:pPr marL="365760" lvl="0" indent="-171450" algn="just">
                        <a:lnSpc>
                          <a:spcPct val="114000"/>
                        </a:lnSpc>
                        <a:buFont typeface="Arial" panose="020B0604020202020204" pitchFamily="34" charset="0"/>
                        <a:buChar char="•"/>
                      </a:pPr>
                      <a:r>
                        <a:rPr lang="en-US" sz="900"/>
                        <a:t>Conduct </a:t>
                      </a:r>
                      <a:r>
                        <a:rPr lang="en-US" sz="900" b="1"/>
                        <a:t>state level assessment of Urban Transport and mobility infrastructure </a:t>
                      </a:r>
                      <a:r>
                        <a:rPr lang="en-US" sz="900"/>
                        <a:t>in Tamil Nadu in terms of </a:t>
                      </a:r>
                      <a:r>
                        <a:rPr lang="en-US" sz="900" b="1"/>
                        <a:t>climate and disaster resilience</a:t>
                      </a:r>
                      <a:r>
                        <a:rPr lang="en-US" sz="900"/>
                        <a:t>, Assess the existing situation in terms of demographic and urbanization trends, population density, city sizes, trip rates, accident rates, modal split including PT share, IPT share, per capita income etc. Assess city growth drivers (i.e. sectors of the city economy). </a:t>
                      </a:r>
                    </a:p>
                    <a:p>
                      <a:pPr marL="365760" lvl="0" indent="-171450" algn="just">
                        <a:lnSpc>
                          <a:spcPct val="114000"/>
                        </a:lnSpc>
                        <a:buFont typeface="Arial" panose="020B0604020202020204" pitchFamily="34" charset="0"/>
                        <a:buChar char="•"/>
                      </a:pPr>
                      <a:r>
                        <a:rPr lang="en-US" sz="900" b="1"/>
                        <a:t>Review previous literature/ documents </a:t>
                      </a:r>
                      <a:r>
                        <a:rPr lang="en-US" sz="900"/>
                        <a:t>such as policies, laws, Master Plans/ CDP/ CMP /DPRs relevant to urban transport sector and </a:t>
                      </a:r>
                      <a:r>
                        <a:rPr lang="en-US" sz="900" b="1"/>
                        <a:t>disaster resilient transport infrastructure</a:t>
                      </a:r>
                      <a:r>
                        <a:rPr lang="en-US" sz="900"/>
                        <a:t> in each city</a:t>
                      </a:r>
                    </a:p>
                    <a:p>
                      <a:pPr marL="365760" lvl="0" indent="-171450" algn="just">
                        <a:lnSpc>
                          <a:spcPct val="114000"/>
                        </a:lnSpc>
                        <a:buFont typeface="Arial" panose="020B0604020202020204" pitchFamily="34" charset="0"/>
                        <a:buChar char="•"/>
                      </a:pPr>
                      <a:r>
                        <a:rPr lang="en-US" sz="900" b="1"/>
                        <a:t>Identifying priority areas for actions and investments</a:t>
                      </a:r>
                      <a:r>
                        <a:rPr lang="en-US" sz="900"/>
                        <a:t> and suggesting corresponding </a:t>
                      </a:r>
                      <a:r>
                        <a:rPr lang="en-US" sz="900" b="1"/>
                        <a:t>policy, program, technology, </a:t>
                      </a:r>
                      <a:r>
                        <a:rPr lang="en-US" sz="900"/>
                        <a:t>project, funding or organizational measures for strengthening urban transport and associated infrastructure</a:t>
                      </a:r>
                    </a:p>
                    <a:p>
                      <a:pPr marL="365760" lvl="0" indent="-171450" algn="just">
                        <a:lnSpc>
                          <a:spcPct val="114000"/>
                        </a:lnSpc>
                        <a:buFont typeface="Arial" panose="020B0604020202020204" pitchFamily="34" charset="0"/>
                        <a:buChar char="•"/>
                      </a:pPr>
                      <a:r>
                        <a:rPr lang="en-US" sz="900"/>
                        <a:t>Prepare case studies of identified cities/states having positive impact of </a:t>
                      </a:r>
                      <a:r>
                        <a:rPr lang="en-US" sz="900" b="1"/>
                        <a:t>policy interventions in urban transport sector. </a:t>
                      </a:r>
                    </a:p>
                    <a:p>
                      <a:pPr marL="61913" marR="0" lvl="0" indent="0" algn="just" defTabSz="914400" rtl="0" eaLnBrk="1" fontAlgn="auto" latinLnBrk="0" hangingPunct="1">
                        <a:lnSpc>
                          <a:spcPct val="100000"/>
                        </a:lnSpc>
                        <a:spcBef>
                          <a:spcPts val="200"/>
                        </a:spcBef>
                        <a:spcAft>
                          <a:spcPts val="0"/>
                        </a:spcAft>
                        <a:buClrTx/>
                        <a:buSzTx/>
                        <a:buFont typeface="Arial" panose="020B0604020202020204" pitchFamily="34" charset="0"/>
                        <a:buNone/>
                        <a:tabLst/>
                        <a:defRPr/>
                      </a:pPr>
                      <a:endParaRPr lang="en-US" sz="100" b="1">
                        <a:solidFill>
                          <a:prstClr val="black"/>
                        </a:solidFill>
                        <a:latin typeface="Verdana" panose="020B0604030504040204" pitchFamily="34" charset="0"/>
                        <a:ea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December</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2019;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August 2020</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0.84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23</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392262586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2352390655"/>
              </p:ext>
            </p:extLst>
          </p:nvPr>
        </p:nvGraphicFramePr>
        <p:xfrm>
          <a:off x="517290" y="745905"/>
          <a:ext cx="11161565" cy="5839289"/>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Technical Assistance for Smart Urban Development in Indian States (Odisha, Madhya Pradesh, Jharkhand, Chandigarh and Andhra Pradesh)</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Foreign and Commonwealth Development Office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504633">
                <a:tc>
                  <a:txBody>
                    <a:bodyPr/>
                    <a:lstStyle/>
                    <a:p>
                      <a:pPr marL="128016" marR="0" lvl="0" indent="0" algn="just" defTabSz="914400" rtl="0" eaLnBrk="1" fontAlgn="auto" latinLnBrk="0" hangingPunct="1">
                        <a:lnSpc>
                          <a:spcPct val="15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128016"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Foreign and Commonwealth Development Office (FCDO) extended specific and focused technical assistance to selected smart cities (Andhra Pradesh-Amaravati, Odisha-Bhubaneswar, Madhya Pradesh-Indore, Maharashtra-Pune, Jharkhand-Ranchi and Chandigarh) in close consultation with the Ministry of Housing &amp; Urban Affairs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MoHUA</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on city specific priorities to make them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smart, inclusive, green and resilient</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The focus of the program is on supporting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sustainable economic growth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and creating new job opportunities by strengthening urban governance, enhancing the flow of investment in smart city infrastructure and facilitating twinning of Indian cities with cities internationally including in the UK. Innovation around technology, finance and governance, inclusion of the poorest and women and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climate resilience </a:t>
                      </a:r>
                      <a:r>
                        <a:rPr lang="en-US" sz="900">
                          <a:solidFill>
                            <a:prstClr val="black"/>
                          </a:solidFill>
                          <a:latin typeface="Verdana" panose="020B0604030504040204" pitchFamily="34" charset="0"/>
                          <a:ea typeface="Verdana" panose="020B0604030504040204" pitchFamily="34" charset="0"/>
                        </a:rPr>
                        <a:t>were</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critical cross cutting themes of our support.</a:t>
                      </a:r>
                    </a:p>
                    <a:p>
                      <a:pPr marL="128016"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128016"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lvl="0" indent="-171450" algn="just">
                        <a:lnSpc>
                          <a:spcPct val="114000"/>
                        </a:lnSpc>
                        <a:buFont typeface="Arial" panose="020B0604020202020204" pitchFamily="34" charset="0"/>
                        <a:buChar char="•"/>
                      </a:pPr>
                      <a:r>
                        <a:rPr lang="en-GB" sz="900" kern="1200">
                          <a:solidFill>
                            <a:schemeClr val="tx1"/>
                          </a:solidFill>
                          <a:effectLst/>
                          <a:latin typeface="+mn-lt"/>
                          <a:ea typeface="Calibri" panose="020F0502020204030204" pitchFamily="34" charset="0"/>
                          <a:cs typeface="Times New Roman" panose="02020603050405020304" pitchFamily="18" charset="0"/>
                        </a:rPr>
                        <a:t>Mapping of indicators being reported by departments/agencies against national frameworks, viz. </a:t>
                      </a:r>
                      <a:r>
                        <a:rPr lang="en-GB" sz="900" b="1" kern="1200" err="1">
                          <a:solidFill>
                            <a:schemeClr val="tx1"/>
                          </a:solidFill>
                          <a:effectLst/>
                          <a:latin typeface="+mn-lt"/>
                          <a:ea typeface="Calibri" panose="020F0502020204030204" pitchFamily="34" charset="0"/>
                          <a:cs typeface="Times New Roman" panose="02020603050405020304" pitchFamily="18" charset="0"/>
                        </a:rPr>
                        <a:t>MoHUA’s</a:t>
                      </a:r>
                      <a:r>
                        <a:rPr lang="en-GB" sz="900" b="1" kern="1200">
                          <a:solidFill>
                            <a:schemeClr val="tx1"/>
                          </a:solidFill>
                          <a:effectLst/>
                          <a:latin typeface="+mn-lt"/>
                          <a:ea typeface="Calibri" panose="020F0502020204030204" pitchFamily="34" charset="0"/>
                          <a:cs typeface="Times New Roman" panose="02020603050405020304" pitchFamily="18" charset="0"/>
                        </a:rPr>
                        <a:t> Climate Smart Cities Assessment Framework, and by Ministry of Environment, Forest and Climate Change</a:t>
                      </a:r>
                      <a:r>
                        <a:rPr lang="en-GB" sz="900" kern="1200">
                          <a:solidFill>
                            <a:schemeClr val="tx1"/>
                          </a:solidFill>
                          <a:effectLst/>
                          <a:latin typeface="+mn-lt"/>
                          <a:ea typeface="Calibri" panose="020F0502020204030204" pitchFamily="34" charset="0"/>
                          <a:cs typeface="Times New Roman" panose="02020603050405020304" pitchFamily="18" charset="0"/>
                        </a:rPr>
                        <a:t> </a:t>
                      </a:r>
                      <a:endParaRPr lang="en-IN" sz="900" kern="1200">
                        <a:solidFill>
                          <a:schemeClr val="tx1"/>
                        </a:solidFill>
                        <a:effectLst/>
                        <a:latin typeface="+mn-lt"/>
                        <a:ea typeface="Calibri" panose="020F0502020204030204" pitchFamily="34" charset="0"/>
                        <a:cs typeface="Arial" panose="020B0604020202020204" pitchFamily="34" charset="0"/>
                      </a:endParaRPr>
                    </a:p>
                    <a:p>
                      <a:pPr marL="365760" lvl="0" indent="-171450" algn="just">
                        <a:lnSpc>
                          <a:spcPct val="114000"/>
                        </a:lnSpc>
                        <a:buFont typeface="Arial" panose="020B0604020202020204" pitchFamily="34" charset="0"/>
                        <a:buChar char="•"/>
                      </a:pPr>
                      <a:r>
                        <a:rPr lang="en-GB" sz="900" b="1" kern="1200" err="1">
                          <a:solidFill>
                            <a:schemeClr val="tx1"/>
                          </a:solidFill>
                          <a:effectLst/>
                          <a:latin typeface="+mn-lt"/>
                          <a:ea typeface="Calibri" panose="020F0502020204030204" pitchFamily="34" charset="0"/>
                          <a:cs typeface="Times New Roman" panose="02020603050405020304" pitchFamily="18" charset="0"/>
                        </a:rPr>
                        <a:t>Condcuted</a:t>
                      </a:r>
                      <a:r>
                        <a:rPr lang="en-GB" sz="900" b="1" kern="1200">
                          <a:solidFill>
                            <a:schemeClr val="tx1"/>
                          </a:solidFill>
                          <a:effectLst/>
                          <a:latin typeface="+mn-lt"/>
                          <a:ea typeface="Calibri" panose="020F0502020204030204" pitchFamily="34" charset="0"/>
                          <a:cs typeface="Times New Roman" panose="02020603050405020304" pitchFamily="18" charset="0"/>
                        </a:rPr>
                        <a:t> </a:t>
                      </a:r>
                      <a:r>
                        <a:rPr lang="en-GB" sz="900" b="1" kern="1200">
                          <a:solidFill>
                            <a:schemeClr val="tx1"/>
                          </a:solidFill>
                          <a:latin typeface="+mn-lt"/>
                          <a:ea typeface="Calibri" panose="020F0502020204030204" pitchFamily="34" charset="0"/>
                          <a:cs typeface="Times New Roman" panose="02020603050405020304" pitchFamily="18" charset="0"/>
                        </a:rPr>
                        <a:t>As Is Assessment </a:t>
                      </a:r>
                      <a:r>
                        <a:rPr lang="en-GB" sz="900" kern="1200">
                          <a:solidFill>
                            <a:schemeClr val="tx1"/>
                          </a:solidFill>
                          <a:latin typeface="+mn-lt"/>
                          <a:ea typeface="Calibri" panose="020F0502020204030204" pitchFamily="34" charset="0"/>
                          <a:cs typeface="Times New Roman" panose="02020603050405020304" pitchFamily="18" charset="0"/>
                        </a:rPr>
                        <a:t>and </a:t>
                      </a:r>
                      <a:r>
                        <a:rPr lang="en-GB" sz="900" b="1" kern="1200">
                          <a:solidFill>
                            <a:schemeClr val="tx1"/>
                          </a:solidFill>
                          <a:effectLst/>
                          <a:latin typeface="+mn-lt"/>
                          <a:ea typeface="Calibri" panose="020F0502020204030204" pitchFamily="34" charset="0"/>
                          <a:cs typeface="Times New Roman" panose="02020603050405020304" pitchFamily="18" charset="0"/>
                        </a:rPr>
                        <a:t>Identified gaps in policies</a:t>
                      </a:r>
                      <a:r>
                        <a:rPr lang="en-GB" sz="900" kern="1200">
                          <a:solidFill>
                            <a:schemeClr val="tx1"/>
                          </a:solidFill>
                          <a:effectLst/>
                          <a:latin typeface="+mn-lt"/>
                          <a:ea typeface="Calibri" panose="020F0502020204030204" pitchFamily="34" charset="0"/>
                          <a:cs typeface="Times New Roman" panose="02020603050405020304" pitchFamily="18" charset="0"/>
                        </a:rPr>
                        <a:t>, processes and responsibilities of </a:t>
                      </a:r>
                      <a:r>
                        <a:rPr lang="en-GB" sz="900" b="1" kern="1200">
                          <a:solidFill>
                            <a:schemeClr val="tx1"/>
                          </a:solidFill>
                          <a:effectLst/>
                          <a:latin typeface="+mn-lt"/>
                          <a:ea typeface="Calibri" panose="020F0502020204030204" pitchFamily="34" charset="0"/>
                          <a:cs typeface="Times New Roman" panose="02020603050405020304" pitchFamily="18" charset="0"/>
                        </a:rPr>
                        <a:t>target setting, recording, monitoring, verification and reporting</a:t>
                      </a:r>
                      <a:r>
                        <a:rPr lang="en-GB" sz="900" kern="1200">
                          <a:solidFill>
                            <a:schemeClr val="tx1"/>
                          </a:solidFill>
                          <a:effectLst/>
                          <a:latin typeface="+mn-lt"/>
                          <a:ea typeface="Calibri" panose="020F0502020204030204" pitchFamily="34" charset="0"/>
                          <a:cs typeface="Times New Roman" panose="02020603050405020304" pitchFamily="18" charset="0"/>
                        </a:rPr>
                        <a:t> by required agencies/departments</a:t>
                      </a:r>
                      <a:endParaRPr lang="en-IN" sz="900" kern="1200">
                        <a:solidFill>
                          <a:schemeClr val="tx1"/>
                        </a:solidFill>
                        <a:effectLst/>
                        <a:latin typeface="+mn-lt"/>
                        <a:ea typeface="Calibri" panose="020F0502020204030204" pitchFamily="34" charset="0"/>
                        <a:cs typeface="Arial" panose="020B0604020202020204" pitchFamily="34" charset="0"/>
                      </a:endParaRPr>
                    </a:p>
                    <a:p>
                      <a:pPr marL="365760" lvl="0" indent="-171450" algn="just">
                        <a:lnSpc>
                          <a:spcPct val="114000"/>
                        </a:lnSpc>
                        <a:buFont typeface="Arial" panose="020B0604020202020204" pitchFamily="34" charset="0"/>
                        <a:buChar char="•"/>
                      </a:pPr>
                      <a:r>
                        <a:rPr lang="en-GB" sz="900" kern="1200">
                          <a:solidFill>
                            <a:schemeClr val="tx1"/>
                          </a:solidFill>
                          <a:effectLst/>
                          <a:latin typeface="+mn-lt"/>
                          <a:ea typeface="Calibri" panose="020F0502020204030204" pitchFamily="34" charset="0"/>
                          <a:cs typeface="Times New Roman" panose="02020603050405020304" pitchFamily="18" charset="0"/>
                        </a:rPr>
                        <a:t>Identification of </a:t>
                      </a:r>
                      <a:r>
                        <a:rPr lang="en-GB" sz="900" b="1" kern="1200">
                          <a:solidFill>
                            <a:schemeClr val="tx1"/>
                          </a:solidFill>
                          <a:effectLst/>
                          <a:latin typeface="+mn-lt"/>
                          <a:ea typeface="Calibri" panose="020F0502020204030204" pitchFamily="34" charset="0"/>
                          <a:cs typeface="Times New Roman" panose="02020603050405020304" pitchFamily="18" charset="0"/>
                        </a:rPr>
                        <a:t>capacity building needs</a:t>
                      </a:r>
                      <a:r>
                        <a:rPr lang="en-GB" sz="900" kern="1200">
                          <a:solidFill>
                            <a:schemeClr val="tx1"/>
                          </a:solidFill>
                          <a:effectLst/>
                          <a:latin typeface="+mn-lt"/>
                          <a:ea typeface="Calibri" panose="020F0502020204030204" pitchFamily="34" charset="0"/>
                          <a:cs typeface="Times New Roman" panose="02020603050405020304" pitchFamily="18" charset="0"/>
                        </a:rPr>
                        <a:t> of agencies on results monitoring and reporting and </a:t>
                      </a:r>
                      <a:r>
                        <a:rPr lang="en-GB" sz="900" b="1" kern="1200">
                          <a:solidFill>
                            <a:schemeClr val="tx1"/>
                          </a:solidFill>
                          <a:effectLst/>
                          <a:latin typeface="+mn-lt"/>
                          <a:ea typeface="Calibri" panose="020F0502020204030204" pitchFamily="34" charset="0"/>
                          <a:cs typeface="Times New Roman" panose="02020603050405020304" pitchFamily="18" charset="0"/>
                        </a:rPr>
                        <a:t>prioritize the area of investment needs</a:t>
                      </a:r>
                      <a:endParaRPr lang="en-IN" sz="900" b="1" kern="1200">
                        <a:solidFill>
                          <a:schemeClr val="tx1"/>
                        </a:solidFill>
                        <a:effectLst/>
                        <a:latin typeface="+mn-lt"/>
                        <a:ea typeface="Calibri" panose="020F0502020204030204" pitchFamily="34" charset="0"/>
                        <a:cs typeface="Arial" panose="020B0604020202020204" pitchFamily="34" charset="0"/>
                      </a:endParaRPr>
                    </a:p>
                    <a:p>
                      <a:pPr marL="365760" lvl="0" indent="-171450" algn="just">
                        <a:lnSpc>
                          <a:spcPct val="114000"/>
                        </a:lnSpc>
                        <a:buFont typeface="Arial" panose="020B0604020202020204" pitchFamily="34" charset="0"/>
                        <a:buChar char="•"/>
                      </a:pPr>
                      <a:r>
                        <a:rPr lang="en-GB" sz="900" b="1" kern="1200">
                          <a:solidFill>
                            <a:schemeClr val="tx1"/>
                          </a:solidFill>
                          <a:effectLst/>
                          <a:latin typeface="+mn-lt"/>
                          <a:ea typeface="Calibri" panose="020F0502020204030204" pitchFamily="34" charset="0"/>
                          <a:cs typeface="Times New Roman" panose="02020603050405020304" pitchFamily="18" charset="0"/>
                        </a:rPr>
                        <a:t>Study of good practices</a:t>
                      </a:r>
                      <a:r>
                        <a:rPr lang="en-GB" sz="900" kern="1200">
                          <a:solidFill>
                            <a:schemeClr val="tx1"/>
                          </a:solidFill>
                          <a:effectLst/>
                          <a:latin typeface="+mn-lt"/>
                          <a:ea typeface="Calibri" panose="020F0502020204030204" pitchFamily="34" charset="0"/>
                          <a:cs typeface="Times New Roman" panose="02020603050405020304" pitchFamily="18" charset="0"/>
                        </a:rPr>
                        <a:t> in cities, including in UK, around </a:t>
                      </a:r>
                      <a:r>
                        <a:rPr lang="en-GB" sz="900" b="1" kern="1200">
                          <a:solidFill>
                            <a:schemeClr val="tx1"/>
                          </a:solidFill>
                          <a:effectLst/>
                          <a:latin typeface="+mn-lt"/>
                          <a:ea typeface="Calibri" panose="020F0502020204030204" pitchFamily="34" charset="0"/>
                          <a:cs typeface="Times New Roman" panose="02020603050405020304" pitchFamily="18" charset="0"/>
                        </a:rPr>
                        <a:t>resilient infrastructure such as roads, healthcare facilities</a:t>
                      </a:r>
                      <a:r>
                        <a:rPr lang="en-GB" sz="900" kern="1200">
                          <a:solidFill>
                            <a:schemeClr val="tx1"/>
                          </a:solidFill>
                          <a:effectLst/>
                          <a:latin typeface="+mn-lt"/>
                          <a:ea typeface="Calibri" panose="020F0502020204030204" pitchFamily="34" charset="0"/>
                          <a:cs typeface="Times New Roman" panose="02020603050405020304" pitchFamily="18" charset="0"/>
                        </a:rPr>
                        <a:t>, </a:t>
                      </a:r>
                      <a:r>
                        <a:rPr lang="en-GB" sz="900" b="1" kern="1200">
                          <a:solidFill>
                            <a:schemeClr val="tx1"/>
                          </a:solidFill>
                          <a:effectLst/>
                          <a:latin typeface="+mn-lt"/>
                          <a:ea typeface="Calibri" panose="020F0502020204030204" pitchFamily="34" charset="0"/>
                          <a:cs typeface="Times New Roman" panose="02020603050405020304" pitchFamily="18" charset="0"/>
                        </a:rPr>
                        <a:t>monitoring and reporting in environment and climate action</a:t>
                      </a:r>
                      <a:r>
                        <a:rPr lang="en-GB" sz="900" kern="1200">
                          <a:solidFill>
                            <a:schemeClr val="tx1"/>
                          </a:solidFill>
                          <a:effectLst/>
                          <a:latin typeface="+mn-lt"/>
                          <a:ea typeface="Calibri" panose="020F0502020204030204" pitchFamily="34" charset="0"/>
                          <a:cs typeface="Times New Roman" panose="02020603050405020304" pitchFamily="18" charset="0"/>
                        </a:rPr>
                        <a:t> in multi-agency set up</a:t>
                      </a:r>
                      <a:endParaRPr lang="en-IN" sz="900" kern="1200">
                        <a:solidFill>
                          <a:schemeClr val="tx1"/>
                        </a:solidFill>
                        <a:effectLst/>
                        <a:latin typeface="+mn-lt"/>
                        <a:ea typeface="Calibri" panose="020F0502020204030204" pitchFamily="34" charset="0"/>
                        <a:cs typeface="Arial" panose="020B0604020202020204" pitchFamily="34" charset="0"/>
                      </a:endParaRPr>
                    </a:p>
                    <a:p>
                      <a:pPr marL="365760" lvl="0" indent="-171450" algn="just">
                        <a:lnSpc>
                          <a:spcPct val="114000"/>
                        </a:lnSpc>
                        <a:buFont typeface="Arial" panose="020B0604020202020204" pitchFamily="34" charset="0"/>
                        <a:buChar char="•"/>
                      </a:pPr>
                      <a:r>
                        <a:rPr lang="en-GB" sz="900" kern="1200">
                          <a:solidFill>
                            <a:schemeClr val="tx1"/>
                          </a:solidFill>
                          <a:effectLst/>
                          <a:latin typeface="+mn-lt"/>
                          <a:ea typeface="Calibri" panose="020F0502020204030204" pitchFamily="34" charset="0"/>
                          <a:cs typeface="Times New Roman" panose="02020603050405020304" pitchFamily="18" charset="0"/>
                        </a:rPr>
                        <a:t>Organise </a:t>
                      </a:r>
                      <a:r>
                        <a:rPr lang="en-GB" sz="900" b="1" kern="1200">
                          <a:solidFill>
                            <a:schemeClr val="tx1"/>
                          </a:solidFill>
                          <a:effectLst/>
                          <a:latin typeface="+mn-lt"/>
                          <a:ea typeface="Calibri" panose="020F0502020204030204" pitchFamily="34" charset="0"/>
                          <a:cs typeface="Times New Roman" panose="02020603050405020304" pitchFamily="18" charset="0"/>
                        </a:rPr>
                        <a:t>knowledge sharing consultation workshops</a:t>
                      </a:r>
                      <a:r>
                        <a:rPr lang="en-GB" sz="900" kern="1200">
                          <a:solidFill>
                            <a:schemeClr val="tx1"/>
                          </a:solidFill>
                          <a:effectLst/>
                          <a:latin typeface="+mn-lt"/>
                          <a:ea typeface="Calibri" panose="020F0502020204030204" pitchFamily="34" charset="0"/>
                          <a:cs typeface="Times New Roman" panose="02020603050405020304" pitchFamily="18" charset="0"/>
                        </a:rPr>
                        <a:t> to invite ideas from national and international institutes/ agencies in practice and theory of monitoring and </a:t>
                      </a:r>
                      <a:r>
                        <a:rPr lang="en-GB" sz="900" b="1" kern="1200">
                          <a:solidFill>
                            <a:schemeClr val="tx1"/>
                          </a:solidFill>
                          <a:effectLst/>
                          <a:latin typeface="+mn-lt"/>
                          <a:ea typeface="Calibri" panose="020F0502020204030204" pitchFamily="34" charset="0"/>
                          <a:cs typeface="Times New Roman" panose="02020603050405020304" pitchFamily="18" charset="0"/>
                        </a:rPr>
                        <a:t>reporting on climate change resilience indicators</a:t>
                      </a:r>
                      <a:endParaRPr lang="en-IN" sz="900" kern="1200">
                        <a:solidFill>
                          <a:schemeClr val="tx1"/>
                        </a:solidFill>
                        <a:effectLst/>
                        <a:latin typeface="+mn-lt"/>
                        <a:ea typeface="Calibri" panose="020F0502020204030204" pitchFamily="34" charset="0"/>
                        <a:cs typeface="Arial" panose="020B0604020202020204" pitchFamily="34" charset="0"/>
                      </a:endParaRPr>
                    </a:p>
                    <a:p>
                      <a:pPr marL="365760" lvl="0" indent="-171450" algn="just">
                        <a:lnSpc>
                          <a:spcPct val="114000"/>
                        </a:lnSpc>
                        <a:buFont typeface="Arial" panose="020B0604020202020204" pitchFamily="34" charset="0"/>
                        <a:buChar char="•"/>
                      </a:pPr>
                      <a:r>
                        <a:rPr lang="en-GB" sz="900" kern="1200">
                          <a:solidFill>
                            <a:schemeClr val="tx1"/>
                          </a:solidFill>
                          <a:effectLst/>
                          <a:latin typeface="+mn-lt"/>
                          <a:ea typeface="Calibri" panose="020F0502020204030204" pitchFamily="34" charset="0"/>
                          <a:cs typeface="Times New Roman" panose="02020603050405020304" pitchFamily="18" charset="0"/>
                        </a:rPr>
                        <a:t>Design </a:t>
                      </a:r>
                      <a:r>
                        <a:rPr lang="en-GB" sz="900" b="1" kern="1200">
                          <a:solidFill>
                            <a:schemeClr val="tx1"/>
                          </a:solidFill>
                          <a:effectLst/>
                          <a:latin typeface="+mn-lt"/>
                          <a:ea typeface="Calibri" panose="020F0502020204030204" pitchFamily="34" charset="0"/>
                          <a:cs typeface="Times New Roman" panose="02020603050405020304" pitchFamily="18" charset="0"/>
                        </a:rPr>
                        <a:t>Monitoring &amp; Reporting system</a:t>
                      </a:r>
                      <a:r>
                        <a:rPr lang="en-GB" sz="900" kern="1200">
                          <a:solidFill>
                            <a:schemeClr val="tx1"/>
                          </a:solidFill>
                          <a:effectLst/>
                          <a:latin typeface="+mn-lt"/>
                          <a:ea typeface="Calibri" panose="020F0502020204030204" pitchFamily="34" charset="0"/>
                          <a:cs typeface="Times New Roman" panose="02020603050405020304" pitchFamily="18" charset="0"/>
                        </a:rPr>
                        <a:t> including:</a:t>
                      </a:r>
                      <a:endParaRPr lang="en-IN" sz="900" kern="1200">
                        <a:solidFill>
                          <a:schemeClr val="tx1"/>
                        </a:solidFill>
                        <a:effectLst/>
                        <a:latin typeface="+mn-lt"/>
                        <a:ea typeface="Calibri" panose="020F0502020204030204" pitchFamily="34" charset="0"/>
                        <a:cs typeface="Arial" panose="020B0604020202020204" pitchFamily="34" charset="0"/>
                      </a:endParaRPr>
                    </a:p>
                    <a:p>
                      <a:pPr marL="541338" marR="96520" lvl="1" indent="-182563" algn="just">
                        <a:lnSpc>
                          <a:spcPct val="114000"/>
                        </a:lnSpc>
                        <a:buFont typeface="Courier New" panose="02070309020205020404" pitchFamily="49" charset="0"/>
                        <a:buChar char="o"/>
                      </a:pPr>
                      <a:r>
                        <a:rPr lang="en-GB" sz="900" kern="1200">
                          <a:solidFill>
                            <a:schemeClr val="tx1"/>
                          </a:solidFill>
                          <a:effectLst/>
                          <a:latin typeface="+mn-lt"/>
                          <a:ea typeface="Calibri" panose="020F0502020204030204" pitchFamily="34" charset="0"/>
                          <a:cs typeface="Times New Roman" panose="02020603050405020304" pitchFamily="18" charset="0"/>
                        </a:rPr>
                        <a:t>Identification of indicator-wise data types, standardisation of formats for recording, frequency of reporting and dissemination by departments</a:t>
                      </a:r>
                      <a:endParaRPr lang="en-IN" sz="900" kern="1200">
                        <a:solidFill>
                          <a:schemeClr val="tx1"/>
                        </a:solidFill>
                        <a:effectLst/>
                        <a:latin typeface="+mn-lt"/>
                        <a:ea typeface="Calibri" panose="020F0502020204030204" pitchFamily="34" charset="0"/>
                        <a:cs typeface="Arial" panose="020B0604020202020204" pitchFamily="34" charset="0"/>
                      </a:endParaRPr>
                    </a:p>
                    <a:p>
                      <a:pPr marL="541338" marR="96520" lvl="1" indent="-182563" algn="just">
                        <a:lnSpc>
                          <a:spcPct val="114000"/>
                        </a:lnSpc>
                        <a:buFont typeface="Courier New" panose="02070309020205020404" pitchFamily="49" charset="0"/>
                        <a:buChar char="o"/>
                      </a:pPr>
                      <a:r>
                        <a:rPr lang="en-GB" sz="900" b="1" kern="1200">
                          <a:solidFill>
                            <a:schemeClr val="tx1"/>
                          </a:solidFill>
                          <a:effectLst/>
                          <a:latin typeface="+mn-lt"/>
                          <a:ea typeface="Calibri" panose="020F0502020204030204" pitchFamily="34" charset="0"/>
                          <a:cs typeface="Times New Roman" panose="02020603050405020304" pitchFamily="18" charset="0"/>
                        </a:rPr>
                        <a:t>Management Information System (MIS) and Knowledge Management System (KMS)</a:t>
                      </a:r>
                      <a:r>
                        <a:rPr lang="en-GB" sz="900" kern="1200">
                          <a:solidFill>
                            <a:schemeClr val="tx1"/>
                          </a:solidFill>
                          <a:effectLst/>
                          <a:latin typeface="+mn-lt"/>
                          <a:ea typeface="Calibri" panose="020F0502020204030204" pitchFamily="34" charset="0"/>
                          <a:cs typeface="Times New Roman" panose="02020603050405020304" pitchFamily="18" charset="0"/>
                        </a:rPr>
                        <a:t> including parameters for dashboards</a:t>
                      </a:r>
                      <a:endParaRPr lang="en-IN" sz="900" kern="1200">
                        <a:solidFill>
                          <a:schemeClr val="tx1"/>
                        </a:solidFill>
                        <a:effectLst/>
                        <a:latin typeface="+mn-lt"/>
                        <a:ea typeface="Calibri" panose="020F0502020204030204" pitchFamily="34" charset="0"/>
                        <a:cs typeface="Arial" panose="020B0604020202020204" pitchFamily="34" charset="0"/>
                      </a:endParaRPr>
                    </a:p>
                    <a:p>
                      <a:pPr marL="541338" marR="96520" lvl="1" indent="-182563" algn="just">
                        <a:lnSpc>
                          <a:spcPct val="114000"/>
                        </a:lnSpc>
                        <a:buFont typeface="Courier New" panose="02070309020205020404" pitchFamily="49" charset="0"/>
                        <a:buChar char="o"/>
                      </a:pPr>
                      <a:r>
                        <a:rPr lang="en-GB" sz="900" kern="1200">
                          <a:solidFill>
                            <a:schemeClr val="tx1"/>
                          </a:solidFill>
                          <a:effectLst/>
                          <a:latin typeface="+mn-lt"/>
                          <a:ea typeface="Calibri" panose="020F0502020204030204" pitchFamily="34" charset="0"/>
                          <a:cs typeface="Times New Roman" panose="02020603050405020304" pitchFamily="18" charset="0"/>
                        </a:rPr>
                        <a:t>Institutional responsibilities and framework for </a:t>
                      </a:r>
                      <a:r>
                        <a:rPr lang="en-GB" sz="900" b="1" kern="1200">
                          <a:solidFill>
                            <a:schemeClr val="tx1"/>
                          </a:solidFill>
                          <a:effectLst/>
                          <a:latin typeface="+mn-lt"/>
                          <a:ea typeface="Calibri" panose="020F0502020204030204" pitchFamily="34" charset="0"/>
                          <a:cs typeface="Times New Roman" panose="02020603050405020304" pitchFamily="18" charset="0"/>
                        </a:rPr>
                        <a:t>inter-agency coordination</a:t>
                      </a:r>
                      <a:endParaRPr lang="en-IN" sz="900" kern="1200">
                        <a:solidFill>
                          <a:schemeClr val="tx1"/>
                        </a:solidFill>
                        <a:effectLst/>
                        <a:latin typeface="+mn-lt"/>
                        <a:ea typeface="Calibri" panose="020F0502020204030204" pitchFamily="34" charset="0"/>
                        <a:cs typeface="Arial" panose="020B0604020202020204" pitchFamily="34" charset="0"/>
                      </a:endParaRPr>
                    </a:p>
                    <a:p>
                      <a:pPr marL="365760" lvl="0" indent="-182563" algn="just">
                        <a:lnSpc>
                          <a:spcPct val="114000"/>
                        </a:lnSpc>
                        <a:buFont typeface="Arial" panose="020B0604020202020204" pitchFamily="34" charset="0"/>
                        <a:buChar char="•"/>
                      </a:pPr>
                      <a:r>
                        <a:rPr lang="en-GB" sz="900" kern="1200">
                          <a:solidFill>
                            <a:schemeClr val="tx1"/>
                          </a:solidFill>
                          <a:effectLst/>
                          <a:latin typeface="+mn-lt"/>
                          <a:ea typeface="Calibri" panose="020F0502020204030204" pitchFamily="34" charset="0"/>
                          <a:cs typeface="Times New Roman" panose="02020603050405020304" pitchFamily="18" charset="0"/>
                        </a:rPr>
                        <a:t>Formulating a </a:t>
                      </a:r>
                      <a:r>
                        <a:rPr lang="en-GB" sz="900" b="1" kern="1200">
                          <a:solidFill>
                            <a:schemeClr val="tx1"/>
                          </a:solidFill>
                          <a:effectLst/>
                          <a:latin typeface="+mn-lt"/>
                          <a:ea typeface="Calibri" panose="020F0502020204030204" pitchFamily="34" charset="0"/>
                          <a:cs typeface="Times New Roman" panose="02020603050405020304" pitchFamily="18" charset="0"/>
                        </a:rPr>
                        <a:t>Long-term Management strategy</a:t>
                      </a:r>
                      <a:r>
                        <a:rPr lang="en-GB" sz="900" kern="1200">
                          <a:solidFill>
                            <a:schemeClr val="tx1"/>
                          </a:solidFill>
                          <a:effectLst/>
                          <a:latin typeface="+mn-lt"/>
                          <a:ea typeface="Calibri" panose="020F0502020204030204" pitchFamily="34" charset="0"/>
                          <a:cs typeface="Times New Roman" panose="02020603050405020304" pitchFamily="18" charset="0"/>
                        </a:rPr>
                        <a:t> including:</a:t>
                      </a:r>
                      <a:endParaRPr lang="en-IN" sz="900" kern="1200">
                        <a:solidFill>
                          <a:schemeClr val="tx1"/>
                        </a:solidFill>
                        <a:effectLst/>
                        <a:latin typeface="+mn-lt"/>
                        <a:ea typeface="Calibri" panose="020F0502020204030204" pitchFamily="34" charset="0"/>
                        <a:cs typeface="Arial" panose="020B0604020202020204" pitchFamily="34" charset="0"/>
                      </a:endParaRPr>
                    </a:p>
                    <a:p>
                      <a:pPr marL="541338" marR="96520" lvl="0" indent="-182563" algn="just">
                        <a:lnSpc>
                          <a:spcPct val="114000"/>
                        </a:lnSpc>
                        <a:buFont typeface="Courier New" panose="02070309020205020404" pitchFamily="49" charset="0"/>
                        <a:buChar char="o"/>
                      </a:pPr>
                      <a:r>
                        <a:rPr lang="en-GB" sz="900" b="1" kern="1200">
                          <a:solidFill>
                            <a:schemeClr val="tx1"/>
                          </a:solidFill>
                          <a:effectLst/>
                          <a:latin typeface="+mn-lt"/>
                          <a:ea typeface="Calibri" panose="020F0502020204030204" pitchFamily="34" charset="0"/>
                          <a:cs typeface="Times New Roman" panose="02020603050405020304" pitchFamily="18" charset="0"/>
                        </a:rPr>
                        <a:t>Policies</a:t>
                      </a:r>
                      <a:r>
                        <a:rPr lang="en-GB" sz="900" kern="1200">
                          <a:solidFill>
                            <a:schemeClr val="tx1"/>
                          </a:solidFill>
                          <a:effectLst/>
                          <a:latin typeface="+mn-lt"/>
                          <a:ea typeface="Calibri" panose="020F0502020204030204" pitchFamily="34" charset="0"/>
                          <a:cs typeface="Times New Roman" panose="02020603050405020304" pitchFamily="18" charset="0"/>
                        </a:rPr>
                        <a:t> on agency responsibilities</a:t>
                      </a:r>
                      <a:endParaRPr lang="en-IN" sz="900" kern="1200">
                        <a:solidFill>
                          <a:schemeClr val="tx1"/>
                        </a:solidFill>
                        <a:effectLst/>
                        <a:latin typeface="+mn-lt"/>
                        <a:ea typeface="Calibri" panose="020F0502020204030204" pitchFamily="34" charset="0"/>
                        <a:cs typeface="Arial" panose="020B0604020202020204" pitchFamily="34" charset="0"/>
                      </a:endParaRPr>
                    </a:p>
                    <a:p>
                      <a:pPr marL="541338" marR="96520" lvl="0" indent="-182563" algn="just">
                        <a:lnSpc>
                          <a:spcPct val="114000"/>
                        </a:lnSpc>
                        <a:buFont typeface="Courier New" panose="02070309020205020404" pitchFamily="49" charset="0"/>
                        <a:buChar char="o"/>
                      </a:pPr>
                      <a:r>
                        <a:rPr lang="en-GB" sz="900" b="1" kern="1200">
                          <a:solidFill>
                            <a:schemeClr val="tx1"/>
                          </a:solidFill>
                          <a:effectLst/>
                          <a:latin typeface="+mn-lt"/>
                          <a:ea typeface="Calibri" panose="020F0502020204030204" pitchFamily="34" charset="0"/>
                          <a:cs typeface="Times New Roman" panose="02020603050405020304" pitchFamily="18" charset="0"/>
                        </a:rPr>
                        <a:t>Institutional solutions</a:t>
                      </a:r>
                      <a:r>
                        <a:rPr lang="en-GB" sz="900" kern="1200">
                          <a:solidFill>
                            <a:schemeClr val="tx1"/>
                          </a:solidFill>
                          <a:effectLst/>
                          <a:latin typeface="+mn-lt"/>
                          <a:ea typeface="Calibri" panose="020F0502020204030204" pitchFamily="34" charset="0"/>
                          <a:cs typeface="Times New Roman" panose="02020603050405020304" pitchFamily="18" charset="0"/>
                        </a:rPr>
                        <a:t> and processes for inter-agency coordination, capacity building, etc.</a:t>
                      </a:r>
                      <a:endParaRPr lang="en-IN" sz="900" kern="1200">
                        <a:solidFill>
                          <a:schemeClr val="tx1"/>
                        </a:solidFill>
                        <a:effectLst/>
                        <a:latin typeface="+mn-lt"/>
                        <a:ea typeface="Calibri" panose="020F0502020204030204" pitchFamily="34" charset="0"/>
                        <a:cs typeface="Arial" panose="020B0604020202020204" pitchFamily="34" charset="0"/>
                      </a:endParaRPr>
                    </a:p>
                    <a:p>
                      <a:pPr marL="541338" marR="96520" lvl="0" indent="-182563" algn="just">
                        <a:lnSpc>
                          <a:spcPct val="114000"/>
                        </a:lnSpc>
                        <a:buFont typeface="Courier New" panose="02070309020205020404" pitchFamily="49" charset="0"/>
                        <a:buChar char="o"/>
                      </a:pPr>
                      <a:r>
                        <a:rPr lang="en-GB" sz="900" kern="1200">
                          <a:solidFill>
                            <a:schemeClr val="tx1"/>
                          </a:solidFill>
                          <a:effectLst/>
                          <a:latin typeface="+mn-lt"/>
                          <a:ea typeface="Calibri" panose="020F0502020204030204" pitchFamily="34" charset="0"/>
                          <a:cs typeface="Times New Roman" panose="02020603050405020304" pitchFamily="18" charset="0"/>
                        </a:rPr>
                        <a:t>Selection of appropriate </a:t>
                      </a:r>
                      <a:r>
                        <a:rPr lang="en-GB" sz="900" b="1" kern="1200">
                          <a:solidFill>
                            <a:schemeClr val="tx1"/>
                          </a:solidFill>
                          <a:effectLst/>
                          <a:latin typeface="+mn-lt"/>
                          <a:ea typeface="Calibri" panose="020F0502020204030204" pitchFamily="34" charset="0"/>
                          <a:cs typeface="Times New Roman" panose="02020603050405020304" pitchFamily="18" charset="0"/>
                        </a:rPr>
                        <a:t>technology, finance </a:t>
                      </a:r>
                      <a:r>
                        <a:rPr lang="en-GB" sz="900" kern="1200">
                          <a:solidFill>
                            <a:schemeClr val="tx1"/>
                          </a:solidFill>
                          <a:effectLst/>
                          <a:latin typeface="+mn-lt"/>
                          <a:ea typeface="Calibri" panose="020F0502020204030204" pitchFamily="34" charset="0"/>
                          <a:cs typeface="Times New Roman" panose="02020603050405020304" pitchFamily="18" charset="0"/>
                        </a:rPr>
                        <a:t>and other enablers</a:t>
                      </a:r>
                      <a:endParaRPr lang="en-IN" sz="900" kern="1200">
                        <a:solidFill>
                          <a:schemeClr val="tx1"/>
                        </a:solidFill>
                        <a:latin typeface="+mn-lt"/>
                        <a:ea typeface="Calibri" panose="020F0502020204030204" pitchFamily="34" charset="0"/>
                        <a:cs typeface="Arial" panose="020B0604020202020204" pitchFamily="34" charset="0"/>
                      </a:endParaRPr>
                    </a:p>
                    <a:p>
                      <a:pPr marL="541338" marR="96520" lvl="0" indent="-182563" algn="just">
                        <a:lnSpc>
                          <a:spcPct val="114000"/>
                        </a:lnSpc>
                        <a:buFont typeface="Courier New" panose="02070309020205020404" pitchFamily="49" charset="0"/>
                        <a:buChar char="o"/>
                      </a:pPr>
                      <a:r>
                        <a:rPr lang="en-GB" sz="900" b="1" kern="1200">
                          <a:solidFill>
                            <a:schemeClr val="tx1"/>
                          </a:solidFill>
                          <a:effectLst/>
                          <a:latin typeface="+mn-lt"/>
                          <a:ea typeface="Calibri" panose="020F0502020204030204" pitchFamily="34" charset="0"/>
                          <a:cs typeface="+mn-cs"/>
                        </a:rPr>
                        <a:t>Preparation of implementation roadmap</a:t>
                      </a:r>
                      <a:r>
                        <a:rPr lang="en-GB" sz="900" kern="1200">
                          <a:solidFill>
                            <a:schemeClr val="tx1"/>
                          </a:solidFill>
                          <a:effectLst/>
                          <a:latin typeface="+mn-lt"/>
                          <a:ea typeface="Calibri" panose="020F0502020204030204" pitchFamily="34" charset="0"/>
                          <a:cs typeface="+mn-cs"/>
                        </a:rPr>
                        <a:t> with key action points, timelines, </a:t>
                      </a:r>
                      <a:r>
                        <a:rPr lang="en-GB" sz="900" b="1" kern="1200">
                          <a:solidFill>
                            <a:schemeClr val="tx1"/>
                          </a:solidFill>
                          <a:effectLst/>
                          <a:latin typeface="+mn-lt"/>
                          <a:ea typeface="Calibri" panose="020F0502020204030204" pitchFamily="34" charset="0"/>
                          <a:cs typeface="+mn-cs"/>
                        </a:rPr>
                        <a:t>prioritisation and an annual action plan</a:t>
                      </a:r>
                      <a:endPar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endParaRPr>
                    </a:p>
                    <a:p>
                      <a:pPr marL="61913" marR="0" lvl="0" indent="0" algn="just" defTabSz="914400" rtl="0" eaLnBrk="1" fontAlgn="auto" latinLnBrk="0" hangingPunct="1">
                        <a:lnSpc>
                          <a:spcPct val="100000"/>
                        </a:lnSpc>
                        <a:spcBef>
                          <a:spcPts val="200"/>
                        </a:spcBef>
                        <a:spcAft>
                          <a:spcPts val="0"/>
                        </a:spcAft>
                        <a:buClrTx/>
                        <a:buSzTx/>
                        <a:buFont typeface="Arial" panose="020B0604020202020204" pitchFamily="34" charset="0"/>
                        <a:buNone/>
                        <a:tabLst/>
                        <a:defRPr/>
                      </a:pPr>
                      <a:endParaRPr lang="en-US" sz="100" b="1">
                        <a:solidFill>
                          <a:prstClr val="black"/>
                        </a:solidFill>
                        <a:latin typeface="Verdana" panose="020B0604030504040204" pitchFamily="34" charset="0"/>
                        <a:ea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May 2018;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June 2021</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22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24</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40876983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468416649"/>
              </p:ext>
            </p:extLst>
          </p:nvPr>
        </p:nvGraphicFramePr>
        <p:xfrm>
          <a:off x="517290" y="745905"/>
          <a:ext cx="11161565" cy="5300809"/>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Climate-Friendly Modernization of Bus Services in Major Cities of Tamil Nadu</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Transport Department, Govt. of Tamil Nadu / </a:t>
                      </a:r>
                      <a:r>
                        <a:rPr lang="en-US" sz="1000" b="0" err="1">
                          <a:solidFill>
                            <a:schemeClr val="bg1"/>
                          </a:solidFill>
                          <a:effectLst/>
                          <a:latin typeface="Verdana" panose="020B0604030504040204" pitchFamily="34" charset="0"/>
                          <a:ea typeface="+mn-ea"/>
                          <a:cs typeface="Times New Roman" panose="02020603050405020304" pitchFamily="18" charset="0"/>
                        </a:rPr>
                        <a:t>KfW</a:t>
                      </a:r>
                      <a:endParaRPr lang="en-US" sz="1000" b="0">
                        <a:solidFill>
                          <a:schemeClr val="bg1"/>
                        </a:solidFill>
                        <a:effectLst/>
                        <a:latin typeface="Verdana" panose="020B0604030504040204" pitchFamily="34" charset="0"/>
                        <a:ea typeface="+mn-ea"/>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504633">
                <a:tc>
                  <a:txBody>
                    <a:bodyPr/>
                    <a:lstStyle/>
                    <a:p>
                      <a:pPr marL="128016" algn="just">
                        <a:lnSpc>
                          <a:spcPct val="250000"/>
                        </a:lnSpc>
                        <a:spcBef>
                          <a:spcPts val="400"/>
                        </a:spcBef>
                        <a:spcAft>
                          <a:spcPts val="400"/>
                        </a:spcAft>
                      </a:pPr>
                      <a:r>
                        <a:rPr lang="en-US" sz="900" b="1" kern="1200">
                          <a:solidFill>
                            <a:schemeClr val="tx1"/>
                          </a:solidFill>
                          <a:latin typeface="+mn-lt"/>
                          <a:ea typeface="Verdana" panose="020B0604030504040204" pitchFamily="34" charset="0"/>
                          <a:cs typeface="+mn-cs"/>
                        </a:rPr>
                        <a:t>Description of Key Activities:</a:t>
                      </a:r>
                    </a:p>
                    <a:p>
                      <a:pPr marL="128016" algn="just">
                        <a:lnSpc>
                          <a:spcPct val="115000"/>
                        </a:lnSpc>
                        <a:spcBef>
                          <a:spcPts val="400"/>
                        </a:spcBef>
                        <a:spcAft>
                          <a:spcPts val="400"/>
                        </a:spcAft>
                      </a:pPr>
                      <a:r>
                        <a:rPr lang="en-US" sz="900" kern="1200">
                          <a:solidFill>
                            <a:schemeClr val="tx1"/>
                          </a:solidFill>
                          <a:latin typeface="+mn-lt"/>
                          <a:ea typeface="Verdana" panose="020B0604030504040204" pitchFamily="34" charset="0"/>
                          <a:cs typeface="+mn-cs"/>
                        </a:rPr>
                        <a:t>The main objective of this Project is the </a:t>
                      </a:r>
                      <a:r>
                        <a:rPr lang="en-US" sz="900" b="1" kern="1200">
                          <a:solidFill>
                            <a:schemeClr val="tx1"/>
                          </a:solidFill>
                          <a:latin typeface="+mn-lt"/>
                          <a:ea typeface="Verdana" panose="020B0604030504040204" pitchFamily="34" charset="0"/>
                          <a:cs typeface="+mn-cs"/>
                        </a:rPr>
                        <a:t>climate-friendly modernization of the bus fleet and of public transport infrastructures </a:t>
                      </a:r>
                      <a:r>
                        <a:rPr lang="en-US" sz="900" kern="1200">
                          <a:solidFill>
                            <a:schemeClr val="tx1"/>
                          </a:solidFill>
                          <a:latin typeface="+mn-lt"/>
                          <a:ea typeface="Verdana" panose="020B0604030504040204" pitchFamily="34" charset="0"/>
                          <a:cs typeface="+mn-cs"/>
                        </a:rPr>
                        <a:t>in the State of Tamil Nadu. The main tasks of the AMC´s assignment can be subdivided into the following segments:</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a:ln>
                            <a:noFill/>
                          </a:ln>
                          <a:solidFill>
                            <a:prstClr val="black"/>
                          </a:solidFill>
                          <a:effectLst/>
                          <a:uLnTx/>
                          <a:uFillTx/>
                          <a:latin typeface="Verdana" panose="020B0604030504040204" pitchFamily="34" charset="0"/>
                          <a:ea typeface="PMingLiU"/>
                          <a:cs typeface="+mn-cs"/>
                        </a:rPr>
                        <a:t>Needs assessment,</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a:ln>
                            <a:noFill/>
                          </a:ln>
                          <a:solidFill>
                            <a:prstClr val="black"/>
                          </a:solidFill>
                          <a:effectLst/>
                          <a:uLnTx/>
                          <a:uFillTx/>
                          <a:latin typeface="Verdana" panose="020B0604030504040204" pitchFamily="34" charset="0"/>
                          <a:ea typeface="PMingLiU"/>
                          <a:cs typeface="+mn-cs"/>
                        </a:rPr>
                        <a:t>Capacity strengthening,</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a:ln>
                            <a:noFill/>
                          </a:ln>
                          <a:solidFill>
                            <a:prstClr val="black"/>
                          </a:solidFill>
                          <a:effectLst/>
                          <a:uLnTx/>
                          <a:uFillTx/>
                          <a:latin typeface="Verdana" panose="020B0604030504040204" pitchFamily="34" charset="0"/>
                          <a:ea typeface="PMingLiU"/>
                          <a:cs typeface="+mn-cs"/>
                        </a:rPr>
                        <a:t>Management support and impact monitoring during Phases 1 and 2, as well as</a:t>
                      </a:r>
                    </a:p>
                    <a:p>
                      <a:pPr marL="36576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IN" sz="900" b="0" i="0" u="none" strike="noStrike" kern="1200" cap="none" spc="0" normalizeH="0" baseline="0">
                          <a:ln>
                            <a:noFill/>
                          </a:ln>
                          <a:solidFill>
                            <a:prstClr val="black"/>
                          </a:solidFill>
                          <a:effectLst/>
                          <a:uLnTx/>
                          <a:uFillTx/>
                          <a:latin typeface="Verdana" panose="020B0604030504040204" pitchFamily="34" charset="0"/>
                          <a:ea typeface="PMingLiU"/>
                          <a:cs typeface="+mn-cs"/>
                        </a:rPr>
                        <a:t>Preparatory assessments for Project Phases 3, 4 and 5.</a:t>
                      </a:r>
                    </a:p>
                    <a:p>
                      <a:pPr marL="92075" algn="just"/>
                      <a:endParaRPr lang="en-US" sz="900" b="1" kern="1200">
                        <a:solidFill>
                          <a:schemeClr val="tx1"/>
                        </a:solidFill>
                        <a:latin typeface="+mn-lt"/>
                        <a:ea typeface="+mn-ea"/>
                        <a:cs typeface="+mn-cs"/>
                      </a:endParaRPr>
                    </a:p>
                    <a:p>
                      <a:pPr marL="128016" algn="just"/>
                      <a:r>
                        <a:rPr lang="en-US" sz="900" b="1" kern="1200">
                          <a:solidFill>
                            <a:schemeClr val="tx1"/>
                          </a:solidFill>
                          <a:latin typeface="+mn-lt"/>
                          <a:ea typeface="+mn-ea"/>
                          <a:cs typeface="+mn-cs"/>
                        </a:rPr>
                        <a:t>The key values delivered by Deloitte included</a:t>
                      </a:r>
                      <a:r>
                        <a:rPr lang="en-US" sz="900" kern="1200">
                          <a:solidFill>
                            <a:schemeClr val="tx1"/>
                          </a:solidFill>
                          <a:latin typeface="+mn-lt"/>
                          <a:ea typeface="+mn-ea"/>
                          <a:cs typeface="+mn-cs"/>
                        </a:rPr>
                        <a:t>:</a:t>
                      </a:r>
                    </a:p>
                    <a:p>
                      <a:pPr marL="92075" algn="just"/>
                      <a:endParaRPr lang="en-US" sz="900" kern="1200">
                        <a:solidFill>
                          <a:schemeClr val="tx1"/>
                        </a:solidFill>
                        <a:latin typeface="+mn-lt"/>
                        <a:ea typeface="+mn-ea"/>
                        <a:cs typeface="+mn-cs"/>
                      </a:endParaRPr>
                    </a:p>
                    <a:p>
                      <a:pPr marL="365760" indent="-171450" algn="just">
                        <a:buFont typeface="Arial" panose="020B0604020202020204" pitchFamily="34" charset="0"/>
                        <a:buChar char="•"/>
                      </a:pPr>
                      <a:r>
                        <a:rPr lang="en-US" sz="900" b="1" kern="1200">
                          <a:solidFill>
                            <a:schemeClr val="tx1"/>
                          </a:solidFill>
                          <a:latin typeface="+mn-lt"/>
                          <a:ea typeface="+mn-ea"/>
                          <a:cs typeface="+mn-cs"/>
                        </a:rPr>
                        <a:t>Needs Assessment</a:t>
                      </a:r>
                      <a:r>
                        <a:rPr lang="en-US" sz="900" kern="1200">
                          <a:solidFill>
                            <a:schemeClr val="tx1"/>
                          </a:solidFill>
                          <a:latin typeface="+mn-lt"/>
                          <a:ea typeface="+mn-ea"/>
                          <a:cs typeface="+mn-cs"/>
                        </a:rPr>
                        <a:t>: As a first task, the needs assessment to be conducted by the AMC shall reveal and </a:t>
                      </a:r>
                      <a:r>
                        <a:rPr lang="en-US" sz="900" b="1" kern="1200">
                          <a:solidFill>
                            <a:schemeClr val="tx1"/>
                          </a:solidFill>
                          <a:latin typeface="+mn-lt"/>
                          <a:ea typeface="+mn-ea"/>
                          <a:cs typeface="+mn-cs"/>
                        </a:rPr>
                        <a:t>define the needs </a:t>
                      </a:r>
                      <a:r>
                        <a:rPr lang="en-US" sz="900" kern="1200">
                          <a:solidFill>
                            <a:schemeClr val="tx1"/>
                          </a:solidFill>
                          <a:latin typeface="+mn-lt"/>
                          <a:ea typeface="+mn-ea"/>
                          <a:cs typeface="+mn-cs"/>
                        </a:rPr>
                        <a:t>of the PIU in regard to </a:t>
                      </a:r>
                      <a:r>
                        <a:rPr lang="en-US" sz="900" b="1" kern="1200">
                          <a:solidFill>
                            <a:schemeClr val="tx1"/>
                          </a:solidFill>
                          <a:latin typeface="+mn-lt"/>
                          <a:ea typeface="+mn-ea"/>
                          <a:cs typeface="+mn-cs"/>
                        </a:rPr>
                        <a:t>policy and laws on climate change and resilience</a:t>
                      </a:r>
                      <a:r>
                        <a:rPr lang="en-US" sz="900" kern="1200">
                          <a:solidFill>
                            <a:schemeClr val="tx1"/>
                          </a:solidFill>
                          <a:latin typeface="+mn-lt"/>
                          <a:ea typeface="+mn-ea"/>
                          <a:cs typeface="+mn-cs"/>
                        </a:rPr>
                        <a:t>, specialized capacity strengthening and training, implementation and </a:t>
                      </a:r>
                      <a:r>
                        <a:rPr lang="en-US" sz="900" b="1" kern="1200">
                          <a:solidFill>
                            <a:schemeClr val="tx1"/>
                          </a:solidFill>
                          <a:latin typeface="+mn-lt"/>
                          <a:ea typeface="+mn-ea"/>
                          <a:cs typeface="+mn-cs"/>
                        </a:rPr>
                        <a:t>management support</a:t>
                      </a:r>
                      <a:r>
                        <a:rPr lang="en-US" sz="900" kern="1200">
                          <a:solidFill>
                            <a:schemeClr val="tx1"/>
                          </a:solidFill>
                          <a:latin typeface="+mn-lt"/>
                          <a:ea typeface="+mn-ea"/>
                          <a:cs typeface="+mn-cs"/>
                        </a:rPr>
                        <a:t>, including prioritization &amp; timing of activities, areas of investment needs in accordance with the RMAP prepared by the PIU.</a:t>
                      </a:r>
                    </a:p>
                    <a:p>
                      <a:pPr marL="365760" indent="-171450" algn="just">
                        <a:buFont typeface="Arial" panose="020B0604020202020204" pitchFamily="34" charset="0"/>
                        <a:buChar char="•"/>
                      </a:pPr>
                      <a:r>
                        <a:rPr lang="en-US" sz="900" b="1" kern="1200">
                          <a:solidFill>
                            <a:schemeClr val="tx1"/>
                          </a:solidFill>
                          <a:latin typeface="+mn-lt"/>
                          <a:ea typeface="+mn-ea"/>
                          <a:cs typeface="+mn-cs"/>
                        </a:rPr>
                        <a:t>Capacity Building</a:t>
                      </a:r>
                      <a:r>
                        <a:rPr lang="en-US" sz="900" kern="1200">
                          <a:solidFill>
                            <a:schemeClr val="tx1"/>
                          </a:solidFill>
                          <a:latin typeface="+mn-lt"/>
                          <a:ea typeface="+mn-ea"/>
                          <a:cs typeface="+mn-cs"/>
                        </a:rPr>
                        <a:t>: Consequently, the AMC shall implement identified capacity strengthening and training measures which may consist of formal training programs, on-the-job trainings as well as the organization of study tours.</a:t>
                      </a:r>
                    </a:p>
                    <a:p>
                      <a:pPr marL="365760" indent="-171450" algn="just">
                        <a:buFont typeface="Arial" panose="020B0604020202020204" pitchFamily="34" charset="0"/>
                        <a:buChar char="•"/>
                      </a:pPr>
                      <a:r>
                        <a:rPr lang="en-US" sz="900" b="1" kern="1200">
                          <a:solidFill>
                            <a:schemeClr val="tx1"/>
                          </a:solidFill>
                          <a:latin typeface="+mn-lt"/>
                          <a:ea typeface="+mn-ea"/>
                          <a:cs typeface="+mn-cs"/>
                        </a:rPr>
                        <a:t>Management Support</a:t>
                      </a:r>
                      <a:r>
                        <a:rPr lang="en-US" sz="900" kern="1200">
                          <a:solidFill>
                            <a:schemeClr val="tx1"/>
                          </a:solidFill>
                          <a:latin typeface="+mn-lt"/>
                          <a:ea typeface="+mn-ea"/>
                          <a:cs typeface="+mn-cs"/>
                        </a:rPr>
                        <a:t>: As part of the management support, the AMC shall provide assistance to the development of internal work procedures and guidance on future bus maintenance, charging, depot and workshop operations, including relevant </a:t>
                      </a:r>
                      <a:r>
                        <a:rPr lang="en-US" sz="900" b="1" kern="1200">
                          <a:solidFill>
                            <a:schemeClr val="tx1"/>
                          </a:solidFill>
                          <a:latin typeface="+mn-lt"/>
                          <a:ea typeface="+mn-ea"/>
                          <a:cs typeface="+mn-cs"/>
                        </a:rPr>
                        <a:t>ESHS measures</a:t>
                      </a:r>
                      <a:r>
                        <a:rPr lang="en-US" sz="900" kern="1200">
                          <a:solidFill>
                            <a:schemeClr val="tx1"/>
                          </a:solidFill>
                          <a:latin typeface="+mn-lt"/>
                          <a:ea typeface="+mn-ea"/>
                          <a:cs typeface="+mn-cs"/>
                        </a:rPr>
                        <a:t>. Management support will furthermore include support in change management, in market research, promotion and marketing activities, and in </a:t>
                      </a:r>
                      <a:r>
                        <a:rPr lang="en-US" sz="900" b="1" kern="1200">
                          <a:solidFill>
                            <a:schemeClr val="tx1"/>
                          </a:solidFill>
                          <a:latin typeface="+mn-lt"/>
                          <a:ea typeface="+mn-ea"/>
                          <a:cs typeface="+mn-cs"/>
                        </a:rPr>
                        <a:t>implementing the ESHSMP measures.</a:t>
                      </a:r>
                    </a:p>
                    <a:p>
                      <a:pPr marL="365760" indent="-171450" algn="just">
                        <a:buFont typeface="Arial" panose="020B0604020202020204" pitchFamily="34" charset="0"/>
                        <a:buChar char="•"/>
                      </a:pPr>
                      <a:r>
                        <a:rPr lang="en-US" sz="900" kern="1200">
                          <a:solidFill>
                            <a:schemeClr val="tx1"/>
                          </a:solidFill>
                          <a:latin typeface="+mn-lt"/>
                          <a:ea typeface="+mn-ea"/>
                          <a:cs typeface="+mn-cs"/>
                        </a:rPr>
                        <a:t>Progress Monitoring: In parallel to these activities, the AMC will monitor the progress of the general </a:t>
                      </a:r>
                      <a:r>
                        <a:rPr lang="en-US" sz="900" b="1" kern="1200">
                          <a:solidFill>
                            <a:schemeClr val="tx1"/>
                          </a:solidFill>
                          <a:latin typeface="+mn-lt"/>
                          <a:ea typeface="+mn-ea"/>
                          <a:cs typeface="+mn-cs"/>
                        </a:rPr>
                        <a:t>RMAP implementation </a:t>
                      </a:r>
                      <a:r>
                        <a:rPr lang="en-US" sz="900" kern="1200">
                          <a:solidFill>
                            <a:schemeClr val="tx1"/>
                          </a:solidFill>
                          <a:latin typeface="+mn-lt"/>
                          <a:ea typeface="+mn-ea"/>
                          <a:cs typeface="+mn-cs"/>
                        </a:rPr>
                        <a:t>and will advise and support the PIU in making informed decisions for the implementation of the RMAP.</a:t>
                      </a:r>
                    </a:p>
                    <a:p>
                      <a:pPr marL="365760" indent="-171450" algn="just">
                        <a:buFont typeface="Arial" panose="020B0604020202020204" pitchFamily="34" charset="0"/>
                        <a:buChar char="•"/>
                      </a:pPr>
                      <a:r>
                        <a:rPr lang="en-US" sz="900" kern="1200">
                          <a:solidFill>
                            <a:schemeClr val="tx1"/>
                          </a:solidFill>
                          <a:latin typeface="+mn-lt"/>
                          <a:ea typeface="+mn-ea"/>
                          <a:cs typeface="+mn-cs"/>
                        </a:rPr>
                        <a:t>Planning for Future Phases: Finally, in close cooperation with the PIU, the AMC shall prepare a </a:t>
                      </a:r>
                      <a:r>
                        <a:rPr lang="en-US" sz="900" b="1" kern="1200">
                          <a:solidFill>
                            <a:schemeClr val="tx1"/>
                          </a:solidFill>
                          <a:latin typeface="+mn-lt"/>
                          <a:ea typeface="+mn-ea"/>
                          <a:cs typeface="+mn-cs"/>
                        </a:rPr>
                        <a:t>potential investment and capacity development </a:t>
                      </a:r>
                      <a:r>
                        <a:rPr lang="en-US" sz="900" b="1" kern="1200" err="1">
                          <a:solidFill>
                            <a:schemeClr val="tx1"/>
                          </a:solidFill>
                          <a:latin typeface="+mn-lt"/>
                          <a:ea typeface="+mn-ea"/>
                          <a:cs typeface="+mn-cs"/>
                        </a:rPr>
                        <a:t>programme</a:t>
                      </a:r>
                      <a:r>
                        <a:rPr lang="en-US" sz="900" kern="1200">
                          <a:solidFill>
                            <a:schemeClr val="tx1"/>
                          </a:solidFill>
                          <a:latin typeface="+mn-lt"/>
                          <a:ea typeface="+mn-ea"/>
                          <a:cs typeface="+mn-cs"/>
                        </a:rPr>
                        <a:t> and plans for Phases 3, 4 and 5, thereby updating and expanding the </a:t>
                      </a:r>
                      <a:r>
                        <a:rPr lang="en-US" sz="900" b="1" kern="1200">
                          <a:solidFill>
                            <a:schemeClr val="tx1"/>
                          </a:solidFill>
                          <a:latin typeface="+mn-lt"/>
                          <a:ea typeface="+mn-ea"/>
                          <a:cs typeface="+mn-cs"/>
                        </a:rPr>
                        <a:t>current PIU RMAP</a:t>
                      </a:r>
                      <a:r>
                        <a:rPr lang="en-US" sz="900" kern="1200">
                          <a:solidFill>
                            <a:schemeClr val="tx1"/>
                          </a:solidFill>
                          <a:latin typeface="+mn-lt"/>
                          <a:ea typeface="+mn-ea"/>
                          <a:cs typeface="+mn-cs"/>
                        </a:rPr>
                        <a:t>, including identification of further </a:t>
                      </a:r>
                      <a:r>
                        <a:rPr lang="en-US" sz="900" b="1" kern="1200">
                          <a:solidFill>
                            <a:schemeClr val="tx1"/>
                          </a:solidFill>
                          <a:latin typeface="+mn-lt"/>
                          <a:ea typeface="+mn-ea"/>
                          <a:cs typeface="+mn-cs"/>
                        </a:rPr>
                        <a:t>change management and ICT needs </a:t>
                      </a:r>
                      <a:r>
                        <a:rPr lang="en-US" sz="900" kern="1200">
                          <a:solidFill>
                            <a:schemeClr val="tx1"/>
                          </a:solidFill>
                          <a:latin typeface="+mn-lt"/>
                          <a:ea typeface="+mn-ea"/>
                          <a:cs typeface="+mn-cs"/>
                        </a:rPr>
                        <a:t>to allow for efficient bus routing, scheduling and rostering.</a:t>
                      </a:r>
                    </a:p>
                    <a:p>
                      <a:pPr marL="61913" marR="0" lvl="0" indent="0" algn="just" defTabSz="914400" rtl="0" eaLnBrk="1" fontAlgn="auto" latinLnBrk="0" hangingPunct="1">
                        <a:lnSpc>
                          <a:spcPct val="100000"/>
                        </a:lnSpc>
                        <a:spcBef>
                          <a:spcPts val="200"/>
                        </a:spcBef>
                        <a:spcAft>
                          <a:spcPts val="0"/>
                        </a:spcAft>
                        <a:buClrTx/>
                        <a:buSzTx/>
                        <a:buFont typeface="Arial" panose="020B0604020202020204" pitchFamily="34" charset="0"/>
                        <a:buNone/>
                        <a:tabLst/>
                        <a:defRPr/>
                      </a:pPr>
                      <a:endParaRPr lang="en-US" sz="100" b="1">
                        <a:solidFill>
                          <a:prstClr val="black"/>
                        </a:solidFill>
                        <a:latin typeface="Verdana" panose="020B0604030504040204" pitchFamily="34" charset="0"/>
                        <a:ea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January</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2021;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Ongoing</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21.52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25</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50355669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3188929007"/>
              </p:ext>
            </p:extLst>
          </p:nvPr>
        </p:nvGraphicFramePr>
        <p:xfrm>
          <a:off x="517290" y="745905"/>
          <a:ext cx="11161565" cy="4769695"/>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Consultancy Services for implementation support for Building Energy and Environment Rating (BEER) System (for Green and Near Zero Energy Buildings)</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The World Bank Group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2504633">
                <a:tc>
                  <a:txBody>
                    <a:bodyPr/>
                    <a:lstStyle/>
                    <a:p>
                      <a:pPr marL="128016" marR="0" lvl="0" indent="0" algn="l" defTabSz="914400" rtl="0" eaLnBrk="1" fontAlgn="auto" latinLnBrk="0" hangingPunct="1">
                        <a:lnSpc>
                          <a:spcPct val="20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128016"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The main objective of this assignment is to provide technical assistance to SREDA and other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PMingLiU"/>
                          <a:cs typeface="+mn-cs"/>
                        </a:rPr>
                        <a:t>GoBD</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stakeholders specifically on the activity “Implementation support for Building Energy and Environment Rating (BEER) System (for Green and Near Zero Energy Buildings). The assignment focused on two main activities: a) Activity I. Implementation support for Building Energy and Environment Rating (BEER) System for Green and Near-Zero Energy Buildings; and b) Activity II. Developing a Buildings Cool Roofs Program for Energy Savings and Urban Heat Island (UHI) Mitigation in Dhaka city.</a:t>
                      </a:r>
                    </a:p>
                    <a:p>
                      <a:pPr marL="128016" marR="0" lvl="0" indent="0" algn="l" defTabSz="914400" rtl="0" eaLnBrk="1" fontAlgn="auto" latinLnBrk="0" hangingPunct="1">
                        <a:lnSpc>
                          <a:spcPct val="115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Deloitte were:</a:t>
                      </a:r>
                    </a:p>
                    <a:p>
                      <a:pPr marL="365760" marR="0" lvl="0" indent="-171450" algn="just"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Provided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implementation support </a:t>
                      </a:r>
                      <a:r>
                        <a:rPr kumimoji="0" lang="en-US" sz="90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for Building Energy and Environment Rating</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(BEER) System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for Green and Near-Zero Energy Buildings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a:t>
                      </a:r>
                    </a:p>
                    <a:p>
                      <a:pPr marL="365760" marR="0" lvl="0" indent="-171450" algn="just"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Analyzed Bangladesh’s EE and building regulatory framework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to determine connection between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policies, plans, codes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 rating systems</a:t>
                      </a:r>
                    </a:p>
                    <a:p>
                      <a:pPr marL="365760" marR="0" lvl="0" indent="-171450" algn="just"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Review and development of the Green Buildings Rating System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(BEER) for Design and Construction of Buildings with assessment of feasibility of existing tools like IFC’s EDGE Buildings Tool</a:t>
                      </a:r>
                    </a:p>
                    <a:p>
                      <a:pPr marL="365760" marR="0" lvl="0" indent="-171450" algn="just"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Designed capacity building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plan and developed proposal for a MRV to monitor impact of BEER</a:t>
                      </a:r>
                    </a:p>
                    <a:p>
                      <a:pPr marL="365760" marR="0" lvl="0" indent="-171450" algn="just"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Developed Buildings Cool Roofs Program for Energy Savings and Urban Heat Island (UHI) Mitigation in Dhaka city. Reviewed long-term strategy for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sustainable building</a:t>
                      </a:r>
                    </a:p>
                    <a:p>
                      <a:pPr marL="365760" marR="0" lvl="0" indent="-171450" algn="just"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Conducted benchmarking studies of regional and international best practices and technologies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in cool roofs</a:t>
                      </a:r>
                    </a:p>
                    <a:p>
                      <a:pPr marL="365760" marR="0" lvl="0" indent="-171450" algn="just"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Identification of key barriers and opportunities for large scale adoption</a:t>
                      </a:r>
                    </a:p>
                    <a:p>
                      <a:pPr marL="365760" marR="0" lvl="0" indent="-171450" algn="just"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Designed an effective and scalable model for stimulating rapid deployment of cool roof</a:t>
                      </a:r>
                    </a:p>
                    <a:p>
                      <a:pPr marL="365760" marR="0" lvl="0" indent="-171450" algn="just"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Estimated potential impact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for building users and the potential impact at national level</a:t>
                      </a:r>
                    </a:p>
                    <a:p>
                      <a:pPr marL="365760" marR="0" lvl="0" indent="-171450" algn="just"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Developed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PMingLiU"/>
                          <a:cs typeface="+mn-cs"/>
                        </a:rPr>
                        <a:t>policy measures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PMingLiU"/>
                          <a:cs typeface="+mn-cs"/>
                        </a:rPr>
                        <a:t>(vis a vis BNBC and BEER) and tools</a:t>
                      </a:r>
                    </a:p>
                    <a:p>
                      <a:pPr marL="61913" marR="0" lvl="0" indent="0" algn="just" defTabSz="914400" rtl="0" eaLnBrk="1" fontAlgn="auto" latinLnBrk="0" hangingPunct="1">
                        <a:lnSpc>
                          <a:spcPct val="100000"/>
                        </a:lnSpc>
                        <a:spcBef>
                          <a:spcPts val="200"/>
                        </a:spcBef>
                        <a:spcAft>
                          <a:spcPts val="0"/>
                        </a:spcAft>
                        <a:buClrTx/>
                        <a:buSzTx/>
                        <a:buFont typeface="Arial" panose="020B0604020202020204" pitchFamily="34" charset="0"/>
                        <a:buNone/>
                        <a:tabLst/>
                        <a:defRPr/>
                      </a:pPr>
                      <a:endParaRPr lang="en-US" sz="100" b="1">
                        <a:solidFill>
                          <a:prstClr val="black"/>
                        </a:solidFill>
                        <a:latin typeface="Verdana" panose="020B0604030504040204" pitchFamily="34" charset="0"/>
                        <a:ea typeface="Verdana" panose="020B0604030504040204" pitchFamily="34" charset="0"/>
                      </a:endParaRP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Bangladesh</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March 2020;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December</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2020</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0.10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26</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284317829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2643757283"/>
              </p:ext>
            </p:extLst>
          </p:nvPr>
        </p:nvGraphicFramePr>
        <p:xfrm>
          <a:off x="517290" y="745905"/>
          <a:ext cx="11161565" cy="3540190"/>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Facilitation Service for Leadership in Energy and Environmental Design – Green Building</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Infinity Townships Pvt. Ltd. (Subsidiary of Infinity Infotech Parks Ltd)</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1916285">
                <a:tc>
                  <a:txBody>
                    <a:bodyPr/>
                    <a:lstStyle/>
                    <a:p>
                      <a:pPr marL="128016" marR="0" lvl="0" indent="0" algn="just" defTabSz="914400" rtl="0" eaLnBrk="1" fontAlgn="auto" latinLnBrk="0" hangingPunct="1">
                        <a:lnSpc>
                          <a:spcPct val="200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128016"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proposed building project was environment friendly, energy efficient, and comprises energy efficient technologies like high efficiency chillers, lighting systems, and energy efficient building materials. IBIPL had evinced interest in availing the services of Deloitte for providing assistance in obtaining the LEED Certification from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Indian Green Building Council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(IGBC).</a:t>
                      </a:r>
                    </a:p>
                    <a:p>
                      <a:pPr marL="128016"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128016"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were:</a:t>
                      </a:r>
                    </a:p>
                    <a:p>
                      <a:pPr marL="365760" marR="0" lvl="1"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Developing compliance metrics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with the environment and building laws for building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disaster and seismic resilient buildings and health care facilities</a:t>
                      </a:r>
                    </a:p>
                    <a:p>
                      <a:pPr marL="365760" marR="0" lvl="1"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Performance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green building feasibility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study in terms of evaluating the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green building features both technically and commercially </a:t>
                      </a:r>
                      <a:r>
                        <a:rPr kumimoji="0" lang="en-US" sz="90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through study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International and national best practices</a:t>
                      </a:r>
                    </a:p>
                    <a:p>
                      <a:pPr marL="365760" marR="0" lvl="1"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Completion of necessary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LEED templates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and documentation for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IGBC submission</a:t>
                      </a:r>
                    </a:p>
                    <a:p>
                      <a:pPr marL="365760" marR="0" lvl="1"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Provision of handholding and guidance in priority areas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to Project Management Team (PMT)</a:t>
                      </a:r>
                    </a:p>
                  </a:txBody>
                  <a:tcPr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November</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2009;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December</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2011</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i="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Confidential</a:t>
                      </a:r>
                      <a:endParaRPr lang="es-MX" sz="900" b="1" i="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27</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374256176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3685046324"/>
              </p:ext>
            </p:extLst>
          </p:nvPr>
        </p:nvGraphicFramePr>
        <p:xfrm>
          <a:off x="517290" y="745905"/>
          <a:ext cx="11161565" cy="4433653"/>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Best Practices on Forest Ecosystem Services Management in Uttarakhand and Himachal Pradesh</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GIZ, India</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1916285">
                <a:tc>
                  <a:txBody>
                    <a:bodyPr/>
                    <a:lstStyle/>
                    <a:p>
                      <a:pPr marL="128016" marR="0" lvl="0" indent="0" algn="l" defTabSz="914400" rtl="0" eaLnBrk="1" fontAlgn="auto" latinLnBrk="0" hangingPunct="1">
                        <a:lnSpc>
                          <a:spcPct val="115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128016" marR="0" lvl="0" indent="0" algn="just"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a:ln>
                            <a:noFill/>
                          </a:ln>
                          <a:solidFill>
                            <a:prstClr val="black"/>
                          </a:solidFill>
                          <a:effectLst/>
                          <a:uLnTx/>
                          <a:uFillTx/>
                          <a:latin typeface="+mn-lt"/>
                          <a:ea typeface="+mn-ea"/>
                          <a:cs typeface="+mn-cs"/>
                        </a:rPr>
                        <a:t>The project ‘Sustainable Management of Forest Ecosystem Services in the Western Himalayas (HIMFES)’ was implemented by Deutsche Gesellschaft für Internationale </a:t>
                      </a:r>
                      <a:r>
                        <a:rPr kumimoji="0" lang="en-IN" sz="900" b="0" i="0" u="none" strike="noStrike" kern="1200" cap="none" spc="0" normalizeH="0" baseline="0" noProof="0" err="1">
                          <a:ln>
                            <a:noFill/>
                          </a:ln>
                          <a:solidFill>
                            <a:prstClr val="black"/>
                          </a:solidFill>
                          <a:effectLst/>
                          <a:uLnTx/>
                          <a:uFillTx/>
                          <a:latin typeface="+mn-lt"/>
                          <a:ea typeface="+mn-ea"/>
                          <a:cs typeface="+mn-cs"/>
                        </a:rPr>
                        <a:t>Zusammenarbeit</a:t>
                      </a:r>
                      <a:r>
                        <a:rPr kumimoji="0" lang="en-IN" sz="900" b="0" i="0" u="none" strike="noStrike" kern="1200" cap="none" spc="0" normalizeH="0" baseline="0" noProof="0">
                          <a:ln>
                            <a:noFill/>
                          </a:ln>
                          <a:solidFill>
                            <a:prstClr val="black"/>
                          </a:solidFill>
                          <a:effectLst/>
                          <a:uLnTx/>
                          <a:uFillTx/>
                          <a:latin typeface="+mn-lt"/>
                          <a:ea typeface="+mn-ea"/>
                          <a:cs typeface="+mn-cs"/>
                        </a:rPr>
                        <a:t> (GIZ) GmbH in India on behalf of the German Federal Ministry for Economic Cooperation and Development (BMZ) in partnership with the Indian Ministry of Environment, Forest and Climate Change (</a:t>
                      </a:r>
                      <a:r>
                        <a:rPr kumimoji="0" lang="en-IN" sz="900" b="0" i="0" u="none" strike="noStrike" kern="1200" cap="none" spc="0" normalizeH="0" baseline="0" noProof="0" err="1">
                          <a:ln>
                            <a:noFill/>
                          </a:ln>
                          <a:solidFill>
                            <a:prstClr val="black"/>
                          </a:solidFill>
                          <a:effectLst/>
                          <a:uLnTx/>
                          <a:uFillTx/>
                          <a:latin typeface="+mn-lt"/>
                          <a:ea typeface="+mn-ea"/>
                          <a:cs typeface="+mn-cs"/>
                        </a:rPr>
                        <a:t>MoEF&amp;CC</a:t>
                      </a:r>
                      <a:r>
                        <a:rPr kumimoji="0" lang="en-IN" sz="900" b="0" i="0" u="none" strike="noStrike" kern="1200" cap="none" spc="0" normalizeH="0" baseline="0" noProof="0">
                          <a:ln>
                            <a:noFill/>
                          </a:ln>
                          <a:solidFill>
                            <a:prstClr val="black"/>
                          </a:solidFill>
                          <a:effectLst/>
                          <a:uLnTx/>
                          <a:uFillTx/>
                          <a:latin typeface="+mn-lt"/>
                          <a:ea typeface="+mn-ea"/>
                          <a:cs typeface="+mn-cs"/>
                        </a:rPr>
                        <a:t>) at the national level and the forest departments of Himachal Pradesh (HPFD) and Uttarakhand (UKFD) at state level. Under this initiative, Centre for Ecology Development and Research (CEDAR) was assigned to “</a:t>
                      </a:r>
                      <a:r>
                        <a:rPr kumimoji="0" lang="en-US" sz="900" b="0" i="0" u="none" strike="noStrike" kern="1200" cap="none" spc="0" normalizeH="0" baseline="0" noProof="0">
                          <a:ln>
                            <a:noFill/>
                          </a:ln>
                          <a:solidFill>
                            <a:prstClr val="black"/>
                          </a:solidFill>
                          <a:effectLst/>
                          <a:uLnTx/>
                          <a:uFillTx/>
                          <a:latin typeface="+mn-lt"/>
                          <a:ea typeface="+mn-ea"/>
                          <a:cs typeface="+mn-cs"/>
                        </a:rPr>
                        <a:t>Conduct Scoping study and screening of best practices for forest ecosystem services management at the project sites at Uttarakhand and Himachal Pradesh”. </a:t>
                      </a:r>
                      <a:endParaRPr kumimoji="0" lang="en-IN" sz="900" b="0" i="0" u="none" strike="noStrike" kern="1200" cap="none" spc="0" normalizeH="0" baseline="0" noProof="0">
                        <a:ln>
                          <a:noFill/>
                        </a:ln>
                        <a:solidFill>
                          <a:prstClr val="black"/>
                        </a:solidFill>
                        <a:effectLst/>
                        <a:uLnTx/>
                        <a:uFillTx/>
                        <a:latin typeface="+mn-lt"/>
                        <a:ea typeface="+mn-ea"/>
                        <a:cs typeface="+mn-cs"/>
                      </a:endParaRPr>
                    </a:p>
                    <a:p>
                      <a:pPr marL="128016" marR="0" lvl="0" indent="0" algn="just" defTabSz="914400" rtl="0" eaLnBrk="1" fontAlgn="auto" latinLnBrk="0" hangingPunct="1">
                        <a:lnSpc>
                          <a:spcPct val="100000"/>
                        </a:lnSpc>
                        <a:spcBef>
                          <a:spcPts val="0"/>
                        </a:spcBef>
                        <a:spcAft>
                          <a:spcPts val="800"/>
                        </a:spcAft>
                        <a:buClrTx/>
                        <a:buSzTx/>
                        <a:buFontTx/>
                        <a:buNone/>
                        <a:tabLst/>
                        <a:defRPr/>
                      </a:pPr>
                      <a:r>
                        <a:rPr kumimoji="0" lang="en-IN" sz="900" b="0" i="0" u="none" strike="noStrike" kern="1200" cap="none" spc="0" normalizeH="0" baseline="0" noProof="0">
                          <a:ln>
                            <a:noFill/>
                          </a:ln>
                          <a:solidFill>
                            <a:prstClr val="black"/>
                          </a:solidFill>
                          <a:effectLst/>
                          <a:uLnTx/>
                          <a:uFillTx/>
                          <a:latin typeface="+mn-lt"/>
                          <a:ea typeface="+mn-ea"/>
                          <a:cs typeface="+mn-cs"/>
                        </a:rPr>
                        <a:t>The project aimed to understand and document Forest Ecosystem Services (FES) in the Western Himalaya, ensuring sustainable forest management practices, especially improving water availability and proposing incentive-based models for increasing livelihood opportunities and gender equity. </a:t>
                      </a:r>
                      <a:r>
                        <a:rPr kumimoji="0" lang="en-US" sz="900" b="0" i="0" u="none" strike="noStrike" kern="1200" cap="none" spc="0" normalizeH="0" baseline="0" noProof="0">
                          <a:ln>
                            <a:noFill/>
                          </a:ln>
                          <a:solidFill>
                            <a:prstClr val="black"/>
                          </a:solidFill>
                          <a:effectLst/>
                          <a:uLnTx/>
                          <a:uFillTx/>
                          <a:latin typeface="+mn-lt"/>
                          <a:ea typeface="+mn-ea"/>
                          <a:cs typeface="+mn-cs"/>
                        </a:rPr>
                        <a:t>The overall assessment in the project generated ideas and recommended for successful Forest Ecosystem Services management (FES) in the hills. A framework was constructed for prioritizing indicators and determinants for the selection of best practices contributing to the fulfilment of the objective. Also, the framework was shared with related stakeholders such as forest department, local communities, representative bodies, educational institutions, and non-government organizations etc.</a:t>
                      </a:r>
                    </a:p>
                    <a:p>
                      <a:pPr marL="128016" marR="0" lvl="0" indent="0" algn="l" defTabSz="914400" rtl="0" eaLnBrk="1" fontAlgn="auto" latinLnBrk="0" hangingPunct="1">
                        <a:lnSpc>
                          <a:spcPct val="115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180975" algn="l" defTabSz="914400" rtl="0" eaLnBrk="1" fontAlgn="auto" latinLnBrk="0" hangingPunct="1">
                        <a:lnSpc>
                          <a:spcPct val="100000"/>
                        </a:lnSpc>
                        <a:spcBef>
                          <a:spcPts val="0"/>
                        </a:spcBef>
                        <a:spcAft>
                          <a:spcPts val="0"/>
                        </a:spcAft>
                        <a:buClrTx/>
                        <a:buSzPts val="1100"/>
                        <a:buFont typeface="Arial" panose="020B0604020202020204" pitchFamily="34" charset="0"/>
                        <a:buChar char="•"/>
                        <a:tabLst>
                          <a:tab pos="268288" algn="l"/>
                        </a:tabLst>
                        <a:defRPr/>
                      </a:pPr>
                      <a:r>
                        <a:rPr kumimoji="0" lang="en-IN" sz="900" b="0" i="0" u="none" strike="noStrike" kern="1200" cap="none" spc="0" normalizeH="0" baseline="0" noProof="0">
                          <a:ln>
                            <a:noFill/>
                          </a:ln>
                          <a:solidFill>
                            <a:prstClr val="black"/>
                          </a:solidFill>
                          <a:effectLst/>
                          <a:uLnTx/>
                          <a:uFillTx/>
                          <a:latin typeface="+mn-lt"/>
                          <a:ea typeface="+mn-ea"/>
                          <a:cs typeface="+mn-cs"/>
                        </a:rPr>
                        <a:t>Scoping study of the best National and International FES practices relevant for </a:t>
                      </a:r>
                      <a:r>
                        <a:rPr kumimoji="0" lang="en-IN" sz="900" b="1" i="0" u="none" strike="noStrike" kern="1200" cap="none" spc="0" normalizeH="0" baseline="0" noProof="0">
                          <a:ln>
                            <a:noFill/>
                          </a:ln>
                          <a:solidFill>
                            <a:prstClr val="black"/>
                          </a:solidFill>
                          <a:effectLst/>
                          <a:uLnTx/>
                          <a:uFillTx/>
                          <a:latin typeface="+mn-lt"/>
                          <a:ea typeface="+mn-ea"/>
                          <a:cs typeface="+mn-cs"/>
                        </a:rPr>
                        <a:t>FES management in the Western Himalayas</a:t>
                      </a:r>
                    </a:p>
                    <a:p>
                      <a:pPr marL="365760" marR="0" lvl="0" indent="-180975" algn="l" defTabSz="914400" rtl="0" eaLnBrk="1" fontAlgn="auto" latinLnBrk="0" hangingPunct="1">
                        <a:lnSpc>
                          <a:spcPct val="100000"/>
                        </a:lnSpc>
                        <a:spcBef>
                          <a:spcPts val="0"/>
                        </a:spcBef>
                        <a:spcAft>
                          <a:spcPts val="0"/>
                        </a:spcAft>
                        <a:buClrTx/>
                        <a:buSzPts val="1100"/>
                        <a:buFont typeface="Arial" panose="020B0604020202020204" pitchFamily="34" charset="0"/>
                        <a:buChar char="•"/>
                        <a:tabLst>
                          <a:tab pos="268288" algn="l"/>
                        </a:tabLst>
                        <a:defRPr/>
                      </a:pPr>
                      <a:r>
                        <a:rPr kumimoji="0" lang="en-IN" sz="900" b="0" i="0" u="none" strike="noStrike" kern="1200" cap="none" spc="0" normalizeH="0" baseline="0" noProof="0">
                          <a:ln>
                            <a:noFill/>
                          </a:ln>
                          <a:solidFill>
                            <a:prstClr val="black"/>
                          </a:solidFill>
                          <a:effectLst/>
                          <a:uLnTx/>
                          <a:uFillTx/>
                          <a:latin typeface="+mn-lt"/>
                          <a:ea typeface="+mn-ea"/>
                          <a:cs typeface="+mn-cs"/>
                        </a:rPr>
                        <a:t>Screening of best FES practices </a:t>
                      </a:r>
                      <a:endParaRPr kumimoji="0" lang="en-US" sz="900" b="0" i="0" u="none" strike="noStrike" kern="1200" cap="none" spc="0" normalizeH="0" baseline="0" noProof="0">
                        <a:ln>
                          <a:noFill/>
                        </a:ln>
                        <a:solidFill>
                          <a:prstClr val="black"/>
                        </a:solidFill>
                        <a:effectLst/>
                        <a:uLnTx/>
                        <a:uFillTx/>
                        <a:latin typeface="+mn-lt"/>
                        <a:ea typeface="+mn-ea"/>
                        <a:cs typeface="+mn-cs"/>
                      </a:endParaRPr>
                    </a:p>
                    <a:p>
                      <a:pPr marL="365760" marR="0" lvl="0" indent="-180975" algn="just" defTabSz="914400" rtl="0" eaLnBrk="1" fontAlgn="auto" latinLnBrk="0" hangingPunct="1">
                        <a:lnSpc>
                          <a:spcPct val="100000"/>
                        </a:lnSpc>
                        <a:spcBef>
                          <a:spcPts val="0"/>
                        </a:spcBef>
                        <a:spcAft>
                          <a:spcPts val="0"/>
                        </a:spcAft>
                        <a:buClrTx/>
                        <a:buSzTx/>
                        <a:buFont typeface="Arial" panose="020B0604020202020204" pitchFamily="34" charset="0"/>
                        <a:buChar char="•"/>
                        <a:tabLst>
                          <a:tab pos="268288" algn="l"/>
                        </a:tabLst>
                        <a:defRPr/>
                      </a:pPr>
                      <a:r>
                        <a:rPr kumimoji="0" lang="en-US" sz="900" b="0" i="0" u="none" strike="noStrike" kern="1200" cap="none" spc="0" normalizeH="0" baseline="0" noProof="0">
                          <a:ln>
                            <a:noFill/>
                          </a:ln>
                          <a:solidFill>
                            <a:prstClr val="black"/>
                          </a:solidFill>
                          <a:effectLst/>
                          <a:uLnTx/>
                          <a:uFillTx/>
                          <a:latin typeface="+mn-lt"/>
                          <a:ea typeface="+mn-ea"/>
                          <a:cs typeface="+mn-cs"/>
                        </a:rPr>
                        <a:t>Enhancing the flow of ecosystem services, especially water</a:t>
                      </a:r>
                    </a:p>
                    <a:p>
                      <a:pPr marL="365760" marR="0" lvl="0" indent="-180975" algn="just" defTabSz="914400" rtl="0" eaLnBrk="1" fontAlgn="auto" latinLnBrk="0" hangingPunct="1">
                        <a:lnSpc>
                          <a:spcPct val="100000"/>
                        </a:lnSpc>
                        <a:spcBef>
                          <a:spcPts val="0"/>
                        </a:spcBef>
                        <a:spcAft>
                          <a:spcPts val="0"/>
                        </a:spcAft>
                        <a:buClrTx/>
                        <a:buSzTx/>
                        <a:buFont typeface="Arial" panose="020B0604020202020204" pitchFamily="34" charset="0"/>
                        <a:buChar char="•"/>
                        <a:tabLst>
                          <a:tab pos="268288" algn="l"/>
                        </a:tabLst>
                        <a:defRPr/>
                      </a:pPr>
                      <a:r>
                        <a:rPr kumimoji="0" lang="en-US" sz="900" b="0" i="0" u="none" strike="noStrike" kern="1200" cap="none" spc="0" normalizeH="0" baseline="0" noProof="0">
                          <a:ln>
                            <a:noFill/>
                          </a:ln>
                          <a:solidFill>
                            <a:prstClr val="black"/>
                          </a:solidFill>
                          <a:effectLst/>
                          <a:uLnTx/>
                          <a:uFillTx/>
                          <a:latin typeface="+mn-lt"/>
                          <a:ea typeface="+mn-ea"/>
                          <a:cs typeface="+mn-cs"/>
                        </a:rPr>
                        <a:t>How incentive-based models are complementary to FES best practices</a:t>
                      </a:r>
                    </a:p>
                    <a:p>
                      <a:pPr marL="365760" marR="0" lvl="0" indent="-180975" algn="just" defTabSz="914400" rtl="0" eaLnBrk="1" fontAlgn="auto" latinLnBrk="0" hangingPunct="1">
                        <a:lnSpc>
                          <a:spcPct val="100000"/>
                        </a:lnSpc>
                        <a:spcBef>
                          <a:spcPts val="0"/>
                        </a:spcBef>
                        <a:spcAft>
                          <a:spcPts val="0"/>
                        </a:spcAft>
                        <a:buClrTx/>
                        <a:buSzTx/>
                        <a:buFont typeface="Arial" panose="020B0604020202020204" pitchFamily="34" charset="0"/>
                        <a:buChar char="•"/>
                        <a:tabLst>
                          <a:tab pos="268288" algn="l"/>
                        </a:tabLst>
                        <a:defRPr/>
                      </a:pPr>
                      <a:r>
                        <a:rPr kumimoji="0" lang="en-US" sz="900" b="1" i="0" u="none" strike="noStrike" kern="1200" cap="none" spc="0" normalizeH="0" baseline="0" noProof="0">
                          <a:ln>
                            <a:noFill/>
                          </a:ln>
                          <a:solidFill>
                            <a:prstClr val="black"/>
                          </a:solidFill>
                          <a:effectLst/>
                          <a:uLnTx/>
                          <a:uFillTx/>
                          <a:latin typeface="+mn-lt"/>
                          <a:ea typeface="+mn-ea"/>
                          <a:cs typeface="+mn-cs"/>
                        </a:rPr>
                        <a:t>Enhanced Gender equity, livelihood generation and reduction in women drudgery </a:t>
                      </a:r>
                      <a:r>
                        <a:rPr kumimoji="0" lang="en-US" sz="900" b="0" i="0" u="none" strike="noStrike" kern="1200" cap="none" spc="0" normalizeH="0" baseline="0" noProof="0">
                          <a:ln>
                            <a:noFill/>
                          </a:ln>
                          <a:solidFill>
                            <a:prstClr val="black"/>
                          </a:solidFill>
                          <a:effectLst/>
                          <a:uLnTx/>
                          <a:uFillTx/>
                          <a:latin typeface="+mn-lt"/>
                          <a:ea typeface="+mn-ea"/>
                          <a:cs typeface="+mn-cs"/>
                        </a:rPr>
                        <a:t>as a result of enhanced FES</a:t>
                      </a: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2021;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2022</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0.12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CEDAR</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28</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396664911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1470130284"/>
              </p:ext>
            </p:extLst>
          </p:nvPr>
        </p:nvGraphicFramePr>
        <p:xfrm>
          <a:off x="517290" y="745905"/>
          <a:ext cx="11161565" cy="4662507"/>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Climate Adaptive and Equitable Water Management Systems for Medium-Sized Cities: Participatory Research and Innovation in North India and Nepal.</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IDRC (Canada)</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1916285">
                <a:tc>
                  <a:txBody>
                    <a:bodyPr/>
                    <a:lstStyle/>
                    <a:p>
                      <a:pPr marL="128016" marR="0" lvl="0" indent="0" algn="just" defTabSz="914400" rtl="0" eaLnBrk="1" fontAlgn="auto" latinLnBrk="0" hangingPunct="1">
                        <a:lnSpc>
                          <a:spcPct val="115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128016" marR="0" lvl="0" indent="0" algn="just"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mn-lt"/>
                          <a:ea typeface="+mn-ea"/>
                          <a:cs typeface="+mn-cs"/>
                        </a:rPr>
                        <a:t>Climate Adaptive and Water Management Practices and Strategies for Cities in South Asia Project’ which aimed to address various aspects of climate adaptation for urban water management in the Himalayas taking two cases each from India and Nepal. In Indian context two cities Mussoorie and </a:t>
                      </a:r>
                      <a:r>
                        <a:rPr kumimoji="0" lang="en-US" sz="900" b="0" i="0" u="none" strike="noStrike" kern="1200" cap="none" spc="0" normalizeH="0" baseline="0" noProof="0" err="1">
                          <a:ln>
                            <a:noFill/>
                          </a:ln>
                          <a:solidFill>
                            <a:prstClr val="black"/>
                          </a:solidFill>
                          <a:effectLst/>
                          <a:uLnTx/>
                          <a:uFillTx/>
                          <a:latin typeface="+mn-lt"/>
                          <a:ea typeface="+mn-ea"/>
                          <a:cs typeface="+mn-cs"/>
                        </a:rPr>
                        <a:t>Haldwani</a:t>
                      </a:r>
                      <a:r>
                        <a:rPr kumimoji="0" lang="en-US" sz="900" b="0" i="0" u="none" strike="noStrike" kern="1200" cap="none" spc="0" normalizeH="0" baseline="0" noProof="0">
                          <a:ln>
                            <a:noFill/>
                          </a:ln>
                          <a:solidFill>
                            <a:prstClr val="black"/>
                          </a:solidFill>
                          <a:effectLst/>
                          <a:uLnTx/>
                          <a:uFillTx/>
                          <a:latin typeface="+mn-lt"/>
                          <a:ea typeface="+mn-ea"/>
                          <a:cs typeface="+mn-cs"/>
                        </a:rPr>
                        <a:t> were chosen from Uttarakhand state and came under the scope of CEDAR. The current report thus highlights various studies, research and implementation activities under taken in the CAEWMPS project through various sections each responding to the specific objectives of </a:t>
                      </a:r>
                      <a:r>
                        <a:rPr kumimoji="0" lang="en-US" sz="900" b="0" i="0" u="none" strike="noStrike" kern="1200" cap="none" spc="0" normalizeH="0" baseline="0" noProof="0" err="1">
                          <a:ln>
                            <a:noFill/>
                          </a:ln>
                          <a:solidFill>
                            <a:prstClr val="black"/>
                          </a:solidFill>
                          <a:effectLst/>
                          <a:uLnTx/>
                          <a:uFillTx/>
                          <a:latin typeface="+mn-lt"/>
                          <a:ea typeface="+mn-ea"/>
                          <a:cs typeface="+mn-cs"/>
                        </a:rPr>
                        <a:t>thE</a:t>
                      </a:r>
                      <a:r>
                        <a:rPr kumimoji="0" lang="en-US" sz="900" b="0" i="0" u="none" strike="noStrike" kern="1200" cap="none" spc="0" normalizeH="0" baseline="0" noProof="0">
                          <a:ln>
                            <a:noFill/>
                          </a:ln>
                          <a:solidFill>
                            <a:prstClr val="black"/>
                          </a:solidFill>
                          <a:effectLst/>
                          <a:uLnTx/>
                          <a:uFillTx/>
                          <a:latin typeface="+mn-lt"/>
                          <a:ea typeface="+mn-ea"/>
                          <a:cs typeface="+mn-cs"/>
                        </a:rPr>
                        <a:t> project. The broad objective of the project was to address urban water insecurity in Himalayan </a:t>
                      </a:r>
                      <a:r>
                        <a:rPr kumimoji="0" lang="en-US" sz="900" b="0" i="0" u="none" strike="noStrike" kern="1200" cap="none" spc="0" normalizeH="0" baseline="0" noProof="0" err="1">
                          <a:ln>
                            <a:noFill/>
                          </a:ln>
                          <a:solidFill>
                            <a:prstClr val="black"/>
                          </a:solidFill>
                          <a:effectLst/>
                          <a:uLnTx/>
                          <a:uFillTx/>
                          <a:latin typeface="+mn-lt"/>
                          <a:ea typeface="+mn-ea"/>
                          <a:cs typeface="+mn-cs"/>
                        </a:rPr>
                        <a:t>citieS</a:t>
                      </a:r>
                      <a:r>
                        <a:rPr kumimoji="0" lang="en-US" sz="900" b="0" i="0" u="none" strike="noStrike" kern="1200" cap="none" spc="0" normalizeH="0" baseline="0" noProof="0">
                          <a:ln>
                            <a:noFill/>
                          </a:ln>
                          <a:solidFill>
                            <a:prstClr val="black"/>
                          </a:solidFill>
                          <a:effectLst/>
                          <a:uLnTx/>
                          <a:uFillTx/>
                          <a:latin typeface="+mn-lt"/>
                          <a:ea typeface="+mn-ea"/>
                          <a:cs typeface="+mn-cs"/>
                        </a:rPr>
                        <a:t> taking into account the unique geography of the mountains and its people under the lens of climate change. This included understanding urban water resources and their responses to changing climate </a:t>
                      </a:r>
                      <a:r>
                        <a:rPr kumimoji="0" lang="en-US" sz="900" b="0" i="0" u="none" strike="noStrike" kern="1200" cap="none" spc="0" normalizeH="0" baseline="0" noProof="0" err="1">
                          <a:ln>
                            <a:noFill/>
                          </a:ln>
                          <a:solidFill>
                            <a:prstClr val="black"/>
                          </a:solidFill>
                          <a:effectLst/>
                          <a:uLnTx/>
                          <a:uFillTx/>
                          <a:latin typeface="+mn-lt"/>
                          <a:ea typeface="+mn-ea"/>
                          <a:cs typeface="+mn-cs"/>
                        </a:rPr>
                        <a:t>patterns,scity</a:t>
                      </a:r>
                      <a:r>
                        <a:rPr kumimoji="0" lang="en-US" sz="900" b="0" i="0" u="none" strike="noStrike" kern="1200" cap="none" spc="0" normalizeH="0" baseline="0" noProof="0">
                          <a:ln>
                            <a:noFill/>
                          </a:ln>
                          <a:solidFill>
                            <a:prstClr val="black"/>
                          </a:solidFill>
                          <a:effectLst/>
                          <a:uLnTx/>
                          <a:uFillTx/>
                          <a:latin typeface="+mn-lt"/>
                          <a:ea typeface="+mn-ea"/>
                          <a:cs typeface="+mn-cs"/>
                        </a:rPr>
                        <a:t> wide analysis in urban water management and equity as well as evolving pilot strategies to address the concern. </a:t>
                      </a:r>
                      <a:endParaRPr kumimoji="0" lang="en-IN" sz="900" b="0" i="0" u="none" strike="noStrike" kern="1200" cap="none" spc="0" normalizeH="0" baseline="0" noProof="0">
                        <a:ln>
                          <a:noFill/>
                        </a:ln>
                        <a:solidFill>
                          <a:prstClr val="black"/>
                        </a:solidFill>
                        <a:effectLst/>
                        <a:uLnTx/>
                        <a:uFillTx/>
                        <a:latin typeface="+mn-lt"/>
                        <a:ea typeface="+mn-ea"/>
                        <a:cs typeface="+mn-cs"/>
                      </a:endParaRPr>
                    </a:p>
                    <a:p>
                      <a:pPr marL="128016"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128016"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mn-lt"/>
                          <a:ea typeface="+mn-ea"/>
                          <a:cs typeface="+mn-cs"/>
                        </a:rPr>
                        <a:t>Analyzed existing water management systems </a:t>
                      </a:r>
                      <a:r>
                        <a:rPr kumimoji="0" lang="en-US" sz="900" b="0" i="0" u="none" strike="noStrike" kern="1200" cap="none" spc="0" normalizeH="0" baseline="0" noProof="0">
                          <a:ln>
                            <a:noFill/>
                          </a:ln>
                          <a:solidFill>
                            <a:prstClr val="black"/>
                          </a:solidFill>
                          <a:effectLst/>
                          <a:uLnTx/>
                          <a:uFillTx/>
                          <a:latin typeface="+mn-lt"/>
                          <a:ea typeface="+mn-ea"/>
                          <a:cs typeface="+mn-cs"/>
                        </a:rPr>
                        <a:t>in four case study cities to identify adaptation issues and opportunities in relation to (a) existing and predicted impact of climate change on water cycles, (b) city-level planning and governance context, and (c) socio-economic trends of urbanization in the region, and c) day-to-day water use practices;</a:t>
                      </a:r>
                    </a:p>
                    <a:p>
                      <a:pPr marL="36576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n-lt"/>
                          <a:ea typeface="+mn-ea"/>
                          <a:cs typeface="+mn-cs"/>
                        </a:rPr>
                        <a:t>Explored, experimented and developed Climate Adaptive and Equitable Water Management Practices and Strategies (CAEWMPS) focusing on priority critical water zones of the four cities;</a:t>
                      </a:r>
                    </a:p>
                    <a:p>
                      <a:pPr marL="36576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mn-lt"/>
                          <a:ea typeface="+mn-ea"/>
                          <a:cs typeface="+mn-cs"/>
                        </a:rPr>
                        <a:t>Investigated city-scale planning and institutional change pathways</a:t>
                      </a:r>
                      <a:r>
                        <a:rPr kumimoji="0" lang="en-US" sz="900" b="0" i="0" u="none" strike="noStrike" kern="1200" cap="none" spc="0" normalizeH="0" baseline="0" noProof="0">
                          <a:ln>
                            <a:noFill/>
                          </a:ln>
                          <a:solidFill>
                            <a:prstClr val="black"/>
                          </a:solidFill>
                          <a:effectLst/>
                          <a:uLnTx/>
                          <a:uFillTx/>
                          <a:latin typeface="+mn-lt"/>
                          <a:ea typeface="+mn-ea"/>
                          <a:cs typeface="+mn-cs"/>
                        </a:rPr>
                        <a:t> for mainstreaming CAEWMPS, with particular reference to economic incentives, knowledge partnerships, and social enterprise innovations;</a:t>
                      </a:r>
                    </a:p>
                    <a:p>
                      <a:pPr marL="36576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mn-lt"/>
                          <a:ea typeface="+mn-ea"/>
                          <a:cs typeface="+mn-cs"/>
                        </a:rPr>
                        <a:t>Analyzed policy and regulatory barriers to CAEWMPS in the context of Nepal </a:t>
                      </a:r>
                      <a:r>
                        <a:rPr kumimoji="0" lang="en-US" sz="900" b="0" i="0" u="none" strike="noStrike" kern="1200" cap="none" spc="0" normalizeH="0" baseline="0" noProof="0">
                          <a:ln>
                            <a:noFill/>
                          </a:ln>
                          <a:solidFill>
                            <a:prstClr val="black"/>
                          </a:solidFill>
                          <a:effectLst/>
                          <a:uLnTx/>
                          <a:uFillTx/>
                          <a:latin typeface="+mn-lt"/>
                          <a:ea typeface="+mn-ea"/>
                          <a:cs typeface="+mn-cs"/>
                        </a:rPr>
                        <a:t>and the two States in India, and demonstrated actionable policy improvement pathways for upscaling CAEWMPS</a:t>
                      </a:r>
                    </a:p>
                    <a:p>
                      <a:pPr marL="36576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mn-lt"/>
                          <a:ea typeface="+mn-ea"/>
                          <a:cs typeface="+mn-cs"/>
                        </a:rPr>
                        <a:t>Developed and disseminated scientific outputs</a:t>
                      </a:r>
                      <a:r>
                        <a:rPr kumimoji="0" lang="en-US" sz="900" b="0" i="0" u="none" strike="noStrike" kern="1200" cap="none" spc="0" normalizeH="0" baseline="0" noProof="0">
                          <a:ln>
                            <a:noFill/>
                          </a:ln>
                          <a:solidFill>
                            <a:prstClr val="black"/>
                          </a:solidFill>
                          <a:effectLst/>
                          <a:uLnTx/>
                          <a:uFillTx/>
                          <a:latin typeface="+mn-lt"/>
                          <a:ea typeface="+mn-ea"/>
                          <a:cs typeface="+mn-cs"/>
                        </a:rPr>
                        <a:t> in aspects of a) </a:t>
                      </a:r>
                      <a:r>
                        <a:rPr kumimoji="0" lang="en-US" sz="900" b="1" i="0" u="none" strike="noStrike" kern="1200" cap="none" spc="0" normalizeH="0" baseline="0" noProof="0">
                          <a:ln>
                            <a:noFill/>
                          </a:ln>
                          <a:solidFill>
                            <a:prstClr val="black"/>
                          </a:solidFill>
                          <a:effectLst/>
                          <a:uLnTx/>
                          <a:uFillTx/>
                          <a:latin typeface="+mn-lt"/>
                          <a:ea typeface="+mn-ea"/>
                          <a:cs typeface="+mn-cs"/>
                        </a:rPr>
                        <a:t>governance</a:t>
                      </a:r>
                      <a:r>
                        <a:rPr kumimoji="0" lang="en-US" sz="900" b="0" i="0" u="none" strike="noStrike" kern="1200" cap="none" spc="0" normalizeH="0" baseline="0" noProof="0">
                          <a:ln>
                            <a:noFill/>
                          </a:ln>
                          <a:solidFill>
                            <a:prstClr val="black"/>
                          </a:solidFill>
                          <a:effectLst/>
                          <a:uLnTx/>
                          <a:uFillTx/>
                          <a:latin typeface="+mn-lt"/>
                          <a:ea typeface="+mn-ea"/>
                          <a:cs typeface="+mn-cs"/>
                        </a:rPr>
                        <a:t> of critical urban water zones, b) </a:t>
                      </a:r>
                      <a:r>
                        <a:rPr kumimoji="0" lang="en-US" sz="900" b="1" i="0" u="none" strike="noStrike" kern="1200" cap="none" spc="0" normalizeH="0" baseline="0" noProof="0">
                          <a:ln>
                            <a:noFill/>
                          </a:ln>
                          <a:solidFill>
                            <a:prstClr val="black"/>
                          </a:solidFill>
                          <a:effectLst/>
                          <a:uLnTx/>
                          <a:uFillTx/>
                          <a:latin typeface="+mn-lt"/>
                          <a:ea typeface="+mn-ea"/>
                          <a:cs typeface="+mn-cs"/>
                        </a:rPr>
                        <a:t>reframing instituti</a:t>
                      </a:r>
                      <a:r>
                        <a:rPr kumimoji="0" lang="en-US" sz="900" b="0" i="0" u="none" strike="noStrike" kern="1200" cap="none" spc="0" normalizeH="0" baseline="0" noProof="0">
                          <a:ln>
                            <a:noFill/>
                          </a:ln>
                          <a:solidFill>
                            <a:prstClr val="black"/>
                          </a:solidFill>
                          <a:effectLst/>
                          <a:uLnTx/>
                          <a:uFillTx/>
                          <a:latin typeface="+mn-lt"/>
                          <a:ea typeface="+mn-ea"/>
                          <a:cs typeface="+mn-cs"/>
                        </a:rPr>
                        <a:t>ons for urban water system adaptation, c) </a:t>
                      </a:r>
                      <a:r>
                        <a:rPr kumimoji="0" lang="en-US" sz="900" b="1" i="0" u="none" strike="noStrike" kern="1200" cap="none" spc="0" normalizeH="0" baseline="0" noProof="0">
                          <a:ln>
                            <a:noFill/>
                          </a:ln>
                          <a:solidFill>
                            <a:prstClr val="black"/>
                          </a:solidFill>
                          <a:effectLst/>
                          <a:uLnTx/>
                          <a:uFillTx/>
                          <a:latin typeface="+mn-lt"/>
                          <a:ea typeface="+mn-ea"/>
                          <a:cs typeface="+mn-cs"/>
                        </a:rPr>
                        <a:t>effective planning pathways</a:t>
                      </a:r>
                      <a:r>
                        <a:rPr kumimoji="0" lang="en-US" sz="900" b="0" i="0" u="none" strike="noStrike" kern="1200" cap="none" spc="0" normalizeH="0" baseline="0" noProof="0">
                          <a:ln>
                            <a:noFill/>
                          </a:ln>
                          <a:solidFill>
                            <a:prstClr val="black"/>
                          </a:solidFill>
                          <a:effectLst/>
                          <a:uLnTx/>
                          <a:uFillTx/>
                          <a:latin typeface="+mn-lt"/>
                          <a:ea typeface="+mn-ea"/>
                          <a:cs typeface="+mn-cs"/>
                        </a:rPr>
                        <a:t> for urban water adaptation, c) </a:t>
                      </a:r>
                      <a:r>
                        <a:rPr kumimoji="0" lang="en-US" sz="900" b="1" i="0" u="none" strike="noStrike" kern="1200" cap="none" spc="0" normalizeH="0" baseline="0" noProof="0">
                          <a:ln>
                            <a:noFill/>
                          </a:ln>
                          <a:solidFill>
                            <a:prstClr val="black"/>
                          </a:solidFill>
                          <a:effectLst/>
                          <a:uLnTx/>
                          <a:uFillTx/>
                          <a:latin typeface="+mn-lt"/>
                          <a:ea typeface="+mn-ea"/>
                          <a:cs typeface="+mn-cs"/>
                        </a:rPr>
                        <a:t>gender sensitive </a:t>
                      </a:r>
                      <a:r>
                        <a:rPr kumimoji="0" lang="en-US" sz="900" b="0" i="0" u="none" strike="noStrike" kern="1200" cap="none" spc="0" normalizeH="0" baseline="0" noProof="0">
                          <a:ln>
                            <a:noFill/>
                          </a:ln>
                          <a:solidFill>
                            <a:prstClr val="black"/>
                          </a:solidFill>
                          <a:effectLst/>
                          <a:uLnTx/>
                          <a:uFillTx/>
                          <a:latin typeface="+mn-lt"/>
                          <a:ea typeface="+mn-ea"/>
                          <a:cs typeface="+mn-cs"/>
                        </a:rPr>
                        <a:t>urban water management, d) </a:t>
                      </a:r>
                      <a:r>
                        <a:rPr kumimoji="0" lang="en-US" sz="900" b="1" i="0" u="none" strike="noStrike" kern="1200" cap="none" spc="0" normalizeH="0" baseline="0" noProof="0">
                          <a:ln>
                            <a:noFill/>
                          </a:ln>
                          <a:solidFill>
                            <a:prstClr val="black"/>
                          </a:solidFill>
                          <a:effectLst/>
                          <a:uLnTx/>
                          <a:uFillTx/>
                          <a:latin typeface="+mn-lt"/>
                          <a:ea typeface="+mn-ea"/>
                          <a:cs typeface="+mn-cs"/>
                        </a:rPr>
                        <a:t>policy directions </a:t>
                      </a:r>
                      <a:r>
                        <a:rPr kumimoji="0" lang="en-US" sz="900" b="0" i="0" u="none" strike="noStrike" kern="1200" cap="none" spc="0" normalizeH="0" baseline="0" noProof="0">
                          <a:ln>
                            <a:noFill/>
                          </a:ln>
                          <a:solidFill>
                            <a:prstClr val="black"/>
                          </a:solidFill>
                          <a:effectLst/>
                          <a:uLnTx/>
                          <a:uFillTx/>
                          <a:latin typeface="+mn-lt"/>
                          <a:ea typeface="+mn-ea"/>
                          <a:cs typeface="+mn-cs"/>
                        </a:rPr>
                        <a:t>for effective urban water systems adaptation, e) economic analysis of climate adaptive water management options, and f) analysis of everyday practice of urban water use.</a:t>
                      </a: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 and Nepal</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2016;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2019</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1.07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CEDAR</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29</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99982358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362903452"/>
              </p:ext>
            </p:extLst>
          </p:nvPr>
        </p:nvGraphicFramePr>
        <p:xfrm>
          <a:off x="517290" y="745905"/>
          <a:ext cx="11161565" cy="4604468"/>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Monitoring of biomass stocks and forest community structure in temperate zone of Western Himalayas</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Ministry of Environment Forests and Climate Change (</a:t>
                      </a:r>
                      <a:r>
                        <a:rPr lang="en-US" sz="1000" b="0" err="1">
                          <a:solidFill>
                            <a:schemeClr val="bg1"/>
                          </a:solidFill>
                          <a:effectLst/>
                          <a:latin typeface="Verdana" panose="020B0604030504040204" pitchFamily="34" charset="0"/>
                          <a:ea typeface="+mn-ea"/>
                          <a:cs typeface="Times New Roman" panose="02020603050405020304" pitchFamily="18" charset="0"/>
                        </a:rPr>
                        <a:t>MoEFCC</a:t>
                      </a:r>
                      <a:r>
                        <a:rPr lang="en-US" sz="1000" b="0">
                          <a:solidFill>
                            <a:schemeClr val="bg1"/>
                          </a:solidFill>
                          <a:effectLst/>
                          <a:latin typeface="Verdana" panose="020B0604030504040204" pitchFamily="34" charset="0"/>
                          <a:ea typeface="+mn-ea"/>
                          <a:cs typeface="Times New Roman" panose="02020603050405020304" pitchFamily="18" charset="0"/>
                        </a:rPr>
                        <a: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1916285">
                <a:tc>
                  <a:txBody>
                    <a:bodyPr/>
                    <a:lstStyle/>
                    <a:p>
                      <a:pPr marL="128016" marR="0" lvl="0" indent="0" algn="just" defTabSz="914400" rtl="0" eaLnBrk="1" fontAlgn="auto" latinLnBrk="0" hangingPunct="1">
                        <a:lnSpc>
                          <a:spcPct val="115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128016" marR="0" lvl="0" indent="0" algn="just"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mn-lt"/>
                          <a:ea typeface="+mn-ea"/>
                          <a:cs typeface="+mn-cs"/>
                        </a:rPr>
                        <a:t>Biomass and carbon sequestration are central to the controversy among scientists dealing with the importance of terrestrial ecosystems in mitigating global warming. There is a growing</a:t>
                      </a:r>
                    </a:p>
                    <a:p>
                      <a:pPr marL="128016" marR="0" lvl="0" indent="0" algn="just"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mn-lt"/>
                          <a:ea typeface="+mn-ea"/>
                          <a:cs typeface="+mn-cs"/>
                        </a:rPr>
                        <a:t>demand for accurate estimations of biomass stocks and carbon sequestration rates. Researchers know that it is difficult to accurately measure the carbon sequestration rate of even a small area due to labor intensive measurements and accurate and long- term monitoring. The study was conducted along two transects in the cool temperate region between 1600 -2400 m in Nainital and </a:t>
                      </a:r>
                      <a:r>
                        <a:rPr kumimoji="0" lang="en-US" sz="900" b="0" i="0" u="none" strike="noStrike" kern="1200" cap="none" spc="0" normalizeH="0" baseline="0" noProof="0" err="1">
                          <a:ln>
                            <a:noFill/>
                          </a:ln>
                          <a:solidFill>
                            <a:prstClr val="black"/>
                          </a:solidFill>
                          <a:effectLst/>
                          <a:uLnTx/>
                          <a:uFillTx/>
                          <a:latin typeface="+mn-lt"/>
                          <a:ea typeface="+mn-ea"/>
                          <a:cs typeface="+mn-cs"/>
                        </a:rPr>
                        <a:t>Mukteshwar</a:t>
                      </a:r>
                      <a:r>
                        <a:rPr kumimoji="0" lang="en-US" sz="900" b="0" i="0" u="none" strike="noStrike" kern="1200" cap="none" spc="0" normalizeH="0" baseline="0" noProof="0">
                          <a:ln>
                            <a:noFill/>
                          </a:ln>
                          <a:solidFill>
                            <a:prstClr val="black"/>
                          </a:solidFill>
                          <a:effectLst/>
                          <a:uLnTx/>
                          <a:uFillTx/>
                          <a:latin typeface="+mn-lt"/>
                          <a:ea typeface="+mn-ea"/>
                          <a:cs typeface="+mn-cs"/>
                        </a:rPr>
                        <a:t> region of Western Himalayas. 24 permanent plots were placed for the study at intervals of 100m rise in altitude. Total 48 permanent plots were set up along the altitudinal gradients. Regional as well as internationally accepted equations were used to calculate the biomass of the tree species. Standard and widely accepted methods and protocols are proposed to study soil parameters and estimate soil carbon and nutrient levels at different altitudes and in different forest types.</a:t>
                      </a:r>
                    </a:p>
                    <a:p>
                      <a:pPr marL="128016" marR="0" lvl="0" indent="0" algn="just"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mn-lt"/>
                          <a:ea typeface="+mn-ea"/>
                          <a:cs typeface="+mn-cs"/>
                        </a:rPr>
                        <a:t>An oak dominated forest type was found in both sites.  While pine dominated forests were also found these were largely in areas subject to high anthropogenic disturbance (as indicated by grazing trails, frequent human induced burning, litter collection and other parameters used) and were hence excluded for the purposes of long term monitoring plots.  For long term monitoring, relatively undisturbed sites were chosen.  A total of 1085 trees were measured in the 44 plots (1.76 ha) with a tree density of 616 trees per ha.  22 tree species were identified of which 6 species constituted over 94% of the total stems.</a:t>
                      </a:r>
                      <a:endParaRPr kumimoji="0" lang="en-IN" sz="900" b="0" i="0" u="none" strike="noStrike" kern="1200" cap="none" spc="0" normalizeH="0" baseline="0" noProof="0">
                        <a:ln>
                          <a:noFill/>
                        </a:ln>
                        <a:solidFill>
                          <a:prstClr val="black"/>
                        </a:solidFill>
                        <a:effectLst/>
                        <a:uLnTx/>
                        <a:uFillTx/>
                        <a:latin typeface="+mn-lt"/>
                        <a:ea typeface="+mn-ea"/>
                        <a:cs typeface="+mn-cs"/>
                      </a:endParaRPr>
                    </a:p>
                    <a:p>
                      <a:pPr marL="128016" marR="0" lvl="0" indent="-201613" algn="just"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mn-lt"/>
                        <a:ea typeface="+mn-ea"/>
                        <a:cs typeface="+mn-cs"/>
                      </a:endParaRPr>
                    </a:p>
                    <a:p>
                      <a:pPr marL="127000" marR="0" lvl="0" indent="-11113"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201613"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CBH of 1085 trees were measured twice at 12 months interval as an independent variable to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estimate biomass and carbon sequestration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rates using allometric equations. All 48 plots were sampled during the three year period</a:t>
                      </a:r>
                    </a:p>
                    <a:p>
                      <a:pPr marL="365760" marR="0" lvl="0" indent="-201613"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Soil Carbon % was calculated across different altitudes ranging between 3.18±0.01 % at 2100-2200m and 1.40 ± 0.01% at 1600-1700m</a:t>
                      </a:r>
                    </a:p>
                    <a:p>
                      <a:pPr marL="365760" marR="0" lvl="0" indent="-201613"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Growth patterns of different tree species are being monitored through annual change in basal area.  All 48 plots have been measured for two intervals.</a:t>
                      </a:r>
                    </a:p>
                    <a:p>
                      <a:pPr marL="365760" marR="0" lvl="0" indent="-201613"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Data to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determine </a:t>
                      </a:r>
                      <a:r>
                        <a:rPr kumimoji="0" lang="en-US" sz="900" b="1"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phyto</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-sociological characteristics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have been collected to determine the population and community structure.</a:t>
                      </a:r>
                    </a:p>
                    <a:p>
                      <a:pPr marL="365760" marR="0" lvl="0" indent="-201613"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LAI measurements were completed,  LAI ranged between 2.8±0.3 and 1.3±0.3 </a:t>
                      </a:r>
                      <a:endParaRPr kumimoji="0" lang="en-US" sz="900" b="0" i="0" u="none" strike="noStrike" kern="1200" cap="none" spc="0" normalizeH="0" baseline="0" noProof="0">
                        <a:ln>
                          <a:noFill/>
                        </a:ln>
                        <a:solidFill>
                          <a:prstClr val="black"/>
                        </a:solidFill>
                        <a:effectLst/>
                        <a:uLnTx/>
                        <a:uFillTx/>
                        <a:latin typeface="+mn-lt"/>
                        <a:ea typeface="+mn-ea"/>
                        <a:cs typeface="+mn-cs"/>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2015;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2018</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0.21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CEDAR</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30</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364488939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831587321"/>
              </p:ext>
            </p:extLst>
          </p:nvPr>
        </p:nvGraphicFramePr>
        <p:xfrm>
          <a:off x="517290" y="745905"/>
          <a:ext cx="11161565" cy="5088211"/>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Understanding the impacts of Climate Change and Forest Degradation on Carbon Stock and Population Dynamics in the Oak Zone of the Central Himalayas</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Department of Science and Technology (DST)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1916285">
                <a:tc>
                  <a:txBody>
                    <a:bodyPr/>
                    <a:lstStyle/>
                    <a:p>
                      <a:pPr marL="128016" marR="0" lvl="0" indent="0" algn="just" defTabSz="914400" rtl="0" eaLnBrk="1" fontAlgn="auto" latinLnBrk="0" hangingPunct="1">
                        <a:lnSpc>
                          <a:spcPct val="115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mj-lt"/>
                          <a:ea typeface="Verdana" panose="020B0604030504040204" pitchFamily="34" charset="0"/>
                          <a:cs typeface="+mn-cs"/>
                        </a:rPr>
                        <a:t>Description of Key Activities:</a:t>
                      </a:r>
                    </a:p>
                    <a:p>
                      <a:pPr marL="128016" marR="0" lvl="0" indent="0" algn="just"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mj-lt"/>
                          <a:ea typeface="+mn-ea"/>
                          <a:cs typeface="+mn-cs"/>
                        </a:rPr>
                        <a:t>The study was carried out near </a:t>
                      </a:r>
                      <a:r>
                        <a:rPr kumimoji="0" lang="en-US" sz="900" b="0" i="0" u="none" strike="noStrike" kern="1200" cap="none" spc="0" normalizeH="0" baseline="0" noProof="0" err="1">
                          <a:ln>
                            <a:noFill/>
                          </a:ln>
                          <a:solidFill>
                            <a:prstClr val="black"/>
                          </a:solidFill>
                          <a:effectLst/>
                          <a:uLnTx/>
                          <a:uFillTx/>
                          <a:latin typeface="+mj-lt"/>
                          <a:ea typeface="+mn-ea"/>
                          <a:cs typeface="+mn-cs"/>
                        </a:rPr>
                        <a:t>Mukteshwar</a:t>
                      </a:r>
                      <a:r>
                        <a:rPr kumimoji="0" lang="en-US" sz="900" b="0" i="0" u="none" strike="noStrike" kern="1200" cap="none" spc="0" normalizeH="0" baseline="0" noProof="0">
                          <a:ln>
                            <a:noFill/>
                          </a:ln>
                          <a:solidFill>
                            <a:prstClr val="black"/>
                          </a:solidFill>
                          <a:effectLst/>
                          <a:uLnTx/>
                          <a:uFillTx/>
                          <a:latin typeface="+mj-lt"/>
                          <a:ea typeface="+mn-ea"/>
                          <a:cs typeface="+mn-cs"/>
                        </a:rPr>
                        <a:t> town, in Ramgarh and </a:t>
                      </a:r>
                      <a:r>
                        <a:rPr kumimoji="0" lang="en-US" sz="900" b="0" i="0" u="none" strike="noStrike" kern="1200" cap="none" spc="0" normalizeH="0" baseline="0" noProof="0" err="1">
                          <a:ln>
                            <a:noFill/>
                          </a:ln>
                          <a:solidFill>
                            <a:prstClr val="black"/>
                          </a:solidFill>
                          <a:effectLst/>
                          <a:uLnTx/>
                          <a:uFillTx/>
                          <a:latin typeface="+mj-lt"/>
                          <a:ea typeface="+mn-ea"/>
                          <a:cs typeface="+mn-cs"/>
                        </a:rPr>
                        <a:t>Dhari</a:t>
                      </a:r>
                      <a:r>
                        <a:rPr kumimoji="0" lang="en-US" sz="900" b="0" i="0" u="none" strike="noStrike" kern="1200" cap="none" spc="0" normalizeH="0" baseline="0" noProof="0">
                          <a:ln>
                            <a:noFill/>
                          </a:ln>
                          <a:solidFill>
                            <a:prstClr val="black"/>
                          </a:solidFill>
                          <a:effectLst/>
                          <a:uLnTx/>
                          <a:uFillTx/>
                          <a:latin typeface="+mj-lt"/>
                          <a:ea typeface="+mn-ea"/>
                          <a:cs typeface="+mn-cs"/>
                        </a:rPr>
                        <a:t> block of Nainital district (29 o 23-29’N and 79 o 29-39’E) and at elevations between 1700 – 2200m </a:t>
                      </a:r>
                      <a:r>
                        <a:rPr kumimoji="0" lang="en-US" sz="900" b="0" i="0" u="none" strike="noStrike" kern="1200" cap="none" spc="0" normalizeH="0" baseline="0" noProof="0" err="1">
                          <a:ln>
                            <a:noFill/>
                          </a:ln>
                          <a:solidFill>
                            <a:prstClr val="black"/>
                          </a:solidFill>
                          <a:effectLst/>
                          <a:uLnTx/>
                          <a:uFillTx/>
                          <a:latin typeface="+mj-lt"/>
                          <a:ea typeface="+mn-ea"/>
                          <a:cs typeface="+mn-cs"/>
                        </a:rPr>
                        <a:t>amsl</a:t>
                      </a:r>
                      <a:r>
                        <a:rPr kumimoji="0" lang="en-US" sz="900" b="0" i="0" u="none" strike="noStrike" kern="1200" cap="none" spc="0" normalizeH="0" baseline="0" noProof="0">
                          <a:ln>
                            <a:noFill/>
                          </a:ln>
                          <a:solidFill>
                            <a:prstClr val="black"/>
                          </a:solidFill>
                          <a:effectLst/>
                          <a:uLnTx/>
                          <a:uFillTx/>
                          <a:latin typeface="+mj-lt"/>
                          <a:ea typeface="+mn-ea"/>
                          <a:cs typeface="+mn-cs"/>
                        </a:rPr>
                        <a:t> (above mean sea level). The research used a multipronged approach to address the anthropogenic pressure in these forests. Community participation and training the youths for gathering data from the forests was also done in the project. This study was framed for a long term period, therefore the data collection started since 2013 till date. Forty circular permanent plots of 400 meter square were laid and monitored for all vegetation parameters.  The year 2016, witnessed massive fire in these plots and which showed tremendous change in the studied parameters. These plots are still monitored and study on forest structure is ongoing. The communities played an important role in the afforestation of these damaged sites.   </a:t>
                      </a:r>
                    </a:p>
                    <a:p>
                      <a:pPr marL="128016" marR="0" lvl="0" indent="0" algn="just"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mj-lt"/>
                        <a:ea typeface="+mn-ea"/>
                        <a:cs typeface="+mn-cs"/>
                      </a:endParaRPr>
                    </a:p>
                    <a:p>
                      <a:pPr marL="128016" marR="0" lvl="0" indent="0" algn="just"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mj-lt"/>
                          <a:ea typeface="+mn-ea"/>
                          <a:cs typeface="+mn-cs"/>
                        </a:rPr>
                        <a:t>This study provides important insights into the causes of this decline and how human activities adversely impact this tree species. 1. Disturbance caused by chronic human disturbance is poorly studied in the Himalayan ecosystem despite it being very widespread. Most ecological studies have focused on undisturbed forests even though well over 80% of the forests in the oak altitudinal zone suffer moderate to heavy disturbance due to lopping, leaf litter removal and associated activities. 2. Annual data gathered in three seasons over the project period tracked diameter growth of over 1100 individual trees to determine impact of disturbance and other factors. There have not been any previous efforts to set up long term monitoring plots in the Himalaya to look at disturbance as a variable. 3. Important new information on litter fall, soil nutrients, canopy openness and other variables along a disturbance continuum has been provided. 4. This study also shows human activities to be the primary variable impacting central Himalayan oak pine forests – and the impact of chronic disturbance overshadows that of climate change. No increase of regeneration of </a:t>
                      </a:r>
                      <a:r>
                        <a:rPr kumimoji="0" lang="en-US" sz="900" b="0" i="0" u="none" strike="noStrike" kern="1200" cap="none" spc="0" normalizeH="0" baseline="0" noProof="0" err="1">
                          <a:ln>
                            <a:noFill/>
                          </a:ln>
                          <a:solidFill>
                            <a:prstClr val="black"/>
                          </a:solidFill>
                          <a:effectLst/>
                          <a:uLnTx/>
                          <a:uFillTx/>
                          <a:latin typeface="+mj-lt"/>
                          <a:ea typeface="+mn-ea"/>
                          <a:cs typeface="+mn-cs"/>
                        </a:rPr>
                        <a:t>banj</a:t>
                      </a:r>
                      <a:r>
                        <a:rPr kumimoji="0" lang="en-US" sz="900" b="0" i="0" u="none" strike="noStrike" kern="1200" cap="none" spc="0" normalizeH="0" baseline="0" noProof="0">
                          <a:ln>
                            <a:noFill/>
                          </a:ln>
                          <a:solidFill>
                            <a:prstClr val="black"/>
                          </a:solidFill>
                          <a:effectLst/>
                          <a:uLnTx/>
                          <a:uFillTx/>
                          <a:latin typeface="+mj-lt"/>
                          <a:ea typeface="+mn-ea"/>
                          <a:cs typeface="+mn-cs"/>
                        </a:rPr>
                        <a:t> or </a:t>
                      </a:r>
                      <a:r>
                        <a:rPr kumimoji="0" lang="en-US" sz="900" b="0" i="0" u="none" strike="noStrike" kern="1200" cap="none" spc="0" normalizeH="0" baseline="0" noProof="0" err="1">
                          <a:ln>
                            <a:noFill/>
                          </a:ln>
                          <a:solidFill>
                            <a:prstClr val="black"/>
                          </a:solidFill>
                          <a:effectLst/>
                          <a:uLnTx/>
                          <a:uFillTx/>
                          <a:latin typeface="+mj-lt"/>
                          <a:ea typeface="+mn-ea"/>
                          <a:cs typeface="+mn-cs"/>
                        </a:rPr>
                        <a:t>chir</a:t>
                      </a:r>
                      <a:r>
                        <a:rPr kumimoji="0" lang="en-US" sz="900" b="0" i="0" u="none" strike="noStrike" kern="1200" cap="none" spc="0" normalizeH="0" baseline="0" noProof="0">
                          <a:ln>
                            <a:noFill/>
                          </a:ln>
                          <a:solidFill>
                            <a:prstClr val="black"/>
                          </a:solidFill>
                          <a:effectLst/>
                          <a:uLnTx/>
                          <a:uFillTx/>
                          <a:latin typeface="+mj-lt"/>
                          <a:ea typeface="+mn-ea"/>
                          <a:cs typeface="+mn-cs"/>
                        </a:rPr>
                        <a:t> at altitudes higher than their current range was observable in the current study which would support the emergence of human disturbance as the primary driving variable in the central Himalayan oak forests.</a:t>
                      </a:r>
                      <a:endParaRPr kumimoji="0" lang="en-IN" sz="900" b="0" i="0" u="none" strike="noStrike" kern="1200" cap="none" spc="0" normalizeH="0" baseline="0" noProof="0">
                        <a:ln>
                          <a:noFill/>
                        </a:ln>
                        <a:solidFill>
                          <a:prstClr val="black"/>
                        </a:solidFill>
                        <a:effectLst/>
                        <a:uLnTx/>
                        <a:uFillTx/>
                        <a:latin typeface="+mj-lt"/>
                        <a:ea typeface="+mn-ea"/>
                        <a:cs typeface="+mn-cs"/>
                      </a:endParaRPr>
                    </a:p>
                    <a:p>
                      <a:pPr marL="128016" marR="0" lvl="0" indent="0" algn="just"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mj-lt"/>
                        <a:ea typeface="+mn-ea"/>
                        <a:cs typeface="+mn-cs"/>
                      </a:endParaRPr>
                    </a:p>
                    <a:p>
                      <a:pPr marL="128016"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mj-lt"/>
                          <a:ea typeface="Verdana" panose="020B0604030504040204" pitchFamily="34" charset="0"/>
                          <a:cs typeface="+mn-cs"/>
                        </a:rPr>
                        <a:t>The activities executed by the Team were:</a:t>
                      </a:r>
                    </a:p>
                    <a:p>
                      <a:pPr marL="365760" marR="0" lvl="0" indent="-1714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j-lt"/>
                          <a:ea typeface="+mn-ea"/>
                          <a:cs typeface="+mn-cs"/>
                        </a:rPr>
                        <a:t>Forty permanent plots of 400 meter square were established to </a:t>
                      </a:r>
                      <a:r>
                        <a:rPr kumimoji="0" lang="en-US" sz="900" b="1" i="0" u="none" strike="noStrike" kern="1200" cap="none" spc="0" normalizeH="0" baseline="0" noProof="0">
                          <a:ln>
                            <a:noFill/>
                          </a:ln>
                          <a:solidFill>
                            <a:prstClr val="black"/>
                          </a:solidFill>
                          <a:effectLst/>
                          <a:uLnTx/>
                          <a:uFillTx/>
                          <a:latin typeface="+mj-lt"/>
                          <a:ea typeface="+mn-ea"/>
                          <a:cs typeface="+mn-cs"/>
                        </a:rPr>
                        <a:t>study biomass, carbon sequestered </a:t>
                      </a:r>
                      <a:r>
                        <a:rPr kumimoji="0" lang="en-US" sz="900" b="0" i="0" u="none" strike="noStrike" kern="1200" cap="none" spc="0" normalizeH="0" baseline="0" noProof="0">
                          <a:ln>
                            <a:noFill/>
                          </a:ln>
                          <a:solidFill>
                            <a:prstClr val="black"/>
                          </a:solidFill>
                          <a:effectLst/>
                          <a:uLnTx/>
                          <a:uFillTx/>
                          <a:latin typeface="+mj-lt"/>
                          <a:ea typeface="+mn-ea"/>
                          <a:cs typeface="+mn-cs"/>
                        </a:rPr>
                        <a:t>at the individual tree level. </a:t>
                      </a:r>
                    </a:p>
                    <a:p>
                      <a:pPr marL="365760" marR="0" lvl="0" indent="-1714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j-lt"/>
                          <a:ea typeface="+mn-ea"/>
                          <a:cs typeface="+mn-cs"/>
                        </a:rPr>
                        <a:t>These plots were also studied for population structures of oak and pine across different altitudinal zones and disturbance gradient.  </a:t>
                      </a:r>
                      <a:endParaRPr kumimoji="0" lang="en-IN" sz="900" b="0" i="0" u="none" strike="noStrike" kern="1200" cap="none" spc="0" normalizeH="0" baseline="0" noProof="0">
                        <a:ln>
                          <a:noFill/>
                        </a:ln>
                        <a:solidFill>
                          <a:prstClr val="black"/>
                        </a:solidFill>
                        <a:effectLst/>
                        <a:uLnTx/>
                        <a:uFillTx/>
                        <a:latin typeface="+mj-lt"/>
                        <a:ea typeface="+mn-ea"/>
                        <a:cs typeface="+mn-cs"/>
                      </a:endParaRPr>
                    </a:p>
                    <a:p>
                      <a:pPr marL="365760" marR="0" lvl="0" indent="-1714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IN" sz="900" b="0" i="0" u="none" strike="noStrike" kern="1200" cap="none" spc="0" normalizeH="0" baseline="0" noProof="0">
                          <a:ln>
                            <a:noFill/>
                          </a:ln>
                          <a:solidFill>
                            <a:prstClr val="black"/>
                          </a:solidFill>
                          <a:effectLst/>
                          <a:uLnTx/>
                          <a:uFillTx/>
                          <a:latin typeface="+mj-lt"/>
                          <a:ea typeface="+mn-ea"/>
                          <a:cs typeface="+mn-cs"/>
                        </a:rPr>
                        <a:t>Baseline data has been established since 2013 till date. These plots have been studied for several other parameters like </a:t>
                      </a:r>
                      <a:r>
                        <a:rPr kumimoji="0" lang="en-IN" sz="900" b="1" i="0" u="none" strike="noStrike" kern="1200" cap="none" spc="0" normalizeH="0" baseline="0" noProof="0">
                          <a:ln>
                            <a:noFill/>
                          </a:ln>
                          <a:solidFill>
                            <a:prstClr val="black"/>
                          </a:solidFill>
                          <a:effectLst/>
                          <a:uLnTx/>
                          <a:uFillTx/>
                          <a:latin typeface="+mj-lt"/>
                          <a:ea typeface="+mn-ea"/>
                          <a:cs typeface="+mn-cs"/>
                        </a:rPr>
                        <a:t>soil carbon, regeneration, phenology etc. </a:t>
                      </a:r>
                      <a:r>
                        <a:rPr kumimoji="0" lang="en-IN" sz="900" b="0" i="0" u="none" strike="noStrike" kern="1200" cap="none" spc="0" normalizeH="0" baseline="0" noProof="0">
                          <a:ln>
                            <a:noFill/>
                          </a:ln>
                          <a:solidFill>
                            <a:prstClr val="black"/>
                          </a:solidFill>
                          <a:effectLst/>
                          <a:uLnTx/>
                          <a:uFillTx/>
                          <a:latin typeface="+mj-lt"/>
                          <a:ea typeface="+mn-ea"/>
                          <a:cs typeface="+mn-cs"/>
                        </a:rPr>
                        <a:t>This data is available online on CEDAR’s official website</a:t>
                      </a:r>
                    </a:p>
                    <a:p>
                      <a:pPr marL="365760" marR="0" lvl="0" indent="-171450"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IN" sz="900" b="1" i="0" u="none" strike="noStrike" kern="1200" cap="none" spc="0" normalizeH="0" baseline="0" noProof="0">
                          <a:ln>
                            <a:noFill/>
                          </a:ln>
                          <a:solidFill>
                            <a:prstClr val="black"/>
                          </a:solidFill>
                          <a:effectLst/>
                          <a:uLnTx/>
                          <a:uFillTx/>
                          <a:latin typeface="+mj-lt"/>
                          <a:ea typeface="+mn-ea"/>
                          <a:cs typeface="+mn-cs"/>
                        </a:rPr>
                        <a:t>Monitoring of plots against disturbances like forest fires</a:t>
                      </a:r>
                      <a:r>
                        <a:rPr kumimoji="0" lang="en-IN" sz="900" b="0" i="0" u="none" strike="noStrike" kern="1200" cap="none" spc="0" normalizeH="0" baseline="0" noProof="0">
                          <a:ln>
                            <a:noFill/>
                          </a:ln>
                          <a:solidFill>
                            <a:prstClr val="black"/>
                          </a:solidFill>
                          <a:effectLst/>
                          <a:uLnTx/>
                          <a:uFillTx/>
                          <a:latin typeface="+mj-lt"/>
                          <a:ea typeface="+mn-ea"/>
                          <a:cs typeface="+mn-cs"/>
                        </a:rPr>
                        <a:t>, chronic disturbances and plantation activities</a:t>
                      </a:r>
                      <a:endParaRPr kumimoji="0" lang="en-IN" sz="1000" b="0" i="0" u="none" strike="noStrike" kern="1200" cap="none" spc="0" normalizeH="0" baseline="0" noProof="0">
                        <a:ln>
                          <a:noFill/>
                        </a:ln>
                        <a:solidFill>
                          <a:prstClr val="black"/>
                        </a:solidFill>
                        <a:effectLst/>
                        <a:uLnTx/>
                        <a:uFillTx/>
                        <a:latin typeface="+mj-lt"/>
                        <a:ea typeface="+mn-ea"/>
                        <a:cs typeface="+mn-cs"/>
                      </a:endParaRPr>
                    </a:p>
                  </a:txBody>
                  <a:tcPr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2013;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2016</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0.36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CEDAR</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900" b="1">
                <a:solidFill>
                  <a:prstClr val="white"/>
                </a:solidFill>
                <a:latin typeface="Verdana"/>
              </a:rPr>
              <a:t>31</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268166404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3482558817"/>
              </p:ext>
            </p:extLst>
          </p:nvPr>
        </p:nvGraphicFramePr>
        <p:xfrm>
          <a:off x="517290" y="745905"/>
          <a:ext cx="11161565" cy="5236293"/>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The Political Economy of Water Security, Ecosystem Services and Livelihoods in the Western Himalayas- Natural Environment Research Council (NERC) in Collaboration with Department of Geography, University of Cambridge. </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Ecosystem Services and Poverty Alleviation (ESPA) Program of the United Kingdom</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1916285">
                <a:tc>
                  <a:txBody>
                    <a:bodyPr/>
                    <a:lstStyle/>
                    <a:p>
                      <a:pPr marL="128016" marR="0" lvl="0" indent="0" algn="just" defTabSz="914400" rtl="0" eaLnBrk="1" fontAlgn="auto" latinLnBrk="0" hangingPunct="1">
                        <a:lnSpc>
                          <a:spcPct val="115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mj-lt"/>
                          <a:ea typeface="Verdana" panose="020B0604030504040204" pitchFamily="34" charset="0"/>
                          <a:cs typeface="+mn-cs"/>
                        </a:rPr>
                        <a:t>Description of Key Activities:</a:t>
                      </a:r>
                    </a:p>
                    <a:p>
                      <a:pPr marL="128016" marR="0" lvl="0" indent="0" algn="just"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mj-lt"/>
                          <a:ea typeface="+mn-ea"/>
                          <a:cs typeface="+mn-cs"/>
                        </a:rPr>
                        <a:t>This project aimed to study the ways in which small towns in hill and mountain regions of South Asia depend on springs, streams and rivers in their surrounding catchments for the supply of water. Current infrastructure planning processes for water supply in low income countries tend to focus on the needs of large urban settlements, or of rural areas, and the needs of small towns are often overlooked or neglected. Small towns (defined as those with populations below 100,000 people) are particularly important in hill and mountain regions of India and Nepal because they have grown very rapidly, with little planning for infrastructure needs more generally, and for water supply in particular. Across the region, almost half the urban population in the Indian states of Himachal Pradesh and Uttarakhand, and in the hill regions of Nepal, live in small towns. These towns also tend to be relatively resource poor, lacking the revenue and resources available to larger settlements, and their populations and settlement patterns usually display peri-urban and semi-rural characteristics, making </a:t>
                      </a:r>
                      <a:r>
                        <a:rPr kumimoji="0" lang="en-US" sz="900" b="0" i="0" u="none" strike="noStrike" kern="1200" cap="none" spc="0" normalizeH="0" baseline="0" noProof="0" err="1">
                          <a:ln>
                            <a:noFill/>
                          </a:ln>
                          <a:solidFill>
                            <a:prstClr val="black"/>
                          </a:solidFill>
                          <a:effectLst/>
                          <a:uLnTx/>
                          <a:uFillTx/>
                          <a:latin typeface="+mj-lt"/>
                          <a:ea typeface="+mn-ea"/>
                          <a:cs typeface="+mn-cs"/>
                        </a:rPr>
                        <a:t>infastructure</a:t>
                      </a:r>
                      <a:r>
                        <a:rPr kumimoji="0" lang="en-US" sz="900" b="0" i="0" u="none" strike="noStrike" kern="1200" cap="none" spc="0" normalizeH="0" baseline="0" noProof="0">
                          <a:ln>
                            <a:noFill/>
                          </a:ln>
                          <a:solidFill>
                            <a:prstClr val="black"/>
                          </a:solidFill>
                          <a:effectLst/>
                          <a:uLnTx/>
                          <a:uFillTx/>
                          <a:latin typeface="+mj-lt"/>
                          <a:ea typeface="+mn-ea"/>
                          <a:cs typeface="+mn-cs"/>
                        </a:rPr>
                        <a:t> planning and provision particularly challenging.</a:t>
                      </a:r>
                      <a:r>
                        <a:rPr kumimoji="0" lang="en-IN" sz="900" b="0" i="0" u="none" strike="noStrike" kern="1200" cap="none" spc="0" normalizeH="0" baseline="0" noProof="0">
                          <a:ln>
                            <a:noFill/>
                          </a:ln>
                          <a:solidFill>
                            <a:prstClr val="black"/>
                          </a:solidFill>
                          <a:effectLst/>
                          <a:uLnTx/>
                          <a:uFillTx/>
                          <a:latin typeface="+mj-lt"/>
                          <a:ea typeface="+mn-ea"/>
                          <a:cs typeface="+mn-cs"/>
                        </a:rPr>
                        <a:t> </a:t>
                      </a:r>
                      <a:r>
                        <a:rPr kumimoji="0" lang="en-US" sz="900" b="0" i="0" u="none" strike="noStrike" kern="1200" cap="none" spc="0" normalizeH="0" baseline="0" noProof="0">
                          <a:ln>
                            <a:noFill/>
                          </a:ln>
                          <a:solidFill>
                            <a:prstClr val="black"/>
                          </a:solidFill>
                          <a:effectLst/>
                          <a:uLnTx/>
                          <a:uFillTx/>
                          <a:latin typeface="+mj-lt"/>
                          <a:ea typeface="+mn-ea"/>
                          <a:cs typeface="+mn-cs"/>
                        </a:rPr>
                        <a:t>The project worked in a selected set of small towns in the two Indian states, and in the hill regions of Nepal. It undertook an assessment of the hydrological dependence of these small towns on water flows from the surrounding landscape, and identify areas that are critical to securing these water flows ('critical water zones'). </a:t>
                      </a:r>
                      <a:endParaRPr kumimoji="0" lang="en-IN" sz="900" b="0" i="0" u="none" strike="noStrike" kern="1200" cap="none" spc="0" normalizeH="0" baseline="0" noProof="0">
                        <a:ln>
                          <a:noFill/>
                        </a:ln>
                        <a:solidFill>
                          <a:prstClr val="black"/>
                        </a:solidFill>
                        <a:effectLst/>
                        <a:uLnTx/>
                        <a:uFillTx/>
                        <a:latin typeface="+mj-lt"/>
                        <a:ea typeface="+mn-ea"/>
                        <a:cs typeface="+mn-cs"/>
                      </a:endParaRPr>
                    </a:p>
                    <a:p>
                      <a:pPr marL="128016"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mj-lt"/>
                          <a:ea typeface="+mn-ea"/>
                          <a:cs typeface="+mn-cs"/>
                        </a:rPr>
                        <a:t>The activities executed by the Team were:</a:t>
                      </a:r>
                    </a:p>
                    <a:p>
                      <a:pPr marL="365760" marR="0" lvl="0" indent="-180975"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mj-lt"/>
                          <a:ea typeface="+mn-ea"/>
                          <a:cs typeface="+mn-cs"/>
                        </a:rPr>
                        <a:t>Explored the nature of dependence of local communities </a:t>
                      </a:r>
                      <a:r>
                        <a:rPr kumimoji="0" lang="en-US" sz="900" b="0" i="0" u="none" strike="noStrike" kern="1200" cap="none" spc="0" normalizeH="0" baseline="0" noProof="0">
                          <a:ln>
                            <a:noFill/>
                          </a:ln>
                          <a:solidFill>
                            <a:prstClr val="black"/>
                          </a:solidFill>
                          <a:effectLst/>
                          <a:uLnTx/>
                          <a:uFillTx/>
                          <a:latin typeface="+mj-lt"/>
                          <a:ea typeface="+mn-ea"/>
                          <a:cs typeface="+mn-cs"/>
                        </a:rPr>
                        <a:t>(especially the rural and urban poor) on hydrological flows and other ecosystem services in micro catchments in montane environments in low income regions in South Asia.</a:t>
                      </a:r>
                    </a:p>
                    <a:p>
                      <a:pPr marL="365760" marR="0" lvl="0" indent="-180975"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j-lt"/>
                          <a:ea typeface="+mn-ea"/>
                          <a:cs typeface="+mn-cs"/>
                        </a:rPr>
                        <a:t>Documented the water security needs of populations living in small towns in these hill and mountain regions, and the extent to which these are met from hydrological flows from surrounding catchments and watersheds.</a:t>
                      </a:r>
                    </a:p>
                    <a:p>
                      <a:pPr marL="365760" marR="0" lvl="0" indent="-180975"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mj-lt"/>
                          <a:ea typeface="+mn-ea"/>
                          <a:cs typeface="+mn-cs"/>
                        </a:rPr>
                        <a:t>Undertook site level ecological assessments </a:t>
                      </a:r>
                      <a:r>
                        <a:rPr kumimoji="0" lang="en-US" sz="900" b="0" i="0" u="none" strike="noStrike" kern="1200" cap="none" spc="0" normalizeH="0" baseline="0" noProof="0">
                          <a:ln>
                            <a:noFill/>
                          </a:ln>
                          <a:solidFill>
                            <a:prstClr val="black"/>
                          </a:solidFill>
                          <a:effectLst/>
                          <a:uLnTx/>
                          <a:uFillTx/>
                          <a:latin typeface="+mj-lt"/>
                          <a:ea typeface="+mn-ea"/>
                          <a:cs typeface="+mn-cs"/>
                        </a:rPr>
                        <a:t>to explore the role of these identified 'critical water zones' in providing a broader range of ecosystem services, to local and non-local stakeholders.</a:t>
                      </a:r>
                    </a:p>
                    <a:p>
                      <a:pPr marL="365760" marR="0" lvl="0" indent="-180975"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mj-lt"/>
                          <a:ea typeface="+mn-ea"/>
                          <a:cs typeface="+mn-cs"/>
                        </a:rPr>
                        <a:t>Examined the potential for negotiations among stakeholders and local decision makers </a:t>
                      </a:r>
                      <a:r>
                        <a:rPr kumimoji="0" lang="en-US" sz="900" b="0" i="0" u="none" strike="noStrike" kern="1200" cap="none" spc="0" normalizeH="0" baseline="0" noProof="0">
                          <a:ln>
                            <a:noFill/>
                          </a:ln>
                          <a:solidFill>
                            <a:prstClr val="black"/>
                          </a:solidFill>
                          <a:effectLst/>
                          <a:uLnTx/>
                          <a:uFillTx/>
                          <a:latin typeface="+mj-lt"/>
                          <a:ea typeface="+mn-ea"/>
                          <a:cs typeface="+mn-cs"/>
                        </a:rPr>
                        <a:t>for creating zoning and </a:t>
                      </a:r>
                      <a:r>
                        <a:rPr kumimoji="0" lang="en-US" sz="900" b="0" i="0" u="none" strike="noStrike" kern="1200" cap="none" spc="0" normalizeH="0" baseline="0" noProof="0" err="1">
                          <a:ln>
                            <a:noFill/>
                          </a:ln>
                          <a:solidFill>
                            <a:prstClr val="black"/>
                          </a:solidFill>
                          <a:effectLst/>
                          <a:uLnTx/>
                          <a:uFillTx/>
                          <a:latin typeface="+mj-lt"/>
                          <a:ea typeface="+mn-ea"/>
                          <a:cs typeface="+mn-cs"/>
                        </a:rPr>
                        <a:t>landuse</a:t>
                      </a:r>
                      <a:r>
                        <a:rPr kumimoji="0" lang="en-US" sz="900" b="0" i="0" u="none" strike="noStrike" kern="1200" cap="none" spc="0" normalizeH="0" baseline="0" noProof="0">
                          <a:ln>
                            <a:noFill/>
                          </a:ln>
                          <a:solidFill>
                            <a:prstClr val="black"/>
                          </a:solidFill>
                          <a:effectLst/>
                          <a:uLnTx/>
                          <a:uFillTx/>
                          <a:latin typeface="+mj-lt"/>
                          <a:ea typeface="+mn-ea"/>
                          <a:cs typeface="+mn-cs"/>
                        </a:rPr>
                        <a:t> management regimes for the secure provision of sustainable water supplies, especially for the urban and rural poor.</a:t>
                      </a:r>
                    </a:p>
                    <a:p>
                      <a:pPr marL="365760" marR="0" lvl="0" indent="-180975"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mj-lt"/>
                          <a:ea typeface="+mn-ea"/>
                          <a:cs typeface="+mn-cs"/>
                        </a:rPr>
                        <a:t>Examine the political economy </a:t>
                      </a:r>
                      <a:r>
                        <a:rPr kumimoji="0" lang="en-US" sz="900" b="0" i="0" u="none" strike="noStrike" kern="1200" cap="none" spc="0" normalizeH="0" baseline="0" noProof="0">
                          <a:ln>
                            <a:noFill/>
                          </a:ln>
                          <a:solidFill>
                            <a:prstClr val="black"/>
                          </a:solidFill>
                          <a:effectLst/>
                          <a:uLnTx/>
                          <a:uFillTx/>
                          <a:latin typeface="+mj-lt"/>
                          <a:ea typeface="+mn-ea"/>
                          <a:cs typeface="+mn-cs"/>
                        </a:rPr>
                        <a:t>of synergies and trade-offs associated with such zoning regimes, and the likely </a:t>
                      </a:r>
                      <a:r>
                        <a:rPr kumimoji="0" lang="en-US" sz="900" b="1" i="0" u="none" strike="noStrike" kern="1200" cap="none" spc="0" normalizeH="0" baseline="0" noProof="0">
                          <a:ln>
                            <a:noFill/>
                          </a:ln>
                          <a:solidFill>
                            <a:prstClr val="black"/>
                          </a:solidFill>
                          <a:effectLst/>
                          <a:uLnTx/>
                          <a:uFillTx/>
                          <a:latin typeface="+mj-lt"/>
                          <a:ea typeface="+mn-ea"/>
                          <a:cs typeface="+mn-cs"/>
                        </a:rPr>
                        <a:t>impacts on livelihoods, especially of the most vulnerable groups</a:t>
                      </a:r>
                      <a:r>
                        <a:rPr kumimoji="0" lang="en-US" sz="900" b="0" i="0" u="none" strike="noStrike" kern="1200" cap="none" spc="0" normalizeH="0" baseline="0" noProof="0">
                          <a:ln>
                            <a:noFill/>
                          </a:ln>
                          <a:solidFill>
                            <a:prstClr val="black"/>
                          </a:solidFill>
                          <a:effectLst/>
                          <a:uLnTx/>
                          <a:uFillTx/>
                          <a:latin typeface="+mj-lt"/>
                          <a:ea typeface="+mn-ea"/>
                          <a:cs typeface="+mn-cs"/>
                        </a:rPr>
                        <a:t>, and the ways in which these interests are represented in negotiations over alternative </a:t>
                      </a:r>
                      <a:r>
                        <a:rPr kumimoji="0" lang="en-US" sz="900" b="0" i="0" u="none" strike="noStrike" kern="1200" cap="none" spc="0" normalizeH="0" baseline="0" noProof="0" err="1">
                          <a:ln>
                            <a:noFill/>
                          </a:ln>
                          <a:solidFill>
                            <a:prstClr val="black"/>
                          </a:solidFill>
                          <a:effectLst/>
                          <a:uLnTx/>
                          <a:uFillTx/>
                          <a:latin typeface="+mj-lt"/>
                          <a:ea typeface="+mn-ea"/>
                          <a:cs typeface="+mn-cs"/>
                        </a:rPr>
                        <a:t>landuse</a:t>
                      </a:r>
                      <a:r>
                        <a:rPr kumimoji="0" lang="en-US" sz="900" b="0" i="0" u="none" strike="noStrike" kern="1200" cap="none" spc="0" normalizeH="0" baseline="0" noProof="0">
                          <a:ln>
                            <a:noFill/>
                          </a:ln>
                          <a:solidFill>
                            <a:prstClr val="black"/>
                          </a:solidFill>
                          <a:effectLst/>
                          <a:uLnTx/>
                          <a:uFillTx/>
                          <a:latin typeface="+mj-lt"/>
                          <a:ea typeface="+mn-ea"/>
                          <a:cs typeface="+mn-cs"/>
                        </a:rPr>
                        <a:t> options.</a:t>
                      </a:r>
                    </a:p>
                    <a:p>
                      <a:pPr marL="365760" marR="0" lvl="0" indent="-180975"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mj-lt"/>
                          <a:ea typeface="+mn-ea"/>
                          <a:cs typeface="+mn-cs"/>
                        </a:rPr>
                        <a:t>Worked with local decision makers and stakeholders to explore the potential for compensation-based schemes and negotiated agreements </a:t>
                      </a:r>
                      <a:r>
                        <a:rPr kumimoji="0" lang="en-US" sz="900" b="0" i="0" u="none" strike="noStrike" kern="1200" cap="none" spc="0" normalizeH="0" baseline="0" noProof="0">
                          <a:ln>
                            <a:noFill/>
                          </a:ln>
                          <a:solidFill>
                            <a:prstClr val="black"/>
                          </a:solidFill>
                          <a:effectLst/>
                          <a:uLnTx/>
                          <a:uFillTx/>
                          <a:latin typeface="+mj-lt"/>
                          <a:ea typeface="+mn-ea"/>
                          <a:cs typeface="+mn-cs"/>
                        </a:rPr>
                        <a:t>between upstream and downstream communities in these catchments, which ensure the sustainable use of ecosystems and deliver livelihood and water security to poor resource dependent populations.</a:t>
                      </a:r>
                    </a:p>
                    <a:p>
                      <a:pPr marL="365760" marR="0" lvl="0" indent="-180975"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j-lt"/>
                          <a:ea typeface="+mn-ea"/>
                          <a:cs typeface="+mn-cs"/>
                        </a:rPr>
                        <a:t>Developed an understanding of the hydrological needs of small towns in low income regions, and the extent to which these needs can be met through </a:t>
                      </a:r>
                      <a:r>
                        <a:rPr kumimoji="0" lang="en-US" sz="900" b="1" i="0" u="none" strike="noStrike" kern="1200" cap="none" spc="0" normalizeH="0" baseline="0" noProof="0">
                          <a:ln>
                            <a:noFill/>
                          </a:ln>
                          <a:solidFill>
                            <a:prstClr val="black"/>
                          </a:solidFill>
                          <a:effectLst/>
                          <a:uLnTx/>
                          <a:uFillTx/>
                          <a:latin typeface="+mj-lt"/>
                          <a:ea typeface="+mn-ea"/>
                          <a:cs typeface="+mn-cs"/>
                        </a:rPr>
                        <a:t>ecosystem based interventions </a:t>
                      </a:r>
                      <a:r>
                        <a:rPr kumimoji="0" lang="en-US" sz="900" b="0" i="0" u="none" strike="noStrike" kern="1200" cap="none" spc="0" normalizeH="0" baseline="0" noProof="0">
                          <a:ln>
                            <a:noFill/>
                          </a:ln>
                          <a:solidFill>
                            <a:prstClr val="black"/>
                          </a:solidFill>
                          <a:effectLst/>
                          <a:uLnTx/>
                          <a:uFillTx/>
                          <a:latin typeface="+mj-lt"/>
                          <a:ea typeface="+mn-ea"/>
                          <a:cs typeface="+mn-cs"/>
                        </a:rPr>
                        <a:t>in surrounding watersheds across three distinct governance and socio-economic contexts in the Western Himalayan region, and to disseminate these findings to the wider research and policy community.</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2014;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2016</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1.23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CEDAR</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900" b="1">
                <a:solidFill>
                  <a:prstClr val="white"/>
                </a:solidFill>
                <a:latin typeface="Verdana"/>
              </a:rPr>
              <a:t>32</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381686700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3507447060"/>
              </p:ext>
            </p:extLst>
          </p:nvPr>
        </p:nvGraphicFramePr>
        <p:xfrm>
          <a:off x="517290" y="745905"/>
          <a:ext cx="11161565" cy="4457021"/>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Hydro-geological Assessment and Socio-Economic Implications of Depleting Water Resources in Tourist towns of Uttarakhand</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National Water Mission, Ministry of Jal Shakti (Government of India)</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1916285">
                <a:tc>
                  <a:txBody>
                    <a:bodyPr/>
                    <a:lstStyle/>
                    <a:p>
                      <a:pPr marL="128016" marR="0" lvl="0" indent="0" algn="just" defTabSz="914400" rtl="0" eaLnBrk="1" fontAlgn="auto" latinLnBrk="0" hangingPunct="1">
                        <a:lnSpc>
                          <a:spcPct val="115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128016"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Under this project we aim to conserve water, minimize wastage and ensure more equitable distribution amongst the studied sites. There is direct linkage with the National Water Mission which promotes ensuring integrated water resource management according to Water Mission Goal 2 (Citizen and State Action), Strategy 5 (Encourage participation of NGOs in various activities related to water resource management, particularly in planning, capacity building and mass awareness), Government of India. As noted previously, there are twin factors at play here in the IHR: the small Himalayan towns are urbanizing rapidly with job-seekers migrating from rural areas, while changing planetary climatic conditions are stressing already fragile water resources, resulting in undreamt-of damage across a wide spectrum of parameters such as glaciers shrinking, changes in river flows, drought, cloudbursts and floods. There is hence a great scope and need for research into urban and peri-urban water supply and demand regimes, awareness of the main issues at stake, and policy frameworks. The project will provide bespoke city-level water management practices by increasing water use efficiency by 20% through behavioral change and further suggest policy mechanisms that would allow differential pricing systems. </a:t>
                      </a:r>
                      <a:endParaRPr kumimoji="0" lang="en-IN"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128016"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128016"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18288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mn-lt"/>
                          <a:ea typeface="+mn-ea"/>
                          <a:cs typeface="+mn-cs"/>
                        </a:rPr>
                        <a:t>Hydro-geological/dynamic assessment of </a:t>
                      </a:r>
                      <a:r>
                        <a:rPr kumimoji="0" lang="en-US" sz="900" b="1" i="0" u="none" strike="noStrike" kern="1200" cap="none" spc="0" normalizeH="0" baseline="0" noProof="0" err="1">
                          <a:ln>
                            <a:noFill/>
                          </a:ln>
                          <a:solidFill>
                            <a:prstClr val="black"/>
                          </a:solidFill>
                          <a:effectLst/>
                          <a:uLnTx/>
                          <a:uFillTx/>
                          <a:latin typeface="+mn-lt"/>
                          <a:ea typeface="+mn-ea"/>
                          <a:cs typeface="+mn-cs"/>
                        </a:rPr>
                        <a:t>Naini</a:t>
                      </a:r>
                      <a:r>
                        <a:rPr kumimoji="0" lang="en-US" sz="900" b="1" i="0" u="none" strike="noStrike" kern="1200" cap="none" spc="0" normalizeH="0" baseline="0" noProof="0">
                          <a:ln>
                            <a:noFill/>
                          </a:ln>
                          <a:solidFill>
                            <a:prstClr val="black"/>
                          </a:solidFill>
                          <a:effectLst/>
                          <a:uLnTx/>
                          <a:uFillTx/>
                          <a:latin typeface="+mn-lt"/>
                          <a:ea typeface="+mn-ea"/>
                          <a:cs typeface="+mn-cs"/>
                        </a:rPr>
                        <a:t> Lake </a:t>
                      </a:r>
                      <a:r>
                        <a:rPr kumimoji="0" lang="en-US" sz="900" b="0" i="0" u="none" strike="noStrike" kern="1200" cap="none" spc="0" normalizeH="0" baseline="0" noProof="0">
                          <a:ln>
                            <a:noFill/>
                          </a:ln>
                          <a:solidFill>
                            <a:prstClr val="black"/>
                          </a:solidFill>
                          <a:effectLst/>
                          <a:uLnTx/>
                          <a:uFillTx/>
                          <a:latin typeface="+mn-lt"/>
                          <a:ea typeface="+mn-ea"/>
                          <a:cs typeface="+mn-cs"/>
                        </a:rPr>
                        <a:t>w.r.t Water balance, trophic state, isotopic analysis in conjunction with water balance. </a:t>
                      </a:r>
                    </a:p>
                    <a:p>
                      <a:pPr marL="365760" marR="0" lvl="0" indent="-18288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n-lt"/>
                          <a:ea typeface="+mn-ea"/>
                          <a:cs typeface="+mn-cs"/>
                        </a:rPr>
                        <a:t>Developing a hydro-dynamic model for the lake system. </a:t>
                      </a:r>
                    </a:p>
                    <a:p>
                      <a:pPr marL="365760" marR="0" lvl="0" indent="-18288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mn-lt"/>
                          <a:ea typeface="+mn-ea"/>
                          <a:cs typeface="+mn-cs"/>
                        </a:rPr>
                        <a:t>Explored the nature of dependence of local communities </a:t>
                      </a:r>
                      <a:r>
                        <a:rPr kumimoji="0" lang="en-US" sz="900" b="0" i="0" u="none" strike="noStrike" kern="1200" cap="none" spc="0" normalizeH="0" baseline="0" noProof="0">
                          <a:ln>
                            <a:noFill/>
                          </a:ln>
                          <a:solidFill>
                            <a:prstClr val="black"/>
                          </a:solidFill>
                          <a:effectLst/>
                          <a:uLnTx/>
                          <a:uFillTx/>
                          <a:latin typeface="+mn-lt"/>
                          <a:ea typeface="+mn-ea"/>
                          <a:cs typeface="+mn-cs"/>
                        </a:rPr>
                        <a:t>on hydrological flows and other ecosystem services</a:t>
                      </a:r>
                    </a:p>
                    <a:p>
                      <a:pPr marL="365760" marR="0" lvl="0" indent="-18288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n-lt"/>
                          <a:ea typeface="+mn-ea"/>
                          <a:cs typeface="+mn-cs"/>
                        </a:rPr>
                        <a:t>Developed a deeper understanding of critical water zones and helped identify areas critical to water recharge. </a:t>
                      </a:r>
                    </a:p>
                    <a:p>
                      <a:pPr marL="365760" marR="0" lvl="0" indent="-18288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n-lt"/>
                          <a:ea typeface="+mn-ea"/>
                          <a:cs typeface="+mn-cs"/>
                        </a:rPr>
                        <a:t>Mapping of critical water zones</a:t>
                      </a: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txBody>
                  <a:tcPr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2019;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2022</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1.92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CEDAR</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900" b="1">
                <a:solidFill>
                  <a:prstClr val="white"/>
                </a:solidFill>
                <a:latin typeface="Verdana"/>
              </a:rPr>
              <a:t>33</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248274782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2186428231"/>
              </p:ext>
            </p:extLst>
          </p:nvPr>
        </p:nvGraphicFramePr>
        <p:xfrm>
          <a:off x="517290" y="745905"/>
          <a:ext cx="11161565" cy="4861643"/>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Mainstreaming the role of ecosystem services in Water Supply of Nainital- Funded by ICLEI- South Asia sub grant of Rockefeller Foundation for Asian Cities Climate Change Resilience Network (ACCCRN) project cities</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ICLEI. </a:t>
                      </a:r>
                      <a:r>
                        <a:rPr lang="en-US" sz="1000" b="0" err="1">
                          <a:solidFill>
                            <a:schemeClr val="bg1"/>
                          </a:solidFill>
                          <a:effectLst/>
                          <a:latin typeface="Verdana" panose="020B0604030504040204" pitchFamily="34" charset="0"/>
                          <a:ea typeface="+mn-ea"/>
                          <a:cs typeface="Times New Roman" panose="02020603050405020304" pitchFamily="18" charset="0"/>
                        </a:rPr>
                        <a:t>Southasia</a:t>
                      </a:r>
                      <a:endParaRPr lang="en-US" sz="1000" b="0">
                        <a:solidFill>
                          <a:schemeClr val="bg1"/>
                        </a:solidFill>
                        <a:effectLst/>
                        <a:latin typeface="Verdana" panose="020B0604030504040204" pitchFamily="34" charset="0"/>
                        <a:ea typeface="+mn-ea"/>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1916285">
                <a:tc>
                  <a:txBody>
                    <a:bodyPr/>
                    <a:lstStyle/>
                    <a:p>
                      <a:pPr marL="128016" marR="0" lvl="0" indent="0" algn="just" defTabSz="914400" rtl="0" eaLnBrk="1" fontAlgn="auto" latinLnBrk="0" hangingPunct="1">
                        <a:lnSpc>
                          <a:spcPct val="115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mj-lt"/>
                          <a:ea typeface="Verdana" panose="020B0604030504040204" pitchFamily="34" charset="0"/>
                          <a:cs typeface="+mn-cs"/>
                        </a:rPr>
                        <a:t>Description of Key Activities:</a:t>
                      </a:r>
                    </a:p>
                    <a:p>
                      <a:pPr marL="128016" marR="0" lvl="0" indent="0" algn="just"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mj-lt"/>
                          <a:ea typeface="+mn-ea"/>
                          <a:cs typeface="+mn-cs"/>
                        </a:rPr>
                        <a:t>Nainital, being a top rated tourist place in the state of Uttarakhand due to the kidney shaped lake at its </a:t>
                      </a:r>
                      <a:r>
                        <a:rPr kumimoji="0" lang="en-US" sz="900" b="0" i="0" u="none" strike="noStrike" kern="1200" cap="none" spc="0" normalizeH="0" baseline="0" noProof="0" err="1">
                          <a:ln>
                            <a:noFill/>
                          </a:ln>
                          <a:solidFill>
                            <a:prstClr val="black"/>
                          </a:solidFill>
                          <a:effectLst/>
                          <a:uLnTx/>
                          <a:uFillTx/>
                          <a:latin typeface="+mj-lt"/>
                          <a:ea typeface="+mn-ea"/>
                          <a:cs typeface="+mn-cs"/>
                        </a:rPr>
                        <a:t>centre</a:t>
                      </a:r>
                      <a:r>
                        <a:rPr kumimoji="0" lang="en-US" sz="900" b="0" i="0" u="none" strike="noStrike" kern="1200" cap="none" spc="0" normalizeH="0" baseline="0" noProof="0">
                          <a:ln>
                            <a:noFill/>
                          </a:ln>
                          <a:solidFill>
                            <a:prstClr val="black"/>
                          </a:solidFill>
                          <a:effectLst/>
                          <a:uLnTx/>
                          <a:uFillTx/>
                          <a:latin typeface="+mj-lt"/>
                          <a:ea typeface="+mn-ea"/>
                          <a:cs typeface="+mn-cs"/>
                        </a:rPr>
                        <a:t> and dense forest around, receives heavy load of tourist every year. Water; being a basic need for every living, 90% of water supplied to population of Nainital, which is around 41000, comes from the lake. In recent years, due to unplanned construction, encroachment and degradation of recharge zones, deficit in winter rainfall in 2015-2016 and receding monsoon early in 2015 caused the rapid decline in lake water lever, about 20ft. It is topic of concern among the local people, environmental agencies, government authorities and ecologist. Concrete constructions causing very low infiltration of rain water which enhances siltation, dumping debris in </a:t>
                      </a:r>
                      <a:r>
                        <a:rPr kumimoji="0" lang="en-US" sz="900" b="0" i="0" u="none" strike="noStrike" kern="1200" cap="none" spc="0" normalizeH="0" baseline="0" noProof="0" err="1">
                          <a:ln>
                            <a:noFill/>
                          </a:ln>
                          <a:solidFill>
                            <a:prstClr val="black"/>
                          </a:solidFill>
                          <a:effectLst/>
                          <a:uLnTx/>
                          <a:uFillTx/>
                          <a:latin typeface="+mj-lt"/>
                          <a:ea typeface="+mn-ea"/>
                          <a:cs typeface="+mn-cs"/>
                        </a:rPr>
                        <a:t>Sukhatal</a:t>
                      </a:r>
                      <a:r>
                        <a:rPr kumimoji="0" lang="en-US" sz="900" b="0" i="0" u="none" strike="noStrike" kern="1200" cap="none" spc="0" normalizeH="0" baseline="0" noProof="0">
                          <a:ln>
                            <a:noFill/>
                          </a:ln>
                          <a:solidFill>
                            <a:prstClr val="black"/>
                          </a:solidFill>
                          <a:effectLst/>
                          <a:uLnTx/>
                          <a:uFillTx/>
                          <a:latin typeface="+mj-lt"/>
                          <a:ea typeface="+mn-ea"/>
                          <a:cs typeface="+mn-cs"/>
                        </a:rPr>
                        <a:t> lake, which is major aquifer recharge area for </a:t>
                      </a:r>
                      <a:r>
                        <a:rPr kumimoji="0" lang="en-US" sz="900" b="0" i="0" u="none" strike="noStrike" kern="1200" cap="none" spc="0" normalizeH="0" baseline="0" noProof="0" err="1">
                          <a:ln>
                            <a:noFill/>
                          </a:ln>
                          <a:solidFill>
                            <a:prstClr val="black"/>
                          </a:solidFill>
                          <a:effectLst/>
                          <a:uLnTx/>
                          <a:uFillTx/>
                          <a:latin typeface="+mj-lt"/>
                          <a:ea typeface="+mn-ea"/>
                          <a:cs typeface="+mn-cs"/>
                        </a:rPr>
                        <a:t>Naini</a:t>
                      </a:r>
                      <a:r>
                        <a:rPr kumimoji="0" lang="en-US" sz="900" b="0" i="0" u="none" strike="noStrike" kern="1200" cap="none" spc="0" normalizeH="0" baseline="0" noProof="0">
                          <a:ln>
                            <a:noFill/>
                          </a:ln>
                          <a:solidFill>
                            <a:prstClr val="black"/>
                          </a:solidFill>
                          <a:effectLst/>
                          <a:uLnTx/>
                          <a:uFillTx/>
                          <a:latin typeface="+mj-lt"/>
                          <a:ea typeface="+mn-ea"/>
                          <a:cs typeface="+mn-cs"/>
                        </a:rPr>
                        <a:t> Lake, causing the lake to shrink from its 2hector area, the other important issue is the amount of water extracted from lake which is about 17mld and it increases when there is tourist peak season-summer. Based on this CEDAR proposes to undertake a process to capture ecosystem services issue related to sustainability of water supply and the lake. With this study, maps will be generated on catchment, forest areas, watershed ecosystem services and critical water zones. Along with this, ecologically sustainable water management for the city and improvement of present urban water system by cleaning 10 drains in city will be concluded. By the side of this, through an outreach activity community sensitization on importance of lake, ecology and catchment will be carried out. All these efforts are for conservation of the lake and its recharge zones and better practice for sustainable water use and environmental well being.</a:t>
                      </a:r>
                    </a:p>
                    <a:p>
                      <a:pPr marL="128016" marR="0" lvl="0" indent="0" algn="just"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mj-lt"/>
                        <a:ea typeface="+mn-ea"/>
                        <a:cs typeface="+mn-cs"/>
                      </a:endParaRPr>
                    </a:p>
                    <a:p>
                      <a:pPr marL="128016"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mj-lt"/>
                          <a:ea typeface="Verdana" panose="020B0604030504040204" pitchFamily="34" charset="0"/>
                          <a:cs typeface="+mn-cs"/>
                        </a:rPr>
                        <a:t>The activities executed by the Team were:</a:t>
                      </a:r>
                    </a:p>
                    <a:p>
                      <a:pPr marL="365760" marR="0" lvl="0" indent="-174625"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IN" sz="900" b="1" i="0" u="none" strike="noStrike" kern="1200" cap="none" spc="0" normalizeH="0" baseline="0" noProof="0">
                          <a:ln>
                            <a:noFill/>
                          </a:ln>
                          <a:solidFill>
                            <a:prstClr val="black"/>
                          </a:solidFill>
                          <a:effectLst/>
                          <a:uLnTx/>
                          <a:uFillTx/>
                          <a:latin typeface="+mj-lt"/>
                          <a:ea typeface="+mn-ea"/>
                          <a:cs typeface="+mn-cs"/>
                        </a:rPr>
                        <a:t>Hydrogeological mapping, Geological Mapping of the area </a:t>
                      </a:r>
                      <a:r>
                        <a:rPr kumimoji="0" lang="en-IN" sz="900" b="0" i="0" u="none" strike="noStrike" kern="1200" cap="none" spc="0" normalizeH="0" baseline="0" noProof="0">
                          <a:ln>
                            <a:noFill/>
                          </a:ln>
                          <a:solidFill>
                            <a:prstClr val="black"/>
                          </a:solidFill>
                          <a:effectLst/>
                          <a:uLnTx/>
                          <a:uFillTx/>
                          <a:latin typeface="+mj-lt"/>
                          <a:ea typeface="+mn-ea"/>
                          <a:cs typeface="+mn-cs"/>
                        </a:rPr>
                        <a:t>– Geology of the region, Spring geotagging and spring survey.</a:t>
                      </a:r>
                    </a:p>
                    <a:p>
                      <a:pPr marL="365760" marR="0" lvl="0" indent="-174625"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IN" sz="900" b="0" i="0" u="none" strike="noStrike" kern="1200" cap="none" spc="0" normalizeH="0" baseline="0" noProof="0">
                          <a:ln>
                            <a:noFill/>
                          </a:ln>
                          <a:solidFill>
                            <a:prstClr val="black"/>
                          </a:solidFill>
                          <a:effectLst/>
                          <a:uLnTx/>
                          <a:uFillTx/>
                          <a:latin typeface="+mj-lt"/>
                          <a:ea typeface="+mn-ea"/>
                          <a:cs typeface="+mn-cs"/>
                        </a:rPr>
                        <a:t>Identification of recharge areas, and hydrogeological analysis.</a:t>
                      </a:r>
                    </a:p>
                    <a:p>
                      <a:pPr marL="365760" marR="0" lvl="0" indent="-174625"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IN" sz="900" b="1" i="0" u="none" strike="noStrike" kern="1200" cap="none" spc="0" normalizeH="0" baseline="0" noProof="0">
                          <a:ln>
                            <a:noFill/>
                          </a:ln>
                          <a:solidFill>
                            <a:prstClr val="black"/>
                          </a:solidFill>
                          <a:effectLst/>
                          <a:uLnTx/>
                          <a:uFillTx/>
                          <a:latin typeface="+mj-lt"/>
                          <a:ea typeface="+mn-ea"/>
                          <a:cs typeface="+mn-cs"/>
                        </a:rPr>
                        <a:t>Ecosystem Services Analysis </a:t>
                      </a:r>
                      <a:r>
                        <a:rPr kumimoji="0" lang="en-IN" sz="900" b="0" i="0" u="none" strike="noStrike" kern="1200" cap="none" spc="0" normalizeH="0" baseline="0" noProof="0">
                          <a:ln>
                            <a:noFill/>
                          </a:ln>
                          <a:solidFill>
                            <a:prstClr val="black"/>
                          </a:solidFill>
                          <a:effectLst/>
                          <a:uLnTx/>
                          <a:uFillTx/>
                          <a:latin typeface="+mj-lt"/>
                          <a:ea typeface="+mn-ea"/>
                          <a:cs typeface="+mn-cs"/>
                        </a:rPr>
                        <a:t>and their current protection </a:t>
                      </a:r>
                    </a:p>
                    <a:p>
                      <a:pPr marL="365760" marR="0" lvl="0" indent="-174625"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IN" sz="900" b="0" i="0" u="none" strike="noStrike" kern="1200" cap="none" spc="0" normalizeH="0" baseline="0" noProof="0">
                          <a:ln>
                            <a:noFill/>
                          </a:ln>
                          <a:solidFill>
                            <a:prstClr val="black"/>
                          </a:solidFill>
                          <a:effectLst/>
                          <a:uLnTx/>
                          <a:uFillTx/>
                          <a:latin typeface="+mj-lt"/>
                          <a:ea typeface="+mn-ea"/>
                          <a:cs typeface="+mn-cs"/>
                        </a:rPr>
                        <a:t>Documenting ecosystem services provided by the lake and its catchment</a:t>
                      </a:r>
                    </a:p>
                    <a:p>
                      <a:pPr marL="365760" marR="0" lvl="0" indent="-174625"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IN" sz="900" b="1" i="0" u="none" strike="noStrike" kern="1200" cap="none" spc="0" normalizeH="0" baseline="0" noProof="0">
                          <a:ln>
                            <a:noFill/>
                          </a:ln>
                          <a:solidFill>
                            <a:prstClr val="black"/>
                          </a:solidFill>
                          <a:effectLst/>
                          <a:uLnTx/>
                          <a:uFillTx/>
                          <a:latin typeface="+mj-lt"/>
                          <a:ea typeface="+mn-ea"/>
                          <a:cs typeface="+mn-cs"/>
                        </a:rPr>
                        <a:t>Local engagement and public awareness</a:t>
                      </a:r>
                    </a:p>
                    <a:p>
                      <a:pPr marL="365760" marR="0" lvl="0" indent="-174625"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IN" sz="900" b="1" i="0" u="none" strike="noStrike" kern="1200" cap="none" spc="0" normalizeH="0" baseline="0" noProof="0">
                          <a:ln>
                            <a:noFill/>
                          </a:ln>
                          <a:solidFill>
                            <a:prstClr val="black"/>
                          </a:solidFill>
                          <a:effectLst/>
                          <a:uLnTx/>
                          <a:uFillTx/>
                          <a:latin typeface="+mj-lt"/>
                          <a:ea typeface="+mn-ea"/>
                          <a:cs typeface="+mn-cs"/>
                        </a:rPr>
                        <a:t>Working with district </a:t>
                      </a:r>
                      <a:r>
                        <a:rPr kumimoji="0" lang="en-IN" sz="900" b="1" i="0" u="none" strike="noStrike" kern="1200" cap="none" spc="0" normalizeH="0" baseline="0" noProof="0" err="1">
                          <a:ln>
                            <a:noFill/>
                          </a:ln>
                          <a:solidFill>
                            <a:prstClr val="black"/>
                          </a:solidFill>
                          <a:effectLst/>
                          <a:uLnTx/>
                          <a:uFillTx/>
                          <a:latin typeface="+mj-lt"/>
                          <a:ea typeface="+mn-ea"/>
                          <a:cs typeface="+mn-cs"/>
                        </a:rPr>
                        <a:t>nagar</a:t>
                      </a:r>
                      <a:r>
                        <a:rPr kumimoji="0" lang="en-IN" sz="900" b="1" i="0" u="none" strike="noStrike" kern="1200" cap="none" spc="0" normalizeH="0" baseline="0" noProof="0">
                          <a:ln>
                            <a:noFill/>
                          </a:ln>
                          <a:solidFill>
                            <a:prstClr val="black"/>
                          </a:solidFill>
                          <a:effectLst/>
                          <a:uLnTx/>
                          <a:uFillTx/>
                          <a:latin typeface="+mj-lt"/>
                          <a:ea typeface="+mn-ea"/>
                          <a:cs typeface="+mn-cs"/>
                        </a:rPr>
                        <a:t> </a:t>
                      </a:r>
                      <a:r>
                        <a:rPr kumimoji="0" lang="en-IN" sz="900" b="1" i="0" u="none" strike="noStrike" kern="1200" cap="none" spc="0" normalizeH="0" baseline="0" noProof="0" err="1">
                          <a:ln>
                            <a:noFill/>
                          </a:ln>
                          <a:solidFill>
                            <a:prstClr val="black"/>
                          </a:solidFill>
                          <a:effectLst/>
                          <a:uLnTx/>
                          <a:uFillTx/>
                          <a:latin typeface="+mj-lt"/>
                          <a:ea typeface="+mn-ea"/>
                          <a:cs typeface="+mn-cs"/>
                        </a:rPr>
                        <a:t>palika</a:t>
                      </a:r>
                      <a:r>
                        <a:rPr kumimoji="0" lang="en-IN" sz="900" b="1" i="0" u="none" strike="noStrike" kern="1200" cap="none" spc="0" normalizeH="0" baseline="0" noProof="0">
                          <a:ln>
                            <a:noFill/>
                          </a:ln>
                          <a:solidFill>
                            <a:prstClr val="black"/>
                          </a:solidFill>
                          <a:effectLst/>
                          <a:uLnTx/>
                          <a:uFillTx/>
                          <a:latin typeface="+mj-lt"/>
                          <a:ea typeface="+mn-ea"/>
                          <a:cs typeface="+mn-cs"/>
                        </a:rPr>
                        <a:t> and local government</a:t>
                      </a:r>
                    </a:p>
                    <a:p>
                      <a:pPr marL="365760" marR="0" lvl="0" indent="-174625"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IN" sz="900" b="1" i="0" u="none" strike="noStrike" kern="1200" cap="none" spc="0" normalizeH="0" baseline="0" noProof="0">
                          <a:ln>
                            <a:noFill/>
                          </a:ln>
                          <a:solidFill>
                            <a:prstClr val="black"/>
                          </a:solidFill>
                          <a:effectLst/>
                          <a:uLnTx/>
                          <a:uFillTx/>
                          <a:latin typeface="+mj-lt"/>
                          <a:ea typeface="+mn-ea"/>
                          <a:cs typeface="+mn-cs"/>
                        </a:rPr>
                        <a:t>Development of an Ecological Sustainability Adaptive Management Plan for Nainital</a:t>
                      </a:r>
                      <a:r>
                        <a:rPr kumimoji="0" lang="en-IN" sz="900" b="0" i="0" u="none" strike="noStrike" kern="1200" cap="none" spc="0" normalizeH="0" baseline="0" noProof="0">
                          <a:ln>
                            <a:noFill/>
                          </a:ln>
                          <a:solidFill>
                            <a:prstClr val="black"/>
                          </a:solidFill>
                          <a:effectLst/>
                          <a:uLnTx/>
                          <a:uFillTx/>
                          <a:latin typeface="+mj-lt"/>
                          <a:ea typeface="+mn-ea"/>
                          <a:cs typeface="+mn-cs"/>
                        </a:rPr>
                        <a:t> Focusing on Water Supply System.</a:t>
                      </a:r>
                      <a:endParaRPr kumimoji="0" lang="en-IN" sz="1000" b="0" i="0" u="none" strike="noStrike" kern="1200" cap="none" spc="0" normalizeH="0" baseline="0" noProof="0">
                        <a:ln>
                          <a:noFill/>
                        </a:ln>
                        <a:solidFill>
                          <a:prstClr val="black"/>
                        </a:solidFill>
                        <a:effectLst/>
                        <a:uLnTx/>
                        <a:uFillTx/>
                        <a:latin typeface="+mj-lt"/>
                        <a:ea typeface="+mn-ea"/>
                        <a:cs typeface="+mn-cs"/>
                      </a:endParaRPr>
                    </a:p>
                  </a:txBody>
                  <a:tcPr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2018;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2019</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0.27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CEDAR</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900" b="1">
                <a:solidFill>
                  <a:prstClr val="white"/>
                </a:solidFill>
                <a:latin typeface="Verdana"/>
              </a:rPr>
              <a:t>34</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268310937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3097533411"/>
              </p:ext>
            </p:extLst>
          </p:nvPr>
        </p:nvGraphicFramePr>
        <p:xfrm>
          <a:off x="517290" y="745905"/>
          <a:ext cx="11161565" cy="4375106"/>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Strategic partnership with Himalayan Adaptation, Water and Resilience (HI AWARE) Research on Glacier and Snowpack Dependent River Basins for Improving Livelihoods- Focal Point, Strategic Partner </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a:t>
                      </a:r>
                      <a:r>
                        <a:rPr lang="en-US" sz="1000" b="0" err="1">
                          <a:solidFill>
                            <a:schemeClr val="bg1"/>
                          </a:solidFill>
                          <a:effectLst/>
                          <a:latin typeface="Verdana" panose="020B0604030504040204" pitchFamily="34" charset="0"/>
                          <a:ea typeface="+mn-ea"/>
                          <a:cs typeface="Times New Roman" panose="02020603050405020304" pitchFamily="18" charset="0"/>
                        </a:rPr>
                        <a:t>HiAWARE</a:t>
                      </a:r>
                      <a:r>
                        <a:rPr lang="en-US" sz="1000" b="0">
                          <a:solidFill>
                            <a:schemeClr val="bg1"/>
                          </a:solidFill>
                          <a:effectLst/>
                          <a:latin typeface="Verdana" panose="020B0604030504040204" pitchFamily="34" charset="0"/>
                          <a:ea typeface="+mn-ea"/>
                          <a:cs typeface="Times New Roman" panose="02020603050405020304" pitchFamily="18" charset="0"/>
                        </a:rPr>
                        <a:t>-ICIMOD</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1916285">
                <a:tc>
                  <a:txBody>
                    <a:bodyPr/>
                    <a:lstStyle/>
                    <a:p>
                      <a:pPr marL="128016" marR="0" lvl="0" indent="0" algn="just" defTabSz="914400" rtl="0" eaLnBrk="1" fontAlgn="auto" latinLnBrk="0" hangingPunct="1">
                        <a:lnSpc>
                          <a:spcPct val="115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128016" marR="0" lvl="0" indent="0" algn="just" defTabSz="914400" rtl="0" eaLnBrk="1" fontAlgn="auto" latinLnBrk="0" hangingPunct="1">
                        <a:lnSpc>
                          <a:spcPct val="115000"/>
                        </a:lnSpc>
                        <a:spcBef>
                          <a:spcPts val="400"/>
                        </a:spcBef>
                        <a:spcAft>
                          <a:spcPts val="400"/>
                        </a:spcAft>
                        <a:buClrTx/>
                        <a:buSzTx/>
                        <a:buFontTx/>
                        <a:buNone/>
                        <a:tabLst/>
                        <a:defRPr/>
                      </a:pPr>
                      <a:r>
                        <a:rPr kumimoji="0" lang="en-US" sz="900" b="0" i="0" u="none" strike="noStrike" kern="1200" cap="none" spc="0" normalizeH="0" baseline="0" noProof="0">
                          <a:ln>
                            <a:noFill/>
                          </a:ln>
                          <a:solidFill>
                            <a:prstClr val="black"/>
                          </a:solidFill>
                          <a:effectLst/>
                          <a:uLnTx/>
                          <a:uFillTx/>
                          <a:latin typeface="+mn-lt"/>
                          <a:ea typeface="+mn-ea"/>
                          <a:cs typeface="+mn-cs"/>
                        </a:rPr>
                        <a:t>CEDAR had partnered with TERI in developing field level strategies through its long-term engagement and experience especially in the mid hill and high elevation areas considered under the project. For necessary preparations, our understanding of field sites has been duly acknowledged by TERI which has resulted in proper and timely execution of the work, and in avoiding eventualities that come with working in difficult terrain of the Himalayan region. CEDAR understands that as an operational partner in the UGB, it needs to facilitate the HIAWARE research in progressing further while taking the local realities into account. We have facilitated meetings between TERI and the local communities visited over a period of time being mindful of the way in which questions have to be posed whether in interviews or while conducting Participatory Rural Appraisal (PRA)activities. With the increasing impacts of the changing climate and the information gathered by researchers regarding qualitative evidences to support the phenomenon reflective in the lives of people and link them to existing policies, CEDAR has been able to  gradually provide information for developing Climate Change Adaptation strategy for Uttarakhand in relevance with the Uttarakhand State’s Action Plan for Climate Change.</a:t>
                      </a:r>
                      <a:endParaRPr kumimoji="0" lang="en-IN" sz="900" b="0" i="0" u="none" strike="noStrike" kern="1200" cap="none" spc="0" normalizeH="0" baseline="0" noProof="0">
                        <a:ln>
                          <a:noFill/>
                        </a:ln>
                        <a:solidFill>
                          <a:prstClr val="black"/>
                        </a:solidFill>
                        <a:effectLst/>
                        <a:uLnTx/>
                        <a:uFillTx/>
                        <a:latin typeface="+mn-lt"/>
                        <a:ea typeface="+mn-ea"/>
                        <a:cs typeface="+mn-cs"/>
                      </a:endParaRPr>
                    </a:p>
                    <a:p>
                      <a:pPr marL="128016" marR="0" lvl="0" indent="0" algn="just"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mn-lt"/>
                        <a:ea typeface="+mn-ea"/>
                        <a:cs typeface="+mn-cs"/>
                      </a:endParaRPr>
                    </a:p>
                    <a:p>
                      <a:pPr marL="128016"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179388"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mn-lt"/>
                          <a:ea typeface="+mn-ea"/>
                          <a:cs typeface="+mn-cs"/>
                        </a:rPr>
                        <a:t>Documenting climate change adaptation strategies adapted by the local farmer communities in the mid hills</a:t>
                      </a:r>
                    </a:p>
                    <a:p>
                      <a:pPr marL="365760" marR="0" lvl="0" indent="-179388"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mn-lt"/>
                          <a:ea typeface="+mn-ea"/>
                          <a:cs typeface="+mn-cs"/>
                        </a:rPr>
                        <a:t>Stakeholder engagements and policy briefs</a:t>
                      </a:r>
                    </a:p>
                    <a:p>
                      <a:pPr marL="365760" marR="0" lvl="0" indent="-179388"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mn-lt"/>
                          <a:ea typeface="+mn-ea"/>
                          <a:cs typeface="+mn-cs"/>
                        </a:rPr>
                        <a:t>Facilitations of meetings </a:t>
                      </a:r>
                    </a:p>
                    <a:p>
                      <a:pPr marL="365760" marR="0" lvl="0" indent="-179388"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mn-lt"/>
                          <a:ea typeface="+mn-ea"/>
                          <a:cs typeface="+mn-cs"/>
                        </a:rPr>
                        <a:t>Providing information for Uttarakhand State Action Plan</a:t>
                      </a:r>
                    </a:p>
                  </a:txBody>
                  <a:tcPr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2015;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2018</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0.73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CEDAR</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900" b="1">
                <a:solidFill>
                  <a:prstClr val="white"/>
                </a:solidFill>
                <a:latin typeface="Verdana"/>
              </a:rPr>
              <a:t>35</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250681969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3060710170"/>
              </p:ext>
            </p:extLst>
          </p:nvPr>
        </p:nvGraphicFramePr>
        <p:xfrm>
          <a:off x="517290" y="745905"/>
          <a:ext cx="11161565" cy="3636093"/>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Review of Assisted Natural Regeneration (ANR) with Reference to Central India</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The Nature Conservancy (TNC)</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1916285">
                <a:tc>
                  <a:txBody>
                    <a:bodyPr/>
                    <a:lstStyle/>
                    <a:p>
                      <a:pPr marL="128016" marR="0" lvl="0" algn="just" defTabSz="914400" rtl="0" eaLnBrk="1" fontAlgn="auto" latinLnBrk="0" hangingPunct="1">
                        <a:lnSpc>
                          <a:spcPct val="115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mj-lt"/>
                          <a:ea typeface="Verdana" panose="020B0604030504040204" pitchFamily="34" charset="0"/>
                          <a:cs typeface="+mn-cs"/>
                        </a:rPr>
                        <a:t>Description of Key Activities:</a:t>
                      </a:r>
                    </a:p>
                    <a:p>
                      <a:pPr marL="128016" algn="just"/>
                      <a:r>
                        <a:rPr lang="en-US" sz="900">
                          <a:latin typeface="+mj-lt"/>
                        </a:rPr>
                        <a:t>Healthy forests produce both ecological and economic benefits by providing sequestration and storage of carbon in addition to numerous other ecosystem services. With the ever-increasing threat of climate change, it is important to recognize forward-thinking management strategies that aim to maintain sustainable forest productivity. One such strategy, referred to as assisted natural regeneration (ANR), is a practice to convert degraded lands into more productive forests with the provision of ecosystem services. India has set ambitious targets for the restoration of degraded lands including forest lands – recently increasing the target from 21 to 26 million hectares by 2030. In this context, Assisted Natural Regeneration (ANR) is a cost-effective strategy for the regeneration of forests that leverages existing rootstock and seed sources for re-growth of forests and supplements it with the planting of saplings in gaps. To be effective, ANR (and indeed any other approach) needs to be supported by a reduction in the factors causing degradation in the first place, protection, and supportive silvicultural practices. India has explored many approaches over the decades to try and protect its forests – from putting forest in the concurrent list and bringing the Forest Conservation Act, to promoting Joint Forest Management and subsequently the Forest Rights Act, and enhancing the effort at plantation and regeneration.</a:t>
                      </a:r>
                    </a:p>
                    <a:p>
                      <a:pPr marL="128016" algn="just"/>
                      <a:endParaRPr lang="en-US" sz="900">
                        <a:latin typeface="+mj-lt"/>
                      </a:endParaRPr>
                    </a:p>
                    <a:p>
                      <a:pPr marL="128016" marR="0" lvl="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mj-lt"/>
                          <a:ea typeface="Verdana" panose="020B0604030504040204" pitchFamily="34" charset="0"/>
                          <a:cs typeface="+mn-cs"/>
                        </a:rPr>
                        <a:t>The activities executed by the Team were:</a:t>
                      </a:r>
                    </a:p>
                    <a:p>
                      <a:pPr marL="365760" indent="-179388" algn="l">
                        <a:buFont typeface="Arial" panose="020B0604020202020204" pitchFamily="34" charset="0"/>
                        <a:buChar char="•"/>
                      </a:pPr>
                      <a:r>
                        <a:rPr lang="en-US" sz="900">
                          <a:latin typeface="+mj-lt"/>
                        </a:rPr>
                        <a:t>Reviewed the ANR practices in the country, identify potential ANR opportunities and make recommendations for promoting and implementing ANR in India.</a:t>
                      </a:r>
                    </a:p>
                  </a:txBody>
                  <a:tcPr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2020;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2021</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0.17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CEDAR</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900" b="1">
                <a:solidFill>
                  <a:prstClr val="white"/>
                </a:solidFill>
                <a:latin typeface="Verdana"/>
              </a:rPr>
              <a:t>36</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333094559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560519219"/>
              </p:ext>
            </p:extLst>
          </p:nvPr>
        </p:nvGraphicFramePr>
        <p:xfrm>
          <a:off x="517290" y="745905"/>
          <a:ext cx="11161565" cy="3560274"/>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Stakeholder consultations for integrated Management planning of Renuka and Pong Ramsar Sites in Himachal Pradesh</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GIZ, India</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1916285">
                <a:tc>
                  <a:txBody>
                    <a:bodyPr/>
                    <a:lstStyle/>
                    <a:p>
                      <a:pPr marL="128016" marR="0" lvl="0" indent="0" algn="just" defTabSz="914400" rtl="0" eaLnBrk="1" fontAlgn="auto" latinLnBrk="0" hangingPunct="1">
                        <a:lnSpc>
                          <a:spcPct val="115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128016" marR="0" lvl="0" indent="0" algn="just"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mn-lt"/>
                          <a:ea typeface="+mn-ea"/>
                          <a:cs typeface="+mn-cs"/>
                        </a:rPr>
                        <a:t>The </a:t>
                      </a:r>
                      <a:r>
                        <a:rPr kumimoji="0" lang="en-US" sz="900" b="0" i="0" u="none" strike="noStrike" kern="1200" cap="none" spc="0" normalizeH="0" baseline="0" noProof="0" err="1">
                          <a:ln>
                            <a:noFill/>
                          </a:ln>
                          <a:solidFill>
                            <a:prstClr val="black"/>
                          </a:solidFill>
                          <a:effectLst/>
                          <a:uLnTx/>
                          <a:uFillTx/>
                          <a:latin typeface="+mn-lt"/>
                          <a:ea typeface="+mn-ea"/>
                          <a:cs typeface="+mn-cs"/>
                        </a:rPr>
                        <a:t>MoEFCC</a:t>
                      </a:r>
                      <a:r>
                        <a:rPr kumimoji="0" lang="en-US" sz="900" b="0" i="0" u="none" strike="noStrike" kern="1200" cap="none" spc="0" normalizeH="0" baseline="0" noProof="0">
                          <a:ln>
                            <a:noFill/>
                          </a:ln>
                          <a:solidFill>
                            <a:prstClr val="black"/>
                          </a:solidFill>
                          <a:effectLst/>
                          <a:uLnTx/>
                          <a:uFillTx/>
                          <a:latin typeface="+mn-lt"/>
                          <a:ea typeface="+mn-ea"/>
                          <a:cs typeface="+mn-cs"/>
                        </a:rPr>
                        <a:t>, in partnership with the GIZ, is implementing a Technical Cooperation project “Wetlands management for biodiversity and climate protection” with funding</a:t>
                      </a:r>
                    </a:p>
                    <a:p>
                      <a:pPr marL="128016" marR="0" lvl="0" indent="0" algn="just"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mn-lt"/>
                          <a:ea typeface="+mn-ea"/>
                          <a:cs typeface="+mn-cs"/>
                        </a:rPr>
                        <a:t>support from the German Federal Ministry for the Environment, Nature Conservation and Nuclear Safety (BMU) under the International Climate Initiative (IKI). The goal of the project is to strengthen the institutional framework and capacities for an ecosystem-based integrated management of wetlands of international importance (Ramsar sites) in India. The project is implemented in close cooperation with the NPCA of the </a:t>
                      </a:r>
                      <a:r>
                        <a:rPr kumimoji="0" lang="en-US" sz="900" b="0" i="0" u="none" strike="noStrike" kern="1200" cap="none" spc="0" normalizeH="0" baseline="0" noProof="0" err="1">
                          <a:ln>
                            <a:noFill/>
                          </a:ln>
                          <a:solidFill>
                            <a:prstClr val="black"/>
                          </a:solidFill>
                          <a:effectLst/>
                          <a:uLnTx/>
                          <a:uFillTx/>
                          <a:latin typeface="+mn-lt"/>
                          <a:ea typeface="+mn-ea"/>
                          <a:cs typeface="+mn-cs"/>
                        </a:rPr>
                        <a:t>MoEFCC</a:t>
                      </a:r>
                      <a:r>
                        <a:rPr kumimoji="0" lang="en-US" sz="900" b="0" i="0" u="none" strike="noStrike" kern="1200" cap="none" spc="0" normalizeH="0" baseline="0" noProof="0">
                          <a:ln>
                            <a:noFill/>
                          </a:ln>
                          <a:solidFill>
                            <a:prstClr val="black"/>
                          </a:solidFill>
                          <a:effectLst/>
                          <a:uLnTx/>
                          <a:uFillTx/>
                          <a:latin typeface="+mn-lt"/>
                          <a:ea typeface="+mn-ea"/>
                          <a:cs typeface="+mn-cs"/>
                        </a:rPr>
                        <a:t>.</a:t>
                      </a:r>
                    </a:p>
                    <a:p>
                      <a:pPr marL="128016" marR="0" lvl="0" indent="0" algn="just"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mn-lt"/>
                        <a:ea typeface="+mn-ea"/>
                        <a:cs typeface="+mn-cs"/>
                      </a:endParaRPr>
                    </a:p>
                    <a:p>
                      <a:pPr marL="128016"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174625"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mn-lt"/>
                          <a:ea typeface="+mn-ea"/>
                          <a:cs typeface="+mn-cs"/>
                        </a:rPr>
                        <a:t>Integrated management planning </a:t>
                      </a:r>
                      <a:r>
                        <a:rPr kumimoji="0" lang="en-US" sz="900" b="0" i="0" u="none" strike="noStrike" kern="1200" cap="none" spc="0" normalizeH="0" baseline="0" noProof="0">
                          <a:ln>
                            <a:noFill/>
                          </a:ln>
                          <a:solidFill>
                            <a:prstClr val="black"/>
                          </a:solidFill>
                          <a:effectLst/>
                          <a:uLnTx/>
                          <a:uFillTx/>
                          <a:latin typeface="+mn-lt"/>
                          <a:ea typeface="+mn-ea"/>
                          <a:cs typeface="+mn-cs"/>
                        </a:rPr>
                        <a:t>for 3-4 pilot Ramsar sites based on </a:t>
                      </a:r>
                      <a:r>
                        <a:rPr kumimoji="0" lang="en-US" sz="900" b="1" i="0" u="none" strike="noStrike" kern="1200" cap="none" spc="0" normalizeH="0" baseline="0" noProof="0">
                          <a:ln>
                            <a:noFill/>
                          </a:ln>
                          <a:solidFill>
                            <a:prstClr val="black"/>
                          </a:solidFill>
                          <a:effectLst/>
                          <a:uLnTx/>
                          <a:uFillTx/>
                          <a:latin typeface="+mn-lt"/>
                          <a:ea typeface="+mn-ea"/>
                          <a:cs typeface="+mn-cs"/>
                        </a:rPr>
                        <a:t>biodiversity, ecosystem services and climate change risks.</a:t>
                      </a:r>
                    </a:p>
                    <a:p>
                      <a:pPr marL="365760" marR="0" lvl="0" indent="-174625"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mn-lt"/>
                          <a:ea typeface="+mn-ea"/>
                          <a:cs typeface="+mn-cs"/>
                        </a:rPr>
                        <a:t>Capacity development </a:t>
                      </a:r>
                      <a:r>
                        <a:rPr kumimoji="0" lang="en-US" sz="900" b="0" i="0" u="none" strike="noStrike" kern="1200" cap="none" spc="0" normalizeH="0" baseline="0" noProof="0">
                          <a:ln>
                            <a:noFill/>
                          </a:ln>
                          <a:solidFill>
                            <a:prstClr val="black"/>
                          </a:solidFill>
                          <a:effectLst/>
                          <a:uLnTx/>
                          <a:uFillTx/>
                          <a:latin typeface="+mn-lt"/>
                          <a:ea typeface="+mn-ea"/>
                          <a:cs typeface="+mn-cs"/>
                        </a:rPr>
                        <a:t>of national, state and site level stakeholders for integrated wetland management.</a:t>
                      </a:r>
                    </a:p>
                    <a:p>
                      <a:pPr marL="365760" marR="0" lvl="0" indent="-174625"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n-lt"/>
                          <a:ea typeface="+mn-ea"/>
                          <a:cs typeface="+mn-cs"/>
                        </a:rPr>
                        <a:t>Development of a wetland monitoring system, including an instrument to track management effectiveness.</a:t>
                      </a:r>
                    </a:p>
                    <a:p>
                      <a:pPr marL="365760" marR="0" lvl="0" indent="-174625" algn="just"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mn-lt"/>
                          <a:ea typeface="+mn-ea"/>
                          <a:cs typeface="+mn-cs"/>
                        </a:rPr>
                        <a:t>Ecosystem-based sustainable livelihood measures </a:t>
                      </a:r>
                      <a:r>
                        <a:rPr kumimoji="0" lang="en-US" sz="900" b="0" i="0" u="none" strike="noStrike" kern="1200" cap="none" spc="0" normalizeH="0" baseline="0" noProof="0">
                          <a:ln>
                            <a:noFill/>
                          </a:ln>
                          <a:solidFill>
                            <a:prstClr val="black"/>
                          </a:solidFill>
                          <a:effectLst/>
                          <a:uLnTx/>
                          <a:uFillTx/>
                          <a:latin typeface="+mn-lt"/>
                          <a:ea typeface="+mn-ea"/>
                          <a:cs typeface="+mn-cs"/>
                        </a:rPr>
                        <a:t>are implemented at three levels</a:t>
                      </a:r>
                    </a:p>
                  </a:txBody>
                  <a:tcPr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Jan 2022;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July</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2022</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0.15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CEDAR</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900" b="1">
                <a:solidFill>
                  <a:prstClr val="white"/>
                </a:solidFill>
                <a:latin typeface="Verdana"/>
              </a:rPr>
              <a:t>37</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89521217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1336163936"/>
              </p:ext>
            </p:extLst>
          </p:nvPr>
        </p:nvGraphicFramePr>
        <p:xfrm>
          <a:off x="517290" y="745905"/>
          <a:ext cx="11161565" cy="5540585"/>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Boost up the size of Gross State Domestic Product (GSDP) of Uttar Pradesh to One Trillion Dollar in five years</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Department of Planning, Government of Uttar Pradesh, India</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1916285">
                <a:tc>
                  <a:txBody>
                    <a:bodyPr/>
                    <a:lstStyle/>
                    <a:p>
                      <a:pPr marL="128016" marR="0" lvl="0" indent="0" algn="just" defTabSz="914400" rtl="0" eaLnBrk="1" fontAlgn="auto" latinLnBrk="0" hangingPunct="1">
                        <a:lnSpc>
                          <a:spcPct val="115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mj-lt"/>
                          <a:ea typeface="Verdana" panose="020B0604030504040204" pitchFamily="34" charset="0"/>
                          <a:cs typeface="+mn-cs"/>
                        </a:rPr>
                        <a:t>Description of Key Activities: </a:t>
                      </a:r>
                      <a:r>
                        <a:rPr kumimoji="0" lang="en-US" sz="900" b="0" i="0" u="none" strike="noStrike" kern="1200" cap="none" spc="0" normalizeH="0" baseline="0" noProof="0">
                          <a:ln>
                            <a:noFill/>
                          </a:ln>
                          <a:solidFill>
                            <a:prstClr val="black"/>
                          </a:solidFill>
                          <a:effectLst/>
                          <a:uLnTx/>
                          <a:uFillTx/>
                          <a:latin typeface="+mj-lt"/>
                          <a:ea typeface="Verdana" panose="020B0604030504040204" pitchFamily="34" charset="0"/>
                          <a:cs typeface="+mn-cs"/>
                        </a:rPr>
                        <a:t>Deloitte is conducting a comprehensive analysis of macro and microeconomic data for the state from credible sources over six years. It aims to identify key factors contributing to sectoral economic growth, align policies, human resources, infrastructure, technology, and governance to achieve a one trillion dollar economy. The project will assess the feasibility of obtaining necessary inputs through internal and external means and develop strategies for public-private partnerships (PPP) across sectors. The implementation phase includes project governance, continuous technical support, feasibility assessments, and the creation of a War Room for monitoring and coordination. The service also involves marketing activities, procurement support, policy amendments, and capacity building to achieve the program's objectives.</a:t>
                      </a:r>
                      <a:endParaRPr kumimoji="0" lang="en-US" sz="900" b="1" i="0" u="none" strike="noStrike" kern="1200" cap="none" spc="0" normalizeH="0" baseline="0" noProof="0">
                        <a:ln>
                          <a:noFill/>
                        </a:ln>
                        <a:solidFill>
                          <a:prstClr val="black"/>
                        </a:solidFill>
                        <a:effectLst/>
                        <a:uLnTx/>
                        <a:uFillTx/>
                        <a:latin typeface="+mj-lt"/>
                        <a:ea typeface="Verdana" panose="020B0604030504040204" pitchFamily="34" charset="0"/>
                        <a:cs typeface="+mn-cs"/>
                      </a:endParaRPr>
                    </a:p>
                    <a:p>
                      <a:pPr marL="128016" marR="0" lvl="0" indent="0" algn="just"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mj-lt"/>
                        <a:ea typeface="+mn-ea"/>
                        <a:cs typeface="+mn-cs"/>
                      </a:endParaRPr>
                    </a:p>
                    <a:p>
                      <a:pPr marL="128016"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mj-lt"/>
                          <a:ea typeface="Verdana" panose="020B0604030504040204" pitchFamily="34" charset="0"/>
                          <a:cs typeface="+mn-cs"/>
                        </a:rPr>
                        <a:t>The activities executed by the Team were:</a:t>
                      </a:r>
                    </a:p>
                    <a:p>
                      <a:pPr marL="365760" marR="0" lvl="0" indent="-22860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j-lt"/>
                          <a:ea typeface="Calibri Light" panose="020F0302020204030204" pitchFamily="34" charset="0"/>
                          <a:cs typeface="Calibri" panose="020F0502020204030204" pitchFamily="34" charset="0"/>
                        </a:rPr>
                        <a:t>Critical analysis of macro and </a:t>
                      </a:r>
                      <a:r>
                        <a:rPr kumimoji="0" lang="en-US" sz="900" b="1" i="0" u="none" strike="noStrike" kern="1200" cap="none" spc="0" normalizeH="0" baseline="0" noProof="0">
                          <a:ln>
                            <a:noFill/>
                          </a:ln>
                          <a:solidFill>
                            <a:prstClr val="black"/>
                          </a:solidFill>
                          <a:effectLst/>
                          <a:uLnTx/>
                          <a:uFillTx/>
                          <a:latin typeface="+mj-lt"/>
                          <a:ea typeface="Calibri Light" panose="020F0302020204030204" pitchFamily="34" charset="0"/>
                          <a:cs typeface="Calibri" panose="020F0502020204030204" pitchFamily="34" charset="0"/>
                        </a:rPr>
                        <a:t>micro economic sectoral data around GSDP, trade, investment, expenditure, saving, workforce participation, inflation, import and export in the State </a:t>
                      </a:r>
                      <a:r>
                        <a:rPr kumimoji="0" lang="en-US" sz="900" b="0" i="0" u="none" strike="noStrike" kern="1200" cap="none" spc="0" normalizeH="0" baseline="0" noProof="0">
                          <a:ln>
                            <a:noFill/>
                          </a:ln>
                          <a:solidFill>
                            <a:prstClr val="black"/>
                          </a:solidFill>
                          <a:effectLst/>
                          <a:uLnTx/>
                          <a:uFillTx/>
                          <a:latin typeface="+mj-lt"/>
                          <a:ea typeface="Calibri Light" panose="020F0302020204030204" pitchFamily="34" charset="0"/>
                          <a:cs typeface="Calibri" panose="020F0502020204030204" pitchFamily="34" charset="0"/>
                        </a:rPr>
                        <a:t>for 2016-17, 2017-18, 2018-19, 2019-20 ,2020-21 and 2021- 22 from government and institutional (credible) sources through primary as well as secondary research.</a:t>
                      </a:r>
                      <a:endParaRPr kumimoji="0" lang="en-US" sz="900" b="0" i="0" u="none" strike="noStrike" kern="1200" cap="none" spc="0" normalizeH="0" baseline="0" noProof="0">
                        <a:ln>
                          <a:noFill/>
                        </a:ln>
                        <a:solidFill>
                          <a:prstClr val="black"/>
                        </a:solidFill>
                        <a:effectLst/>
                        <a:uLnTx/>
                        <a:uFillTx/>
                        <a:latin typeface="+mj-lt"/>
                        <a:ea typeface="Calibri" panose="020F0502020204030204" pitchFamily="34" charset="0"/>
                        <a:cs typeface="Times New Roman" panose="02020603050405020304" pitchFamily="18" charset="0"/>
                      </a:endParaRPr>
                    </a:p>
                    <a:p>
                      <a:pPr marL="365760" marR="0" lvl="0" indent="-22860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j-lt"/>
                          <a:ea typeface="+mn-ea"/>
                          <a:cs typeface="Calibri" panose="020F0502020204030204" pitchFamily="34" charset="0"/>
                        </a:rPr>
                        <a:t>Analyzing the feasibility and methodology for estimating Green GSDP for Uttar Pradesh </a:t>
                      </a:r>
                    </a:p>
                    <a:p>
                      <a:pPr marL="365760" marR="0" lvl="0" indent="-22860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j-lt"/>
                          <a:ea typeface="+mn-ea"/>
                          <a:cs typeface="Calibri" panose="020F0502020204030204" pitchFamily="34" charset="0"/>
                        </a:rPr>
                        <a:t>Identify key factors, </a:t>
                      </a:r>
                      <a:r>
                        <a:rPr kumimoji="0" lang="en-US" sz="900" b="1" i="0" u="none" strike="noStrike" kern="1200" cap="none" spc="0" normalizeH="0" baseline="0" noProof="0">
                          <a:ln>
                            <a:noFill/>
                          </a:ln>
                          <a:solidFill>
                            <a:prstClr val="black"/>
                          </a:solidFill>
                          <a:effectLst/>
                          <a:uLnTx/>
                          <a:uFillTx/>
                          <a:latin typeface="+mj-lt"/>
                          <a:ea typeface="+mn-ea"/>
                          <a:cs typeface="Calibri" panose="020F0502020204030204" pitchFamily="34" charset="0"/>
                        </a:rPr>
                        <a:t>which have contributed to each sectoral economic growth in last 4 years </a:t>
                      </a:r>
                      <a:r>
                        <a:rPr kumimoji="0" lang="en-US" sz="900" b="0" i="0" u="none" strike="noStrike" kern="1200" cap="none" spc="0" normalizeH="0" baseline="0" noProof="0">
                          <a:ln>
                            <a:noFill/>
                          </a:ln>
                          <a:solidFill>
                            <a:prstClr val="black"/>
                          </a:solidFill>
                          <a:effectLst/>
                          <a:uLnTx/>
                          <a:uFillTx/>
                          <a:latin typeface="+mj-lt"/>
                          <a:ea typeface="+mn-ea"/>
                          <a:cs typeface="Calibri" panose="020F0502020204030204" pitchFamily="34" charset="0"/>
                        </a:rPr>
                        <a:t>and how these factors will include policies of Central as well as the State Government, human resource, infrastructure, application of new technology, special projects and governance</a:t>
                      </a:r>
                    </a:p>
                    <a:p>
                      <a:pPr marL="365760" marR="0" lvl="0" indent="-22860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j-lt"/>
                          <a:ea typeface="+mn-ea"/>
                          <a:cs typeface="Calibri" panose="020F0502020204030204" pitchFamily="34" charset="0"/>
                        </a:rPr>
                        <a:t>Based on status and recent trends, determine multipliers between sectoral growth and impact on the GSDP; and assign targets and how to achieve them for each sector towards one trillion dollar economy</a:t>
                      </a:r>
                    </a:p>
                    <a:p>
                      <a:pPr marL="365760" marR="0" lvl="0" indent="-22860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j-lt"/>
                          <a:ea typeface="+mn-ea"/>
                          <a:cs typeface="Calibri" panose="020F0502020204030204" pitchFamily="34" charset="0"/>
                        </a:rPr>
                        <a:t>Assessment of the practical feasibility of the state to arrange inputs through various internal and external means.</a:t>
                      </a:r>
                    </a:p>
                    <a:p>
                      <a:pPr marL="365760" marR="0" lvl="0" indent="-22860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j-lt"/>
                          <a:ea typeface="+mn-ea"/>
                          <a:cs typeface="Calibri" panose="020F0502020204030204" pitchFamily="34" charset="0"/>
                        </a:rPr>
                        <a:t>Develop strategy for PPP options across all sectors, keeping in view of GOI and GOUP framework and global scenario, including bilateral and multi-lateral options.</a:t>
                      </a:r>
                    </a:p>
                    <a:p>
                      <a:pPr marL="365760" marR="0" lvl="0" indent="-22860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j-lt"/>
                          <a:ea typeface="+mn-ea"/>
                          <a:cs typeface="Calibri" panose="020F0502020204030204" pitchFamily="34" charset="0"/>
                        </a:rPr>
                        <a:t>Design robust methodologies and present a report on potential social impact of each proposed intervention.</a:t>
                      </a:r>
                    </a:p>
                    <a:p>
                      <a:pPr marL="365760" marR="0" lvl="0" indent="-22860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j-lt"/>
                          <a:ea typeface="+mn-ea"/>
                          <a:cs typeface="Calibri" panose="020F0502020204030204" pitchFamily="34" charset="0"/>
                        </a:rPr>
                        <a:t>Design monthly, quarterly, annual Key Performance Indicators (KPIs), and authority to monitors those achievable milestones.</a:t>
                      </a:r>
                    </a:p>
                    <a:p>
                      <a:pPr marL="365760" marR="0" lvl="0" indent="-22860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j-lt"/>
                          <a:ea typeface="+mn-ea"/>
                          <a:cs typeface="Calibri" panose="020F0502020204030204" pitchFamily="34" charset="0"/>
                        </a:rPr>
                        <a:t>Create a War Room comprising 4 teams (a core PMU Team, Dashboard &amp; analytics team, Procurement team and Investment promotion team). Each of these teams under the war room will provide handholding support to the departments on a continuous basis</a:t>
                      </a:r>
                    </a:p>
                    <a:p>
                      <a:pPr marL="365760" marR="0" lvl="0" indent="-22860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j-lt"/>
                          <a:ea typeface="+mn-ea"/>
                          <a:cs typeface="Calibri" panose="020F0502020204030204" pitchFamily="34" charset="0"/>
                        </a:rPr>
                        <a:t>Conduct marketing activities by creating awareness for investors, providing information on local suppliers, providing useful statistical data and business information such as macroeconomic indicators to investors </a:t>
                      </a:r>
                      <a:r>
                        <a:rPr kumimoji="0" lang="en-US" sz="900" b="0" i="0" u="none" strike="noStrike" kern="1200" cap="none" spc="0" normalizeH="0" baseline="0" noProof="0" err="1">
                          <a:ln>
                            <a:noFill/>
                          </a:ln>
                          <a:solidFill>
                            <a:prstClr val="black"/>
                          </a:solidFill>
                          <a:effectLst/>
                          <a:uLnTx/>
                          <a:uFillTx/>
                          <a:latin typeface="+mj-lt"/>
                          <a:ea typeface="+mn-ea"/>
                          <a:cs typeface="Calibri" panose="020F0502020204030204" pitchFamily="34" charset="0"/>
                        </a:rPr>
                        <a:t>etc</a:t>
                      </a:r>
                      <a:endParaRPr kumimoji="0" lang="en-US" sz="900" b="0" i="0" u="none" strike="noStrike" kern="1200" cap="none" spc="0" normalizeH="0" baseline="0" noProof="0">
                        <a:ln>
                          <a:noFill/>
                        </a:ln>
                        <a:solidFill>
                          <a:prstClr val="black"/>
                        </a:solidFill>
                        <a:effectLst/>
                        <a:uLnTx/>
                        <a:uFillTx/>
                        <a:latin typeface="+mj-lt"/>
                        <a:ea typeface="+mn-ea"/>
                        <a:cs typeface="Calibri" panose="020F0502020204030204" pitchFamily="34" charset="0"/>
                      </a:endParaRPr>
                    </a:p>
                    <a:p>
                      <a:pPr marL="365760" marR="0" lvl="0" indent="-22860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j-lt"/>
                          <a:ea typeface="+mn-ea"/>
                          <a:cs typeface="Calibri" panose="020F0502020204030204" pitchFamily="34" charset="0"/>
                        </a:rPr>
                        <a:t>Assist </a:t>
                      </a:r>
                      <a:r>
                        <a:rPr kumimoji="0" lang="en-US" sz="900" b="0" i="0" u="none" strike="noStrike" kern="1200" cap="none" spc="0" normalizeH="0" baseline="0" noProof="0" err="1">
                          <a:ln>
                            <a:noFill/>
                          </a:ln>
                          <a:solidFill>
                            <a:prstClr val="black"/>
                          </a:solidFill>
                          <a:effectLst/>
                          <a:uLnTx/>
                          <a:uFillTx/>
                          <a:latin typeface="+mj-lt"/>
                          <a:ea typeface="+mn-ea"/>
                          <a:cs typeface="Calibri" panose="020F0502020204030204" pitchFamily="34" charset="0"/>
                        </a:rPr>
                        <a:t>GoUP</a:t>
                      </a:r>
                      <a:r>
                        <a:rPr kumimoji="0" lang="en-US" sz="900" b="0" i="0" u="none" strike="noStrike" kern="1200" cap="none" spc="0" normalizeH="0" baseline="0" noProof="0">
                          <a:ln>
                            <a:noFill/>
                          </a:ln>
                          <a:solidFill>
                            <a:prstClr val="black"/>
                          </a:solidFill>
                          <a:effectLst/>
                          <a:uLnTx/>
                          <a:uFillTx/>
                          <a:latin typeface="+mj-lt"/>
                          <a:ea typeface="+mn-ea"/>
                          <a:cs typeface="Calibri" panose="020F0502020204030204" pitchFamily="34" charset="0"/>
                        </a:rPr>
                        <a:t> in identifying sector specific skills and capacity building requirement including developing strategies for operationalizing skill development programs</a:t>
                      </a:r>
                    </a:p>
                  </a:txBody>
                  <a:tcPr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India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August 2022;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Ongoing</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INR 120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Crores</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900" b="1">
                <a:solidFill>
                  <a:prstClr val="white"/>
                </a:solidFill>
                <a:latin typeface="Verdana"/>
              </a:rPr>
              <a:t>38</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175520660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736918798"/>
              </p:ext>
            </p:extLst>
          </p:nvPr>
        </p:nvGraphicFramePr>
        <p:xfrm>
          <a:off x="517290" y="745905"/>
          <a:ext cx="11161565" cy="5026235"/>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Developed the Roadmap Plan for the City of Madrid Towards Climate Neutrality</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City level Government Authority, Spain</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1916285">
                <a:tc>
                  <a:txBody>
                    <a:bodyPr/>
                    <a:lstStyle/>
                    <a:p>
                      <a:pPr marL="128016" marR="0" lvl="0" indent="0" algn="just" defTabSz="914400" rtl="0" eaLnBrk="1" fontAlgn="auto" latinLnBrk="0" hangingPunct="1">
                        <a:lnSpc>
                          <a:spcPct val="115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128016" marR="0" lvl="0" indent="0" algn="just"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mn-lt"/>
                          <a:ea typeface="+mn-ea"/>
                          <a:cs typeface="+mn-cs"/>
                        </a:rPr>
                        <a:t>Deloitte analyzed the </a:t>
                      </a:r>
                      <a:r>
                        <a:rPr kumimoji="0" lang="en-US" sz="900" b="1" i="0" u="none" strike="noStrike" kern="1200" cap="none" spc="0" normalizeH="0" baseline="0" noProof="0">
                          <a:ln>
                            <a:noFill/>
                          </a:ln>
                          <a:solidFill>
                            <a:prstClr val="black"/>
                          </a:solidFill>
                          <a:effectLst/>
                          <a:uLnTx/>
                          <a:uFillTx/>
                          <a:latin typeface="+mn-lt"/>
                          <a:ea typeface="+mn-ea"/>
                          <a:cs typeface="+mn-cs"/>
                        </a:rPr>
                        <a:t>environmental targets of Madrid </a:t>
                      </a:r>
                      <a:r>
                        <a:rPr kumimoji="0" lang="en-US" sz="900" b="0" i="0" u="none" strike="noStrike" kern="1200" cap="none" spc="0" normalizeH="0" baseline="0" noProof="0">
                          <a:ln>
                            <a:noFill/>
                          </a:ln>
                          <a:solidFill>
                            <a:prstClr val="black"/>
                          </a:solidFill>
                          <a:effectLst/>
                          <a:uLnTx/>
                          <a:uFillTx/>
                          <a:latin typeface="+mn-lt"/>
                          <a:ea typeface="+mn-ea"/>
                          <a:cs typeface="+mn-cs"/>
                        </a:rPr>
                        <a:t>for 2030 and 2050, as well as the main levers to be developed to achieve these objectives in the </a:t>
                      </a:r>
                      <a:r>
                        <a:rPr kumimoji="0" lang="en-US" sz="900" b="1" i="0" u="none" strike="noStrike" kern="1200" cap="none" spc="0" normalizeH="0" baseline="0" noProof="0">
                          <a:ln>
                            <a:noFill/>
                          </a:ln>
                          <a:solidFill>
                            <a:prstClr val="black"/>
                          </a:solidFill>
                          <a:effectLst/>
                          <a:uLnTx/>
                          <a:uFillTx/>
                          <a:latin typeface="+mn-lt"/>
                          <a:ea typeface="+mn-ea"/>
                          <a:cs typeface="+mn-cs"/>
                        </a:rPr>
                        <a:t>transport,</a:t>
                      </a:r>
                      <a:r>
                        <a:rPr kumimoji="0" lang="en-US" sz="900" b="0" i="0" u="none" strike="noStrike" kern="1200" cap="none" spc="0" normalizeH="0" baseline="0" noProof="0">
                          <a:ln>
                            <a:noFill/>
                          </a:ln>
                          <a:solidFill>
                            <a:prstClr val="black"/>
                          </a:solidFill>
                          <a:effectLst/>
                          <a:uLnTx/>
                          <a:uFillTx/>
                          <a:latin typeface="+mn-lt"/>
                          <a:ea typeface="+mn-ea"/>
                          <a:cs typeface="+mn-cs"/>
                        </a:rPr>
                        <a:t> </a:t>
                      </a:r>
                      <a:r>
                        <a:rPr lang="en-US" sz="900" b="1">
                          <a:solidFill>
                            <a:prstClr val="black"/>
                          </a:solidFill>
                          <a:latin typeface="+mn-lt"/>
                        </a:rPr>
                        <a:t>Buildings</a:t>
                      </a:r>
                      <a:r>
                        <a:rPr kumimoji="0" lang="en-US" sz="900" b="0" i="0" u="none" strike="noStrike" kern="1200" cap="none" spc="0" normalizeH="0" baseline="0" noProof="0">
                          <a:ln>
                            <a:noFill/>
                          </a:ln>
                          <a:solidFill>
                            <a:prstClr val="black"/>
                          </a:solidFill>
                          <a:effectLst/>
                          <a:uLnTx/>
                          <a:uFillTx/>
                          <a:latin typeface="+mn-lt"/>
                          <a:ea typeface="+mn-ea"/>
                          <a:cs typeface="+mn-cs"/>
                        </a:rPr>
                        <a:t>, services and municipal consumption sectors</a:t>
                      </a:r>
                    </a:p>
                    <a:p>
                      <a:pPr marL="128016" marR="0" lvl="0" indent="0" algn="just"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mn-lt"/>
                        <a:ea typeface="+mn-ea"/>
                        <a:cs typeface="+mn-cs"/>
                      </a:endParaRPr>
                    </a:p>
                    <a:p>
                      <a:pPr marL="128016" marR="0" lvl="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171450" algn="just" defTabSz="914400" rtl="0" eaLnBrk="1" fontAlgn="auto" latinLnBrk="0" hangingPunct="1">
                        <a:lnSpc>
                          <a:spcPct val="115000"/>
                        </a:lnSpc>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Analyzed the current situation in terms of policies, laws, institutional structures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and emission reduction strategies of the city of Madrid</a:t>
                      </a:r>
                    </a:p>
                    <a:p>
                      <a:pPr marL="365760" marR="0" lvl="0" indent="-171450" algn="just" defTabSz="914400" rtl="0" eaLnBrk="1" fontAlgn="auto" latinLnBrk="0" hangingPunct="1">
                        <a:lnSpc>
                          <a:spcPct val="115000"/>
                        </a:lnSpc>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Estimated the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GHG emission reduction potential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of the actions envisaged in the Madrid 360-degree Sustainability Strategy and Plan A for The Air Quality and Climate Change</a:t>
                      </a:r>
                    </a:p>
                    <a:p>
                      <a:pPr marL="365760" marR="0" lvl="0" indent="-171450" algn="just" defTabSz="914400" rtl="0" eaLnBrk="1" fontAlgn="auto" latinLnBrk="0" hangingPunct="1">
                        <a:lnSpc>
                          <a:spcPct val="115000"/>
                        </a:lnSpc>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Supported the definition of vertebrate axes and the main lines of action to be contemplated in the roadmap for carbon neutrality by 2050</a:t>
                      </a:r>
                    </a:p>
                    <a:p>
                      <a:pPr marL="365760" marR="0" lvl="0" indent="-171450" algn="just" defTabSz="914400" rtl="0" eaLnBrk="1" fontAlgn="auto" latinLnBrk="0" hangingPunct="1">
                        <a:lnSpc>
                          <a:spcPct val="115000"/>
                        </a:lnSpc>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First phase: Identify, classify and structure the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emission reduction levers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included within each of the emission sectors and the main measures that are developed within the scope of each of the levers</a:t>
                      </a:r>
                    </a:p>
                    <a:p>
                      <a:pPr marL="365760" marR="0" lvl="0" indent="-171450" algn="just" defTabSz="914400" rtl="0" eaLnBrk="1" fontAlgn="auto" latinLnBrk="0" hangingPunct="1">
                        <a:lnSpc>
                          <a:spcPct val="115000"/>
                        </a:lnSpc>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Second phase: Quantify through emission abatement curve models the capacity to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reduce GHG emissions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(direct and indirect) of each measure. Quantify the impact of GHG </a:t>
                      </a:r>
                      <a:r>
                        <a:rPr kumimoji="0" lang="en-US" sz="900" b="0"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emmissions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around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green building and construction technologies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and innovation f</a:t>
                      </a:r>
                    </a:p>
                    <a:p>
                      <a:pPr marL="365760" marR="0" lvl="0" indent="-171450" algn="just" defTabSz="914400" rtl="0" eaLnBrk="1" fontAlgn="auto" latinLnBrk="0" hangingPunct="1">
                        <a:lnSpc>
                          <a:spcPct val="115000"/>
                        </a:lnSpc>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Third phase: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Identify key policies, investment areas, agents and actions in achieving decarbonization targets </a:t>
                      </a:r>
                    </a:p>
                    <a:p>
                      <a:pPr marL="365760" marR="0" lvl="0" indent="-171450" algn="just" defTabSz="914400" rtl="0" eaLnBrk="1" fontAlgn="auto" latinLnBrk="0" hangingPunct="1">
                        <a:lnSpc>
                          <a:spcPct val="115000"/>
                        </a:lnSpc>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Variables and key assumptions to 2030 and 2050 in the definition of the three emission reduction scenarios of the city of Madrid focusing on the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transport, roads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t>
                      </a:r>
                      <a:r>
                        <a:rPr lang="en-US" sz="900" b="1">
                          <a:solidFill>
                            <a:prstClr val="black"/>
                          </a:solidFill>
                          <a:latin typeface="Verdana" panose="020B0604030504040204" pitchFamily="34" charset="0"/>
                          <a:ea typeface="Verdana" panose="020B0604030504040204" pitchFamily="34" charset="0"/>
                        </a:rPr>
                        <a:t>buildings,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and services sectors. </a:t>
                      </a:r>
                    </a:p>
                    <a:p>
                      <a:pPr marL="365760" marR="0" lvl="0" indent="-171450" algn="just" defTabSz="914400" rtl="0" eaLnBrk="1" fontAlgn="auto" latinLnBrk="0" hangingPunct="1">
                        <a:lnSpc>
                          <a:spcPct val="115000"/>
                        </a:lnSpc>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Emissions reduction for each of the lever actions and sectors by 2030 and 2050 providing, in addition, the breakdown between reduction of direct and indirect emissions for the sustainable scenario. </a:t>
                      </a:r>
                    </a:p>
                    <a:p>
                      <a:pPr marL="365760" marR="0" lvl="0" indent="-171450" algn="just" defTabSz="914400" rtl="0" eaLnBrk="1" fontAlgn="auto" latinLnBrk="0" hangingPunct="1">
                        <a:lnSpc>
                          <a:spcPct val="115000"/>
                        </a:lnSpc>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Emission abatement curve for the city of Madrid</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analyzing the economic benefits (or costs) for each of the decarbonization levers.</a:t>
                      </a:r>
                    </a:p>
                    <a:p>
                      <a:pPr marL="365760" marR="0" lvl="0" indent="-171450" algn="just" defTabSz="914400" rtl="0" eaLnBrk="1" fontAlgn="auto" latinLnBrk="0" hangingPunct="1">
                        <a:lnSpc>
                          <a:spcPct val="115000"/>
                        </a:lnSpc>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Recommendations regarding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policies and actions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to be carried out by the City of Madrid to meet the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decarbonization targets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including an analysis of the priority of each measure and key agents.</a:t>
                      </a:r>
                    </a:p>
                  </a:txBody>
                  <a:tcPr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Spain</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September</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2020;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endParaRPr lang="es-MX" sz="900" b="1">
                        <a:solidFill>
                          <a:schemeClr val="tx1"/>
                        </a:solidFill>
                        <a:effectLst/>
                        <a:highlight>
                          <a:srgbClr val="FFFF00"/>
                        </a:highligh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i="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Confidential</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900" b="1">
                <a:solidFill>
                  <a:prstClr val="white"/>
                </a:solidFill>
                <a:latin typeface="Verdana"/>
              </a:rPr>
              <a:t>39</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401011612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3347190464"/>
              </p:ext>
            </p:extLst>
          </p:nvPr>
        </p:nvGraphicFramePr>
        <p:xfrm>
          <a:off x="517290" y="745905"/>
          <a:ext cx="11161565" cy="4827353"/>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Design and Development of a Nationally Appropriate Mitigation Action (NAMA) for Greening of Cities and Towns</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State level government body (Name confidential) Japan/ Guyana</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1916285">
                <a:tc>
                  <a:txBody>
                    <a:bodyPr/>
                    <a:lstStyle/>
                    <a:p>
                      <a:pPr marL="128016" marR="0" lvl="0" indent="0" algn="just" defTabSz="914400" rtl="0" eaLnBrk="1" fontAlgn="auto" latinLnBrk="0" hangingPunct="1">
                        <a:lnSpc>
                          <a:spcPct val="115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Description of Key Activities:</a:t>
                      </a:r>
                    </a:p>
                    <a:p>
                      <a:pPr marL="128016" marR="0" lvl="0" indent="0" algn="just"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mn-lt"/>
                          <a:ea typeface="+mn-ea"/>
                          <a:cs typeface="+mn-cs"/>
                        </a:rPr>
                        <a:t>Assisted in the design and development of a Nationally Appropriate Mitigation Action (NAMA) project. The project involved the development of a strategy and </a:t>
                      </a:r>
                      <a:r>
                        <a:rPr kumimoji="0" lang="en-US" sz="900" b="1" i="0" u="none" strike="noStrike" kern="1200" cap="none" spc="0" normalizeH="0" baseline="0" noProof="0">
                          <a:ln>
                            <a:noFill/>
                          </a:ln>
                          <a:solidFill>
                            <a:prstClr val="black"/>
                          </a:solidFill>
                          <a:effectLst/>
                          <a:uLnTx/>
                          <a:uFillTx/>
                          <a:latin typeface="+mn-lt"/>
                          <a:ea typeface="+mn-ea"/>
                          <a:cs typeface="+mn-cs"/>
                        </a:rPr>
                        <a:t>investment plan for greening </a:t>
                      </a:r>
                      <a:r>
                        <a:rPr kumimoji="0" lang="en-US" sz="900" b="0" i="0" u="none" strike="noStrike" kern="1200" cap="none" spc="0" normalizeH="0" baseline="0" noProof="0">
                          <a:ln>
                            <a:noFill/>
                          </a:ln>
                          <a:solidFill>
                            <a:prstClr val="black"/>
                          </a:solidFill>
                          <a:effectLst/>
                          <a:uLnTx/>
                          <a:uFillTx/>
                          <a:latin typeface="+mn-lt"/>
                          <a:ea typeface="+mn-ea"/>
                          <a:cs typeface="+mn-cs"/>
                        </a:rPr>
                        <a:t>of cities and towns in Guyana; the project </a:t>
                      </a:r>
                      <a:r>
                        <a:rPr kumimoji="0" lang="en-US" sz="900" b="1" i="0" u="none" strike="noStrike" kern="1200" cap="none" spc="0" normalizeH="0" baseline="0" noProof="0">
                          <a:ln>
                            <a:noFill/>
                          </a:ln>
                          <a:solidFill>
                            <a:prstClr val="black"/>
                          </a:solidFill>
                          <a:effectLst/>
                          <a:uLnTx/>
                          <a:uFillTx/>
                          <a:latin typeface="+mn-lt"/>
                          <a:ea typeface="+mn-ea"/>
                          <a:cs typeface="+mn-cs"/>
                        </a:rPr>
                        <a:t>established a framework </a:t>
                      </a:r>
                      <a:r>
                        <a:rPr kumimoji="0" lang="en-US" sz="900" b="0" i="0" u="none" strike="noStrike" kern="1200" cap="none" spc="0" normalizeH="0" baseline="0" noProof="0">
                          <a:ln>
                            <a:noFill/>
                          </a:ln>
                          <a:solidFill>
                            <a:prstClr val="black"/>
                          </a:solidFill>
                          <a:effectLst/>
                          <a:uLnTx/>
                          <a:uFillTx/>
                          <a:latin typeface="+mn-lt"/>
                          <a:ea typeface="+mn-ea"/>
                          <a:cs typeface="+mn-cs"/>
                        </a:rPr>
                        <a:t>for gradual greening of towns in Guyana with a focus on a) Energy and energy efficiency, b) Waste management, and c) Transport and (d)</a:t>
                      </a:r>
                      <a:r>
                        <a:rPr kumimoji="0" lang="en-US" sz="900" b="1" i="0" u="none" strike="noStrike" kern="1200" cap="none" spc="0" normalizeH="0" baseline="0" noProof="0">
                          <a:ln>
                            <a:noFill/>
                          </a:ln>
                          <a:solidFill>
                            <a:prstClr val="black"/>
                          </a:solidFill>
                          <a:effectLst/>
                          <a:uLnTx/>
                          <a:uFillTx/>
                          <a:latin typeface="+mn-lt"/>
                          <a:ea typeface="+mn-ea"/>
                          <a:cs typeface="+mn-cs"/>
                        </a:rPr>
                        <a:t> Green Buildings</a:t>
                      </a:r>
                      <a:r>
                        <a:rPr kumimoji="0" lang="en-US" sz="900" b="0" i="0" u="none" strike="noStrike" kern="1200" cap="none" spc="0" normalizeH="0" baseline="0" noProof="0">
                          <a:ln>
                            <a:noFill/>
                          </a:ln>
                          <a:solidFill>
                            <a:prstClr val="black"/>
                          </a:solidFill>
                          <a:effectLst/>
                          <a:uLnTx/>
                          <a:uFillTx/>
                          <a:latin typeface="+mn-lt"/>
                          <a:ea typeface="+mn-ea"/>
                          <a:cs typeface="+mn-cs"/>
                        </a:rPr>
                        <a:t>; The strategy considered a holistic approach using the concept of circular economy; and the technologies included energy efficiency measures and renewable energy generation in grid-connected and off-grid for the energy sector</a:t>
                      </a:r>
                    </a:p>
                    <a:p>
                      <a:pPr marL="128016" marR="0" lvl="0" indent="0" algn="just"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mn-lt"/>
                        <a:ea typeface="+mn-ea"/>
                        <a:cs typeface="+mn-cs"/>
                      </a:endParaRPr>
                    </a:p>
                    <a:p>
                      <a:pPr marL="128016"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The activities executed by the Team were:</a:t>
                      </a:r>
                    </a:p>
                    <a:p>
                      <a:pPr marL="365760" marR="0" lvl="0" indent="-171450" algn="just" defTabSz="914400" rtl="0" eaLnBrk="1" fontAlgn="auto" latinLnBrk="0" hangingPunct="1">
                        <a:lnSpc>
                          <a:spcPct val="115000"/>
                        </a:lnSpc>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Launched in January 2016, the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Japan-Caribbean Climate Change Partnership </a:t>
                      </a: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(J-CCCP), aims to support eight Caribbean countries, including Guyana, in advancing the process of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low-emission risk-resilient development </a:t>
                      </a: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by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improving energy security, resilient infrastructure and buildings </a:t>
                      </a: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and integrating medium to long-term planning for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adaptation to climate change</a:t>
                      </a:r>
                    </a:p>
                    <a:p>
                      <a:pPr marL="365760" marR="0" lvl="0" indent="-171450" algn="just" defTabSz="914400" rtl="0" eaLnBrk="1" fontAlgn="auto" latinLnBrk="0" hangingPunct="1">
                        <a:lnSpc>
                          <a:spcPct val="115000"/>
                        </a:lnSpc>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Interventions under the project include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supporting policy innovation </a:t>
                      </a: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through the development of a number of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Nationally Appropriate Mitigation Action </a:t>
                      </a: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(NAMA)s and NAPs and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implementing actual technology </a:t>
                      </a: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that is both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low-emission</a:t>
                      </a: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 and advances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climate risk management</a:t>
                      </a:r>
                    </a:p>
                    <a:p>
                      <a:pPr marL="365760" marR="0" lvl="0" indent="-171450" algn="just" defTabSz="914400" rtl="0" eaLnBrk="1" fontAlgn="auto" latinLnBrk="0" hangingPunct="1">
                        <a:lnSpc>
                          <a:spcPct val="115000"/>
                        </a:lnSpc>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The Government of the Republic of Guyana has already taken steps towards defining mitigation actions to address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national vulnerabilities</a:t>
                      </a: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 including initiating the process of developing its Third National Communication for submission to the UNFCCC. In this context, they required support in designing and developing a NAMA for the energy sector</a:t>
                      </a:r>
                    </a:p>
                    <a:p>
                      <a:pPr marL="365760" marR="0" lvl="0" indent="-171450" algn="just" defTabSz="914400" rtl="0" eaLnBrk="1" fontAlgn="auto" latinLnBrk="0" hangingPunct="1">
                        <a:lnSpc>
                          <a:spcPct val="115000"/>
                        </a:lnSpc>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The strategy considered a holistic approach using the concept of circular economy, which aimed at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minimizing waste, emissions and energy leakage</a:t>
                      </a: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building disaster resilient hospitals and logistics infrastructure, etc.</a:t>
                      </a: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 and at the same time reusing the resources available at the end of its service life, recovered and regenerated, providing a sustainable and irreversible solution to the greening of towns in Guyana</a:t>
                      </a:r>
                    </a:p>
                    <a:p>
                      <a:pPr marL="365760" marR="0" lvl="0" indent="-171450" algn="just" defTabSz="914400" rtl="0" eaLnBrk="1" fontAlgn="auto" latinLnBrk="0" hangingPunct="1">
                        <a:lnSpc>
                          <a:spcPct val="115000"/>
                        </a:lnSpc>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Developed a Nationally Appropriate Mitigation Action (NAMA) design document based on a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circular economy approach </a:t>
                      </a: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for the energy sector and for greening the towns, including Monitoring, </a:t>
                      </a:r>
                      <a:r>
                        <a:rPr kumimoji="0" lang="en-US" sz="900" b="1" i="0" u="none" strike="noStrike" kern="1200" cap="none" spc="0" normalizeH="0" baseline="0" noProof="0">
                          <a:ln>
                            <a:noFill/>
                          </a:ln>
                          <a:solidFill>
                            <a:prstClr val="black"/>
                          </a:solidFill>
                          <a:effectLst/>
                          <a:uLnTx/>
                          <a:uFillTx/>
                          <a:latin typeface="+mn-lt"/>
                          <a:ea typeface="Verdana" panose="020B0604030504040204" pitchFamily="34" charset="0"/>
                          <a:cs typeface="+mn-cs"/>
                        </a:rPr>
                        <a:t>Reporting and verification framework</a:t>
                      </a:r>
                      <a:r>
                        <a:rPr kumimoji="0" lang="en-US" sz="900" b="0" i="0" u="none" strike="noStrike" kern="1200" cap="none" spc="0" normalizeH="0" baseline="0" noProof="0">
                          <a:ln>
                            <a:noFill/>
                          </a:ln>
                          <a:solidFill>
                            <a:prstClr val="black"/>
                          </a:solidFill>
                          <a:effectLst/>
                          <a:uLnTx/>
                          <a:uFillTx/>
                          <a:latin typeface="+mn-lt"/>
                          <a:ea typeface="Verdana" panose="020B0604030504040204" pitchFamily="34" charset="0"/>
                          <a:cs typeface="+mn-cs"/>
                        </a:rPr>
                        <a:t>, and Financing schemes</a:t>
                      </a:r>
                    </a:p>
                  </a:txBody>
                  <a:tcPr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Japan/Guyana</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January</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2017;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May 2017</a:t>
                      </a:r>
                      <a:endParaRPr lang="es-MX" sz="900" b="1">
                        <a:solidFill>
                          <a:schemeClr val="tx1"/>
                        </a:solidFill>
                        <a:effectLst/>
                        <a:highlight>
                          <a:srgbClr val="FFFF00"/>
                        </a:highligh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i="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Confidential</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40</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103296196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2389778500"/>
              </p:ext>
            </p:extLst>
          </p:nvPr>
        </p:nvGraphicFramePr>
        <p:xfrm>
          <a:off x="517290" y="745905"/>
          <a:ext cx="11161565" cy="4860119"/>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Technology Roadmap for the Implementation of Climate Action Plans in Palestine</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Palestine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1916285">
                <a:tc>
                  <a:txBody>
                    <a:bodyPr/>
                    <a:lstStyle/>
                    <a:p>
                      <a:pPr marL="128016" marR="0" lvl="0" indent="0" algn="just" defTabSz="914400" rtl="0" eaLnBrk="1" fontAlgn="auto" latinLnBrk="0" hangingPunct="1">
                        <a:lnSpc>
                          <a:spcPct val="115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128016" marR="0" lvl="0" indent="0" algn="just"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mn-lt"/>
                          <a:ea typeface="+mn-ea"/>
                          <a:cs typeface="+mn-cs"/>
                        </a:rPr>
                        <a:t>Deloitte supported Palestine in identifying prioritized technologies to achieve its climate action goals. The project aimed at identifying relevant technologies to achieve the objectives determined in Palestine </a:t>
                      </a:r>
                      <a:r>
                        <a:rPr kumimoji="0" lang="en-US" sz="900" b="1" i="0" u="none" strike="noStrike" kern="1200" cap="none" spc="0" normalizeH="0" baseline="0" noProof="0">
                          <a:ln>
                            <a:noFill/>
                          </a:ln>
                          <a:solidFill>
                            <a:prstClr val="black"/>
                          </a:solidFill>
                          <a:effectLst/>
                          <a:uLnTx/>
                          <a:uFillTx/>
                          <a:latin typeface="+mn-lt"/>
                          <a:ea typeface="+mn-ea"/>
                          <a:cs typeface="+mn-cs"/>
                        </a:rPr>
                        <a:t>climate change action plans</a:t>
                      </a:r>
                      <a:r>
                        <a:rPr kumimoji="0" lang="en-US" sz="900" b="0" i="0" u="none" strike="noStrike" kern="1200" cap="none" spc="0" normalizeH="0" baseline="0" noProof="0">
                          <a:ln>
                            <a:noFill/>
                          </a:ln>
                          <a:solidFill>
                            <a:prstClr val="black"/>
                          </a:solidFill>
                          <a:effectLst/>
                          <a:uLnTx/>
                          <a:uFillTx/>
                          <a:latin typeface="+mn-lt"/>
                          <a:ea typeface="+mn-ea"/>
                          <a:cs typeface="+mn-cs"/>
                        </a:rPr>
                        <a:t>, and technical financial, regulatory and other barriers to their implementation or scalability in the context of Palestine. Deloitte will </a:t>
                      </a:r>
                      <a:r>
                        <a:rPr kumimoji="0" lang="en-US" sz="900" b="1" i="0" u="none" strike="noStrike" kern="1200" cap="none" spc="0" normalizeH="0" baseline="0" noProof="0">
                          <a:ln>
                            <a:noFill/>
                          </a:ln>
                          <a:solidFill>
                            <a:prstClr val="black"/>
                          </a:solidFill>
                          <a:effectLst/>
                          <a:uLnTx/>
                          <a:uFillTx/>
                          <a:latin typeface="+mn-lt"/>
                          <a:ea typeface="+mn-ea"/>
                          <a:cs typeface="+mn-cs"/>
                        </a:rPr>
                        <a:t>develop a roadmap </a:t>
                      </a:r>
                      <a:r>
                        <a:rPr kumimoji="0" lang="en-US" sz="900" b="0" i="0" u="none" strike="noStrike" kern="1200" cap="none" spc="0" normalizeH="0" baseline="0" noProof="0">
                          <a:ln>
                            <a:noFill/>
                          </a:ln>
                          <a:solidFill>
                            <a:prstClr val="black"/>
                          </a:solidFill>
                          <a:effectLst/>
                          <a:uLnTx/>
                          <a:uFillTx/>
                          <a:latin typeface="+mn-lt"/>
                          <a:ea typeface="+mn-ea"/>
                          <a:cs typeface="+mn-cs"/>
                        </a:rPr>
                        <a:t>to propose solutions to remove these barriers through policy and other de-risking instruments, as well as </a:t>
                      </a:r>
                      <a:r>
                        <a:rPr kumimoji="0" lang="en-US" sz="900" b="1" i="0" u="none" strike="noStrike" kern="1200" cap="none" spc="0" normalizeH="0" baseline="0" noProof="0">
                          <a:ln>
                            <a:noFill/>
                          </a:ln>
                          <a:solidFill>
                            <a:prstClr val="black"/>
                          </a:solidFill>
                          <a:effectLst/>
                          <a:uLnTx/>
                          <a:uFillTx/>
                          <a:latin typeface="+mn-lt"/>
                          <a:ea typeface="+mn-ea"/>
                          <a:cs typeface="+mn-cs"/>
                        </a:rPr>
                        <a:t>capacity building</a:t>
                      </a:r>
                      <a:r>
                        <a:rPr kumimoji="0" lang="en-US" sz="900" b="0" i="0" u="none" strike="noStrike" kern="1200" cap="none" spc="0" normalizeH="0" baseline="0" noProof="0">
                          <a:ln>
                            <a:noFill/>
                          </a:ln>
                          <a:solidFill>
                            <a:prstClr val="black"/>
                          </a:solidFill>
                          <a:effectLst/>
                          <a:uLnTx/>
                          <a:uFillTx/>
                          <a:latin typeface="+mn-lt"/>
                          <a:ea typeface="+mn-ea"/>
                          <a:cs typeface="+mn-cs"/>
                        </a:rPr>
                        <a:t>. A key element of this assignment is the identification of practical and </a:t>
                      </a:r>
                      <a:r>
                        <a:rPr kumimoji="0" lang="en-US" sz="900" b="1" i="0" u="none" strike="noStrike" kern="1200" cap="none" spc="0" normalizeH="0" baseline="0" noProof="0">
                          <a:ln>
                            <a:noFill/>
                          </a:ln>
                          <a:solidFill>
                            <a:prstClr val="black"/>
                          </a:solidFill>
                          <a:effectLst/>
                          <a:uLnTx/>
                          <a:uFillTx/>
                          <a:latin typeface="+mn-lt"/>
                          <a:ea typeface="+mn-ea"/>
                          <a:cs typeface="+mn-cs"/>
                        </a:rPr>
                        <a:t>feasible funding modalities </a:t>
                      </a:r>
                      <a:r>
                        <a:rPr kumimoji="0" lang="en-US" sz="900" b="0" i="0" u="none" strike="noStrike" kern="1200" cap="none" spc="0" normalizeH="0" baseline="0" noProof="0">
                          <a:ln>
                            <a:noFill/>
                          </a:ln>
                          <a:solidFill>
                            <a:prstClr val="black"/>
                          </a:solidFill>
                          <a:effectLst/>
                          <a:uLnTx/>
                          <a:uFillTx/>
                          <a:latin typeface="+mn-lt"/>
                          <a:ea typeface="+mn-ea"/>
                          <a:cs typeface="+mn-cs"/>
                        </a:rPr>
                        <a:t>for these actions, including through the </a:t>
                      </a:r>
                      <a:r>
                        <a:rPr kumimoji="0" lang="en-US" sz="900" b="1" i="0" u="none" strike="noStrike" kern="1200" cap="none" spc="0" normalizeH="0" baseline="0" noProof="0">
                          <a:ln>
                            <a:noFill/>
                          </a:ln>
                          <a:solidFill>
                            <a:prstClr val="black"/>
                          </a:solidFill>
                          <a:effectLst/>
                          <a:uLnTx/>
                          <a:uFillTx/>
                          <a:latin typeface="+mn-lt"/>
                          <a:ea typeface="+mn-ea"/>
                          <a:cs typeface="+mn-cs"/>
                        </a:rPr>
                        <a:t>Green Climate Fund (GCF) </a:t>
                      </a:r>
                      <a:r>
                        <a:rPr kumimoji="0" lang="en-US" sz="900" b="0" i="0" u="none" strike="noStrike" kern="1200" cap="none" spc="0" normalizeH="0" baseline="0" noProof="0">
                          <a:ln>
                            <a:noFill/>
                          </a:ln>
                          <a:solidFill>
                            <a:prstClr val="black"/>
                          </a:solidFill>
                          <a:effectLst/>
                          <a:uLnTx/>
                          <a:uFillTx/>
                          <a:latin typeface="+mn-lt"/>
                          <a:ea typeface="+mn-ea"/>
                          <a:cs typeface="+mn-cs"/>
                        </a:rPr>
                        <a:t>and other sources</a:t>
                      </a:r>
                    </a:p>
                    <a:p>
                      <a:pPr marL="128016" marR="0" lvl="0" indent="0" algn="just"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mn-lt"/>
                        <a:ea typeface="+mn-ea"/>
                        <a:cs typeface="+mn-cs"/>
                      </a:endParaRPr>
                    </a:p>
                    <a:p>
                      <a:pPr marL="128016" marR="0" lvl="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128016" marR="0" lvl="0" algn="just" defTabSz="914400" rtl="0" eaLnBrk="1" fontAlgn="auto" latinLnBrk="0" hangingPunct="1">
                        <a:lnSpc>
                          <a:spcPct val="115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State of Palestine has requested Climate Technology Centre and Network (CTCN)’s assistance to formulate a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gender responsible Technology Roadmap</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which will be used for the implementation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climate change action plans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defined as Initial National Communication Report (INRC), a National Adaptation Plan (NAP) and has submitted its Nationally Determined Contribution (NDC) to the UNFCCC.</a:t>
                      </a:r>
                    </a:p>
                    <a:p>
                      <a:pPr marL="365760" marR="0" lvl="0" indent="-171450" algn="just" defTabSz="914400" rtl="0" eaLnBrk="1" fontAlgn="auto" latinLnBrk="0" hangingPunct="1">
                        <a:lnSpc>
                          <a:spcPct val="115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Identification, prioritization and approval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climate mitigation and adaptation technologies, policies, laws and inclusive businesses and investment needs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for transfer to Palestine</a:t>
                      </a:r>
                    </a:p>
                    <a:p>
                      <a:pPr marL="365760" marR="0" lvl="0" indent="-171450" algn="just" defTabSz="914400" rtl="0" eaLnBrk="1" fontAlgn="auto" latinLnBrk="0" hangingPunct="1">
                        <a:lnSpc>
                          <a:spcPct val="115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Development and approval of a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roadmap</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for the implementation of the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gender responsive climate mitigation and adaptation technologies and businesses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transfer as prioritized in the Initial National Communication Report (INRC), National Adaptation Plan (NAP) and Nationally Determined Contribution (NDC)</a:t>
                      </a:r>
                    </a:p>
                    <a:p>
                      <a:pPr marL="365760" marR="0" lvl="0" indent="-171450" algn="just" defTabSz="914400" rtl="0" eaLnBrk="1" fontAlgn="auto" latinLnBrk="0" hangingPunct="1">
                        <a:lnSpc>
                          <a:spcPct val="115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Development and approval of a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gender responsive Capacity development program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to strengthen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policy, regulatory, institutional, technical, financial, business and social capacity of the key stakeholders</a:t>
                      </a:r>
                    </a:p>
                    <a:p>
                      <a:pPr marL="365760" marR="0" lvl="0" indent="-171450" algn="just" defTabSz="914400" rtl="0" eaLnBrk="1" fontAlgn="auto" latinLnBrk="0" hangingPunct="1">
                        <a:lnSpc>
                          <a:spcPct val="115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Deloitte supported Palestine in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identifying prioritized technologies and investment needs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to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achieve its climate action goals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This includes the identification of financial and non-financial measures for their introduction.</a:t>
                      </a:r>
                    </a:p>
                  </a:txBody>
                  <a:tcPr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Palestine</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December</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2018;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endParaRPr lang="es-MX" sz="900" b="1">
                        <a:solidFill>
                          <a:schemeClr val="tx1"/>
                        </a:solidFill>
                        <a:effectLst/>
                        <a:highlight>
                          <a:srgbClr val="FFFF00"/>
                        </a:highligh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i="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Confidential</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41</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421142941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247445034"/>
              </p:ext>
            </p:extLst>
          </p:nvPr>
        </p:nvGraphicFramePr>
        <p:xfrm>
          <a:off x="517290" y="745905"/>
          <a:ext cx="11161565" cy="5777567"/>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Workshops for Formulating Strategy for Climate Adaptation</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Denmark</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1916285">
                <a:tc>
                  <a:txBody>
                    <a:bodyPr/>
                    <a:lstStyle/>
                    <a:p>
                      <a:pPr marL="128016" marR="0" lvl="0" indent="0" algn="just" defTabSz="914400" rtl="0" eaLnBrk="1" fontAlgn="auto" latinLnBrk="0" hangingPunct="1">
                        <a:lnSpc>
                          <a:spcPct val="115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128016" marR="0" lvl="0" indent="0" algn="just"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mn-lt"/>
                          <a:ea typeface="+mn-ea"/>
                          <a:cs typeface="+mn-cs"/>
                        </a:rPr>
                        <a:t>The Central Jutland Region owns and operates a program, </a:t>
                      </a:r>
                      <a:r>
                        <a:rPr kumimoji="0" lang="en-US" sz="900" b="1" i="0" u="none" strike="noStrike" kern="1200" cap="none" spc="0" normalizeH="0" baseline="0" noProof="0">
                          <a:ln>
                            <a:noFill/>
                          </a:ln>
                          <a:solidFill>
                            <a:prstClr val="black"/>
                          </a:solidFill>
                          <a:effectLst/>
                          <a:uLnTx/>
                          <a:uFillTx/>
                          <a:latin typeface="+mn-lt"/>
                          <a:ea typeface="+mn-ea"/>
                          <a:cs typeface="+mn-cs"/>
                        </a:rPr>
                        <a:t>Coast to Coast Climate Challenge (C2CCC)</a:t>
                      </a:r>
                      <a:r>
                        <a:rPr kumimoji="0" lang="en-US" sz="900" b="0" i="0" u="none" strike="noStrike" kern="1200" cap="none" spc="0" normalizeH="0" baseline="0" noProof="0">
                          <a:ln>
                            <a:noFill/>
                          </a:ln>
                          <a:solidFill>
                            <a:prstClr val="black"/>
                          </a:solidFill>
                          <a:effectLst/>
                          <a:uLnTx/>
                          <a:uFillTx/>
                          <a:latin typeface="+mn-lt"/>
                          <a:ea typeface="+mn-ea"/>
                          <a:cs typeface="+mn-cs"/>
                        </a:rPr>
                        <a:t>, where the region, in collaboration with 30 partners, works to create a climate-robust region by jointly:</a:t>
                      </a:r>
                    </a:p>
                    <a:p>
                      <a:pPr marL="36576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n-lt"/>
                          <a:ea typeface="+mn-ea"/>
                          <a:cs typeface="+mn-cs"/>
                        </a:rPr>
                        <a:t>Formulating a common long-term strategy among the local players</a:t>
                      </a:r>
                    </a:p>
                    <a:p>
                      <a:pPr marL="36576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n-lt"/>
                          <a:ea typeface="+mn-ea"/>
                          <a:cs typeface="+mn-cs"/>
                        </a:rPr>
                        <a:t>Implementing the municipal climate adaptation plans in a targeted manner and coordinating the necessary analyzes and activities</a:t>
                      </a:r>
                    </a:p>
                    <a:p>
                      <a:pPr marL="36576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mn-lt"/>
                          <a:ea typeface="+mn-ea"/>
                          <a:cs typeface="+mn-cs"/>
                        </a:rPr>
                        <a:t>Identifying and improving resources and capabilities among citizens, municipalities, utilities and companies in the water industry</a:t>
                      </a:r>
                    </a:p>
                    <a:p>
                      <a:pPr marL="365760" marR="0" lvl="0" indent="0" algn="just"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mn-lt"/>
                          <a:ea typeface="+mn-ea"/>
                          <a:cs typeface="+mn-cs"/>
                        </a:rPr>
                        <a:t>Deloitte supported this by developing and </a:t>
                      </a:r>
                      <a:r>
                        <a:rPr kumimoji="0" lang="en-US" sz="900" b="1" i="0" u="none" strike="noStrike" kern="1200" cap="none" spc="0" normalizeH="0" baseline="0" noProof="0">
                          <a:ln>
                            <a:noFill/>
                          </a:ln>
                          <a:solidFill>
                            <a:prstClr val="black"/>
                          </a:solidFill>
                          <a:effectLst/>
                          <a:uLnTx/>
                          <a:uFillTx/>
                          <a:latin typeface="+mn-lt"/>
                          <a:ea typeface="+mn-ea"/>
                          <a:cs typeface="+mn-cs"/>
                        </a:rPr>
                        <a:t>facilitating two full-day workshops</a:t>
                      </a:r>
                      <a:r>
                        <a:rPr kumimoji="0" lang="en-US" sz="900" b="0" i="0" u="none" strike="noStrike" kern="1200" cap="none" spc="0" normalizeH="0" baseline="0" noProof="0">
                          <a:ln>
                            <a:noFill/>
                          </a:ln>
                          <a:solidFill>
                            <a:prstClr val="black"/>
                          </a:solidFill>
                          <a:effectLst/>
                          <a:uLnTx/>
                          <a:uFillTx/>
                          <a:latin typeface="+mn-lt"/>
                          <a:ea typeface="+mn-ea"/>
                          <a:cs typeface="+mn-cs"/>
                        </a:rPr>
                        <a:t>. The purpose of the workshops was to inspire the secretariat with ideas for activities, courses and content in the upcoming strategy process</a:t>
                      </a:r>
                    </a:p>
                    <a:p>
                      <a:pPr marL="128016" marR="0" lvl="0" indent="0" algn="just"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mn-lt"/>
                        <a:ea typeface="+mn-ea"/>
                        <a:cs typeface="+mn-cs"/>
                      </a:endParaRPr>
                    </a:p>
                    <a:p>
                      <a:pPr marL="128016" marR="0" lvl="0" indent="0" algn="just" defTabSz="914400" rtl="0" eaLnBrk="1" fontAlgn="auto" latinLnBrk="0" hangingPunct="1">
                        <a:lnSpc>
                          <a:spcPct val="115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128016" marR="0" lvl="0" indent="0" algn="just" defTabSz="914400" rtl="0" eaLnBrk="1" fontAlgn="auto" latinLnBrk="0" hangingPunct="1">
                        <a:lnSpc>
                          <a:spcPct val="115000"/>
                        </a:lnSpc>
                        <a:spcBef>
                          <a:spcPts val="30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purpose of the two full-day workshops conducted was to inspire the secretariat with ideas for activities,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courses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and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training content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 the upcoming strategy process.</a:t>
                      </a:r>
                    </a:p>
                    <a:p>
                      <a:pPr marL="365760" marR="0" lvl="0" indent="-171450" algn="just" defTabSz="914400" rtl="0" eaLnBrk="1" fontAlgn="auto" latinLnBrk="0" hangingPunct="1">
                        <a:lnSpc>
                          <a:spcPct val="115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Workshop 1 was focused on:</a:t>
                      </a:r>
                    </a:p>
                    <a:p>
                      <a:pPr marL="682625" marR="0" lvl="0" indent="-171450" algn="just" defTabSz="914400" rtl="0" eaLnBrk="1" fontAlgn="auto" latinLnBrk="0" hangingPunct="1">
                        <a:lnSpc>
                          <a:spcPct val="115000"/>
                        </a:lnSpc>
                        <a:spcBef>
                          <a:spcPts val="30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Identification of goals in relation to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climate adaptation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efforts with specific focus on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green buildings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and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resilient urban infrastructure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design in areas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roads, transport, hospitals, water supply, waste management, </a:t>
                      </a:r>
                      <a:r>
                        <a:rPr kumimoji="0" lang="en-US" sz="900" b="1" i="0" u="none" strike="noStrike" kern="1200" cap="none" spc="0" normalizeH="0" baseline="0" noProof="0" err="1">
                          <a:ln>
                            <a:noFill/>
                          </a:ln>
                          <a:solidFill>
                            <a:prstClr val="black"/>
                          </a:solidFill>
                          <a:effectLst/>
                          <a:uLnTx/>
                          <a:uFillTx/>
                          <a:latin typeface="Verdana" panose="020B0604030504040204" pitchFamily="34" charset="0"/>
                          <a:ea typeface="Verdana" panose="020B0604030504040204" pitchFamily="34" charset="0"/>
                          <a:cs typeface="+mn-cs"/>
                        </a:rPr>
                        <a:t>etc</a:t>
                      </a:r>
                      <a:r>
                        <a:rPr lang="en-US" sz="900" b="1">
                          <a:solidFill>
                            <a:prstClr val="black"/>
                          </a:solidFill>
                          <a:latin typeface="Verdana" panose="020B0604030504040204" pitchFamily="34" charset="0"/>
                          <a:ea typeface="Verdana" panose="020B0604030504040204" pitchFamily="34" charset="0"/>
                        </a:rPr>
                        <a:t>. </a:t>
                      </a: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682625" marR="0" lvl="0" indent="-171450" algn="just" defTabSz="914400" rtl="0" eaLnBrk="1" fontAlgn="auto" latinLnBrk="0" hangingPunct="1">
                        <a:lnSpc>
                          <a:spcPct val="115000"/>
                        </a:lnSpc>
                        <a:spcBef>
                          <a:spcPts val="30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Alignment of aspirations</a:t>
                      </a:r>
                    </a:p>
                    <a:p>
                      <a:pPr marL="682625" marR="0" lvl="0" indent="-171450" algn="just" defTabSz="914400" rtl="0" eaLnBrk="1" fontAlgn="auto" latinLnBrk="0" hangingPunct="1">
                        <a:lnSpc>
                          <a:spcPct val="115000"/>
                        </a:lnSpc>
                        <a:spcBef>
                          <a:spcPts val="300"/>
                        </a:spcBef>
                        <a:spcAft>
                          <a:spcPts val="0"/>
                        </a:spcAft>
                        <a:buClrTx/>
                        <a:buSzTx/>
                        <a:buFont typeface="Courier New" panose="02070309020205020404" pitchFamily="49" charset="0"/>
                        <a:buChar char="o"/>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Identification of focus areas and investment needs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and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discussion on how to choose the most relevant value adding focus areas through prioritization criteria</a:t>
                      </a:r>
                    </a:p>
                    <a:p>
                      <a:pPr marL="365760" marR="0" lvl="0" indent="-171450" algn="just" defTabSz="914400" rtl="0" eaLnBrk="1" fontAlgn="auto" latinLnBrk="0" hangingPunct="1">
                        <a:lnSpc>
                          <a:spcPct val="115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Workshop 2 was focused on:</a:t>
                      </a:r>
                    </a:p>
                    <a:p>
                      <a:pPr marL="682625" marR="0" lvl="0" indent="-171450" algn="just" defTabSz="914400" rtl="0" eaLnBrk="1" fontAlgn="auto" latinLnBrk="0" hangingPunct="1">
                        <a:lnSpc>
                          <a:spcPct val="115000"/>
                        </a:lnSpc>
                        <a:spcBef>
                          <a:spcPts val="30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Revisiting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chosen strategic focus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areas and final adjustment</a:t>
                      </a:r>
                    </a:p>
                    <a:p>
                      <a:pPr marL="682625" marR="0" lvl="0" indent="-171450" algn="just" defTabSz="914400" rtl="0" eaLnBrk="1" fontAlgn="auto" latinLnBrk="0" hangingPunct="1">
                        <a:lnSpc>
                          <a:spcPct val="115000"/>
                        </a:lnSpc>
                        <a:spcBef>
                          <a:spcPts val="30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Identification of actions necessary to succeed in each strategic focus area</a:t>
                      </a:r>
                    </a:p>
                    <a:p>
                      <a:pPr marL="682625" marR="0" lvl="0" indent="-171450" algn="just" defTabSz="914400" rtl="0" eaLnBrk="1" fontAlgn="auto" latinLnBrk="0" hangingPunct="1">
                        <a:lnSpc>
                          <a:spcPct val="115000"/>
                        </a:lnSpc>
                        <a:spcBef>
                          <a:spcPts val="30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Identification of </a:t>
                      </a:r>
                      <a:r>
                        <a:rPr lang="en-US" sz="900" b="1">
                          <a:solidFill>
                            <a:prstClr val="black"/>
                          </a:solidFill>
                          <a:latin typeface="Verdana" panose="020B0604030504040204" pitchFamily="34" charset="0"/>
                          <a:ea typeface="Verdana" panose="020B0604030504040204" pitchFamily="34" charset="0"/>
                        </a:rPr>
                        <a:t>gaps in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competencies, skills, knowledge resources, certifications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and management systems to ensure progress and realization of the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climate adaptation strategy</a:t>
                      </a:r>
                    </a:p>
                    <a:p>
                      <a:pPr marL="365760" marR="0" lvl="0" indent="-171450" algn="just" defTabSz="914400" rtl="0" eaLnBrk="1" fontAlgn="auto" latinLnBrk="0" hangingPunct="1">
                        <a:lnSpc>
                          <a:spcPct val="115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Through these workshops Deloitte was able to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develop Roadmap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for a strategy process that can be run with the partnership and developed a preliminary and overall sketch of a strategy based on the roadmap. Deloitte also implemented a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capacity building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and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institutional strengthening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program to ensure seamless implementation of the strategy.</a:t>
                      </a:r>
                    </a:p>
                  </a:txBody>
                  <a:tcPr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Denmark</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September</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2019;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endParaRPr lang="es-MX" sz="900" b="1">
                        <a:solidFill>
                          <a:schemeClr val="tx1"/>
                        </a:solidFill>
                        <a:effectLst/>
                        <a:highlight>
                          <a:srgbClr val="FFFF00"/>
                        </a:highligh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i="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Confidential</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42</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396478335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3594498595"/>
              </p:ext>
            </p:extLst>
          </p:nvPr>
        </p:nvGraphicFramePr>
        <p:xfrm>
          <a:off x="517290" y="745905"/>
          <a:ext cx="11161565" cy="4439495"/>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Development of National and Local Disaster Management Plans</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Prime Ministry Disaster and Emergency Management Presidency (AFAD), Turkey</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1916285">
                <a:tc>
                  <a:txBody>
                    <a:bodyPr/>
                    <a:lstStyle/>
                    <a:p>
                      <a:pPr marL="128016" marR="0" lvl="0" indent="0" algn="just" defTabSz="914400" rtl="0" eaLnBrk="1" fontAlgn="auto" latinLnBrk="0" hangingPunct="1">
                        <a:lnSpc>
                          <a:spcPct val="115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128016"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Throughout the Project, a team of 5 experts from Deloitte worked with the representatives from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Turkish Disaster Response Plans Working Group</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Support was provided to AFAD in developing the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national and local disaster response plans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through a participatory approach in close coordination and collaboration among relevant stakeholders including ministries, related departments of AFAD, public agencies and NGO’s.</a:t>
                      </a:r>
                    </a:p>
                    <a:p>
                      <a:pPr marL="128016" marR="0" lvl="0" indent="0" algn="just" defTabSz="914400" rtl="0" eaLnBrk="1" fontAlgn="auto" latinLnBrk="0" hangingPunct="1">
                        <a:lnSpc>
                          <a:spcPct val="115000"/>
                        </a:lnSpc>
                        <a:spcBef>
                          <a:spcPts val="0"/>
                        </a:spcBef>
                        <a:spcAft>
                          <a:spcPts val="0"/>
                        </a:spcAft>
                        <a:buClrTx/>
                        <a:buSzTx/>
                        <a:buFontTx/>
                        <a:buNone/>
                        <a:tabLst/>
                        <a:defRPr/>
                      </a:pPr>
                      <a:endPar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a:p>
                      <a:pPr marL="128016" marR="0" lvl="0" indent="0" algn="just" defTabSz="914400" rtl="0" eaLnBrk="1" fontAlgn="auto" latinLnBrk="0" hangingPunct="1">
                        <a:lnSpc>
                          <a:spcPct val="115000"/>
                        </a:lnSpc>
                        <a:spcBef>
                          <a:spcPts val="600"/>
                        </a:spcBef>
                        <a:spcAft>
                          <a:spcPts val="6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activities executed by the Team were:</a:t>
                      </a:r>
                    </a:p>
                    <a:p>
                      <a:pPr marL="365760" marR="0" lvl="0" indent="-171450" algn="just" defTabSz="914400" rtl="0" eaLnBrk="1" fontAlgn="auto" latinLnBrk="0" hangingPunct="1">
                        <a:lnSpc>
                          <a:spcPct val="114000"/>
                        </a:lnSpc>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Finalization of national level service group plans through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study of policies, laws, etc.</a:t>
                      </a:r>
                    </a:p>
                    <a:p>
                      <a:pPr marL="365760" marR="0" lvl="0" indent="-171450" algn="just" defTabSz="914400" rtl="0" eaLnBrk="1" fontAlgn="auto" latinLnBrk="0" hangingPunct="1">
                        <a:lnSpc>
                          <a:spcPct val="114000"/>
                        </a:lnSpc>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Development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business processes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regarding national and local level service group plans</a:t>
                      </a:r>
                    </a:p>
                    <a:p>
                      <a:pPr marL="365760" marR="0" lvl="0" indent="-171450" algn="just" defTabSz="914400" rtl="0" eaLnBrk="1" fontAlgn="auto" latinLnBrk="0" hangingPunct="1">
                        <a:lnSpc>
                          <a:spcPct val="114000"/>
                        </a:lnSpc>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Finalization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local disaster response plans</a:t>
                      </a:r>
                    </a:p>
                    <a:p>
                      <a:pPr marL="365760" marR="0" lvl="0" indent="-171450" algn="just" defTabSz="914400" rtl="0" eaLnBrk="1" fontAlgn="auto" latinLnBrk="0" hangingPunct="1">
                        <a:lnSpc>
                          <a:spcPct val="114000"/>
                        </a:lnSpc>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Preparation of local operational level service group plans</a:t>
                      </a:r>
                    </a:p>
                    <a:p>
                      <a:pPr marL="365760" marR="0" lvl="0" indent="-171450" algn="just" defTabSz="914400" rtl="0" eaLnBrk="1" fontAlgn="auto" latinLnBrk="0" hangingPunct="1">
                        <a:lnSpc>
                          <a:spcPct val="114000"/>
                        </a:lnSpc>
                        <a:buClrTx/>
                        <a:buSzTx/>
                        <a:buFont typeface="Arial" panose="020B0604020202020204" pitchFamily="34" charset="0"/>
                        <a:buChar char="•"/>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Preparation of standard operating procedures and terms of reference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for each team of the service groups</a:t>
                      </a:r>
                    </a:p>
                    <a:p>
                      <a:pPr marL="365760" marR="0" lvl="0" indent="-171450" algn="just" defTabSz="914400" rtl="0" eaLnBrk="1" fontAlgn="auto" latinLnBrk="0" hangingPunct="1">
                        <a:lnSpc>
                          <a:spcPct val="114000"/>
                        </a:lnSpc>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Development of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monitoring and approval mechanism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for the plans</a:t>
                      </a:r>
                    </a:p>
                    <a:p>
                      <a:pPr marL="365760" marR="0" lvl="0" indent="-171450" algn="just" defTabSz="914400" rtl="0" eaLnBrk="1" fontAlgn="auto" latinLnBrk="0" hangingPunct="1">
                        <a:lnSpc>
                          <a:spcPct val="114000"/>
                        </a:lnSpc>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Providing support for organization and moderation of table-top exercise in local and national level</a:t>
                      </a:r>
                    </a:p>
                    <a:p>
                      <a:pPr marL="365760" marR="0" lvl="0" indent="-171450" algn="just" defTabSz="914400" rtl="0" eaLnBrk="1" fontAlgn="auto" latinLnBrk="0" hangingPunct="1">
                        <a:lnSpc>
                          <a:spcPct val="114000"/>
                        </a:lnSpc>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For the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monitoring and sustainability of the plans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 a detailed checklist was prepared for both national and local plans utilizing the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international best practices</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a:t>
                      </a:r>
                    </a:p>
                    <a:p>
                      <a:pPr marL="365760" marR="0" lvl="0" indent="-171450" algn="just" defTabSz="914400" rtl="0" eaLnBrk="1" fontAlgn="auto" latinLnBrk="0" hangingPunct="1">
                        <a:lnSpc>
                          <a:spcPct val="114000"/>
                        </a:lnSpc>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 addition, several focus group meetings, workshops and trainings were performed with the participation of the stakeholders and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community representatives</a:t>
                      </a:r>
                    </a:p>
                  </a:txBody>
                  <a:tcPr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Turkey</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February</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2020;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September</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2020</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i="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Confidential</a:t>
                      </a:r>
                      <a:endParaRPr lang="es-MX" sz="900" b="0" i="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43</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96009499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2D2E16-FA7B-44EB-BF35-4E172327BDC6}"/>
              </a:ext>
            </a:extLst>
          </p:cNvPr>
          <p:cNvGraphicFramePr>
            <a:graphicFrameLocks noGrp="1"/>
          </p:cNvGraphicFramePr>
          <p:nvPr>
            <p:extLst>
              <p:ext uri="{D42A27DB-BD31-4B8C-83A1-F6EECF244321}">
                <p14:modId xmlns:p14="http://schemas.microsoft.com/office/powerpoint/2010/main" val="2872880316"/>
              </p:ext>
            </p:extLst>
          </p:nvPr>
        </p:nvGraphicFramePr>
        <p:xfrm>
          <a:off x="517290" y="745905"/>
          <a:ext cx="11161565" cy="3628918"/>
        </p:xfrm>
        <a:graphic>
          <a:graphicData uri="http://schemas.openxmlformats.org/drawingml/2006/table">
            <a:tbl>
              <a:tblPr firstRow="1" firstCol="1" bandRow="1"/>
              <a:tblGrid>
                <a:gridCol w="11161565">
                  <a:extLst>
                    <a:ext uri="{9D8B030D-6E8A-4147-A177-3AD203B41FA5}">
                      <a16:colId xmlns:a16="http://schemas.microsoft.com/office/drawing/2014/main" val="2691671251"/>
                    </a:ext>
                  </a:extLst>
                </a:gridCol>
              </a:tblGrid>
              <a:tr h="509273">
                <a:tc>
                  <a:txBody>
                    <a:bodyPr/>
                    <a:lstStyle/>
                    <a:p>
                      <a:pPr marL="71755">
                        <a:lnSpc>
                          <a:spcPts val="1200"/>
                        </a:lnSpc>
                        <a:spcAft>
                          <a:spcPts val="0"/>
                        </a:spcAft>
                      </a:pPr>
                      <a:r>
                        <a:rPr lang="en-US" sz="1200" b="1">
                          <a:solidFill>
                            <a:schemeClr val="bg1"/>
                          </a:solidFill>
                          <a:effectLst/>
                          <a:latin typeface="Verdana" panose="020B0604030504040204" pitchFamily="34" charset="0"/>
                          <a:ea typeface="+mn-ea"/>
                          <a:cs typeface="Times New Roman" panose="02020603050405020304" pitchFamily="18" charset="0"/>
                        </a:rPr>
                        <a:t>Development of Climate Change Adaptation Plans in 44 Biggest Polish Cities</a:t>
                      </a:r>
                    </a:p>
                    <a:p>
                      <a:pPr marL="71755">
                        <a:lnSpc>
                          <a:spcPts val="1200"/>
                        </a:lnSpc>
                        <a:spcAft>
                          <a:spcPts val="0"/>
                        </a:spcAft>
                      </a:pPr>
                      <a:r>
                        <a:rPr lang="en-US" sz="1000" b="0">
                          <a:solidFill>
                            <a:schemeClr val="bg1"/>
                          </a:solidFill>
                          <a:effectLst/>
                          <a:latin typeface="Verdana" panose="020B0604030504040204" pitchFamily="34" charset="0"/>
                          <a:ea typeface="+mn-ea"/>
                          <a:cs typeface="Times New Roman" panose="02020603050405020304" pitchFamily="18" charset="0"/>
                        </a:rPr>
                        <a:t>Client: Poland</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4267983410"/>
                  </a:ext>
                </a:extLst>
              </a:tr>
              <a:tr h="1916285">
                <a:tc>
                  <a:txBody>
                    <a:bodyPr/>
                    <a:lstStyle/>
                    <a:p>
                      <a:pPr marL="128016" marR="0" lvl="0" indent="0" algn="just" defTabSz="914400" rtl="0" eaLnBrk="1" fontAlgn="auto" latinLnBrk="0" hangingPunct="1">
                        <a:lnSpc>
                          <a:spcPct val="115000"/>
                        </a:lnSpc>
                        <a:spcBef>
                          <a:spcPts val="400"/>
                        </a:spcBef>
                        <a:spcAft>
                          <a:spcPts val="400"/>
                        </a:spcAft>
                        <a:buClrTx/>
                        <a:buSzTx/>
                        <a:buFontTx/>
                        <a:buNone/>
                        <a:tabLst/>
                        <a:defRPr/>
                      </a:pP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Description of Key Activities:</a:t>
                      </a:r>
                    </a:p>
                    <a:p>
                      <a:pPr marL="128016" marR="0" lvl="0" indent="0" algn="just" defTabSz="914400" rtl="0" eaLnBrk="1" fontAlgn="auto" latinLnBrk="0" hangingPunct="1">
                        <a:lnSpc>
                          <a:spcPct val="115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Forty-four (44) biggest Polish cities, in cooperation with the Ministry of Environment, participated in the project aimed at adapting them to the observed and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prognosed climate changes</a:t>
                      </a:r>
                    </a:p>
                    <a:p>
                      <a:pPr marL="365760" marR="0" lvl="0" indent="-1714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For all those cities </a:t>
                      </a:r>
                      <a:r>
                        <a:rPr kumimoji="0" lang="en-US" sz="9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climate change adaptation plans </a:t>
                      </a: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were created. Project in its scale was the biggest in Europe</a:t>
                      </a:r>
                    </a:p>
                    <a:p>
                      <a:pPr marL="365760" marR="0" lvl="0" indent="-1714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The role of Deloitte was to:</a:t>
                      </a:r>
                    </a:p>
                    <a:p>
                      <a:pPr marL="515938" marR="0" lvl="0" indent="-171450" algn="just"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Organize workshops in 44 cities (132 workshops in total)</a:t>
                      </a:r>
                    </a:p>
                    <a:p>
                      <a:pPr marL="515938" marR="0" lvl="0" indent="-171450" algn="just"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Organize main conferences</a:t>
                      </a:r>
                    </a:p>
                    <a:p>
                      <a:pPr marL="515938" marR="0" lvl="0" indent="-171450" algn="just"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Organize contest for students</a:t>
                      </a:r>
                    </a:p>
                    <a:p>
                      <a:pPr marL="515938" marR="0" lvl="0" indent="-171450" algn="just"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Develop e-learnings, videos, quiz, survey, publications, leaflets and other promotional material</a:t>
                      </a:r>
                    </a:p>
                  </a:txBody>
                  <a:tcPr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2635515"/>
                  </a:ext>
                </a:extLst>
              </a:tr>
              <a:tr h="278658">
                <a:tc>
                  <a:txBody>
                    <a:bodyPr/>
                    <a:lstStyle/>
                    <a:p>
                      <a:pPr marL="96520">
                        <a:lnSpc>
                          <a:spcPts val="1200"/>
                        </a:lnSpc>
                        <a:spcAft>
                          <a:spcPts val="0"/>
                        </a:spcAft>
                      </a:pPr>
                      <a:r>
                        <a:rPr lang="en-US"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Country: </a:t>
                      </a:r>
                      <a:r>
                        <a:rPr lang="en-US"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Poland</a:t>
                      </a:r>
                      <a:endPar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3582100"/>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Start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 </a:t>
                      </a:r>
                      <a:r>
                        <a:rPr lang="es-MX" sz="900" b="0"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Dec</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2016;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End</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Date: -</a:t>
                      </a:r>
                      <a:endParaRPr lang="es-MX" sz="900" b="1">
                        <a:solidFill>
                          <a:schemeClr val="tx1"/>
                        </a:solidFill>
                        <a:effectLst/>
                        <a:highlight>
                          <a:srgbClr val="FFFF00"/>
                        </a:highligh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530481"/>
                  </a:ext>
                </a:extLst>
              </a:tr>
              <a:tr h="278658">
                <a:tc>
                  <a:txBody>
                    <a:bodyPr/>
                    <a:lstStyle/>
                    <a:p>
                      <a:pPr marL="96520">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Contract</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 </a:t>
                      </a:r>
                      <a:r>
                        <a:rPr lang="es-MX" sz="900" b="0" i="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Confidential</a:t>
                      </a:r>
                      <a:endPar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8518588"/>
                  </a:ext>
                </a:extLst>
              </a:tr>
              <a:tr h="278658">
                <a:tc>
                  <a:txBody>
                    <a:bodyPr/>
                    <a:lstStyle/>
                    <a:p>
                      <a:pPr marL="96520" algn="l">
                        <a:lnSpc>
                          <a:spcPts val="1200"/>
                        </a:lnSpc>
                        <a:spcAft>
                          <a:spcPts val="0"/>
                        </a:spcAft>
                      </a:pP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Service</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1" err="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Provider</a:t>
                      </a:r>
                      <a:r>
                        <a:rPr lang="es-MX" sz="900" b="1">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s-MX" sz="900" b="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DTTILLP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116605"/>
                  </a:ext>
                </a:extLst>
              </a:tr>
            </a:tbl>
          </a:graphicData>
        </a:graphic>
      </p:graphicFrame>
      <p:cxnSp>
        <p:nvCxnSpPr>
          <p:cNvPr id="7" name="Straight Arrow Connector 6">
            <a:extLst>
              <a:ext uri="{FF2B5EF4-FFF2-40B4-BE49-F238E27FC236}">
                <a16:creationId xmlns:a16="http://schemas.microsoft.com/office/drawing/2014/main" id="{7D7EC709-FCCA-CB7F-A73F-2109667F53A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DC4D1DC-CBB7-9B6E-21BB-985BC5C6AA07}"/>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Relevant Experience</a:t>
            </a:r>
          </a:p>
        </p:txBody>
      </p:sp>
      <p:sp>
        <p:nvSpPr>
          <p:cNvPr id="3" name="Oval 2">
            <a:extLst>
              <a:ext uri="{FF2B5EF4-FFF2-40B4-BE49-F238E27FC236}">
                <a16:creationId xmlns:a16="http://schemas.microsoft.com/office/drawing/2014/main" id="{0E89804F-B1BA-5B4B-FFC7-6DD31A9BA24B}"/>
              </a:ext>
            </a:extLst>
          </p:cNvPr>
          <p:cNvSpPr>
            <a:spLocks noChangeAspect="1"/>
          </p:cNvSpPr>
          <p:nvPr/>
        </p:nvSpPr>
        <p:spPr bwMode="gray">
          <a:xfrm>
            <a:off x="57875" y="761617"/>
            <a:ext cx="461310" cy="457200"/>
          </a:xfrm>
          <a:prstGeom prst="ellipse">
            <a:avLst/>
          </a:prstGeom>
          <a:solidFill>
            <a:schemeClr val="tx1"/>
          </a:solidFill>
          <a:ln w="19050" algn="ctr">
            <a:no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Verdana"/>
                <a:ea typeface="+mn-ea"/>
                <a:cs typeface="+mn-cs"/>
              </a:rPr>
              <a:t>44</a:t>
            </a:r>
            <a:endParaRPr kumimoji="0" lang="en-IN" sz="900" b="1" i="0" u="none" strike="noStrike" kern="120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341207252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7" name="Object 6"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Chronicle Display Black" pitchFamily="50" charset="0"/>
              <a:ea typeface="+mn-ea"/>
              <a:cs typeface="+mn-cs"/>
              <a:sym typeface="Chronicle Display Black" pitchFamily="50" charset="0"/>
            </a:endParaRPr>
          </a:p>
        </p:txBody>
      </p:sp>
      <p:pic>
        <p:nvPicPr>
          <p:cNvPr id="33" name="Picture 32"/>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bwMode="gray">
          <a:xfrm>
            <a:off x="0" y="0"/>
            <a:ext cx="12192000" cy="6858000"/>
          </a:xfrm>
          <a:prstGeom prst="rect">
            <a:avLst/>
          </a:prstGeom>
        </p:spPr>
      </p:pic>
      <p:sp>
        <p:nvSpPr>
          <p:cNvPr id="34" name="Flowchart: Process 33"/>
          <p:cNvSpPr/>
          <p:nvPr/>
        </p:nvSpPr>
        <p:spPr bwMode="gray">
          <a:xfrm>
            <a:off x="1343139" y="1283297"/>
            <a:ext cx="9512456" cy="4332512"/>
          </a:xfrm>
          <a:prstGeom prst="flowChartProcess">
            <a:avLst/>
          </a:prstGeom>
          <a:solidFill>
            <a:schemeClr val="tx1">
              <a:alpha val="38000"/>
            </a:schemeClr>
          </a:solidFill>
          <a:ln w="19050" algn="ctr">
            <a:noFill/>
            <a:miter lim="800000"/>
            <a:headEnd/>
            <a:tailEnd/>
          </a:ln>
        </p:spPr>
        <p:txBody>
          <a:bodyPr wrap="square" lIns="1080000" tIns="88900" rIns="1080000" bIns="88900" rtlCol="0" anchor="ct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400" b="0" i="0" u="none" strike="noStrike" kern="1200" cap="none" spc="0" normalizeH="0" baseline="0" noProof="0">
                <a:ln>
                  <a:noFill/>
                </a:ln>
                <a:solidFill>
                  <a:srgbClr val="0097A9"/>
                </a:solidFill>
                <a:effectLst/>
                <a:uLnTx/>
                <a:uFillTx/>
                <a:latin typeface="Verdana" panose="020B0604030504040204" pitchFamily="34" charset="0"/>
                <a:ea typeface="Verdana" panose="020B0604030504040204" pitchFamily="34" charset="0"/>
                <a:cs typeface="Calibri" panose="020F0502020204030204" pitchFamily="34" charset="0"/>
              </a:rPr>
              <a:t>Letter of Association</a:t>
            </a:r>
          </a:p>
        </p:txBody>
      </p:sp>
      <p:grpSp>
        <p:nvGrpSpPr>
          <p:cNvPr id="35" name="Group 541"/>
          <p:cNvGrpSpPr>
            <a:grpSpLocks noChangeAspect="1"/>
          </p:cNvGrpSpPr>
          <p:nvPr/>
        </p:nvGrpSpPr>
        <p:grpSpPr bwMode="gray">
          <a:xfrm>
            <a:off x="2043454" y="743296"/>
            <a:ext cx="1080000" cy="1080000"/>
            <a:chOff x="5326" y="2494"/>
            <a:chExt cx="340" cy="340"/>
          </a:xfrm>
          <a:solidFill>
            <a:srgbClr val="0097A9"/>
          </a:solidFill>
        </p:grpSpPr>
        <p:sp>
          <p:nvSpPr>
            <p:cNvPr id="36" name="Freeform 542"/>
            <p:cNvSpPr>
              <a:spLocks noEditPoints="1"/>
            </p:cNvSpPr>
            <p:nvPr/>
          </p:nvSpPr>
          <p:spPr bwMode="gray">
            <a:xfrm>
              <a:off x="5430" y="2558"/>
              <a:ext cx="132" cy="212"/>
            </a:xfrm>
            <a:custGeom>
              <a:avLst/>
              <a:gdLst>
                <a:gd name="T0" fmla="*/ 99 w 199"/>
                <a:gd name="T1" fmla="*/ 0 h 320"/>
                <a:gd name="T2" fmla="*/ 99 w 199"/>
                <a:gd name="T3" fmla="*/ 0 h 320"/>
                <a:gd name="T4" fmla="*/ 99 w 199"/>
                <a:gd name="T5" fmla="*/ 0 h 320"/>
                <a:gd name="T6" fmla="*/ 99 w 199"/>
                <a:gd name="T7" fmla="*/ 0 h 320"/>
                <a:gd name="T8" fmla="*/ 98 w 199"/>
                <a:gd name="T9" fmla="*/ 0 h 320"/>
                <a:gd name="T10" fmla="*/ 0 w 199"/>
                <a:gd name="T11" fmla="*/ 95 h 320"/>
                <a:gd name="T12" fmla="*/ 19 w 199"/>
                <a:gd name="T13" fmla="*/ 158 h 320"/>
                <a:gd name="T14" fmla="*/ 45 w 199"/>
                <a:gd name="T15" fmla="*/ 213 h 320"/>
                <a:gd name="T16" fmla="*/ 45 w 199"/>
                <a:gd name="T17" fmla="*/ 245 h 320"/>
                <a:gd name="T18" fmla="*/ 46 w 199"/>
                <a:gd name="T19" fmla="*/ 246 h 320"/>
                <a:gd name="T20" fmla="*/ 45 w 199"/>
                <a:gd name="T21" fmla="*/ 247 h 320"/>
                <a:gd name="T22" fmla="*/ 56 w 199"/>
                <a:gd name="T23" fmla="*/ 311 h 320"/>
                <a:gd name="T24" fmla="*/ 67 w 199"/>
                <a:gd name="T25" fmla="*/ 320 h 320"/>
                <a:gd name="T26" fmla="*/ 131 w 199"/>
                <a:gd name="T27" fmla="*/ 320 h 320"/>
                <a:gd name="T28" fmla="*/ 141 w 199"/>
                <a:gd name="T29" fmla="*/ 311 h 320"/>
                <a:gd name="T30" fmla="*/ 152 w 199"/>
                <a:gd name="T31" fmla="*/ 247 h 320"/>
                <a:gd name="T32" fmla="*/ 152 w 199"/>
                <a:gd name="T33" fmla="*/ 246 h 320"/>
                <a:gd name="T34" fmla="*/ 152 w 199"/>
                <a:gd name="T35" fmla="*/ 245 h 320"/>
                <a:gd name="T36" fmla="*/ 152 w 199"/>
                <a:gd name="T37" fmla="*/ 213 h 320"/>
                <a:gd name="T38" fmla="*/ 179 w 199"/>
                <a:gd name="T39" fmla="*/ 158 h 320"/>
                <a:gd name="T40" fmla="*/ 199 w 199"/>
                <a:gd name="T41" fmla="*/ 95 h 320"/>
                <a:gd name="T42" fmla="*/ 99 w 199"/>
                <a:gd name="T43" fmla="*/ 0 h 320"/>
                <a:gd name="T44" fmla="*/ 122 w 199"/>
                <a:gd name="T45" fmla="*/ 298 h 320"/>
                <a:gd name="T46" fmla="*/ 76 w 199"/>
                <a:gd name="T47" fmla="*/ 298 h 320"/>
                <a:gd name="T48" fmla="*/ 69 w 199"/>
                <a:gd name="T49" fmla="*/ 256 h 320"/>
                <a:gd name="T50" fmla="*/ 129 w 199"/>
                <a:gd name="T51" fmla="*/ 256 h 320"/>
                <a:gd name="T52" fmla="*/ 122 w 199"/>
                <a:gd name="T53" fmla="*/ 298 h 320"/>
                <a:gd name="T54" fmla="*/ 161 w 199"/>
                <a:gd name="T55" fmla="*/ 147 h 320"/>
                <a:gd name="T56" fmla="*/ 131 w 199"/>
                <a:gd name="T57" fmla="*/ 213 h 320"/>
                <a:gd name="T58" fmla="*/ 131 w 199"/>
                <a:gd name="T59" fmla="*/ 234 h 320"/>
                <a:gd name="T60" fmla="*/ 109 w 199"/>
                <a:gd name="T61" fmla="*/ 234 h 320"/>
                <a:gd name="T62" fmla="*/ 109 w 199"/>
                <a:gd name="T63" fmla="*/ 153 h 320"/>
                <a:gd name="T64" fmla="*/ 128 w 199"/>
                <a:gd name="T65" fmla="*/ 135 h 320"/>
                <a:gd name="T66" fmla="*/ 128 w 199"/>
                <a:gd name="T67" fmla="*/ 120 h 320"/>
                <a:gd name="T68" fmla="*/ 112 w 199"/>
                <a:gd name="T69" fmla="*/ 120 h 320"/>
                <a:gd name="T70" fmla="*/ 99 w 199"/>
                <a:gd name="T71" fmla="*/ 134 h 320"/>
                <a:gd name="T72" fmla="*/ 85 w 199"/>
                <a:gd name="T73" fmla="*/ 120 h 320"/>
                <a:gd name="T74" fmla="*/ 70 w 199"/>
                <a:gd name="T75" fmla="*/ 120 h 320"/>
                <a:gd name="T76" fmla="*/ 70 w 199"/>
                <a:gd name="T77" fmla="*/ 135 h 320"/>
                <a:gd name="T78" fmla="*/ 88 w 199"/>
                <a:gd name="T79" fmla="*/ 153 h 320"/>
                <a:gd name="T80" fmla="*/ 88 w 199"/>
                <a:gd name="T81" fmla="*/ 234 h 320"/>
                <a:gd name="T82" fmla="*/ 67 w 199"/>
                <a:gd name="T83" fmla="*/ 234 h 320"/>
                <a:gd name="T84" fmla="*/ 67 w 199"/>
                <a:gd name="T85" fmla="*/ 213 h 320"/>
                <a:gd name="T86" fmla="*/ 37 w 199"/>
                <a:gd name="T87" fmla="*/ 146 h 320"/>
                <a:gd name="T88" fmla="*/ 21 w 199"/>
                <a:gd name="T89" fmla="*/ 95 h 320"/>
                <a:gd name="T90" fmla="*/ 99 w 199"/>
                <a:gd name="T91" fmla="*/ 21 h 320"/>
                <a:gd name="T92" fmla="*/ 177 w 199"/>
                <a:gd name="T93" fmla="*/ 95 h 320"/>
                <a:gd name="T94" fmla="*/ 161 w 199"/>
                <a:gd name="T95" fmla="*/ 147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320">
                  <a:moveTo>
                    <a:pt x="99" y="0"/>
                  </a:moveTo>
                  <a:cubicBezTo>
                    <a:pt x="99" y="0"/>
                    <a:pt x="99" y="0"/>
                    <a:pt x="99" y="0"/>
                  </a:cubicBezTo>
                  <a:cubicBezTo>
                    <a:pt x="99" y="0"/>
                    <a:pt x="99" y="0"/>
                    <a:pt x="99" y="0"/>
                  </a:cubicBezTo>
                  <a:cubicBezTo>
                    <a:pt x="99" y="0"/>
                    <a:pt x="99" y="0"/>
                    <a:pt x="99" y="0"/>
                  </a:cubicBezTo>
                  <a:cubicBezTo>
                    <a:pt x="99" y="0"/>
                    <a:pt x="99" y="0"/>
                    <a:pt x="98" y="0"/>
                  </a:cubicBezTo>
                  <a:cubicBezTo>
                    <a:pt x="45" y="0"/>
                    <a:pt x="0" y="44"/>
                    <a:pt x="0" y="95"/>
                  </a:cubicBezTo>
                  <a:cubicBezTo>
                    <a:pt x="0" y="129"/>
                    <a:pt x="18" y="157"/>
                    <a:pt x="19" y="158"/>
                  </a:cubicBezTo>
                  <a:cubicBezTo>
                    <a:pt x="32" y="179"/>
                    <a:pt x="45" y="206"/>
                    <a:pt x="45" y="213"/>
                  </a:cubicBezTo>
                  <a:cubicBezTo>
                    <a:pt x="45" y="245"/>
                    <a:pt x="45" y="245"/>
                    <a:pt x="45" y="245"/>
                  </a:cubicBezTo>
                  <a:cubicBezTo>
                    <a:pt x="45" y="245"/>
                    <a:pt x="45" y="246"/>
                    <a:pt x="46" y="246"/>
                  </a:cubicBezTo>
                  <a:cubicBezTo>
                    <a:pt x="46" y="246"/>
                    <a:pt x="45" y="246"/>
                    <a:pt x="45" y="247"/>
                  </a:cubicBezTo>
                  <a:cubicBezTo>
                    <a:pt x="56" y="311"/>
                    <a:pt x="56" y="311"/>
                    <a:pt x="56" y="311"/>
                  </a:cubicBezTo>
                  <a:cubicBezTo>
                    <a:pt x="57" y="316"/>
                    <a:pt x="61" y="320"/>
                    <a:pt x="67" y="320"/>
                  </a:cubicBezTo>
                  <a:cubicBezTo>
                    <a:pt x="131" y="320"/>
                    <a:pt x="131" y="320"/>
                    <a:pt x="131" y="320"/>
                  </a:cubicBezTo>
                  <a:cubicBezTo>
                    <a:pt x="136" y="320"/>
                    <a:pt x="140" y="316"/>
                    <a:pt x="141" y="311"/>
                  </a:cubicBezTo>
                  <a:cubicBezTo>
                    <a:pt x="152" y="247"/>
                    <a:pt x="152" y="247"/>
                    <a:pt x="152" y="247"/>
                  </a:cubicBezTo>
                  <a:cubicBezTo>
                    <a:pt x="152" y="246"/>
                    <a:pt x="152" y="246"/>
                    <a:pt x="152" y="246"/>
                  </a:cubicBezTo>
                  <a:cubicBezTo>
                    <a:pt x="152" y="246"/>
                    <a:pt x="152" y="245"/>
                    <a:pt x="152" y="245"/>
                  </a:cubicBezTo>
                  <a:cubicBezTo>
                    <a:pt x="152" y="213"/>
                    <a:pt x="152" y="213"/>
                    <a:pt x="152" y="213"/>
                  </a:cubicBezTo>
                  <a:cubicBezTo>
                    <a:pt x="152" y="206"/>
                    <a:pt x="166" y="179"/>
                    <a:pt x="179" y="158"/>
                  </a:cubicBezTo>
                  <a:cubicBezTo>
                    <a:pt x="180" y="157"/>
                    <a:pt x="199" y="129"/>
                    <a:pt x="199" y="95"/>
                  </a:cubicBezTo>
                  <a:cubicBezTo>
                    <a:pt x="199" y="44"/>
                    <a:pt x="153" y="0"/>
                    <a:pt x="99" y="0"/>
                  </a:cubicBezTo>
                  <a:close/>
                  <a:moveTo>
                    <a:pt x="122" y="298"/>
                  </a:moveTo>
                  <a:cubicBezTo>
                    <a:pt x="76" y="298"/>
                    <a:pt x="76" y="298"/>
                    <a:pt x="76" y="298"/>
                  </a:cubicBezTo>
                  <a:cubicBezTo>
                    <a:pt x="69" y="256"/>
                    <a:pt x="69" y="256"/>
                    <a:pt x="69" y="256"/>
                  </a:cubicBezTo>
                  <a:cubicBezTo>
                    <a:pt x="129" y="256"/>
                    <a:pt x="129" y="256"/>
                    <a:pt x="129" y="256"/>
                  </a:cubicBezTo>
                  <a:lnTo>
                    <a:pt x="122" y="298"/>
                  </a:lnTo>
                  <a:close/>
                  <a:moveTo>
                    <a:pt x="161" y="147"/>
                  </a:moveTo>
                  <a:cubicBezTo>
                    <a:pt x="154" y="158"/>
                    <a:pt x="131" y="196"/>
                    <a:pt x="131" y="213"/>
                  </a:cubicBezTo>
                  <a:cubicBezTo>
                    <a:pt x="131" y="234"/>
                    <a:pt x="131" y="234"/>
                    <a:pt x="131" y="234"/>
                  </a:cubicBezTo>
                  <a:cubicBezTo>
                    <a:pt x="109" y="234"/>
                    <a:pt x="109" y="234"/>
                    <a:pt x="109" y="234"/>
                  </a:cubicBezTo>
                  <a:cubicBezTo>
                    <a:pt x="109" y="153"/>
                    <a:pt x="109" y="153"/>
                    <a:pt x="109" y="153"/>
                  </a:cubicBezTo>
                  <a:cubicBezTo>
                    <a:pt x="128" y="135"/>
                    <a:pt x="128" y="135"/>
                    <a:pt x="128" y="135"/>
                  </a:cubicBezTo>
                  <a:cubicBezTo>
                    <a:pt x="132" y="131"/>
                    <a:pt x="132" y="124"/>
                    <a:pt x="128" y="120"/>
                  </a:cubicBezTo>
                  <a:cubicBezTo>
                    <a:pt x="123" y="116"/>
                    <a:pt x="117" y="116"/>
                    <a:pt x="112" y="120"/>
                  </a:cubicBezTo>
                  <a:cubicBezTo>
                    <a:pt x="99" y="134"/>
                    <a:pt x="99" y="134"/>
                    <a:pt x="99" y="134"/>
                  </a:cubicBezTo>
                  <a:cubicBezTo>
                    <a:pt x="85" y="120"/>
                    <a:pt x="85" y="120"/>
                    <a:pt x="85" y="120"/>
                  </a:cubicBezTo>
                  <a:cubicBezTo>
                    <a:pt x="81" y="116"/>
                    <a:pt x="74" y="116"/>
                    <a:pt x="70" y="120"/>
                  </a:cubicBezTo>
                  <a:cubicBezTo>
                    <a:pt x="66" y="124"/>
                    <a:pt x="66" y="131"/>
                    <a:pt x="70" y="135"/>
                  </a:cubicBezTo>
                  <a:cubicBezTo>
                    <a:pt x="88" y="153"/>
                    <a:pt x="88" y="153"/>
                    <a:pt x="88" y="153"/>
                  </a:cubicBezTo>
                  <a:cubicBezTo>
                    <a:pt x="88" y="234"/>
                    <a:pt x="88" y="234"/>
                    <a:pt x="88" y="234"/>
                  </a:cubicBezTo>
                  <a:cubicBezTo>
                    <a:pt x="67" y="234"/>
                    <a:pt x="67" y="234"/>
                    <a:pt x="67" y="234"/>
                  </a:cubicBezTo>
                  <a:cubicBezTo>
                    <a:pt x="67" y="213"/>
                    <a:pt x="67" y="213"/>
                    <a:pt x="67" y="213"/>
                  </a:cubicBezTo>
                  <a:cubicBezTo>
                    <a:pt x="67" y="196"/>
                    <a:pt x="44" y="158"/>
                    <a:pt x="37" y="146"/>
                  </a:cubicBezTo>
                  <a:cubicBezTo>
                    <a:pt x="37" y="146"/>
                    <a:pt x="21" y="123"/>
                    <a:pt x="21" y="95"/>
                  </a:cubicBezTo>
                  <a:cubicBezTo>
                    <a:pt x="21" y="55"/>
                    <a:pt x="57" y="21"/>
                    <a:pt x="99" y="21"/>
                  </a:cubicBezTo>
                  <a:cubicBezTo>
                    <a:pt x="141" y="21"/>
                    <a:pt x="177" y="55"/>
                    <a:pt x="177" y="95"/>
                  </a:cubicBezTo>
                  <a:cubicBezTo>
                    <a:pt x="177" y="122"/>
                    <a:pt x="161" y="146"/>
                    <a:pt x="161" y="14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Freeform 543"/>
            <p:cNvSpPr>
              <a:spLocks noEditPoints="1"/>
            </p:cNvSpPr>
            <p:nvPr/>
          </p:nvSpPr>
          <p:spPr bwMode="gray">
            <a:xfrm>
              <a:off x="5326" y="249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8" name="Group 37"/>
          <p:cNvGrpSpPr/>
          <p:nvPr/>
        </p:nvGrpSpPr>
        <p:grpSpPr bwMode="gray">
          <a:xfrm>
            <a:off x="1332253" y="1283296"/>
            <a:ext cx="9535886" cy="4341335"/>
            <a:chOff x="1332253" y="1283296"/>
            <a:chExt cx="9535886" cy="4341335"/>
          </a:xfrm>
        </p:grpSpPr>
        <p:cxnSp>
          <p:nvCxnSpPr>
            <p:cNvPr id="39" name="Straight Connector 38"/>
            <p:cNvCxnSpPr/>
            <p:nvPr/>
          </p:nvCxnSpPr>
          <p:spPr bwMode="gray">
            <a:xfrm flipH="1">
              <a:off x="1332253" y="1283296"/>
              <a:ext cx="551543"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gray">
            <a:xfrm flipH="1">
              <a:off x="1332253" y="5615809"/>
              <a:ext cx="551543"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gray">
            <a:xfrm>
              <a:off x="1332253" y="1283296"/>
              <a:ext cx="0" cy="4341335"/>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gray">
            <a:xfrm>
              <a:off x="10868139" y="1283296"/>
              <a:ext cx="0" cy="4341335"/>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gray">
            <a:xfrm flipH="1">
              <a:off x="3320709" y="1283296"/>
              <a:ext cx="7524000"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gray">
            <a:xfrm flipH="1">
              <a:off x="1763486" y="5615809"/>
              <a:ext cx="9089909"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82072924"/>
      </p:ext>
    </p:extLst>
  </p:cSld>
  <p:clrMapOvr>
    <a:masterClrMapping/>
  </p:clrMapOvr>
  <p:transition>
    <p:fade/>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Arrow Connector 5">
            <a:extLst>
              <a:ext uri="{FF2B5EF4-FFF2-40B4-BE49-F238E27FC236}">
                <a16:creationId xmlns:a16="http://schemas.microsoft.com/office/drawing/2014/main" id="{0D8DE5A3-98C9-216B-33BA-04593B1C2848}"/>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5FDC28E8-2ABC-0082-ACFD-D729E49F6EAA}"/>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Letter of Association</a:t>
            </a:r>
          </a:p>
        </p:txBody>
      </p:sp>
      <p:pic>
        <p:nvPicPr>
          <p:cNvPr id="2" name="Picture 1">
            <a:extLst>
              <a:ext uri="{FF2B5EF4-FFF2-40B4-BE49-F238E27FC236}">
                <a16:creationId xmlns:a16="http://schemas.microsoft.com/office/drawing/2014/main" id="{7FDF6CD9-6898-76B2-095B-2D0857119378}"/>
              </a:ext>
            </a:extLst>
          </p:cNvPr>
          <p:cNvPicPr>
            <a:picLocks noChangeAspect="1"/>
          </p:cNvPicPr>
          <p:nvPr/>
        </p:nvPicPr>
        <p:blipFill>
          <a:blip r:embed="rId2">
            <a:extLst>
              <a:ext uri="{28A0092B-C50C-407E-A947-70E740481C1C}">
                <a14:useLocalDpi xmlns:a14="http://schemas.microsoft.com/office/drawing/2010/main" val="0"/>
              </a:ext>
            </a:extLst>
          </a:blip>
          <a:srcRect l="11076" t="7126" r="11714" b="26340"/>
          <a:stretch>
            <a:fillRect/>
          </a:stretch>
        </p:blipFill>
        <p:spPr>
          <a:xfrm>
            <a:off x="3530600" y="976479"/>
            <a:ext cx="4610100" cy="5321301"/>
          </a:xfrm>
          <a:prstGeom prst="rect">
            <a:avLst/>
          </a:prstGeom>
          <a:ln>
            <a:solidFill>
              <a:srgbClr val="2C5234"/>
            </a:solidFill>
          </a:ln>
        </p:spPr>
      </p:pic>
    </p:spTree>
    <p:extLst>
      <p:ext uri="{BB962C8B-B14F-4D97-AF65-F5344CB8AC3E}">
        <p14:creationId xmlns:p14="http://schemas.microsoft.com/office/powerpoint/2010/main" val="290477874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7" name="Object 6"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Chronicle Display Black" pitchFamily="50" charset="0"/>
              <a:ea typeface="+mn-ea"/>
              <a:cs typeface="+mn-cs"/>
              <a:sym typeface="Chronicle Display Black" pitchFamily="50" charset="0"/>
            </a:endParaRPr>
          </a:p>
        </p:txBody>
      </p:sp>
      <p:pic>
        <p:nvPicPr>
          <p:cNvPr id="33" name="Picture 32"/>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bwMode="gray">
          <a:xfrm>
            <a:off x="0" y="0"/>
            <a:ext cx="12192000" cy="6858000"/>
          </a:xfrm>
          <a:prstGeom prst="rect">
            <a:avLst/>
          </a:prstGeom>
        </p:spPr>
      </p:pic>
      <p:sp>
        <p:nvSpPr>
          <p:cNvPr id="34" name="Flowchart: Process 33"/>
          <p:cNvSpPr/>
          <p:nvPr/>
        </p:nvSpPr>
        <p:spPr bwMode="gray">
          <a:xfrm>
            <a:off x="1343139" y="1283297"/>
            <a:ext cx="9512456" cy="4332512"/>
          </a:xfrm>
          <a:prstGeom prst="flowChartProcess">
            <a:avLst/>
          </a:prstGeom>
          <a:solidFill>
            <a:schemeClr val="tx1">
              <a:alpha val="38000"/>
            </a:schemeClr>
          </a:solidFill>
          <a:ln w="19050" algn="ctr">
            <a:noFill/>
            <a:miter lim="800000"/>
            <a:headEnd/>
            <a:tailEnd/>
          </a:ln>
        </p:spPr>
        <p:txBody>
          <a:bodyPr wrap="square" lIns="1080000" tIns="88900" rIns="1080000" bIns="88900" rtlCol="0" anchor="ct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400" b="0" i="0" u="none" strike="noStrike" kern="1200" cap="none" spc="0" normalizeH="0" baseline="0" noProof="0">
                <a:ln>
                  <a:noFill/>
                </a:ln>
                <a:solidFill>
                  <a:srgbClr val="0097A9"/>
                </a:solidFill>
                <a:effectLst/>
                <a:uLnTx/>
                <a:uFillTx/>
                <a:latin typeface="Verdana" panose="020B0604030504040204" pitchFamily="34" charset="0"/>
                <a:ea typeface="Verdana" panose="020B0604030504040204" pitchFamily="34" charset="0"/>
                <a:cs typeface="Calibri" panose="020F0502020204030204" pitchFamily="34" charset="0"/>
              </a:rPr>
              <a:t>Financial Turnover</a:t>
            </a:r>
          </a:p>
        </p:txBody>
      </p:sp>
      <p:grpSp>
        <p:nvGrpSpPr>
          <p:cNvPr id="35" name="Group 541"/>
          <p:cNvGrpSpPr>
            <a:grpSpLocks noChangeAspect="1"/>
          </p:cNvGrpSpPr>
          <p:nvPr/>
        </p:nvGrpSpPr>
        <p:grpSpPr bwMode="gray">
          <a:xfrm>
            <a:off x="2043454" y="743296"/>
            <a:ext cx="1080000" cy="1080000"/>
            <a:chOff x="5326" y="2494"/>
            <a:chExt cx="340" cy="340"/>
          </a:xfrm>
          <a:solidFill>
            <a:srgbClr val="0097A9"/>
          </a:solidFill>
        </p:grpSpPr>
        <p:sp>
          <p:nvSpPr>
            <p:cNvPr id="36" name="Freeform 542"/>
            <p:cNvSpPr>
              <a:spLocks noEditPoints="1"/>
            </p:cNvSpPr>
            <p:nvPr/>
          </p:nvSpPr>
          <p:spPr bwMode="gray">
            <a:xfrm>
              <a:off x="5430" y="2558"/>
              <a:ext cx="132" cy="212"/>
            </a:xfrm>
            <a:custGeom>
              <a:avLst/>
              <a:gdLst>
                <a:gd name="T0" fmla="*/ 99 w 199"/>
                <a:gd name="T1" fmla="*/ 0 h 320"/>
                <a:gd name="T2" fmla="*/ 99 w 199"/>
                <a:gd name="T3" fmla="*/ 0 h 320"/>
                <a:gd name="T4" fmla="*/ 99 w 199"/>
                <a:gd name="T5" fmla="*/ 0 h 320"/>
                <a:gd name="T6" fmla="*/ 99 w 199"/>
                <a:gd name="T7" fmla="*/ 0 h 320"/>
                <a:gd name="T8" fmla="*/ 98 w 199"/>
                <a:gd name="T9" fmla="*/ 0 h 320"/>
                <a:gd name="T10" fmla="*/ 0 w 199"/>
                <a:gd name="T11" fmla="*/ 95 h 320"/>
                <a:gd name="T12" fmla="*/ 19 w 199"/>
                <a:gd name="T13" fmla="*/ 158 h 320"/>
                <a:gd name="T14" fmla="*/ 45 w 199"/>
                <a:gd name="T15" fmla="*/ 213 h 320"/>
                <a:gd name="T16" fmla="*/ 45 w 199"/>
                <a:gd name="T17" fmla="*/ 245 h 320"/>
                <a:gd name="T18" fmla="*/ 46 w 199"/>
                <a:gd name="T19" fmla="*/ 246 h 320"/>
                <a:gd name="T20" fmla="*/ 45 w 199"/>
                <a:gd name="T21" fmla="*/ 247 h 320"/>
                <a:gd name="T22" fmla="*/ 56 w 199"/>
                <a:gd name="T23" fmla="*/ 311 h 320"/>
                <a:gd name="T24" fmla="*/ 67 w 199"/>
                <a:gd name="T25" fmla="*/ 320 h 320"/>
                <a:gd name="T26" fmla="*/ 131 w 199"/>
                <a:gd name="T27" fmla="*/ 320 h 320"/>
                <a:gd name="T28" fmla="*/ 141 w 199"/>
                <a:gd name="T29" fmla="*/ 311 h 320"/>
                <a:gd name="T30" fmla="*/ 152 w 199"/>
                <a:gd name="T31" fmla="*/ 247 h 320"/>
                <a:gd name="T32" fmla="*/ 152 w 199"/>
                <a:gd name="T33" fmla="*/ 246 h 320"/>
                <a:gd name="T34" fmla="*/ 152 w 199"/>
                <a:gd name="T35" fmla="*/ 245 h 320"/>
                <a:gd name="T36" fmla="*/ 152 w 199"/>
                <a:gd name="T37" fmla="*/ 213 h 320"/>
                <a:gd name="T38" fmla="*/ 179 w 199"/>
                <a:gd name="T39" fmla="*/ 158 h 320"/>
                <a:gd name="T40" fmla="*/ 199 w 199"/>
                <a:gd name="T41" fmla="*/ 95 h 320"/>
                <a:gd name="T42" fmla="*/ 99 w 199"/>
                <a:gd name="T43" fmla="*/ 0 h 320"/>
                <a:gd name="T44" fmla="*/ 122 w 199"/>
                <a:gd name="T45" fmla="*/ 298 h 320"/>
                <a:gd name="T46" fmla="*/ 76 w 199"/>
                <a:gd name="T47" fmla="*/ 298 h 320"/>
                <a:gd name="T48" fmla="*/ 69 w 199"/>
                <a:gd name="T49" fmla="*/ 256 h 320"/>
                <a:gd name="T50" fmla="*/ 129 w 199"/>
                <a:gd name="T51" fmla="*/ 256 h 320"/>
                <a:gd name="T52" fmla="*/ 122 w 199"/>
                <a:gd name="T53" fmla="*/ 298 h 320"/>
                <a:gd name="T54" fmla="*/ 161 w 199"/>
                <a:gd name="T55" fmla="*/ 147 h 320"/>
                <a:gd name="T56" fmla="*/ 131 w 199"/>
                <a:gd name="T57" fmla="*/ 213 h 320"/>
                <a:gd name="T58" fmla="*/ 131 w 199"/>
                <a:gd name="T59" fmla="*/ 234 h 320"/>
                <a:gd name="T60" fmla="*/ 109 w 199"/>
                <a:gd name="T61" fmla="*/ 234 h 320"/>
                <a:gd name="T62" fmla="*/ 109 w 199"/>
                <a:gd name="T63" fmla="*/ 153 h 320"/>
                <a:gd name="T64" fmla="*/ 128 w 199"/>
                <a:gd name="T65" fmla="*/ 135 h 320"/>
                <a:gd name="T66" fmla="*/ 128 w 199"/>
                <a:gd name="T67" fmla="*/ 120 h 320"/>
                <a:gd name="T68" fmla="*/ 112 w 199"/>
                <a:gd name="T69" fmla="*/ 120 h 320"/>
                <a:gd name="T70" fmla="*/ 99 w 199"/>
                <a:gd name="T71" fmla="*/ 134 h 320"/>
                <a:gd name="T72" fmla="*/ 85 w 199"/>
                <a:gd name="T73" fmla="*/ 120 h 320"/>
                <a:gd name="T74" fmla="*/ 70 w 199"/>
                <a:gd name="T75" fmla="*/ 120 h 320"/>
                <a:gd name="T76" fmla="*/ 70 w 199"/>
                <a:gd name="T77" fmla="*/ 135 h 320"/>
                <a:gd name="T78" fmla="*/ 88 w 199"/>
                <a:gd name="T79" fmla="*/ 153 h 320"/>
                <a:gd name="T80" fmla="*/ 88 w 199"/>
                <a:gd name="T81" fmla="*/ 234 h 320"/>
                <a:gd name="T82" fmla="*/ 67 w 199"/>
                <a:gd name="T83" fmla="*/ 234 h 320"/>
                <a:gd name="T84" fmla="*/ 67 w 199"/>
                <a:gd name="T85" fmla="*/ 213 h 320"/>
                <a:gd name="T86" fmla="*/ 37 w 199"/>
                <a:gd name="T87" fmla="*/ 146 h 320"/>
                <a:gd name="T88" fmla="*/ 21 w 199"/>
                <a:gd name="T89" fmla="*/ 95 h 320"/>
                <a:gd name="T90" fmla="*/ 99 w 199"/>
                <a:gd name="T91" fmla="*/ 21 h 320"/>
                <a:gd name="T92" fmla="*/ 177 w 199"/>
                <a:gd name="T93" fmla="*/ 95 h 320"/>
                <a:gd name="T94" fmla="*/ 161 w 199"/>
                <a:gd name="T95" fmla="*/ 147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320">
                  <a:moveTo>
                    <a:pt x="99" y="0"/>
                  </a:moveTo>
                  <a:cubicBezTo>
                    <a:pt x="99" y="0"/>
                    <a:pt x="99" y="0"/>
                    <a:pt x="99" y="0"/>
                  </a:cubicBezTo>
                  <a:cubicBezTo>
                    <a:pt x="99" y="0"/>
                    <a:pt x="99" y="0"/>
                    <a:pt x="99" y="0"/>
                  </a:cubicBezTo>
                  <a:cubicBezTo>
                    <a:pt x="99" y="0"/>
                    <a:pt x="99" y="0"/>
                    <a:pt x="99" y="0"/>
                  </a:cubicBezTo>
                  <a:cubicBezTo>
                    <a:pt x="99" y="0"/>
                    <a:pt x="99" y="0"/>
                    <a:pt x="98" y="0"/>
                  </a:cubicBezTo>
                  <a:cubicBezTo>
                    <a:pt x="45" y="0"/>
                    <a:pt x="0" y="44"/>
                    <a:pt x="0" y="95"/>
                  </a:cubicBezTo>
                  <a:cubicBezTo>
                    <a:pt x="0" y="129"/>
                    <a:pt x="18" y="157"/>
                    <a:pt x="19" y="158"/>
                  </a:cubicBezTo>
                  <a:cubicBezTo>
                    <a:pt x="32" y="179"/>
                    <a:pt x="45" y="206"/>
                    <a:pt x="45" y="213"/>
                  </a:cubicBezTo>
                  <a:cubicBezTo>
                    <a:pt x="45" y="245"/>
                    <a:pt x="45" y="245"/>
                    <a:pt x="45" y="245"/>
                  </a:cubicBezTo>
                  <a:cubicBezTo>
                    <a:pt x="45" y="245"/>
                    <a:pt x="45" y="246"/>
                    <a:pt x="46" y="246"/>
                  </a:cubicBezTo>
                  <a:cubicBezTo>
                    <a:pt x="46" y="246"/>
                    <a:pt x="45" y="246"/>
                    <a:pt x="45" y="247"/>
                  </a:cubicBezTo>
                  <a:cubicBezTo>
                    <a:pt x="56" y="311"/>
                    <a:pt x="56" y="311"/>
                    <a:pt x="56" y="311"/>
                  </a:cubicBezTo>
                  <a:cubicBezTo>
                    <a:pt x="57" y="316"/>
                    <a:pt x="61" y="320"/>
                    <a:pt x="67" y="320"/>
                  </a:cubicBezTo>
                  <a:cubicBezTo>
                    <a:pt x="131" y="320"/>
                    <a:pt x="131" y="320"/>
                    <a:pt x="131" y="320"/>
                  </a:cubicBezTo>
                  <a:cubicBezTo>
                    <a:pt x="136" y="320"/>
                    <a:pt x="140" y="316"/>
                    <a:pt x="141" y="311"/>
                  </a:cubicBezTo>
                  <a:cubicBezTo>
                    <a:pt x="152" y="247"/>
                    <a:pt x="152" y="247"/>
                    <a:pt x="152" y="247"/>
                  </a:cubicBezTo>
                  <a:cubicBezTo>
                    <a:pt x="152" y="246"/>
                    <a:pt x="152" y="246"/>
                    <a:pt x="152" y="246"/>
                  </a:cubicBezTo>
                  <a:cubicBezTo>
                    <a:pt x="152" y="246"/>
                    <a:pt x="152" y="245"/>
                    <a:pt x="152" y="245"/>
                  </a:cubicBezTo>
                  <a:cubicBezTo>
                    <a:pt x="152" y="213"/>
                    <a:pt x="152" y="213"/>
                    <a:pt x="152" y="213"/>
                  </a:cubicBezTo>
                  <a:cubicBezTo>
                    <a:pt x="152" y="206"/>
                    <a:pt x="166" y="179"/>
                    <a:pt x="179" y="158"/>
                  </a:cubicBezTo>
                  <a:cubicBezTo>
                    <a:pt x="180" y="157"/>
                    <a:pt x="199" y="129"/>
                    <a:pt x="199" y="95"/>
                  </a:cubicBezTo>
                  <a:cubicBezTo>
                    <a:pt x="199" y="44"/>
                    <a:pt x="153" y="0"/>
                    <a:pt x="99" y="0"/>
                  </a:cubicBezTo>
                  <a:close/>
                  <a:moveTo>
                    <a:pt x="122" y="298"/>
                  </a:moveTo>
                  <a:cubicBezTo>
                    <a:pt x="76" y="298"/>
                    <a:pt x="76" y="298"/>
                    <a:pt x="76" y="298"/>
                  </a:cubicBezTo>
                  <a:cubicBezTo>
                    <a:pt x="69" y="256"/>
                    <a:pt x="69" y="256"/>
                    <a:pt x="69" y="256"/>
                  </a:cubicBezTo>
                  <a:cubicBezTo>
                    <a:pt x="129" y="256"/>
                    <a:pt x="129" y="256"/>
                    <a:pt x="129" y="256"/>
                  </a:cubicBezTo>
                  <a:lnTo>
                    <a:pt x="122" y="298"/>
                  </a:lnTo>
                  <a:close/>
                  <a:moveTo>
                    <a:pt x="161" y="147"/>
                  </a:moveTo>
                  <a:cubicBezTo>
                    <a:pt x="154" y="158"/>
                    <a:pt x="131" y="196"/>
                    <a:pt x="131" y="213"/>
                  </a:cubicBezTo>
                  <a:cubicBezTo>
                    <a:pt x="131" y="234"/>
                    <a:pt x="131" y="234"/>
                    <a:pt x="131" y="234"/>
                  </a:cubicBezTo>
                  <a:cubicBezTo>
                    <a:pt x="109" y="234"/>
                    <a:pt x="109" y="234"/>
                    <a:pt x="109" y="234"/>
                  </a:cubicBezTo>
                  <a:cubicBezTo>
                    <a:pt x="109" y="153"/>
                    <a:pt x="109" y="153"/>
                    <a:pt x="109" y="153"/>
                  </a:cubicBezTo>
                  <a:cubicBezTo>
                    <a:pt x="128" y="135"/>
                    <a:pt x="128" y="135"/>
                    <a:pt x="128" y="135"/>
                  </a:cubicBezTo>
                  <a:cubicBezTo>
                    <a:pt x="132" y="131"/>
                    <a:pt x="132" y="124"/>
                    <a:pt x="128" y="120"/>
                  </a:cubicBezTo>
                  <a:cubicBezTo>
                    <a:pt x="123" y="116"/>
                    <a:pt x="117" y="116"/>
                    <a:pt x="112" y="120"/>
                  </a:cubicBezTo>
                  <a:cubicBezTo>
                    <a:pt x="99" y="134"/>
                    <a:pt x="99" y="134"/>
                    <a:pt x="99" y="134"/>
                  </a:cubicBezTo>
                  <a:cubicBezTo>
                    <a:pt x="85" y="120"/>
                    <a:pt x="85" y="120"/>
                    <a:pt x="85" y="120"/>
                  </a:cubicBezTo>
                  <a:cubicBezTo>
                    <a:pt x="81" y="116"/>
                    <a:pt x="74" y="116"/>
                    <a:pt x="70" y="120"/>
                  </a:cubicBezTo>
                  <a:cubicBezTo>
                    <a:pt x="66" y="124"/>
                    <a:pt x="66" y="131"/>
                    <a:pt x="70" y="135"/>
                  </a:cubicBezTo>
                  <a:cubicBezTo>
                    <a:pt x="88" y="153"/>
                    <a:pt x="88" y="153"/>
                    <a:pt x="88" y="153"/>
                  </a:cubicBezTo>
                  <a:cubicBezTo>
                    <a:pt x="88" y="234"/>
                    <a:pt x="88" y="234"/>
                    <a:pt x="88" y="234"/>
                  </a:cubicBezTo>
                  <a:cubicBezTo>
                    <a:pt x="67" y="234"/>
                    <a:pt x="67" y="234"/>
                    <a:pt x="67" y="234"/>
                  </a:cubicBezTo>
                  <a:cubicBezTo>
                    <a:pt x="67" y="213"/>
                    <a:pt x="67" y="213"/>
                    <a:pt x="67" y="213"/>
                  </a:cubicBezTo>
                  <a:cubicBezTo>
                    <a:pt x="67" y="196"/>
                    <a:pt x="44" y="158"/>
                    <a:pt x="37" y="146"/>
                  </a:cubicBezTo>
                  <a:cubicBezTo>
                    <a:pt x="37" y="146"/>
                    <a:pt x="21" y="123"/>
                    <a:pt x="21" y="95"/>
                  </a:cubicBezTo>
                  <a:cubicBezTo>
                    <a:pt x="21" y="55"/>
                    <a:pt x="57" y="21"/>
                    <a:pt x="99" y="21"/>
                  </a:cubicBezTo>
                  <a:cubicBezTo>
                    <a:pt x="141" y="21"/>
                    <a:pt x="177" y="55"/>
                    <a:pt x="177" y="95"/>
                  </a:cubicBezTo>
                  <a:cubicBezTo>
                    <a:pt x="177" y="122"/>
                    <a:pt x="161" y="146"/>
                    <a:pt x="161" y="14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Freeform 543"/>
            <p:cNvSpPr>
              <a:spLocks noEditPoints="1"/>
            </p:cNvSpPr>
            <p:nvPr/>
          </p:nvSpPr>
          <p:spPr bwMode="gray">
            <a:xfrm>
              <a:off x="5326" y="249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8" name="Group 37"/>
          <p:cNvGrpSpPr/>
          <p:nvPr/>
        </p:nvGrpSpPr>
        <p:grpSpPr bwMode="gray">
          <a:xfrm>
            <a:off x="1332253" y="1283296"/>
            <a:ext cx="9535886" cy="4341335"/>
            <a:chOff x="1332253" y="1283296"/>
            <a:chExt cx="9535886" cy="4341335"/>
          </a:xfrm>
        </p:grpSpPr>
        <p:cxnSp>
          <p:nvCxnSpPr>
            <p:cNvPr id="39" name="Straight Connector 38"/>
            <p:cNvCxnSpPr/>
            <p:nvPr/>
          </p:nvCxnSpPr>
          <p:spPr bwMode="gray">
            <a:xfrm flipH="1">
              <a:off x="1332253" y="1283296"/>
              <a:ext cx="551543"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gray">
            <a:xfrm flipH="1">
              <a:off x="1332253" y="5615809"/>
              <a:ext cx="551543"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gray">
            <a:xfrm>
              <a:off x="1332253" y="1283296"/>
              <a:ext cx="0" cy="4341335"/>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gray">
            <a:xfrm>
              <a:off x="10868139" y="1283296"/>
              <a:ext cx="0" cy="4341335"/>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gray">
            <a:xfrm flipH="1">
              <a:off x="3320709" y="1283296"/>
              <a:ext cx="7524000"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gray">
            <a:xfrm flipH="1">
              <a:off x="1763486" y="5615809"/>
              <a:ext cx="9089909"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87093346"/>
      </p:ext>
    </p:extLst>
  </p:cSld>
  <p:clrMapOvr>
    <a:masterClrMapping/>
  </p:clrMapOvr>
  <p:transition>
    <p:fade/>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1F9161-52F1-F50A-FD1C-2462E6B372C6}"/>
              </a:ext>
            </a:extLst>
          </p:cNvPr>
          <p:cNvPicPr>
            <a:picLocks noChangeAspect="1"/>
          </p:cNvPicPr>
          <p:nvPr/>
        </p:nvPicPr>
        <p:blipFill>
          <a:blip r:embed="rId2"/>
          <a:stretch>
            <a:fillRect/>
          </a:stretch>
        </p:blipFill>
        <p:spPr>
          <a:xfrm>
            <a:off x="3631652" y="1033670"/>
            <a:ext cx="4667522" cy="5208104"/>
          </a:xfrm>
          <a:prstGeom prst="rect">
            <a:avLst/>
          </a:prstGeom>
        </p:spPr>
      </p:pic>
      <p:cxnSp>
        <p:nvCxnSpPr>
          <p:cNvPr id="6" name="Straight Arrow Connector 5">
            <a:extLst>
              <a:ext uri="{FF2B5EF4-FFF2-40B4-BE49-F238E27FC236}">
                <a16:creationId xmlns:a16="http://schemas.microsoft.com/office/drawing/2014/main" id="{AE38AD6B-6B18-1EAB-CFC0-B5262E42E9D2}"/>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E7C14F5D-8EFA-4AA5-45EA-F0E3186672BA}"/>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Financial Turnover</a:t>
            </a:r>
          </a:p>
        </p:txBody>
      </p:sp>
    </p:spTree>
    <p:extLst>
      <p:ext uri="{BB962C8B-B14F-4D97-AF65-F5344CB8AC3E}">
        <p14:creationId xmlns:p14="http://schemas.microsoft.com/office/powerpoint/2010/main" val="10117669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FBB0B6-0C78-2D9C-5A4C-A5B7BB2F3DD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631652" y="1057508"/>
            <a:ext cx="4667522" cy="5160428"/>
          </a:xfrm>
          <a:prstGeom prst="rect">
            <a:avLst/>
          </a:prstGeom>
        </p:spPr>
      </p:pic>
      <p:cxnSp>
        <p:nvCxnSpPr>
          <p:cNvPr id="6" name="Straight Arrow Connector 5">
            <a:extLst>
              <a:ext uri="{FF2B5EF4-FFF2-40B4-BE49-F238E27FC236}">
                <a16:creationId xmlns:a16="http://schemas.microsoft.com/office/drawing/2014/main" id="{33FD7866-3448-036E-1AD3-EFE927E2F5EB}"/>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30888474-827E-7CED-945B-F30FE23FEF93}"/>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Financial Turnover</a:t>
            </a:r>
          </a:p>
        </p:txBody>
      </p:sp>
    </p:spTree>
    <p:extLst>
      <p:ext uri="{BB962C8B-B14F-4D97-AF65-F5344CB8AC3E}">
        <p14:creationId xmlns:p14="http://schemas.microsoft.com/office/powerpoint/2010/main" val="261858515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7" name="Object 6"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Chronicle Display Black" pitchFamily="50" charset="0"/>
              <a:ea typeface="+mn-ea"/>
              <a:cs typeface="+mn-cs"/>
              <a:sym typeface="Chronicle Display Black" pitchFamily="50" charset="0"/>
            </a:endParaRPr>
          </a:p>
        </p:txBody>
      </p:sp>
      <p:pic>
        <p:nvPicPr>
          <p:cNvPr id="33" name="Picture 32"/>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bwMode="gray">
          <a:xfrm>
            <a:off x="0" y="0"/>
            <a:ext cx="12192000" cy="6858000"/>
          </a:xfrm>
          <a:prstGeom prst="rect">
            <a:avLst/>
          </a:prstGeom>
        </p:spPr>
      </p:pic>
      <p:sp>
        <p:nvSpPr>
          <p:cNvPr id="34" name="Flowchart: Process 33"/>
          <p:cNvSpPr/>
          <p:nvPr/>
        </p:nvSpPr>
        <p:spPr bwMode="gray">
          <a:xfrm>
            <a:off x="1343139" y="1283297"/>
            <a:ext cx="9512456" cy="4332512"/>
          </a:xfrm>
          <a:prstGeom prst="flowChartProcess">
            <a:avLst/>
          </a:prstGeom>
          <a:solidFill>
            <a:schemeClr val="tx1">
              <a:alpha val="38000"/>
            </a:schemeClr>
          </a:solidFill>
          <a:ln w="19050" algn="ctr">
            <a:noFill/>
            <a:miter lim="800000"/>
            <a:headEnd/>
            <a:tailEnd/>
          </a:ln>
        </p:spPr>
        <p:txBody>
          <a:bodyPr wrap="square" lIns="1080000" tIns="88900" rIns="1080000" bIns="88900" rtlCol="0" anchor="ct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2400" b="0" i="0" u="none" strike="noStrike" kern="1200" cap="none" spc="0" normalizeH="0" baseline="0" noProof="0">
                <a:ln>
                  <a:noFill/>
                </a:ln>
                <a:solidFill>
                  <a:srgbClr val="0097A9"/>
                </a:solidFill>
                <a:effectLst/>
                <a:uLnTx/>
                <a:uFillTx/>
                <a:latin typeface="Verdana" panose="020B0604030504040204" pitchFamily="34" charset="0"/>
                <a:ea typeface="Verdana" panose="020B0604030504040204" pitchFamily="34" charset="0"/>
                <a:cs typeface="Calibri" panose="020F0502020204030204" pitchFamily="34" charset="0"/>
              </a:rPr>
              <a:t>Relevant Documents</a:t>
            </a:r>
          </a:p>
        </p:txBody>
      </p:sp>
      <p:grpSp>
        <p:nvGrpSpPr>
          <p:cNvPr id="35" name="Group 541"/>
          <p:cNvGrpSpPr>
            <a:grpSpLocks noChangeAspect="1"/>
          </p:cNvGrpSpPr>
          <p:nvPr/>
        </p:nvGrpSpPr>
        <p:grpSpPr bwMode="gray">
          <a:xfrm>
            <a:off x="2043454" y="743296"/>
            <a:ext cx="1080000" cy="1080000"/>
            <a:chOff x="5326" y="2494"/>
            <a:chExt cx="340" cy="340"/>
          </a:xfrm>
          <a:solidFill>
            <a:srgbClr val="0097A9"/>
          </a:solidFill>
        </p:grpSpPr>
        <p:sp>
          <p:nvSpPr>
            <p:cNvPr id="36" name="Freeform 542"/>
            <p:cNvSpPr>
              <a:spLocks noEditPoints="1"/>
            </p:cNvSpPr>
            <p:nvPr/>
          </p:nvSpPr>
          <p:spPr bwMode="gray">
            <a:xfrm>
              <a:off x="5430" y="2558"/>
              <a:ext cx="132" cy="212"/>
            </a:xfrm>
            <a:custGeom>
              <a:avLst/>
              <a:gdLst>
                <a:gd name="T0" fmla="*/ 99 w 199"/>
                <a:gd name="T1" fmla="*/ 0 h 320"/>
                <a:gd name="T2" fmla="*/ 99 w 199"/>
                <a:gd name="T3" fmla="*/ 0 h 320"/>
                <a:gd name="T4" fmla="*/ 99 w 199"/>
                <a:gd name="T5" fmla="*/ 0 h 320"/>
                <a:gd name="T6" fmla="*/ 99 w 199"/>
                <a:gd name="T7" fmla="*/ 0 h 320"/>
                <a:gd name="T8" fmla="*/ 98 w 199"/>
                <a:gd name="T9" fmla="*/ 0 h 320"/>
                <a:gd name="T10" fmla="*/ 0 w 199"/>
                <a:gd name="T11" fmla="*/ 95 h 320"/>
                <a:gd name="T12" fmla="*/ 19 w 199"/>
                <a:gd name="T13" fmla="*/ 158 h 320"/>
                <a:gd name="T14" fmla="*/ 45 w 199"/>
                <a:gd name="T15" fmla="*/ 213 h 320"/>
                <a:gd name="T16" fmla="*/ 45 w 199"/>
                <a:gd name="T17" fmla="*/ 245 h 320"/>
                <a:gd name="T18" fmla="*/ 46 w 199"/>
                <a:gd name="T19" fmla="*/ 246 h 320"/>
                <a:gd name="T20" fmla="*/ 45 w 199"/>
                <a:gd name="T21" fmla="*/ 247 h 320"/>
                <a:gd name="T22" fmla="*/ 56 w 199"/>
                <a:gd name="T23" fmla="*/ 311 h 320"/>
                <a:gd name="T24" fmla="*/ 67 w 199"/>
                <a:gd name="T25" fmla="*/ 320 h 320"/>
                <a:gd name="T26" fmla="*/ 131 w 199"/>
                <a:gd name="T27" fmla="*/ 320 h 320"/>
                <a:gd name="T28" fmla="*/ 141 w 199"/>
                <a:gd name="T29" fmla="*/ 311 h 320"/>
                <a:gd name="T30" fmla="*/ 152 w 199"/>
                <a:gd name="T31" fmla="*/ 247 h 320"/>
                <a:gd name="T32" fmla="*/ 152 w 199"/>
                <a:gd name="T33" fmla="*/ 246 h 320"/>
                <a:gd name="T34" fmla="*/ 152 w 199"/>
                <a:gd name="T35" fmla="*/ 245 h 320"/>
                <a:gd name="T36" fmla="*/ 152 w 199"/>
                <a:gd name="T37" fmla="*/ 213 h 320"/>
                <a:gd name="T38" fmla="*/ 179 w 199"/>
                <a:gd name="T39" fmla="*/ 158 h 320"/>
                <a:gd name="T40" fmla="*/ 199 w 199"/>
                <a:gd name="T41" fmla="*/ 95 h 320"/>
                <a:gd name="T42" fmla="*/ 99 w 199"/>
                <a:gd name="T43" fmla="*/ 0 h 320"/>
                <a:gd name="T44" fmla="*/ 122 w 199"/>
                <a:gd name="T45" fmla="*/ 298 h 320"/>
                <a:gd name="T46" fmla="*/ 76 w 199"/>
                <a:gd name="T47" fmla="*/ 298 h 320"/>
                <a:gd name="T48" fmla="*/ 69 w 199"/>
                <a:gd name="T49" fmla="*/ 256 h 320"/>
                <a:gd name="T50" fmla="*/ 129 w 199"/>
                <a:gd name="T51" fmla="*/ 256 h 320"/>
                <a:gd name="T52" fmla="*/ 122 w 199"/>
                <a:gd name="T53" fmla="*/ 298 h 320"/>
                <a:gd name="T54" fmla="*/ 161 w 199"/>
                <a:gd name="T55" fmla="*/ 147 h 320"/>
                <a:gd name="T56" fmla="*/ 131 w 199"/>
                <a:gd name="T57" fmla="*/ 213 h 320"/>
                <a:gd name="T58" fmla="*/ 131 w 199"/>
                <a:gd name="T59" fmla="*/ 234 h 320"/>
                <a:gd name="T60" fmla="*/ 109 w 199"/>
                <a:gd name="T61" fmla="*/ 234 h 320"/>
                <a:gd name="T62" fmla="*/ 109 w 199"/>
                <a:gd name="T63" fmla="*/ 153 h 320"/>
                <a:gd name="T64" fmla="*/ 128 w 199"/>
                <a:gd name="T65" fmla="*/ 135 h 320"/>
                <a:gd name="T66" fmla="*/ 128 w 199"/>
                <a:gd name="T67" fmla="*/ 120 h 320"/>
                <a:gd name="T68" fmla="*/ 112 w 199"/>
                <a:gd name="T69" fmla="*/ 120 h 320"/>
                <a:gd name="T70" fmla="*/ 99 w 199"/>
                <a:gd name="T71" fmla="*/ 134 h 320"/>
                <a:gd name="T72" fmla="*/ 85 w 199"/>
                <a:gd name="T73" fmla="*/ 120 h 320"/>
                <a:gd name="T74" fmla="*/ 70 w 199"/>
                <a:gd name="T75" fmla="*/ 120 h 320"/>
                <a:gd name="T76" fmla="*/ 70 w 199"/>
                <a:gd name="T77" fmla="*/ 135 h 320"/>
                <a:gd name="T78" fmla="*/ 88 w 199"/>
                <a:gd name="T79" fmla="*/ 153 h 320"/>
                <a:gd name="T80" fmla="*/ 88 w 199"/>
                <a:gd name="T81" fmla="*/ 234 h 320"/>
                <a:gd name="T82" fmla="*/ 67 w 199"/>
                <a:gd name="T83" fmla="*/ 234 h 320"/>
                <a:gd name="T84" fmla="*/ 67 w 199"/>
                <a:gd name="T85" fmla="*/ 213 h 320"/>
                <a:gd name="T86" fmla="*/ 37 w 199"/>
                <a:gd name="T87" fmla="*/ 146 h 320"/>
                <a:gd name="T88" fmla="*/ 21 w 199"/>
                <a:gd name="T89" fmla="*/ 95 h 320"/>
                <a:gd name="T90" fmla="*/ 99 w 199"/>
                <a:gd name="T91" fmla="*/ 21 h 320"/>
                <a:gd name="T92" fmla="*/ 177 w 199"/>
                <a:gd name="T93" fmla="*/ 95 h 320"/>
                <a:gd name="T94" fmla="*/ 161 w 199"/>
                <a:gd name="T95" fmla="*/ 147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320">
                  <a:moveTo>
                    <a:pt x="99" y="0"/>
                  </a:moveTo>
                  <a:cubicBezTo>
                    <a:pt x="99" y="0"/>
                    <a:pt x="99" y="0"/>
                    <a:pt x="99" y="0"/>
                  </a:cubicBezTo>
                  <a:cubicBezTo>
                    <a:pt x="99" y="0"/>
                    <a:pt x="99" y="0"/>
                    <a:pt x="99" y="0"/>
                  </a:cubicBezTo>
                  <a:cubicBezTo>
                    <a:pt x="99" y="0"/>
                    <a:pt x="99" y="0"/>
                    <a:pt x="99" y="0"/>
                  </a:cubicBezTo>
                  <a:cubicBezTo>
                    <a:pt x="99" y="0"/>
                    <a:pt x="99" y="0"/>
                    <a:pt x="98" y="0"/>
                  </a:cubicBezTo>
                  <a:cubicBezTo>
                    <a:pt x="45" y="0"/>
                    <a:pt x="0" y="44"/>
                    <a:pt x="0" y="95"/>
                  </a:cubicBezTo>
                  <a:cubicBezTo>
                    <a:pt x="0" y="129"/>
                    <a:pt x="18" y="157"/>
                    <a:pt x="19" y="158"/>
                  </a:cubicBezTo>
                  <a:cubicBezTo>
                    <a:pt x="32" y="179"/>
                    <a:pt x="45" y="206"/>
                    <a:pt x="45" y="213"/>
                  </a:cubicBezTo>
                  <a:cubicBezTo>
                    <a:pt x="45" y="245"/>
                    <a:pt x="45" y="245"/>
                    <a:pt x="45" y="245"/>
                  </a:cubicBezTo>
                  <a:cubicBezTo>
                    <a:pt x="45" y="245"/>
                    <a:pt x="45" y="246"/>
                    <a:pt x="46" y="246"/>
                  </a:cubicBezTo>
                  <a:cubicBezTo>
                    <a:pt x="46" y="246"/>
                    <a:pt x="45" y="246"/>
                    <a:pt x="45" y="247"/>
                  </a:cubicBezTo>
                  <a:cubicBezTo>
                    <a:pt x="56" y="311"/>
                    <a:pt x="56" y="311"/>
                    <a:pt x="56" y="311"/>
                  </a:cubicBezTo>
                  <a:cubicBezTo>
                    <a:pt x="57" y="316"/>
                    <a:pt x="61" y="320"/>
                    <a:pt x="67" y="320"/>
                  </a:cubicBezTo>
                  <a:cubicBezTo>
                    <a:pt x="131" y="320"/>
                    <a:pt x="131" y="320"/>
                    <a:pt x="131" y="320"/>
                  </a:cubicBezTo>
                  <a:cubicBezTo>
                    <a:pt x="136" y="320"/>
                    <a:pt x="140" y="316"/>
                    <a:pt x="141" y="311"/>
                  </a:cubicBezTo>
                  <a:cubicBezTo>
                    <a:pt x="152" y="247"/>
                    <a:pt x="152" y="247"/>
                    <a:pt x="152" y="247"/>
                  </a:cubicBezTo>
                  <a:cubicBezTo>
                    <a:pt x="152" y="246"/>
                    <a:pt x="152" y="246"/>
                    <a:pt x="152" y="246"/>
                  </a:cubicBezTo>
                  <a:cubicBezTo>
                    <a:pt x="152" y="246"/>
                    <a:pt x="152" y="245"/>
                    <a:pt x="152" y="245"/>
                  </a:cubicBezTo>
                  <a:cubicBezTo>
                    <a:pt x="152" y="213"/>
                    <a:pt x="152" y="213"/>
                    <a:pt x="152" y="213"/>
                  </a:cubicBezTo>
                  <a:cubicBezTo>
                    <a:pt x="152" y="206"/>
                    <a:pt x="166" y="179"/>
                    <a:pt x="179" y="158"/>
                  </a:cubicBezTo>
                  <a:cubicBezTo>
                    <a:pt x="180" y="157"/>
                    <a:pt x="199" y="129"/>
                    <a:pt x="199" y="95"/>
                  </a:cubicBezTo>
                  <a:cubicBezTo>
                    <a:pt x="199" y="44"/>
                    <a:pt x="153" y="0"/>
                    <a:pt x="99" y="0"/>
                  </a:cubicBezTo>
                  <a:close/>
                  <a:moveTo>
                    <a:pt x="122" y="298"/>
                  </a:moveTo>
                  <a:cubicBezTo>
                    <a:pt x="76" y="298"/>
                    <a:pt x="76" y="298"/>
                    <a:pt x="76" y="298"/>
                  </a:cubicBezTo>
                  <a:cubicBezTo>
                    <a:pt x="69" y="256"/>
                    <a:pt x="69" y="256"/>
                    <a:pt x="69" y="256"/>
                  </a:cubicBezTo>
                  <a:cubicBezTo>
                    <a:pt x="129" y="256"/>
                    <a:pt x="129" y="256"/>
                    <a:pt x="129" y="256"/>
                  </a:cubicBezTo>
                  <a:lnTo>
                    <a:pt x="122" y="298"/>
                  </a:lnTo>
                  <a:close/>
                  <a:moveTo>
                    <a:pt x="161" y="147"/>
                  </a:moveTo>
                  <a:cubicBezTo>
                    <a:pt x="154" y="158"/>
                    <a:pt x="131" y="196"/>
                    <a:pt x="131" y="213"/>
                  </a:cubicBezTo>
                  <a:cubicBezTo>
                    <a:pt x="131" y="234"/>
                    <a:pt x="131" y="234"/>
                    <a:pt x="131" y="234"/>
                  </a:cubicBezTo>
                  <a:cubicBezTo>
                    <a:pt x="109" y="234"/>
                    <a:pt x="109" y="234"/>
                    <a:pt x="109" y="234"/>
                  </a:cubicBezTo>
                  <a:cubicBezTo>
                    <a:pt x="109" y="153"/>
                    <a:pt x="109" y="153"/>
                    <a:pt x="109" y="153"/>
                  </a:cubicBezTo>
                  <a:cubicBezTo>
                    <a:pt x="128" y="135"/>
                    <a:pt x="128" y="135"/>
                    <a:pt x="128" y="135"/>
                  </a:cubicBezTo>
                  <a:cubicBezTo>
                    <a:pt x="132" y="131"/>
                    <a:pt x="132" y="124"/>
                    <a:pt x="128" y="120"/>
                  </a:cubicBezTo>
                  <a:cubicBezTo>
                    <a:pt x="123" y="116"/>
                    <a:pt x="117" y="116"/>
                    <a:pt x="112" y="120"/>
                  </a:cubicBezTo>
                  <a:cubicBezTo>
                    <a:pt x="99" y="134"/>
                    <a:pt x="99" y="134"/>
                    <a:pt x="99" y="134"/>
                  </a:cubicBezTo>
                  <a:cubicBezTo>
                    <a:pt x="85" y="120"/>
                    <a:pt x="85" y="120"/>
                    <a:pt x="85" y="120"/>
                  </a:cubicBezTo>
                  <a:cubicBezTo>
                    <a:pt x="81" y="116"/>
                    <a:pt x="74" y="116"/>
                    <a:pt x="70" y="120"/>
                  </a:cubicBezTo>
                  <a:cubicBezTo>
                    <a:pt x="66" y="124"/>
                    <a:pt x="66" y="131"/>
                    <a:pt x="70" y="135"/>
                  </a:cubicBezTo>
                  <a:cubicBezTo>
                    <a:pt x="88" y="153"/>
                    <a:pt x="88" y="153"/>
                    <a:pt x="88" y="153"/>
                  </a:cubicBezTo>
                  <a:cubicBezTo>
                    <a:pt x="88" y="234"/>
                    <a:pt x="88" y="234"/>
                    <a:pt x="88" y="234"/>
                  </a:cubicBezTo>
                  <a:cubicBezTo>
                    <a:pt x="67" y="234"/>
                    <a:pt x="67" y="234"/>
                    <a:pt x="67" y="234"/>
                  </a:cubicBezTo>
                  <a:cubicBezTo>
                    <a:pt x="67" y="213"/>
                    <a:pt x="67" y="213"/>
                    <a:pt x="67" y="213"/>
                  </a:cubicBezTo>
                  <a:cubicBezTo>
                    <a:pt x="67" y="196"/>
                    <a:pt x="44" y="158"/>
                    <a:pt x="37" y="146"/>
                  </a:cubicBezTo>
                  <a:cubicBezTo>
                    <a:pt x="37" y="146"/>
                    <a:pt x="21" y="123"/>
                    <a:pt x="21" y="95"/>
                  </a:cubicBezTo>
                  <a:cubicBezTo>
                    <a:pt x="21" y="55"/>
                    <a:pt x="57" y="21"/>
                    <a:pt x="99" y="21"/>
                  </a:cubicBezTo>
                  <a:cubicBezTo>
                    <a:pt x="141" y="21"/>
                    <a:pt x="177" y="55"/>
                    <a:pt x="177" y="95"/>
                  </a:cubicBezTo>
                  <a:cubicBezTo>
                    <a:pt x="177" y="122"/>
                    <a:pt x="161" y="146"/>
                    <a:pt x="161" y="14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Freeform 543"/>
            <p:cNvSpPr>
              <a:spLocks noEditPoints="1"/>
            </p:cNvSpPr>
            <p:nvPr/>
          </p:nvSpPr>
          <p:spPr bwMode="gray">
            <a:xfrm>
              <a:off x="5326" y="249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8" name="Group 37"/>
          <p:cNvGrpSpPr/>
          <p:nvPr/>
        </p:nvGrpSpPr>
        <p:grpSpPr bwMode="gray">
          <a:xfrm>
            <a:off x="1332253" y="1283296"/>
            <a:ext cx="9535886" cy="4341335"/>
            <a:chOff x="1332253" y="1283296"/>
            <a:chExt cx="9535886" cy="4341335"/>
          </a:xfrm>
        </p:grpSpPr>
        <p:cxnSp>
          <p:nvCxnSpPr>
            <p:cNvPr id="39" name="Straight Connector 38"/>
            <p:cNvCxnSpPr/>
            <p:nvPr/>
          </p:nvCxnSpPr>
          <p:spPr bwMode="gray">
            <a:xfrm flipH="1">
              <a:off x="1332253" y="1283296"/>
              <a:ext cx="551543"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gray">
            <a:xfrm flipH="1">
              <a:off x="1332253" y="5615809"/>
              <a:ext cx="551543"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gray">
            <a:xfrm>
              <a:off x="1332253" y="1283296"/>
              <a:ext cx="0" cy="4341335"/>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gray">
            <a:xfrm>
              <a:off x="10868139" y="1283296"/>
              <a:ext cx="0" cy="4341335"/>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gray">
            <a:xfrm flipH="1">
              <a:off x="3320709" y="1283296"/>
              <a:ext cx="7524000"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gray">
            <a:xfrm flipH="1">
              <a:off x="1763486" y="5615809"/>
              <a:ext cx="9089909" cy="0"/>
            </a:xfrm>
            <a:prstGeom prst="line">
              <a:avLst/>
            </a:prstGeom>
            <a:ln w="25400" cap="rnd">
              <a:solidFill>
                <a:srgbClr val="0097A9"/>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11552191"/>
      </p:ext>
    </p:extLst>
  </p:cSld>
  <p:clrMapOvr>
    <a:masterClrMapping/>
  </p:clrMapOvr>
  <p:transition>
    <p:fade/>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3910290-839C-425B-9048-8224F8079590}"/>
              </a:ext>
            </a:extLst>
          </p:cNvPr>
          <p:cNvPicPr/>
          <p:nvPr/>
        </p:nvPicPr>
        <p:blipFill rotWithShape="1">
          <a:blip r:embed="rId2">
            <a:extLst>
              <a:ext uri="{28A0092B-C50C-407E-A947-70E740481C1C}">
                <a14:useLocalDpi xmlns:a14="http://schemas.microsoft.com/office/drawing/2010/main" val="0"/>
              </a:ext>
            </a:extLst>
          </a:blip>
          <a:srcRect l="4816" r="3690"/>
          <a:stretch/>
        </p:blipFill>
        <p:spPr bwMode="auto">
          <a:xfrm>
            <a:off x="3829594" y="827722"/>
            <a:ext cx="4532812" cy="5202556"/>
          </a:xfrm>
          <a:prstGeom prst="rect">
            <a:avLst/>
          </a:prstGeom>
          <a:noFill/>
          <a:ln>
            <a:solidFill>
              <a:srgbClr val="0097A9"/>
            </a:solidFill>
          </a:ln>
        </p:spPr>
      </p:pic>
      <p:cxnSp>
        <p:nvCxnSpPr>
          <p:cNvPr id="8" name="Straight Arrow Connector 7">
            <a:extLst>
              <a:ext uri="{FF2B5EF4-FFF2-40B4-BE49-F238E27FC236}">
                <a16:creationId xmlns:a16="http://schemas.microsoft.com/office/drawing/2014/main" id="{8BCF15B3-28AC-0183-61C1-00EBF70890AC}"/>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7B3FFE2A-1699-5C8A-00FF-E1ED634A5745}"/>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Certificate of Incorporation of Deloitte Touche Tohmatsu India Private Limited </a:t>
            </a:r>
          </a:p>
        </p:txBody>
      </p:sp>
    </p:spTree>
    <p:extLst>
      <p:ext uri="{BB962C8B-B14F-4D97-AF65-F5344CB8AC3E}">
        <p14:creationId xmlns:p14="http://schemas.microsoft.com/office/powerpoint/2010/main" val="353532163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882198-590B-4256-80F9-11D0DE435827}"/>
              </a:ext>
            </a:extLst>
          </p:cNvPr>
          <p:cNvPicPr/>
          <p:nvPr/>
        </p:nvPicPr>
        <p:blipFill>
          <a:blip r:embed="rId2" cstate="email">
            <a:extLst>
              <a:ext uri="{28A0092B-C50C-407E-A947-70E740481C1C}">
                <a14:useLocalDpi xmlns:a14="http://schemas.microsoft.com/office/drawing/2010/main" val="0"/>
              </a:ext>
            </a:extLst>
          </a:blip>
          <a:stretch>
            <a:fillRect/>
          </a:stretch>
        </p:blipFill>
        <p:spPr>
          <a:xfrm>
            <a:off x="3753579" y="1267047"/>
            <a:ext cx="4684843" cy="4991385"/>
          </a:xfrm>
          <a:prstGeom prst="rect">
            <a:avLst/>
          </a:prstGeom>
          <a:ln>
            <a:solidFill>
              <a:srgbClr val="0097A9"/>
            </a:solidFill>
          </a:ln>
        </p:spPr>
      </p:pic>
      <p:cxnSp>
        <p:nvCxnSpPr>
          <p:cNvPr id="6" name="Straight Arrow Connector 5">
            <a:extLst>
              <a:ext uri="{FF2B5EF4-FFF2-40B4-BE49-F238E27FC236}">
                <a16:creationId xmlns:a16="http://schemas.microsoft.com/office/drawing/2014/main" id="{B67C70C3-F99D-E51D-80AB-4D1D78CF32C6}"/>
              </a:ext>
            </a:extLst>
          </p:cNvPr>
          <p:cNvCxnSpPr/>
          <p:nvPr/>
        </p:nvCxnSpPr>
        <p:spPr>
          <a:xfrm flipV="1">
            <a:off x="333467" y="560220"/>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DA60E87-66B6-BFC8-9D13-E365ECB93D12}"/>
              </a:ext>
            </a:extLst>
          </p:cNvPr>
          <p:cNvSpPr/>
          <p:nvPr/>
        </p:nvSpPr>
        <p:spPr bwMode="gray">
          <a:xfrm>
            <a:off x="333466" y="121358"/>
            <a:ext cx="11525067" cy="370522"/>
          </a:xfrm>
          <a:prstGeom prst="rect">
            <a:avLst/>
          </a:prstGeom>
          <a:noFill/>
          <a:ln w="19050" algn="ctr">
            <a:noFill/>
            <a:miter lim="800000"/>
            <a:headEnd/>
            <a:tailEnd/>
          </a:ln>
        </p:spPr>
        <p:txBody>
          <a:bodyPr wrap="square" lIns="88900" tIns="88900" rIns="88900" bIns="88900" rtlCol="0" anchor="ctr"/>
          <a:lstStyle/>
          <a:p>
            <a:pPr>
              <a:lnSpc>
                <a:spcPct val="106000"/>
              </a:lnSpc>
              <a:spcBef>
                <a:spcPct val="0"/>
              </a:spcBef>
            </a:pPr>
            <a:r>
              <a:rPr lang="en-US" b="1">
                <a:latin typeface="+mj-lt"/>
                <a:ea typeface="+mj-ea"/>
                <a:cs typeface="Calibri" panose="020F0502020204030204" pitchFamily="34" charset="0"/>
              </a:rPr>
              <a:t>Certificate of Registration</a:t>
            </a:r>
          </a:p>
        </p:txBody>
      </p:sp>
      <p:sp>
        <p:nvSpPr>
          <p:cNvPr id="9" name="TextBox 8">
            <a:extLst>
              <a:ext uri="{FF2B5EF4-FFF2-40B4-BE49-F238E27FC236}">
                <a16:creationId xmlns:a16="http://schemas.microsoft.com/office/drawing/2014/main" id="{B32C7131-248E-0947-35B4-264B2DCD7E53}"/>
              </a:ext>
            </a:extLst>
          </p:cNvPr>
          <p:cNvSpPr txBox="1"/>
          <p:nvPr/>
        </p:nvSpPr>
        <p:spPr>
          <a:xfrm>
            <a:off x="333466" y="567772"/>
            <a:ext cx="11396418" cy="529312"/>
          </a:xfrm>
          <a:prstGeom prst="rect">
            <a:avLst/>
          </a:prstGeom>
          <a:noFill/>
        </p:spPr>
        <p:txBody>
          <a:bodyPr wrap="square">
            <a:spAutoFit/>
          </a:bodyPr>
          <a:lstStyle/>
          <a:p>
            <a:pPr>
              <a:lnSpc>
                <a:spcPct val="106000"/>
              </a:lnSpc>
              <a:spcBef>
                <a:spcPct val="0"/>
              </a:spcBef>
            </a:pPr>
            <a:r>
              <a:rPr lang="en-US" sz="1400">
                <a:latin typeface="+mj-lt"/>
                <a:ea typeface="+mj-ea"/>
                <a:cs typeface="Calibri" panose="020F0502020204030204" pitchFamily="34" charset="0"/>
              </a:rPr>
              <a:t>Proof of name change from Deloitte Touche Tohmatsu India Private Limited (DTTIPL) to Deloitte Touche Tohmatsu India LLP (DTTILLP))</a:t>
            </a:r>
          </a:p>
        </p:txBody>
      </p:sp>
    </p:spTree>
    <p:extLst>
      <p:ext uri="{BB962C8B-B14F-4D97-AF65-F5344CB8AC3E}">
        <p14:creationId xmlns:p14="http://schemas.microsoft.com/office/powerpoint/2010/main" val="34173878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5AEA14D-F3D0-4FF5-9FA7-E9EAE9EEE779}"/>
              </a:ext>
            </a:extLst>
          </p:cNvPr>
          <p:cNvPicPr>
            <a:picLocks noChangeAspect="1"/>
          </p:cNvPicPr>
          <p:nvPr/>
        </p:nvPicPr>
        <p:blipFill>
          <a:blip r:embed="rId2"/>
          <a:stretch>
            <a:fillRect/>
          </a:stretch>
        </p:blipFill>
        <p:spPr>
          <a:xfrm>
            <a:off x="1068340" y="1176967"/>
            <a:ext cx="4380388" cy="5209463"/>
          </a:xfrm>
          <a:prstGeom prst="rect">
            <a:avLst/>
          </a:prstGeom>
          <a:ln>
            <a:solidFill>
              <a:srgbClr val="0097A9"/>
            </a:solidFill>
          </a:ln>
        </p:spPr>
      </p:pic>
      <p:pic>
        <p:nvPicPr>
          <p:cNvPr id="7" name="Picture 6">
            <a:extLst>
              <a:ext uri="{FF2B5EF4-FFF2-40B4-BE49-F238E27FC236}">
                <a16:creationId xmlns:a16="http://schemas.microsoft.com/office/drawing/2014/main" id="{D551B384-CEED-414E-B00F-47B9125F80C1}"/>
              </a:ext>
            </a:extLst>
          </p:cNvPr>
          <p:cNvPicPr>
            <a:picLocks noChangeAspect="1"/>
          </p:cNvPicPr>
          <p:nvPr/>
        </p:nvPicPr>
        <p:blipFill>
          <a:blip r:embed="rId3"/>
          <a:stretch>
            <a:fillRect/>
          </a:stretch>
        </p:blipFill>
        <p:spPr>
          <a:xfrm>
            <a:off x="7220523" y="1176967"/>
            <a:ext cx="3903138" cy="4914604"/>
          </a:xfrm>
          <a:prstGeom prst="rect">
            <a:avLst/>
          </a:prstGeom>
          <a:ln>
            <a:solidFill>
              <a:srgbClr val="0097A9"/>
            </a:solidFill>
          </a:ln>
        </p:spPr>
      </p:pic>
      <p:sp>
        <p:nvSpPr>
          <p:cNvPr id="4" name="Title 2">
            <a:extLst>
              <a:ext uri="{FF2B5EF4-FFF2-40B4-BE49-F238E27FC236}">
                <a16:creationId xmlns:a16="http://schemas.microsoft.com/office/drawing/2014/main" id="{F83F35B8-2E60-4B86-97B8-0159482F20BD}"/>
              </a:ext>
            </a:extLst>
          </p:cNvPr>
          <p:cNvSpPr txBox="1">
            <a:spLocks/>
          </p:cNvSpPr>
          <p:nvPr/>
        </p:nvSpPr>
        <p:spPr>
          <a:xfrm>
            <a:off x="411118" y="213763"/>
            <a:ext cx="11369764" cy="612673"/>
          </a:xfrm>
        </p:spPr>
        <p:txBody>
          <a:bodyPr vert="horz" lIns="0" tIns="0" rIns="0" bIns="0" rtlCol="0" anchor="t" anchorCtr="0">
            <a:noAutofit/>
          </a:bodyPr>
          <a:lstStyle>
            <a:lvl1pPr algn="l" defTabSz="914400" rtl="0" eaLnBrk="1" latinLnBrk="0" hangingPunct="1">
              <a:spcBef>
                <a:spcPct val="0"/>
              </a:spcBef>
              <a:buNone/>
              <a:defRPr sz="2000" kern="1200">
                <a:solidFill>
                  <a:schemeClr val="tx1"/>
                </a:solidFill>
                <a:latin typeface="Calibri" panose="020F0502020204030204" pitchFamily="34" charset="0"/>
                <a:ea typeface="+mj-ea"/>
                <a:cs typeface="Calibri" panose="020F0502020204030204" pitchFamily="34" charset="0"/>
              </a:defRPr>
            </a:lvl1pPr>
          </a:lstStyle>
          <a:p>
            <a:r>
              <a:rPr lang="en-US" sz="1800" b="1">
                <a:latin typeface="+mj-lt"/>
              </a:rPr>
              <a:t>Scientific and Industrial Research Organisation recognition of CEDAR by the Department of Science and Technology, Govt. of India</a:t>
            </a:r>
          </a:p>
        </p:txBody>
      </p:sp>
      <p:cxnSp>
        <p:nvCxnSpPr>
          <p:cNvPr id="6" name="Straight Arrow Connector 5">
            <a:extLst>
              <a:ext uri="{FF2B5EF4-FFF2-40B4-BE49-F238E27FC236}">
                <a16:creationId xmlns:a16="http://schemas.microsoft.com/office/drawing/2014/main" id="{E01124BD-83C4-B996-1D31-8378B9BACA4C}"/>
              </a:ext>
            </a:extLst>
          </p:cNvPr>
          <p:cNvCxnSpPr/>
          <p:nvPr/>
        </p:nvCxnSpPr>
        <p:spPr>
          <a:xfrm flipV="1">
            <a:off x="333467" y="826438"/>
            <a:ext cx="11525067" cy="0"/>
          </a:xfrm>
          <a:prstGeom prst="straightConnector1">
            <a:avLst/>
          </a:prstGeom>
          <a:ln w="15875">
            <a:solidFill>
              <a:srgbClr val="86BC2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11613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p:cNvSpPr>
            <a:spLocks noGrp="1"/>
          </p:cNvSpPr>
          <p:nvPr>
            <p:ph type="body" sz="quarter" idx="13"/>
          </p:nvPr>
        </p:nvSpPr>
        <p:spPr>
          <a:xfrm>
            <a:off x="501652" y="4211926"/>
            <a:ext cx="8884086" cy="2169825"/>
          </a:xfrm>
        </p:spPr>
        <p:txBody>
          <a:bodyPr/>
          <a:lstStyle/>
          <a:p>
            <a:pPr algn="l"/>
            <a:r>
              <a:rPr lang="en-US"/>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to learn more about our global network of member firms. </a:t>
            </a:r>
          </a:p>
          <a:p>
            <a:pPr algn="l"/>
            <a:r>
              <a:rPr lang="en-US"/>
              <a:t>Deloitte provides audit &amp; assurance, consulting, financial advisory, risk advisory, tax and related services to public and private clients spanning multiple industries. Deloitte serves four out of five Fortune Global 500® companies through a globally connected network of member firms in more than 150 countries and territories bringing world-class capabilities, insights, and high-quality service to address clients’ most complex business challenges. To learn more about how Deloitte’s approximately 258,000 professionals make an impact that matters, please connect with us on Facebook, LinkedIn or Twitter.</a:t>
            </a:r>
          </a:p>
          <a:p>
            <a:pPr algn="l"/>
            <a:r>
              <a:rPr lang="en-US"/>
              <a:t>This communication contains general information only, and none of Deloitte Touche Tohmatsu Limited, its member firms, or their related entities (collectively, the “Deloitte Network”) is, by means of this communication, rendering professional advice or services. Before making any decision or taking any action that may affect your finances or your business, you should consult a qualified professional adviser. No entity in the Deloitte Network shall be responsible for any loss whatsoever sustained by any person who relies on this communication.</a:t>
            </a:r>
          </a:p>
        </p:txBody>
      </p:sp>
      <p:grpSp>
        <p:nvGrpSpPr>
          <p:cNvPr id="3" name="Group 2"/>
          <p:cNvGrpSpPr>
            <a:grpSpLocks noChangeAspect="1"/>
          </p:cNvGrpSpPr>
          <p:nvPr/>
        </p:nvGrpSpPr>
        <p:grpSpPr>
          <a:xfrm>
            <a:off x="501652" y="478221"/>
            <a:ext cx="1998000" cy="374400"/>
            <a:chOff x="398463" y="404813"/>
            <a:chExt cx="1627187" cy="307976"/>
          </a:xfrm>
          <a:solidFill>
            <a:schemeClr val="tx1"/>
          </a:solidFill>
        </p:grpSpPr>
        <p:sp>
          <p:nvSpPr>
            <p:cNvPr id="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Verdana"/>
                <a:ea typeface="+mn-ea"/>
                <a:cs typeface="+mn-cs"/>
              </a:endParaRPr>
            </a:p>
          </p:txBody>
        </p:sp>
        <p:sp>
          <p:nvSpPr>
            <p:cNvPr id="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Verdana"/>
                <a:ea typeface="+mn-ea"/>
                <a:cs typeface="+mn-cs"/>
              </a:endParaRPr>
            </a:p>
          </p:txBody>
        </p:sp>
        <p:sp>
          <p:nvSpPr>
            <p:cNvPr id="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Verdana"/>
                <a:ea typeface="+mn-ea"/>
                <a:cs typeface="+mn-cs"/>
              </a:endParaRPr>
            </a:p>
          </p:txBody>
        </p:sp>
        <p:sp>
          <p:nvSpPr>
            <p:cNvPr id="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Verdana"/>
                <a:ea typeface="+mn-ea"/>
                <a:cs typeface="+mn-cs"/>
              </a:endParaRPr>
            </a:p>
          </p:txBody>
        </p:sp>
        <p:sp>
          <p:nvSpPr>
            <p:cNvPr id="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Verdana"/>
                <a:ea typeface="+mn-ea"/>
                <a:cs typeface="+mn-cs"/>
              </a:endParaRPr>
            </a:p>
          </p:txBody>
        </p:sp>
        <p:sp>
          <p:nvSpPr>
            <p:cNvPr id="10"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Verdana"/>
                <a:ea typeface="+mn-ea"/>
                <a:cs typeface="+mn-cs"/>
              </a:endParaRPr>
            </a:p>
          </p:txBody>
        </p:sp>
        <p:sp>
          <p:nvSpPr>
            <p:cNvPr id="11"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Verdana"/>
                <a:ea typeface="+mn-ea"/>
                <a:cs typeface="+mn-cs"/>
              </a:endParaRPr>
            </a:p>
          </p:txBody>
        </p:sp>
        <p:sp>
          <p:nvSpPr>
            <p:cNvPr id="12"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Verdana"/>
                <a:ea typeface="+mn-ea"/>
                <a:cs typeface="+mn-cs"/>
              </a:endParaRPr>
            </a:p>
          </p:txBody>
        </p:sp>
        <p:sp>
          <p:nvSpPr>
            <p:cNvPr id="13"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Verdana"/>
                <a:ea typeface="+mn-ea"/>
                <a:cs typeface="+mn-cs"/>
              </a:endParaRPr>
            </a:p>
          </p:txBody>
        </p:sp>
        <p:sp>
          <p:nvSpPr>
            <p:cNvPr id="14"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Verdana"/>
                <a:ea typeface="+mn-ea"/>
                <a:cs typeface="+mn-cs"/>
              </a:endParaRPr>
            </a:p>
          </p:txBody>
        </p:sp>
      </p:grpSp>
    </p:spTree>
    <p:extLst>
      <p:ext uri="{BB962C8B-B14F-4D97-AF65-F5344CB8AC3E}">
        <p14:creationId xmlns:p14="http://schemas.microsoft.com/office/powerpoint/2010/main" val="1941242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t6QyIpv1ABuSv4sR5JzVG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t6QyIpv1ABuSv4sR5JzVG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t6QyIpv1ABuSv4sR5JzVG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t6QyIpv1ABuSv4sR5JzVG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t6QyIpv1ABuSv4sR5JzVG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t6QyIpv1ABuSv4sR5JzVG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t6QyIpv1ABuSv4sR5JzVG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t6QyIpv1ABuSv4sR5JzVG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t6QyIpv1ABuSv4sR5JzVG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t6QyIpv1ABuSv4sR5JzVGQ"/>
</p:tagLst>
</file>

<file path=ppt/theme/theme1.xml><?xml version="1.0" encoding="utf-8"?>
<a:theme xmlns:a="http://schemas.openxmlformats.org/drawingml/2006/main" name="Deloitte_US_Onscreen">
  <a:themeElements>
    <a:clrScheme name="Deloitte colour theme">
      <a:dk1>
        <a:sysClr val="windowText" lastClr="000000"/>
      </a:dk1>
      <a:lt1>
        <a:sysClr val="window" lastClr="FFFFFF"/>
      </a:lt1>
      <a:dk2>
        <a:srgbClr val="44546A"/>
      </a:dk2>
      <a:lt2>
        <a:srgbClr val="E7E6E6"/>
      </a:lt2>
      <a:accent1>
        <a:srgbClr val="86BC25"/>
      </a:accent1>
      <a:accent2>
        <a:srgbClr val="2C5234"/>
      </a:accent2>
      <a:accent3>
        <a:srgbClr val="00A3E0"/>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Timesaver (002).potx [Read-Only]" id="{2177C670-C261-4F56-93D8-46A744C68AF6}" vid="{F8D9186C-28CA-408B-B08B-345079E04B59}"/>
    </a:ext>
  </a:extLst>
</a:theme>
</file>

<file path=ppt/theme/theme2.xml><?xml version="1.0" encoding="utf-8"?>
<a:theme xmlns:a="http://schemas.openxmlformats.org/drawingml/2006/main" name="Deloitte_US_Letter_Print Theme">
  <a:themeElements>
    <a:clrScheme name="Deloitte colour theme">
      <a:dk1>
        <a:sysClr val="windowText" lastClr="000000"/>
      </a:dk1>
      <a:lt1>
        <a:sysClr val="window" lastClr="FFFFFF"/>
      </a:lt1>
      <a:dk2>
        <a:srgbClr val="44546A"/>
      </a:dk2>
      <a:lt2>
        <a:srgbClr val="E7E6E6"/>
      </a:lt2>
      <a:accent1>
        <a:srgbClr val="86BC25"/>
      </a:accent1>
      <a:accent2>
        <a:srgbClr val="2C5234"/>
      </a:accent2>
      <a:accent3>
        <a:srgbClr val="00A3E0"/>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US_Letter_Print Theme" id="{5B1C474F-3B6E-4C4C-B8B8-04058258F10F}" vid="{EE8175AA-1F22-47D3-9D7F-F1884DC9EC3E}"/>
    </a:ext>
  </a:extLst>
</a:theme>
</file>

<file path=ppt/theme/theme3.xml><?xml version="1.0" encoding="utf-8"?>
<a:theme xmlns:a="http://schemas.openxmlformats.org/drawingml/2006/main" name="1_Deloitte_US_Onscreen">
  <a:themeElements>
    <a:clrScheme name="Deloitte colour theme">
      <a:dk1>
        <a:sysClr val="windowText" lastClr="000000"/>
      </a:dk1>
      <a:lt1>
        <a:sysClr val="window" lastClr="FFFFFF"/>
      </a:lt1>
      <a:dk2>
        <a:srgbClr val="44546A"/>
      </a:dk2>
      <a:lt2>
        <a:srgbClr val="E7E6E6"/>
      </a:lt2>
      <a:accent1>
        <a:srgbClr val="86BC25"/>
      </a:accent1>
      <a:accent2>
        <a:srgbClr val="2C5234"/>
      </a:accent2>
      <a:accent3>
        <a:srgbClr val="00A3E0"/>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Timesaver (002).potx [Read-Only]" id="{2177C670-C261-4F56-93D8-46A744C68AF6}" vid="{F8D9186C-28CA-408B-B08B-345079E04B59}"/>
    </a:ext>
  </a:extLst>
</a:theme>
</file>

<file path=ppt/theme/theme4.xml><?xml version="1.0" encoding="utf-8"?>
<a:theme xmlns:a="http://schemas.openxmlformats.org/drawingml/2006/main" name="Deloitte_UK_Onscreen">
  <a:themeElements>
    <a:clrScheme name="Deloitte colors">
      <a:dk1>
        <a:srgbClr val="000000"/>
      </a:dk1>
      <a:lt1>
        <a:srgbClr val="FFFFFF"/>
      </a:lt1>
      <a:dk2>
        <a:srgbClr val="44546A"/>
      </a:dk2>
      <a:lt2>
        <a:srgbClr val="E7E6E6"/>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solidFill>
            <a:schemeClr val="accent3"/>
          </a:solidFill>
          <a:miter lim="800000"/>
          <a:headEnd/>
          <a:tailEnd/>
        </a:ln>
      </a:spPr>
      <a:bodyPr wrap="square" lIns="88900" tIns="88900" rIns="88900" bIns="88900" rtlCol="0" anchor="ctr"/>
      <a:lstStyle>
        <a:defPPr algn="ctr">
          <a:lnSpc>
            <a:spcPct val="106000"/>
          </a:lnSpc>
          <a:buFont typeface="Wingdings 2" pitchFamily="18" charset="2"/>
          <a:buNone/>
          <a:defRPr sz="1600" b="1" noProof="0" dirty="0" err="1">
            <a:solidFill>
              <a:schemeClr val="bg1"/>
            </a:solidFill>
          </a:defRPr>
        </a:defPPr>
      </a:lstStyle>
    </a:spDef>
    <a:lnDef>
      <a:spPr>
        <a:ln>
          <a:solidFill>
            <a:srgbClr val="44546A"/>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34000" indent="-234000">
          <a:spcBef>
            <a:spcPts val="0"/>
          </a:spcBef>
          <a:spcAft>
            <a:spcPts val="1333"/>
          </a:spcAft>
          <a:buSzPct val="100000"/>
          <a:buFont typeface="Arial"/>
          <a:buChar char="•"/>
          <a:defRPr sz="1200" noProof="0" dirty="0" err="1">
            <a:solidFill>
              <a:schemeClr val="tx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 widescreen (16-9).potx" id="{D15CC715-B911-44C1-9E94-DDBA3AD356C4}" vid="{6A3836AB-5DCF-4D2F-8285-FE1EF7A83340}"/>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Deloitte colors">
    <a:dk1>
      <a:srgbClr val="000000"/>
    </a:dk1>
    <a:lt1>
      <a:srgbClr val="FFFFFF"/>
    </a:lt1>
    <a:dk2>
      <a:srgbClr val="44546A"/>
    </a:dk2>
    <a:lt2>
      <a:srgbClr val="E7E6E6"/>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954F72"/>
    </a:folHlink>
  </a:clrScheme>
</a:themeOverride>
</file>

<file path=ppt/theme/themeOverride2.xml><?xml version="1.0" encoding="utf-8"?>
<a:themeOverride xmlns:a="http://schemas.openxmlformats.org/drawingml/2006/main">
  <a:clrScheme name="Deloitte colors">
    <a:dk1>
      <a:srgbClr val="000000"/>
    </a:dk1>
    <a:lt1>
      <a:srgbClr val="FFFFFF"/>
    </a:lt1>
    <a:dk2>
      <a:srgbClr val="44546A"/>
    </a:dk2>
    <a:lt2>
      <a:srgbClr val="E7E6E6"/>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c5eb0c75-d775-4cc5-a5da-e10bf2cf3b60"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A76A283236DA447AB8E3A798C62F7DB" ma:contentTypeVersion="13" ma:contentTypeDescription="Create a new document." ma:contentTypeScope="" ma:versionID="d9a945e01d8b12fa16a0c965bfac1f1a">
  <xsd:schema xmlns:xsd="http://www.w3.org/2001/XMLSchema" xmlns:xs="http://www.w3.org/2001/XMLSchema" xmlns:p="http://schemas.microsoft.com/office/2006/metadata/properties" xmlns:ns3="c5eb0c75-d775-4cc5-a5da-e10bf2cf3b60" xmlns:ns4="0942c6f0-4c90-4e40-a577-236d8363579f" targetNamespace="http://schemas.microsoft.com/office/2006/metadata/properties" ma:root="true" ma:fieldsID="ce1171dabe6642958b348ff752849051" ns3:_="" ns4:_="">
    <xsd:import namespace="c5eb0c75-d775-4cc5-a5da-e10bf2cf3b60"/>
    <xsd:import namespace="0942c6f0-4c90-4e40-a577-236d8363579f"/>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5eb0c75-d775-4cc5-a5da-e10bf2cf3b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42c6f0-4c90-4e40-a577-236d8363579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B1A622F-3B3E-4066-9B7A-B55AAEE53F62}">
  <ds:schemaRefs>
    <ds:schemaRef ds:uri="c5eb0c75-d775-4cc5-a5da-e10bf2cf3b60"/>
    <ds:schemaRef ds:uri="http://schemas.microsoft.com/office/2006/metadata/properties"/>
    <ds:schemaRef ds:uri="http://schemas.openxmlformats.org/package/2006/metadata/core-properties"/>
    <ds:schemaRef ds:uri="http://schemas.microsoft.com/office/infopath/2007/PartnerControls"/>
    <ds:schemaRef ds:uri="http://purl.org/dc/terms/"/>
    <ds:schemaRef ds:uri="http://schemas.microsoft.com/office/2006/documentManagement/types"/>
    <ds:schemaRef ds:uri="http://www.w3.org/XML/1998/namespace"/>
    <ds:schemaRef ds:uri="http://purl.org/dc/elements/1.1/"/>
    <ds:schemaRef ds:uri="0942c6f0-4c90-4e40-a577-236d8363579f"/>
    <ds:schemaRef ds:uri="http://purl.org/dc/dcmitype/"/>
  </ds:schemaRefs>
</ds:datastoreItem>
</file>

<file path=customXml/itemProps2.xml><?xml version="1.0" encoding="utf-8"?>
<ds:datastoreItem xmlns:ds="http://schemas.openxmlformats.org/officeDocument/2006/customXml" ds:itemID="{4595CA35-82F5-472D-831B-EFD2DB395805}">
  <ds:schemaRefs>
    <ds:schemaRef ds:uri="0942c6f0-4c90-4e40-a577-236d8363579f"/>
    <ds:schemaRef ds:uri="c5eb0c75-d775-4cc5-a5da-e10bf2cf3b6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E2E7DD3-D075-4534-B089-A76A2E9A1E62}">
  <ds:schemaRefs>
    <ds:schemaRef ds:uri="http://schemas.microsoft.com/sharepoint/v3/contenttype/forms"/>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otalTime>2442</TotalTime>
  <Words>37005</Words>
  <Application>Microsoft Office PowerPoint</Application>
  <PresentationFormat>Widescreen</PresentationFormat>
  <Paragraphs>2640</Paragraphs>
  <Slides>131</Slides>
  <Notes>28</Notes>
  <HiddenSlides>2</HiddenSlides>
  <MMClips>0</MMClips>
  <ScaleCrop>false</ScaleCrop>
  <HeadingPairs>
    <vt:vector size="8" baseType="variant">
      <vt:variant>
        <vt:lpstr>Fonts Used</vt:lpstr>
      </vt:variant>
      <vt:variant>
        <vt:i4>12</vt:i4>
      </vt:variant>
      <vt:variant>
        <vt:lpstr>Theme</vt:lpstr>
      </vt:variant>
      <vt:variant>
        <vt:i4>4</vt:i4>
      </vt:variant>
      <vt:variant>
        <vt:lpstr>Embedded OLE Servers</vt:lpstr>
      </vt:variant>
      <vt:variant>
        <vt:i4>1</vt:i4>
      </vt:variant>
      <vt:variant>
        <vt:lpstr>Slide Titles</vt:lpstr>
      </vt:variant>
      <vt:variant>
        <vt:i4>131</vt:i4>
      </vt:variant>
    </vt:vector>
  </HeadingPairs>
  <TitlesOfParts>
    <vt:vector size="148" baseType="lpstr">
      <vt:lpstr>PMingLiU</vt:lpstr>
      <vt:lpstr>Aptos</vt:lpstr>
      <vt:lpstr>Arial</vt:lpstr>
      <vt:lpstr>Calibri</vt:lpstr>
      <vt:lpstr>Cambria Math</vt:lpstr>
      <vt:lpstr>Chronicle Display Black</vt:lpstr>
      <vt:lpstr>Courier New</vt:lpstr>
      <vt:lpstr>Open Sans</vt:lpstr>
      <vt:lpstr>Times New Roman</vt:lpstr>
      <vt:lpstr>Verdana</vt:lpstr>
      <vt:lpstr>Wingdings</vt:lpstr>
      <vt:lpstr>Wingdings 2</vt:lpstr>
      <vt:lpstr>Deloitte_US_Onscreen</vt:lpstr>
      <vt:lpstr>Deloitte_US_Letter_Print Theme</vt:lpstr>
      <vt:lpstr>1_Deloitte_US_Onscreen</vt:lpstr>
      <vt:lpstr>Deloitte_UK_Onscreen</vt:lpstr>
      <vt:lpstr>think-cell Slide</vt:lpstr>
      <vt:lpstr>PowerPoint Presentation</vt:lpstr>
      <vt:lpstr>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Roy, Gargi</dc:creator>
  <cp:lastModifiedBy>Tiwari, Parul</cp:lastModifiedBy>
  <cp:revision>2</cp:revision>
  <dcterms:created xsi:type="dcterms:W3CDTF">2022-02-25T05:48:27Z</dcterms:created>
  <dcterms:modified xsi:type="dcterms:W3CDTF">2026-09-09T03:57:00Z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2022-02-25T05:48:27Z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4b4ba176-138b-40e7-956f-e249cd7a86ee</vt:lpwstr>
  </property>
  <property fmtid="{D5CDD505-2E9C-101B-9397-08002B2CF9AE}" pid="8" name="MSIP_Label_ea60d57e-af5b-4752-ac57-3e4f28ca11dc_ContentBits">
    <vt:lpwstr>0</vt:lpwstr>
  </property>
  <property fmtid="{D5CDD505-2E9C-101B-9397-08002B2CF9AE}" pid="9" name="ContentTypeId">
    <vt:lpwstr>0x0101003A76A283236DA447AB8E3A798C62F7DB</vt:lpwstr>
  </property>
</Properties>
</file>