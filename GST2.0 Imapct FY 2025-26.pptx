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6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6" d="100"/>
          <a:sy n="56" d="100"/>
        </p:scale>
        <p:origin x="1000" y="16"/>
      </p:cViewPr>
      <p:guideLst/>
    </p:cSldViewPr>
  </p:slideViewPr>
  <p:notesTextViewPr>
    <p:cViewPr>
      <p:scale>
        <a:sx n="1" d="1"/>
        <a:sy n="1" d="1"/>
      </p:scale>
      <p:origin x="0" y="-2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C3065-60ED-4116-9E19-F8FC02A746EE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5A8E9-D74F-45B7-8361-237A9B8D7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1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ABB5-39B8-B48D-1529-76A8CC23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306D5-63FC-3670-A3D6-FD0F40C91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95AC8-BD21-B775-7466-188BD2AF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Adani power &amp; Vidyut </a:t>
            </a:r>
            <a:r>
              <a:rPr lang="en-US" dirty="0" err="1"/>
              <a:t>utpadan</a:t>
            </a:r>
            <a:endParaRPr lang="en-US" dirty="0"/>
          </a:p>
          <a:p>
            <a:r>
              <a:rPr lang="en-US" dirty="0"/>
              <a:t>08AABCA2957L1ZG</a:t>
            </a:r>
          </a:p>
          <a:p>
            <a:r>
              <a:rPr lang="en-US" dirty="0"/>
              <a:t>08AABCR7436B1ZK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099E3-5A27-AC19-9E8A-BC19E588A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75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1238A-B604-4279-8096-D93EB9E4C4FE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7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287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4538-1541-320E-E8D0-EF9C6090F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92E04-8158-0A1A-6513-947190227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9190-04FC-BC1B-990B-3600B08B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C798B-BAD0-1976-8EB4-9F397C68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9F2E4-59B6-4D81-6A24-11618E71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0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C38-76DC-D7DE-5B57-78995433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17E4-2189-0506-FC28-AFB899FCB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F4CCB-AB60-58C7-5FA3-1701EA47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736D8-FDD3-53C9-A894-FBD18F9D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495E3-209A-8BD6-0F04-4C989E7F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46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1AA5-C4AC-983F-66DD-DE6467B1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D5CE3-7E18-529D-003F-E9CF3B6F8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8CB7F-3E1E-AC6D-6F3E-5BF288EF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AAB9-F50F-FB46-7317-68386917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BB69F-1A0A-5264-FEDF-EE923C74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65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8CAC-6DCF-AD4D-FD2E-26462C87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3B426-0BF3-7F93-99E8-666F203E3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F0CE3-8F41-5DE3-8789-70111CE7F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3A017-484B-DDA7-FEA5-4B1BEA44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C158E-61B8-6722-D05D-E1AFBBB24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1F1D3-B01F-EDBF-94EC-ABB527F2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4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4220-0429-CCEA-6B51-F5060603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4BC90-829E-59C5-2125-997AF21E9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2BCB5-9105-2870-BF35-91F22B3A3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630FD-4E3E-BCFA-2709-39466CC42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2337E-DDDD-1DBB-9F46-E8FC77C19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A1BD4-9FF1-C92F-D79F-537DB0DF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E3234-484E-341E-EF67-5713C647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78A77-0B56-DCE6-7793-ECE8FF00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77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29B8-2045-4EF6-FAD9-76221DC9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468B5-FFCC-C9E7-003B-176F20A3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53A43-122A-BA0A-4A63-554C350D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5C35B-D396-7352-DCF4-66458A72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61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3FE92-E117-C3B3-E8C9-F6F1C44CC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12A4C-808A-3D01-D422-37A065AE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6A418-6999-ABB5-0942-FB4EB2E3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25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B67D-2EBC-3747-8766-D9DBCC69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9172-66C4-8AE6-A685-2B73589D5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3682D-9CD0-DA70-AC4A-F5262FA6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FF5A8-F5D9-F800-2B53-B54F4700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05C46-59BE-ECCC-3828-52E2E3F8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97EF5-87C6-BEDC-E34C-DBD2179A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3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EF6-B693-5C22-2178-84DA405A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467A2-2805-9733-37CC-A5C84C0AF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72849-801C-19A5-30F4-AD8BCD1A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4CB9-ED4A-CDFD-97CD-CB201E6B0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DB5E4-F423-4F3F-F047-A50AA15C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A8DBC-8AE8-B424-7B5F-090668F0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79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0E4E-A828-B8A3-D00F-5D5C9A3C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8EEA9-F206-F4D7-12F3-785814318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09E6-3165-B5EF-60B4-49255004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1515F-B4FC-C8FE-DCD7-B9E51664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D7A0A-5612-FC15-A939-2B1F1BE3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31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94386-A7ED-3E10-6E9A-DBF2D90DB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7FA8E-A942-3B9D-C113-1477988A8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8BC8E-FC77-7030-F572-AB6187F0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E30F8-B6C9-E3EB-B1F0-AC85980A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7D63-141D-0917-9C06-97E6F0F4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381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3E5D-D4D4-47A0-B3D2-9C348E301267}" type="datetime3">
              <a:rPr lang="en-US" smtClean="0"/>
              <a:t>18 May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343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108D9-FC85-546F-0C13-C3C3612D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14A0D-DABE-3DCA-F782-4814B91E4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B7F5-D5CA-65EB-4A88-F2971A674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FE18D-086C-485F-9121-90097CFCF5E7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7D42-5E51-A382-4C04-BC95CDF43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5852-6287-4620-5F00-B6269353A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A4A00-F675-4AD1-A2CE-BCA47BDB4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4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196D-AFF3-1F63-C845-A16BD9E0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ED6154-CD12-B239-8504-086B7E2ECE25}"/>
              </a:ext>
            </a:extLst>
          </p:cNvPr>
          <p:cNvSpPr txBox="1">
            <a:spLocks/>
          </p:cNvSpPr>
          <p:nvPr/>
        </p:nvSpPr>
        <p:spPr>
          <a:xfrm>
            <a:off x="119336" y="130218"/>
            <a:ext cx="11259324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j-cs"/>
              </a:rPr>
              <a:t>Major Sector GTO &amp; Liability comparison (Old Rate vs New Rate) : FY 2025-26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62FA1-65DA-1C2E-7534-61ADD7166DA9}"/>
              </a:ext>
            </a:extLst>
          </p:cNvPr>
          <p:cNvSpPr txBox="1"/>
          <p:nvPr/>
        </p:nvSpPr>
        <p:spPr>
          <a:xfrm>
            <a:off x="10819692" y="388427"/>
            <a:ext cx="111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Amt in Cr.</a:t>
            </a:r>
            <a:endParaRPr kumimoji="0" lang="en-I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30893-49D2-4400-7916-CA34CC836936}"/>
              </a:ext>
            </a:extLst>
          </p:cNvPr>
          <p:cNvSpPr txBox="1"/>
          <p:nvPr/>
        </p:nvSpPr>
        <p:spPr>
          <a:xfrm>
            <a:off x="119336" y="6307941"/>
            <a:ext cx="9793088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to increase in rate of coal from 5% to 18%, indirect revenue increases by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+347.35 Cr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/>
              </a:rPr>
              <a:t>Net Impact due to GST2.0 is approx. 2050.46 Cr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199331-ACD3-654A-BACE-60A4F1A521D5}"/>
              </a:ext>
            </a:extLst>
          </p:cNvPr>
          <p:cNvGraphicFramePr>
            <a:graphicFrameLocks noGrp="1"/>
          </p:cNvGraphicFramePr>
          <p:nvPr/>
        </p:nvGraphicFramePr>
        <p:xfrm>
          <a:off x="254373" y="757759"/>
          <a:ext cx="11683253" cy="5422069"/>
        </p:xfrm>
        <a:graphic>
          <a:graphicData uri="http://schemas.openxmlformats.org/drawingml/2006/table">
            <a:tbl>
              <a:tblPr/>
              <a:tblGrid>
                <a:gridCol w="1643444">
                  <a:extLst>
                    <a:ext uri="{9D8B030D-6E8A-4147-A177-3AD203B41FA5}">
                      <a16:colId xmlns:a16="http://schemas.microsoft.com/office/drawing/2014/main" val="3898627072"/>
                    </a:ext>
                  </a:extLst>
                </a:gridCol>
                <a:gridCol w="1339680">
                  <a:extLst>
                    <a:ext uri="{9D8B030D-6E8A-4147-A177-3AD203B41FA5}">
                      <a16:colId xmlns:a16="http://schemas.microsoft.com/office/drawing/2014/main" val="1635227219"/>
                    </a:ext>
                  </a:extLst>
                </a:gridCol>
                <a:gridCol w="1339680">
                  <a:extLst>
                    <a:ext uri="{9D8B030D-6E8A-4147-A177-3AD203B41FA5}">
                      <a16:colId xmlns:a16="http://schemas.microsoft.com/office/drawing/2014/main" val="3339490989"/>
                    </a:ext>
                  </a:extLst>
                </a:gridCol>
                <a:gridCol w="1292946">
                  <a:extLst>
                    <a:ext uri="{9D8B030D-6E8A-4147-A177-3AD203B41FA5}">
                      <a16:colId xmlns:a16="http://schemas.microsoft.com/office/drawing/2014/main" val="2727248645"/>
                    </a:ext>
                  </a:extLst>
                </a:gridCol>
                <a:gridCol w="1083570">
                  <a:extLst>
                    <a:ext uri="{9D8B030D-6E8A-4147-A177-3AD203B41FA5}">
                      <a16:colId xmlns:a16="http://schemas.microsoft.com/office/drawing/2014/main" val="1373852270"/>
                    </a:ext>
                  </a:extLst>
                </a:gridCol>
                <a:gridCol w="1201479">
                  <a:extLst>
                    <a:ext uri="{9D8B030D-6E8A-4147-A177-3AD203B41FA5}">
                      <a16:colId xmlns:a16="http://schemas.microsoft.com/office/drawing/2014/main" val="1660202130"/>
                    </a:ext>
                  </a:extLst>
                </a:gridCol>
                <a:gridCol w="1243293">
                  <a:extLst>
                    <a:ext uri="{9D8B030D-6E8A-4147-A177-3AD203B41FA5}">
                      <a16:colId xmlns:a16="http://schemas.microsoft.com/office/drawing/2014/main" val="4835457"/>
                    </a:ext>
                  </a:extLst>
                </a:gridCol>
                <a:gridCol w="1417568">
                  <a:extLst>
                    <a:ext uri="{9D8B030D-6E8A-4147-A177-3AD203B41FA5}">
                      <a16:colId xmlns:a16="http://schemas.microsoft.com/office/drawing/2014/main" val="4221111712"/>
                    </a:ext>
                  </a:extLst>
                </a:gridCol>
                <a:gridCol w="1121593">
                  <a:extLst>
                    <a:ext uri="{9D8B030D-6E8A-4147-A177-3AD203B41FA5}">
                      <a16:colId xmlns:a16="http://schemas.microsoft.com/office/drawing/2014/main" val="1607546264"/>
                    </a:ext>
                  </a:extLst>
                </a:gridCol>
              </a:tblGrid>
              <a:tr h="265541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Sector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Before GST 2.0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After GST2.0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New Rate (GST 2.0)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572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Estimated based on 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9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Difference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310951"/>
                  </a:ext>
                </a:extLst>
              </a:tr>
              <a:tr h="26554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Old Rates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977755"/>
                  </a:ext>
                </a:extLst>
              </a:tr>
              <a:tr h="5228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Old GST Rate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New GST Rate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Liability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Net Revenue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Liability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Net Revenue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Liability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Net Revenue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748313"/>
                  </a:ext>
                </a:extLst>
              </a:tr>
              <a:tr h="5817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Vehicle/Automobile &amp; Spare Parts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12736.88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2487.43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18786.38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3148.35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-6049.50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-660.92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247572"/>
                  </a:ext>
                </a:extLst>
              </a:tr>
              <a:tr h="3460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Electrical Equipment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8836.51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1219.32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10976.92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1737.51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-2140.41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-518.19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3657"/>
                  </a:ext>
                </a:extLst>
              </a:tr>
              <a:tr h="3460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Cement / Construction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9609.02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1610.45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12194.64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2082.52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-2585.62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-472.07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799440"/>
                  </a:ext>
                </a:extLst>
              </a:tr>
              <a:tr h="85418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Rubber &amp; articles thereof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5%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998.66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198.45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1502.35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401.93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-503.69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-203.48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57457"/>
                  </a:ext>
                </a:extLst>
              </a:tr>
              <a:tr h="3460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Insurance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320.11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41.82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834.84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245.00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-514.73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-203.18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93352"/>
                  </a:ext>
                </a:extLst>
              </a:tr>
              <a:tr h="648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Heavy Machinery &amp; Air Conditioning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18%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3801.62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358.13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4277.89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529.90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-476.26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-171.77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865496"/>
                  </a:ext>
                </a:extLst>
              </a:tr>
              <a:tr h="3460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Pharmaceuticals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5% 12%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0% / 5%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368.38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115.03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800.42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251.31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-432.04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-136.28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170939"/>
                  </a:ext>
                </a:extLst>
              </a:tr>
              <a:tr h="5817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Miscellaneous Edible Items (Food Sector)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5% / 12%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0% / 5%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759.30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124.43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1182.40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156.28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-423.10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-31.86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237135"/>
                  </a:ext>
                </a:extLst>
              </a:tr>
              <a:tr h="2945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12" marR="3912" marT="39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12" marR="3912" marT="39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12" marR="3912" marT="39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37430.48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6155.06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50555.82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8552.82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-13125.34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-2397.77</a:t>
                      </a:r>
                    </a:p>
                  </a:txBody>
                  <a:tcPr marL="3912" marR="3912" marT="39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1934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39497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METADATAKEY" val="{&quot;IsGroupedWithPreviues&quot;:false}"/>
  <p:tag name="SLIDEREPEATERSKEY" val="nul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Jain, Anant</dc:creator>
  <cp:lastModifiedBy>Jain, Anant</cp:lastModifiedBy>
  <cp:revision>1</cp:revision>
  <dcterms:created xsi:type="dcterms:W3CDTF">2026-05-18T11:16:10Z</dcterms:created>
  <dcterms:modified xsi:type="dcterms:W3CDTF">2026-05-18T11:16:58Z</dcterms:modified>
</cp:coreProperties>
</file>