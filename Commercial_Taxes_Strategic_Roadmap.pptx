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sldIdLst>
    <p:sldId id="256" r:id="rId3"/>
    <p:sldId id="272" r:id="rId4"/>
    <p:sldId id="258" r:id="rId5"/>
    <p:sldId id="259" r:id="rId6"/>
    <p:sldId id="269" r:id="rId7"/>
    <p:sldId id="270" r:id="rId8"/>
    <p:sldId id="262" r:id="rId9"/>
    <p:sldId id="263" r:id="rId10"/>
    <p:sldId id="264" r:id="rId11"/>
    <p:sldId id="265" r:id="rId12"/>
    <p:sldId id="271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6" d="100"/>
          <a:sy n="36" d="100"/>
        </p:scale>
        <p:origin x="1296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653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749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80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92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103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569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8046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5737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568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8145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05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E1163-0576-4046-999C-E6BBB9442AB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15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5AAD08-2F7C-6588-4568-6913C8BE7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8636" y="8767512"/>
            <a:ext cx="20859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10102-90E1-B80C-6C97-E371C95E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705A31-ED45-C71D-61B8-BB46C170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8636" y="8767512"/>
            <a:ext cx="2085975" cy="314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2B6E57-7C98-4FA1-3D77-884BF47B9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1" y="0"/>
            <a:ext cx="16446199" cy="908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48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81A494-F7FC-4EAE-8C3D-B51B3819A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8636" y="8767512"/>
            <a:ext cx="2085975" cy="314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365ACD-B800-BD5D-451C-3B1049B3B6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757233"/>
            <a:ext cx="16234610" cy="6324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E597F-E4C7-9CA0-FB58-BD3E3FED8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5602" y="8791972"/>
            <a:ext cx="1345798" cy="289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4A13A1-BB64-15FD-1836-430704BAF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6150" y="8404178"/>
            <a:ext cx="260985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756" y="497919"/>
            <a:ext cx="14020800" cy="8764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Audit – Data driven selection and Risk Score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005583"/>
              </p:ext>
            </p:extLst>
          </p:nvPr>
        </p:nvGraphicFramePr>
        <p:xfrm>
          <a:off x="740756" y="1371600"/>
          <a:ext cx="1448446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9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2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2621">
                  <a:extLst>
                    <a:ext uri="{9D8B030D-6E8A-4147-A177-3AD203B41FA5}">
                      <a16:colId xmlns:a16="http://schemas.microsoft.com/office/drawing/2014/main" val="3055101222"/>
                    </a:ext>
                  </a:extLst>
                </a:gridCol>
              </a:tblGrid>
              <a:tr h="934720">
                <a:tc>
                  <a:txBody>
                    <a:bodyPr/>
                    <a:lstStyle/>
                    <a:p>
                      <a:pPr algn="ctr"/>
                      <a:r>
                        <a:rPr lang="en-IN" sz="2700" dirty="0"/>
                        <a:t>Audit Completed </a:t>
                      </a:r>
                    </a:p>
                    <a:p>
                      <a:pPr algn="ctr"/>
                      <a:r>
                        <a:rPr lang="en-IN" sz="2700" dirty="0"/>
                        <a:t>(Jan’26 – till date)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700" dirty="0"/>
                        <a:t>Plan for next 6 months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en-IN" sz="2700" b="1" dirty="0"/>
                        <a:t>1610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700" b="1" dirty="0"/>
                        <a:t>No of Cases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700" b="1" dirty="0"/>
                        <a:t>Revenue Potential (in Cr.)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700" b="1" dirty="0"/>
                        <a:t>2235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700" b="1" dirty="0"/>
                        <a:t>87.80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7F9975F-B4C5-35BA-03D5-B15DF2043F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306145"/>
              </p:ext>
            </p:extLst>
          </p:nvPr>
        </p:nvGraphicFramePr>
        <p:xfrm>
          <a:off x="740755" y="3733800"/>
          <a:ext cx="14484468" cy="502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615845">
                  <a:extLst>
                    <a:ext uri="{9D8B030D-6E8A-4147-A177-3AD203B41FA5}">
                      <a16:colId xmlns:a16="http://schemas.microsoft.com/office/drawing/2014/main" val="3259405877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7603963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668862140"/>
                    </a:ext>
                  </a:extLst>
                </a:gridCol>
                <a:gridCol w="2220423">
                  <a:extLst>
                    <a:ext uri="{9D8B030D-6E8A-4147-A177-3AD203B41FA5}">
                      <a16:colId xmlns:a16="http://schemas.microsoft.com/office/drawing/2014/main" val="966871517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  Initiative </a:t>
                      </a:r>
                      <a:endParaRPr lang="en-IN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Status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Deadline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Comments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892701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Data driven selection of audit cases along with 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17425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Priority Audits for Large taxpayers with High Risk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68398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Sector wise and Region wise selection Targeting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375146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Focus on revenue-sensitive and Evasion prone sectors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303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816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756" y="497919"/>
            <a:ext cx="14020800" cy="8764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Scrutiny of Returns: Enhancing Recovery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756" y="1374372"/>
            <a:ext cx="14020800" cy="707813"/>
          </a:xfrm>
        </p:spPr>
        <p:txBody>
          <a:bodyPr/>
          <a:lstStyle/>
          <a:p>
            <a:pPr algn="just"/>
            <a:r>
              <a:rPr lang="en-IN" b="1" dirty="0"/>
              <a:t>Aim</a:t>
            </a:r>
            <a:r>
              <a:rPr lang="en-IN" dirty="0"/>
              <a:t>: Increase Recovery rate from 11.48% to 20%.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556272"/>
              </p:ext>
            </p:extLst>
          </p:nvPr>
        </p:nvGraphicFramePr>
        <p:xfrm>
          <a:off x="2260600" y="2216189"/>
          <a:ext cx="9002376" cy="1399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2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1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700" dirty="0"/>
                        <a:t>Cases under Scrutiny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700" dirty="0"/>
                        <a:t>Potential (in Cr.) 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3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40970</a:t>
                      </a: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3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425.96</a:t>
                      </a: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47C09D71-6FF4-C210-B3BB-9CACB82056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0737583"/>
              </p:ext>
            </p:extLst>
          </p:nvPr>
        </p:nvGraphicFramePr>
        <p:xfrm>
          <a:off x="501532" y="3810000"/>
          <a:ext cx="14484468" cy="502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615845">
                  <a:extLst>
                    <a:ext uri="{9D8B030D-6E8A-4147-A177-3AD203B41FA5}">
                      <a16:colId xmlns:a16="http://schemas.microsoft.com/office/drawing/2014/main" val="3259405877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7603963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668862140"/>
                    </a:ext>
                  </a:extLst>
                </a:gridCol>
                <a:gridCol w="2220423">
                  <a:extLst>
                    <a:ext uri="{9D8B030D-6E8A-4147-A177-3AD203B41FA5}">
                      <a16:colId xmlns:a16="http://schemas.microsoft.com/office/drawing/2014/main" val="966871517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  Initiative </a:t>
                      </a:r>
                      <a:endParaRPr lang="en-IN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Status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Deadline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Comments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892701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Initiate high inter-state sales scrutiny based on new selection parameters.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17425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Investigate Reversal in Exempted Turnover cases.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68398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E-way Bill to Toll Plaza data analysis integration.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375146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Complete ongoing SCN pendency for all existing scrutiny cases.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303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957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087" y="198662"/>
            <a:ext cx="14020800" cy="8764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Enforcement : Operations &amp; Targets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201479-D94A-50CC-6DCD-0F37B9EA0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577048"/>
              </p:ext>
            </p:extLst>
          </p:nvPr>
        </p:nvGraphicFramePr>
        <p:xfrm>
          <a:off x="957836" y="1075115"/>
          <a:ext cx="13518933" cy="3000576"/>
        </p:xfrm>
        <a:graphic>
          <a:graphicData uri="http://schemas.openxmlformats.org/drawingml/2006/table">
            <a:tbl>
              <a:tblPr/>
              <a:tblGrid>
                <a:gridCol w="7029845">
                  <a:extLst>
                    <a:ext uri="{9D8B030D-6E8A-4147-A177-3AD203B41FA5}">
                      <a16:colId xmlns:a16="http://schemas.microsoft.com/office/drawing/2014/main" val="830127379"/>
                    </a:ext>
                  </a:extLst>
                </a:gridCol>
                <a:gridCol w="2885996">
                  <a:extLst>
                    <a:ext uri="{9D8B030D-6E8A-4147-A177-3AD203B41FA5}">
                      <a16:colId xmlns:a16="http://schemas.microsoft.com/office/drawing/2014/main" val="120620864"/>
                    </a:ext>
                  </a:extLst>
                </a:gridCol>
                <a:gridCol w="3603092">
                  <a:extLst>
                    <a:ext uri="{9D8B030D-6E8A-4147-A177-3AD203B41FA5}">
                      <a16:colId xmlns:a16="http://schemas.microsoft.com/office/drawing/2014/main" val="2268552480"/>
                    </a:ext>
                  </a:extLst>
                </a:gridCol>
              </a:tblGrid>
              <a:tr h="966572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Particulars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Completed in 2025-26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Plan for </a:t>
                      </a:r>
                    </a:p>
                    <a:p>
                      <a:pPr algn="ctr" rtl="0" fontAlgn="b"/>
                      <a:r>
                        <a:rPr lang="en-IN" sz="3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2026-27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731425"/>
                  </a:ext>
                </a:extLst>
              </a:tr>
              <a:tr h="50850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No. of Cases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638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1000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52621"/>
                  </a:ext>
                </a:extLst>
              </a:tr>
              <a:tr h="50850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No. of Arrests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6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512516"/>
                  </a:ext>
                </a:extLst>
              </a:tr>
              <a:tr h="50850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No. of Vehicle Inspection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267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203107"/>
                  </a:ext>
                </a:extLst>
              </a:tr>
              <a:tr h="50850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Revenue Realized</a:t>
                      </a:r>
                    </a:p>
                  </a:txBody>
                  <a:tcPr marL="7041" marR="7041" marT="70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3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459 Cr.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261353"/>
                  </a:ext>
                </a:extLst>
              </a:tr>
            </a:tbl>
          </a:graphicData>
        </a:graphic>
      </p:graphicFrame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4741F7D1-2F2C-A403-DEEA-A6FC296FD3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7938060"/>
              </p:ext>
            </p:extLst>
          </p:nvPr>
        </p:nvGraphicFramePr>
        <p:xfrm>
          <a:off x="652087" y="4343400"/>
          <a:ext cx="14484468" cy="3931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615845">
                  <a:extLst>
                    <a:ext uri="{9D8B030D-6E8A-4147-A177-3AD203B41FA5}">
                      <a16:colId xmlns:a16="http://schemas.microsoft.com/office/drawing/2014/main" val="3259405877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7603963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668862140"/>
                    </a:ext>
                  </a:extLst>
                </a:gridCol>
                <a:gridCol w="2220423">
                  <a:extLst>
                    <a:ext uri="{9D8B030D-6E8A-4147-A177-3AD203B41FA5}">
                      <a16:colId xmlns:a16="http://schemas.microsoft.com/office/drawing/2014/main" val="966871517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  Initiative </a:t>
                      </a:r>
                      <a:endParaRPr lang="en-IN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Status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Deadline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Comments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892701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Focus on Fake Firms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17425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Red Alert from central Authorities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68398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High Evasion prone Sectors </a:t>
                      </a:r>
                      <a:br>
                        <a:rPr lang="en-IN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</a:br>
                      <a:r>
                        <a:rPr lang="en-IN" sz="24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(Tabacco, sanitary items, Pan Masala, Electrical Goods, Iron &amp; Stell, Dry Fruits, Timber , Edible Oil)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375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438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756" y="497919"/>
            <a:ext cx="14020800" cy="8764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Fraud Detection : Intelligence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227" y="1636144"/>
            <a:ext cx="15226453" cy="70534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63280" y="1636145"/>
          <a:ext cx="10221573" cy="1028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4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15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Fake Firms Detected since Sep 2024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ITC involved (in Cr.)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en-IN" sz="2700" b="1" dirty="0"/>
                        <a:t>300+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700" b="1" dirty="0"/>
                        <a:t>668.41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58867C7F-1BF9-3020-CD40-1907B3FB84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3804479"/>
              </p:ext>
            </p:extLst>
          </p:nvPr>
        </p:nvGraphicFramePr>
        <p:xfrm>
          <a:off x="528320" y="3124200"/>
          <a:ext cx="15448281" cy="5410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361680">
                  <a:extLst>
                    <a:ext uri="{9D8B030D-6E8A-4147-A177-3AD203B41FA5}">
                      <a16:colId xmlns:a16="http://schemas.microsoft.com/office/drawing/2014/main" val="3259405877"/>
                    </a:ext>
                  </a:extLst>
                </a:gridCol>
                <a:gridCol w="2280315">
                  <a:extLst>
                    <a:ext uri="{9D8B030D-6E8A-4147-A177-3AD203B41FA5}">
                      <a16:colId xmlns:a16="http://schemas.microsoft.com/office/drawing/2014/main" val="2760396302"/>
                    </a:ext>
                  </a:extLst>
                </a:gridCol>
                <a:gridCol w="2438113">
                  <a:extLst>
                    <a:ext uri="{9D8B030D-6E8A-4147-A177-3AD203B41FA5}">
                      <a16:colId xmlns:a16="http://schemas.microsoft.com/office/drawing/2014/main" val="668862140"/>
                    </a:ext>
                  </a:extLst>
                </a:gridCol>
                <a:gridCol w="2368173">
                  <a:extLst>
                    <a:ext uri="{9D8B030D-6E8A-4147-A177-3AD203B41FA5}">
                      <a16:colId xmlns:a16="http://schemas.microsoft.com/office/drawing/2014/main" val="966871517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Initiative </a:t>
                      </a:r>
                      <a:endParaRPr lang="en-IN" sz="36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Status</a:t>
                      </a:r>
                      <a:endParaRPr lang="en-IN" sz="3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Deadline</a:t>
                      </a:r>
                      <a:endParaRPr lang="en-IN" sz="3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Comments</a:t>
                      </a:r>
                      <a:endParaRPr lang="en-IN" sz="3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892701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New Report: New Registrations with abnormal Turnover spike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In-progress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  15-06-2026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ITMS Team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17425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New Report: New Registrations with high inter-state Sales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In-progress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  15-06-2026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ITMS Team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68398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New Report: Image Analytics – Detecting fake registrations using images of past fake Taxpayers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In-progress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  15-06-2026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ITMS Team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375146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New Report: Detect evasions using Electricity, Transport, Mining, Registration and Stamps Departmental data.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In-progress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  15-06-2026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ITMS Team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303159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Increase Pre-GST field visits of suspicious taxpayers – Increase monthly average of 350 to 500.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In-progress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  15-06-2026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ITMS Team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213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957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756" y="497919"/>
            <a:ext cx="14020800" cy="8764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Taxpayer Base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063" y="1905000"/>
            <a:ext cx="14484468" cy="1491148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IN" sz="3200" dirty="0">
                <a:solidFill>
                  <a:prstClr val="black"/>
                </a:solidFill>
              </a:rPr>
              <a:t>The GST Taxpayer base of Rajasthan has grown by </a:t>
            </a:r>
            <a:r>
              <a:rPr lang="en-IN" sz="3200" b="1" dirty="0">
                <a:solidFill>
                  <a:srgbClr val="70AD47">
                    <a:lumMod val="50000"/>
                  </a:srgbClr>
                </a:solidFill>
              </a:rPr>
              <a:t>126%</a:t>
            </a:r>
            <a:r>
              <a:rPr lang="en-IN" sz="3200" dirty="0">
                <a:solidFill>
                  <a:prstClr val="black"/>
                </a:solidFill>
              </a:rPr>
              <a:t> in last 8 years of GST implementation.  Current Userbase 9.81 Lakh</a:t>
            </a:r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4627ECD5-2D01-3DEF-3CD9-45D314C32A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2675314"/>
              </p:ext>
            </p:extLst>
          </p:nvPr>
        </p:nvGraphicFramePr>
        <p:xfrm>
          <a:off x="652087" y="3396148"/>
          <a:ext cx="14945850" cy="530589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858437">
                  <a:extLst>
                    <a:ext uri="{9D8B030D-6E8A-4147-A177-3AD203B41FA5}">
                      <a16:colId xmlns:a16="http://schemas.microsoft.com/office/drawing/2014/main" val="3259405877"/>
                    </a:ext>
                  </a:extLst>
                </a:gridCol>
                <a:gridCol w="2437445">
                  <a:extLst>
                    <a:ext uri="{9D8B030D-6E8A-4147-A177-3AD203B41FA5}">
                      <a16:colId xmlns:a16="http://schemas.microsoft.com/office/drawing/2014/main" val="2760396302"/>
                    </a:ext>
                  </a:extLst>
                </a:gridCol>
                <a:gridCol w="2358817">
                  <a:extLst>
                    <a:ext uri="{9D8B030D-6E8A-4147-A177-3AD203B41FA5}">
                      <a16:colId xmlns:a16="http://schemas.microsoft.com/office/drawing/2014/main" val="668862140"/>
                    </a:ext>
                  </a:extLst>
                </a:gridCol>
                <a:gridCol w="2291151">
                  <a:extLst>
                    <a:ext uri="{9D8B030D-6E8A-4147-A177-3AD203B41FA5}">
                      <a16:colId xmlns:a16="http://schemas.microsoft.com/office/drawing/2014/main" val="966871517"/>
                    </a:ext>
                  </a:extLst>
                </a:gridCol>
              </a:tblGrid>
              <a:tr h="927603">
                <a:tc>
                  <a:txBody>
                    <a:bodyPr/>
                    <a:lstStyle/>
                    <a:p>
                      <a:pPr algn="l"/>
                      <a:r>
                        <a:rPr lang="en-US" sz="3600" dirty="0"/>
                        <a:t>  Initiative </a:t>
                      </a:r>
                      <a:endParaRPr lang="en-IN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Status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Deadline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Comments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892701"/>
                  </a:ext>
                </a:extLst>
              </a:tr>
              <a:tr h="2485977"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IN" sz="3200" dirty="0">
                          <a:solidFill>
                            <a:prstClr val="black"/>
                          </a:solidFill>
                        </a:rPr>
                        <a:t>Use of inter-departmental data analytics (like TDS, Electricity, Mining etc.) to identify businesses with high Turnover but no GST Registrations.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174253"/>
                  </a:ext>
                </a:extLst>
              </a:tr>
              <a:tr h="1892311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solidFill>
                            <a:prstClr val="black"/>
                          </a:solidFill>
                        </a:rPr>
                        <a:t>Identifying new sectors for Registrations: Special Drive for Villas, Hostels, Sports Academies in next 6 months.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In-progress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15-06-2026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ITMS Team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683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148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756" y="497919"/>
            <a:ext cx="14020800" cy="8764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Recovery : Top Case Optimization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933931"/>
              </p:ext>
            </p:extLst>
          </p:nvPr>
        </p:nvGraphicFramePr>
        <p:xfrm>
          <a:off x="1346200" y="1733100"/>
          <a:ext cx="12790513" cy="169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4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4993">
                  <a:extLst>
                    <a:ext uri="{9D8B030D-6E8A-4147-A177-3AD203B41FA5}">
                      <a16:colId xmlns:a16="http://schemas.microsoft.com/office/drawing/2014/main" val="1942332052"/>
                    </a:ext>
                  </a:extLst>
                </a:gridCol>
              </a:tblGrid>
              <a:tr h="934720">
                <a:tc>
                  <a:txBody>
                    <a:bodyPr/>
                    <a:lstStyle/>
                    <a:p>
                      <a:pPr algn="ctr"/>
                      <a:r>
                        <a:rPr lang="en-IN" sz="2700" dirty="0"/>
                        <a:t>Top 100 Cases of all Zones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700" dirty="0"/>
                        <a:t>Amount involved (in Cr.)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700" dirty="0"/>
                        <a:t>Target for next 6 months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700" dirty="0"/>
                        <a:t>(in Cr.)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020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1600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394.01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118.20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CE608B7-2026-9208-DF52-B0967E147B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6414406"/>
              </p:ext>
            </p:extLst>
          </p:nvPr>
        </p:nvGraphicFramePr>
        <p:xfrm>
          <a:off x="508000" y="4053840"/>
          <a:ext cx="15448281" cy="4480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361680">
                  <a:extLst>
                    <a:ext uri="{9D8B030D-6E8A-4147-A177-3AD203B41FA5}">
                      <a16:colId xmlns:a16="http://schemas.microsoft.com/office/drawing/2014/main" val="3259405877"/>
                    </a:ext>
                  </a:extLst>
                </a:gridCol>
                <a:gridCol w="2280315">
                  <a:extLst>
                    <a:ext uri="{9D8B030D-6E8A-4147-A177-3AD203B41FA5}">
                      <a16:colId xmlns:a16="http://schemas.microsoft.com/office/drawing/2014/main" val="2760396302"/>
                    </a:ext>
                  </a:extLst>
                </a:gridCol>
                <a:gridCol w="2438113">
                  <a:extLst>
                    <a:ext uri="{9D8B030D-6E8A-4147-A177-3AD203B41FA5}">
                      <a16:colId xmlns:a16="http://schemas.microsoft.com/office/drawing/2014/main" val="668862140"/>
                    </a:ext>
                  </a:extLst>
                </a:gridCol>
                <a:gridCol w="2368173">
                  <a:extLst>
                    <a:ext uri="{9D8B030D-6E8A-4147-A177-3AD203B41FA5}">
                      <a16:colId xmlns:a16="http://schemas.microsoft.com/office/drawing/2014/main" val="966871517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Initiative </a:t>
                      </a:r>
                      <a:endParaRPr lang="en-IN" sz="36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Status</a:t>
                      </a:r>
                      <a:endParaRPr lang="en-IN" sz="3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Deadline</a:t>
                      </a:r>
                      <a:endParaRPr lang="en-IN" sz="3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Comments</a:t>
                      </a:r>
                      <a:endParaRPr lang="en-IN" sz="3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892701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Focus on Top Recovery Cases of all zones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In-progress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  15-06-2026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ITMS Team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129370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r>
                        <a:rPr lang="en-IN" dirty="0"/>
                        <a:t>Development of new dashboard for Recovery Monitoring to evaluate jurisdictional performance.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In-progress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  15-06-2026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ITMS Team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17425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r>
                        <a:rPr lang="en-IN" dirty="0"/>
                        <a:t>Coordination with Central agencies and other State Departments.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In-progress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  15-06-2026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ITMS Team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68398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r>
                        <a:rPr lang="en-IN" dirty="0"/>
                        <a:t>Focus on Bank Accounts attachment and Third-party creditors.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In-progress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  15-06-2026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ITMS Team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375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871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4AE11-F8AF-1AB9-28CD-592085C92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0C86-781C-BC4E-6EE4-78AE93D6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52400"/>
            <a:ext cx="14020800" cy="8764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Compliance-Led Revenue Augmentation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D1BD4EA-6ADB-17CA-5793-45A7D811AE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8479314"/>
              </p:ext>
            </p:extLst>
          </p:nvPr>
        </p:nvGraphicFramePr>
        <p:xfrm>
          <a:off x="567220" y="5455920"/>
          <a:ext cx="15448281" cy="2621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361680">
                  <a:extLst>
                    <a:ext uri="{9D8B030D-6E8A-4147-A177-3AD203B41FA5}">
                      <a16:colId xmlns:a16="http://schemas.microsoft.com/office/drawing/2014/main" val="3259405877"/>
                    </a:ext>
                  </a:extLst>
                </a:gridCol>
                <a:gridCol w="2280315">
                  <a:extLst>
                    <a:ext uri="{9D8B030D-6E8A-4147-A177-3AD203B41FA5}">
                      <a16:colId xmlns:a16="http://schemas.microsoft.com/office/drawing/2014/main" val="2760396302"/>
                    </a:ext>
                  </a:extLst>
                </a:gridCol>
                <a:gridCol w="2438113">
                  <a:extLst>
                    <a:ext uri="{9D8B030D-6E8A-4147-A177-3AD203B41FA5}">
                      <a16:colId xmlns:a16="http://schemas.microsoft.com/office/drawing/2014/main" val="668862140"/>
                    </a:ext>
                  </a:extLst>
                </a:gridCol>
                <a:gridCol w="2368173">
                  <a:extLst>
                    <a:ext uri="{9D8B030D-6E8A-4147-A177-3AD203B41FA5}">
                      <a16:colId xmlns:a16="http://schemas.microsoft.com/office/drawing/2014/main" val="966871517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Initiative </a:t>
                      </a:r>
                      <a:endParaRPr lang="en-IN" sz="36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Status</a:t>
                      </a:r>
                      <a:endParaRPr lang="en-IN" sz="3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Deadline</a:t>
                      </a:r>
                      <a:endParaRPr lang="en-IN" sz="3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Comments</a:t>
                      </a:r>
                      <a:endParaRPr lang="en-IN" sz="3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892701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To develop automated analytics-based compliance tracking with message and </a:t>
                      </a:r>
                      <a:r>
                        <a:rPr lang="en-IN" dirty="0" err="1"/>
                        <a:t>whatsapp</a:t>
                      </a:r>
                      <a:r>
                        <a:rPr lang="en-IN" dirty="0"/>
                        <a:t> trigger.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In-progress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  15-06-2026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ITMS Team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129370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Focus on concurrent Scrutiny of Non-Filers &amp; Mismatch Filers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In-progress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  15-06-2026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   ITMS Team</a:t>
                      </a:r>
                      <a:endParaRPr lang="en-IN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17425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D12F54A-3578-99CB-E518-19224029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561314"/>
            <a:ext cx="15566723" cy="354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66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660</Words>
  <Application>Microsoft Office PowerPoint</Application>
  <PresentationFormat>Custom</PresentationFormat>
  <Paragraphs>172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 Narrow</vt:lpstr>
      <vt:lpstr>Arial</vt:lpstr>
      <vt:lpstr>Calibri</vt:lpstr>
      <vt:lpstr>Calibri Light</vt:lpstr>
      <vt:lpstr>Sans Serif Collection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Audit – Data driven selection and Risk Score</vt:lpstr>
      <vt:lpstr>Scrutiny of Returns: Enhancing Recovery Rates</vt:lpstr>
      <vt:lpstr>Enforcement : Operations &amp; Targets</vt:lpstr>
      <vt:lpstr>Fraud Detection : Intelligence &amp; Analytics</vt:lpstr>
      <vt:lpstr>Taxpayer Base Enhancement</vt:lpstr>
      <vt:lpstr>Recovery : Top Case Optimization</vt:lpstr>
      <vt:lpstr>Compliance-Led Revenue Augmentation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Giri, Sanjay</cp:lastModifiedBy>
  <cp:revision>15</cp:revision>
  <dcterms:created xsi:type="dcterms:W3CDTF">2006-08-16T00:00:00Z</dcterms:created>
  <dcterms:modified xsi:type="dcterms:W3CDTF">2026-06-15T07:52:21Z</dcterms:modified>
</cp:coreProperties>
</file>